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2.png"/><Relationship Id="rId4" Type="http://schemas.openxmlformats.org/officeDocument/2006/relationships/image" Target="../media/image-9-2.png"/><Relationship Id="rId5" Type="http://schemas.openxmlformats.org/officeDocument/2006/relationships/image" Target="../media/image-9-2.png"/><Relationship Id="rId6" Type="http://schemas.openxmlformats.org/officeDocument/2006/relationships/image" Target="../media/image-9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2.png"/><Relationship Id="rId4" Type="http://schemas.openxmlformats.org/officeDocument/2006/relationships/image" Target="../media/image-11-2.png"/><Relationship Id="rId5" Type="http://schemas.openxmlformats.org/officeDocument/2006/relationships/image" Target="../media/image-1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2.png"/><Relationship Id="rId4" Type="http://schemas.openxmlformats.org/officeDocument/2006/relationships/image" Target="../media/image-12-2.png"/><Relationship Id="rId5" Type="http://schemas.openxmlformats.org/officeDocument/2006/relationships/image" Target="../media/image-12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uzuki-ceo/selfcafe-miraiya-deck/assets/cover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suzuki-ceo/selfcafe-miraiya-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2" y="1773936"/>
            <a:ext cx="2616098" cy="372161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12902" y="2688336"/>
            <a:ext cx="2542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5" name="Text 1"/>
          <p:cNvSpPr/>
          <p:nvPr/>
        </p:nvSpPr>
        <p:spPr>
          <a:xfrm>
            <a:off x="1194206" y="2599639"/>
            <a:ext cx="50292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FORMAT CONVERSION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812902" y="2871216"/>
            <a:ext cx="71122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3D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 秋田店・土浦店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812902" y="3145536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カフェ区画 業態転換のご提案</a:t>
            </a:r>
            <a:endParaRPr lang="en-US" sz="4400" dirty="0"/>
          </a:p>
        </p:txBody>
      </p:sp>
      <p:sp>
        <p:nvSpPr>
          <p:cNvPr id="8" name="Text 4"/>
          <p:cNvSpPr/>
          <p:nvPr/>
        </p:nvSpPr>
        <p:spPr>
          <a:xfrm>
            <a:off x="812902" y="422452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既存のカフェ区画を無人型「セルフカフェ」へ。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人員配置なしで運営し、売上に応じた収入が毎月入る形へ切り替えます。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12902" y="5468112"/>
            <a:ext cx="7114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10" name="Text 6"/>
          <p:cNvSpPr/>
          <p:nvPr/>
        </p:nvSpPr>
        <p:spPr>
          <a:xfrm>
            <a:off x="812902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812902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カフェ運営に必要な人員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11480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11480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想定お受取額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40664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40664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想定お受取額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371246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7" name="Shape 13"/>
          <p:cNvSpPr/>
          <p:nvPr/>
        </p:nvSpPr>
        <p:spPr>
          <a:xfrm>
            <a:off x="700430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8" name="Text 14"/>
          <p:cNvSpPr/>
          <p:nvPr/>
        </p:nvSpPr>
        <p:spPr>
          <a:xfrm>
            <a:off x="8889797" y="6309360"/>
            <a:ext cx="2641702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ご提案の要旨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人を置かずに、カフェ区画を収益区画へ。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フルサービス型のカフェ業態から無人型セルフカフェへ転換し、運営はセルフカフェ本部が担います。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1093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運営体制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971093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971093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カフェ専任の人員配置は不要。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87872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14" name="Text 11"/>
          <p:cNvSpPr/>
          <p:nvPr/>
        </p:nvSpPr>
        <p:spPr>
          <a:xfrm>
            <a:off x="6598768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お受取額（想定）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98768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598768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381.3万円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60197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71093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71093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30〜50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971093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機器設置費のみ。加盟金・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研修費はいただきません。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87872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22" name="Text 19"/>
          <p:cNvSpPr/>
          <p:nvPr/>
        </p:nvSpPr>
        <p:spPr>
          <a:xfrm>
            <a:off x="6598768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お受取額（想定）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6598768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24" name="Text 21"/>
          <p:cNvSpPr/>
          <p:nvPr/>
        </p:nvSpPr>
        <p:spPr>
          <a:xfrm>
            <a:off x="6598768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343.5万円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60197" y="5437022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6" name="Image 1" descr="/home/user/suzuki-ceo/selfcafe-miraiya-deck/assets/icons/LuBadgeJapaneseYe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5" y="5629046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483157" y="5437022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今回の特別条件：</a:t>
            </a:r>
            <a:r>
              <a:rPr lang="en-US" sz="14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r>
              <a:rPr lang="en-US" sz="12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を毎月お支払いします。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660197" y="625998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お受取額は本資料の想定販売杯数に基づく試算です（税抜）。売上を保証するものではありません。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スキーム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場所をご提供いただくだけ。運営主体は本部です。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通常のFC加盟とは異なり、貴社が独立オーナーとして運営する必要はありません。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95237" y="1724558"/>
            <a:ext cx="4836262" cy="274320"/>
          </a:xfrm>
          <a:prstGeom prst="roundRect">
            <a:avLst>
              <a:gd name="adj" fmla="val 16667"/>
            </a:avLst>
          </a:prstGeom>
          <a:solidFill>
            <a:srgbClr val="A8761F"/>
          </a:solidFill>
          <a:ln/>
        </p:spPr>
      </p:sp>
      <p:sp>
        <p:nvSpPr>
          <p:cNvPr id="10" name="Text 7"/>
          <p:cNvSpPr/>
          <p:nvPr/>
        </p:nvSpPr>
        <p:spPr>
          <a:xfrm>
            <a:off x="6695237" y="1724558"/>
            <a:ext cx="48362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貴社にご提案するのはこちら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2108606"/>
          <a:ext cx="1087130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114800"/>
                <a:gridCol w="483626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通常のFC加盟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B8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運営主体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加盟者様が独立オーナーとして運営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本部が運営を主導。貴社は場所のご提供のみ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加盟金100万円＋工事費用等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（開業資金の目安：居抜き750万円〜／スケルトン1,050万円〜）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30万〜50万円程度（機器設置費のみ）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出店スペース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独立した店舗区画（20坪〜）が必要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既存スペースの一角に間借り設置が可能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日常業務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加盟者様が運営全般を担当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清掃・補充のみ、1日15分程度（既存スタッフで対応可）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売上金の流れ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本部が売上金を管理し、ロイヤリティ等を控除した残額を加盟者様へ振込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本部が売上金を管理し、売上の25％を業務委託料として貴社へお支払い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契約・撤退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独立出店が前提の長期契約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契約期間の縛りあり（最低3年〜）／本部審査あり。原状回復の負担も小さい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60197" y="607710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金額はすべて税抜・目安です。物件条件により変動します。今回は業務委託型でのご提案です。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セルフカフェとは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スタッフのいない、ドリンク1杯のワークスペース。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Wi-Fi・電源完備。1杯のご購入で時間制限なくご利用いただける無人カフェです。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622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利用料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1622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円〜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91622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1杯で滞在時間の制限なし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81487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07090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会員登録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07090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不要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07090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登録手続き・月会費なし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6019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622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運営人員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1622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1622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無人運営。開閉店も自動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81487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07090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日常業務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07090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分／日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407090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清掃・原料補充のみ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6019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6" name="Image 1" descr="/home/user/suzuki-ceo/selfcafe-miraiya-deck/assets/icons/LuWifi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261" y="5089550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9677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高速Wi-Fi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221467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9" name="Image 2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741" y="5089550"/>
            <a:ext cx="347472" cy="34747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5125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電源完備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376915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3" descr="/home/user/suzuki-ceo/selfcafe-miraiya-deck/assets/icons/LuClo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1221" y="5089550"/>
            <a:ext cx="347472" cy="34747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380573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席時間無制限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532363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5" name="Image 4" descr="/home/user/suzuki-ceo/selfcafe-miraiya-deck/assets/icons/LuCalendar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5701" y="5089550"/>
            <a:ext cx="347472" cy="34747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36021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年中無休</a:t>
            </a:r>
            <a:endParaRPr lang="en-US" sz="1000" dirty="0"/>
          </a:p>
        </p:txBody>
      </p:sp>
      <p:pic>
        <p:nvPicPr>
          <p:cNvPr id="37" name="Image 5" descr="/home/user/suzuki-ceo/selfcafe-miraiya-deck/assets/photos/.crops/sasashima-interior-487x330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9285" y="1651406"/>
            <a:ext cx="4452214" cy="30175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079285" y="1651406"/>
            <a:ext cx="4452214" cy="30175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079285" y="4833518"/>
            <a:ext cx="4452214" cy="950976"/>
          </a:xfrm>
          <a:prstGeom prst="roundRect">
            <a:avLst>
              <a:gd name="adj" fmla="val 576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317029" y="4833518"/>
            <a:ext cx="397672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ささしまライブ店（名古屋）。商業施設の1階路面で、朝8時から22時まで無人運営しています。</a:t>
            </a:r>
            <a:endParaRPr lang="en-US" sz="1000" dirty="0"/>
          </a:p>
        </p:txBody>
      </p:sp>
      <p:sp>
        <p:nvSpPr>
          <p:cNvPr id="41" name="Text 33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ドリンクは1杯420円〜（税抜）。サブスクプランをご利用の場合は1杯あたり147円〜となります。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運営と導入条件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お願いするのは1日15分の清掃と補充だけ。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運営主体はセルフカフェ本部です。カフェ専任のスタッフを置く必要はありません。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74284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店内清掃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34517" y="201716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テーブル・床・トイレの清掃、ゴミ回収。営業前後の都合の良い時間で結構です。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60197" y="2510942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4517" y="260238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原料・備品の補充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4517" y="287670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コーヒー豆・カップ等の補充。在庫は本部から定期配送します。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0197" y="3370478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4517" y="346191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発注・棚卸（月1〜2回）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34517" y="373623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定期配送に合わせた発注と在庫の棚卸のみです。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987845" y="1651406"/>
            <a:ext cx="4543654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262165" y="1852574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262165" y="212689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262165" y="230977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30万〜50万円程度（機器設置費のみ）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262165" y="257495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3" name="Text 20"/>
          <p:cNvSpPr/>
          <p:nvPr/>
        </p:nvSpPr>
        <p:spPr>
          <a:xfrm>
            <a:off x="7262165" y="262981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加盟金・研修費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262165" y="281269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262165" y="307787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3"/>
          <p:cNvSpPr/>
          <p:nvPr/>
        </p:nvSpPr>
        <p:spPr>
          <a:xfrm>
            <a:off x="7262165" y="313273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原料・機器・メンテナンス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262165" y="331561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本部負担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7262165" y="358079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6"/>
          <p:cNvSpPr/>
          <p:nvPr/>
        </p:nvSpPr>
        <p:spPr>
          <a:xfrm>
            <a:off x="7262165" y="363565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水道光熱費・通信費・消耗品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262165" y="381853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貴社ご負担（実費）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7262165" y="408371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9"/>
          <p:cNvSpPr/>
          <p:nvPr/>
        </p:nvSpPr>
        <p:spPr>
          <a:xfrm>
            <a:off x="7262165" y="413857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262165" y="432145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7262165" y="458663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5" name="Text 32"/>
          <p:cNvSpPr/>
          <p:nvPr/>
        </p:nvSpPr>
        <p:spPr>
          <a:xfrm>
            <a:off x="7262165" y="464149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契約期間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262165" y="482437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最低3年〜（本部審査あり）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987845" y="5180990"/>
            <a:ext cx="4543654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pic>
        <p:nvPicPr>
          <p:cNvPr id="38" name="Image 1" descr="/home/user/suzuki-ceo/selfcafe-miraiya-deck/assets/icons/LuLifeBuoy-p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877" y="5345582"/>
            <a:ext cx="310896" cy="310896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7664501" y="5180990"/>
            <a:ext cx="35926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清掃はパートナーへの委託も可能です（月3万円程度）。お客様からのお問い合わせは本部が対応します。</a:t>
            </a:r>
            <a:endParaRPr lang="en-US" sz="1000" dirty="0"/>
          </a:p>
        </p:txBody>
      </p:sp>
      <p:pic>
        <p:nvPicPr>
          <p:cNvPr id="40" name="Image 2" descr="/home/user/suzuki-ceo/selfcafe-miraiya-deck/assets/photos/.crops/inzai-counter-310x17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7" y="4266590"/>
            <a:ext cx="2834640" cy="1594485"/>
          </a:xfrm>
          <a:prstGeom prst="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660197" y="4266590"/>
            <a:ext cx="2834640" cy="159448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42" name="Image 3" descr="/home/user/suzuki-ceo/selfcafe-miraiya-deck/assets/photos/.crops/sasashima-interior-310x17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9157" y="4266590"/>
            <a:ext cx="2834640" cy="1594485"/>
          </a:xfrm>
          <a:prstGeom prst="rect">
            <a:avLst/>
          </a:prstGeom>
        </p:spPr>
      </p:pic>
      <p:sp>
        <p:nvSpPr>
          <p:cNvPr id="43" name="Shape 37"/>
          <p:cNvSpPr/>
          <p:nvPr/>
        </p:nvSpPr>
        <p:spPr>
          <a:xfrm>
            <a:off x="3769157" y="4266590"/>
            <a:ext cx="2834640" cy="159448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660197" y="605332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水道光熱費・通信費・消耗品は貴社のご負担（実費）となります。既存什器の再利用可否・工事範囲は現地確認のうえ個別にご相談させてください。金額は税抜・目安です。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立地適性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映画館のとなり。待ち時間が、そのまま需要になる。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両店とも同一フロアに映画館があり、上映前後の待ち時間需要を取り込める立地です。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2F ／ TOHOシネマズ と同一フロア</a:t>
            </a:r>
            <a:endParaRPr lang="en-US" sz="1700" dirty="0"/>
          </a:p>
        </p:txBody>
      </p:sp>
      <p:pic>
        <p:nvPicPr>
          <p:cNvPr id="11" name="Image 1" descr="/home/user/suzuki-ceo/selfcafe-miraiya-deck/assets/photos/map-akita-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0834" y="2181758"/>
            <a:ext cx="862352" cy="21031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4517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2671877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34517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934517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671877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3,760人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34517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8" name="Text 14"/>
          <p:cNvSpPr/>
          <p:nvPr/>
        </p:nvSpPr>
        <p:spPr>
          <a:xfrm>
            <a:off x="934517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2671877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7872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62192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3F ／ シネマサンシャイン土浦 と同一フロア</a:t>
            </a:r>
            <a:endParaRPr lang="en-US" sz="1700" dirty="0"/>
          </a:p>
        </p:txBody>
      </p:sp>
      <p:pic>
        <p:nvPicPr>
          <p:cNvPr id="22" name="Image 2" descr="/home/user/suzuki-ceo/selfcafe-miraiya-deck/assets/photos/map-tsuchiura-flo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2379684"/>
            <a:ext cx="4694987" cy="170726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562192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8299552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562192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1"/>
          <p:cNvSpPr/>
          <p:nvPr/>
        </p:nvSpPr>
        <p:spPr>
          <a:xfrm>
            <a:off x="6562192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8299552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4,027人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562192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4"/>
          <p:cNvSpPr/>
          <p:nvPr/>
        </p:nvSpPr>
        <p:spPr>
          <a:xfrm>
            <a:off x="6562192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8299552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60197" y="5619902"/>
            <a:ext cx="10871302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pic>
        <p:nvPicPr>
          <p:cNvPr id="32" name="Image 3" descr="/home/user/suzuki-ceo/selfcafe-miraiya-deck/assets/icons/LuHourglass-p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5784494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464869" y="5619902"/>
            <a:ext cx="97923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上映前後の待ち時間や、書店で本を選んだあとの休憩など「少しだけ座りたい」需要が館内で自然に発生します。1杯で時間制限がないため、その受け皿として機能します。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60197" y="632764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出典：面積・席数・月間来客数は貴社ご提供資料（2025年平均）。フロアマップは各館の館内図より。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参考モデル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書店併設型は、すでに2店舗で稼働しています。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同じ「書店の中のセルフカフェ」として運営している2店舗の実績です。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0" name="Image 1" descr="/home/user/suzuki-ceo/selfcafe-miraiya-deck/assets/photos/.crops/inzai-hall-328x17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1870862"/>
            <a:ext cx="3001975" cy="15727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79653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79653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879653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千葉県印西市／書店併設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879653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879653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79653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40.6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879653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375404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9" name="Image 2" descr="/home/user/suzuki-ceo/selfcafe-miraiya-deck/assets/photos/.crops/shinmoriyama-hall-328x17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860" y="1870862"/>
            <a:ext cx="3001975" cy="157276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594860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594860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4594860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愛知県名古屋市／書店併設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594860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4" name="Text 19"/>
          <p:cNvSpPr/>
          <p:nvPr/>
        </p:nvSpPr>
        <p:spPr>
          <a:xfrm>
            <a:off x="4594860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4594860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45.2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26" name="Text 21"/>
          <p:cNvSpPr/>
          <p:nvPr/>
        </p:nvSpPr>
        <p:spPr>
          <a:xfrm>
            <a:off x="4594860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8090611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0C5230"/>
          </a:solidFill>
          <a:ln/>
        </p:spPr>
      </p:sp>
      <p:pic>
        <p:nvPicPr>
          <p:cNvPr id="28" name="Image 3" descr="/home/user/suzuki-ceo/selfcafe-miraiya-deck/assets/photos/.crops/sasashima-exterior-328x1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067" y="1870862"/>
            <a:ext cx="3001975" cy="157276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8310067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8310067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8310067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愛知県名古屋市／商業施設内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8310067" y="4156862"/>
            <a:ext cx="3001975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33" name="Text 27"/>
          <p:cNvSpPr/>
          <p:nvPr/>
        </p:nvSpPr>
        <p:spPr>
          <a:xfrm>
            <a:off x="8310067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34" name="Text 28"/>
          <p:cNvSpPr/>
          <p:nvPr/>
        </p:nvSpPr>
        <p:spPr>
          <a:xfrm>
            <a:off x="8310067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122.7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35" name="Text 29"/>
          <p:cNvSpPr/>
          <p:nvPr/>
        </p:nvSpPr>
        <p:spPr>
          <a:xfrm>
            <a:off x="8310067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商業施設内の大型店。上限の目安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660197" y="5656478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7" name="Image 4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5848502"/>
            <a:ext cx="347472" cy="347472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483157" y="5656478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書店併設2店の平均は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1日42.9杯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。商業施設内のささしまライブ店は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1日122.7杯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で稼働しています。</a:t>
            </a:r>
            <a:endParaRPr lang="en-US" sz="1150" dirty="0"/>
          </a:p>
        </p:txBody>
      </p:sp>
      <p:sp>
        <p:nvSpPr>
          <p:cNvPr id="39" name="Text 32"/>
          <p:cNvSpPr/>
          <p:nvPr/>
        </p:nvSpPr>
        <p:spPr>
          <a:xfrm>
            <a:off x="660197" y="63459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出典：社内管理台帳（2026年5月〜8月の月間実杯数の平均）。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導入イメージ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書店の中に、こう入ります。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印西牧の原店の実際の様子です。書架のとなりに席を並べ、書店の動線をそのまま活かしています。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pic>
        <p:nvPicPr>
          <p:cNvPr id="9" name="Image 1" descr="/home/user/suzuki-ceo/selfcafe-miraiya-deck/assets/photos/.crops/inzai-hall-750x39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7" y="1651406"/>
            <a:ext cx="6858000" cy="35661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60197" y="1651406"/>
            <a:ext cx="6858000" cy="356616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1" name="Image 2" descr="/home/user/suzuki-ceo/selfcafe-miraiya-deck/assets/photos/.crops/inzai-books-409x180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2517" y="1651406"/>
            <a:ext cx="3738982" cy="16459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792517" y="165140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3" name="Image 3" descr="/home/user/suzuki-ceo/selfcafe-miraiya-deck/assets/photos/.crops/inzai-counter-409x18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2517" y="3571646"/>
            <a:ext cx="3738982" cy="164592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92517" y="357164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60197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6" name="Image 4" descr="/home/user/suzuki-ceo/selfcafe-miraiya-deck/assets/icons/LuRul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53" y="5693054"/>
            <a:ext cx="310896" cy="31089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81989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書架の間・壁面沿いに設置</a:t>
            </a:r>
            <a:endParaRPr lang="en-US" sz="1050" dirty="0"/>
          </a:p>
        </p:txBody>
      </p:sp>
      <p:sp>
        <p:nvSpPr>
          <p:cNvPr id="18" name="Text 11"/>
          <p:cNvSpPr/>
          <p:nvPr/>
        </p:nvSpPr>
        <p:spPr>
          <a:xfrm>
            <a:off x="1281989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独立区画は不要。既存の什器配置を大きく変えずに席をつくれます。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4357116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0" name="Image 5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6572" y="5693054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978908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各席に電源とWi-Fi</a:t>
            </a:r>
            <a:endParaRPr lang="en-US" sz="1050" dirty="0"/>
          </a:p>
        </p:txBody>
      </p:sp>
      <p:sp>
        <p:nvSpPr>
          <p:cNvPr id="22" name="Text 14"/>
          <p:cNvSpPr/>
          <p:nvPr/>
        </p:nvSpPr>
        <p:spPr>
          <a:xfrm>
            <a:off x="4978908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長時間の滞在に耐える設えで、書店の滞在時間もあわせて伸びます。</a:t>
            </a:r>
            <a:endParaRPr lang="en-US" sz="900" dirty="0"/>
          </a:p>
        </p:txBody>
      </p:sp>
      <p:sp>
        <p:nvSpPr>
          <p:cNvPr id="23" name="Shape 15"/>
          <p:cNvSpPr/>
          <p:nvPr/>
        </p:nvSpPr>
        <p:spPr>
          <a:xfrm>
            <a:off x="8054035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4" name="Image 6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3491" y="5693054"/>
            <a:ext cx="310896" cy="31089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675827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レジ・接客は発生しない</a:t>
            </a:r>
            <a:endParaRPr lang="en-US" sz="1050" dirty="0"/>
          </a:p>
        </p:txBody>
      </p:sp>
      <p:sp>
        <p:nvSpPr>
          <p:cNvPr id="26" name="Text 17"/>
          <p:cNvSpPr/>
          <p:nvPr/>
        </p:nvSpPr>
        <p:spPr>
          <a:xfrm>
            <a:off x="8675827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ドリンクはセルフのマシン。書店スタッフの手は一切かかりません。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660197" y="638799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写真：セルフカフェ 印西牧の原店（千葉県印西市／未来屋書店様 併設）。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業態転換イメージ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土浦店のカフェ区画は、こう変わります。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現況のフルサービス型カフェ区画に、セルフカフェを入れた場合の完成イメージです。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926080" cy="274320"/>
          </a:xfrm>
          <a:prstGeom prst="roundRect">
            <a:avLst>
              <a:gd name="adj" fmla="val 16667"/>
            </a:avLst>
          </a:prstGeom>
          <a:solidFill>
            <a:srgbClr val="8E8B84"/>
          </a:solidFill>
          <a:ln/>
        </p:spPr>
      </p:sp>
      <p:sp>
        <p:nvSpPr>
          <p:cNvPr id="10" name="Text 7"/>
          <p:cNvSpPr/>
          <p:nvPr/>
        </p:nvSpPr>
        <p:spPr>
          <a:xfrm>
            <a:off x="660197" y="165140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現況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043477" y="1651406"/>
            <a:ext cx="7488022" cy="274320"/>
          </a:xfrm>
          <a:prstGeom prst="roundRect">
            <a:avLst>
              <a:gd name="adj" fmla="val 16667"/>
            </a:avLst>
          </a:prstGeom>
          <a:solidFill>
            <a:srgbClr val="106838"/>
          </a:solidFill>
          <a:ln/>
        </p:spPr>
      </p:sp>
      <p:sp>
        <p:nvSpPr>
          <p:cNvPr id="12" name="Text 9"/>
          <p:cNvSpPr/>
          <p:nvPr/>
        </p:nvSpPr>
        <p:spPr>
          <a:xfrm>
            <a:off x="4043477" y="1651406"/>
            <a:ext cx="74880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業態転換後のイメージ（完成予想パース）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60197" y="1962302"/>
            <a:ext cx="2926080" cy="1947672"/>
          </a:xfrm>
          <a:prstGeom prst="roundRect">
            <a:avLst>
              <a:gd name="adj" fmla="val 2347"/>
            </a:avLst>
          </a:prstGeom>
          <a:solidFill>
            <a:srgbClr val="F4F2EE"/>
          </a:solidFill>
          <a:ln w="12700">
            <a:solidFill>
              <a:srgbClr val="DED8CC"/>
            </a:solidFill>
            <a:prstDash val="dash"/>
          </a:ln>
        </p:spPr>
      </p:sp>
      <p:pic>
        <p:nvPicPr>
          <p:cNvPr id="14" name="Image 1" descr="/home/user/suzuki-ceo/selfcafe-miraiya-deck/assets/icons/LuImage-mu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8993" y="2721894"/>
            <a:ext cx="428488" cy="42848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33349" y="3186958"/>
            <a:ext cx="2779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写真を挿入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60197" y="4028846"/>
            <a:ext cx="2926080" cy="1947672"/>
          </a:xfrm>
          <a:prstGeom prst="roundRect">
            <a:avLst>
              <a:gd name="adj" fmla="val 2347"/>
            </a:avLst>
          </a:prstGeom>
          <a:solidFill>
            <a:srgbClr val="F4F2EE"/>
          </a:solidFill>
          <a:ln w="12700">
            <a:solidFill>
              <a:srgbClr val="DED8CC"/>
            </a:solidFill>
            <a:prstDash val="dash"/>
          </a:ln>
        </p:spPr>
      </p:sp>
      <p:pic>
        <p:nvPicPr>
          <p:cNvPr id="17" name="Image 2" descr="/home/user/suzuki-ceo/selfcafe-miraiya-deck/assets/icons/LuImage-mu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8993" y="4788438"/>
            <a:ext cx="428488" cy="42848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33349" y="5253502"/>
            <a:ext cx="2779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写真を挿入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3641141" y="3803904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A8761F"/>
          </a:solidFill>
          <a:ln/>
        </p:spPr>
      </p:sp>
      <p:sp>
        <p:nvSpPr>
          <p:cNvPr id="20" name="Text 15"/>
          <p:cNvSpPr/>
          <p:nvPr/>
        </p:nvSpPr>
        <p:spPr>
          <a:xfrm>
            <a:off x="3641141" y="3803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043477" y="1962302"/>
            <a:ext cx="7488022" cy="2331720"/>
          </a:xfrm>
          <a:prstGeom prst="roundRect">
            <a:avLst>
              <a:gd name="adj" fmla="val 1961"/>
            </a:avLst>
          </a:prstGeom>
          <a:solidFill>
            <a:srgbClr val="F4F2EE"/>
          </a:solidFill>
          <a:ln w="12700">
            <a:solidFill>
              <a:srgbClr val="DED8CC"/>
            </a:solidFill>
            <a:prstDash val="dash"/>
          </a:ln>
        </p:spPr>
      </p:sp>
      <p:pic>
        <p:nvPicPr>
          <p:cNvPr id="22" name="Image 3" descr="/home/user/suzuki-ceo/selfcafe-miraiya-deck/assets/icons/LuImage-mut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9744" y="2890418"/>
            <a:ext cx="475488" cy="47548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116629" y="3402482"/>
            <a:ext cx="73417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写真を挿入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4043477" y="4412894"/>
            <a:ext cx="3606851" cy="1600200"/>
          </a:xfrm>
          <a:prstGeom prst="roundRect">
            <a:avLst>
              <a:gd name="adj" fmla="val 2857"/>
            </a:avLst>
          </a:prstGeom>
          <a:solidFill>
            <a:srgbClr val="F4F2EE"/>
          </a:solidFill>
          <a:ln w="12700">
            <a:solidFill>
              <a:srgbClr val="DED8CC"/>
            </a:solidFill>
            <a:prstDash val="dash"/>
          </a:ln>
        </p:spPr>
      </p:sp>
      <p:pic>
        <p:nvPicPr>
          <p:cNvPr id="25" name="Image 4" descr="/home/user/suzuki-ceo/selfcafe-miraiya-deck/assets/icons/LuImage-mut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0880" y="5036972"/>
            <a:ext cx="352044" cy="352044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116629" y="5425592"/>
            <a:ext cx="34605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写真を挿入</a:t>
            </a:r>
            <a:endParaRPr lang="en-US" sz="900" dirty="0"/>
          </a:p>
        </p:txBody>
      </p:sp>
      <p:sp>
        <p:nvSpPr>
          <p:cNvPr id="27" name="Shape 20"/>
          <p:cNvSpPr/>
          <p:nvPr/>
        </p:nvSpPr>
        <p:spPr>
          <a:xfrm>
            <a:off x="7924648" y="4412894"/>
            <a:ext cx="3606851" cy="1600200"/>
          </a:xfrm>
          <a:prstGeom prst="roundRect">
            <a:avLst>
              <a:gd name="adj" fmla="val 2857"/>
            </a:avLst>
          </a:prstGeom>
          <a:solidFill>
            <a:srgbClr val="F4F2EE"/>
          </a:solidFill>
          <a:ln w="12700">
            <a:solidFill>
              <a:srgbClr val="DED8CC"/>
            </a:solidFill>
            <a:prstDash val="dash"/>
          </a:ln>
        </p:spPr>
      </p:sp>
      <p:pic>
        <p:nvPicPr>
          <p:cNvPr id="28" name="Image 5" descr="/home/user/suzuki-ceo/selfcafe-miraiya-deck/assets/icons/LuImage-mut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2051" y="5036972"/>
            <a:ext cx="352044" cy="35204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7997800" y="5425592"/>
            <a:ext cx="34605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写真を挿入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660197" y="610819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パースは完成予想図です。什器の再利用可否・工事範囲は現地確認のうえ確定します。実際の仕上がりは設計内容により異なります。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前提の考え方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既存店の実績から積み上げた想定です。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商業施設内・映画館隣接・館内の通行量を踏まえ、書店併設2店の実績平均の約1.9倍を想定しました。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74066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34286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1日あたりの販売杯数の比較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4517" y="225491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印西牧の原店（実績）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29077" y="2300630"/>
            <a:ext cx="1313641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3" name="Text 10"/>
          <p:cNvSpPr/>
          <p:nvPr/>
        </p:nvSpPr>
        <p:spPr>
          <a:xfrm>
            <a:off x="4534158" y="225491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40.6 杯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934517" y="275783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新守山店（実績）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129077" y="2803550"/>
            <a:ext cx="1462477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6" name="Text 13"/>
          <p:cNvSpPr/>
          <p:nvPr/>
        </p:nvSpPr>
        <p:spPr>
          <a:xfrm>
            <a:off x="4682994" y="275783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45.2 杯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34517" y="326075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土浦店（想定）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129077" y="3306470"/>
            <a:ext cx="2426677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19" name="Text 16"/>
          <p:cNvSpPr/>
          <p:nvPr/>
        </p:nvSpPr>
        <p:spPr>
          <a:xfrm>
            <a:off x="5647194" y="326075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 杯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34517" y="376367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秋田店（想定）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129077" y="3809390"/>
            <a:ext cx="2750234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22" name="Text 19"/>
          <p:cNvSpPr/>
          <p:nvPr/>
        </p:nvSpPr>
        <p:spPr>
          <a:xfrm>
            <a:off x="5970751" y="376367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85 杯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34517" y="426659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ささしまライブ店（実績）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129077" y="4312310"/>
            <a:ext cx="3970043" cy="219456"/>
          </a:xfrm>
          <a:prstGeom prst="roundRect">
            <a:avLst>
              <a:gd name="adj" fmla="val 20833"/>
            </a:avLst>
          </a:prstGeom>
          <a:solidFill>
            <a:srgbClr val="5FA57C"/>
          </a:solidFill>
          <a:ln/>
        </p:spPr>
      </p:sp>
      <p:sp>
        <p:nvSpPr>
          <p:cNvPr id="25" name="Text 22"/>
          <p:cNvSpPr/>
          <p:nvPr/>
        </p:nvSpPr>
        <p:spPr>
          <a:xfrm>
            <a:off x="7190560" y="426659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122.7 杯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934517" y="4522622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帯の色：金＝今回の想定／緑＝既存店の実績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8450885" y="165140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8" name="Image 1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0341" y="1852574"/>
            <a:ext cx="310896" cy="310896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9090965" y="174284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090965" y="198059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書店併設2店の実績平均 1日42.9杯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8450885" y="247436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2" descr="/home/user/suzuki-ceo/selfcafe-miraiya-deck/assets/icons/LuTrendingUp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0341" y="2675534"/>
            <a:ext cx="310896" cy="31089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9090965" y="256580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係数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9090965" y="280355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館内の通行量・映画館隣接を踏まえ 約1.9倍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8450885" y="329732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6" name="Image 3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0341" y="3498494"/>
            <a:ext cx="310896" cy="310896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9090965" y="338876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席数で配分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9090965" y="362651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秋田73席＝85杯／土浦59席＝75杯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8450885" y="412028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40" name="Image 4" descr="/home/user/suzuki-ceo/selfcafe-miraiya-deck/assets/icons/LuShield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0341" y="4321454"/>
            <a:ext cx="310896" cy="31089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090965" y="421172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妥当性</a:t>
            </a:r>
            <a:endParaRPr lang="en-US" sz="1000" dirty="0"/>
          </a:p>
        </p:txBody>
      </p:sp>
      <p:sp>
        <p:nvSpPr>
          <p:cNvPr id="42" name="Text 35"/>
          <p:cNvSpPr/>
          <p:nvPr/>
        </p:nvSpPr>
        <p:spPr>
          <a:xfrm>
            <a:off x="9090965" y="444947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ささしまライブ店の実績の6〜7割の水準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660197" y="5052974"/>
            <a:ext cx="10871302" cy="768096"/>
          </a:xfrm>
          <a:prstGeom prst="roundRect">
            <a:avLst>
              <a:gd name="adj" fmla="val 7143"/>
            </a:avLst>
          </a:prstGeom>
          <a:solidFill>
            <a:srgbClr val="0C5230"/>
          </a:solidFill>
          <a:ln/>
        </p:spPr>
      </p:sp>
      <p:sp>
        <p:nvSpPr>
          <p:cNvPr id="44" name="Text 37"/>
          <p:cNvSpPr/>
          <p:nvPr/>
        </p:nvSpPr>
        <p:spPr>
          <a:xfrm>
            <a:off x="971093" y="5052974"/>
            <a:ext cx="102495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来客に対する購入率でみると、秋田店は約68％・土浦店は約56％。</a:t>
            </a: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ご来店の半数以上が1杯ご購入いただく水準です。</a:t>
            </a:r>
            <a:endParaRPr lang="en-US" sz="1150" dirty="0"/>
          </a:p>
        </p:txBody>
      </p:sp>
      <p:sp>
        <p:nvSpPr>
          <p:cNvPr id="45" name="Text 38"/>
          <p:cNvSpPr/>
          <p:nvPr/>
        </p:nvSpPr>
        <p:spPr>
          <a:xfrm>
            <a:off x="660197" y="6272784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想定値であり、売上を保証するものではありません。実際の販売杯数は立地・季節・館内の動線により変動します。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62.97坪／73席／想定 1日85杯・1杯420円（税抜）で試算しています。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267,750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317,750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3,813,000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381.3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3,760人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うち約68％が1杯ご購入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原料・機器の費用は本部負担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想定値であり、売上・お受取額を保証するものではありません。水道光熱費・通信費・消耗品は貴社のご負担です。金額はすべて税抜。実際の販売杯数により変動します。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30坪／59席／想定 1日75杯・1杯420円（税抜）で試算しています。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286,250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3,435,000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343.5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4,027人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うち約56％が1杯ご購入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原料・機器の費用は本部負担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想定値であり、売上・お受取額を保証するものではありません。水道光熱費・通信費・消耗品は貴社のご負担です。金額はすべて税抜。実際の販売杯数により変動します。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坪数別シミュレーション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30坪でも、お受取額はほとんど変わりません。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60坪・40坪・30坪の3パターンで試算しました。販売杯数を決めるのは坪数ではなく、館内の来客数だからです。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10871302" cy="914400"/>
        </p:xfrm>
        <a:graphic>
          <a:graphicData uri="http://schemas.openxmlformats.org/drawingml/2006/table">
            <a:tbl>
              <a:tblPr/>
              <a:tblGrid>
                <a:gridCol w="4287622"/>
                <a:gridCol w="2194560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85杯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2,550杯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2,400杯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2,250杯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1,008,000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267,750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317,750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302,000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286,250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3,813,000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3,624,000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3,435,000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60197" y="4901184"/>
            <a:ext cx="10871302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971093" y="4901184"/>
            <a:ext cx="102495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この試算からは、30坪でのご提案をお薦めします。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60坪との月々のお受取額の差は3.2万円。残りの区画は売場など他の用途にご活用いただけます。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60197" y="5632704"/>
            <a:ext cx="5298491" cy="566928"/>
          </a:xfrm>
          <a:prstGeom prst="roundRect">
            <a:avLst>
              <a:gd name="adj" fmla="val 967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3" name="Image 1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5" y="5760720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45413" y="5687568"/>
            <a:ext cx="45121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杯数は坪数ではなく来客数で決まります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1245413" y="5897880"/>
            <a:ext cx="4512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館内の通行量と映画館の待ち時間需要が販売杯数を左右するため、区画を広げても杯数は大きく増えません。</a:t>
            </a:r>
            <a:endParaRPr lang="en-US" sz="850" dirty="0"/>
          </a:p>
        </p:txBody>
      </p:sp>
      <p:sp>
        <p:nvSpPr>
          <p:cNvPr id="16" name="Shape 11"/>
          <p:cNvSpPr/>
          <p:nvPr/>
        </p:nvSpPr>
        <p:spPr>
          <a:xfrm>
            <a:off x="6233008" y="5632704"/>
            <a:ext cx="5298491" cy="566928"/>
          </a:xfrm>
          <a:prstGeom prst="roundRect">
            <a:avLst>
              <a:gd name="adj" fmla="val 967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7" name="Image 2" descr="/home/user/suzuki-ceo/selfcafe-miraiya-deck/assets/icons/LuLandPlot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176" y="5760720"/>
            <a:ext cx="292608" cy="29260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8224" y="5687568"/>
            <a:ext cx="45121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平日ベースなら30坪・約59席で十分です</a:t>
            </a:r>
            <a:endParaRPr lang="en-US" sz="950" dirty="0"/>
          </a:p>
        </p:txBody>
      </p:sp>
      <p:sp>
        <p:nvSpPr>
          <p:cNvPr id="19" name="Text 13"/>
          <p:cNvSpPr/>
          <p:nvPr/>
        </p:nvSpPr>
        <p:spPr>
          <a:xfrm>
            <a:off x="6818224" y="5897880"/>
            <a:ext cx="4512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土日は高稼働が見込めますが、平日の来店ペースであれば30坪の席数で受けきれると想定しています。</a:t>
            </a:r>
            <a:endParaRPr lang="en-US" sz="850" dirty="0"/>
          </a:p>
        </p:txBody>
      </p:sp>
      <p:sp>
        <p:nvSpPr>
          <p:cNvPr id="20" name="Text 14"/>
          <p:cNvSpPr/>
          <p:nvPr/>
        </p:nvSpPr>
        <p:spPr>
          <a:xfrm>
            <a:off x="660197" y="6272784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杯数の置き方：60坪は秋田店（62.97坪）の想定85杯、30坪は土浦店の想定75杯と同水準とし、40坪はその中間の80杯としました。想定値であり保証するものではありません。金額は税抜。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ご参考：FCプラン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貴社が運営主体となる場合の試算です。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初期投資は必要ですが、売上・利益はすべて貴社のものになります（パートナー制度＝FC加盟）。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  <a:gridCol w="128016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売上高（1杯420円 × 杯数 × 30日）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1,008,000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想定販売杯数（1日）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85杯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80杯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75杯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ドリンク原料（20％）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▲214,200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▲201,600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▲189,000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清掃業務委託費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水道光熱費（書店営業時間ベース）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▲70,000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▲65,000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▲60,000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機械使用料（マシン38,000円×2台・決済端末5,000円×2台）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セキュリティ費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ロイヤリティ（一律・売上連動なし）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雑費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家賃（既存区画のため）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償却前営業利益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570,800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530,400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490,000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481328"/>
          </a:xfrm>
          <a:prstGeom prst="roundRect">
            <a:avLst>
              <a:gd name="adj" fmla="val 3704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72030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初期投資（目安）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28062"/>
            <a:ext cx="25685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</a:t>
            </a:r>
            <a:r>
              <a:rPr lang="en-US" sz="1500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〜 </a:t>
            </a:r>
            <a:r>
              <a:rPr lang="en-US" sz="28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r>
              <a:rPr lang="en-US" sz="13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8706917" y="2766974"/>
            <a:ext cx="25685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加盟金100万円・工事費・出店準備金・保証金・諸経費を含む総投資予算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8450885" y="3279038"/>
            <a:ext cx="3080614" cy="1572768"/>
          </a:xfrm>
          <a:prstGeom prst="roundRect">
            <a:avLst>
              <a:gd name="adj" fmla="val 3488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706917" y="3443630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投資回収の目安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8725205" y="375452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9228125" y="375452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1,200万円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0261397" y="3754526"/>
            <a:ext cx="9957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21ヶ月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8725205" y="410199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40坪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9228125" y="410199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1,000万円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10261397" y="4101998"/>
            <a:ext cx="9957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19ヶ月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8725205" y="444947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9228125" y="444947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900万円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10261397" y="4449470"/>
            <a:ext cx="9957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18ヶ月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8450885" y="4961534"/>
            <a:ext cx="3080614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7" name="Image 1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8629" y="5135270"/>
            <a:ext cx="310896" cy="310896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9090965" y="4961534"/>
            <a:ext cx="22027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清掃を貴社スタッフで行う場合は、委託費3万円が不要となり、その分利益が増えます。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660197" y="605332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償却前営業利益（減価償却前）。人件費は未計上です。家賃は既存区画をご利用いただく前提のため0円で試算しています。水道光熱費は書店営業時間ベース（空調・照明は書店と共用のため24H営業想定より低く置いています）。投資回収は坪数別の総投資予算を月次利益で除した目安。金額はすべて税抜。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2方式の比較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同じ条件で、2つの方式を並べました。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同じ販売杯数の想定で業務委託型とFCプランを比較しています。ご検討の材料としてご覧ください。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667512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34286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月次のお受取額・営業利益の比較（万円）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4517" y="227319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60坪（85杯）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360981" y="2245766"/>
            <a:ext cx="2132381" cy="201168"/>
          </a:xfrm>
          <a:prstGeom prst="roundRect">
            <a:avLst>
              <a:gd name="adj" fmla="val 18182"/>
            </a:avLst>
          </a:prstGeom>
          <a:solidFill>
            <a:srgbClr val="A8761F"/>
          </a:solidFill>
          <a:ln/>
        </p:spPr>
      </p:sp>
      <p:sp>
        <p:nvSpPr>
          <p:cNvPr id="13" name="Text 10"/>
          <p:cNvSpPr/>
          <p:nvPr/>
        </p:nvSpPr>
        <p:spPr>
          <a:xfrm>
            <a:off x="2342693" y="2218334"/>
            <a:ext cx="20409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566514" y="221833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31.8 万円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360981" y="2538374"/>
            <a:ext cx="3828898" cy="201168"/>
          </a:xfrm>
          <a:prstGeom prst="roundRect">
            <a:avLst>
              <a:gd name="adj" fmla="val 18182"/>
            </a:avLst>
          </a:prstGeom>
          <a:solidFill>
            <a:srgbClr val="4C9A6E"/>
          </a:solidFill>
          <a:ln/>
        </p:spPr>
      </p:sp>
      <p:sp>
        <p:nvSpPr>
          <p:cNvPr id="16" name="Text 13"/>
          <p:cNvSpPr/>
          <p:nvPr/>
        </p:nvSpPr>
        <p:spPr>
          <a:xfrm>
            <a:off x="2342693" y="2510942"/>
            <a:ext cx="37374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FCプラン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263030" y="251094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9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57.1 万円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934517" y="315102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40坪（80杯）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2360981" y="3123590"/>
            <a:ext cx="2025091" cy="201168"/>
          </a:xfrm>
          <a:prstGeom prst="roundRect">
            <a:avLst>
              <a:gd name="adj" fmla="val 18182"/>
            </a:avLst>
          </a:prstGeom>
          <a:solidFill>
            <a:srgbClr val="A8761F"/>
          </a:solidFill>
          <a:ln/>
        </p:spPr>
      </p:sp>
      <p:sp>
        <p:nvSpPr>
          <p:cNvPr id="20" name="Text 17"/>
          <p:cNvSpPr/>
          <p:nvPr/>
        </p:nvSpPr>
        <p:spPr>
          <a:xfrm>
            <a:off x="2342693" y="3096158"/>
            <a:ext cx="19336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459224" y="309615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30.2 万円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360981" y="3416198"/>
            <a:ext cx="3553968" cy="201168"/>
          </a:xfrm>
          <a:prstGeom prst="roundRect">
            <a:avLst>
              <a:gd name="adj" fmla="val 18182"/>
            </a:avLst>
          </a:prstGeom>
          <a:solidFill>
            <a:srgbClr val="4C9A6E"/>
          </a:solidFill>
          <a:ln/>
        </p:spPr>
      </p:sp>
      <p:sp>
        <p:nvSpPr>
          <p:cNvPr id="23" name="Text 20"/>
          <p:cNvSpPr/>
          <p:nvPr/>
        </p:nvSpPr>
        <p:spPr>
          <a:xfrm>
            <a:off x="2342693" y="3388766"/>
            <a:ext cx="3462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FCプラン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988101" y="338876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9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53.0 万円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34517" y="402884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30坪（75杯）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2360981" y="4001414"/>
            <a:ext cx="1917802" cy="201168"/>
          </a:xfrm>
          <a:prstGeom prst="roundRect">
            <a:avLst>
              <a:gd name="adj" fmla="val 18182"/>
            </a:avLst>
          </a:prstGeom>
          <a:solidFill>
            <a:srgbClr val="A8761F"/>
          </a:solidFill>
          <a:ln/>
        </p:spPr>
      </p:sp>
      <p:sp>
        <p:nvSpPr>
          <p:cNvPr id="27" name="Text 24"/>
          <p:cNvSpPr/>
          <p:nvPr/>
        </p:nvSpPr>
        <p:spPr>
          <a:xfrm>
            <a:off x="2342693" y="3973982"/>
            <a:ext cx="18263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4351934" y="397398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28.6 万円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360981" y="4294022"/>
            <a:ext cx="3285744" cy="201168"/>
          </a:xfrm>
          <a:prstGeom prst="roundRect">
            <a:avLst>
              <a:gd name="adj" fmla="val 18182"/>
            </a:avLst>
          </a:prstGeom>
          <a:solidFill>
            <a:srgbClr val="4C9A6E"/>
          </a:solidFill>
          <a:ln/>
        </p:spPr>
      </p:sp>
      <p:sp>
        <p:nvSpPr>
          <p:cNvPr id="30" name="Text 27"/>
          <p:cNvSpPr/>
          <p:nvPr/>
        </p:nvSpPr>
        <p:spPr>
          <a:xfrm>
            <a:off x="2342693" y="4266590"/>
            <a:ext cx="319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FCプラン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5719877" y="426659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9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49.0 万円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934517" y="454091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業務委託型＝未来屋書店様のお受取額（売上の25％＋月額固定5万円）／FCプラン＝未来屋書店様の償却前営業利益（人件費未計上・家賃0円）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19365" y="1651406"/>
          <a:ext cx="3812134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98448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7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FCプラン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B8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30〜50万円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900〜1,200万円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運営主体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日常業務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清掃・補充・発注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清掃・補充・発注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原料・機器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水道光熱費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通信費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消耗品（清掃用品）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売上変動リスク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投資回収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約2ヶ月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18〜21ヶ月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Shape 30"/>
          <p:cNvSpPr/>
          <p:nvPr/>
        </p:nvSpPr>
        <p:spPr>
          <a:xfrm>
            <a:off x="660197" y="5126126"/>
            <a:ext cx="10871302" cy="786384"/>
          </a:xfrm>
          <a:prstGeom prst="roundRect">
            <a:avLst>
              <a:gd name="adj" fmla="val 6977"/>
            </a:avLst>
          </a:prstGeom>
          <a:solidFill>
            <a:srgbClr val="0C5230"/>
          </a:solidFill>
          <a:ln/>
        </p:spPr>
      </p:sp>
      <p:sp>
        <p:nvSpPr>
          <p:cNvPr id="35" name="Text 31"/>
          <p:cNvSpPr/>
          <p:nvPr/>
        </p:nvSpPr>
        <p:spPr>
          <a:xfrm>
            <a:off x="971093" y="5126126"/>
            <a:ext cx="1024951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まずは業務委託型での切り替えをご提案しております。</a:t>
            </a: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初期費用を抑えて実績をご確認いただいたうえで、FCプランへの切り替えもご相談いただけます。</a:t>
            </a:r>
            <a:endParaRPr lang="en-US" sz="1250" dirty="0"/>
          </a:p>
        </p:txBody>
      </p:sp>
      <p:sp>
        <p:nvSpPr>
          <p:cNvPr id="36" name="Text 32"/>
          <p:cNvSpPr/>
          <p:nvPr/>
        </p:nvSpPr>
        <p:spPr>
          <a:xfrm>
            <a:off x="660197" y="604052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いずれも想定値であり、売上・利益を保証するものではありません。金額はすべて税抜・目安です。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今後の進め方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現地確認から、最短2〜3ヶ月で切り替えできます。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まずは2店舗の現地確認と、条件のすり合わせからお願いできればと存じます。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9653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pic>
        <p:nvPicPr>
          <p:cNvPr id="11" name="Image 1" descr="/home/user/suzuki-ceo/selfcafe-miraiya-deck/assets/icons/LuMessagesSqua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55" y="183428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9653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ご検討・ご相談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79653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4" name="Text 10"/>
          <p:cNvSpPr/>
          <p:nvPr/>
        </p:nvSpPr>
        <p:spPr>
          <a:xfrm>
            <a:off x="879653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本ご提案へのご質問・条件のすり合わせ。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874691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094147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pic>
        <p:nvPicPr>
          <p:cNvPr id="17" name="Image 2" descr="/home/user/suzuki-ceo/selfcafe-miraiya-deck/assets/icons/LuFileSearch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649" y="1834286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094147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094147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0" name="Text 15"/>
          <p:cNvSpPr/>
          <p:nvPr/>
        </p:nvSpPr>
        <p:spPr>
          <a:xfrm>
            <a:off x="3094147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区画・電源・給排水・動線を確認し、レイアウトを設計。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089185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308641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pic>
        <p:nvPicPr>
          <p:cNvPr id="23" name="Image 3" descr="/home/user/suzuki-ceo/selfcafe-miraiya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143" y="1834286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8641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契約締結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308641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0"/>
          <p:cNvSpPr/>
          <p:nvPr/>
        </p:nvSpPr>
        <p:spPr>
          <a:xfrm>
            <a:off x="5308641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条件確定のうえ業務委託契約を締結。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7303679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523135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900" dirty="0"/>
          </a:p>
        </p:txBody>
      </p:sp>
      <p:pic>
        <p:nvPicPr>
          <p:cNvPr id="29" name="Image 4" descr="/home/user/suzuki-ceo/selfcafe-miraiya-deck/assets/icons/LuHamm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8636" y="1834286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523135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設置工事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7523135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5"/>
          <p:cNvSpPr/>
          <p:nvPr/>
        </p:nvSpPr>
        <p:spPr>
          <a:xfrm>
            <a:off x="7523135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機器設置・什器調整。既存什器は可能な範囲で再利用。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518172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9737628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900" dirty="0"/>
          </a:p>
        </p:txBody>
      </p:sp>
      <p:pic>
        <p:nvPicPr>
          <p:cNvPr id="35" name="Image 5" descr="/home/user/suzuki-ceo/selfcafe-miraiya-deck/assets/icons/LuStore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130" y="1834286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7628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運営開始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9737628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8" name="Text 30"/>
          <p:cNvSpPr/>
          <p:nvPr/>
        </p:nvSpPr>
        <p:spPr>
          <a:xfrm>
            <a:off x="9737628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オープン後の集客・お問い合わせ対応は本部が担当。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660197" y="4376318"/>
            <a:ext cx="10871302" cy="1737360"/>
          </a:xfrm>
          <a:prstGeom prst="roundRect">
            <a:avLst>
              <a:gd name="adj" fmla="val 3158"/>
            </a:avLst>
          </a:prstGeom>
          <a:solidFill>
            <a:srgbClr val="0C5230"/>
          </a:solidFill>
          <a:ln/>
        </p:spPr>
      </p:sp>
      <p:pic>
        <p:nvPicPr>
          <p:cNvPr id="40" name="Image 6" descr="/home/user/suzuki-ceo/selfcafe-miraiya-deck/assets/logo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3" y="4632350"/>
            <a:ext cx="2093976" cy="29809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062533" y="507126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ご不明な点は、お気軽にお問い合わせください。</a:t>
            </a:r>
            <a:endParaRPr lang="en-US" sz="1300" dirty="0"/>
          </a:p>
        </p:txBody>
      </p:sp>
      <p:pic>
        <p:nvPicPr>
          <p:cNvPr id="42" name="Image 7" descr="/home/user/suzuki-ceo/selfcafe-miraiya-deck/assets/icons/LuPhone-pa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6757" y="4650638"/>
            <a:ext cx="219456" cy="21945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792517" y="45957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</a:t>
            </a:r>
            <a:endParaRPr lang="en-US" sz="900" dirty="0"/>
          </a:p>
        </p:txBody>
      </p:sp>
      <p:sp>
        <p:nvSpPr>
          <p:cNvPr id="44" name="Text 34"/>
          <p:cNvSpPr/>
          <p:nvPr/>
        </p:nvSpPr>
        <p:spPr>
          <a:xfrm>
            <a:off x="8615477" y="45957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052-879-3557</a:t>
            </a:r>
            <a:endParaRPr lang="en-US" sz="1300" dirty="0"/>
          </a:p>
        </p:txBody>
      </p:sp>
      <p:pic>
        <p:nvPicPr>
          <p:cNvPr id="45" name="Image 8" descr="/home/user/suzuki-ceo/selfcafe-miraiya-deck/assets/icons/LuMail-pa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6757" y="5107838"/>
            <a:ext cx="219456" cy="219456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7792517" y="50529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900" dirty="0"/>
          </a:p>
        </p:txBody>
      </p:sp>
      <p:sp>
        <p:nvSpPr>
          <p:cNvPr id="47" name="Text 36"/>
          <p:cNvSpPr/>
          <p:nvPr/>
        </p:nvSpPr>
        <p:spPr>
          <a:xfrm>
            <a:off x="8615477" y="50529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info@selfcafe.jp</a:t>
            </a:r>
            <a:endParaRPr lang="en-US" sz="1300" dirty="0"/>
          </a:p>
        </p:txBody>
      </p:sp>
      <p:pic>
        <p:nvPicPr>
          <p:cNvPr id="48" name="Image 9" descr="/home/user/suzuki-ceo/selfcafe-miraiya-deck/assets/icons/LuGlobe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6757" y="5565038"/>
            <a:ext cx="219456" cy="219456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7792517" y="55101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</p:txBody>
      </p:sp>
      <p:sp>
        <p:nvSpPr>
          <p:cNvPr id="50" name="Text 38"/>
          <p:cNvSpPr/>
          <p:nvPr/>
        </p:nvSpPr>
        <p:spPr>
          <a:xfrm>
            <a:off x="8615477" y="55101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https://selfcafe.jp/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セルフカフェ × 未来屋書店 業態転換のご提案</dc:title>
  <dc:subject>PptxGenJS Presentation</dc:subject>
  <dc:creator>セルフカフェ株式会社</dc:creator>
  <cp:lastModifiedBy>セルフカフェ株式会社</cp:lastModifiedBy>
  <cp:revision>1</cp:revision>
  <dcterms:created xsi:type="dcterms:W3CDTF">2026-09-03T09:44:38Z</dcterms:created>
  <dcterms:modified xsi:type="dcterms:W3CDTF">2026-09-03T09:44:38Z</dcterms:modified>
</cp:coreProperties>
</file>