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62088" y="2743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2026年10月17日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84048" y="4572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株式会社未来屋書店　御中</a:t>
            </a:r>
            <a:endParaRPr lang="en-US" sz="1150" dirty="0"/>
          </a:p>
        </p:txBody>
      </p:sp>
      <p:pic>
        <p:nvPicPr>
          <p:cNvPr id="4" name="Image 0" descr="/home/user/suzuki-ceo/selfcafe-miraiya-kickoff-deck/assets/logo-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08" y="438912"/>
            <a:ext cx="1325880" cy="189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9048" y="64008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セルフカフェ株式会社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367528" y="795528"/>
            <a:ext cx="4937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愛知県名古屋市緑区鴻仏目1-102ベルインビルB棟3階　TEL 052-879-3557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384048" y="1005840"/>
            <a:ext cx="9921240" cy="1463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Text 5"/>
          <p:cNvSpPr/>
          <p:nvPr/>
        </p:nvSpPr>
        <p:spPr>
          <a:xfrm>
            <a:off x="384048" y="1051560"/>
            <a:ext cx="9921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秋田店 カフェ区画 業態転換　進行スケジュールおよびご確認事項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84048" y="1371600"/>
            <a:ext cx="9921240" cy="7315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0" name="Text 7"/>
          <p:cNvSpPr/>
          <p:nvPr/>
        </p:nvSpPr>
        <p:spPr>
          <a:xfrm>
            <a:off x="384048" y="1426464"/>
            <a:ext cx="9921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平素より格別のお引き立てを賜り、厚く御礼申し上げます。標記の件につきまして、現時点における進行スケジュールおよびご確認事項を下記のとおりご案内申し上げます。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84048" y="1691640"/>
            <a:ext cx="50292" cy="146304"/>
          </a:xfrm>
          <a:prstGeom prst="rect">
            <a:avLst/>
          </a:prstGeom>
          <a:solidFill>
            <a:srgbClr val="0C5230"/>
          </a:solidFill>
          <a:ln/>
        </p:spPr>
      </p:sp>
      <p:sp>
        <p:nvSpPr>
          <p:cNvPr id="12" name="Text 9"/>
          <p:cNvSpPr/>
          <p:nvPr/>
        </p:nvSpPr>
        <p:spPr>
          <a:xfrm>
            <a:off x="512064" y="1664208"/>
            <a:ext cx="9793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１．前提条件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865376"/>
          <a:ext cx="9921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514600"/>
                <a:gridCol w="1920240"/>
                <a:gridCol w="182880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区画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契約形態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貴社ご負担の初期費用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開業予定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閉店後の工期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30坪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業務委託型・3年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30〜50万円（税抜・設置工事費）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2027年3月上旬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約1か月（残置前提）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384048" y="2441448"/>
            <a:ext cx="50292" cy="146304"/>
          </a:xfrm>
          <a:prstGeom prst="rect">
            <a:avLst/>
          </a:prstGeom>
          <a:solidFill>
            <a:srgbClr val="0C5230"/>
          </a:solidFill>
          <a:ln/>
        </p:spPr>
      </p:sp>
      <p:sp>
        <p:nvSpPr>
          <p:cNvPr id="15" name="Text 11"/>
          <p:cNvSpPr/>
          <p:nvPr/>
        </p:nvSpPr>
        <p:spPr>
          <a:xfrm>
            <a:off x="512064" y="2414016"/>
            <a:ext cx="9793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２．進行スケジュール</a:t>
            </a:r>
            <a:endParaRPr lang="en-US" sz="1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2615184"/>
          <a:ext cx="99212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132320"/>
                <a:gridCol w="1463040"/>
              </a:tblGrid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担当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11月上旬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現地内見（実測、電源・給排水、既存回線、残置設備のご確認）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6B6B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両社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11月中旬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レイアウト図・什器リストのご提出、設置工事費のご案内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弊社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11月中旬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カフェ・ド・クリエ様の解約条件および原状回復範囲の確定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31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11月下旬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仕様の確定および業務委託契約の締結（カメラ映像の取扱いを含む）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6B6B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両社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11月下旬〜12月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館（イオンモール様）への工事申請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6B6B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両社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12月上旬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インターネット回線の新規お申込み（開通まで1〜2か月）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31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12月上旬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什器・機器の発注（リードタイム4〜6週間）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弊社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1月末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カフェ・ド・クリエ様 閉店・退去（造作・床・設備は残置）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A631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貴社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2月（約1か月）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内装工事、機器設置・試運転、什器搬入、回線開通の確認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弊社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2月下旬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開業準備・研修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6B6B6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両社</a:t>
                      </a:r>
                      <a:endParaRPr lang="en-US" sz="8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3月上旬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0683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開業</a:t>
                      </a:r>
                      <a:endParaRPr lang="en-US" sz="9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B6B6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1"/>
                    </a:solidFill>
                  </a:tcPr>
                </a:tc>
              </a:tr>
            </a:tbl>
          </a:graphicData>
        </a:graphic>
      </p:graphicFrame>
      <p:sp>
        <p:nvSpPr>
          <p:cNvPr id="17" name="Shape 12"/>
          <p:cNvSpPr/>
          <p:nvPr/>
        </p:nvSpPr>
        <p:spPr>
          <a:xfrm>
            <a:off x="384048" y="5129784"/>
            <a:ext cx="50292" cy="146304"/>
          </a:xfrm>
          <a:prstGeom prst="rect">
            <a:avLst/>
          </a:prstGeom>
          <a:solidFill>
            <a:srgbClr val="0C5230"/>
          </a:solidFill>
          <a:ln/>
        </p:spPr>
      </p:sp>
      <p:sp>
        <p:nvSpPr>
          <p:cNvPr id="18" name="Text 13"/>
          <p:cNvSpPr/>
          <p:nvPr/>
        </p:nvSpPr>
        <p:spPr>
          <a:xfrm>
            <a:off x="512064" y="5102352"/>
            <a:ext cx="2996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３．弊社にて対応いたします事項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384048" y="5321808"/>
            <a:ext cx="3124200" cy="7315"/>
          </a:xfrm>
          <a:prstGeom prst="rect">
            <a:avLst/>
          </a:prstGeom>
          <a:solidFill>
            <a:srgbClr val="DCDCDC"/>
          </a:solidFill>
          <a:ln/>
        </p:spPr>
      </p:sp>
      <p:sp>
        <p:nvSpPr>
          <p:cNvPr id="20" name="Text 15"/>
          <p:cNvSpPr/>
          <p:nvPr/>
        </p:nvSpPr>
        <p:spPr>
          <a:xfrm>
            <a:off x="402336" y="5504688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530352" y="5504688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現地内見の日程調整（11月上旬）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402336" y="5646420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530352" y="5646420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レイアウト図および什器リストの作成（30坪）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402336" y="5788152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530352" y="5788152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設置工事費のご案内（30〜50万円・税抜）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402336" y="5929884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530352" y="5929884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業務委託契約書のドラフト送付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402336" y="6071616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530352" y="6071616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カメラ映像の取扱いに関する取り決めのご提示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02336" y="6213348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530352" y="6213348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館への工事申請用 図面・仕様書の作成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402336" y="6355080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530352" y="6355080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什器・機器の発注（12月上旬）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402336" y="6496812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530352" y="6496812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内装工事、機器設置および試運転</a:t>
            </a: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402336" y="6638544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530352" y="6638544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開業スケジュール確定版のご提示（内見後）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402336" y="6780276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39" name="Text 34"/>
          <p:cNvSpPr/>
          <p:nvPr/>
        </p:nvSpPr>
        <p:spPr>
          <a:xfrm>
            <a:off x="530352" y="6780276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開業後の集客およびお客様対応</a:t>
            </a:r>
            <a:endParaRPr lang="en-US" sz="800" dirty="0"/>
          </a:p>
        </p:txBody>
      </p:sp>
      <p:sp>
        <p:nvSpPr>
          <p:cNvPr id="40" name="Shape 35"/>
          <p:cNvSpPr/>
          <p:nvPr/>
        </p:nvSpPr>
        <p:spPr>
          <a:xfrm>
            <a:off x="3782568" y="5129784"/>
            <a:ext cx="50292" cy="146304"/>
          </a:xfrm>
          <a:prstGeom prst="rect">
            <a:avLst/>
          </a:prstGeom>
          <a:solidFill>
            <a:srgbClr val="0C5230"/>
          </a:solidFill>
          <a:ln/>
        </p:spPr>
      </p:sp>
      <p:sp>
        <p:nvSpPr>
          <p:cNvPr id="41" name="Text 36"/>
          <p:cNvSpPr/>
          <p:nvPr/>
        </p:nvSpPr>
        <p:spPr>
          <a:xfrm>
            <a:off x="3910584" y="5102352"/>
            <a:ext cx="2996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４．貴社にてご確認・ご決定をお願いする事項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3782568" y="5321808"/>
            <a:ext cx="3124200" cy="7315"/>
          </a:xfrm>
          <a:prstGeom prst="rect">
            <a:avLst/>
          </a:prstGeom>
          <a:solidFill>
            <a:srgbClr val="DCDCDC"/>
          </a:solidFill>
          <a:ln/>
        </p:spPr>
      </p:sp>
      <p:sp>
        <p:nvSpPr>
          <p:cNvPr id="43" name="Text 38"/>
          <p:cNvSpPr/>
          <p:nvPr/>
        </p:nvSpPr>
        <p:spPr>
          <a:xfrm>
            <a:off x="3782568" y="5358384"/>
            <a:ext cx="3124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A63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※印は工期に直結いたします</a:t>
            </a:r>
            <a:endParaRPr lang="en-US" sz="700" dirty="0"/>
          </a:p>
        </p:txBody>
      </p:sp>
      <p:sp>
        <p:nvSpPr>
          <p:cNvPr id="44" name="Text 39"/>
          <p:cNvSpPr/>
          <p:nvPr/>
        </p:nvSpPr>
        <p:spPr>
          <a:xfrm>
            <a:off x="3800856" y="5504688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45" name="Text 40"/>
          <p:cNvSpPr/>
          <p:nvPr/>
        </p:nvSpPr>
        <p:spPr>
          <a:xfrm>
            <a:off x="3800856" y="5504688"/>
            <a:ext cx="310591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63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カフェ・ド・クリエ様の解約条件・閉店日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3800856" y="5646420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47" name="Text 42"/>
          <p:cNvSpPr/>
          <p:nvPr/>
        </p:nvSpPr>
        <p:spPr>
          <a:xfrm>
            <a:off x="3800856" y="5646420"/>
            <a:ext cx="310591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63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原状回復の範囲（造作・床・設備の残置）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3800856" y="5788152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49" name="Text 44"/>
          <p:cNvSpPr/>
          <p:nvPr/>
        </p:nvSpPr>
        <p:spPr>
          <a:xfrm>
            <a:off x="3800856" y="5788152"/>
            <a:ext cx="310591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63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残置いただく既存設備（給排水・電気容量）</a:t>
            </a:r>
            <a:endParaRPr lang="en-US" sz="800" dirty="0"/>
          </a:p>
        </p:txBody>
      </p:sp>
      <p:sp>
        <p:nvSpPr>
          <p:cNvPr id="50" name="Text 45"/>
          <p:cNvSpPr/>
          <p:nvPr/>
        </p:nvSpPr>
        <p:spPr>
          <a:xfrm>
            <a:off x="3800856" y="5929884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51" name="Text 46"/>
          <p:cNvSpPr/>
          <p:nvPr/>
        </p:nvSpPr>
        <p:spPr>
          <a:xfrm>
            <a:off x="3800856" y="5929884"/>
            <a:ext cx="3105912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63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インターネット回線の新規敷設（12月中）</a:t>
            </a:r>
            <a:endParaRPr lang="en-US" sz="800" dirty="0"/>
          </a:p>
        </p:txBody>
      </p:sp>
      <p:sp>
        <p:nvSpPr>
          <p:cNvPr id="52" name="Text 47"/>
          <p:cNvSpPr/>
          <p:nvPr/>
        </p:nvSpPr>
        <p:spPr>
          <a:xfrm>
            <a:off x="3800856" y="6071616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53" name="Text 48"/>
          <p:cNvSpPr/>
          <p:nvPr/>
        </p:nvSpPr>
        <p:spPr>
          <a:xfrm>
            <a:off x="3928872" y="6071616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開業日の確定（契約期間の起算日となります）</a:t>
            </a:r>
            <a:endParaRPr lang="en-US" sz="800" dirty="0"/>
          </a:p>
        </p:txBody>
      </p:sp>
      <p:sp>
        <p:nvSpPr>
          <p:cNvPr id="54" name="Text 49"/>
          <p:cNvSpPr/>
          <p:nvPr/>
        </p:nvSpPr>
        <p:spPr>
          <a:xfrm>
            <a:off x="3800856" y="6213348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55" name="Text 50"/>
          <p:cNvSpPr/>
          <p:nvPr/>
        </p:nvSpPr>
        <p:spPr>
          <a:xfrm>
            <a:off x="3928872" y="6213348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カメラ映像（個人情報）の取扱いの取り決め</a:t>
            </a:r>
            <a:endParaRPr lang="en-US" sz="800" dirty="0"/>
          </a:p>
        </p:txBody>
      </p:sp>
      <p:sp>
        <p:nvSpPr>
          <p:cNvPr id="56" name="Text 51"/>
          <p:cNvSpPr/>
          <p:nvPr/>
        </p:nvSpPr>
        <p:spPr>
          <a:xfrm>
            <a:off x="3800856" y="6355080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57" name="Text 52"/>
          <p:cNvSpPr/>
          <p:nvPr/>
        </p:nvSpPr>
        <p:spPr>
          <a:xfrm>
            <a:off x="3928872" y="6355080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館への工事申請（様式・期限・搬入ルート）</a:t>
            </a:r>
            <a:endParaRPr lang="en-US" sz="800" dirty="0"/>
          </a:p>
        </p:txBody>
      </p:sp>
      <p:sp>
        <p:nvSpPr>
          <p:cNvPr id="58" name="Text 53"/>
          <p:cNvSpPr/>
          <p:nvPr/>
        </p:nvSpPr>
        <p:spPr>
          <a:xfrm>
            <a:off x="3800856" y="6496812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59" name="Text 54"/>
          <p:cNvSpPr/>
          <p:nvPr/>
        </p:nvSpPr>
        <p:spPr>
          <a:xfrm>
            <a:off x="3928872" y="6496812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サイン表記の確定（MIRAIYA Book &amp; Cafe）</a:t>
            </a:r>
            <a:endParaRPr lang="en-US" sz="800" dirty="0"/>
          </a:p>
        </p:txBody>
      </p:sp>
      <p:sp>
        <p:nvSpPr>
          <p:cNvPr id="60" name="Text 55"/>
          <p:cNvSpPr/>
          <p:nvPr/>
        </p:nvSpPr>
        <p:spPr>
          <a:xfrm>
            <a:off x="3800856" y="6638544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61" name="Text 56"/>
          <p:cNvSpPr/>
          <p:nvPr/>
        </p:nvSpPr>
        <p:spPr>
          <a:xfrm>
            <a:off x="3928872" y="6638544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運営体制（営業時間、清掃・補充のご担当）</a:t>
            </a:r>
            <a:endParaRPr lang="en-US" sz="800" dirty="0"/>
          </a:p>
        </p:txBody>
      </p:sp>
      <p:sp>
        <p:nvSpPr>
          <p:cNvPr id="62" name="Text 57"/>
          <p:cNvSpPr/>
          <p:nvPr/>
        </p:nvSpPr>
        <p:spPr>
          <a:xfrm>
            <a:off x="3800856" y="6780276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63" name="Text 58"/>
          <p:cNvSpPr/>
          <p:nvPr/>
        </p:nvSpPr>
        <p:spPr>
          <a:xfrm>
            <a:off x="3928872" y="6780276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社内稟議の進捗および決裁完了の目処</a:t>
            </a:r>
            <a:endParaRPr lang="en-US" sz="800" dirty="0"/>
          </a:p>
        </p:txBody>
      </p:sp>
      <p:sp>
        <p:nvSpPr>
          <p:cNvPr id="64" name="Shape 59"/>
          <p:cNvSpPr/>
          <p:nvPr/>
        </p:nvSpPr>
        <p:spPr>
          <a:xfrm>
            <a:off x="7181088" y="5129784"/>
            <a:ext cx="50292" cy="146304"/>
          </a:xfrm>
          <a:prstGeom prst="rect">
            <a:avLst/>
          </a:prstGeom>
          <a:solidFill>
            <a:srgbClr val="0C5230"/>
          </a:solidFill>
          <a:ln/>
        </p:spPr>
      </p:sp>
      <p:sp>
        <p:nvSpPr>
          <p:cNvPr id="65" name="Text 60"/>
          <p:cNvSpPr/>
          <p:nvPr/>
        </p:nvSpPr>
        <p:spPr>
          <a:xfrm>
            <a:off x="7309104" y="5102352"/>
            <a:ext cx="2996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５．ご提供をお願いする資料・情報</a:t>
            </a:r>
            <a:endParaRPr lang="en-US" sz="950" dirty="0"/>
          </a:p>
        </p:txBody>
      </p:sp>
      <p:sp>
        <p:nvSpPr>
          <p:cNvPr id="66" name="Shape 61"/>
          <p:cNvSpPr/>
          <p:nvPr/>
        </p:nvSpPr>
        <p:spPr>
          <a:xfrm>
            <a:off x="7181088" y="5321808"/>
            <a:ext cx="3124200" cy="7315"/>
          </a:xfrm>
          <a:prstGeom prst="rect">
            <a:avLst/>
          </a:prstGeom>
          <a:solidFill>
            <a:srgbClr val="DCDCDC"/>
          </a:solidFill>
          <a:ln/>
        </p:spPr>
      </p:sp>
      <p:sp>
        <p:nvSpPr>
          <p:cNvPr id="67" name="Text 62"/>
          <p:cNvSpPr/>
          <p:nvPr/>
        </p:nvSpPr>
        <p:spPr>
          <a:xfrm>
            <a:off x="7199376" y="5504688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68" name="Text 63"/>
          <p:cNvSpPr/>
          <p:nvPr/>
        </p:nvSpPr>
        <p:spPr>
          <a:xfrm>
            <a:off x="7327392" y="5504688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区画図面（平面図・展開図／CADデータ）</a:t>
            </a:r>
            <a:endParaRPr lang="en-US" sz="800" dirty="0"/>
          </a:p>
        </p:txBody>
      </p:sp>
      <p:sp>
        <p:nvSpPr>
          <p:cNvPr id="69" name="Text 64"/>
          <p:cNvSpPr/>
          <p:nvPr/>
        </p:nvSpPr>
        <p:spPr>
          <a:xfrm>
            <a:off x="7199376" y="5646420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70" name="Text 65"/>
          <p:cNvSpPr/>
          <p:nvPr/>
        </p:nvSpPr>
        <p:spPr>
          <a:xfrm>
            <a:off x="7327392" y="5646420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電気容量および分電盤の位置</a:t>
            </a:r>
            <a:endParaRPr lang="en-US" sz="800" dirty="0"/>
          </a:p>
        </p:txBody>
      </p:sp>
      <p:sp>
        <p:nvSpPr>
          <p:cNvPr id="71" name="Text 66"/>
          <p:cNvSpPr/>
          <p:nvPr/>
        </p:nvSpPr>
        <p:spPr>
          <a:xfrm>
            <a:off x="7199376" y="5788152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72" name="Text 67"/>
          <p:cNvSpPr/>
          <p:nvPr/>
        </p:nvSpPr>
        <p:spPr>
          <a:xfrm>
            <a:off x="7327392" y="5788152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給排水の位置・系統</a:t>
            </a:r>
            <a:endParaRPr lang="en-US" sz="800" dirty="0"/>
          </a:p>
        </p:txBody>
      </p:sp>
      <p:sp>
        <p:nvSpPr>
          <p:cNvPr id="73" name="Text 68"/>
          <p:cNvSpPr/>
          <p:nvPr/>
        </p:nvSpPr>
        <p:spPr>
          <a:xfrm>
            <a:off x="7199376" y="5929884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74" name="Text 69"/>
          <p:cNvSpPr/>
          <p:nvPr/>
        </p:nvSpPr>
        <p:spPr>
          <a:xfrm>
            <a:off x="7327392" y="5929884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既存インターネット回線の有無・引込経路</a:t>
            </a:r>
            <a:endParaRPr lang="en-US" sz="800" dirty="0"/>
          </a:p>
        </p:txBody>
      </p:sp>
      <p:sp>
        <p:nvSpPr>
          <p:cNvPr id="75" name="Text 70"/>
          <p:cNvSpPr/>
          <p:nvPr/>
        </p:nvSpPr>
        <p:spPr>
          <a:xfrm>
            <a:off x="7199376" y="6071616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76" name="Text 71"/>
          <p:cNvSpPr/>
          <p:nvPr/>
        </p:nvSpPr>
        <p:spPr>
          <a:xfrm>
            <a:off x="7327392" y="6071616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現況写真（既存設備、厨房まわり）</a:t>
            </a:r>
            <a:endParaRPr lang="en-US" sz="800" dirty="0"/>
          </a:p>
        </p:txBody>
      </p:sp>
      <p:sp>
        <p:nvSpPr>
          <p:cNvPr id="77" name="Text 72"/>
          <p:cNvSpPr/>
          <p:nvPr/>
        </p:nvSpPr>
        <p:spPr>
          <a:xfrm>
            <a:off x="7199376" y="6213348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78" name="Text 73"/>
          <p:cNvSpPr/>
          <p:nvPr/>
        </p:nvSpPr>
        <p:spPr>
          <a:xfrm>
            <a:off x="7327392" y="6213348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館の工事規定および申請様式</a:t>
            </a:r>
            <a:endParaRPr lang="en-US" sz="800" dirty="0"/>
          </a:p>
        </p:txBody>
      </p:sp>
      <p:sp>
        <p:nvSpPr>
          <p:cNvPr id="79" name="Text 74"/>
          <p:cNvSpPr/>
          <p:nvPr/>
        </p:nvSpPr>
        <p:spPr>
          <a:xfrm>
            <a:off x="7199376" y="6355080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80" name="Text 75"/>
          <p:cNvSpPr/>
          <p:nvPr/>
        </p:nvSpPr>
        <p:spPr>
          <a:xfrm>
            <a:off x="7327392" y="6355080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カフェ・ド・クリエ様の原状回復条件がわかる資料</a:t>
            </a:r>
            <a:endParaRPr lang="en-US" sz="800" dirty="0"/>
          </a:p>
        </p:txBody>
      </p:sp>
      <p:sp>
        <p:nvSpPr>
          <p:cNvPr id="81" name="Text 76"/>
          <p:cNvSpPr/>
          <p:nvPr/>
        </p:nvSpPr>
        <p:spPr>
          <a:xfrm>
            <a:off x="7199376" y="6496812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82" name="Text 77"/>
          <p:cNvSpPr/>
          <p:nvPr/>
        </p:nvSpPr>
        <p:spPr>
          <a:xfrm>
            <a:off x="7327392" y="6496812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ご契約者情報（会社名・所在地・代表者名）</a:t>
            </a:r>
            <a:endParaRPr lang="en-US" sz="800" dirty="0"/>
          </a:p>
        </p:txBody>
      </p:sp>
      <p:sp>
        <p:nvSpPr>
          <p:cNvPr id="83" name="Text 78"/>
          <p:cNvSpPr/>
          <p:nvPr/>
        </p:nvSpPr>
        <p:spPr>
          <a:xfrm>
            <a:off x="7199376" y="6638544"/>
            <a:ext cx="12801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800" dirty="0"/>
          </a:p>
        </p:txBody>
      </p:sp>
      <p:sp>
        <p:nvSpPr>
          <p:cNvPr id="84" name="Text 79"/>
          <p:cNvSpPr/>
          <p:nvPr/>
        </p:nvSpPr>
        <p:spPr>
          <a:xfrm>
            <a:off x="7327392" y="6638544"/>
            <a:ext cx="2977896" cy="141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業務委託料のお振込先口座</a:t>
            </a:r>
            <a:endParaRPr lang="en-US" sz="800" dirty="0"/>
          </a:p>
        </p:txBody>
      </p:sp>
      <p:sp>
        <p:nvSpPr>
          <p:cNvPr id="85" name="Shape 80"/>
          <p:cNvSpPr/>
          <p:nvPr/>
        </p:nvSpPr>
        <p:spPr>
          <a:xfrm>
            <a:off x="384048" y="6967728"/>
            <a:ext cx="9921240" cy="7315"/>
          </a:xfrm>
          <a:prstGeom prst="rect">
            <a:avLst/>
          </a:prstGeom>
          <a:solidFill>
            <a:srgbClr val="DCDCDC"/>
          </a:solidFill>
          <a:ln/>
        </p:spPr>
      </p:sp>
      <p:sp>
        <p:nvSpPr>
          <p:cNvPr id="86" name="Text 81"/>
          <p:cNvSpPr/>
          <p:nvPr/>
        </p:nvSpPr>
        <p:spPr>
          <a:xfrm>
            <a:off x="384048" y="7040880"/>
            <a:ext cx="9921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※1　工期約1か月は、造作・床・給排水・電気を残置いただくことを前提としております。スケルトン戻しとなる場合は工期が延長いたします。</a:t>
            </a:r>
            <a:endParaRPr lang="en-US" sz="750" dirty="0"/>
          </a:p>
        </p:txBody>
      </p:sp>
      <p:sp>
        <p:nvSpPr>
          <p:cNvPr id="87" name="Text 82"/>
          <p:cNvSpPr/>
          <p:nvPr/>
        </p:nvSpPr>
        <p:spPr>
          <a:xfrm>
            <a:off x="384048" y="7173468"/>
            <a:ext cx="9921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※2　業務委託型のため、工事費のお見積りのご提出はございません。貴社にご負担いただく費用は、設置工事費（30〜50万円・税抜）のみでございます。</a:t>
            </a:r>
            <a:endParaRPr lang="en-US" sz="750" dirty="0"/>
          </a:p>
        </p:txBody>
      </p:sp>
      <p:sp>
        <p:nvSpPr>
          <p:cNvPr id="88" name="Text 83"/>
          <p:cNvSpPr/>
          <p:nvPr/>
        </p:nvSpPr>
        <p:spPr>
          <a:xfrm>
            <a:off x="384048" y="7306056"/>
            <a:ext cx="9921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※3　業務委託契約書は別途ご送付済みです。別表は仕様確定後に作成のうえ添付いたします。館の工事申請に要する期間は本表に織り込んでおりません。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未来屋書店 秋田店 進行スケジュールおよびご確認事項</dc:title>
  <dc:subject>PptxGenJS Presentation</dc:subject>
  <dc:creator>セルフカフェ株式会社</dc:creator>
  <cp:lastModifiedBy>セルフカフェ株式会社</cp:lastModifiedBy>
  <cp:revision>1</cp:revision>
  <dcterms:created xsi:type="dcterms:W3CDTF">2026-10-17T08:22:44Z</dcterms:created>
  <dcterms:modified xsi:type="dcterms:W3CDTF">2026-10-17T08:22:44Z</dcterms:modified>
</cp:coreProperties>
</file>