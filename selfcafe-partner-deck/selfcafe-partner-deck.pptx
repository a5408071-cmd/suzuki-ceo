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5.png"/><Relationship Id="rId6" Type="http://schemas.openxmlformats.org/officeDocument/2006/relationships/image" Target="../media/image-7-3.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3.png"/><Relationship Id="rId10" Type="http://schemas.openxmlformats.org/officeDocument/2006/relationships/image" Target="../media/image-7-3.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4.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2.png"/><Relationship Id="rId4" Type="http://schemas.openxmlformats.org/officeDocument/2006/relationships/image" Target="../media/image-23-2.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2.png"/><Relationship Id="rId4" Type="http://schemas.openxmlformats.org/officeDocument/2006/relationships/image" Target="../media/image-24-2.png"/><Relationship Id="rId5" Type="http://schemas.openxmlformats.org/officeDocument/2006/relationships/image" Target="../media/image-24-2.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2.png"/><Relationship Id="rId4" Type="http://schemas.openxmlformats.org/officeDocument/2006/relationships/image" Target="../media/image-25-2.png"/><Relationship Id="rId5" Type="http://schemas.openxmlformats.org/officeDocument/2006/relationships/image" Target="../media/image-25-2.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3.png"/><Relationship Id="rId5" Type="http://schemas.openxmlformats.org/officeDocument/2006/relationships/image" Target="../media/image-31-3.png"/><Relationship Id="rId6" Type="http://schemas.openxmlformats.org/officeDocument/2006/relationships/image" Target="../media/image-31-3.png"/><Relationship Id="rId7" Type="http://schemas.openxmlformats.org/officeDocument/2006/relationships/image" Target="../media/image-31-3.png"/><Relationship Id="rId8" Type="http://schemas.openxmlformats.org/officeDocument/2006/relationships/image" Target="../media/image-31-8.png"/><Relationship Id="rId9" Type="http://schemas.openxmlformats.org/officeDocument/2006/relationships/image" Target="../media/image-31-3.png"/><Relationship Id="rId10" Type="http://schemas.openxmlformats.org/officeDocument/2006/relationships/image" Target="../media/image-31-3.png"/><Relationship Id="rId11" Type="http://schemas.openxmlformats.org/officeDocument/2006/relationships/image" Target="../media/image-31-3.png"/><Relationship Id="rId12" Type="http://schemas.openxmlformats.org/officeDocument/2006/relationships/image" Target="../media/image-31-3.png"/><Relationship Id="rId13" Type="http://schemas.openxmlformats.org/officeDocument/2006/relationships/image" Target="../media/image-31-3.png"/><Relationship Id="rId14" Type="http://schemas.openxmlformats.org/officeDocument/2006/relationships/image" Target="../media/image-31-14.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Shape 25"/>
          <p:cNvSpPr/>
          <p:nvPr/>
        </p:nvSpPr>
        <p:spPr>
          <a:xfrm>
            <a:off x="7481621" y="5309006"/>
            <a:ext cx="1900428" cy="329184"/>
          </a:xfrm>
          <a:prstGeom prst="roundRect">
            <a:avLst>
              <a:gd name="adj" fmla="val 13889"/>
            </a:avLst>
          </a:prstGeom>
          <a:solidFill>
            <a:srgbClr val="FFFFFF">
              <a:alpha val="90000"/>
            </a:srgbClr>
          </a:solidFill>
          <a:ln/>
        </p:spPr>
      </p:sp>
      <p:sp>
        <p:nvSpPr>
          <p:cNvPr id="30" name="Text 26"/>
          <p:cNvSpPr/>
          <p:nvPr/>
        </p:nvSpPr>
        <p:spPr>
          <a:xfrm>
            <a:off x="7646213" y="5309006"/>
            <a:ext cx="1626108"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店内利用の様子（実店舗）</a:t>
            </a:r>
            <a:endParaRPr lang="en-US" sz="950" dirty="0"/>
          </a:p>
        </p:txBody>
      </p:sp>
      <p:sp>
        <p:nvSpPr>
          <p:cNvPr id="31" name="Text 27"/>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まず、数字から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650万円から、月47万円・回収約17ヶ月へ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詳細の前に、要点となる4つの数字です（20坪・1杯420円モデルの試算）。</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5243627" cy="2011680"/>
          </a:xfrm>
          <a:prstGeom prst="roundRect">
            <a:avLst>
              <a:gd name="adj" fmla="val 2727"/>
            </a:avLst>
          </a:prstGeom>
          <a:solidFill>
            <a:srgbClr val="F1F8F3"/>
          </a:solidFill>
          <a:ln w="9525">
            <a:solidFill>
              <a:srgbClr val="D2E7DA"/>
            </a:solidFill>
            <a:prstDash val="solid"/>
          </a:ln>
        </p:spPr>
      </p:sp>
      <p:sp>
        <p:nvSpPr>
          <p:cNvPr id="10" name="Text 7"/>
          <p:cNvSpPr/>
          <p:nvPr/>
        </p:nvSpPr>
        <p:spPr>
          <a:xfrm>
            <a:off x="971093" y="1870862"/>
            <a:ext cx="4621835" cy="274320"/>
          </a:xfrm>
          <a:prstGeom prst="rect">
            <a:avLst/>
          </a:prstGeom>
          <a:noFill/>
          <a:ln/>
        </p:spPr>
        <p:txBody>
          <a:bodyPr wrap="square" lIns="0" tIns="0" rIns="0" bIns="0" rtlCol="0" anchor="ctr"/>
          <a:lstStyle/>
          <a:p>
            <a:pPr indent="0" marL="0">
              <a:buNone/>
            </a:pPr>
            <a:r>
              <a:rPr lang="en-US" sz="1200" b="1" dirty="0">
                <a:solidFill>
                  <a:srgbClr val="106838"/>
                </a:solidFill>
                <a:latin typeface="Yu Gothic" pitchFamily="34" charset="0"/>
                <a:ea typeface="Yu Gothic" pitchFamily="34" charset="-122"/>
                <a:cs typeface="Yu Gothic" pitchFamily="34" charset="-120"/>
              </a:rPr>
              <a:t>初期投資</a:t>
            </a:r>
            <a:endParaRPr lang="en-US" sz="1200" dirty="0"/>
          </a:p>
        </p:txBody>
      </p:sp>
      <p:sp>
        <p:nvSpPr>
          <p:cNvPr id="11" name="Text 8"/>
          <p:cNvSpPr/>
          <p:nvPr/>
        </p:nvSpPr>
        <p:spPr>
          <a:xfrm>
            <a:off x="971093" y="2200046"/>
            <a:ext cx="4621835" cy="713232"/>
          </a:xfrm>
          <a:prstGeom prst="rect">
            <a:avLst/>
          </a:prstGeom>
          <a:noFill/>
          <a:ln/>
        </p:spPr>
        <p:txBody>
          <a:bodyPr wrap="square" lIns="0" tIns="0" rIns="0" bIns="0" rtlCol="0" anchor="ctr"/>
          <a:lstStyle/>
          <a:p>
            <a:pPr indent="0" marL="0">
              <a:buNone/>
            </a:pPr>
            <a:r>
              <a:rPr lang="en-US" sz="3400" b="1" dirty="0">
                <a:solidFill>
                  <a:srgbClr val="106838"/>
                </a:solidFill>
                <a:latin typeface="Yu Gothic" pitchFamily="34" charset="0"/>
                <a:ea typeface="Yu Gothic" pitchFamily="34" charset="-122"/>
                <a:cs typeface="Yu Gothic" pitchFamily="34" charset="-120"/>
              </a:rPr>
              <a:t>650</a:t>
            </a:r>
            <a:r>
              <a:rPr lang="en-US" sz="1700" b="1" dirty="0">
                <a:solidFill>
                  <a:srgbClr val="106838"/>
                </a:solidFill>
                <a:latin typeface="Yu Gothic" pitchFamily="34" charset="0"/>
                <a:ea typeface="Yu Gothic" pitchFamily="34" charset="-122"/>
                <a:cs typeface="Yu Gothic" pitchFamily="34" charset="-120"/>
              </a:rPr>
              <a:t> 万円〜</a:t>
            </a:r>
            <a:endParaRPr lang="en-US" sz="3400" dirty="0"/>
          </a:p>
        </p:txBody>
      </p:sp>
      <p:sp>
        <p:nvSpPr>
          <p:cNvPr id="12" name="Text 9"/>
          <p:cNvSpPr/>
          <p:nvPr/>
        </p:nvSpPr>
        <p:spPr>
          <a:xfrm>
            <a:off x="971093" y="3004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最低開業費（居抜き・20坪）</a:t>
            </a:r>
            <a:endParaRPr lang="en-US" sz="1000" dirty="0"/>
          </a:p>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標準総投資予算：800万円程度〜</a:t>
            </a:r>
            <a:endParaRPr lang="en-US" sz="1000" dirty="0"/>
          </a:p>
        </p:txBody>
      </p:sp>
      <p:sp>
        <p:nvSpPr>
          <p:cNvPr id="13" name="Shape 10"/>
          <p:cNvSpPr/>
          <p:nvPr/>
        </p:nvSpPr>
        <p:spPr>
          <a:xfrm>
            <a:off x="6287872" y="1651406"/>
            <a:ext cx="5243627" cy="2011680"/>
          </a:xfrm>
          <a:prstGeom prst="roundRect">
            <a:avLst>
              <a:gd name="adj" fmla="val 2727"/>
            </a:avLst>
          </a:prstGeom>
          <a:solidFill>
            <a:srgbClr val="0C5230"/>
          </a:solidFill>
          <a:ln/>
        </p:spPr>
      </p:sp>
      <p:sp>
        <p:nvSpPr>
          <p:cNvPr id="14" name="Text 11"/>
          <p:cNvSpPr/>
          <p:nvPr/>
        </p:nvSpPr>
        <p:spPr>
          <a:xfrm>
            <a:off x="6598768" y="1870862"/>
            <a:ext cx="4621835"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月間利益モデル（75杯／日）</a:t>
            </a:r>
            <a:endParaRPr lang="en-US" sz="1200" dirty="0"/>
          </a:p>
        </p:txBody>
      </p:sp>
      <p:sp>
        <p:nvSpPr>
          <p:cNvPr id="15" name="Text 12"/>
          <p:cNvSpPr/>
          <p:nvPr/>
        </p:nvSpPr>
        <p:spPr>
          <a:xfrm>
            <a:off x="6598768" y="2200046"/>
            <a:ext cx="4621835" cy="713232"/>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自社物件 47</a:t>
            </a:r>
            <a:r>
              <a:rPr lang="en-US" sz="1700" b="1" dirty="0">
                <a:solidFill>
                  <a:srgbClr val="FFFFFF"/>
                </a:solidFill>
                <a:latin typeface="Yu Gothic" pitchFamily="34" charset="0"/>
                <a:ea typeface="Yu Gothic" pitchFamily="34" charset="-122"/>
                <a:cs typeface="Yu Gothic" pitchFamily="34" charset="-120"/>
              </a:rPr>
              <a:t> 万円</a:t>
            </a:r>
            <a:endParaRPr lang="en-US" sz="3400" dirty="0"/>
          </a:p>
        </p:txBody>
      </p:sp>
      <p:sp>
        <p:nvSpPr>
          <p:cNvPr id="16" name="Text 13"/>
          <p:cNvSpPr/>
          <p:nvPr/>
        </p:nvSpPr>
        <p:spPr>
          <a:xfrm>
            <a:off x="6598768" y="3004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賃貸物件の場合：27万円</a:t>
            </a:r>
            <a:endParaRPr lang="en-US" sz="1000" dirty="0"/>
          </a:p>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（償却前営業利益・月）</a:t>
            </a:r>
            <a:endParaRPr lang="en-US" sz="1000" dirty="0"/>
          </a:p>
        </p:txBody>
      </p:sp>
      <p:sp>
        <p:nvSpPr>
          <p:cNvPr id="17" name="Shape 14"/>
          <p:cNvSpPr/>
          <p:nvPr/>
        </p:nvSpPr>
        <p:spPr>
          <a:xfrm>
            <a:off x="660197" y="3937406"/>
            <a:ext cx="5243627" cy="2011680"/>
          </a:xfrm>
          <a:prstGeom prst="roundRect">
            <a:avLst>
              <a:gd name="adj" fmla="val 2727"/>
            </a:avLst>
          </a:prstGeom>
          <a:solidFill>
            <a:srgbClr val="F1F8F3"/>
          </a:solidFill>
          <a:ln w="9525">
            <a:solidFill>
              <a:srgbClr val="D2E7DA"/>
            </a:solidFill>
            <a:prstDash val="solid"/>
          </a:ln>
        </p:spPr>
      </p:sp>
      <p:sp>
        <p:nvSpPr>
          <p:cNvPr id="18" name="Text 15"/>
          <p:cNvSpPr/>
          <p:nvPr/>
        </p:nvSpPr>
        <p:spPr>
          <a:xfrm>
            <a:off x="971093" y="4156862"/>
            <a:ext cx="4621835" cy="274320"/>
          </a:xfrm>
          <a:prstGeom prst="rect">
            <a:avLst/>
          </a:prstGeom>
          <a:noFill/>
          <a:ln/>
        </p:spPr>
        <p:txBody>
          <a:bodyPr wrap="square" lIns="0" tIns="0" rIns="0" bIns="0" rtlCol="0" anchor="ctr"/>
          <a:lstStyle/>
          <a:p>
            <a:pPr indent="0" marL="0">
              <a:buNone/>
            </a:pPr>
            <a:r>
              <a:rPr lang="en-US" sz="1200" b="1" dirty="0">
                <a:solidFill>
                  <a:srgbClr val="106838"/>
                </a:solidFill>
                <a:latin typeface="Yu Gothic" pitchFamily="34" charset="0"/>
                <a:ea typeface="Yu Gothic" pitchFamily="34" charset="-122"/>
                <a:cs typeface="Yu Gothic" pitchFamily="34" charset="-120"/>
              </a:rPr>
              <a:t>オーナーの運営時間</a:t>
            </a:r>
            <a:endParaRPr lang="en-US" sz="1200" dirty="0"/>
          </a:p>
        </p:txBody>
      </p:sp>
      <p:sp>
        <p:nvSpPr>
          <p:cNvPr id="19" name="Text 16"/>
          <p:cNvSpPr/>
          <p:nvPr/>
        </p:nvSpPr>
        <p:spPr>
          <a:xfrm>
            <a:off x="971093" y="4486046"/>
            <a:ext cx="4621835" cy="713232"/>
          </a:xfrm>
          <a:prstGeom prst="rect">
            <a:avLst/>
          </a:prstGeom>
          <a:noFill/>
          <a:ln/>
        </p:spPr>
        <p:txBody>
          <a:bodyPr wrap="square" lIns="0" tIns="0" rIns="0" bIns="0" rtlCol="0" anchor="ctr"/>
          <a:lstStyle/>
          <a:p>
            <a:pPr indent="0" marL="0">
              <a:buNone/>
            </a:pPr>
            <a:r>
              <a:rPr lang="en-US" sz="3400" b="1" dirty="0">
                <a:solidFill>
                  <a:srgbClr val="106838"/>
                </a:solidFill>
                <a:latin typeface="Yu Gothic" pitchFamily="34" charset="0"/>
                <a:ea typeface="Yu Gothic" pitchFamily="34" charset="-122"/>
                <a:cs typeface="Yu Gothic" pitchFamily="34" charset="-120"/>
              </a:rPr>
              <a:t>1日 約15</a:t>
            </a:r>
            <a:r>
              <a:rPr lang="en-US" sz="1700" b="1" dirty="0">
                <a:solidFill>
                  <a:srgbClr val="106838"/>
                </a:solidFill>
                <a:latin typeface="Yu Gothic" pitchFamily="34" charset="0"/>
                <a:ea typeface="Yu Gothic" pitchFamily="34" charset="-122"/>
                <a:cs typeface="Yu Gothic" pitchFamily="34" charset="-120"/>
              </a:rPr>
              <a:t> 分</a:t>
            </a:r>
            <a:endParaRPr lang="en-US" sz="3400" dirty="0"/>
          </a:p>
        </p:txBody>
      </p:sp>
      <p:sp>
        <p:nvSpPr>
          <p:cNvPr id="20" name="Text 17"/>
          <p:cNvSpPr/>
          <p:nvPr/>
        </p:nvSpPr>
        <p:spPr>
          <a:xfrm>
            <a:off x="971093" y="5290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清掃・原料補充のみ</a:t>
            </a:r>
            <a:endParaRPr lang="en-US" sz="1000" dirty="0"/>
          </a:p>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委託運営も可能</a:t>
            </a:r>
            <a:endParaRPr lang="en-US" sz="1000" dirty="0"/>
          </a:p>
        </p:txBody>
      </p:sp>
      <p:sp>
        <p:nvSpPr>
          <p:cNvPr id="21" name="Shape 18"/>
          <p:cNvSpPr/>
          <p:nvPr/>
        </p:nvSpPr>
        <p:spPr>
          <a:xfrm>
            <a:off x="6287872" y="3937406"/>
            <a:ext cx="5243627" cy="2011680"/>
          </a:xfrm>
          <a:prstGeom prst="roundRect">
            <a:avLst>
              <a:gd name="adj" fmla="val 2727"/>
            </a:avLst>
          </a:prstGeom>
          <a:solidFill>
            <a:srgbClr val="0C5230"/>
          </a:solidFill>
          <a:ln/>
        </p:spPr>
      </p:sp>
      <p:sp>
        <p:nvSpPr>
          <p:cNvPr id="22" name="Text 19"/>
          <p:cNvSpPr/>
          <p:nvPr/>
        </p:nvSpPr>
        <p:spPr>
          <a:xfrm>
            <a:off x="6598768" y="4156862"/>
            <a:ext cx="4621835"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投資回収期間モデル</a:t>
            </a:r>
            <a:endParaRPr lang="en-US" sz="1200" dirty="0"/>
          </a:p>
        </p:txBody>
      </p:sp>
      <p:sp>
        <p:nvSpPr>
          <p:cNvPr id="23" name="Text 20"/>
          <p:cNvSpPr/>
          <p:nvPr/>
        </p:nvSpPr>
        <p:spPr>
          <a:xfrm>
            <a:off x="6598768" y="4486046"/>
            <a:ext cx="4621835" cy="713232"/>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約17</a:t>
            </a:r>
            <a:r>
              <a:rPr lang="en-US" sz="1700" b="1" dirty="0">
                <a:solidFill>
                  <a:srgbClr val="FFFFFF"/>
                </a:solidFill>
                <a:latin typeface="Yu Gothic" pitchFamily="34" charset="0"/>
                <a:ea typeface="Yu Gothic" pitchFamily="34" charset="-122"/>
                <a:cs typeface="Yu Gothic" pitchFamily="34" charset="-120"/>
              </a:rPr>
              <a:t> ヶ月</a:t>
            </a:r>
            <a:endParaRPr lang="en-US" sz="3400" dirty="0"/>
          </a:p>
        </p:txBody>
      </p:sp>
      <p:sp>
        <p:nvSpPr>
          <p:cNvPr id="24" name="Text 21"/>
          <p:cNvSpPr/>
          <p:nvPr/>
        </p:nvSpPr>
        <p:spPr>
          <a:xfrm>
            <a:off x="6598768" y="5290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自社物件・75杯／日・投資800万円</a:t>
            </a:r>
            <a:endParaRPr lang="en-US" sz="1000" dirty="0"/>
          </a:p>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賃貸の場合：約30ヶ月</a:t>
            </a:r>
            <a:endParaRPr lang="en-US" sz="1000" dirty="0"/>
          </a:p>
        </p:txBody>
      </p:sp>
      <p:sp>
        <p:nvSpPr>
          <p:cNvPr id="25" name="Text 2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利益・回収は1杯420円・原価20%・20坪モデルの試算（償却前・税引前）。収益・回収期間を保証するものではありません。詳細は収益シミュレーションのページ参照。</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「家賃」がゼロ。利益は1.7倍、回収は約半分。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持ち物件・遊休スペースをお持ちの方ほど、この制度のメリットが大きくなります。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3145536" cy="3383280"/>
          </a:xfrm>
          <a:prstGeom prst="roundRect">
            <a:avLst>
              <a:gd name="adj" fmla="val 1744"/>
            </a:avLst>
          </a:prstGeom>
          <a:solidFill>
            <a:srgbClr val="F1F8F3"/>
          </a:solidFill>
          <a:ln w="9525">
            <a:solidFill>
              <a:srgbClr val="D2E7DA"/>
            </a:solidFill>
            <a:prstDash val="solid"/>
          </a:ln>
        </p:spPr>
      </p:sp>
      <p:sp>
        <p:nvSpPr>
          <p:cNvPr id="10" name="Text 7"/>
          <p:cNvSpPr/>
          <p:nvPr/>
        </p:nvSpPr>
        <p:spPr>
          <a:xfrm>
            <a:off x="934517" y="190743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11" name="Text 8"/>
          <p:cNvSpPr/>
          <p:nvPr/>
        </p:nvSpPr>
        <p:spPr>
          <a:xfrm>
            <a:off x="934517" y="2291486"/>
            <a:ext cx="2596896" cy="73152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27</a:t>
            </a:r>
            <a:r>
              <a:rPr lang="en-US" sz="1600" b="1" dirty="0">
                <a:solidFill>
                  <a:srgbClr val="106838"/>
                </a:solidFill>
                <a:latin typeface="Yu Gothic" pitchFamily="34" charset="0"/>
                <a:ea typeface="Yu Gothic" pitchFamily="34" charset="-122"/>
                <a:cs typeface="Yu Gothic" pitchFamily="34" charset="-120"/>
              </a:rPr>
              <a:t> 万円</a:t>
            </a:r>
            <a:endParaRPr lang="en-US" sz="4000" dirty="0"/>
          </a:p>
        </p:txBody>
      </p:sp>
      <p:sp>
        <p:nvSpPr>
          <p:cNvPr id="12" name="Text 9"/>
          <p:cNvSpPr/>
          <p:nvPr/>
        </p:nvSpPr>
        <p:spPr>
          <a:xfrm>
            <a:off x="934517" y="3077870"/>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13" name="Shape 10"/>
          <p:cNvSpPr/>
          <p:nvPr/>
        </p:nvSpPr>
        <p:spPr>
          <a:xfrm>
            <a:off x="934517" y="3498494"/>
            <a:ext cx="2596896" cy="10058"/>
          </a:xfrm>
          <a:prstGeom prst="rect">
            <a:avLst/>
          </a:prstGeom>
          <a:solidFill>
            <a:srgbClr val="D2E7DA"/>
          </a:solidFill>
          <a:ln/>
        </p:spPr>
      </p:sp>
      <p:sp>
        <p:nvSpPr>
          <p:cNvPr id="14" name="Text 11"/>
          <p:cNvSpPr/>
          <p:nvPr/>
        </p:nvSpPr>
        <p:spPr>
          <a:xfrm>
            <a:off x="934517" y="3663086"/>
            <a:ext cx="2596896" cy="36576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回収期間 約30ヶ月</a:t>
            </a:r>
            <a:endParaRPr lang="en-US" sz="1400" dirty="0"/>
          </a:p>
        </p:txBody>
      </p:sp>
      <p:sp>
        <p:nvSpPr>
          <p:cNvPr id="15" name="Shape 12"/>
          <p:cNvSpPr/>
          <p:nvPr/>
        </p:nvSpPr>
        <p:spPr>
          <a:xfrm>
            <a:off x="4080053" y="1651406"/>
            <a:ext cx="3145536" cy="3383280"/>
          </a:xfrm>
          <a:prstGeom prst="roundRect">
            <a:avLst>
              <a:gd name="adj" fmla="val 1744"/>
            </a:avLst>
          </a:prstGeom>
          <a:solidFill>
            <a:srgbClr val="0C5230"/>
          </a:solidFill>
          <a:ln/>
        </p:spPr>
      </p:sp>
      <p:sp>
        <p:nvSpPr>
          <p:cNvPr id="16" name="Text 13"/>
          <p:cNvSpPr/>
          <p:nvPr/>
        </p:nvSpPr>
        <p:spPr>
          <a:xfrm>
            <a:off x="4354373" y="190743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17" name="Text 14"/>
          <p:cNvSpPr/>
          <p:nvPr/>
        </p:nvSpPr>
        <p:spPr>
          <a:xfrm>
            <a:off x="4354373" y="2291486"/>
            <a:ext cx="2596896" cy="731520"/>
          </a:xfrm>
          <a:prstGeom prst="rect">
            <a:avLst/>
          </a:prstGeom>
          <a:noFill/>
          <a:ln/>
        </p:spPr>
        <p:txBody>
          <a:bodyPr wrap="square" lIns="0" tIns="0" rIns="0" bIns="0" rtlCol="0" anchor="ctr"/>
          <a:lstStyle/>
          <a:p>
            <a:pPr indent="0" marL="0">
              <a:buNone/>
            </a:pPr>
            <a:r>
              <a:rPr lang="en-US" sz="4000" b="1" dirty="0">
                <a:solidFill>
                  <a:srgbClr val="F0C05A"/>
                </a:solidFill>
                <a:latin typeface="Arial" pitchFamily="34" charset="0"/>
                <a:ea typeface="Arial" pitchFamily="34" charset="-122"/>
                <a:cs typeface="Arial" pitchFamily="34" charset="-120"/>
              </a:rPr>
              <a:t>47</a:t>
            </a:r>
            <a:r>
              <a:rPr lang="en-US" sz="1600" b="1" dirty="0">
                <a:solidFill>
                  <a:srgbClr val="F0C05A"/>
                </a:solidFill>
                <a:latin typeface="Yu Gothic" pitchFamily="34" charset="0"/>
                <a:ea typeface="Yu Gothic" pitchFamily="34" charset="-122"/>
                <a:cs typeface="Yu Gothic" pitchFamily="34" charset="-120"/>
              </a:rPr>
              <a:t> 万円</a:t>
            </a:r>
            <a:endParaRPr lang="en-US" sz="4000" dirty="0"/>
          </a:p>
        </p:txBody>
      </p:sp>
      <p:sp>
        <p:nvSpPr>
          <p:cNvPr id="18" name="Text 15"/>
          <p:cNvSpPr/>
          <p:nvPr/>
        </p:nvSpPr>
        <p:spPr>
          <a:xfrm>
            <a:off x="4354373" y="3077870"/>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19" name="Shape 16"/>
          <p:cNvSpPr/>
          <p:nvPr/>
        </p:nvSpPr>
        <p:spPr>
          <a:xfrm>
            <a:off x="4354373" y="3498494"/>
            <a:ext cx="2596896" cy="10058"/>
          </a:xfrm>
          <a:prstGeom prst="rect">
            <a:avLst/>
          </a:prstGeom>
          <a:solidFill>
            <a:srgbClr val="2A7A4E"/>
          </a:solidFill>
          <a:ln/>
        </p:spPr>
      </p:sp>
      <p:sp>
        <p:nvSpPr>
          <p:cNvPr id="20" name="Text 17"/>
          <p:cNvSpPr/>
          <p:nvPr/>
        </p:nvSpPr>
        <p:spPr>
          <a:xfrm>
            <a:off x="4354373" y="3663086"/>
            <a:ext cx="2596896" cy="3657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回収期間 約17ヶ月</a:t>
            </a:r>
            <a:endParaRPr lang="en-US" sz="1400" dirty="0"/>
          </a:p>
        </p:txBody>
      </p:sp>
      <p:sp>
        <p:nvSpPr>
          <p:cNvPr id="21" name="Text 18"/>
          <p:cNvSpPr/>
          <p:nvPr/>
        </p:nvSpPr>
        <p:spPr>
          <a:xfrm>
            <a:off x="660197" y="5180990"/>
            <a:ext cx="6565392" cy="365760"/>
          </a:xfrm>
          <a:prstGeom prst="rect">
            <a:avLst/>
          </a:prstGeom>
          <a:noFill/>
          <a:ln/>
        </p:spPr>
        <p:txBody>
          <a:bodyPr wrap="square" lIns="0" tIns="0" rIns="0" bIns="0" rtlCol="0" anchor="ctr"/>
          <a:lstStyle/>
          <a:p>
            <a:pPr algn="ctr" indent="0" marL="0">
              <a:buNone/>
            </a:pPr>
            <a:r>
              <a:rPr lang="en-US" sz="1600" b="1" dirty="0">
                <a:solidFill>
                  <a:srgbClr val="106838"/>
                </a:solidFill>
                <a:latin typeface="Arial" pitchFamily="34" charset="0"/>
                <a:ea typeface="Arial" pitchFamily="34" charset="-122"/>
                <a:cs typeface="Arial" pitchFamily="34" charset="-120"/>
              </a:rPr>
              <a:t>＋20万円／月</a:t>
            </a:r>
            <a:r>
              <a:rPr lang="en-US" sz="1200" b="1" dirty="0">
                <a:solidFill>
                  <a:srgbClr val="106838"/>
                </a:solidFill>
                <a:latin typeface="Yu Gothic" pitchFamily="34" charset="0"/>
                <a:ea typeface="Yu Gothic" pitchFamily="34" charset="-122"/>
                <a:cs typeface="Yu Gothic" pitchFamily="34" charset="-120"/>
              </a:rPr>
              <a:t>（+74%）</a:t>
            </a:r>
            <a:endParaRPr lang="en-US" sz="1600" dirty="0"/>
          </a:p>
        </p:txBody>
      </p:sp>
      <p:sp>
        <p:nvSpPr>
          <p:cNvPr id="22" name="Shape 19"/>
          <p:cNvSpPr/>
          <p:nvPr/>
        </p:nvSpPr>
        <p:spPr>
          <a:xfrm>
            <a:off x="7609637" y="1669694"/>
            <a:ext cx="310896" cy="310896"/>
          </a:xfrm>
          <a:prstGeom prst="ellipse">
            <a:avLst/>
          </a:prstGeom>
          <a:solidFill>
            <a:srgbClr val="0C5230"/>
          </a:solidFill>
          <a:ln/>
        </p:spPr>
      </p:sp>
      <p:sp>
        <p:nvSpPr>
          <p:cNvPr id="23" name="Text 20"/>
          <p:cNvSpPr/>
          <p:nvPr/>
        </p:nvSpPr>
        <p:spPr>
          <a:xfrm>
            <a:off x="7609637" y="166969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4" name="Text 21"/>
          <p:cNvSpPr/>
          <p:nvPr/>
        </p:nvSpPr>
        <p:spPr>
          <a:xfrm>
            <a:off x="8048549" y="1651406"/>
            <a:ext cx="3482950" cy="329184"/>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家賃という最大の固定費が不要</a:t>
            </a:r>
            <a:endParaRPr lang="en-US" sz="1300" dirty="0"/>
          </a:p>
        </p:txBody>
      </p:sp>
      <p:sp>
        <p:nvSpPr>
          <p:cNvPr id="25" name="Text 22"/>
          <p:cNvSpPr/>
          <p:nvPr/>
        </p:nvSpPr>
        <p:spPr>
          <a:xfrm>
            <a:off x="8048549" y="2017166"/>
            <a:ext cx="3482950" cy="512064"/>
          </a:xfrm>
          <a:prstGeom prst="rect">
            <a:avLst/>
          </a:prstGeom>
          <a:noFill/>
          <a:ln/>
        </p:spPr>
        <p:txBody>
          <a:bodyPr wrap="square" lIns="0" tIns="0" rIns="0" bIns="0" rtlCol="0" anchor="t"/>
          <a:lstStyle/>
          <a:p>
            <a:pPr indent="0" marL="0">
              <a:lnSpc>
                <a:spcPct val="132000"/>
              </a:lnSpc>
              <a:buNone/>
            </a:pPr>
            <a:r>
              <a:rPr lang="en-US" sz="1000" dirty="0">
                <a:solidFill>
                  <a:srgbClr val="4B5550"/>
                </a:solidFill>
                <a:latin typeface="Yu Gothic" pitchFamily="34" charset="0"/>
                <a:ea typeface="Yu Gothic" pitchFamily="34" charset="-122"/>
                <a:cs typeface="Yu Gothic" pitchFamily="34" charset="-120"/>
              </a:rPr>
              <a:t>売上がそのまま利益層に乗る構造。</a:t>
            </a:r>
            <a:endParaRPr lang="en-US" sz="1000" dirty="0"/>
          </a:p>
        </p:txBody>
      </p:sp>
      <p:sp>
        <p:nvSpPr>
          <p:cNvPr id="26" name="Shape 23"/>
          <p:cNvSpPr/>
          <p:nvPr/>
        </p:nvSpPr>
        <p:spPr>
          <a:xfrm>
            <a:off x="7609637" y="2748686"/>
            <a:ext cx="310896" cy="310896"/>
          </a:xfrm>
          <a:prstGeom prst="ellipse">
            <a:avLst/>
          </a:prstGeom>
          <a:solidFill>
            <a:srgbClr val="0C5230"/>
          </a:solidFill>
          <a:ln/>
        </p:spPr>
      </p:sp>
      <p:sp>
        <p:nvSpPr>
          <p:cNvPr id="27" name="Text 24"/>
          <p:cNvSpPr/>
          <p:nvPr/>
        </p:nvSpPr>
        <p:spPr>
          <a:xfrm>
            <a:off x="7609637" y="274868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8" name="Text 25"/>
          <p:cNvSpPr/>
          <p:nvPr/>
        </p:nvSpPr>
        <p:spPr>
          <a:xfrm>
            <a:off x="8048549" y="2730398"/>
            <a:ext cx="3482950" cy="329184"/>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空室の機会損失を収益に転換</a:t>
            </a:r>
            <a:endParaRPr lang="en-US" sz="1300" dirty="0"/>
          </a:p>
        </p:txBody>
      </p:sp>
      <p:sp>
        <p:nvSpPr>
          <p:cNvPr id="29" name="Text 26"/>
          <p:cNvSpPr/>
          <p:nvPr/>
        </p:nvSpPr>
        <p:spPr>
          <a:xfrm>
            <a:off x="8048549" y="3096158"/>
            <a:ext cx="3482950" cy="512064"/>
          </a:xfrm>
          <a:prstGeom prst="rect">
            <a:avLst/>
          </a:prstGeom>
          <a:noFill/>
          <a:ln/>
        </p:spPr>
        <p:txBody>
          <a:bodyPr wrap="square" lIns="0" tIns="0" rIns="0" bIns="0" rtlCol="0" anchor="t"/>
          <a:lstStyle/>
          <a:p>
            <a:pPr indent="0" marL="0">
              <a:lnSpc>
                <a:spcPct val="132000"/>
              </a:lnSpc>
              <a:buNone/>
            </a:pPr>
            <a:r>
              <a:rPr lang="en-US" sz="100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1000" dirty="0"/>
          </a:p>
        </p:txBody>
      </p:sp>
      <p:sp>
        <p:nvSpPr>
          <p:cNvPr id="30" name="Shape 27"/>
          <p:cNvSpPr/>
          <p:nvPr/>
        </p:nvSpPr>
        <p:spPr>
          <a:xfrm>
            <a:off x="7609637" y="3827678"/>
            <a:ext cx="310896" cy="310896"/>
          </a:xfrm>
          <a:prstGeom prst="ellipse">
            <a:avLst/>
          </a:prstGeom>
          <a:solidFill>
            <a:srgbClr val="0C5230"/>
          </a:solidFill>
          <a:ln/>
        </p:spPr>
      </p:sp>
      <p:sp>
        <p:nvSpPr>
          <p:cNvPr id="31" name="Text 28"/>
          <p:cNvSpPr/>
          <p:nvPr/>
        </p:nvSpPr>
        <p:spPr>
          <a:xfrm>
            <a:off x="7609637" y="382767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2" name="Text 29"/>
          <p:cNvSpPr/>
          <p:nvPr/>
        </p:nvSpPr>
        <p:spPr>
          <a:xfrm>
            <a:off x="8048549" y="3809390"/>
            <a:ext cx="3482950" cy="329184"/>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人件費の追加もゼロ</a:t>
            </a:r>
            <a:endParaRPr lang="en-US" sz="1300" dirty="0"/>
          </a:p>
        </p:txBody>
      </p:sp>
      <p:sp>
        <p:nvSpPr>
          <p:cNvPr id="33" name="Text 30"/>
          <p:cNvSpPr/>
          <p:nvPr/>
        </p:nvSpPr>
        <p:spPr>
          <a:xfrm>
            <a:off x="8048549" y="4175150"/>
            <a:ext cx="3482950" cy="512064"/>
          </a:xfrm>
          <a:prstGeom prst="rect">
            <a:avLst/>
          </a:prstGeom>
          <a:noFill/>
          <a:ln/>
        </p:spPr>
        <p:txBody>
          <a:bodyPr wrap="square" lIns="0" tIns="0" rIns="0" bIns="0" rtlCol="0" anchor="t"/>
          <a:lstStyle/>
          <a:p>
            <a:pPr indent="0" marL="0">
              <a:lnSpc>
                <a:spcPct val="132000"/>
              </a:lnSpc>
              <a:buNone/>
            </a:pPr>
            <a:r>
              <a:rPr lang="en-US" sz="100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1000" dirty="0"/>
          </a:p>
        </p:txBody>
      </p:sp>
      <p:sp>
        <p:nvSpPr>
          <p:cNvPr id="34" name="Shape 31"/>
          <p:cNvSpPr/>
          <p:nvPr/>
        </p:nvSpPr>
        <p:spPr>
          <a:xfrm>
            <a:off x="7609637" y="4906670"/>
            <a:ext cx="310896" cy="310896"/>
          </a:xfrm>
          <a:prstGeom prst="ellipse">
            <a:avLst/>
          </a:prstGeom>
          <a:solidFill>
            <a:srgbClr val="0C5230"/>
          </a:solidFill>
          <a:ln/>
        </p:spPr>
      </p:sp>
      <p:sp>
        <p:nvSpPr>
          <p:cNvPr id="35" name="Text 32"/>
          <p:cNvSpPr/>
          <p:nvPr/>
        </p:nvSpPr>
        <p:spPr>
          <a:xfrm>
            <a:off x="7609637" y="490667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6" name="Text 33"/>
          <p:cNvSpPr/>
          <p:nvPr/>
        </p:nvSpPr>
        <p:spPr>
          <a:xfrm>
            <a:off x="8048549" y="4888382"/>
            <a:ext cx="3482950" cy="329184"/>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実績（参考値）</a:t>
            </a:r>
            <a:endParaRPr lang="en-US" sz="1300" dirty="0"/>
          </a:p>
        </p:txBody>
      </p:sp>
      <p:sp>
        <p:nvSpPr>
          <p:cNvPr id="37" name="Text 34"/>
          <p:cNvSpPr/>
          <p:nvPr/>
        </p:nvSpPr>
        <p:spPr>
          <a:xfrm>
            <a:off x="8048549" y="5254142"/>
            <a:ext cx="3482950" cy="512064"/>
          </a:xfrm>
          <a:prstGeom prst="rect">
            <a:avLst/>
          </a:prstGeom>
          <a:noFill/>
          <a:ln/>
        </p:spPr>
        <p:txBody>
          <a:bodyPr wrap="square" lIns="0" tIns="0" rIns="0" bIns="0" rtlCol="0" anchor="t"/>
          <a:lstStyle/>
          <a:p>
            <a:pPr indent="0" marL="0">
              <a:lnSpc>
                <a:spcPct val="132000"/>
              </a:lnSpc>
              <a:buNone/>
            </a:pPr>
            <a:r>
              <a:rPr lang="en-US" sz="100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1000" dirty="0"/>
          </a:p>
        </p:txBody>
      </p:sp>
      <p:sp>
        <p:nvSpPr>
          <p:cNvPr id="38" name="Text 3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遊休スペース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既存事業のデッドスペースが、新規採用ゼロ・1日15分の運営で毎月の利益を生みます。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47.0</a:t>
            </a:r>
            <a:r>
              <a:rPr lang="en-US" sz="1100" b="1" dirty="0">
                <a:solidFill>
                  <a:srgbClr val="A8761F"/>
                </a:solidFill>
                <a:latin typeface="Yu Gothic" pitchFamily="34" charset="0"/>
                <a:ea typeface="Yu Gothic" pitchFamily="34" charset="-122"/>
                <a:cs typeface="Yu Gothic" pitchFamily="34" charset="-120"/>
              </a:rPr>
              <a:t> 万円／月</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償却前営業利益（自社物件想定）</a:t>
            </a:r>
            <a:endParaRPr lang="en-US" sz="900" dirty="0"/>
          </a:p>
        </p:txBody>
      </p:sp>
      <p:sp>
        <p:nvSpPr>
          <p:cNvPr id="21" name="Shape 18"/>
          <p:cNvSpPr/>
          <p:nvPr/>
        </p:nvSpPr>
        <p:spPr>
          <a:xfrm>
            <a:off x="660197" y="2492654"/>
            <a:ext cx="5120640" cy="3602736"/>
          </a:xfrm>
          <a:prstGeom prst="roundRect">
            <a:avLst>
              <a:gd name="adj" fmla="val 1523"/>
            </a:avLst>
          </a:prstGeom>
          <a:solidFill>
            <a:srgbClr val="0C5230"/>
          </a:solidFill>
          <a:ln/>
        </p:spPr>
      </p:sp>
      <p:sp>
        <p:nvSpPr>
          <p:cNvPr id="22" name="Text 19"/>
          <p:cNvSpPr/>
          <p:nvPr/>
        </p:nvSpPr>
        <p:spPr>
          <a:xfrm>
            <a:off x="1025957" y="278526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IDLE SPACE → PROFIT</a:t>
            </a:r>
            <a:endParaRPr lang="en-US" sz="900" dirty="0"/>
          </a:p>
        </p:txBody>
      </p:sp>
      <p:sp>
        <p:nvSpPr>
          <p:cNvPr id="23" name="Text 20"/>
          <p:cNvSpPr/>
          <p:nvPr/>
        </p:nvSpPr>
        <p:spPr>
          <a:xfrm>
            <a:off x="1025957" y="3096158"/>
            <a:ext cx="4389120" cy="365760"/>
          </a:xfrm>
          <a:prstGeom prst="rect">
            <a:avLst/>
          </a:prstGeom>
          <a:noFill/>
          <a:ln/>
        </p:spPr>
        <p:txBody>
          <a:bodyPr wrap="square" lIns="0" tIns="0" rIns="0" bIns="0" rtlCol="0" anchor="ctr"/>
          <a:lstStyle/>
          <a:p>
            <a:pPr indent="0" marL="0">
              <a:buNone/>
            </a:pPr>
            <a:r>
              <a:rPr lang="en-US" sz="1700" b="1" dirty="0">
                <a:solidFill>
                  <a:srgbClr val="8CC5A5"/>
                </a:solidFill>
                <a:latin typeface="Yu Gothic" pitchFamily="34" charset="0"/>
                <a:ea typeface="Yu Gothic" pitchFamily="34" charset="-122"/>
                <a:cs typeface="Yu Gothic" pitchFamily="34" charset="-120"/>
              </a:rPr>
              <a:t>空室のままなら、0円。</a:t>
            </a:r>
            <a:endParaRPr lang="en-US" sz="1700" dirty="0"/>
          </a:p>
        </p:txBody>
      </p:sp>
      <p:sp>
        <p:nvSpPr>
          <p:cNvPr id="24" name="Text 21"/>
          <p:cNvSpPr/>
          <p:nvPr/>
        </p:nvSpPr>
        <p:spPr>
          <a:xfrm>
            <a:off x="1025957" y="3498494"/>
            <a:ext cx="4389120" cy="7863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月 </a:t>
            </a:r>
            <a:r>
              <a:rPr lang="en-US" sz="4600" b="1" dirty="0">
                <a:solidFill>
                  <a:srgbClr val="FFFFFF"/>
                </a:solidFill>
                <a:latin typeface="Arial" pitchFamily="34" charset="0"/>
                <a:ea typeface="Arial" pitchFamily="34" charset="-122"/>
                <a:cs typeface="Arial" pitchFamily="34" charset="-120"/>
              </a:rPr>
              <a:t>47.0</a:t>
            </a:r>
            <a:r>
              <a:rPr lang="en-US" sz="1600" b="1" dirty="0">
                <a:solidFill>
                  <a:srgbClr val="FFFFFF"/>
                </a:solidFill>
                <a:latin typeface="Yu Gothic" pitchFamily="34" charset="0"/>
                <a:ea typeface="Yu Gothic" pitchFamily="34" charset="-122"/>
                <a:cs typeface="Yu Gothic" pitchFamily="34" charset="-120"/>
              </a:rPr>
              <a:t> 万円へ。</a:t>
            </a:r>
            <a:endParaRPr lang="en-US" sz="1600" dirty="0"/>
          </a:p>
        </p:txBody>
      </p:sp>
      <p:sp>
        <p:nvSpPr>
          <p:cNvPr id="25" name="Text 22"/>
          <p:cNvSpPr/>
          <p:nvPr/>
        </p:nvSpPr>
        <p:spPr>
          <a:xfrm>
            <a:off x="1025957" y="4376318"/>
            <a:ext cx="4389120" cy="73152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自社物件なら家賃負担ゼロ。空いている20坪をセルフカフェにした場合の月間償却前営業利益（1杯420円×75杯／日）です。</a:t>
            </a:r>
            <a:endParaRPr lang="en-US" sz="1050" dirty="0"/>
          </a:p>
        </p:txBody>
      </p:sp>
      <p:sp>
        <p:nvSpPr>
          <p:cNvPr id="26" name="Shape 23"/>
          <p:cNvSpPr/>
          <p:nvPr/>
        </p:nvSpPr>
        <p:spPr>
          <a:xfrm>
            <a:off x="1025957" y="5199278"/>
            <a:ext cx="4389120" cy="10058"/>
          </a:xfrm>
          <a:prstGeom prst="rect">
            <a:avLst/>
          </a:prstGeom>
          <a:solidFill>
            <a:srgbClr val="2A7A4E"/>
          </a:solidFill>
          <a:ln/>
        </p:spPr>
      </p:sp>
      <p:sp>
        <p:nvSpPr>
          <p:cNvPr id="27" name="Text 24"/>
          <p:cNvSpPr/>
          <p:nvPr/>
        </p:nvSpPr>
        <p:spPr>
          <a:xfrm>
            <a:off x="1025957" y="5345582"/>
            <a:ext cx="4389120" cy="45720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賃借の場合でも </a:t>
            </a:r>
            <a:r>
              <a:rPr lang="en-US" sz="1300" b="1" dirty="0">
                <a:solidFill>
                  <a:srgbClr val="FFFFFF"/>
                </a:solidFill>
                <a:latin typeface="Arial" pitchFamily="34" charset="0"/>
                <a:ea typeface="Arial" pitchFamily="34" charset="-122"/>
                <a:cs typeface="Arial" pitchFamily="34" charset="-120"/>
              </a:rPr>
              <a:t>月27.0万円</a:t>
            </a:r>
            <a:r>
              <a:rPr lang="en-US" sz="1050" dirty="0">
                <a:solidFill>
                  <a:srgbClr val="AFC2B8"/>
                </a:solidFill>
                <a:latin typeface="Yu Gothic" pitchFamily="34" charset="0"/>
                <a:ea typeface="Yu Gothic" pitchFamily="34" charset="-122"/>
                <a:cs typeface="Yu Gothic" pitchFamily="34" charset="-120"/>
              </a:rPr>
              <a:t>（家賃20万円を支払った上で）</a:t>
            </a:r>
            <a:endParaRPr lang="en-US" sz="1050" dirty="0"/>
          </a:p>
        </p:txBody>
      </p:sp>
      <p:sp>
        <p:nvSpPr>
          <p:cNvPr id="28" name="Shape 25"/>
          <p:cNvSpPr/>
          <p:nvPr/>
        </p:nvSpPr>
        <p:spPr>
          <a:xfrm>
            <a:off x="6164885" y="2492654"/>
            <a:ext cx="5366614" cy="1078992"/>
          </a:xfrm>
          <a:prstGeom prst="roundRect">
            <a:avLst>
              <a:gd name="adj" fmla="val 5085"/>
            </a:avLst>
          </a:prstGeom>
          <a:solidFill>
            <a:srgbClr val="FFFFFF"/>
          </a:solidFill>
          <a:ln w="9525">
            <a:solidFill>
              <a:srgbClr val="EFEAE0"/>
            </a:solidFill>
            <a:prstDash val="solid"/>
          </a:ln>
        </p:spPr>
      </p:sp>
      <p:pic>
        <p:nvPicPr>
          <p:cNvPr id="29" name="Image 1" descr="/home/user/suzuki-ceo/selfcafe-partner-deck/assets/icons/LuUsers-green.png">    </p:cNvPr>
          <p:cNvPicPr>
            <a:picLocks noChangeAspect="1"/>
          </p:cNvPicPr>
          <p:nvPr/>
        </p:nvPicPr>
        <p:blipFill>
          <a:blip r:embed="rId2"/>
          <a:stretch>
            <a:fillRect/>
          </a:stretch>
        </p:blipFill>
        <p:spPr>
          <a:xfrm>
            <a:off x="6420917" y="2712110"/>
            <a:ext cx="329184" cy="329184"/>
          </a:xfrm>
          <a:prstGeom prst="rect">
            <a:avLst/>
          </a:prstGeom>
        </p:spPr>
      </p:pic>
      <p:sp>
        <p:nvSpPr>
          <p:cNvPr id="30" name="Text 26"/>
          <p:cNvSpPr/>
          <p:nvPr/>
        </p:nvSpPr>
        <p:spPr>
          <a:xfrm>
            <a:off x="6896405" y="2675534"/>
            <a:ext cx="4360774" cy="310896"/>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人を増やさない</a:t>
            </a:r>
            <a:endParaRPr lang="en-US" sz="1350" dirty="0"/>
          </a:p>
        </p:txBody>
      </p:sp>
      <p:sp>
        <p:nvSpPr>
          <p:cNvPr id="31" name="Text 27"/>
          <p:cNvSpPr/>
          <p:nvPr/>
        </p:nvSpPr>
        <p:spPr>
          <a:xfrm>
            <a:off x="6896405" y="3004718"/>
            <a:ext cx="4360774" cy="512064"/>
          </a:xfrm>
          <a:prstGeom prst="rect">
            <a:avLst/>
          </a:prstGeom>
          <a:noFill/>
          <a:ln/>
        </p:spPr>
        <p:txBody>
          <a:bodyPr wrap="square" lIns="0" tIns="0" rIns="0" bIns="0" rtlCol="0" anchor="t"/>
          <a:lstStyle/>
          <a:p>
            <a:pPr indent="0" marL="0">
              <a:lnSpc>
                <a:spcPct val="132000"/>
              </a:lnSpc>
              <a:buNone/>
            </a:pPr>
            <a:r>
              <a:rPr lang="en-US" sz="950" dirty="0">
                <a:solidFill>
                  <a:srgbClr val="4B5550"/>
                </a:solidFill>
                <a:latin typeface="Yu Gothic" pitchFamily="34" charset="0"/>
                <a:ea typeface="Yu Gothic" pitchFamily="34" charset="-122"/>
                <a:cs typeface="Yu Gothic" pitchFamily="34" charset="-120"/>
              </a:rPr>
              <a:t>運営は清掃・補充の1日15分程度。既存スタッフの稼働内で完結し、採用・教育・シフト管理は発生しません。</a:t>
            </a:r>
            <a:endParaRPr lang="en-US" sz="950" dirty="0"/>
          </a:p>
        </p:txBody>
      </p:sp>
      <p:sp>
        <p:nvSpPr>
          <p:cNvPr id="32" name="Shape 28"/>
          <p:cNvSpPr/>
          <p:nvPr/>
        </p:nvSpPr>
        <p:spPr>
          <a:xfrm>
            <a:off x="6164885" y="3754526"/>
            <a:ext cx="5366614" cy="1078992"/>
          </a:xfrm>
          <a:prstGeom prst="roundRect">
            <a:avLst>
              <a:gd name="adj" fmla="val 5085"/>
            </a:avLst>
          </a:prstGeom>
          <a:solidFill>
            <a:srgbClr val="FFFFFF"/>
          </a:solidFill>
          <a:ln w="9525">
            <a:solidFill>
              <a:srgbClr val="EFEAE0"/>
            </a:solidFill>
            <a:prstDash val="solid"/>
          </a:ln>
        </p:spPr>
      </p:sp>
      <p:pic>
        <p:nvPicPr>
          <p:cNvPr id="33" name="Image 2" descr="/home/user/suzuki-ceo/selfcafe-partner-deck/assets/icons/LuStore-green.png">    </p:cNvPr>
          <p:cNvPicPr>
            <a:picLocks noChangeAspect="1"/>
          </p:cNvPicPr>
          <p:nvPr/>
        </p:nvPicPr>
        <p:blipFill>
          <a:blip r:embed="rId3"/>
          <a:stretch>
            <a:fillRect/>
          </a:stretch>
        </p:blipFill>
        <p:spPr>
          <a:xfrm>
            <a:off x="6420917" y="3973982"/>
            <a:ext cx="329184" cy="329184"/>
          </a:xfrm>
          <a:prstGeom prst="rect">
            <a:avLst/>
          </a:prstGeom>
        </p:spPr>
      </p:pic>
      <p:sp>
        <p:nvSpPr>
          <p:cNvPr id="34" name="Text 29"/>
          <p:cNvSpPr/>
          <p:nvPr/>
        </p:nvSpPr>
        <p:spPr>
          <a:xfrm>
            <a:off x="6896405" y="3937406"/>
            <a:ext cx="4360774" cy="310896"/>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空きスペースをそのまま活かす</a:t>
            </a:r>
            <a:endParaRPr lang="en-US" sz="1350" dirty="0"/>
          </a:p>
        </p:txBody>
      </p:sp>
      <p:sp>
        <p:nvSpPr>
          <p:cNvPr id="35" name="Text 30"/>
          <p:cNvSpPr/>
          <p:nvPr/>
        </p:nvSpPr>
        <p:spPr>
          <a:xfrm>
            <a:off x="6896405" y="4266590"/>
            <a:ext cx="4360774" cy="512064"/>
          </a:xfrm>
          <a:prstGeom prst="rect">
            <a:avLst/>
          </a:prstGeom>
          <a:noFill/>
          <a:ln/>
        </p:spPr>
        <p:txBody>
          <a:bodyPr wrap="square" lIns="0" tIns="0" rIns="0" bIns="0" rtlCol="0" anchor="t"/>
          <a:lstStyle/>
          <a:p>
            <a:pPr indent="0" marL="0">
              <a:lnSpc>
                <a:spcPct val="132000"/>
              </a:lnSpc>
              <a:buNone/>
            </a:pPr>
            <a:r>
              <a:rPr lang="en-US" sz="950" dirty="0">
                <a:solidFill>
                  <a:srgbClr val="4B5550"/>
                </a:solidFill>
                <a:latin typeface="Yu Gothic" pitchFamily="34" charset="0"/>
                <a:ea typeface="Yu Gothic" pitchFamily="34" charset="-122"/>
                <a:cs typeface="Yu Gothic" pitchFamily="34" charset="-120"/>
              </a:rPr>
              <a:t>レジ横・待合スペース・空き区画など、既存事業の一角で成立。テナント誘致のような造作・原状回復の重さがありません。</a:t>
            </a:r>
            <a:endParaRPr lang="en-US" sz="950" dirty="0"/>
          </a:p>
        </p:txBody>
      </p:sp>
      <p:sp>
        <p:nvSpPr>
          <p:cNvPr id="36" name="Shape 31"/>
          <p:cNvSpPr/>
          <p:nvPr/>
        </p:nvSpPr>
        <p:spPr>
          <a:xfrm>
            <a:off x="6164885" y="5016398"/>
            <a:ext cx="5366614" cy="1078992"/>
          </a:xfrm>
          <a:prstGeom prst="roundRect">
            <a:avLst>
              <a:gd name="adj" fmla="val 5085"/>
            </a:avLst>
          </a:prstGeom>
          <a:solidFill>
            <a:srgbClr val="FFFFFF"/>
          </a:solidFill>
          <a:ln w="9525">
            <a:solidFill>
              <a:srgbClr val="EFEAE0"/>
            </a:solidFill>
            <a:prstDash val="solid"/>
          </a:ln>
        </p:spPr>
      </p:sp>
      <p:pic>
        <p:nvPicPr>
          <p:cNvPr id="37" name="Image 3" descr="/home/user/suzuki-ceo/selfcafe-partner-deck/assets/icons/LuTrendingUp-green.png">    </p:cNvPr>
          <p:cNvPicPr>
            <a:picLocks noChangeAspect="1"/>
          </p:cNvPicPr>
          <p:nvPr/>
        </p:nvPicPr>
        <p:blipFill>
          <a:blip r:embed="rId4"/>
          <a:stretch>
            <a:fillRect/>
          </a:stretch>
        </p:blipFill>
        <p:spPr>
          <a:xfrm>
            <a:off x="6420917" y="5235854"/>
            <a:ext cx="329184" cy="329184"/>
          </a:xfrm>
          <a:prstGeom prst="rect">
            <a:avLst/>
          </a:prstGeom>
        </p:spPr>
      </p:pic>
      <p:sp>
        <p:nvSpPr>
          <p:cNvPr id="38" name="Text 32"/>
          <p:cNvSpPr/>
          <p:nvPr/>
        </p:nvSpPr>
        <p:spPr>
          <a:xfrm>
            <a:off x="6896405" y="5199278"/>
            <a:ext cx="4360774" cy="310896"/>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遊休コストを利益に反転</a:t>
            </a:r>
            <a:endParaRPr lang="en-US" sz="1350" dirty="0"/>
          </a:p>
        </p:txBody>
      </p:sp>
      <p:sp>
        <p:nvSpPr>
          <p:cNvPr id="39" name="Text 33"/>
          <p:cNvSpPr/>
          <p:nvPr/>
        </p:nvSpPr>
        <p:spPr>
          <a:xfrm>
            <a:off x="6896405" y="5528462"/>
            <a:ext cx="4360774" cy="512064"/>
          </a:xfrm>
          <a:prstGeom prst="rect">
            <a:avLst/>
          </a:prstGeom>
          <a:noFill/>
          <a:ln/>
        </p:spPr>
        <p:txBody>
          <a:bodyPr wrap="square" lIns="0" tIns="0" rIns="0" bIns="0" rtlCol="0" anchor="t"/>
          <a:lstStyle/>
          <a:p>
            <a:pPr indent="0" marL="0">
              <a:lnSpc>
                <a:spcPct val="132000"/>
              </a:lnSpc>
              <a:buNone/>
            </a:pPr>
            <a:r>
              <a:rPr lang="en-US" sz="950" dirty="0">
                <a:solidFill>
                  <a:srgbClr val="4B5550"/>
                </a:solidFill>
                <a:latin typeface="Yu Gothic" pitchFamily="34" charset="0"/>
                <a:ea typeface="Yu Gothic" pitchFamily="34" charset="-122"/>
                <a:cs typeface="Yu Gothic" pitchFamily="34" charset="-120"/>
              </a:rPr>
              <a:t>使っていない床は、固定資産税や機会損失を生むだけ。収益資産に変えることで既存事業への集客効果も生まれます。</a:t>
            </a:r>
            <a:endParaRPr lang="en-US" sz="950" dirty="0"/>
          </a:p>
        </p:txBody>
      </p:sp>
      <p:sp>
        <p:nvSpPr>
          <p:cNvPr id="40" name="Text 34"/>
          <p:cNvSpPr/>
          <p:nvPr/>
        </p:nvSpPr>
        <p:spPr>
          <a:xfrm>
            <a:off x="660197" y="622340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利益は収益シミュレーション（20坪・40席）の前提による目安です。売上・利益を保証するものではありません。</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103120"/>
          </a:xfrm>
          <a:prstGeom prst="roundRect">
            <a:avLst>
              <a:gd name="adj" fmla="val 2609"/>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717950"/>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717950"/>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120286"/>
            <a:ext cx="5183734" cy="10058"/>
          </a:xfrm>
          <a:prstGeom prst="rect">
            <a:avLst/>
          </a:prstGeom>
          <a:solidFill>
            <a:srgbClr val="EFEAE0"/>
          </a:solidFill>
          <a:ln/>
        </p:spPr>
      </p:sp>
      <p:sp>
        <p:nvSpPr>
          <p:cNvPr id="29" name="Text 26"/>
          <p:cNvSpPr/>
          <p:nvPr/>
        </p:nvSpPr>
        <p:spPr>
          <a:xfrm>
            <a:off x="6073445" y="4193438"/>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93438"/>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95774"/>
            <a:ext cx="5183734" cy="10058"/>
          </a:xfrm>
          <a:prstGeom prst="rect">
            <a:avLst/>
          </a:prstGeom>
          <a:solidFill>
            <a:srgbClr val="EFEAE0"/>
          </a:solidFill>
          <a:ln/>
        </p:spPr>
      </p:sp>
      <p:sp>
        <p:nvSpPr>
          <p:cNvPr id="32" name="Text 29"/>
          <p:cNvSpPr/>
          <p:nvPr/>
        </p:nvSpPr>
        <p:spPr>
          <a:xfrm>
            <a:off x="6073445" y="4668926"/>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68926"/>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Text 31"/>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481621" y="2876702"/>
            <a:ext cx="1260983" cy="329184"/>
          </a:xfrm>
          <a:prstGeom prst="roundRect">
            <a:avLst>
              <a:gd name="adj" fmla="val 13889"/>
            </a:avLst>
          </a:prstGeom>
          <a:solidFill>
            <a:srgbClr val="FFFFFF">
              <a:alpha val="90000"/>
            </a:srgbClr>
          </a:solidFill>
          <a:ln/>
        </p:spPr>
      </p:sp>
      <p:sp>
        <p:nvSpPr>
          <p:cNvPr id="25" name="Text 20"/>
          <p:cNvSpPr/>
          <p:nvPr/>
        </p:nvSpPr>
        <p:spPr>
          <a:xfrm>
            <a:off x="7646213" y="2876702"/>
            <a:ext cx="986663"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店内利用の様子</a:t>
            </a:r>
            <a:endParaRPr lang="en-US" sz="950" dirty="0"/>
          </a:p>
        </p:txBody>
      </p:sp>
      <p:sp>
        <p:nvSpPr>
          <p:cNvPr id="26" name="Shape 21"/>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7" name="Text 22"/>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8"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9" name="Text 23"/>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30"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31" name="Text 24"/>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2"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3" name="Text 25"/>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4" name="Text 26"/>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PiggyBank-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開業費650万円〜・標準予算800万円程度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2218334"/>
            <a:ext cx="1096023" cy="859536"/>
          </a:xfrm>
          <a:prstGeom prst="rect">
            <a:avLst/>
          </a:prstGeom>
          <a:solidFill>
            <a:srgbClr val="0C5230"/>
          </a:solidFill>
          <a:ln w="12700">
            <a:solidFill>
              <a:srgbClr val="FFFFFF"/>
            </a:solidFill>
            <a:prstDash val="solid"/>
          </a:ln>
        </p:spPr>
      </p:sp>
      <p:sp>
        <p:nvSpPr>
          <p:cNvPr id="10" name="Text 7"/>
          <p:cNvSpPr/>
          <p:nvPr/>
        </p:nvSpPr>
        <p:spPr>
          <a:xfrm>
            <a:off x="660197"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756219" y="2218334"/>
            <a:ext cx="4384091" cy="859536"/>
          </a:xfrm>
          <a:prstGeom prst="rect">
            <a:avLst/>
          </a:prstGeom>
          <a:solidFill>
            <a:srgbClr val="1B7A47"/>
          </a:solidFill>
          <a:ln w="12700">
            <a:solidFill>
              <a:srgbClr val="FFFFFF"/>
            </a:solidFill>
            <a:prstDash val="solid"/>
          </a:ln>
        </p:spPr>
      </p:sp>
      <p:sp>
        <p:nvSpPr>
          <p:cNvPr id="13" name="Text 10"/>
          <p:cNvSpPr/>
          <p:nvPr/>
        </p:nvSpPr>
        <p:spPr>
          <a:xfrm>
            <a:off x="1756219" y="2218334"/>
            <a:ext cx="4384091"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481899" y="3169310"/>
            <a:ext cx="493273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6140310" y="2218334"/>
            <a:ext cx="1096023" cy="859536"/>
          </a:xfrm>
          <a:prstGeom prst="rect">
            <a:avLst/>
          </a:prstGeom>
          <a:solidFill>
            <a:srgbClr val="5FA57C"/>
          </a:solidFill>
          <a:ln w="12700">
            <a:solidFill>
              <a:srgbClr val="FFFFFF"/>
            </a:solidFill>
            <a:prstDash val="solid"/>
          </a:ln>
        </p:spPr>
      </p:sp>
      <p:sp>
        <p:nvSpPr>
          <p:cNvPr id="16" name="Text 13"/>
          <p:cNvSpPr/>
          <p:nvPr/>
        </p:nvSpPr>
        <p:spPr>
          <a:xfrm>
            <a:off x="6140310"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7" name="Text 14"/>
          <p:cNvSpPr/>
          <p:nvPr/>
        </p:nvSpPr>
        <p:spPr>
          <a:xfrm>
            <a:off x="5865990"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出店準備金（備品類）</a:t>
            </a:r>
            <a:endParaRPr lang="en-US" sz="950" dirty="0"/>
          </a:p>
        </p:txBody>
      </p:sp>
      <p:sp>
        <p:nvSpPr>
          <p:cNvPr id="18" name="Shape 15"/>
          <p:cNvSpPr/>
          <p:nvPr/>
        </p:nvSpPr>
        <p:spPr>
          <a:xfrm>
            <a:off x="7236333" y="2218334"/>
            <a:ext cx="548011" cy="859536"/>
          </a:xfrm>
          <a:prstGeom prst="rect">
            <a:avLst/>
          </a:prstGeom>
          <a:solidFill>
            <a:srgbClr val="9CC3AA"/>
          </a:solidFill>
          <a:ln w="12700">
            <a:solidFill>
              <a:srgbClr val="FFFFFF"/>
            </a:solidFill>
            <a:prstDash val="solid"/>
          </a:ln>
        </p:spPr>
      </p:sp>
      <p:sp>
        <p:nvSpPr>
          <p:cNvPr id="19" name="Text 16"/>
          <p:cNvSpPr/>
          <p:nvPr/>
        </p:nvSpPr>
        <p:spPr>
          <a:xfrm>
            <a:off x="7236333" y="2218334"/>
            <a:ext cx="54801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6962013" y="3169310"/>
            <a:ext cx="109665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784344" y="2218334"/>
            <a:ext cx="1644034" cy="859536"/>
          </a:xfrm>
          <a:prstGeom prst="rect">
            <a:avLst/>
          </a:prstGeom>
          <a:solidFill>
            <a:srgbClr val="A8761F"/>
          </a:solidFill>
          <a:ln w="12700">
            <a:solidFill>
              <a:srgbClr val="FFFFFF"/>
            </a:solidFill>
            <a:prstDash val="solid"/>
          </a:ln>
        </p:spPr>
      </p:sp>
      <p:sp>
        <p:nvSpPr>
          <p:cNvPr id="22" name="Text 19"/>
          <p:cNvSpPr/>
          <p:nvPr/>
        </p:nvSpPr>
        <p:spPr>
          <a:xfrm>
            <a:off x="7784344" y="2218334"/>
            <a:ext cx="164403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510024" y="1907438"/>
            <a:ext cx="219267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800万円程度</a:t>
            </a:r>
            <a:endParaRPr lang="en-US" sz="1050" dirty="0"/>
          </a:p>
        </p:txBody>
      </p:sp>
      <p:sp>
        <p:nvSpPr>
          <p:cNvPr id="26" name="Text 23"/>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Arial" pitchFamily="34" charset="0"/>
                <a:ea typeface="Arial" pitchFamily="34" charset="-122"/>
                <a:cs typeface="Arial"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7" name="Shape 24"/>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sp>
        <p:nvSpPr>
          <p:cNvPr id="28" name="Text 25"/>
          <p:cNvSpPr/>
          <p:nvPr/>
        </p:nvSpPr>
        <p:spPr>
          <a:xfrm>
            <a:off x="934517" y="446775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a:t>
            </a:r>
            <a:endParaRPr lang="en-US" sz="1150" dirty="0"/>
          </a:p>
        </p:txBody>
      </p:sp>
      <p:sp>
        <p:nvSpPr>
          <p:cNvPr id="29" name="Text 26"/>
          <p:cNvSpPr/>
          <p:nvPr/>
        </p:nvSpPr>
        <p:spPr>
          <a:xfrm>
            <a:off x="934517" y="476036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月5万円 一律（売上連動なし）</a:t>
            </a:r>
            <a:endParaRPr lang="en-US" sz="1050" dirty="0"/>
          </a:p>
        </p:txBody>
      </p:sp>
      <p:sp>
        <p:nvSpPr>
          <p:cNvPr id="30" name="Shape 27"/>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sp>
        <p:nvSpPr>
          <p:cNvPr id="31" name="Text 28"/>
          <p:cNvSpPr/>
          <p:nvPr/>
        </p:nvSpPr>
        <p:spPr>
          <a:xfrm>
            <a:off x="6562192" y="446775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研修費</a:t>
            </a:r>
            <a:endParaRPr lang="en-US" sz="1150" dirty="0"/>
          </a:p>
        </p:txBody>
      </p:sp>
      <p:sp>
        <p:nvSpPr>
          <p:cNvPr id="32" name="Text 29"/>
          <p:cNvSpPr/>
          <p:nvPr/>
        </p:nvSpPr>
        <p:spPr>
          <a:xfrm>
            <a:off x="6562192" y="476036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なし</a:t>
            </a:r>
            <a:endParaRPr lang="en-US" sz="1050" dirty="0"/>
          </a:p>
        </p:txBody>
      </p:sp>
      <p:sp>
        <p:nvSpPr>
          <p:cNvPr id="33" name="Shape 30"/>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sp>
        <p:nvSpPr>
          <p:cNvPr id="34" name="Text 31"/>
          <p:cNvSpPr/>
          <p:nvPr/>
        </p:nvSpPr>
        <p:spPr>
          <a:xfrm>
            <a:off x="934517" y="547359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35" name="Text 32"/>
          <p:cNvSpPr/>
          <p:nvPr/>
        </p:nvSpPr>
        <p:spPr>
          <a:xfrm>
            <a:off x="934517" y="576620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工事費が増え950万円〜（標準総投資予算1,200万円程度）</a:t>
            </a:r>
            <a:endParaRPr lang="en-US" sz="1050" dirty="0"/>
          </a:p>
        </p:txBody>
      </p:sp>
      <p:sp>
        <p:nvSpPr>
          <p:cNvPr id="36" name="Shape 33"/>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sp>
        <p:nvSpPr>
          <p:cNvPr id="37" name="Text 34"/>
          <p:cNvSpPr/>
          <p:nvPr/>
        </p:nvSpPr>
        <p:spPr>
          <a:xfrm>
            <a:off x="6562192" y="5473598"/>
            <a:ext cx="4694987"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8" name="Text 35"/>
          <p:cNvSpPr/>
          <p:nvPr/>
        </p:nvSpPr>
        <p:spPr>
          <a:xfrm>
            <a:off x="6562192" y="5766206"/>
            <a:ext cx="4694987" cy="347472"/>
          </a:xfrm>
          <a:prstGeom prst="rect">
            <a:avLst/>
          </a:prstGeom>
          <a:noFill/>
          <a:ln/>
        </p:spPr>
        <p:txBody>
          <a:bodyPr wrap="square" lIns="0" tIns="0" rIns="0" bIns="0" rtlCol="0" anchor="t"/>
          <a:lstStyle/>
          <a:p>
            <a:pPr indent="0" marL="0">
              <a:lnSpc>
                <a:spcPct val="130000"/>
              </a:lnSpc>
              <a:buNone/>
            </a:pPr>
            <a:r>
              <a:rPr lang="en-US" sz="105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50" dirty="0"/>
          </a:p>
        </p:txBody>
      </p:sp>
      <p:sp>
        <p:nvSpPr>
          <p:cNvPr id="39" name="Text 36"/>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100杯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1,260,000円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-252,000円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-320,000円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水道11,000円／光熱74,000円（24H営業想定）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-85,000円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387,000円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387,000円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4,644,000円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杯数別収益と損益分岐点</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1日の販売杯数ごとの月間利益（20坪モデル）。1日約49杯が損益分岐点です。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758952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04088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1日の販売杯数と月間償却前営業利益（20坪・1杯420円）</a:t>
            </a:r>
            <a:endParaRPr lang="en-US" sz="1100" dirty="0"/>
          </a:p>
        </p:txBody>
      </p:sp>
      <p:sp>
        <p:nvSpPr>
          <p:cNvPr id="11" name="Shape 8"/>
          <p:cNvSpPr/>
          <p:nvPr/>
        </p:nvSpPr>
        <p:spPr>
          <a:xfrm>
            <a:off x="1025957" y="4394606"/>
            <a:ext cx="6858000" cy="12802"/>
          </a:xfrm>
          <a:prstGeom prst="rect">
            <a:avLst/>
          </a:prstGeom>
          <a:solidFill>
            <a:srgbClr val="EFEAE0"/>
          </a:solidFill>
          <a:ln/>
        </p:spPr>
      </p:sp>
      <p:sp>
        <p:nvSpPr>
          <p:cNvPr id="12" name="Shape 9"/>
          <p:cNvSpPr/>
          <p:nvPr/>
        </p:nvSpPr>
        <p:spPr>
          <a:xfrm>
            <a:off x="1390193" y="4407408"/>
            <a:ext cx="566928" cy="384048"/>
          </a:xfrm>
          <a:prstGeom prst="rect">
            <a:avLst/>
          </a:prstGeom>
          <a:solidFill>
            <a:srgbClr val="CFC9BE"/>
          </a:solidFill>
          <a:ln/>
        </p:spPr>
      </p:sp>
      <p:sp>
        <p:nvSpPr>
          <p:cNvPr id="13" name="Text 10"/>
          <p:cNvSpPr/>
          <p:nvPr/>
        </p:nvSpPr>
        <p:spPr>
          <a:xfrm>
            <a:off x="1033577" y="4824374"/>
            <a:ext cx="1280160" cy="201168"/>
          </a:xfrm>
          <a:prstGeom prst="rect">
            <a:avLst/>
          </a:prstGeom>
          <a:noFill/>
          <a:ln/>
        </p:spPr>
        <p:txBody>
          <a:bodyPr wrap="square" lIns="0" tIns="0" rIns="0" bIns="0" rtlCol="0" anchor="ctr"/>
          <a:lstStyle/>
          <a:p>
            <a:pPr algn="ctr" indent="0" marL="0">
              <a:buNone/>
            </a:pPr>
            <a:r>
              <a:rPr lang="en-US" sz="1000" b="1" dirty="0">
                <a:solidFill>
                  <a:srgbClr val="7E8882"/>
                </a:solidFill>
                <a:latin typeface="Arial" pitchFamily="34" charset="0"/>
                <a:ea typeface="Arial" pitchFamily="34" charset="-122"/>
                <a:cs typeface="Arial" pitchFamily="34" charset="-120"/>
              </a:rPr>
              <a:t>-8.3万円</a:t>
            </a:r>
            <a:endParaRPr lang="en-US" sz="1000" dirty="0"/>
          </a:p>
        </p:txBody>
      </p:sp>
      <p:sp>
        <p:nvSpPr>
          <p:cNvPr id="14" name="Text 11"/>
          <p:cNvSpPr/>
          <p:nvPr/>
        </p:nvSpPr>
        <p:spPr>
          <a:xfrm>
            <a:off x="111739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40杯</a:t>
            </a:r>
            <a:endParaRPr lang="en-US" sz="1050" dirty="0"/>
          </a:p>
        </p:txBody>
      </p:sp>
      <p:sp>
        <p:nvSpPr>
          <p:cNvPr id="15" name="Shape 12"/>
          <p:cNvSpPr/>
          <p:nvPr/>
        </p:nvSpPr>
        <p:spPr>
          <a:xfrm>
            <a:off x="2502713" y="4329968"/>
            <a:ext cx="566928" cy="64639"/>
          </a:xfrm>
          <a:prstGeom prst="rect">
            <a:avLst/>
          </a:prstGeom>
          <a:solidFill>
            <a:srgbClr val="79A98D"/>
          </a:solidFill>
          <a:ln/>
        </p:spPr>
      </p:sp>
      <p:sp>
        <p:nvSpPr>
          <p:cNvPr id="16" name="Text 13"/>
          <p:cNvSpPr/>
          <p:nvPr/>
        </p:nvSpPr>
        <p:spPr>
          <a:xfrm>
            <a:off x="2146097" y="4073936"/>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+1.8万円</a:t>
            </a:r>
            <a:endParaRPr lang="en-US" sz="1000" dirty="0"/>
          </a:p>
        </p:txBody>
      </p:sp>
      <p:sp>
        <p:nvSpPr>
          <p:cNvPr id="17" name="Text 14"/>
          <p:cNvSpPr/>
          <p:nvPr/>
        </p:nvSpPr>
        <p:spPr>
          <a:xfrm>
            <a:off x="222991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50杯</a:t>
            </a:r>
            <a:endParaRPr lang="en-US" sz="1050" dirty="0"/>
          </a:p>
        </p:txBody>
      </p:sp>
      <p:sp>
        <p:nvSpPr>
          <p:cNvPr id="18" name="Shape 15"/>
          <p:cNvSpPr/>
          <p:nvPr/>
        </p:nvSpPr>
        <p:spPr>
          <a:xfrm>
            <a:off x="3615233" y="3967992"/>
            <a:ext cx="566928" cy="426615"/>
          </a:xfrm>
          <a:prstGeom prst="rect">
            <a:avLst/>
          </a:prstGeom>
          <a:solidFill>
            <a:srgbClr val="79A98D"/>
          </a:solidFill>
          <a:ln/>
        </p:spPr>
      </p:sp>
      <p:sp>
        <p:nvSpPr>
          <p:cNvPr id="19" name="Text 16"/>
          <p:cNvSpPr/>
          <p:nvPr/>
        </p:nvSpPr>
        <p:spPr>
          <a:xfrm>
            <a:off x="3258617" y="3711960"/>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+11.9万円</a:t>
            </a:r>
            <a:endParaRPr lang="en-US" sz="1000" dirty="0"/>
          </a:p>
        </p:txBody>
      </p:sp>
      <p:sp>
        <p:nvSpPr>
          <p:cNvPr id="20" name="Text 17"/>
          <p:cNvSpPr/>
          <p:nvPr/>
        </p:nvSpPr>
        <p:spPr>
          <a:xfrm>
            <a:off x="334243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60杯</a:t>
            </a:r>
            <a:endParaRPr lang="en-US" sz="1050" dirty="0"/>
          </a:p>
        </p:txBody>
      </p:sp>
      <p:sp>
        <p:nvSpPr>
          <p:cNvPr id="21" name="Shape 18"/>
          <p:cNvSpPr/>
          <p:nvPr/>
        </p:nvSpPr>
        <p:spPr>
          <a:xfrm>
            <a:off x="4727753" y="3425027"/>
            <a:ext cx="566928" cy="969579"/>
          </a:xfrm>
          <a:prstGeom prst="rect">
            <a:avLst/>
          </a:prstGeom>
          <a:solidFill>
            <a:srgbClr val="106838"/>
          </a:solidFill>
          <a:ln/>
        </p:spPr>
      </p:sp>
      <p:sp>
        <p:nvSpPr>
          <p:cNvPr id="22" name="Text 19"/>
          <p:cNvSpPr/>
          <p:nvPr/>
        </p:nvSpPr>
        <p:spPr>
          <a:xfrm>
            <a:off x="4371137" y="3168995"/>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+27.0万円</a:t>
            </a:r>
            <a:endParaRPr lang="en-US" sz="1000" dirty="0"/>
          </a:p>
        </p:txBody>
      </p:sp>
      <p:sp>
        <p:nvSpPr>
          <p:cNvPr id="23" name="Shape 20"/>
          <p:cNvSpPr/>
          <p:nvPr/>
        </p:nvSpPr>
        <p:spPr>
          <a:xfrm>
            <a:off x="4224833" y="3516467"/>
            <a:ext cx="1572768" cy="274320"/>
          </a:xfrm>
          <a:prstGeom prst="roundRect">
            <a:avLst>
              <a:gd name="adj" fmla="val 50000"/>
            </a:avLst>
          </a:prstGeom>
          <a:solidFill>
            <a:srgbClr val="0C5230"/>
          </a:solidFill>
          <a:ln/>
        </p:spPr>
      </p:sp>
      <p:sp>
        <p:nvSpPr>
          <p:cNvPr id="24" name="Text 21"/>
          <p:cNvSpPr/>
          <p:nvPr/>
        </p:nvSpPr>
        <p:spPr>
          <a:xfrm>
            <a:off x="4224833" y="3516467"/>
            <a:ext cx="1572768"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シミュレーション基準</a:t>
            </a:r>
            <a:endParaRPr lang="en-US" sz="800" dirty="0"/>
          </a:p>
        </p:txBody>
      </p:sp>
      <p:sp>
        <p:nvSpPr>
          <p:cNvPr id="25" name="Text 22"/>
          <p:cNvSpPr/>
          <p:nvPr/>
        </p:nvSpPr>
        <p:spPr>
          <a:xfrm>
            <a:off x="445495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75杯</a:t>
            </a:r>
            <a:endParaRPr lang="en-US" sz="1050" dirty="0"/>
          </a:p>
        </p:txBody>
      </p:sp>
      <p:sp>
        <p:nvSpPr>
          <p:cNvPr id="26" name="Shape 23"/>
          <p:cNvSpPr/>
          <p:nvPr/>
        </p:nvSpPr>
        <p:spPr>
          <a:xfrm>
            <a:off x="5840273" y="2882063"/>
            <a:ext cx="566928" cy="1512544"/>
          </a:xfrm>
          <a:prstGeom prst="rect">
            <a:avLst/>
          </a:prstGeom>
          <a:solidFill>
            <a:srgbClr val="79A98D"/>
          </a:solidFill>
          <a:ln/>
        </p:spPr>
      </p:sp>
      <p:sp>
        <p:nvSpPr>
          <p:cNvPr id="27" name="Text 24"/>
          <p:cNvSpPr/>
          <p:nvPr/>
        </p:nvSpPr>
        <p:spPr>
          <a:xfrm>
            <a:off x="5483657" y="2626031"/>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+42.1万円</a:t>
            </a:r>
            <a:endParaRPr lang="en-US" sz="1000" dirty="0"/>
          </a:p>
        </p:txBody>
      </p:sp>
      <p:sp>
        <p:nvSpPr>
          <p:cNvPr id="28" name="Text 25"/>
          <p:cNvSpPr/>
          <p:nvPr/>
        </p:nvSpPr>
        <p:spPr>
          <a:xfrm>
            <a:off x="556747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90杯</a:t>
            </a:r>
            <a:endParaRPr lang="en-US" sz="1050" dirty="0"/>
          </a:p>
        </p:txBody>
      </p:sp>
      <p:sp>
        <p:nvSpPr>
          <p:cNvPr id="29" name="Shape 26"/>
          <p:cNvSpPr/>
          <p:nvPr/>
        </p:nvSpPr>
        <p:spPr>
          <a:xfrm>
            <a:off x="6952793" y="2520086"/>
            <a:ext cx="566928" cy="1874520"/>
          </a:xfrm>
          <a:prstGeom prst="rect">
            <a:avLst/>
          </a:prstGeom>
          <a:solidFill>
            <a:srgbClr val="79A98D"/>
          </a:solidFill>
          <a:ln/>
        </p:spPr>
      </p:sp>
      <p:sp>
        <p:nvSpPr>
          <p:cNvPr id="30" name="Text 27"/>
          <p:cNvSpPr/>
          <p:nvPr/>
        </p:nvSpPr>
        <p:spPr>
          <a:xfrm>
            <a:off x="6596177" y="2264054"/>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+52.2万円</a:t>
            </a:r>
            <a:endParaRPr lang="en-US" sz="1000" dirty="0"/>
          </a:p>
        </p:txBody>
      </p:sp>
      <p:sp>
        <p:nvSpPr>
          <p:cNvPr id="31" name="Text 28"/>
          <p:cNvSpPr/>
          <p:nvPr/>
        </p:nvSpPr>
        <p:spPr>
          <a:xfrm>
            <a:off x="667999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100杯</a:t>
            </a:r>
            <a:endParaRPr lang="en-US" sz="1050" dirty="0"/>
          </a:p>
        </p:txBody>
      </p:sp>
      <p:sp>
        <p:nvSpPr>
          <p:cNvPr id="32" name="Shape 29"/>
          <p:cNvSpPr/>
          <p:nvPr/>
        </p:nvSpPr>
        <p:spPr>
          <a:xfrm>
            <a:off x="2697175" y="2474366"/>
            <a:ext cx="0" cy="2468880"/>
          </a:xfrm>
          <a:prstGeom prst="line">
            <a:avLst/>
          </a:prstGeom>
          <a:noFill/>
          <a:ln w="19050">
            <a:solidFill>
              <a:srgbClr val="A8761F"/>
            </a:solidFill>
            <a:prstDash val="dash"/>
          </a:ln>
        </p:spPr>
      </p:sp>
      <p:sp>
        <p:nvSpPr>
          <p:cNvPr id="33" name="Shape 30"/>
          <p:cNvSpPr/>
          <p:nvPr/>
        </p:nvSpPr>
        <p:spPr>
          <a:xfrm>
            <a:off x="1801063" y="2163470"/>
            <a:ext cx="1792224" cy="329184"/>
          </a:xfrm>
          <a:prstGeom prst="roundRect">
            <a:avLst>
              <a:gd name="adj" fmla="val 50000"/>
            </a:avLst>
          </a:prstGeom>
          <a:solidFill>
            <a:srgbClr val="A8761F"/>
          </a:solidFill>
          <a:ln/>
        </p:spPr>
      </p:sp>
      <p:sp>
        <p:nvSpPr>
          <p:cNvPr id="34" name="Text 31"/>
          <p:cNvSpPr/>
          <p:nvPr/>
        </p:nvSpPr>
        <p:spPr>
          <a:xfrm>
            <a:off x="1801063" y="2163470"/>
            <a:ext cx="1792224"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損益分岐点 約49杯／日</a:t>
            </a:r>
            <a:endParaRPr lang="en-US" sz="950" dirty="0"/>
          </a:p>
        </p:txBody>
      </p:sp>
      <p:sp>
        <p:nvSpPr>
          <p:cNvPr id="35" name="Shape 32"/>
          <p:cNvSpPr/>
          <p:nvPr/>
        </p:nvSpPr>
        <p:spPr>
          <a:xfrm>
            <a:off x="8633765" y="1651406"/>
            <a:ext cx="2897734" cy="2286000"/>
          </a:xfrm>
          <a:prstGeom prst="roundRect">
            <a:avLst>
              <a:gd name="adj" fmla="val 2400"/>
            </a:avLst>
          </a:prstGeom>
          <a:solidFill>
            <a:srgbClr val="FFFFFF"/>
          </a:solidFill>
          <a:ln w="9525">
            <a:solidFill>
              <a:srgbClr val="EFEAE0"/>
            </a:solidFill>
            <a:prstDash val="solid"/>
          </a:ln>
        </p:spPr>
      </p:sp>
      <p:sp>
        <p:nvSpPr>
          <p:cNvPr id="36" name="Text 33"/>
          <p:cNvSpPr/>
          <p:nvPr/>
        </p:nvSpPr>
        <p:spPr>
          <a:xfrm>
            <a:off x="8871509" y="1834286"/>
            <a:ext cx="2422246"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前提（20坪・40席）</a:t>
            </a:r>
            <a:endParaRPr lang="en-US" sz="1050" dirty="0"/>
          </a:p>
        </p:txBody>
      </p:sp>
      <p:pic>
        <p:nvPicPr>
          <p:cNvPr id="37" name="Image 1" descr="/home/user/suzuki-ceo/selfcafe-partner-deck/assets/icons/LuCheck-green.png">    </p:cNvPr>
          <p:cNvPicPr>
            <a:picLocks noChangeAspect="1"/>
          </p:cNvPicPr>
          <p:nvPr/>
        </p:nvPicPr>
        <p:blipFill>
          <a:blip r:embed="rId2"/>
          <a:stretch>
            <a:fillRect/>
          </a:stretch>
        </p:blipFill>
        <p:spPr>
          <a:xfrm>
            <a:off x="8889797" y="2209190"/>
            <a:ext cx="164592" cy="164592"/>
          </a:xfrm>
          <a:prstGeom prst="rect">
            <a:avLst/>
          </a:prstGeom>
        </p:spPr>
      </p:pic>
      <p:sp>
        <p:nvSpPr>
          <p:cNvPr id="38" name="Text 34"/>
          <p:cNvSpPr/>
          <p:nvPr/>
        </p:nvSpPr>
        <p:spPr>
          <a:xfrm>
            <a:off x="9145829" y="2163470"/>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売上：1杯420円 × 杯数 × 30日</a:t>
            </a:r>
            <a:endParaRPr lang="en-US" sz="950" dirty="0"/>
          </a:p>
        </p:txBody>
      </p:sp>
      <p:pic>
        <p:nvPicPr>
          <p:cNvPr id="39" name="Image 2" descr="/home/user/suzuki-ceo/selfcafe-partner-deck/assets/icons/LuCheck-green.png">    </p:cNvPr>
          <p:cNvPicPr>
            <a:picLocks noChangeAspect="1"/>
          </p:cNvPicPr>
          <p:nvPr/>
        </p:nvPicPr>
        <p:blipFill>
          <a:blip r:embed="rId3"/>
          <a:stretch>
            <a:fillRect/>
          </a:stretch>
        </p:blipFill>
        <p:spPr>
          <a:xfrm>
            <a:off x="8889797" y="2629814"/>
            <a:ext cx="164592" cy="164592"/>
          </a:xfrm>
          <a:prstGeom prst="rect">
            <a:avLst/>
          </a:prstGeom>
        </p:spPr>
      </p:pic>
      <p:sp>
        <p:nvSpPr>
          <p:cNvPr id="40" name="Text 35"/>
          <p:cNvSpPr/>
          <p:nvPr/>
        </p:nvSpPr>
        <p:spPr>
          <a:xfrm>
            <a:off x="9145829" y="2584094"/>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ドリンク原料：売上の20%</a:t>
            </a:r>
            <a:endParaRPr lang="en-US" sz="950" dirty="0"/>
          </a:p>
        </p:txBody>
      </p:sp>
      <p:pic>
        <p:nvPicPr>
          <p:cNvPr id="41" name="Image 3" descr="/home/user/suzuki-ceo/selfcafe-partner-deck/assets/icons/LuCheck-green.png">    </p:cNvPr>
          <p:cNvPicPr>
            <a:picLocks noChangeAspect="1"/>
          </p:cNvPicPr>
          <p:nvPr/>
        </p:nvPicPr>
        <p:blipFill>
          <a:blip r:embed="rId4"/>
          <a:stretch>
            <a:fillRect/>
          </a:stretch>
        </p:blipFill>
        <p:spPr>
          <a:xfrm>
            <a:off x="8889797" y="3050438"/>
            <a:ext cx="164592" cy="164592"/>
          </a:xfrm>
          <a:prstGeom prst="rect">
            <a:avLst/>
          </a:prstGeom>
        </p:spPr>
      </p:pic>
      <p:sp>
        <p:nvSpPr>
          <p:cNvPr id="42" name="Text 36"/>
          <p:cNvSpPr/>
          <p:nvPr/>
        </p:nvSpPr>
        <p:spPr>
          <a:xfrm>
            <a:off x="9145829" y="3004718"/>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固定費：月48.6万円（家賃20万円・ロイヤリティ5万円等）</a:t>
            </a:r>
            <a:endParaRPr lang="en-US" sz="950" dirty="0"/>
          </a:p>
        </p:txBody>
      </p:sp>
      <p:pic>
        <p:nvPicPr>
          <p:cNvPr id="43" name="Image 4" descr="/home/user/suzuki-ceo/selfcafe-partner-deck/assets/icons/LuCheck-green.png">    </p:cNvPr>
          <p:cNvPicPr>
            <a:picLocks noChangeAspect="1"/>
          </p:cNvPicPr>
          <p:nvPr/>
        </p:nvPicPr>
        <p:blipFill>
          <a:blip r:embed="rId5"/>
          <a:stretch>
            <a:fillRect/>
          </a:stretch>
        </p:blipFill>
        <p:spPr>
          <a:xfrm>
            <a:off x="8889797" y="3471062"/>
            <a:ext cx="164592" cy="164592"/>
          </a:xfrm>
          <a:prstGeom prst="rect">
            <a:avLst/>
          </a:prstGeom>
        </p:spPr>
      </p:pic>
      <p:sp>
        <p:nvSpPr>
          <p:cNvPr id="44" name="Text 37"/>
          <p:cNvSpPr/>
          <p:nvPr/>
        </p:nvSpPr>
        <p:spPr>
          <a:xfrm>
            <a:off x="9145829" y="3425342"/>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収益シミュレーション（p20）と同一の前提</a:t>
            </a:r>
            <a:endParaRPr lang="en-US" sz="950" dirty="0"/>
          </a:p>
        </p:txBody>
      </p:sp>
      <p:sp>
        <p:nvSpPr>
          <p:cNvPr id="45" name="Shape 38"/>
          <p:cNvSpPr/>
          <p:nvPr/>
        </p:nvSpPr>
        <p:spPr>
          <a:xfrm>
            <a:off x="8633765" y="4120286"/>
            <a:ext cx="2897734" cy="1243584"/>
          </a:xfrm>
          <a:prstGeom prst="roundRect">
            <a:avLst>
              <a:gd name="adj" fmla="val 4412"/>
            </a:avLst>
          </a:prstGeom>
          <a:solidFill>
            <a:srgbClr val="0C5230"/>
          </a:solidFill>
          <a:ln/>
        </p:spPr>
      </p:sp>
      <p:sp>
        <p:nvSpPr>
          <p:cNvPr id="46" name="Text 39"/>
          <p:cNvSpPr/>
          <p:nvPr/>
        </p:nvSpPr>
        <p:spPr>
          <a:xfrm>
            <a:off x="8871509" y="4321454"/>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OWN PROPERTY</a:t>
            </a:r>
            <a:endParaRPr lang="en-US" sz="900" dirty="0"/>
          </a:p>
        </p:txBody>
      </p:sp>
      <p:sp>
        <p:nvSpPr>
          <p:cNvPr id="47" name="Text 40"/>
          <p:cNvSpPr/>
          <p:nvPr/>
        </p:nvSpPr>
        <p:spPr>
          <a:xfrm>
            <a:off x="8871509" y="4540910"/>
            <a:ext cx="2422246" cy="329184"/>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自社物件なら </a:t>
            </a:r>
            <a:r>
              <a:rPr lang="en-US" sz="1700" b="1" dirty="0">
                <a:solidFill>
                  <a:srgbClr val="F0D9A8"/>
                </a:solidFill>
                <a:latin typeface="Arial" pitchFamily="34" charset="0"/>
                <a:ea typeface="Arial" pitchFamily="34" charset="-122"/>
                <a:cs typeface="Arial" pitchFamily="34" charset="-120"/>
              </a:rPr>
              <a:t>約29杯</a:t>
            </a:r>
            <a:r>
              <a:rPr lang="en-US" sz="1100" b="1" dirty="0">
                <a:solidFill>
                  <a:srgbClr val="FFFFFF"/>
                </a:solidFill>
                <a:latin typeface="Yu Gothic" pitchFamily="34" charset="0"/>
                <a:ea typeface="Yu Gothic" pitchFamily="34" charset="-122"/>
                <a:cs typeface="Yu Gothic" pitchFamily="34" charset="-120"/>
              </a:rPr>
              <a:t> で黒字化</a:t>
            </a:r>
            <a:endParaRPr lang="en-US" sz="1100" dirty="0"/>
          </a:p>
        </p:txBody>
      </p:sp>
      <p:sp>
        <p:nvSpPr>
          <p:cNvPr id="48" name="Text 41"/>
          <p:cNvSpPr/>
          <p:nvPr/>
        </p:nvSpPr>
        <p:spPr>
          <a:xfrm>
            <a:off x="8871509" y="4906670"/>
            <a:ext cx="2422246" cy="365760"/>
          </a:xfrm>
          <a:prstGeom prst="rect">
            <a:avLst/>
          </a:prstGeom>
          <a:noFill/>
          <a:ln/>
        </p:spPr>
        <p:txBody>
          <a:bodyPr wrap="square" lIns="0" tIns="0" rIns="0" bIns="0" rtlCol="0" anchor="t"/>
          <a:lstStyle/>
          <a:p>
            <a:pPr indent="0" marL="0">
              <a:lnSpc>
                <a:spcPct val="130000"/>
              </a:lnSpc>
              <a:buNone/>
            </a:pPr>
            <a:r>
              <a:rPr lang="en-US" sz="900" dirty="0">
                <a:solidFill>
                  <a:srgbClr val="AFC2B8"/>
                </a:solidFill>
                <a:latin typeface="Yu Gothic" pitchFamily="34" charset="0"/>
                <a:ea typeface="Yu Gothic" pitchFamily="34" charset="-122"/>
                <a:cs typeface="Yu Gothic" pitchFamily="34" charset="-120"/>
              </a:rPr>
              <a:t>家賃負担がない分、損益分岐点が大きく下がります。</a:t>
            </a:r>
            <a:endParaRPr lang="en-US" sz="900" dirty="0"/>
          </a:p>
        </p:txBody>
      </p:sp>
      <p:sp>
        <p:nvSpPr>
          <p:cNvPr id="49" name="Text 42"/>
          <p:cNvSpPr/>
          <p:nvPr/>
        </p:nvSpPr>
        <p:spPr>
          <a:xfrm>
            <a:off x="660197" y="556503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20坪モデルの試算です。杯数・単価・費用は店舗条件により変動し、売上・利益を保証するものではありません。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1,260,000円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-553,000円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-320,000円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前提：初期費用は標準総投資予算（居抜き800万円／スケルトン1,200万円程度）／1杯420円・販売数は収益シミュレーションと同一／減価償却費・税を除く</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02-storefront-650x157.jpg">    </p:cNvPr>
          <p:cNvPicPr>
            <a:picLocks noChangeAspect="1"/>
          </p:cNvPicPr>
          <p:nvPr/>
        </p:nvPicPr>
        <p:blipFill>
          <a:blip r:embed="rId2"/>
          <a:stretch>
            <a:fillRect/>
          </a:stretch>
        </p:blipFill>
        <p:spPr>
          <a:xfrm>
            <a:off x="660197" y="2492654"/>
            <a:ext cx="5943600" cy="1435608"/>
          </a:xfrm>
          <a:prstGeom prst="rect">
            <a:avLst/>
          </a:prstGeom>
        </p:spPr>
      </p:pic>
      <p:sp>
        <p:nvSpPr>
          <p:cNvPr id="22" name="Shape 18"/>
          <p:cNvSpPr/>
          <p:nvPr/>
        </p:nvSpPr>
        <p:spPr>
          <a:xfrm>
            <a:off x="660197" y="2492654"/>
            <a:ext cx="5943600" cy="1435608"/>
          </a:xfrm>
          <a:prstGeom prst="rect">
            <a:avLst/>
          </a:prstGeom>
          <a:ln w="12700">
            <a:solidFill>
              <a:srgbClr val="D8D2C6"/>
            </a:solidFill>
            <a:prstDash val="solid"/>
          </a:ln>
        </p:spPr>
      </p:sp>
      <p:sp>
        <p:nvSpPr>
          <p:cNvPr id="23" name="Shape 19"/>
          <p:cNvSpPr/>
          <p:nvPr/>
        </p:nvSpPr>
        <p:spPr>
          <a:xfrm>
            <a:off x="788213" y="3471062"/>
            <a:ext cx="1388872" cy="329184"/>
          </a:xfrm>
          <a:prstGeom prst="roundRect">
            <a:avLst>
              <a:gd name="adj" fmla="val 13889"/>
            </a:avLst>
          </a:prstGeom>
          <a:solidFill>
            <a:srgbClr val="FFFFFF">
              <a:alpha val="90000"/>
            </a:srgbClr>
          </a:solidFill>
          <a:ln/>
        </p:spPr>
      </p:sp>
      <p:sp>
        <p:nvSpPr>
          <p:cNvPr id="24" name="Text 20"/>
          <p:cNvSpPr/>
          <p:nvPr/>
        </p:nvSpPr>
        <p:spPr>
          <a:xfrm>
            <a:off x="952805" y="3471062"/>
            <a:ext cx="1114552"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盛岡駅前店の外観</a:t>
            </a:r>
            <a:endParaRPr lang="en-US" sz="950" dirty="0"/>
          </a:p>
        </p:txBody>
      </p:sp>
      <p:sp>
        <p:nvSpPr>
          <p:cNvPr id="25" name="Text 21"/>
          <p:cNvSpPr/>
          <p:nvPr/>
        </p:nvSpPr>
        <p:spPr>
          <a:xfrm>
            <a:off x="696773" y="4111142"/>
            <a:ext cx="5870448" cy="64008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6" name="Shape 22"/>
          <p:cNvSpPr/>
          <p:nvPr/>
        </p:nvSpPr>
        <p:spPr>
          <a:xfrm>
            <a:off x="660197" y="4924958"/>
            <a:ext cx="5943600" cy="1133856"/>
          </a:xfrm>
          <a:prstGeom prst="roundRect">
            <a:avLst>
              <a:gd name="adj" fmla="val 4839"/>
            </a:avLst>
          </a:prstGeom>
          <a:solidFill>
            <a:srgbClr val="F1F8F3"/>
          </a:solidFill>
          <a:ln w="9525">
            <a:solidFill>
              <a:srgbClr val="D2E7DA"/>
            </a:solidFill>
            <a:prstDash val="solid"/>
          </a:ln>
        </p:spPr>
      </p:sp>
      <p:pic>
        <p:nvPicPr>
          <p:cNvPr id="27" name="Image 2" descr="/home/user/suzuki-ceo/selfcafe-partner-deck/assets/icons/LuTrendingUp-green.png">    </p:cNvPr>
          <p:cNvPicPr>
            <a:picLocks noChangeAspect="1"/>
          </p:cNvPicPr>
          <p:nvPr/>
        </p:nvPicPr>
        <p:blipFill>
          <a:blip r:embed="rId3"/>
          <a:stretch>
            <a:fillRect/>
          </a:stretch>
        </p:blipFill>
        <p:spPr>
          <a:xfrm>
            <a:off x="916229" y="5180990"/>
            <a:ext cx="402336" cy="402336"/>
          </a:xfrm>
          <a:prstGeom prst="rect">
            <a:avLst/>
          </a:prstGeom>
        </p:spPr>
      </p:pic>
      <p:sp>
        <p:nvSpPr>
          <p:cNvPr id="28" name="Text 23"/>
          <p:cNvSpPr/>
          <p:nvPr/>
        </p:nvSpPr>
        <p:spPr>
          <a:xfrm>
            <a:off x="1501445" y="5107838"/>
            <a:ext cx="48463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家賃を吸収して、利益を確保。</a:t>
            </a:r>
            <a:endParaRPr lang="en-US" sz="1300" dirty="0"/>
          </a:p>
        </p:txBody>
      </p:sp>
      <p:sp>
        <p:nvSpPr>
          <p:cNvPr id="29" name="Text 24"/>
          <p:cNvSpPr/>
          <p:nvPr/>
        </p:nvSpPr>
        <p:spPr>
          <a:xfrm>
            <a:off x="1501445" y="5400446"/>
            <a:ext cx="4846320"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月の家賃280,000円を支払った上で、232,000円の償却前営業利益を確保しています。</a:t>
            </a:r>
            <a:endParaRPr lang="en-US" sz="1050" dirty="0"/>
          </a:p>
        </p:txBody>
      </p:sp>
      <p:sp>
        <p:nvSpPr>
          <p:cNvPr id="30" name="Shape 25"/>
          <p:cNvSpPr/>
          <p:nvPr/>
        </p:nvSpPr>
        <p:spPr>
          <a:xfrm>
            <a:off x="6987845" y="2492654"/>
            <a:ext cx="4543654" cy="3566160"/>
          </a:xfrm>
          <a:prstGeom prst="roundRect">
            <a:avLst>
              <a:gd name="adj" fmla="val 1538"/>
            </a:avLst>
          </a:prstGeom>
          <a:solidFill>
            <a:srgbClr val="FFFFFF"/>
          </a:solidFill>
          <a:ln w="9525">
            <a:solidFill>
              <a:srgbClr val="EFEAE0"/>
            </a:solidFill>
            <a:prstDash val="solid"/>
          </a:ln>
        </p:spPr>
      </p:sp>
      <p:sp>
        <p:nvSpPr>
          <p:cNvPr id="31" name="Text 26"/>
          <p:cNvSpPr/>
          <p:nvPr/>
        </p:nvSpPr>
        <p:spPr>
          <a:xfrm>
            <a:off x="7262165" y="2730398"/>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7"/>
          <p:cNvSpPr/>
          <p:nvPr/>
        </p:nvSpPr>
        <p:spPr>
          <a:xfrm>
            <a:off x="7262165" y="2949854"/>
            <a:ext cx="3995014" cy="365760"/>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1日約80杯ペースでの稼働</a:t>
            </a:r>
            <a:endParaRPr lang="en-US" sz="1700" dirty="0"/>
          </a:p>
        </p:txBody>
      </p:sp>
      <p:sp>
        <p:nvSpPr>
          <p:cNvPr id="33" name="Shape 28"/>
          <p:cNvSpPr/>
          <p:nvPr/>
        </p:nvSpPr>
        <p:spPr>
          <a:xfrm>
            <a:off x="7262165" y="3425342"/>
            <a:ext cx="3995014" cy="10058"/>
          </a:xfrm>
          <a:prstGeom prst="rect">
            <a:avLst/>
          </a:prstGeom>
          <a:solidFill>
            <a:srgbClr val="EFEAE0"/>
          </a:solidFill>
          <a:ln/>
        </p:spPr>
      </p:sp>
      <p:sp>
        <p:nvSpPr>
          <p:cNvPr id="34" name="Text 29"/>
          <p:cNvSpPr/>
          <p:nvPr/>
        </p:nvSpPr>
        <p:spPr>
          <a:xfrm>
            <a:off x="7262165" y="3608222"/>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5" name="Text 30"/>
          <p:cNvSpPr/>
          <p:nvPr/>
        </p:nvSpPr>
        <p:spPr>
          <a:xfrm>
            <a:off x="8816645" y="3608222"/>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2025年4月</a:t>
            </a:r>
            <a:endParaRPr lang="en-US" sz="1300" dirty="0"/>
          </a:p>
        </p:txBody>
      </p:sp>
      <p:sp>
        <p:nvSpPr>
          <p:cNvPr id="36" name="Shape 31"/>
          <p:cNvSpPr/>
          <p:nvPr/>
        </p:nvSpPr>
        <p:spPr>
          <a:xfrm>
            <a:off x="7262165" y="4065422"/>
            <a:ext cx="3995014" cy="10058"/>
          </a:xfrm>
          <a:prstGeom prst="rect">
            <a:avLst/>
          </a:prstGeom>
          <a:solidFill>
            <a:srgbClr val="EFEAE0"/>
          </a:solidFill>
          <a:ln/>
        </p:spPr>
      </p:sp>
      <p:sp>
        <p:nvSpPr>
          <p:cNvPr id="37" name="Text 32"/>
          <p:cNvSpPr/>
          <p:nvPr/>
        </p:nvSpPr>
        <p:spPr>
          <a:xfrm>
            <a:off x="7262165" y="4175150"/>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8" name="Text 33"/>
          <p:cNvSpPr/>
          <p:nvPr/>
        </p:nvSpPr>
        <p:spPr>
          <a:xfrm>
            <a:off x="8816645" y="4175150"/>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20坪／40席</a:t>
            </a:r>
            <a:endParaRPr lang="en-US" sz="1300" dirty="0"/>
          </a:p>
        </p:txBody>
      </p:sp>
      <p:sp>
        <p:nvSpPr>
          <p:cNvPr id="39" name="Shape 34"/>
          <p:cNvSpPr/>
          <p:nvPr/>
        </p:nvSpPr>
        <p:spPr>
          <a:xfrm>
            <a:off x="7262165" y="4632350"/>
            <a:ext cx="3995014" cy="10058"/>
          </a:xfrm>
          <a:prstGeom prst="rect">
            <a:avLst/>
          </a:prstGeom>
          <a:solidFill>
            <a:srgbClr val="EFEAE0"/>
          </a:solidFill>
          <a:ln/>
        </p:spPr>
      </p:sp>
      <p:sp>
        <p:nvSpPr>
          <p:cNvPr id="40" name="Text 35"/>
          <p:cNvSpPr/>
          <p:nvPr/>
        </p:nvSpPr>
        <p:spPr>
          <a:xfrm>
            <a:off x="7262165" y="4742078"/>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1" name="Text 36"/>
          <p:cNvSpPr/>
          <p:nvPr/>
        </p:nvSpPr>
        <p:spPr>
          <a:xfrm>
            <a:off x="8816645" y="4742078"/>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岩手県盛岡市・駅前</a:t>
            </a:r>
            <a:endParaRPr lang="en-US" sz="1300" dirty="0"/>
          </a:p>
        </p:txBody>
      </p:sp>
      <p:sp>
        <p:nvSpPr>
          <p:cNvPr id="42" name="Shape 37"/>
          <p:cNvSpPr/>
          <p:nvPr/>
        </p:nvSpPr>
        <p:spPr>
          <a:xfrm>
            <a:off x="7262165" y="5199278"/>
            <a:ext cx="3995014" cy="10058"/>
          </a:xfrm>
          <a:prstGeom prst="rect">
            <a:avLst/>
          </a:prstGeom>
          <a:solidFill>
            <a:srgbClr val="EFEAE0"/>
          </a:solidFill>
          <a:ln/>
        </p:spPr>
      </p:sp>
      <p:sp>
        <p:nvSpPr>
          <p:cNvPr id="43" name="Text 38"/>
          <p:cNvSpPr/>
          <p:nvPr/>
        </p:nvSpPr>
        <p:spPr>
          <a:xfrm>
            <a:off x="7262165" y="5309006"/>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4" name="Text 39"/>
          <p:cNvSpPr/>
          <p:nvPr/>
        </p:nvSpPr>
        <p:spPr>
          <a:xfrm>
            <a:off x="8816645" y="5309006"/>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24時間</a:t>
            </a:r>
            <a:endParaRPr lang="en-US" sz="1300" dirty="0"/>
          </a:p>
        </p:txBody>
      </p:sp>
      <p:sp>
        <p:nvSpPr>
          <p:cNvPr id="45"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30</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31</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31</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32</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33</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090-6386-5493</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担当：佐藤</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selfcafe001@gmail.com</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2026-08-25T06:56:35Z</dcterms:created>
  <dcterms:modified xsi:type="dcterms:W3CDTF">2026-08-25T06:56:35Z</dcterms:modified>
</cp:coreProperties>
</file>