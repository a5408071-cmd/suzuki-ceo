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987845" y="1651406"/>
            <a:ext cx="4543654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2165" y="185257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262165" y="21268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262165" y="23097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262165" y="257495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20"/>
          <p:cNvSpPr/>
          <p:nvPr/>
        </p:nvSpPr>
        <p:spPr>
          <a:xfrm>
            <a:off x="7262165" y="262981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262165" y="281269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262165" y="307787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3"/>
          <p:cNvSpPr/>
          <p:nvPr/>
        </p:nvSpPr>
        <p:spPr>
          <a:xfrm>
            <a:off x="7262165" y="313273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原料・機器・メンテナンス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262165" y="331561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262165" y="35807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6"/>
          <p:cNvSpPr/>
          <p:nvPr/>
        </p:nvSpPr>
        <p:spPr>
          <a:xfrm>
            <a:off x="7262165" y="363565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水道光熱費・通信費・消耗品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262165" y="381853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貴社ご負担（実費）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262165" y="408371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9"/>
          <p:cNvSpPr/>
          <p:nvPr/>
        </p:nvSpPr>
        <p:spPr>
          <a:xfrm>
            <a:off x="7262165" y="413857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262165" y="432145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262165" y="458663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2"/>
          <p:cNvSpPr/>
          <p:nvPr/>
        </p:nvSpPr>
        <p:spPr>
          <a:xfrm>
            <a:off x="7262165" y="46414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262165" y="48243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987845" y="5180990"/>
            <a:ext cx="4543654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8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877" y="5345582"/>
            <a:ext cx="310896" cy="310896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7664501" y="5180990"/>
            <a:ext cx="359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pic>
        <p:nvPicPr>
          <p:cNvPr id="40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4266590"/>
            <a:ext cx="2834640" cy="1594485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6019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42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4266590"/>
            <a:ext cx="2834640" cy="1594485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376915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水道光熱費・通信費・消耗品は貴社のご負担（実費）となります。既存什器の再利用可否・工事範囲は現地確認のうえ個別にご相談させてください。金額は税抜・目安です。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業態転換イメージ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土浦店のカフェ区画は、こう変わります。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同じアングルで、現況と業態転換後の完成予想パースを並べました。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48360" y="1651406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8E8B84"/>
          </a:solidFill>
          <a:ln/>
        </p:spPr>
      </p:sp>
      <p:sp>
        <p:nvSpPr>
          <p:cNvPr id="10" name="Text 7"/>
          <p:cNvSpPr/>
          <p:nvPr/>
        </p:nvSpPr>
        <p:spPr>
          <a:xfrm>
            <a:off x="1048360" y="165140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</a:t>
            </a:r>
            <a:endParaRPr lang="en-US" sz="950" dirty="0"/>
          </a:p>
        </p:txBody>
      </p:sp>
      <p:pic>
        <p:nvPicPr>
          <p:cNvPr id="11" name="Image 1" descr="/home/user/suzuki-ceo/selfcafe-miraiya-deck/assets/photos/.crops/tsuchiura-before-exterior-352x19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360" y="1938528"/>
            <a:ext cx="3218688" cy="181051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48360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2" descr="/home/user/suzuki-ceo/selfcafe-miraiya-deck/assets/photos/.crops/tsuchiura-before-overview-352x198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504" y="1938528"/>
            <a:ext cx="3218688" cy="181051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486504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5" name="Image 3" descr="/home/user/suzuki-ceo/selfcafe-miraiya-deck/assets/photos/.crops/tsuchiura-before-cafe-352x198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48" y="1938528"/>
            <a:ext cx="3218688" cy="181051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7924648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1048360" y="3858768"/>
            <a:ext cx="320040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8" name="Text 12"/>
          <p:cNvSpPr/>
          <p:nvPr/>
        </p:nvSpPr>
        <p:spPr>
          <a:xfrm>
            <a:off x="1048360" y="3858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業態転換後のイメージ（完成予想パース）</a:t>
            </a:r>
            <a:endParaRPr lang="en-US" sz="950" dirty="0"/>
          </a:p>
        </p:txBody>
      </p:sp>
      <p:pic>
        <p:nvPicPr>
          <p:cNvPr id="19" name="Image 4" descr="/home/user/suzuki-ceo/selfcafe-miraiya-deck/assets/photos/.crops/tsuchiura-after-exterior-352x198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360" y="4151376"/>
            <a:ext cx="3218688" cy="1810512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048360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21" name="Image 5" descr="/home/user/suzuki-ceo/selfcafe-miraiya-deck/assets/photos/.crops/tsuchiura-after-overview-352x198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6504" y="4151376"/>
            <a:ext cx="3218688" cy="181051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4486504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23" name="Image 6" descr="/home/user/suzuki-ceo/selfcafe-miraiya-deck/assets/photos/.crops/tsuchiura-after-cafe-352x198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4648" y="4151376"/>
            <a:ext cx="3218688" cy="1810512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7924648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16"/>
          <p:cNvSpPr/>
          <p:nvPr/>
        </p:nvSpPr>
        <p:spPr>
          <a:xfrm>
            <a:off x="1048360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店頭（モール通路側）</a:t>
            </a:r>
            <a:endParaRPr lang="en-US" sz="900" dirty="0"/>
          </a:p>
        </p:txBody>
      </p:sp>
      <p:sp>
        <p:nvSpPr>
          <p:cNvPr id="26" name="Text 17"/>
          <p:cNvSpPr/>
          <p:nvPr/>
        </p:nvSpPr>
        <p:spPr>
          <a:xfrm>
            <a:off x="4486504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売場全景（児童書側から）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7924648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カフェ区画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660197" y="607161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パースは完成予想図です。什器の再利用可否・工事範囲は現地確認のうえ確定します。実際の仕上がりは設計内容により異なります。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業態転換イメージ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秋田店のカフェ区画は、こう変わります。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同じアングルでの対比です。書店の売場構成はそのままに、カフェ区画だけを入れ替えます。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8E8B84"/>
          </a:solidFill>
          <a:ln/>
        </p:spPr>
      </p:sp>
      <p:sp>
        <p:nvSpPr>
          <p:cNvPr id="10" name="Text 7"/>
          <p:cNvSpPr/>
          <p:nvPr/>
        </p:nvSpPr>
        <p:spPr>
          <a:xfrm>
            <a:off x="660197" y="165140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60440" y="1651406"/>
            <a:ext cx="320040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2" name="Text 9"/>
          <p:cNvSpPr/>
          <p:nvPr/>
        </p:nvSpPr>
        <p:spPr>
          <a:xfrm>
            <a:off x="6260440" y="165140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業態転換後のイメージ（完成予想パース）</a:t>
            </a:r>
            <a:endParaRPr lang="en-US" sz="950" dirty="0"/>
          </a:p>
        </p:txBody>
      </p:sp>
      <p:pic>
        <p:nvPicPr>
          <p:cNvPr id="13" name="Image 1" descr="/home/user/suzuki-ceo/selfcafe-miraiya-deck/assets/photos/.crops/akita-before-exterior-576x43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962302"/>
            <a:ext cx="5271059" cy="3953294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0197" y="1962302"/>
            <a:ext cx="5271059" cy="3953294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5" name="Image 2" descr="/home/user/suzuki-ceo/selfcafe-miraiya-deck/assets/photos/.crops/akita-after-exterior-576x43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440" y="1962302"/>
            <a:ext cx="5271059" cy="3953294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60440" y="1962302"/>
            <a:ext cx="5271059" cy="3953294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パースは完成予想図です。内装は書店との一体感を重視した仕様としています。既存什器・造作の再利用可否および工事範囲は現地確認のうえ確定し、実際の仕上がりは設計内容により異なります。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既存店の実績から積み上げた想定です。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商業施設内・映画館隣接・館内の通行量を踏まえ、書店併設2店の実績平均の約1.9倍を想定しました。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坪数別シミュレーション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30坪でも、お受取額はほとんど変わりません。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60坪・40坪・30坪の3パターンで試算しました。販売杯数を決めるのは坪数ではなく、館内の来客数だからです。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287622"/>
                <a:gridCol w="219456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2,550杯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2,400杯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302,000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3,624,000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4901184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4901184"/>
            <a:ext cx="10249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この試算からは、30坪でのご提案をお薦めします。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60坪との月々のお受取額の差は3.2万円。残りの区画は売場など他の用途にご活用いただけます。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0197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3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5" y="5760720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45413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杯数は坪数ではなく来客数で決まります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1245413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館内の通行量と映画館の待ち時間需要が販売杯数を左右するため、区画を広げても杯数は大きく増えません。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6233008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7" name="Image 2" descr="/home/user/suzuki-ceo/selfcafe-miraiya-deck/assets/icons/LuLandPlot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76" y="5760720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8224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平日ベースなら30坪・約59席で十分です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6818224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土日は高稼働が見込めますが、平日の来店ペースであれば30坪の席数で受けきれると想定しています。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杯数の置き方：60坪は秋田店（62.97坪）の想定85杯、30坪は土浦店の想定75杯と同水準とし、40坪はその中間の80杯としました。想定値であり保証するものではありません。金額は税抜。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ご参考：FCプラン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貴社が運営主体となる場合の試算です。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初期投資は必要ですが、売上・利益はすべて貴社のものになります（パートナー制度＝FC加盟）。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売上高（1杯420円 × 杯数 × 30日）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想定販売杯数（1日）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ドリンク原料（20％）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▲214,200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▲201,600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▲189,000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清掃業務委託費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水道光熱費（書店営業時間ベース）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▲70,000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機械使用料（マシン38,000円×2台・決済端末5,000円×2台）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セキュリティ費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ロイヤリティ（一律・売上連動なし）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雑費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家賃（既存区画のため）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償却前営業利益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481328"/>
          </a:xfrm>
          <a:prstGeom prst="roundRect">
            <a:avLst>
              <a:gd name="adj" fmla="val 3704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720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初期投資（目安）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28062"/>
            <a:ext cx="25685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</a:t>
            </a:r>
            <a:r>
              <a:rPr lang="en-US" sz="1500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〜 </a:t>
            </a: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r>
              <a:rPr lang="en-US" sz="13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8706917" y="2766974"/>
            <a:ext cx="25685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加盟金100万円・工事費・出店準備金・保証金・諸経費を含む総投資予算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8450885" y="3279038"/>
            <a:ext cx="3080614" cy="1572768"/>
          </a:xfrm>
          <a:prstGeom prst="roundRect">
            <a:avLst>
              <a:gd name="adj" fmla="val 3488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706917" y="34436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投資回収の目安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725205" y="375452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9228125" y="375452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1,200万円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0261397" y="3754526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21ヶ月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725205" y="410199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9228125" y="410199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1,000万円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10261397" y="4101998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19ヶ月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725205" y="444947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9228125" y="444947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900万円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10261397" y="4449470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18ヶ月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450885" y="4961534"/>
            <a:ext cx="3080614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7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8629" y="5135270"/>
            <a:ext cx="310896" cy="31089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090965" y="4961534"/>
            <a:ext cx="22027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清掃を貴社スタッフで行う場合は、委託費3万円が不要となり、その分利益が増えます。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償却前営業利益（減価償却前）。人件費は未計上です。家賃は既存区画をご利用いただく前提のため0円で試算しています。水道光熱費は書店営業時間ベース（空調・照明は書店と共用のため24H営業想定より低く置いています）。投資回収は坪数別の総投資予算を月次利益で除した目安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2方式の比較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同じ条件で、2つの方式を並べました。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同じ販売杯数の想定で業務委託型とFCプランを比較しています。ご検討の材料としてご覧ください。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67512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月次のお受取額・営業利益の比較（万円）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7319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60坪（85杯）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60981" y="2245766"/>
            <a:ext cx="213238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13" name="Text 10"/>
          <p:cNvSpPr/>
          <p:nvPr/>
        </p:nvSpPr>
        <p:spPr>
          <a:xfrm>
            <a:off x="2342693" y="2218334"/>
            <a:ext cx="20409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566514" y="221833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31.8 万円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360981" y="2538374"/>
            <a:ext cx="382889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16" name="Text 13"/>
          <p:cNvSpPr/>
          <p:nvPr/>
        </p:nvSpPr>
        <p:spPr>
          <a:xfrm>
            <a:off x="2342693" y="2510942"/>
            <a:ext cx="3737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263030" y="251094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57.1 万円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34517" y="315102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40坪（80杯）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360981" y="3123590"/>
            <a:ext cx="202509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0" name="Text 17"/>
          <p:cNvSpPr/>
          <p:nvPr/>
        </p:nvSpPr>
        <p:spPr>
          <a:xfrm>
            <a:off x="2342693" y="3096158"/>
            <a:ext cx="19336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459224" y="309615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30.2 万円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360981" y="3416198"/>
            <a:ext cx="355396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23" name="Text 20"/>
          <p:cNvSpPr/>
          <p:nvPr/>
        </p:nvSpPr>
        <p:spPr>
          <a:xfrm>
            <a:off x="2342693" y="3388766"/>
            <a:ext cx="3462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988101" y="338876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53.0 万円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4517" y="402884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30坪（75杯）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360981" y="4001414"/>
            <a:ext cx="1917802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7" name="Text 24"/>
          <p:cNvSpPr/>
          <p:nvPr/>
        </p:nvSpPr>
        <p:spPr>
          <a:xfrm>
            <a:off x="2342693" y="3973982"/>
            <a:ext cx="18263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351934" y="397398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28.6 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360981" y="4294022"/>
            <a:ext cx="3285744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30" name="Text 27"/>
          <p:cNvSpPr/>
          <p:nvPr/>
        </p:nvSpPr>
        <p:spPr>
          <a:xfrm>
            <a:off x="2342693" y="4266590"/>
            <a:ext cx="319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719877" y="426659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49.0 万円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34517" y="454091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業務委託型＝未来屋書店様のお受取額（売上の25％＋月額固定5万円）／FCプラン＝未来屋書店様の償却前営業利益（人件費未計上・家賃0円）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19365" y="1651406"/>
          <a:ext cx="381213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98448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7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FCプラン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30〜50万円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900〜1,200万円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通信費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消耗品（清掃用品）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売上変動リスク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投資回収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18〜21ヶ月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30"/>
          <p:cNvSpPr/>
          <p:nvPr/>
        </p:nvSpPr>
        <p:spPr>
          <a:xfrm>
            <a:off x="660197" y="5126126"/>
            <a:ext cx="10871302" cy="786384"/>
          </a:xfrm>
          <a:prstGeom prst="roundRect">
            <a:avLst>
              <a:gd name="adj" fmla="val 6977"/>
            </a:avLst>
          </a:prstGeom>
          <a:solidFill>
            <a:srgbClr val="0C5230"/>
          </a:solidFill>
          <a:ln/>
        </p:spPr>
      </p:sp>
      <p:sp>
        <p:nvSpPr>
          <p:cNvPr id="35" name="Text 31"/>
          <p:cNvSpPr/>
          <p:nvPr/>
        </p:nvSpPr>
        <p:spPr>
          <a:xfrm>
            <a:off x="971093" y="5126126"/>
            <a:ext cx="1024951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まずは業務委託型での切り替えをご提案しております。</a:t>
            </a: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初期費用を抑えて実績をご確認いただいたうえで、FCプランへの切り替えもご相談いただけます。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60197" y="604052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いずれも想定値であり、売上・利益を保証するものではありません。金額はすべて税抜・目安です。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2026-09-15T07:45:45Z</dcterms:created>
  <dcterms:modified xsi:type="dcterms:W3CDTF">2026-09-15T07:45:45Z</dcterms:modified>
</cp:coreProperties>
</file>