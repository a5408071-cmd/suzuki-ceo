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店舗数</c:v>
                </c:pt>
              </c:strCache>
            </c:strRef>
          </c:tx>
          <c:spPr>
            <a:solidFill>
              <a:srgbClr val="106838">
                <a:alpha val="18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tickLblSkip val="1"/>
      </c:catAx>
      <c:valAx>
        <c:axId val="2094734552"/>
        <c:scaling>
          <c:orientation val="minMax"/>
          <c:max val="80"/>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c:v>
                </c:pt>
              </c:strCache>
            </c:strRef>
          </c:tx>
          <c:spPr>
            <a:solidFill>
              <a:srgbClr val="C9DFD2"/>
            </a:solidFill>
            <a:effectLst/>
          </c:spPr>
          <c:invertIfNegative val="0"/>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dPt>
            <c:idx val="0"/>
            <c:invertIfNegative val="0"/>
            <c:bubble3D val="0"/>
            <c:spPr>
              <a:solidFill>
                <a:srgbClr val="C9DFD2"/>
              </a:solidFill>
              <a:effectLst/>
            </c:spPr>
          </c:dPt>
          <c:dPt>
            <c:idx val="1"/>
            <c:invertIfNegative val="0"/>
            <c:bubble3D val="0"/>
            <c:spPr>
              <a:solidFill>
                <a:srgbClr val="BBD6C6"/>
              </a:solidFill>
              <a:effectLst/>
            </c:spPr>
          </c:dPt>
          <c:dPt>
            <c:idx val="2"/>
            <c:invertIfNegative val="0"/>
            <c:bubble3D val="0"/>
            <c:spPr>
              <a:solidFill>
                <a:srgbClr val="A9C9B7"/>
              </a:solidFill>
              <a:effectLst/>
            </c:spPr>
          </c:dPt>
          <c:dPt>
            <c:idx val="3"/>
            <c:invertIfNegative val="0"/>
            <c:bubble3D val="0"/>
            <c:spPr>
              <a:solidFill>
                <a:srgbClr val="93BBA4"/>
              </a:solidFill>
              <a:effectLst/>
            </c:spPr>
          </c:dPt>
          <c:dPt>
            <c:idx val="4"/>
            <c:invertIfNegative val="0"/>
            <c:bubble3D val="0"/>
            <c:spPr>
              <a:solidFill>
                <a:srgbClr val="79A98D"/>
              </a:solidFill>
              <a:effectLst/>
            </c:spPr>
          </c:dPt>
          <c:dPt>
            <c:idx val="5"/>
            <c:invertIfNegative val="0"/>
            <c:bubble3D val="0"/>
            <c:spPr>
              <a:solidFill>
                <a:srgbClr val="5C9573"/>
              </a:solidFill>
              <a:effectLst/>
            </c:spPr>
          </c:dPt>
          <c:dPt>
            <c:idx val="6"/>
            <c:invertIfNegative val="0"/>
            <c:bubble3D val="0"/>
            <c:spPr>
              <a:solidFill>
                <a:srgbClr val="348055"/>
              </a:solidFill>
              <a:effectLst/>
            </c:spPr>
          </c:dPt>
          <c:dPt>
            <c:idx val="7"/>
            <c:invertIfNegative val="0"/>
            <c:bubble3D val="0"/>
            <c:spPr>
              <a:solidFill>
                <a:srgbClr val="106838"/>
              </a:solidFill>
              <a:effectLst/>
            </c:spPr>
          </c:dPt>
          <c:cat>
            <c:multiLvlStrRef>
              <c:f>Sheet1!$A$2:$A$9</c:f>
              <c:multiLvlStrCache>
                <c:ptCount val="8"/>
                <c:lvl>
                  <c:pt idx="0">
                    <c:v>23.01</c:v>
                  </c:pt>
                  <c:pt idx="1">
                    <c:v>23.07</c:v>
                  </c:pt>
                  <c:pt idx="2">
                    <c:v>24.01</c:v>
                  </c:pt>
                  <c:pt idx="3">
                    <c:v>24.07</c:v>
                  </c:pt>
                  <c:pt idx="4">
                    <c:v>25.01</c:v>
                  </c:pt>
                  <c:pt idx="5">
                    <c:v>25.07</c:v>
                  </c:pt>
                  <c:pt idx="6">
                    <c:v>26.01</c:v>
                  </c:pt>
                  <c:pt idx="7">
                    <c:v>26.07</c:v>
                  </c:pt>
                </c:lvl>
              </c:multiLvlStrCache>
            </c:multiLvlStrRef>
          </c:cat>
          <c:val>
            <c:numRef>
              <c:f>Sheet1!$B$2:$B$9</c:f>
              <c:numCache>
                <c:formatCode>General</c:formatCode>
                <c:ptCount val="8"/>
                <c:pt idx="0">
                  <c:v>895</c:v>
                </c:pt>
                <c:pt idx="1">
                  <c:v>1419</c:v>
                </c:pt>
                <c:pt idx="2">
                  <c:v>9722</c:v>
                </c:pt>
                <c:pt idx="3">
                  <c:v>26383</c:v>
                </c:pt>
                <c:pt idx="4">
                  <c:v>46017</c:v>
                </c:pt>
                <c:pt idx="5">
                  <c:v>74260</c:v>
                </c:pt>
                <c:pt idx="6">
                  <c:v>80293</c:v>
                </c:pt>
                <c:pt idx="7">
                  <c:v>101343</c:v>
                </c:pt>
              </c:numCache>
            </c:numRef>
          </c:val>
        </c:ser>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20000"/>
          <c:min val="0"/>
        </c:scaling>
        <c:delete val="0"/>
        <c:axPos val="l"/>
        <c:majorGridlines>
          <c:spPr>
            <a:ln w="9525" cap="flat">
              <a:solidFill>
                <a:srgbClr val="EFEAE0"/>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40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3.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jpg"/><Relationship Id="rId4" Type="http://schemas.openxmlformats.org/officeDocument/2006/relationships/image" Target="../media/image-25-4.jp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3.png"/><Relationship Id="rId5" Type="http://schemas.openxmlformats.org/officeDocument/2006/relationships/image" Target="../media/image-27-3.png"/><Relationship Id="rId6" Type="http://schemas.openxmlformats.org/officeDocument/2006/relationships/image" Target="../media/image-27-3.png"/><Relationship Id="rId7" Type="http://schemas.openxmlformats.org/officeDocument/2006/relationships/image" Target="../media/image-27-3.png"/><Relationship Id="rId8" Type="http://schemas.openxmlformats.org/officeDocument/2006/relationships/image" Target="../media/image-27-8.png"/><Relationship Id="rId9" Type="http://schemas.openxmlformats.org/officeDocument/2006/relationships/image" Target="../media/image-27-3.png"/><Relationship Id="rId10" Type="http://schemas.openxmlformats.org/officeDocument/2006/relationships/image" Target="../media/image-27-3.png"/><Relationship Id="rId11" Type="http://schemas.openxmlformats.org/officeDocument/2006/relationships/image" Target="../media/image-27-3.png"/><Relationship Id="rId12" Type="http://schemas.openxmlformats.org/officeDocument/2006/relationships/image" Target="../media/image-27-3.png"/><Relationship Id="rId13" Type="http://schemas.openxmlformats.org/officeDocument/2006/relationships/image" Target="../media/image-27-3.png"/><Relationship Id="rId14" Type="http://schemas.openxmlformats.org/officeDocument/2006/relationships/image" Target="../media/image-27-14.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pPr indent="0" marL="0">
              <a:buNone/>
            </a:pP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pPr indent="0" marL="0">
              <a:buNone/>
            </a:pP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pPr indent="0" marL="0">
              <a:buNone/>
            </a:pP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p02-storefront.jpg">    </p:cNvPr>
          <p:cNvPicPr>
            <a:picLocks noChangeAspect="1"/>
          </p:cNvPicPr>
          <p:nvPr/>
        </p:nvPicPr>
        <p:blipFill>
          <a:blip r:embed="rId2"/>
          <a:srcRect l="0" r="0" t="0" b="0"/>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pPr indent="0" marL="0">
              <a:buNone/>
            </a:pP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pPr indent="0" marL="0">
              <a:buNone/>
            </a:pP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pPr indent="0" marL="0">
              <a:buNone/>
            </a:pP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pPr indent="0" marL="0">
              <a:buNone/>
            </a:pP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pPr indent="0" marL="0">
              <a:buNone/>
            </a:pP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pPr indent="0" marL="0">
              <a:buNone/>
            </a:pP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p05-install.jpg">    </p:cNvPr>
          <p:cNvPicPr>
            <a:picLocks noChangeAspect="1"/>
          </p:cNvPicPr>
          <p:nvPr/>
        </p:nvPicPr>
        <p:blipFill>
          <a:blip r:embed="rId10"/>
          <a:srcRect l="0" r="0" t="0" b="0"/>
          <a:stretch/>
        </p:blipFill>
        <p:spPr>
          <a:xfrm>
            <a:off x="660197" y="4924958"/>
            <a:ext cx="10871302" cy="1481328"/>
          </a:xfrm>
          <a:prstGeom prst="rect">
            <a:avLst/>
          </a:prstGeom>
        </p:spPr>
      </p:pic>
      <p:sp>
        <p:nvSpPr>
          <p:cNvPr id="44" name="Shape 32"/>
          <p:cNvSpPr/>
          <p:nvPr/>
        </p:nvSpPr>
        <p:spPr>
          <a:xfrm>
            <a:off x="660197" y="4924958"/>
            <a:ext cx="10871302" cy="1481328"/>
          </a:xfrm>
          <a:prstGeom prst="rect">
            <a:avLst/>
          </a:prstGeom>
          <a:ln w="12700">
            <a:solidFill>
              <a:srgbClr val="D8D2C6"/>
            </a:solidFill>
            <a:prstDash val="solid"/>
          </a:ln>
        </p:spPr>
      </p:sp>
      <p:sp>
        <p:nvSpPr>
          <p:cNvPr id="45" name="Shape 33"/>
          <p:cNvSpPr/>
          <p:nvPr/>
        </p:nvSpPr>
        <p:spPr>
          <a:xfrm>
            <a:off x="788213" y="5949086"/>
            <a:ext cx="3058160" cy="329184"/>
          </a:xfrm>
          <a:prstGeom prst="roundRect">
            <a:avLst>
              <a:gd name="adj" fmla="val 13889"/>
            </a:avLst>
          </a:prstGeom>
          <a:solidFill>
            <a:srgbClr val="FFFFFF">
              <a:alpha val="90000"/>
            </a:srgbClr>
          </a:solidFill>
          <a:ln/>
        </p:spPr>
      </p:sp>
      <p:sp>
        <p:nvSpPr>
          <p:cNvPr id="46" name="Text 34"/>
          <p:cNvSpPr/>
          <p:nvPr/>
        </p:nvSpPr>
        <p:spPr>
          <a:xfrm>
            <a:off x="952805" y="5949086"/>
            <a:ext cx="27838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自社物件への設置イメージ／併設店舗の外観</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pPr indent="0" marL="0">
              <a:buNone/>
            </a:pP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6309360"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42078"/>
            <a:ext cx="5650992" cy="402336"/>
          </a:xfrm>
          <a:prstGeom prst="rect">
            <a:avLst/>
          </a:prstGeom>
          <a:noFill/>
          <a:ln/>
        </p:spPr>
        <p:txBody>
          <a:bodyPr wrap="square" lIns="0" tIns="0" rIns="0" bIns="0" rtlCol="0" anchor="ctr"/>
          <a:lstStyle/>
          <a:p>
            <a:pPr indent="0" marL="0">
              <a:buNone/>
            </a:pPr>
            <a:r>
              <a:rPr lang="en-US" sz="2100" b="1" dirty="0">
                <a:solidFill>
                  <a:srgbClr val="FFFFFF"/>
                </a:solidFill>
                <a:latin typeface="Yu Gothic" pitchFamily="34" charset="0"/>
                <a:ea typeface="Yu Gothic" pitchFamily="34" charset="-122"/>
                <a:cs typeface="Yu Gothic" pitchFamily="34" charset="-120"/>
              </a:rPr>
              <a:t>地方都市ほど、競合がいない。</a:t>
            </a:r>
            <a:endParaRPr lang="en-US" sz="2100" dirty="0"/>
          </a:p>
        </p:txBody>
      </p:sp>
      <p:sp>
        <p:nvSpPr>
          <p:cNvPr id="42" name="Text 30"/>
          <p:cNvSpPr/>
          <p:nvPr/>
        </p:nvSpPr>
        <p:spPr>
          <a:xfrm>
            <a:off x="989381" y="5180990"/>
            <a:ext cx="5650992" cy="676656"/>
          </a:xfrm>
          <a:prstGeom prst="rect">
            <a:avLst/>
          </a:prstGeom>
          <a:noFill/>
          <a:ln/>
        </p:spPr>
        <p:txBody>
          <a:bodyPr wrap="square" lIns="0" tIns="0" rIns="0" bIns="0" rtlCol="0" anchor="t"/>
          <a:lstStyle/>
          <a:p>
            <a:pPr indent="0" marL="0">
              <a:lnSpc>
                <a:spcPct val="142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都市部に比べて同種の施設が少なく、開店直後から認知が広がりやすい傾向があります。岩手県 盛岡駅前店は1日80杯ペースで稼働しています（出店事例のページ参照）。</a:t>
            </a:r>
            <a:endParaRPr lang="en-US" sz="1100" dirty="0"/>
          </a:p>
        </p:txBody>
      </p:sp>
      <p:pic>
        <p:nvPicPr>
          <p:cNvPr id="43" name="Image 10" descr="/home/user/suzuki-ceo/selfcafe-partner-deck/assets/icons/LuMapPin-pale.png">    </p:cNvPr>
          <p:cNvPicPr>
            <a:picLocks noChangeAspect="1"/>
          </p:cNvPicPr>
          <p:nvPr/>
        </p:nvPicPr>
        <p:blipFill>
          <a:blip r:embed="rId11"/>
          <a:stretch>
            <a:fillRect/>
          </a:stretch>
        </p:blipFill>
        <p:spPr>
          <a:xfrm>
            <a:off x="6073445" y="4540910"/>
            <a:ext cx="402336" cy="402336"/>
          </a:xfrm>
          <a:prstGeom prst="rect">
            <a:avLst/>
          </a:prstGeom>
        </p:spPr>
      </p:pic>
      <p:sp>
        <p:nvSpPr>
          <p:cNvPr id="44" name="Shape 31"/>
          <p:cNvSpPr/>
          <p:nvPr/>
        </p:nvSpPr>
        <p:spPr>
          <a:xfrm>
            <a:off x="7353605" y="4266590"/>
            <a:ext cx="4177894" cy="1773936"/>
          </a:xfrm>
          <a:prstGeom prst="roundRect">
            <a:avLst>
              <a:gd name="adj" fmla="val 2577"/>
            </a:avLst>
          </a:prstGeom>
          <a:solidFill>
            <a:srgbClr val="F4F2EE"/>
          </a:solidFill>
          <a:ln w="12700">
            <a:solidFill>
              <a:srgbClr val="DED8CC"/>
            </a:solidFill>
            <a:prstDash val="dash"/>
          </a:ln>
        </p:spPr>
      </p:sp>
      <p:pic>
        <p:nvPicPr>
          <p:cNvPr id="45" name="Image 11" descr="/home/user/suzuki-ceo/selfcafe-partner-deck/assets/icons/LuImage-muted.png">    </p:cNvPr>
          <p:cNvPicPr>
            <a:picLocks noChangeAspect="1"/>
          </p:cNvPicPr>
          <p:nvPr/>
        </p:nvPicPr>
        <p:blipFill>
          <a:blip r:embed="rId12"/>
          <a:stretch>
            <a:fillRect/>
          </a:stretch>
        </p:blipFill>
        <p:spPr>
          <a:xfrm>
            <a:off x="9247419" y="4879238"/>
            <a:ext cx="390266" cy="390266"/>
          </a:xfrm>
          <a:prstGeom prst="rect">
            <a:avLst/>
          </a:prstGeom>
        </p:spPr>
      </p:pic>
      <p:sp>
        <p:nvSpPr>
          <p:cNvPr id="46" name="Text 32"/>
          <p:cNvSpPr/>
          <p:nvPr/>
        </p:nvSpPr>
        <p:spPr>
          <a:xfrm>
            <a:off x="7426757" y="5306080"/>
            <a:ext cx="403159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7" name="Text 33"/>
          <p:cNvSpPr/>
          <p:nvPr/>
        </p:nvSpPr>
        <p:spPr>
          <a:xfrm>
            <a:off x="7426757" y="5498104"/>
            <a:ext cx="4031590"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セミナー・イベントでの利用／物販の様子</a:t>
            </a:r>
            <a:endParaRPr lang="en-US" sz="950" dirty="0"/>
          </a:p>
        </p:txBody>
      </p:sp>
      <p:sp>
        <p:nvSpPr>
          <p:cNvPr id="48" name="Text 34"/>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pPr indent="0" marL="0">
              <a:buNone/>
            </a:pP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pPr indent="0" marL="0">
              <a:buNone/>
            </a:pP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9044330" y="1852574"/>
            <a:ext cx="2212848" cy="384048"/>
          </a:xfrm>
          <a:prstGeom prst="roundRect">
            <a:avLst>
              <a:gd name="adj" fmla="val 50000"/>
            </a:avLst>
          </a:prstGeom>
          <a:solidFill>
            <a:srgbClr val="A8761F"/>
          </a:solidFill>
          <a:ln/>
        </p:spPr>
      </p:sp>
      <p:sp>
        <p:nvSpPr>
          <p:cNvPr id="13" name="Text 10"/>
          <p:cNvSpPr/>
          <p:nvPr/>
        </p:nvSpPr>
        <p:spPr>
          <a:xfrm>
            <a:off x="9044330" y="1852574"/>
            <a:ext cx="22128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46</a:t>
            </a:r>
            <a:pPr algn="ctr" indent="0" marL="0">
              <a:buNone/>
            </a:pPr>
            <a:r>
              <a:rPr lang="en-US" sz="1050" dirty="0">
                <a:solidFill>
                  <a:srgbClr val="FFFFFF"/>
                </a:solidFill>
                <a:latin typeface="Yu Gothic" pitchFamily="34" charset="0"/>
                <a:ea typeface="Yu Gothic" pitchFamily="34" charset="-122"/>
                <a:cs typeface="Yu Gothic" pitchFamily="34" charset="-120"/>
              </a:rPr>
              <a:t> ヶ月で </a:t>
            </a:r>
            <a:pPr algn="ctr" indent="0" marL="0">
              <a:buNone/>
            </a:pPr>
            <a:r>
              <a:rPr lang="en-US" sz="1300" b="1" dirty="0">
                <a:solidFill>
                  <a:srgbClr val="FFFFFF"/>
                </a:solidFill>
                <a:latin typeface="Arial" pitchFamily="34" charset="0"/>
                <a:ea typeface="Arial" pitchFamily="34" charset="-122"/>
                <a:cs typeface="Arial" pitchFamily="34" charset="-120"/>
              </a:rPr>
              <a:t>71</a:t>
            </a:r>
            <a:pPr algn="ctr" indent="0" marL="0">
              <a:buNone/>
            </a:pPr>
            <a:r>
              <a:rPr lang="en-US" sz="1050" dirty="0">
                <a:solidFill>
                  <a:srgbClr val="FFFFFF"/>
                </a:solidFill>
                <a:latin typeface="Yu Gothic" pitchFamily="34" charset="0"/>
                <a:ea typeface="Yu Gothic" pitchFamily="34" charset="-122"/>
                <a:cs typeface="Yu Gothic" pitchFamily="34" charset="-120"/>
              </a:rPr>
              <a:t> 倍  </a:t>
            </a:r>
            <a:pPr algn="ctr" indent="0" marL="0">
              <a:buNone/>
            </a:pPr>
            <a:r>
              <a:rPr lang="en-US" sz="850" b="1" dirty="0">
                <a:solidFill>
                  <a:srgbClr val="F3E3C2"/>
                </a:solidFill>
                <a:latin typeface="Arial" pitchFamily="34" charset="0"/>
                <a:ea typeface="Arial" pitchFamily="34" charset="-122"/>
                <a:cs typeface="Arial" pitchFamily="34" charset="-120"/>
              </a:rPr>
              <a:t>GROWTH</a:t>
            </a:r>
            <a:endParaRPr lang="en-US" sz="13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5226143" y="2730398"/>
            <a:ext cx="4783373" cy="1042416"/>
          </a:xfrm>
          <a:prstGeom prst="line">
            <a:avLst/>
          </a:prstGeom>
          <a:noFill/>
          <a:ln w="38100">
            <a:solidFill>
              <a:srgbClr val="A8761F"/>
            </a:solidFill>
            <a:prstDash val="solid"/>
            <a:tailEnd type="triangle"/>
          </a:ln>
        </p:spPr>
      </p:sp>
      <p:sp>
        <p:nvSpPr>
          <p:cNvPr id="16" name="Shape 12"/>
          <p:cNvSpPr/>
          <p:nvPr/>
        </p:nvSpPr>
        <p:spPr>
          <a:xfrm>
            <a:off x="10813694" y="2556205"/>
            <a:ext cx="137160" cy="137160"/>
          </a:xfrm>
          <a:prstGeom prst="ellipse">
            <a:avLst/>
          </a:prstGeom>
          <a:solidFill>
            <a:srgbClr val="A8761F"/>
          </a:solidFill>
          <a:ln w="19050">
            <a:solidFill>
              <a:srgbClr val="FFFFFF"/>
            </a:solidFill>
            <a:prstDash val="solid"/>
          </a:ln>
        </p:spPr>
      </p:sp>
      <p:sp>
        <p:nvSpPr>
          <p:cNvPr id="17" name="Shape 13"/>
          <p:cNvSpPr/>
          <p:nvPr/>
        </p:nvSpPr>
        <p:spPr>
          <a:xfrm>
            <a:off x="9218066" y="2789377"/>
            <a:ext cx="1536192" cy="365760"/>
          </a:xfrm>
          <a:prstGeom prst="roundRect">
            <a:avLst>
              <a:gd name="adj" fmla="val 12500"/>
            </a:avLst>
          </a:prstGeom>
          <a:solidFill>
            <a:srgbClr val="0C5230"/>
          </a:solidFill>
          <a:ln/>
        </p:spPr>
      </p:sp>
      <p:sp>
        <p:nvSpPr>
          <p:cNvPr id="18" name="Text 14"/>
          <p:cNvSpPr/>
          <p:nvPr/>
        </p:nvSpPr>
        <p:spPr>
          <a:xfrm>
            <a:off x="9218066" y="2789377"/>
            <a:ext cx="1536192" cy="365760"/>
          </a:xfrm>
          <a:prstGeom prst="rect">
            <a:avLst/>
          </a:prstGeom>
          <a:noFill/>
          <a:ln/>
        </p:spPr>
        <p:txBody>
          <a:bodyPr wrap="square" lIns="0" tIns="0" rIns="0" bIns="0" rtlCol="0" anchor="ctr"/>
          <a:lstStyle/>
          <a:p>
            <a:pPr algn="ctr" indent="0" marL="0">
              <a:buNone/>
            </a:pPr>
            <a:r>
              <a:rPr lang="en-US" sz="900" dirty="0">
                <a:solidFill>
                  <a:srgbClr val="8CC5A5"/>
                </a:solidFill>
                <a:latin typeface="Yu Gothic" pitchFamily="34" charset="0"/>
                <a:ea typeface="Yu Gothic" pitchFamily="34" charset="-122"/>
                <a:cs typeface="Yu Gothic" pitchFamily="34" charset="-120"/>
              </a:rPr>
              <a:t>現在 </a:t>
            </a:r>
            <a:pPr algn="ctr" indent="0" marL="0">
              <a:buNone/>
            </a:pPr>
            <a:r>
              <a:rPr lang="en-US" sz="1400" b="1" dirty="0">
                <a:solidFill>
                  <a:srgbClr val="FFFFFF"/>
                </a:solidFill>
                <a:latin typeface="Arial" pitchFamily="34" charset="0"/>
                <a:ea typeface="Arial" pitchFamily="34" charset="-122"/>
                <a:cs typeface="Arial" pitchFamily="34" charset="-120"/>
              </a:rPr>
              <a:t>71</a:t>
            </a:r>
            <a:pPr algn="ctr" indent="0" marL="0">
              <a:buNone/>
            </a:pPr>
            <a:r>
              <a:rPr lang="en-US" sz="950" b="1" dirty="0">
                <a:solidFill>
                  <a:srgbClr val="FFFFFF"/>
                </a:solidFill>
                <a:latin typeface="Yu Gothic" pitchFamily="34" charset="0"/>
                <a:ea typeface="Yu Gothic" pitchFamily="34" charset="-122"/>
                <a:cs typeface="Yu Gothic" pitchFamily="34" charset="-120"/>
              </a:rPr>
              <a:t> 店舗</a:t>
            </a:r>
            <a:endParaRPr lang="en-US" sz="900" dirty="0"/>
          </a:p>
        </p:txBody>
      </p:sp>
      <p:sp>
        <p:nvSpPr>
          <p:cNvPr id="19" name="Shape 15"/>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21" name="Text 17"/>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4" name="Text 20"/>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7" name="Text 23"/>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30" name="Text 26"/>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32" name="Text 28"/>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3" name="Text 29"/>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4" name="Shape 30"/>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5" name="Text 31"/>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6" name="Text 32"/>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pPr algn="ctr" indent="0" marL="0">
              <a:buNone/>
            </a:pP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7" name="Text 33"/>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pPr indent="0" marL="0">
              <a:buNone/>
            </a:pPr>
            <a:r>
              <a:rPr lang="en-US" sz="1200" b="1" dirty="0">
                <a:solidFill>
                  <a:srgbClr val="106838"/>
                </a:solidFill>
                <a:latin typeface="Yu Gothic" pitchFamily="34" charset="0"/>
                <a:ea typeface="Yu Gothic" pitchFamily="34" charset="-122"/>
                <a:cs typeface="Yu Gothic" pitchFamily="34" charset="-120"/>
              </a:rPr>
              <a:t>11都府県・全国71店舗</a:t>
            </a:r>
            <a:pPr indent="0" marL="0">
              <a:buNone/>
            </a:pPr>
            <a:r>
              <a:rPr lang="en-US" sz="1200" dirty="0">
                <a:solidFill>
                  <a:srgbClr val="0A3D23"/>
                </a:solidFill>
                <a:latin typeface="Yu Gothic" pitchFamily="34" charset="0"/>
                <a:ea typeface="Yu Gothic" pitchFamily="34" charset="-122"/>
                <a:cs typeface="Yu Gothic" pitchFamily="34" charset="-120"/>
              </a:rPr>
              <a:t>。年内にさらに </a:t>
            </a:r>
            <a:pPr indent="0" marL="0">
              <a:buNone/>
            </a:pPr>
            <a:r>
              <a:rPr lang="en-US" sz="1200" b="1" dirty="0">
                <a:solidFill>
                  <a:srgbClr val="106838"/>
                </a:solidFill>
                <a:latin typeface="Yu Gothic" pitchFamily="34" charset="0"/>
                <a:ea typeface="Yu Gothic" pitchFamily="34" charset="-122"/>
                <a:cs typeface="Yu Gothic" pitchFamily="34" charset="-120"/>
              </a:rPr>
              <a:t>10店舗以上</a:t>
            </a:r>
            <a:pPr indent="0" marL="0">
              <a:buNone/>
            </a:pP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8" name="Text 34"/>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graphicFrame>
        <p:nvGraphicFramePr>
          <p:cNvPr id="12" name="Chart 0" descr=""/>
          <p:cNvGraphicFramePr/>
          <p:nvPr/>
        </p:nvGraphicFramePr>
        <p:xfrm>
          <a:off x="806501" y="2382926"/>
          <a:ext cx="7315200" cy="2779776"/>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flipV="1">
            <a:off x="3001061" y="2821838"/>
            <a:ext cx="4096512" cy="1828800"/>
          </a:xfrm>
          <a:prstGeom prst="line">
            <a:avLst/>
          </a:prstGeom>
          <a:noFill/>
          <a:ln w="38100">
            <a:solidFill>
              <a:srgbClr val="A8761F"/>
            </a:solidFill>
            <a:prstDash val="solid"/>
            <a:tailEnd type="triangle"/>
          </a:ln>
        </p:spPr>
      </p:sp>
      <p:sp>
        <p:nvSpPr>
          <p:cNvPr id="14" name="Shape 10"/>
          <p:cNvSpPr/>
          <p:nvPr/>
        </p:nvSpPr>
        <p:spPr>
          <a:xfrm>
            <a:off x="7231304" y="2419502"/>
            <a:ext cx="914400" cy="292608"/>
          </a:xfrm>
          <a:prstGeom prst="roundRect">
            <a:avLst>
              <a:gd name="adj" fmla="val 50000"/>
            </a:avLst>
          </a:prstGeom>
          <a:solidFill>
            <a:srgbClr val="A8761F"/>
          </a:solidFill>
          <a:ln/>
        </p:spPr>
      </p:sp>
      <p:sp>
        <p:nvSpPr>
          <p:cNvPr id="15" name="Text 11"/>
          <p:cNvSpPr/>
          <p:nvPr/>
        </p:nvSpPr>
        <p:spPr>
          <a:xfrm>
            <a:off x="7231304" y="2419502"/>
            <a:ext cx="91440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現在</a:t>
            </a:r>
            <a:endParaRPr lang="en-US" sz="1000" dirty="0"/>
          </a:p>
        </p:txBody>
      </p:sp>
      <p:sp>
        <p:nvSpPr>
          <p:cNvPr id="16" name="Shape 12"/>
          <p:cNvSpPr/>
          <p:nvPr/>
        </p:nvSpPr>
        <p:spPr>
          <a:xfrm>
            <a:off x="8725205" y="1651406"/>
            <a:ext cx="2806294" cy="1133856"/>
          </a:xfrm>
          <a:prstGeom prst="roundRect">
            <a:avLst>
              <a:gd name="adj" fmla="val 4839"/>
            </a:avLst>
          </a:prstGeom>
          <a:solidFill>
            <a:srgbClr val="0C5230"/>
          </a:solidFill>
          <a:ln/>
        </p:spPr>
      </p:sp>
      <p:sp>
        <p:nvSpPr>
          <p:cNvPr id="17" name="Text 13"/>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18" name="Text 14"/>
          <p:cNvSpPr/>
          <p:nvPr/>
        </p:nvSpPr>
        <p:spPr>
          <a:xfrm>
            <a:off x="8962949" y="2291486"/>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AFC2B8"/>
                </a:solidFill>
                <a:latin typeface="Yu Gothic" pitchFamily="34" charset="0"/>
                <a:ea typeface="Yu Gothic" pitchFamily="34" charset="-122"/>
                <a:cs typeface="Yu Gothic" pitchFamily="34" charset="-120"/>
              </a:rPr>
              <a:t>2026年7月の月間利用者数</a:t>
            </a:r>
            <a:endParaRPr lang="en-US" sz="950" dirty="0"/>
          </a:p>
        </p:txBody>
      </p:sp>
      <p:sp>
        <p:nvSpPr>
          <p:cNvPr id="19" name="Shape 15"/>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20" name="Text 16"/>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pPr indent="0" marL="0">
              <a:buNone/>
            </a:pP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21" name="Text 17"/>
          <p:cNvSpPr/>
          <p:nvPr/>
        </p:nvSpPr>
        <p:spPr>
          <a:xfrm>
            <a:off x="8962949" y="3589934"/>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3年半での月間利用者数の伸び</a:t>
            </a:r>
            <a:endParaRPr lang="en-US" sz="950" dirty="0"/>
          </a:p>
        </p:txBody>
      </p:sp>
      <p:sp>
        <p:nvSpPr>
          <p:cNvPr id="22" name="Shape 18"/>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23" name="Text 19"/>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pPr indent="0" marL="0">
              <a:buNone/>
            </a:pP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24" name="Text 20"/>
          <p:cNvSpPr/>
          <p:nvPr/>
        </p:nvSpPr>
        <p:spPr>
          <a:xfrm>
            <a:off x="8962949" y="4888382"/>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1店舗あたりの月間利用者数</a:t>
            </a:r>
            <a:endParaRPr lang="en-US" sz="950" dirty="0"/>
          </a:p>
        </p:txBody>
      </p:sp>
      <p:sp>
        <p:nvSpPr>
          <p:cNvPr id="25" name="Text 21"/>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pPr indent="0" marL="0">
              <a:buNone/>
            </a:pP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390円〜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pPr indent="0" marL="0">
              <a:buNone/>
            </a:pP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約50%</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62.6%が「勉強」</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store-sasashima.jpg">    </p:cNvPr>
          <p:cNvPicPr>
            <a:picLocks noChangeAspect="1"/>
          </p:cNvPicPr>
          <p:nvPr/>
        </p:nvPicPr>
        <p:blipFill>
          <a:blip r:embed="rId2"/>
          <a:srcRect l="0" r="0" t="0" b="0"/>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store-meieki.jpg">    </p:cNvPr>
          <p:cNvPicPr>
            <a:picLocks noChangeAspect="1"/>
          </p:cNvPicPr>
          <p:nvPr/>
        </p:nvPicPr>
        <p:blipFill>
          <a:blip r:embed="rId3"/>
          <a:srcRect l="0" r="0" t="0" b="0"/>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store-sakae.jpg">    </p:cNvPr>
          <p:cNvPicPr>
            <a:picLocks noChangeAspect="1"/>
          </p:cNvPicPr>
          <p:nvPr/>
        </p:nvPicPr>
        <p:blipFill>
          <a:blip r:embed="rId4"/>
          <a:srcRect l="0" r="0" t="0" b="0"/>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store-aratama.jpg">    </p:cNvPr>
          <p:cNvPicPr>
            <a:picLocks noChangeAspect="1"/>
          </p:cNvPicPr>
          <p:nvPr/>
        </p:nvPicPr>
        <p:blipFill>
          <a:blip r:embed="rId5"/>
          <a:srcRect l="0" r="0" t="0" b="0"/>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store-gokiso.jpg">    </p:cNvPr>
          <p:cNvPicPr>
            <a:picLocks noChangeAspect="1"/>
          </p:cNvPicPr>
          <p:nvPr/>
        </p:nvPicPr>
        <p:blipFill>
          <a:blip r:embed="rId6"/>
          <a:srcRect l="0" r="0" t="0" b="0"/>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store-inzai.jpg">    </p:cNvPr>
          <p:cNvPicPr>
            <a:picLocks noChangeAspect="1"/>
          </p:cNvPicPr>
          <p:nvPr/>
        </p:nvPicPr>
        <p:blipFill>
          <a:blip r:embed="rId7"/>
          <a:srcRect l="0" r="0" t="0" b="0"/>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store-morioka.jpg">    </p:cNvPr>
          <p:cNvPicPr>
            <a:picLocks noChangeAspect="1"/>
          </p:cNvPicPr>
          <p:nvPr/>
        </p:nvPicPr>
        <p:blipFill>
          <a:blip r:embed="rId2"/>
          <a:srcRect l="0" r="0" t="0" b="0"/>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store-hamamatsu.jpg">    </p:cNvPr>
          <p:cNvPicPr>
            <a:picLocks noChangeAspect="1"/>
          </p:cNvPicPr>
          <p:nvPr/>
        </p:nvPicPr>
        <p:blipFill>
          <a:blip r:embed="rId3"/>
          <a:srcRect l="0" r="0" t="0" b="0"/>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store-aikawa.jpg">    </p:cNvPr>
          <p:cNvPicPr>
            <a:picLocks noChangeAspect="1"/>
          </p:cNvPicPr>
          <p:nvPr/>
        </p:nvPicPr>
        <p:blipFill>
          <a:blip r:embed="rId4"/>
          <a:srcRect l="0" r="0" t="0" b="0"/>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store-tenma.jpg">    </p:cNvPr>
          <p:cNvPicPr>
            <a:picLocks noChangeAspect="1"/>
          </p:cNvPicPr>
          <p:nvPr/>
        </p:nvPicPr>
        <p:blipFill>
          <a:blip r:embed="rId5"/>
          <a:srcRect l="0" r="0" t="0" b="0"/>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store-abeno.jpg">    </p:cNvPr>
          <p:cNvPicPr>
            <a:picLocks noChangeAspect="1"/>
          </p:cNvPicPr>
          <p:nvPr/>
        </p:nvPicPr>
        <p:blipFill>
          <a:blip r:embed="rId6"/>
          <a:srcRect l="0" r="0" t="0" b="0"/>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store-tanimachi.jpg">    </p:cNvPr>
          <p:cNvPicPr>
            <a:picLocks noChangeAspect="1"/>
          </p:cNvPicPr>
          <p:nvPr/>
        </p:nvPicPr>
        <p:blipFill>
          <a:blip r:embed="rId7"/>
          <a:srcRect l="0" r="0" t="0" b="0"/>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pPr indent="0" marL="0">
              <a:buNone/>
            </a:pP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43200"/>
          </a:xfrm>
          <a:prstGeom prst="roundRect">
            <a:avLst>
              <a:gd name="adj" fmla="val 2000"/>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91440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店内の各所に非常ボタンを設置し、お客様同士のトラブルまで幅広く対応。6台のカメラによるモニタリングで、お問い合わせにも即時対応します。</a:t>
            </a:r>
            <a:endParaRPr lang="en-US" sz="1050" dirty="0"/>
          </a:p>
        </p:txBody>
      </p:sp>
      <p:pic>
        <p:nvPicPr>
          <p:cNvPr id="13" name="Image 1" descr="/home/user/suzuki-ceo/selfcafe-partner-deck/assets/photos/p16-support.jpg">    </p:cNvPr>
          <p:cNvPicPr>
            <a:picLocks noChangeAspect="1"/>
          </p:cNvPicPr>
          <p:nvPr/>
        </p:nvPicPr>
        <p:blipFill>
          <a:blip r:embed="rId2"/>
          <a:srcRect l="0" r="0" t="0" b="0"/>
          <a:stretch/>
        </p:blipFill>
        <p:spPr>
          <a:xfrm>
            <a:off x="660197" y="4595774"/>
            <a:ext cx="5120640" cy="1371600"/>
          </a:xfrm>
          <a:prstGeom prst="rect">
            <a:avLst/>
          </a:prstGeom>
        </p:spPr>
      </p:pic>
      <p:sp>
        <p:nvSpPr>
          <p:cNvPr id="14" name="Shape 10"/>
          <p:cNvSpPr/>
          <p:nvPr/>
        </p:nvSpPr>
        <p:spPr>
          <a:xfrm>
            <a:off x="660197" y="4595774"/>
            <a:ext cx="5120640" cy="1371600"/>
          </a:xfrm>
          <a:prstGeom prst="rect">
            <a:avLst/>
          </a:prstGeom>
          <a:ln w="12700">
            <a:solidFill>
              <a:srgbClr val="D8D2C6"/>
            </a:solidFill>
            <a:prstDash val="solid"/>
          </a:ln>
        </p:spPr>
      </p:sp>
      <p:sp>
        <p:nvSpPr>
          <p:cNvPr id="15" name="Shape 11"/>
          <p:cNvSpPr/>
          <p:nvPr/>
        </p:nvSpPr>
        <p:spPr>
          <a:xfrm>
            <a:off x="788213" y="5510174"/>
            <a:ext cx="2654300" cy="329184"/>
          </a:xfrm>
          <a:prstGeom prst="roundRect">
            <a:avLst>
              <a:gd name="adj" fmla="val 13889"/>
            </a:avLst>
          </a:prstGeom>
          <a:solidFill>
            <a:srgbClr val="FFFFFF">
              <a:alpha val="90000"/>
            </a:srgbClr>
          </a:solidFill>
          <a:ln/>
        </p:spPr>
      </p:sp>
      <p:sp>
        <p:nvSpPr>
          <p:cNvPr id="16" name="Text 12"/>
          <p:cNvSpPr/>
          <p:nvPr/>
        </p:nvSpPr>
        <p:spPr>
          <a:xfrm>
            <a:off x="952805" y="5510174"/>
            <a:ext cx="23799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モニタリング画面／店内カメラの様子</a:t>
            </a:r>
            <a:endParaRPr lang="en-US" sz="1000" dirty="0"/>
          </a:p>
        </p:txBody>
      </p:sp>
      <p:sp>
        <p:nvSpPr>
          <p:cNvPr id="17" name="Shape 13"/>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18" name="Image 2" descr="/home/user/suzuki-ceo/selfcafe-partner-deck/assets/icons/LuVideo-green.png">    </p:cNvPr>
          <p:cNvPicPr>
            <a:picLocks noChangeAspect="1"/>
          </p:cNvPicPr>
          <p:nvPr/>
        </p:nvPicPr>
        <p:blipFill>
          <a:blip r:embed="rId3"/>
          <a:stretch>
            <a:fillRect/>
          </a:stretch>
        </p:blipFill>
        <p:spPr>
          <a:xfrm>
            <a:off x="6420917" y="1889150"/>
            <a:ext cx="329184" cy="329184"/>
          </a:xfrm>
          <a:prstGeom prst="rect">
            <a:avLst/>
          </a:prstGeom>
        </p:spPr>
      </p:pic>
      <p:sp>
        <p:nvSpPr>
          <p:cNvPr id="19" name="Text 14"/>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a:t>
            </a:r>
            <a:pPr indent="0" marL="0">
              <a:buNone/>
            </a:pP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0" name="Text 15"/>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1" name="Shape 16"/>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2" name="Image 3" descr="/home/user/suzuki-ceo/selfcafe-partner-deck/assets/icons/LuMic-green.png">    </p:cNvPr>
          <p:cNvPicPr>
            <a:picLocks noChangeAspect="1"/>
          </p:cNvPicPr>
          <p:nvPr/>
        </p:nvPicPr>
        <p:blipFill>
          <a:blip r:embed="rId4"/>
          <a:stretch>
            <a:fillRect/>
          </a:stretch>
        </p:blipFill>
        <p:spPr>
          <a:xfrm>
            <a:off x="6420917" y="3388766"/>
            <a:ext cx="329184" cy="329184"/>
          </a:xfrm>
          <a:prstGeom prst="rect">
            <a:avLst/>
          </a:prstGeom>
        </p:spPr>
      </p:pic>
      <p:sp>
        <p:nvSpPr>
          <p:cNvPr id="23" name="Text 17"/>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pPr indent="0" marL="0">
              <a:buNone/>
            </a:pP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24" name="Text 18"/>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25" name="Shape 19"/>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26" name="Image 4" descr="/home/user/suzuki-ceo/selfcafe-partner-deck/assets/icons/LuMessageCircle-green.png">    </p:cNvPr>
          <p:cNvPicPr>
            <a:picLocks noChangeAspect="1"/>
          </p:cNvPicPr>
          <p:nvPr/>
        </p:nvPicPr>
        <p:blipFill>
          <a:blip r:embed="rId5"/>
          <a:stretch>
            <a:fillRect/>
          </a:stretch>
        </p:blipFill>
        <p:spPr>
          <a:xfrm>
            <a:off x="6420917" y="4888382"/>
            <a:ext cx="329184" cy="329184"/>
          </a:xfrm>
          <a:prstGeom prst="rect">
            <a:avLst/>
          </a:prstGeom>
        </p:spPr>
      </p:pic>
      <p:sp>
        <p:nvSpPr>
          <p:cNvPr id="27" name="Text 20"/>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pPr indent="0" marL="0">
              <a:buNone/>
            </a:pP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28" name="Text 21"/>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pPr indent="0" marL="0">
              <a:buNone/>
            </a:pP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050" dirty="0"/>
          </a:p>
        </p:txBody>
      </p:sp>
      <p:sp>
        <p:nvSpPr>
          <p:cNvPr id="16" name="Shape 12"/>
          <p:cNvSpPr/>
          <p:nvPr/>
        </p:nvSpPr>
        <p:spPr>
          <a:xfrm>
            <a:off x="934517" y="4870094"/>
            <a:ext cx="1280160" cy="256032"/>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加盟金 100万円</a:t>
            </a:r>
            <a:endParaRPr lang="en-US" sz="850" dirty="0"/>
          </a:p>
        </p:txBody>
      </p:sp>
      <p:sp>
        <p:nvSpPr>
          <p:cNvPr id="18" name="Shape 14"/>
          <p:cNvSpPr/>
          <p:nvPr/>
        </p:nvSpPr>
        <p:spPr>
          <a:xfrm>
            <a:off x="2306117" y="4870094"/>
            <a:ext cx="1280160" cy="256032"/>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3061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初期費用 650万円〜</a:t>
            </a:r>
            <a:endParaRPr lang="en-US" sz="85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050" dirty="0"/>
          </a:p>
        </p:txBody>
      </p:sp>
      <p:sp>
        <p:nvSpPr>
          <p:cNvPr id="27" name="Shape 22"/>
          <p:cNvSpPr/>
          <p:nvPr/>
        </p:nvSpPr>
        <p:spPr>
          <a:xfrm>
            <a:off x="4649724" y="4870094"/>
            <a:ext cx="612648" cy="256032"/>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870094"/>
            <a:ext cx="61264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レジ横</a:t>
            </a:r>
            <a:endParaRPr lang="en-US" sz="850" dirty="0"/>
          </a:p>
        </p:txBody>
      </p:sp>
      <p:sp>
        <p:nvSpPr>
          <p:cNvPr id="29" name="Shape 24"/>
          <p:cNvSpPr/>
          <p:nvPr/>
        </p:nvSpPr>
        <p:spPr>
          <a:xfrm>
            <a:off x="6021324" y="4870094"/>
            <a:ext cx="969264" cy="256032"/>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6021324" y="4870094"/>
            <a:ext cx="96926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待合スペース</a:t>
            </a:r>
            <a:endParaRPr lang="en-US" sz="850" dirty="0"/>
          </a:p>
        </p:txBody>
      </p:sp>
      <p:sp>
        <p:nvSpPr>
          <p:cNvPr id="31" name="Shape 26"/>
          <p:cNvSpPr/>
          <p:nvPr/>
        </p:nvSpPr>
        <p:spPr>
          <a:xfrm>
            <a:off x="4649724" y="5199278"/>
            <a:ext cx="731520" cy="256032"/>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4649724" y="5199278"/>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空き区画</a:t>
            </a:r>
            <a:endParaRPr lang="en-US" sz="85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050" dirty="0"/>
          </a:p>
        </p:txBody>
      </p:sp>
      <p:sp>
        <p:nvSpPr>
          <p:cNvPr id="40" name="Shape 34"/>
          <p:cNvSpPr/>
          <p:nvPr/>
        </p:nvSpPr>
        <p:spPr>
          <a:xfrm>
            <a:off x="8364931" y="4870094"/>
            <a:ext cx="493776" cy="256032"/>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870094"/>
            <a:ext cx="4937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清掃</a:t>
            </a:r>
            <a:endParaRPr lang="en-US" sz="850" dirty="0"/>
          </a:p>
        </p:txBody>
      </p:sp>
      <p:sp>
        <p:nvSpPr>
          <p:cNvPr id="42" name="Shape 36"/>
          <p:cNvSpPr/>
          <p:nvPr/>
        </p:nvSpPr>
        <p:spPr>
          <a:xfrm>
            <a:off x="9736531" y="4870094"/>
            <a:ext cx="731520" cy="256032"/>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736531" y="4870094"/>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原料補充</a:t>
            </a:r>
            <a:endParaRPr lang="en-US" sz="850" dirty="0"/>
          </a:p>
        </p:txBody>
      </p:sp>
      <p:sp>
        <p:nvSpPr>
          <p:cNvPr id="44" name="Text 38"/>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「1/10以下」は他社カフェ業態の開業資金との比較（次ページ参照）。</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100万円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550万円〜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pPr indent="0" marL="0">
              <a:buNone/>
            </a:pPr>
            <a:r>
              <a:rPr lang="en-US" sz="1200" b="1" dirty="0">
                <a:solidFill>
                  <a:srgbClr val="8CC5A5"/>
                </a:solidFill>
                <a:latin typeface="Yu Gothic" pitchFamily="34" charset="0"/>
                <a:ea typeface="Yu Gothic" pitchFamily="34" charset="-122"/>
                <a:cs typeface="Yu Gothic" pitchFamily="34" charset="-120"/>
              </a:rPr>
              <a:t>1/5 〜 1/15</a:t>
            </a:r>
            <a:pPr indent="0" marL="0">
              <a:buNone/>
            </a:pP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67杯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800,000円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-160,000円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154,000円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154,000円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1,848,000円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70坪（120席）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125杯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1,500,000円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-560,000円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-40,000円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水道15,000円／光熱85,000円（24H営業想定）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-100,000円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319,000円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319,000円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3,828,000円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 ／ 75坪</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初期費用1,000万円を想定し、家賃あり（賃借）と家賃なし（自社物件）の2パターンで回収期間を試算しました。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2603297" cy="609905"/>
          </a:xfrm>
          <a:prstGeom prst="roundRect">
            <a:avLst>
              <a:gd name="adj" fmla="val 7496"/>
            </a:avLst>
          </a:prstGeom>
          <a:solidFill>
            <a:srgbClr val="FBF4E4"/>
          </a:solidFill>
          <a:ln w="9525">
            <a:solidFill>
              <a:srgbClr val="E7D3A8"/>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700" b="1" dirty="0">
                <a:solidFill>
                  <a:srgbClr val="A8761F"/>
                </a:solidFill>
                <a:latin typeface="Arial" pitchFamily="34" charset="0"/>
                <a:ea typeface="Arial" pitchFamily="34" charset="-122"/>
                <a:cs typeface="Arial" pitchFamily="34" charset="-120"/>
              </a:rPr>
              <a:t>1,000</a:t>
            </a:r>
            <a:pPr indent="0" marL="0">
              <a:buNone/>
            </a:pPr>
            <a:r>
              <a:rPr lang="en-US" sz="1100" b="1" dirty="0">
                <a:solidFill>
                  <a:srgbClr val="A8761F"/>
                </a:solidFill>
                <a:latin typeface="Yu Gothic" pitchFamily="34" charset="0"/>
                <a:ea typeface="Yu Gothic" pitchFamily="34" charset="-122"/>
                <a:cs typeface="Yu Gothic" pitchFamily="34" charset="-120"/>
              </a:rPr>
              <a:t> 万円</a:t>
            </a:r>
            <a:endParaRPr lang="en-US" sz="17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想定初期費用</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75</a:t>
            </a:r>
            <a:pPr indent="0" marL="0">
              <a:buNone/>
            </a:pPr>
            <a:r>
              <a:rPr lang="en-US" sz="1100" b="1" dirty="0">
                <a:solidFill>
                  <a:srgbClr val="106838"/>
                </a:solidFill>
                <a:latin typeface="Yu Gothic" pitchFamily="34" charset="0"/>
                <a:ea typeface="Yu Gothic" pitchFamily="34" charset="-122"/>
                <a:cs typeface="Yu Gothic" pitchFamily="34" charset="-120"/>
              </a:rPr>
              <a:t> 坪（130席）</a:t>
            </a:r>
            <a:endParaRPr lang="en-US" sz="17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想定規模</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1,560,000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7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月間売上（400円×130杯×30日）</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633,000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7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月間経費（家賃を除く）</a:t>
            </a:r>
            <a:endParaRPr lang="en-US" sz="900" dirty="0"/>
          </a:p>
        </p:txBody>
      </p:sp>
      <p:sp>
        <p:nvSpPr>
          <p:cNvPr id="21" name="Shape 18"/>
          <p:cNvSpPr/>
          <p:nvPr/>
        </p:nvSpPr>
        <p:spPr>
          <a:xfrm>
            <a:off x="660197" y="2492654"/>
            <a:ext cx="5243627" cy="2798064"/>
          </a:xfrm>
          <a:prstGeom prst="roundRect">
            <a:avLst>
              <a:gd name="adj" fmla="val 1961"/>
            </a:avLst>
          </a:prstGeom>
          <a:solidFill>
            <a:srgbClr val="FFFFFF"/>
          </a:solidFill>
          <a:ln w="9525">
            <a:solidFill>
              <a:srgbClr val="EFEAE0"/>
            </a:solidFill>
            <a:prstDash val="solid"/>
          </a:ln>
        </p:spPr>
      </p:sp>
      <p:sp>
        <p:nvSpPr>
          <p:cNvPr id="22" name="Text 19"/>
          <p:cNvSpPr/>
          <p:nvPr/>
        </p:nvSpPr>
        <p:spPr>
          <a:xfrm>
            <a:off x="934517" y="2712110"/>
            <a:ext cx="4694987" cy="292608"/>
          </a:xfrm>
          <a:prstGeom prst="rect">
            <a:avLst/>
          </a:prstGeom>
          <a:noFill/>
          <a:ln/>
        </p:spPr>
        <p:txBody>
          <a:bodyPr wrap="square" lIns="0" tIns="0" rIns="0" bIns="0" rtlCol="0" anchor="ctr"/>
          <a:lstStyle/>
          <a:p>
            <a:pPr indent="0" marL="0">
              <a:buNone/>
            </a:pPr>
            <a:r>
              <a:rPr lang="en-US" sz="1400" b="1" dirty="0">
                <a:solidFill>
                  <a:srgbClr val="106838"/>
                </a:solidFill>
                <a:latin typeface="Yu Gothic" pitchFamily="34" charset="0"/>
                <a:ea typeface="Yu Gothic" pitchFamily="34" charset="-122"/>
                <a:cs typeface="Yu Gothic" pitchFamily="34" charset="-120"/>
              </a:rPr>
              <a:t>① 家賃あり（賃借物件）</a:t>
            </a:r>
            <a:endParaRPr lang="en-US" sz="1400" dirty="0"/>
          </a:p>
        </p:txBody>
      </p:sp>
      <p:sp>
        <p:nvSpPr>
          <p:cNvPr id="23" name="Text 20"/>
          <p:cNvSpPr/>
          <p:nvPr/>
        </p:nvSpPr>
        <p:spPr>
          <a:xfrm>
            <a:off x="934517" y="3096158"/>
            <a:ext cx="2103120" cy="51206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24" name="Text 21"/>
          <p:cNvSpPr/>
          <p:nvPr/>
        </p:nvSpPr>
        <p:spPr>
          <a:xfrm>
            <a:off x="2854757" y="3370478"/>
            <a:ext cx="2774747" cy="219456"/>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仮定坪単価 8,000円 × 75坪</a:t>
            </a:r>
            <a:endParaRPr lang="en-US" sz="850" dirty="0"/>
          </a:p>
        </p:txBody>
      </p:sp>
      <p:sp>
        <p:nvSpPr>
          <p:cNvPr id="25" name="Text 22"/>
          <p:cNvSpPr/>
          <p:nvPr/>
        </p:nvSpPr>
        <p:spPr>
          <a:xfrm>
            <a:off x="2854757" y="3096158"/>
            <a:ext cx="2774747" cy="310896"/>
          </a:xfrm>
          <a:prstGeom prst="rect">
            <a:avLst/>
          </a:prstGeom>
          <a:noFill/>
          <a:ln/>
        </p:spPr>
        <p:txBody>
          <a:bodyPr wrap="square" lIns="0" tIns="0" rIns="0" bIns="0" rtlCol="0" anchor="ctr"/>
          <a:lstStyle/>
          <a:p>
            <a:pPr algn="r" indent="0" marL="0">
              <a:buNone/>
            </a:pPr>
            <a:r>
              <a:rPr lang="en-US" sz="1500" b="1" dirty="0">
                <a:solidFill>
                  <a:srgbClr val="0A3D23"/>
                </a:solidFill>
                <a:latin typeface="Arial" pitchFamily="34" charset="0"/>
                <a:ea typeface="Arial" pitchFamily="34" charset="-122"/>
                <a:cs typeface="Arial" pitchFamily="34" charset="-120"/>
              </a:rPr>
              <a:t>-600,000円</a:t>
            </a:r>
            <a:endParaRPr lang="en-US" sz="1500" dirty="0"/>
          </a:p>
        </p:txBody>
      </p:sp>
      <p:sp>
        <p:nvSpPr>
          <p:cNvPr id="26" name="Shape 23"/>
          <p:cNvSpPr/>
          <p:nvPr/>
        </p:nvSpPr>
        <p:spPr>
          <a:xfrm>
            <a:off x="934517" y="3608222"/>
            <a:ext cx="4694987" cy="10058"/>
          </a:xfrm>
          <a:prstGeom prst="rect">
            <a:avLst/>
          </a:prstGeom>
          <a:solidFill>
            <a:srgbClr val="EFEAE0"/>
          </a:solidFill>
          <a:ln/>
        </p:spPr>
      </p:sp>
      <p:sp>
        <p:nvSpPr>
          <p:cNvPr id="27" name="Text 24"/>
          <p:cNvSpPr/>
          <p:nvPr/>
        </p:nvSpPr>
        <p:spPr>
          <a:xfrm>
            <a:off x="934517" y="3663086"/>
            <a:ext cx="2103120" cy="51206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月間 償却前営業利益</a:t>
            </a:r>
            <a:endParaRPr lang="en-US" sz="1050" dirty="0"/>
          </a:p>
        </p:txBody>
      </p:sp>
      <p:sp>
        <p:nvSpPr>
          <p:cNvPr id="28" name="Text 25"/>
          <p:cNvSpPr/>
          <p:nvPr/>
        </p:nvSpPr>
        <p:spPr>
          <a:xfrm>
            <a:off x="2854757" y="3937406"/>
            <a:ext cx="2774747" cy="219456"/>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年間換算 3,924,000円</a:t>
            </a:r>
            <a:endParaRPr lang="en-US" sz="850" dirty="0"/>
          </a:p>
        </p:txBody>
      </p:sp>
      <p:sp>
        <p:nvSpPr>
          <p:cNvPr id="29" name="Text 26"/>
          <p:cNvSpPr/>
          <p:nvPr/>
        </p:nvSpPr>
        <p:spPr>
          <a:xfrm>
            <a:off x="2854757" y="3663086"/>
            <a:ext cx="2774747" cy="310896"/>
          </a:xfrm>
          <a:prstGeom prst="rect">
            <a:avLst/>
          </a:prstGeom>
          <a:noFill/>
          <a:ln/>
        </p:spPr>
        <p:txBody>
          <a:bodyPr wrap="square" lIns="0" tIns="0" rIns="0" bIns="0" rtlCol="0" anchor="ctr"/>
          <a:lstStyle/>
          <a:p>
            <a:pPr algn="r" indent="0" marL="0">
              <a:buNone/>
            </a:pPr>
            <a:r>
              <a:rPr lang="en-US" sz="1500" b="1" dirty="0">
                <a:solidFill>
                  <a:srgbClr val="0A3D23"/>
                </a:solidFill>
                <a:latin typeface="Arial" pitchFamily="34" charset="0"/>
                <a:ea typeface="Arial" pitchFamily="34" charset="-122"/>
                <a:cs typeface="Arial" pitchFamily="34" charset="-120"/>
              </a:rPr>
              <a:t>327,000円</a:t>
            </a:r>
            <a:endParaRPr lang="en-US" sz="1500" dirty="0"/>
          </a:p>
        </p:txBody>
      </p:sp>
      <p:sp>
        <p:nvSpPr>
          <p:cNvPr id="30" name="Shape 27"/>
          <p:cNvSpPr/>
          <p:nvPr/>
        </p:nvSpPr>
        <p:spPr>
          <a:xfrm>
            <a:off x="934517" y="4175150"/>
            <a:ext cx="4694987" cy="10058"/>
          </a:xfrm>
          <a:prstGeom prst="rect">
            <a:avLst/>
          </a:prstGeom>
          <a:solidFill>
            <a:srgbClr val="EFEAE0"/>
          </a:solidFill>
          <a:ln/>
        </p:spPr>
      </p:sp>
      <p:sp>
        <p:nvSpPr>
          <p:cNvPr id="31" name="Text 28"/>
          <p:cNvSpPr/>
          <p:nvPr/>
        </p:nvSpPr>
        <p:spPr>
          <a:xfrm>
            <a:off x="934517" y="4339742"/>
            <a:ext cx="4694987" cy="20116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初期費用の回収期間</a:t>
            </a:r>
            <a:endParaRPr lang="en-US" sz="950" dirty="0"/>
          </a:p>
        </p:txBody>
      </p:sp>
      <p:sp>
        <p:nvSpPr>
          <p:cNvPr id="32" name="Text 29"/>
          <p:cNvSpPr/>
          <p:nvPr/>
        </p:nvSpPr>
        <p:spPr>
          <a:xfrm>
            <a:off x="934517" y="4540910"/>
            <a:ext cx="4694987" cy="475488"/>
          </a:xfrm>
          <a:prstGeom prst="rect">
            <a:avLst/>
          </a:prstGeom>
          <a:noFill/>
          <a:ln/>
        </p:spPr>
        <p:txBody>
          <a:bodyPr wrap="square" lIns="0" tIns="0" rIns="0" bIns="0" rtlCol="0" anchor="ctr"/>
          <a:lstStyle/>
          <a:p>
            <a:pPr indent="0" marL="0">
              <a:buNone/>
            </a:pPr>
            <a:r>
              <a:rPr lang="en-US" sz="2700" b="1" dirty="0">
                <a:solidFill>
                  <a:srgbClr val="106838"/>
                </a:solidFill>
                <a:latin typeface="Yu Gothic" pitchFamily="34" charset="0"/>
                <a:ea typeface="Yu Gothic" pitchFamily="34" charset="-122"/>
                <a:cs typeface="Yu Gothic" pitchFamily="34" charset="-120"/>
              </a:rPr>
              <a:t>約2年7ヶ月</a:t>
            </a:r>
            <a:endParaRPr lang="en-US" sz="2700" dirty="0"/>
          </a:p>
        </p:txBody>
      </p:sp>
      <p:sp>
        <p:nvSpPr>
          <p:cNvPr id="33" name="Text 30"/>
          <p:cNvSpPr/>
          <p:nvPr/>
        </p:nvSpPr>
        <p:spPr>
          <a:xfrm>
            <a:off x="934517" y="4998110"/>
            <a:ext cx="4694987" cy="201168"/>
          </a:xfrm>
          <a:prstGeom prst="rect">
            <a:avLst/>
          </a:prstGeom>
          <a:noFill/>
          <a:ln/>
        </p:spPr>
        <p:txBody>
          <a:bodyPr wrap="square" lIns="0" tIns="0" rIns="0" bIns="0" rtlCol="0" anchor="ctr"/>
          <a:lstStyle/>
          <a:p>
            <a:pPr indent="0" marL="0">
              <a:buNone/>
            </a:pPr>
            <a:r>
              <a:rPr lang="en-US" sz="850" dirty="0">
                <a:solidFill>
                  <a:srgbClr val="7E8882"/>
                </a:solidFill>
                <a:latin typeface="Arial" pitchFamily="34" charset="0"/>
                <a:ea typeface="Arial" pitchFamily="34" charset="-122"/>
                <a:cs typeface="Arial" pitchFamily="34" charset="-120"/>
              </a:rPr>
              <a:t>1,000万円 ÷ 32.7万円 ≒ 31ヶ月</a:t>
            </a:r>
            <a:endParaRPr lang="en-US" sz="850" dirty="0"/>
          </a:p>
        </p:txBody>
      </p:sp>
      <p:sp>
        <p:nvSpPr>
          <p:cNvPr id="34" name="Shape 31"/>
          <p:cNvSpPr/>
          <p:nvPr/>
        </p:nvSpPr>
        <p:spPr>
          <a:xfrm>
            <a:off x="6287872" y="2492654"/>
            <a:ext cx="5243627" cy="2798064"/>
          </a:xfrm>
          <a:prstGeom prst="roundRect">
            <a:avLst>
              <a:gd name="adj" fmla="val 1961"/>
            </a:avLst>
          </a:prstGeom>
          <a:solidFill>
            <a:srgbClr val="0C5230"/>
          </a:solidFill>
          <a:ln/>
        </p:spPr>
      </p:sp>
      <p:sp>
        <p:nvSpPr>
          <p:cNvPr id="35" name="Text 32"/>
          <p:cNvSpPr/>
          <p:nvPr/>
        </p:nvSpPr>
        <p:spPr>
          <a:xfrm>
            <a:off x="6562192" y="2712110"/>
            <a:ext cx="4694987" cy="292608"/>
          </a:xfrm>
          <a:prstGeom prst="rect">
            <a:avLst/>
          </a:prstGeom>
          <a:noFill/>
          <a:ln/>
        </p:spPr>
        <p:txBody>
          <a:bodyPr wrap="square" lIns="0" tIns="0" rIns="0" bIns="0" rtlCol="0" anchor="ctr"/>
          <a:lstStyle/>
          <a:p>
            <a:pPr indent="0" marL="0">
              <a:buNone/>
            </a:pPr>
            <a:r>
              <a:rPr lang="en-US" sz="1400" b="1" dirty="0">
                <a:solidFill>
                  <a:srgbClr val="8CC5A5"/>
                </a:solidFill>
                <a:latin typeface="Yu Gothic" pitchFamily="34" charset="0"/>
                <a:ea typeface="Yu Gothic" pitchFamily="34" charset="-122"/>
                <a:cs typeface="Yu Gothic" pitchFamily="34" charset="-120"/>
              </a:rPr>
              <a:t>② 家賃なし（自社物件）</a:t>
            </a:r>
            <a:endParaRPr lang="en-US" sz="1400" dirty="0"/>
          </a:p>
        </p:txBody>
      </p:sp>
      <p:sp>
        <p:nvSpPr>
          <p:cNvPr id="36" name="Text 33"/>
          <p:cNvSpPr/>
          <p:nvPr/>
        </p:nvSpPr>
        <p:spPr>
          <a:xfrm>
            <a:off x="6562192" y="3096158"/>
            <a:ext cx="2103120" cy="512064"/>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家賃</a:t>
            </a:r>
            <a:endParaRPr lang="en-US" sz="1050" dirty="0"/>
          </a:p>
        </p:txBody>
      </p:sp>
      <p:sp>
        <p:nvSpPr>
          <p:cNvPr id="37" name="Text 34"/>
          <p:cNvSpPr/>
          <p:nvPr/>
        </p:nvSpPr>
        <p:spPr>
          <a:xfrm>
            <a:off x="8482432" y="3370478"/>
            <a:ext cx="2774747" cy="219456"/>
          </a:xfrm>
          <a:prstGeom prst="rect">
            <a:avLst/>
          </a:prstGeom>
          <a:noFill/>
          <a:ln/>
        </p:spPr>
        <p:txBody>
          <a:bodyPr wrap="square" lIns="0" tIns="0" rIns="0" bIns="0" rtlCol="0" anchor="ctr"/>
          <a:lstStyle/>
          <a:p>
            <a:pPr algn="r" indent="0" marL="0">
              <a:buNone/>
            </a:pPr>
            <a:r>
              <a:rPr lang="en-US" sz="850" dirty="0">
                <a:solidFill>
                  <a:srgbClr val="AFC2B8"/>
                </a:solidFill>
                <a:latin typeface="Yu Gothic" pitchFamily="34" charset="0"/>
                <a:ea typeface="Yu Gothic" pitchFamily="34" charset="-122"/>
                <a:cs typeface="Yu Gothic" pitchFamily="34" charset="-120"/>
              </a:rPr>
              <a:t>自社物件のため家賃負担なし</a:t>
            </a:r>
            <a:endParaRPr lang="en-US" sz="850" dirty="0"/>
          </a:p>
        </p:txBody>
      </p:sp>
      <p:sp>
        <p:nvSpPr>
          <p:cNvPr id="38" name="Text 35"/>
          <p:cNvSpPr/>
          <p:nvPr/>
        </p:nvSpPr>
        <p:spPr>
          <a:xfrm>
            <a:off x="8482432" y="3096158"/>
            <a:ext cx="2774747" cy="310896"/>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0円</a:t>
            </a:r>
            <a:endParaRPr lang="en-US" sz="1500" dirty="0"/>
          </a:p>
        </p:txBody>
      </p:sp>
      <p:sp>
        <p:nvSpPr>
          <p:cNvPr id="39" name="Shape 36"/>
          <p:cNvSpPr/>
          <p:nvPr/>
        </p:nvSpPr>
        <p:spPr>
          <a:xfrm>
            <a:off x="6562192" y="3608222"/>
            <a:ext cx="4694987" cy="10058"/>
          </a:xfrm>
          <a:prstGeom prst="rect">
            <a:avLst/>
          </a:prstGeom>
          <a:solidFill>
            <a:srgbClr val="1E6A44"/>
          </a:solidFill>
          <a:ln/>
        </p:spPr>
      </p:sp>
      <p:sp>
        <p:nvSpPr>
          <p:cNvPr id="40" name="Text 37"/>
          <p:cNvSpPr/>
          <p:nvPr/>
        </p:nvSpPr>
        <p:spPr>
          <a:xfrm>
            <a:off x="6562192" y="3663086"/>
            <a:ext cx="2103120" cy="512064"/>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月間 償却前営業利益</a:t>
            </a:r>
            <a:endParaRPr lang="en-US" sz="1050" dirty="0"/>
          </a:p>
        </p:txBody>
      </p:sp>
      <p:sp>
        <p:nvSpPr>
          <p:cNvPr id="41" name="Text 38"/>
          <p:cNvSpPr/>
          <p:nvPr/>
        </p:nvSpPr>
        <p:spPr>
          <a:xfrm>
            <a:off x="8482432" y="3937406"/>
            <a:ext cx="2774747" cy="219456"/>
          </a:xfrm>
          <a:prstGeom prst="rect">
            <a:avLst/>
          </a:prstGeom>
          <a:noFill/>
          <a:ln/>
        </p:spPr>
        <p:txBody>
          <a:bodyPr wrap="square" lIns="0" tIns="0" rIns="0" bIns="0" rtlCol="0" anchor="ctr"/>
          <a:lstStyle/>
          <a:p>
            <a:pPr algn="r" indent="0" marL="0">
              <a:buNone/>
            </a:pPr>
            <a:r>
              <a:rPr lang="en-US" sz="850" dirty="0">
                <a:solidFill>
                  <a:srgbClr val="AFC2B8"/>
                </a:solidFill>
                <a:latin typeface="Yu Gothic" pitchFamily="34" charset="0"/>
                <a:ea typeface="Yu Gothic" pitchFamily="34" charset="-122"/>
                <a:cs typeface="Yu Gothic" pitchFamily="34" charset="-120"/>
              </a:rPr>
              <a:t>年間換算 11,124,000円</a:t>
            </a:r>
            <a:endParaRPr lang="en-US" sz="850" dirty="0"/>
          </a:p>
        </p:txBody>
      </p:sp>
      <p:sp>
        <p:nvSpPr>
          <p:cNvPr id="42" name="Text 39"/>
          <p:cNvSpPr/>
          <p:nvPr/>
        </p:nvSpPr>
        <p:spPr>
          <a:xfrm>
            <a:off x="8482432" y="3663086"/>
            <a:ext cx="2774747" cy="310896"/>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927,000円</a:t>
            </a:r>
            <a:endParaRPr lang="en-US" sz="1500" dirty="0"/>
          </a:p>
        </p:txBody>
      </p:sp>
      <p:sp>
        <p:nvSpPr>
          <p:cNvPr id="43" name="Shape 40"/>
          <p:cNvSpPr/>
          <p:nvPr/>
        </p:nvSpPr>
        <p:spPr>
          <a:xfrm>
            <a:off x="6562192" y="4175150"/>
            <a:ext cx="4694987" cy="10058"/>
          </a:xfrm>
          <a:prstGeom prst="rect">
            <a:avLst/>
          </a:prstGeom>
          <a:solidFill>
            <a:srgbClr val="1E6A44"/>
          </a:solidFill>
          <a:ln/>
        </p:spPr>
      </p:sp>
      <p:sp>
        <p:nvSpPr>
          <p:cNvPr id="44" name="Text 41"/>
          <p:cNvSpPr/>
          <p:nvPr/>
        </p:nvSpPr>
        <p:spPr>
          <a:xfrm>
            <a:off x="6562192" y="4339742"/>
            <a:ext cx="4694987" cy="201168"/>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初期費用の回収期間</a:t>
            </a:r>
            <a:endParaRPr lang="en-US" sz="950" dirty="0"/>
          </a:p>
        </p:txBody>
      </p:sp>
      <p:sp>
        <p:nvSpPr>
          <p:cNvPr id="45" name="Text 42"/>
          <p:cNvSpPr/>
          <p:nvPr/>
        </p:nvSpPr>
        <p:spPr>
          <a:xfrm>
            <a:off x="6562192" y="4540910"/>
            <a:ext cx="4694987" cy="475488"/>
          </a:xfrm>
          <a:prstGeom prst="rect">
            <a:avLst/>
          </a:prstGeom>
          <a:noFill/>
          <a:ln/>
        </p:spPr>
        <p:txBody>
          <a:bodyPr wrap="square" lIns="0" tIns="0" rIns="0" bIns="0" rtlCol="0" anchor="ctr"/>
          <a:lstStyle/>
          <a:p>
            <a:pPr indent="0" marL="0">
              <a:buNone/>
            </a:pPr>
            <a:r>
              <a:rPr lang="en-US" sz="2700" b="1" dirty="0">
                <a:solidFill>
                  <a:srgbClr val="FFFFFF"/>
                </a:solidFill>
                <a:latin typeface="Yu Gothic" pitchFamily="34" charset="0"/>
                <a:ea typeface="Yu Gothic" pitchFamily="34" charset="-122"/>
                <a:cs typeface="Yu Gothic" pitchFamily="34" charset="-120"/>
              </a:rPr>
              <a:t>約11ヶ月</a:t>
            </a:r>
            <a:endParaRPr lang="en-US" sz="2700" dirty="0"/>
          </a:p>
        </p:txBody>
      </p:sp>
      <p:sp>
        <p:nvSpPr>
          <p:cNvPr id="46" name="Text 43"/>
          <p:cNvSpPr/>
          <p:nvPr/>
        </p:nvSpPr>
        <p:spPr>
          <a:xfrm>
            <a:off x="6562192" y="4998110"/>
            <a:ext cx="4694987" cy="201168"/>
          </a:xfrm>
          <a:prstGeom prst="rect">
            <a:avLst/>
          </a:prstGeom>
          <a:noFill/>
          <a:ln/>
        </p:spPr>
        <p:txBody>
          <a:bodyPr wrap="square" lIns="0" tIns="0" rIns="0" bIns="0" rtlCol="0" anchor="ctr"/>
          <a:lstStyle/>
          <a:p>
            <a:pPr indent="0" marL="0">
              <a:buNone/>
            </a:pPr>
            <a:r>
              <a:rPr lang="en-US" sz="850" dirty="0">
                <a:solidFill>
                  <a:srgbClr val="AFC2B8"/>
                </a:solidFill>
                <a:latin typeface="Arial" pitchFamily="34" charset="0"/>
                <a:ea typeface="Arial" pitchFamily="34" charset="-122"/>
                <a:cs typeface="Arial" pitchFamily="34" charset="-120"/>
              </a:rPr>
              <a:t>1,000万円 ÷ 92.7万円 ≒ 11ヶ月</a:t>
            </a:r>
            <a:endParaRPr lang="en-US" sz="850" dirty="0"/>
          </a:p>
        </p:txBody>
      </p:sp>
      <p:sp>
        <p:nvSpPr>
          <p:cNvPr id="47" name="Shape 44"/>
          <p:cNvSpPr/>
          <p:nvPr/>
        </p:nvSpPr>
        <p:spPr>
          <a:xfrm>
            <a:off x="660197" y="5455310"/>
            <a:ext cx="10871302" cy="694944"/>
          </a:xfrm>
          <a:prstGeom prst="roundRect">
            <a:avLst>
              <a:gd name="adj" fmla="val 7895"/>
            </a:avLst>
          </a:prstGeom>
          <a:solidFill>
            <a:srgbClr val="F1F8F3"/>
          </a:solidFill>
          <a:ln w="9525">
            <a:solidFill>
              <a:srgbClr val="D2E7DA"/>
            </a:solidFill>
            <a:prstDash val="solid"/>
          </a:ln>
        </p:spPr>
      </p:sp>
      <p:sp>
        <p:nvSpPr>
          <p:cNvPr id="48" name="Text 45"/>
          <p:cNvSpPr/>
          <p:nvPr/>
        </p:nvSpPr>
        <p:spPr>
          <a:xfrm>
            <a:off x="897941" y="5455310"/>
            <a:ext cx="2194560" cy="694944"/>
          </a:xfrm>
          <a:prstGeom prst="rect">
            <a:avLst/>
          </a:prstGeom>
          <a:noFill/>
          <a:ln/>
        </p:spPr>
        <p:txBody>
          <a:bodyPr wrap="square" lIns="0" tIns="0" rIns="0" bIns="0" rtlCol="0" anchor="ctr"/>
          <a:lstStyle/>
          <a:p>
            <a:pPr indent="0" marL="0">
              <a:buNone/>
            </a:pPr>
            <a:r>
              <a:rPr lang="en-US" sz="950" b="1" dirty="0">
                <a:solidFill>
                  <a:srgbClr val="7E8882"/>
                </a:solidFill>
                <a:latin typeface="Yu Gothic" pitchFamily="34" charset="0"/>
                <a:ea typeface="Yu Gothic" pitchFamily="34" charset="-122"/>
                <a:cs typeface="Yu Gothic" pitchFamily="34" charset="-120"/>
              </a:rPr>
              <a:t>回収スピード比較（月数）</a:t>
            </a:r>
            <a:endParaRPr lang="en-US" sz="950" dirty="0"/>
          </a:p>
        </p:txBody>
      </p:sp>
      <p:sp>
        <p:nvSpPr>
          <p:cNvPr id="49" name="Text 46"/>
          <p:cNvSpPr/>
          <p:nvPr/>
        </p:nvSpPr>
        <p:spPr>
          <a:xfrm>
            <a:off x="3220517" y="5555894"/>
            <a:ext cx="1280160" cy="219456"/>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① 家賃あり</a:t>
            </a:r>
            <a:endParaRPr lang="en-US" sz="950" dirty="0"/>
          </a:p>
        </p:txBody>
      </p:sp>
      <p:sp>
        <p:nvSpPr>
          <p:cNvPr id="50" name="Shape 47"/>
          <p:cNvSpPr/>
          <p:nvPr/>
        </p:nvSpPr>
        <p:spPr>
          <a:xfrm>
            <a:off x="4592117" y="5583326"/>
            <a:ext cx="5030699" cy="164592"/>
          </a:xfrm>
          <a:prstGeom prst="roundRect">
            <a:avLst>
              <a:gd name="adj" fmla="val 27778"/>
            </a:avLst>
          </a:prstGeom>
          <a:solidFill>
            <a:srgbClr val="A8761F"/>
          </a:solidFill>
          <a:ln/>
        </p:spPr>
      </p:sp>
      <p:sp>
        <p:nvSpPr>
          <p:cNvPr id="51" name="Text 48"/>
          <p:cNvSpPr/>
          <p:nvPr/>
        </p:nvSpPr>
        <p:spPr>
          <a:xfrm>
            <a:off x="9714255" y="5555894"/>
            <a:ext cx="1005840" cy="219456"/>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31ヶ月</a:t>
            </a:r>
            <a:endParaRPr lang="en-US" sz="1050" dirty="0"/>
          </a:p>
        </p:txBody>
      </p:sp>
      <p:sp>
        <p:nvSpPr>
          <p:cNvPr id="52" name="Text 49"/>
          <p:cNvSpPr/>
          <p:nvPr/>
        </p:nvSpPr>
        <p:spPr>
          <a:xfrm>
            <a:off x="3220517" y="5830214"/>
            <a:ext cx="1280160" cy="219456"/>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② 家賃なし</a:t>
            </a:r>
            <a:endParaRPr lang="en-US" sz="950" dirty="0"/>
          </a:p>
        </p:txBody>
      </p:sp>
      <p:sp>
        <p:nvSpPr>
          <p:cNvPr id="53" name="Shape 50"/>
          <p:cNvSpPr/>
          <p:nvPr/>
        </p:nvSpPr>
        <p:spPr>
          <a:xfrm>
            <a:off x="4592117" y="5857646"/>
            <a:ext cx="1785087" cy="164592"/>
          </a:xfrm>
          <a:prstGeom prst="roundRect">
            <a:avLst>
              <a:gd name="adj" fmla="val 27778"/>
            </a:avLst>
          </a:prstGeom>
          <a:solidFill>
            <a:srgbClr val="106838"/>
          </a:solidFill>
          <a:ln/>
        </p:spPr>
      </p:sp>
      <p:sp>
        <p:nvSpPr>
          <p:cNvPr id="54" name="Text 51"/>
          <p:cNvSpPr/>
          <p:nvPr/>
        </p:nvSpPr>
        <p:spPr>
          <a:xfrm>
            <a:off x="6468643" y="5830214"/>
            <a:ext cx="1005840" cy="219456"/>
          </a:xfrm>
          <a:prstGeom prst="rect">
            <a:avLst/>
          </a:prstGeom>
          <a:noFill/>
          <a:ln/>
        </p:spPr>
        <p:txBody>
          <a:bodyPr wrap="square" lIns="0" tIns="0" rIns="0" bIns="0" rtlCol="0" anchor="ctr"/>
          <a:lstStyle/>
          <a:p>
            <a:pPr indent="0" marL="0">
              <a:buNone/>
            </a:pPr>
            <a:r>
              <a:rPr lang="en-US" sz="1050" b="1" dirty="0">
                <a:solidFill>
                  <a:srgbClr val="106838"/>
                </a:solidFill>
                <a:latin typeface="Arial" pitchFamily="34" charset="0"/>
                <a:ea typeface="Arial" pitchFamily="34" charset="-122"/>
                <a:cs typeface="Arial" pitchFamily="34" charset="-120"/>
              </a:rPr>
              <a:t>11ヶ月</a:t>
            </a:r>
            <a:endParaRPr lang="en-US" sz="1050" dirty="0"/>
          </a:p>
        </p:txBody>
      </p:sp>
      <p:sp>
        <p:nvSpPr>
          <p:cNvPr id="55" name="Text 52"/>
          <p:cNvSpPr/>
          <p:nvPr/>
        </p:nvSpPr>
        <p:spPr>
          <a:xfrm>
            <a:off x="660197" y="625998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売上・経費は70坪シミュレーションを基にした75坪換算の目安です。減価償却費・税は含みません。回収期間・利益を保証するものではありません。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pPr indent="0" marL="0">
              <a:buNone/>
            </a:pP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pPr indent="0" marL="0">
              <a:buNone/>
            </a:pP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pic>
        <p:nvPicPr>
          <p:cNvPr id="21" name="Image 1" descr="/home/user/suzuki-ceo/selfcafe-partner-deck/assets/photos/store-morioka.jpg">    </p:cNvPr>
          <p:cNvPicPr>
            <a:picLocks noChangeAspect="1"/>
          </p:cNvPicPr>
          <p:nvPr/>
        </p:nvPicPr>
        <p:blipFill>
          <a:blip r:embed="rId2"/>
          <a:srcRect l="0" r="0" t="0" b="0"/>
          <a:stretch/>
        </p:blipFill>
        <p:spPr>
          <a:xfrm>
            <a:off x="660197" y="2492654"/>
            <a:ext cx="6035040" cy="3566160"/>
          </a:xfrm>
          <a:prstGeom prst="rect">
            <a:avLst/>
          </a:prstGeom>
        </p:spPr>
      </p:pic>
      <p:sp>
        <p:nvSpPr>
          <p:cNvPr id="22" name="Shape 18"/>
          <p:cNvSpPr/>
          <p:nvPr/>
        </p:nvSpPr>
        <p:spPr>
          <a:xfrm>
            <a:off x="660197" y="2492654"/>
            <a:ext cx="6035040" cy="3566160"/>
          </a:xfrm>
          <a:prstGeom prst="rect">
            <a:avLst/>
          </a:prstGeom>
          <a:ln w="12700">
            <a:solidFill>
              <a:srgbClr val="D8D2C6"/>
            </a:solidFill>
            <a:prstDash val="solid"/>
          </a:ln>
        </p:spPr>
      </p:sp>
      <p:sp>
        <p:nvSpPr>
          <p:cNvPr id="23" name="Shape 19"/>
          <p:cNvSpPr/>
          <p:nvPr/>
        </p:nvSpPr>
        <p:spPr>
          <a:xfrm>
            <a:off x="788213" y="5601614"/>
            <a:ext cx="2910078" cy="329184"/>
          </a:xfrm>
          <a:prstGeom prst="roundRect">
            <a:avLst>
              <a:gd name="adj" fmla="val 13889"/>
            </a:avLst>
          </a:prstGeom>
          <a:solidFill>
            <a:srgbClr val="FFFFFF">
              <a:alpha val="90000"/>
            </a:srgbClr>
          </a:solidFill>
          <a:ln/>
        </p:spPr>
      </p:sp>
      <p:sp>
        <p:nvSpPr>
          <p:cNvPr id="24" name="Text 20"/>
          <p:cNvSpPr/>
          <p:nvPr/>
        </p:nvSpPr>
        <p:spPr>
          <a:xfrm>
            <a:off x="952805" y="5601614"/>
            <a:ext cx="2635758"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盛岡駅前店の店内の様子（店内カメラ）</a:t>
            </a:r>
            <a:endParaRPr lang="en-US" sz="1050" dirty="0"/>
          </a:p>
        </p:txBody>
      </p:sp>
      <p:sp>
        <p:nvSpPr>
          <p:cNvPr id="25" name="Shape 21"/>
          <p:cNvSpPr/>
          <p:nvPr/>
        </p:nvSpPr>
        <p:spPr>
          <a:xfrm>
            <a:off x="7079285" y="2492654"/>
            <a:ext cx="4452214"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7353605"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7353605" y="3004718"/>
            <a:ext cx="3903574"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1日80杯ペースでの稼働</a:t>
            </a:r>
            <a:endParaRPr lang="en-US" sz="1800" dirty="0"/>
          </a:p>
        </p:txBody>
      </p:sp>
      <p:sp>
        <p:nvSpPr>
          <p:cNvPr id="28" name="Text 24"/>
          <p:cNvSpPr/>
          <p:nvPr/>
        </p:nvSpPr>
        <p:spPr>
          <a:xfrm>
            <a:off x="7353605" y="3461918"/>
            <a:ext cx="3903574" cy="82296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9" name="Shape 25"/>
          <p:cNvSpPr/>
          <p:nvPr/>
        </p:nvSpPr>
        <p:spPr>
          <a:xfrm>
            <a:off x="7353605" y="4358030"/>
            <a:ext cx="3903574" cy="10058"/>
          </a:xfrm>
          <a:prstGeom prst="rect">
            <a:avLst/>
          </a:prstGeom>
          <a:solidFill>
            <a:srgbClr val="EFEAE0"/>
          </a:solidFill>
          <a:ln/>
        </p:spPr>
      </p:sp>
      <p:sp>
        <p:nvSpPr>
          <p:cNvPr id="30" name="Text 26"/>
          <p:cNvSpPr/>
          <p:nvPr/>
        </p:nvSpPr>
        <p:spPr>
          <a:xfrm>
            <a:off x="7353605" y="450433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開業</a:t>
            </a:r>
            <a:endParaRPr lang="en-US" sz="950" dirty="0"/>
          </a:p>
        </p:txBody>
      </p:sp>
      <p:sp>
        <p:nvSpPr>
          <p:cNvPr id="31" name="Text 27"/>
          <p:cNvSpPr/>
          <p:nvPr/>
        </p:nvSpPr>
        <p:spPr>
          <a:xfrm>
            <a:off x="8816645" y="450433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2025年4月</a:t>
            </a:r>
            <a:endParaRPr lang="en-US" sz="1100" dirty="0"/>
          </a:p>
        </p:txBody>
      </p:sp>
      <p:sp>
        <p:nvSpPr>
          <p:cNvPr id="32" name="Text 28"/>
          <p:cNvSpPr/>
          <p:nvPr/>
        </p:nvSpPr>
        <p:spPr>
          <a:xfrm>
            <a:off x="7353605" y="487009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面積・席数</a:t>
            </a:r>
            <a:endParaRPr lang="en-US" sz="950" dirty="0"/>
          </a:p>
        </p:txBody>
      </p:sp>
      <p:sp>
        <p:nvSpPr>
          <p:cNvPr id="33" name="Text 29"/>
          <p:cNvSpPr/>
          <p:nvPr/>
        </p:nvSpPr>
        <p:spPr>
          <a:xfrm>
            <a:off x="8816645" y="487009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20坪／40席</a:t>
            </a:r>
            <a:endParaRPr lang="en-US" sz="1100" dirty="0"/>
          </a:p>
        </p:txBody>
      </p:sp>
      <p:sp>
        <p:nvSpPr>
          <p:cNvPr id="34" name="Text 30"/>
          <p:cNvSpPr/>
          <p:nvPr/>
        </p:nvSpPr>
        <p:spPr>
          <a:xfrm>
            <a:off x="7353605" y="523585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立地</a:t>
            </a:r>
            <a:endParaRPr lang="en-US" sz="950" dirty="0"/>
          </a:p>
        </p:txBody>
      </p:sp>
      <p:sp>
        <p:nvSpPr>
          <p:cNvPr id="35" name="Text 31"/>
          <p:cNvSpPr/>
          <p:nvPr/>
        </p:nvSpPr>
        <p:spPr>
          <a:xfrm>
            <a:off x="8816645" y="523585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岩手県盛岡市・駅前</a:t>
            </a:r>
            <a:endParaRPr lang="en-US" sz="1100" dirty="0"/>
          </a:p>
        </p:txBody>
      </p:sp>
      <p:sp>
        <p:nvSpPr>
          <p:cNvPr id="36" name="Text 32"/>
          <p:cNvSpPr/>
          <p:nvPr/>
        </p:nvSpPr>
        <p:spPr>
          <a:xfrm>
            <a:off x="7353605" y="560161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営業時間</a:t>
            </a:r>
            <a:endParaRPr lang="en-US" sz="950" dirty="0"/>
          </a:p>
        </p:txBody>
      </p:sp>
      <p:sp>
        <p:nvSpPr>
          <p:cNvPr id="37" name="Text 33"/>
          <p:cNvSpPr/>
          <p:nvPr/>
        </p:nvSpPr>
        <p:spPr>
          <a:xfrm>
            <a:off x="8816645" y="560161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24時間</a:t>
            </a:r>
            <a:endParaRPr lang="en-US" sz="1100" dirty="0"/>
          </a:p>
        </p:txBody>
      </p:sp>
      <p:sp>
        <p:nvSpPr>
          <p:cNvPr id="38" name="Text 34"/>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pPr indent="0" marL="0">
              <a:buNone/>
            </a:pP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必要に応じて追加できるオプションです（金額は税抜き）。SEO・MEO対策は費用なしで標準提供します。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365760">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SEO対策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HP作成／定期更新、プレスリリース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MEO対策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Google MAP設置、定期投稿／更新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326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4008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20,000円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4980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現地対応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エリア限定</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PayPayポイント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PayPayポイントの付与に対応します。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pPr indent="0" marL="0">
              <a:buNone/>
            </a:pP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pic>
        <p:nvPicPr>
          <p:cNvPr id="22" name="Image 2" descr="/home/user/suzuki-ceo/selfcafe-partner-deck/assets/photos/p24-machine.jpg">    </p:cNvPr>
          <p:cNvPicPr>
            <a:picLocks noChangeAspect="1"/>
          </p:cNvPicPr>
          <p:nvPr/>
        </p:nvPicPr>
        <p:blipFill>
          <a:blip r:embed="rId3"/>
          <a:srcRect l="0" r="0" t="0" b="0"/>
          <a:stretch/>
        </p:blipFill>
        <p:spPr>
          <a:xfrm>
            <a:off x="934517" y="4266590"/>
            <a:ext cx="3657600" cy="1463040"/>
          </a:xfrm>
          <a:prstGeom prst="rect">
            <a:avLst/>
          </a:prstGeom>
        </p:spPr>
      </p:pic>
      <p:sp>
        <p:nvSpPr>
          <p:cNvPr id="23" name="Shape 18"/>
          <p:cNvSpPr/>
          <p:nvPr/>
        </p:nvSpPr>
        <p:spPr>
          <a:xfrm>
            <a:off x="934517" y="4266590"/>
            <a:ext cx="3657600" cy="1463040"/>
          </a:xfrm>
          <a:prstGeom prst="rect">
            <a:avLst/>
          </a:prstGeom>
          <a:ln w="12700">
            <a:solidFill>
              <a:srgbClr val="D8D2C6"/>
            </a:solidFill>
            <a:prstDash val="solid"/>
          </a:ln>
        </p:spPr>
      </p:sp>
      <p:sp>
        <p:nvSpPr>
          <p:cNvPr id="24" name="Shape 19"/>
          <p:cNvSpPr/>
          <p:nvPr/>
        </p:nvSpPr>
        <p:spPr>
          <a:xfrm>
            <a:off x="1062533" y="5272430"/>
            <a:ext cx="2411984" cy="329184"/>
          </a:xfrm>
          <a:prstGeom prst="roundRect">
            <a:avLst>
              <a:gd name="adj" fmla="val 13889"/>
            </a:avLst>
          </a:prstGeom>
          <a:solidFill>
            <a:srgbClr val="FFFFFF">
              <a:alpha val="90000"/>
            </a:srgbClr>
          </a:solidFill>
          <a:ln/>
        </p:spPr>
      </p:sp>
      <p:sp>
        <p:nvSpPr>
          <p:cNvPr id="25" name="Text 20"/>
          <p:cNvSpPr/>
          <p:nvPr/>
        </p:nvSpPr>
        <p:spPr>
          <a:xfrm>
            <a:off x="1227125" y="5272430"/>
            <a:ext cx="2137664"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ドリンクマシン本体（100RS）</a:t>
            </a:r>
            <a:endParaRPr lang="en-US" sz="950" dirty="0"/>
          </a:p>
        </p:txBody>
      </p:sp>
      <p:sp>
        <p:nvSpPr>
          <p:cNvPr id="26" name="Text 21"/>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27" name="Image 3" descr="/home/user/suzuki-ceo/selfcafe-partner-deck/assets/photos/p24-install.jpg">    </p:cNvPr>
          <p:cNvPicPr>
            <a:picLocks noChangeAspect="1"/>
          </p:cNvPicPr>
          <p:nvPr/>
        </p:nvPicPr>
        <p:blipFill>
          <a:blip r:embed="rId4"/>
          <a:srcRect l="0" r="0" t="0" b="0"/>
          <a:stretch/>
        </p:blipFill>
        <p:spPr>
          <a:xfrm>
            <a:off x="5250485" y="2017166"/>
            <a:ext cx="6281014" cy="3346704"/>
          </a:xfrm>
          <a:prstGeom prst="rect">
            <a:avLst/>
          </a:prstGeom>
        </p:spPr>
      </p:pic>
      <p:sp>
        <p:nvSpPr>
          <p:cNvPr id="28" name="Shape 22"/>
          <p:cNvSpPr/>
          <p:nvPr/>
        </p:nvSpPr>
        <p:spPr>
          <a:xfrm>
            <a:off x="5250485" y="2017166"/>
            <a:ext cx="6281014" cy="3346704"/>
          </a:xfrm>
          <a:prstGeom prst="rect">
            <a:avLst/>
          </a:prstGeom>
          <a:ln w="12700">
            <a:solidFill>
              <a:srgbClr val="D8D2C6"/>
            </a:solidFill>
            <a:prstDash val="solid"/>
          </a:ln>
        </p:spPr>
      </p:sp>
      <p:sp>
        <p:nvSpPr>
          <p:cNvPr id="29" name="Shape 23"/>
          <p:cNvSpPr/>
          <p:nvPr/>
        </p:nvSpPr>
        <p:spPr>
          <a:xfrm>
            <a:off x="5378501" y="4906670"/>
            <a:ext cx="2344674" cy="329184"/>
          </a:xfrm>
          <a:prstGeom prst="roundRect">
            <a:avLst>
              <a:gd name="adj" fmla="val 13889"/>
            </a:avLst>
          </a:prstGeom>
          <a:solidFill>
            <a:srgbClr val="FFFFFF">
              <a:alpha val="90000"/>
            </a:srgbClr>
          </a:solidFill>
          <a:ln/>
        </p:spPr>
      </p:sp>
      <p:sp>
        <p:nvSpPr>
          <p:cNvPr id="30" name="Text 24"/>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1" name="Shape 25"/>
          <p:cNvSpPr/>
          <p:nvPr/>
        </p:nvSpPr>
        <p:spPr>
          <a:xfrm>
            <a:off x="5250485" y="5491886"/>
            <a:ext cx="6281014" cy="475488"/>
          </a:xfrm>
          <a:prstGeom prst="roundRect">
            <a:avLst>
              <a:gd name="adj" fmla="val 9615"/>
            </a:avLst>
          </a:prstGeom>
          <a:solidFill>
            <a:srgbClr val="F1F8F3"/>
          </a:solidFill>
          <a:ln/>
        </p:spPr>
      </p:sp>
      <p:sp>
        <p:nvSpPr>
          <p:cNvPr id="32" name="Text 26"/>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既存スペースの一角に、2台並べての設置も可能です。</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pPr indent="0" marL="0">
              <a:buNone/>
            </a:pP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1371600"/>
          </a:xfrm>
          <a:prstGeom prst="roundRect">
            <a:avLst>
              <a:gd name="adj" fmla="val 4000"/>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00" dirty="0"/>
          </a:p>
        </p:txBody>
      </p:sp>
      <p:sp>
        <p:nvSpPr>
          <p:cNvPr id="16" name="Shape 13"/>
          <p:cNvSpPr/>
          <p:nvPr/>
        </p:nvSpPr>
        <p:spPr>
          <a:xfrm>
            <a:off x="6287872" y="1651406"/>
            <a:ext cx="5243627" cy="1371600"/>
          </a:xfrm>
          <a:prstGeom prst="roundRect">
            <a:avLst>
              <a:gd name="adj" fmla="val 4000"/>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00" dirty="0"/>
          </a:p>
        </p:txBody>
      </p:sp>
      <p:sp>
        <p:nvSpPr>
          <p:cNvPr id="23" name="Shape 20"/>
          <p:cNvSpPr/>
          <p:nvPr/>
        </p:nvSpPr>
        <p:spPr>
          <a:xfrm>
            <a:off x="660197" y="3224174"/>
            <a:ext cx="5243627" cy="1371600"/>
          </a:xfrm>
          <a:prstGeom prst="roundRect">
            <a:avLst>
              <a:gd name="adj" fmla="val 4000"/>
            </a:avLst>
          </a:prstGeom>
          <a:solidFill>
            <a:srgbClr val="FFFFFF"/>
          </a:solidFill>
          <a:ln w="9525">
            <a:solidFill>
              <a:srgbClr val="EFEAE0"/>
            </a:solidFill>
            <a:prstDash val="solid"/>
          </a:ln>
        </p:spPr>
      </p:sp>
      <p:sp>
        <p:nvSpPr>
          <p:cNvPr id="24" name="Text 21"/>
          <p:cNvSpPr/>
          <p:nvPr/>
        </p:nvSpPr>
        <p:spPr>
          <a:xfrm>
            <a:off x="934517"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73982"/>
            <a:ext cx="4694987" cy="10058"/>
          </a:xfrm>
          <a:prstGeom prst="rect">
            <a:avLst/>
          </a:prstGeom>
          <a:solidFill>
            <a:srgbClr val="EFEAE0"/>
          </a:solidFill>
          <a:ln/>
        </p:spPr>
      </p:sp>
      <p:sp>
        <p:nvSpPr>
          <p:cNvPr id="28" name="Text 25"/>
          <p:cNvSpPr/>
          <p:nvPr/>
        </p:nvSpPr>
        <p:spPr>
          <a:xfrm>
            <a:off x="934517"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00" dirty="0"/>
          </a:p>
        </p:txBody>
      </p:sp>
      <p:sp>
        <p:nvSpPr>
          <p:cNvPr id="30" name="Shape 27"/>
          <p:cNvSpPr/>
          <p:nvPr/>
        </p:nvSpPr>
        <p:spPr>
          <a:xfrm>
            <a:off x="6287872" y="3224174"/>
            <a:ext cx="5243627" cy="1371600"/>
          </a:xfrm>
          <a:prstGeom prst="roundRect">
            <a:avLst>
              <a:gd name="adj" fmla="val 4000"/>
            </a:avLst>
          </a:prstGeom>
          <a:solidFill>
            <a:srgbClr val="FFFFFF"/>
          </a:solidFill>
          <a:ln w="9525">
            <a:solidFill>
              <a:srgbClr val="EFEAE0"/>
            </a:solidFill>
            <a:prstDash val="solid"/>
          </a:ln>
        </p:spPr>
      </p:sp>
      <p:sp>
        <p:nvSpPr>
          <p:cNvPr id="31" name="Text 28"/>
          <p:cNvSpPr/>
          <p:nvPr/>
        </p:nvSpPr>
        <p:spPr>
          <a:xfrm>
            <a:off x="6562192"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73982"/>
            <a:ext cx="4694987" cy="10058"/>
          </a:xfrm>
          <a:prstGeom prst="rect">
            <a:avLst/>
          </a:prstGeom>
          <a:solidFill>
            <a:srgbClr val="EFEAE0"/>
          </a:solidFill>
          <a:ln/>
        </p:spPr>
      </p:sp>
      <p:sp>
        <p:nvSpPr>
          <p:cNvPr id="35" name="Text 32"/>
          <p:cNvSpPr/>
          <p:nvPr/>
        </p:nvSpPr>
        <p:spPr>
          <a:xfrm>
            <a:off x="6562192"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数々のメディア取材や、本部によるSEO/MEO対策をはじめとしたWebマーケティングによって集客を支援します。</a:t>
            </a:r>
            <a:endParaRPr lang="en-US" sz="1000" dirty="0"/>
          </a:p>
        </p:txBody>
      </p:sp>
      <p:sp>
        <p:nvSpPr>
          <p:cNvPr id="37" name="Shape 34"/>
          <p:cNvSpPr/>
          <p:nvPr/>
        </p:nvSpPr>
        <p:spPr>
          <a:xfrm>
            <a:off x="660197" y="4796942"/>
            <a:ext cx="5243627" cy="1371600"/>
          </a:xfrm>
          <a:prstGeom prst="roundRect">
            <a:avLst>
              <a:gd name="adj" fmla="val 4000"/>
            </a:avLst>
          </a:prstGeom>
          <a:solidFill>
            <a:srgbClr val="FFFFFF"/>
          </a:solidFill>
          <a:ln w="9525">
            <a:solidFill>
              <a:srgbClr val="EFEAE0"/>
            </a:solidFill>
            <a:prstDash val="solid"/>
          </a:ln>
        </p:spPr>
      </p:sp>
      <p:sp>
        <p:nvSpPr>
          <p:cNvPr id="38" name="Text 35"/>
          <p:cNvSpPr/>
          <p:nvPr/>
        </p:nvSpPr>
        <p:spPr>
          <a:xfrm>
            <a:off x="934517" y="497982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18099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6270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46750"/>
            <a:ext cx="4694987" cy="10058"/>
          </a:xfrm>
          <a:prstGeom prst="rect">
            <a:avLst/>
          </a:prstGeom>
          <a:solidFill>
            <a:srgbClr val="EFEAE0"/>
          </a:solidFill>
          <a:ln/>
        </p:spPr>
      </p:sp>
      <p:sp>
        <p:nvSpPr>
          <p:cNvPr id="42" name="Text 39"/>
          <p:cNvSpPr/>
          <p:nvPr/>
        </p:nvSpPr>
        <p:spPr>
          <a:xfrm>
            <a:off x="934517" y="563819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19902"/>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1000" dirty="0"/>
          </a:p>
        </p:txBody>
      </p:sp>
      <p:sp>
        <p:nvSpPr>
          <p:cNvPr id="44" name="Shape 41"/>
          <p:cNvSpPr/>
          <p:nvPr/>
        </p:nvSpPr>
        <p:spPr>
          <a:xfrm>
            <a:off x="6287872" y="4796942"/>
            <a:ext cx="5243627" cy="1371600"/>
          </a:xfrm>
          <a:prstGeom prst="roundRect">
            <a:avLst>
              <a:gd name="adj" fmla="val 4000"/>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07838"/>
            <a:ext cx="329184" cy="329184"/>
          </a:xfrm>
          <a:prstGeom prst="rect">
            <a:avLst/>
          </a:prstGeom>
        </p:spPr>
      </p:pic>
      <p:sp>
        <p:nvSpPr>
          <p:cNvPr id="46" name="Text 42"/>
          <p:cNvSpPr/>
          <p:nvPr/>
        </p:nvSpPr>
        <p:spPr>
          <a:xfrm>
            <a:off x="7092544" y="5071262"/>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55310"/>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pPr indent="0" marL="0">
              <a:buNone/>
            </a:pP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 / MEO対策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pPr indent="0" marL="0">
              <a:buNone/>
            </a:pP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29</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2026-08-25T02:13:44Z</dcterms:created>
  <dcterms:modified xsi:type="dcterms:W3CDTF">2026-08-25T02:13:44Z</dcterms:modified>
</cp:coreProperties>
</file>