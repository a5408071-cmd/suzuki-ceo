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png"/><Relationship Id="rId7" Type="http://schemas.openxmlformats.org/officeDocument/2006/relationships/image" Target="../media/image-2-6.png"/><Relationship Id="rId8" Type="http://schemas.openxmlformats.org/officeDocument/2006/relationships/image" Target="../media/image-2-6.png"/><Relationship Id="rId9" Type="http://schemas.openxmlformats.org/officeDocument/2006/relationships/image" Target="../media/image-2-6.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7.png"/><Relationship Id="rId9" Type="http://schemas.openxmlformats.org/officeDocument/2006/relationships/image" Target="../media/image-6-7.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suzuki-ceo/selfcafe-miraiya-trial-deck/assets/cover-bg.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suzuki-ceo/selfcafe-miraiya-trial-deck/assets/photos/.crops/inzai-hall-538x750.jpg">    </p:cNvPr>
          <p:cNvPicPr>
            <a:picLocks noChangeAspect="1"/>
          </p:cNvPicPr>
          <p:nvPr/>
        </p:nvPicPr>
        <p:blipFill>
          <a:blip r:embed="rId2"/>
          <a:stretch>
            <a:fillRect/>
          </a:stretch>
        </p:blipFill>
        <p:spPr>
          <a:xfrm>
            <a:off x="7269480" y="0"/>
            <a:ext cx="4922215" cy="6858000"/>
          </a:xfrm>
          <a:prstGeom prst="rect">
            <a:avLst/>
          </a:prstGeom>
        </p:spPr>
      </p:pic>
      <p:sp>
        <p:nvSpPr>
          <p:cNvPr id="4" name="Shape 0"/>
          <p:cNvSpPr/>
          <p:nvPr/>
        </p:nvSpPr>
        <p:spPr>
          <a:xfrm>
            <a:off x="7242048" y="0"/>
            <a:ext cx="27432" cy="6858000"/>
          </a:xfrm>
          <a:prstGeom prst="rect">
            <a:avLst/>
          </a:prstGeom>
          <a:solidFill>
            <a:srgbClr val="C79A44"/>
          </a:solidFill>
          <a:ln/>
        </p:spPr>
      </p:sp>
      <p:sp>
        <p:nvSpPr>
          <p:cNvPr id="5" name="Text 1"/>
          <p:cNvSpPr/>
          <p:nvPr/>
        </p:nvSpPr>
        <p:spPr>
          <a:xfrm>
            <a:off x="812902" y="758952"/>
            <a:ext cx="3657600" cy="177394"/>
          </a:xfrm>
          <a:prstGeom prst="rect">
            <a:avLst/>
          </a:prstGeom>
          <a:noFill/>
          <a:ln/>
        </p:spPr>
        <p:txBody>
          <a:bodyPr wrap="square" lIns="0" tIns="0" rIns="0" bIns="0" rtlCol="0" anchor="ctr"/>
          <a:lstStyle/>
          <a:p>
            <a:pPr indent="0" marL="0">
              <a:buNone/>
            </a:pPr>
            <a:r>
              <a:rPr lang="en-US" sz="950" dirty="0">
                <a:solidFill>
                  <a:srgbClr val="8FA398"/>
                </a:solidFill>
                <a:latin typeface="Yu Gothic" pitchFamily="34" charset="0"/>
                <a:ea typeface="Yu Gothic" pitchFamily="34" charset="-122"/>
                <a:cs typeface="Yu Gothic" pitchFamily="34" charset="-120"/>
              </a:rPr>
              <a:t>セルフカフェ株式会社</a:t>
            </a:r>
            <a:endParaRPr lang="en-US" sz="950" dirty="0"/>
          </a:p>
        </p:txBody>
      </p:sp>
      <p:pic>
        <p:nvPicPr>
          <p:cNvPr id="6" name="Image 2" descr="/home/user/suzuki-ceo/selfcafe-miraiya-trial-deck/assets/logo-white.png">    </p:cNvPr>
          <p:cNvPicPr>
            <a:picLocks noChangeAspect="1"/>
          </p:cNvPicPr>
          <p:nvPr/>
        </p:nvPicPr>
        <p:blipFill>
          <a:blip r:embed="rId3"/>
          <a:stretch>
            <a:fillRect/>
          </a:stretch>
        </p:blipFill>
        <p:spPr>
          <a:xfrm>
            <a:off x="812902" y="1773936"/>
            <a:ext cx="2616098" cy="372161"/>
          </a:xfrm>
          <a:prstGeom prst="rect">
            <a:avLst/>
          </a:prstGeom>
        </p:spPr>
      </p:pic>
      <p:sp>
        <p:nvSpPr>
          <p:cNvPr id="7" name="Shape 2"/>
          <p:cNvSpPr/>
          <p:nvPr/>
        </p:nvSpPr>
        <p:spPr>
          <a:xfrm>
            <a:off x="812902" y="2615184"/>
            <a:ext cx="1143000" cy="310896"/>
          </a:xfrm>
          <a:prstGeom prst="roundRect">
            <a:avLst>
              <a:gd name="adj" fmla="val 14706"/>
            </a:avLst>
          </a:prstGeom>
          <a:solidFill>
            <a:srgbClr val="A8761F"/>
          </a:solidFill>
          <a:ln/>
        </p:spPr>
      </p:sp>
      <p:sp>
        <p:nvSpPr>
          <p:cNvPr id="8" name="Text 3"/>
          <p:cNvSpPr/>
          <p:nvPr/>
        </p:nvSpPr>
        <p:spPr>
          <a:xfrm>
            <a:off x="812902" y="2615184"/>
            <a:ext cx="1143000" cy="310896"/>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Arial" pitchFamily="34" charset="0"/>
                <a:ea typeface="Arial" pitchFamily="34" charset="-122"/>
                <a:cs typeface="Arial" pitchFamily="34" charset="-120"/>
              </a:rPr>
              <a:t>TRIAL</a:t>
            </a:r>
            <a:endParaRPr lang="en-US" sz="1100" dirty="0"/>
          </a:p>
        </p:txBody>
      </p:sp>
      <p:sp>
        <p:nvSpPr>
          <p:cNvPr id="9" name="Text 4"/>
          <p:cNvSpPr/>
          <p:nvPr/>
        </p:nvSpPr>
        <p:spPr>
          <a:xfrm>
            <a:off x="2084832" y="2615184"/>
            <a:ext cx="3657600" cy="310896"/>
          </a:xfrm>
          <a:prstGeom prst="rect">
            <a:avLst/>
          </a:prstGeom>
          <a:noFill/>
          <a:ln/>
        </p:spPr>
        <p:txBody>
          <a:bodyPr wrap="square" lIns="0" tIns="0" rIns="0" bIns="0" rtlCol="0" anchor="ctr"/>
          <a:lstStyle/>
          <a:p>
            <a:pPr indent="0" marL="0">
              <a:buNone/>
            </a:pPr>
            <a:r>
              <a:rPr lang="en-US" sz="1150" b="1" dirty="0">
                <a:solidFill>
                  <a:srgbClr val="8CC5A5"/>
                </a:solidFill>
                <a:latin typeface="Yu Gothic" pitchFamily="34" charset="0"/>
                <a:ea typeface="Yu Gothic" pitchFamily="34" charset="-122"/>
                <a:cs typeface="Yu Gothic" pitchFamily="34" charset="-120"/>
              </a:rPr>
              <a:t>1年間のお試し導入</a:t>
            </a:r>
            <a:endParaRPr lang="en-US" sz="1150" dirty="0"/>
          </a:p>
        </p:txBody>
      </p:sp>
      <p:sp>
        <p:nvSpPr>
          <p:cNvPr id="10" name="Text 5"/>
          <p:cNvSpPr/>
          <p:nvPr/>
        </p:nvSpPr>
        <p:spPr>
          <a:xfrm>
            <a:off x="812902" y="3072384"/>
            <a:ext cx="6035040" cy="292608"/>
          </a:xfrm>
          <a:prstGeom prst="rect">
            <a:avLst/>
          </a:prstGeom>
          <a:noFill/>
          <a:ln/>
        </p:spPr>
        <p:txBody>
          <a:bodyPr wrap="square" lIns="0" tIns="0" rIns="0" bIns="0" rtlCol="0" anchor="ctr"/>
          <a:lstStyle/>
          <a:p>
            <a:pPr indent="0" marL="0">
              <a:buNone/>
            </a:pPr>
            <a:r>
              <a:rPr lang="en-US" sz="1400" dirty="0">
                <a:solidFill>
                  <a:srgbClr val="D6E3DB"/>
                </a:solidFill>
                <a:latin typeface="Yu Gothic" pitchFamily="34" charset="0"/>
                <a:ea typeface="Yu Gothic" pitchFamily="34" charset="-122"/>
                <a:cs typeface="Yu Gothic" pitchFamily="34" charset="-120"/>
              </a:rPr>
              <a:t>未来屋書店 秋田店・土浦店</a:t>
            </a:r>
            <a:endParaRPr lang="en-US" sz="1400" dirty="0"/>
          </a:p>
        </p:txBody>
      </p:sp>
      <p:sp>
        <p:nvSpPr>
          <p:cNvPr id="11" name="Text 6"/>
          <p:cNvSpPr/>
          <p:nvPr/>
        </p:nvSpPr>
        <p:spPr>
          <a:xfrm>
            <a:off x="812902" y="3364992"/>
            <a:ext cx="6217920" cy="137160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Yu Gothic" pitchFamily="34" charset="0"/>
                <a:ea typeface="Yu Gothic" pitchFamily="34" charset="-122"/>
                <a:cs typeface="Yu Gothic" pitchFamily="34" charset="-120"/>
              </a:rPr>
              <a:t>トライアル導入の</a:t>
            </a:r>
            <a:endParaRPr lang="en-US" sz="4000" dirty="0"/>
          </a:p>
          <a:p>
            <a:pPr indent="0" marL="0">
              <a:lnSpc>
                <a:spcPct val="110000"/>
              </a:lnSpc>
              <a:buNone/>
            </a:pPr>
            <a:r>
              <a:rPr lang="en-US" sz="4000" b="1" dirty="0">
                <a:solidFill>
                  <a:srgbClr val="FFFFFF"/>
                </a:solidFill>
                <a:latin typeface="Yu Gothic" pitchFamily="34" charset="0"/>
                <a:ea typeface="Yu Gothic" pitchFamily="34" charset="-122"/>
                <a:cs typeface="Yu Gothic" pitchFamily="34" charset="-120"/>
              </a:rPr>
              <a:t>ご提案</a:t>
            </a:r>
            <a:endParaRPr lang="en-US" sz="4000" dirty="0"/>
          </a:p>
        </p:txBody>
      </p:sp>
      <p:sp>
        <p:nvSpPr>
          <p:cNvPr id="12" name="Shape 7"/>
          <p:cNvSpPr/>
          <p:nvPr/>
        </p:nvSpPr>
        <p:spPr>
          <a:xfrm>
            <a:off x="812902" y="4882896"/>
            <a:ext cx="711403" cy="25603"/>
          </a:xfrm>
          <a:prstGeom prst="rect">
            <a:avLst/>
          </a:prstGeom>
          <a:solidFill>
            <a:srgbClr val="C79A44"/>
          </a:solidFill>
          <a:ln/>
        </p:spPr>
      </p:sp>
      <p:sp>
        <p:nvSpPr>
          <p:cNvPr id="13" name="Text 8"/>
          <p:cNvSpPr/>
          <p:nvPr/>
        </p:nvSpPr>
        <p:spPr>
          <a:xfrm>
            <a:off x="812902" y="5029200"/>
            <a:ext cx="6035040" cy="603504"/>
          </a:xfrm>
          <a:prstGeom prst="rect">
            <a:avLst/>
          </a:prstGeom>
          <a:noFill/>
          <a:ln/>
        </p:spPr>
        <p:txBody>
          <a:bodyPr wrap="square" lIns="0" tIns="0" rIns="0" bIns="0" rtlCol="0" anchor="t"/>
          <a:lstStyle/>
          <a:p>
            <a:pPr indent="0" marL="0">
              <a:lnSpc>
                <a:spcPct val="135000"/>
              </a:lnSpc>
              <a:buNone/>
            </a:pPr>
            <a:r>
              <a:rPr lang="en-US" sz="1200" dirty="0">
                <a:solidFill>
                  <a:srgbClr val="AFC2B8"/>
                </a:solidFill>
                <a:latin typeface="Yu Gothic" pitchFamily="34" charset="0"/>
                <a:ea typeface="Yu Gothic" pitchFamily="34" charset="-122"/>
                <a:cs typeface="Yu Gothic" pitchFamily="34" charset="-120"/>
              </a:rPr>
              <a:t>内装工事費は当社が負担し、原状回復義務もいただきません。</a:t>
            </a:r>
            <a:endParaRPr lang="en-US" sz="1200" dirty="0"/>
          </a:p>
          <a:p>
            <a:pPr indent="0" marL="0">
              <a:lnSpc>
                <a:spcPct val="135000"/>
              </a:lnSpc>
              <a:buNone/>
            </a:pPr>
            <a:r>
              <a:rPr lang="en-US" sz="1200" dirty="0">
                <a:solidFill>
                  <a:srgbClr val="AFC2B8"/>
                </a:solidFill>
                <a:latin typeface="Yu Gothic" pitchFamily="34" charset="0"/>
                <a:ea typeface="Yu Gothic" pitchFamily="34" charset="-122"/>
                <a:cs typeface="Yu Gothic" pitchFamily="34" charset="-120"/>
              </a:rPr>
              <a:t>まずは1年、実際の数字をご確認ください。</a:t>
            </a:r>
            <a:endParaRPr lang="en-US" sz="1200" dirty="0"/>
          </a:p>
        </p:txBody>
      </p:sp>
      <p:sp>
        <p:nvSpPr>
          <p:cNvPr id="14" name="Text 9"/>
          <p:cNvSpPr/>
          <p:nvPr/>
        </p:nvSpPr>
        <p:spPr>
          <a:xfrm>
            <a:off x="812902" y="5852160"/>
            <a:ext cx="2011680" cy="365760"/>
          </a:xfrm>
          <a:prstGeom prst="rect">
            <a:avLst/>
          </a:prstGeom>
          <a:noFill/>
          <a:ln/>
        </p:spPr>
        <p:txBody>
          <a:bodyPr wrap="square" lIns="0" tIns="0" rIns="0" bIns="0" rtlCol="0" anchor="ctr"/>
          <a:lstStyle/>
          <a:p>
            <a:pPr indent="0" marL="0">
              <a:buNone/>
            </a:pPr>
            <a:r>
              <a:rPr lang="en-US" sz="2400" b="1" dirty="0">
                <a:solidFill>
                  <a:srgbClr val="F0C05A"/>
                </a:solidFill>
                <a:latin typeface="Arial" pitchFamily="34" charset="0"/>
                <a:ea typeface="Arial" pitchFamily="34" charset="-122"/>
                <a:cs typeface="Arial" pitchFamily="34" charset="-120"/>
              </a:rPr>
              <a:t>1</a:t>
            </a:r>
            <a:r>
              <a:rPr lang="en-US" sz="1150" b="1" dirty="0">
                <a:solidFill>
                  <a:srgbClr val="F0C05A"/>
                </a:solidFill>
                <a:latin typeface="Yu Gothic" pitchFamily="34" charset="0"/>
                <a:ea typeface="Yu Gothic" pitchFamily="34" charset="-122"/>
                <a:cs typeface="Yu Gothic" pitchFamily="34" charset="-120"/>
              </a:rPr>
              <a:t> 年</a:t>
            </a:r>
            <a:endParaRPr lang="en-US" sz="2400" dirty="0"/>
          </a:p>
        </p:txBody>
      </p:sp>
      <p:sp>
        <p:nvSpPr>
          <p:cNvPr id="15" name="Text 10"/>
          <p:cNvSpPr/>
          <p:nvPr/>
        </p:nvSpPr>
        <p:spPr>
          <a:xfrm>
            <a:off x="812902" y="6236208"/>
            <a:ext cx="2286000" cy="165506"/>
          </a:xfrm>
          <a:prstGeom prst="rect">
            <a:avLst/>
          </a:prstGeom>
          <a:noFill/>
          <a:ln/>
        </p:spPr>
        <p:txBody>
          <a:bodyPr wrap="square" lIns="0" tIns="0" rIns="0" bIns="0" rtlCol="0" anchor="ctr"/>
          <a:lstStyle/>
          <a:p>
            <a:pPr indent="0" marL="0">
              <a:buNone/>
            </a:pPr>
            <a:r>
              <a:rPr lang="en-US" sz="900" dirty="0">
                <a:solidFill>
                  <a:srgbClr val="8FA398"/>
                </a:solidFill>
                <a:latin typeface="Yu Gothic" pitchFamily="34" charset="0"/>
                <a:ea typeface="Yu Gothic" pitchFamily="34" charset="-122"/>
                <a:cs typeface="Yu Gothic" pitchFamily="34" charset="-120"/>
              </a:rPr>
              <a:t>トライアルの契約期間</a:t>
            </a:r>
            <a:endParaRPr lang="en-US" sz="900" dirty="0"/>
          </a:p>
        </p:txBody>
      </p:sp>
      <p:sp>
        <p:nvSpPr>
          <p:cNvPr id="16" name="Text 11"/>
          <p:cNvSpPr/>
          <p:nvPr/>
        </p:nvSpPr>
        <p:spPr>
          <a:xfrm>
            <a:off x="3035808" y="5852160"/>
            <a:ext cx="2011680" cy="365760"/>
          </a:xfrm>
          <a:prstGeom prst="rect">
            <a:avLst/>
          </a:prstGeom>
          <a:noFill/>
          <a:ln/>
        </p:spPr>
        <p:txBody>
          <a:bodyPr wrap="square" lIns="0" tIns="0" rIns="0" bIns="0" rtlCol="0" anchor="ctr"/>
          <a:lstStyle/>
          <a:p>
            <a:pPr indent="0" marL="0">
              <a:buNone/>
            </a:pPr>
            <a:r>
              <a:rPr lang="en-US" sz="2400" b="1" dirty="0">
                <a:solidFill>
                  <a:srgbClr val="F0C05A"/>
                </a:solidFill>
                <a:latin typeface="Arial" pitchFamily="34" charset="0"/>
                <a:ea typeface="Arial" pitchFamily="34" charset="-122"/>
                <a:cs typeface="Arial" pitchFamily="34" charset="-120"/>
              </a:rPr>
              <a:t>25</a:t>
            </a:r>
            <a:r>
              <a:rPr lang="en-US" sz="1150" b="1" dirty="0">
                <a:solidFill>
                  <a:srgbClr val="F0C05A"/>
                </a:solidFill>
                <a:latin typeface="Yu Gothic" pitchFamily="34" charset="0"/>
                <a:ea typeface="Yu Gothic" pitchFamily="34" charset="-122"/>
                <a:cs typeface="Yu Gothic" pitchFamily="34" charset="-120"/>
              </a:rPr>
              <a:t> ％</a:t>
            </a:r>
            <a:endParaRPr lang="en-US" sz="2400" dirty="0"/>
          </a:p>
        </p:txBody>
      </p:sp>
      <p:sp>
        <p:nvSpPr>
          <p:cNvPr id="17" name="Text 12"/>
          <p:cNvSpPr/>
          <p:nvPr/>
        </p:nvSpPr>
        <p:spPr>
          <a:xfrm>
            <a:off x="3035808" y="6236208"/>
            <a:ext cx="2286000" cy="165506"/>
          </a:xfrm>
          <a:prstGeom prst="rect">
            <a:avLst/>
          </a:prstGeom>
          <a:noFill/>
          <a:ln/>
        </p:spPr>
        <p:txBody>
          <a:bodyPr wrap="square" lIns="0" tIns="0" rIns="0" bIns="0" rtlCol="0" anchor="ctr"/>
          <a:lstStyle/>
          <a:p>
            <a:pPr indent="0" marL="0">
              <a:buNone/>
            </a:pPr>
            <a:r>
              <a:rPr lang="en-US" sz="900" dirty="0">
                <a:solidFill>
                  <a:srgbClr val="8FA398"/>
                </a:solidFill>
                <a:latin typeface="Yu Gothic" pitchFamily="34" charset="0"/>
                <a:ea typeface="Yu Gothic" pitchFamily="34" charset="-122"/>
                <a:cs typeface="Yu Gothic" pitchFamily="34" charset="-120"/>
              </a:rPr>
              <a:t>売上からのお受取</a:t>
            </a:r>
            <a:endParaRPr lang="en-US" sz="900" dirty="0"/>
          </a:p>
        </p:txBody>
      </p:sp>
      <p:sp>
        <p:nvSpPr>
          <p:cNvPr id="18" name="Text 13"/>
          <p:cNvSpPr/>
          <p:nvPr/>
        </p:nvSpPr>
        <p:spPr>
          <a:xfrm>
            <a:off x="5257800" y="5852160"/>
            <a:ext cx="2011680" cy="365760"/>
          </a:xfrm>
          <a:prstGeom prst="rect">
            <a:avLst/>
          </a:prstGeom>
          <a:noFill/>
          <a:ln/>
        </p:spPr>
        <p:txBody>
          <a:bodyPr wrap="square" lIns="0" tIns="0" rIns="0" bIns="0" rtlCol="0" anchor="ctr"/>
          <a:lstStyle/>
          <a:p>
            <a:pPr indent="0" marL="0">
              <a:buNone/>
            </a:pPr>
            <a:r>
              <a:rPr lang="en-US" sz="2400" b="1" dirty="0">
                <a:solidFill>
                  <a:srgbClr val="F0C05A"/>
                </a:solidFill>
                <a:latin typeface="Arial" pitchFamily="34" charset="0"/>
                <a:ea typeface="Arial" pitchFamily="34" charset="-122"/>
                <a:cs typeface="Arial" pitchFamily="34" charset="-120"/>
              </a:rPr>
              <a:t>0</a:t>
            </a:r>
            <a:r>
              <a:rPr lang="en-US" sz="1150" b="1" dirty="0">
                <a:solidFill>
                  <a:srgbClr val="F0C05A"/>
                </a:solidFill>
                <a:latin typeface="Yu Gothic" pitchFamily="34" charset="0"/>
                <a:ea typeface="Yu Gothic" pitchFamily="34" charset="-122"/>
                <a:cs typeface="Yu Gothic" pitchFamily="34" charset="-120"/>
              </a:rPr>
              <a:t> 円</a:t>
            </a:r>
            <a:endParaRPr lang="en-US" sz="2400" dirty="0"/>
          </a:p>
        </p:txBody>
      </p:sp>
      <p:sp>
        <p:nvSpPr>
          <p:cNvPr id="19" name="Text 14"/>
          <p:cNvSpPr/>
          <p:nvPr/>
        </p:nvSpPr>
        <p:spPr>
          <a:xfrm>
            <a:off x="5257800" y="6236208"/>
            <a:ext cx="2286000" cy="165506"/>
          </a:xfrm>
          <a:prstGeom prst="rect">
            <a:avLst/>
          </a:prstGeom>
          <a:noFill/>
          <a:ln/>
        </p:spPr>
        <p:txBody>
          <a:bodyPr wrap="square" lIns="0" tIns="0" rIns="0" bIns="0" rtlCol="0" anchor="ctr"/>
          <a:lstStyle/>
          <a:p>
            <a:pPr indent="0" marL="0">
              <a:buNone/>
            </a:pPr>
            <a:r>
              <a:rPr lang="en-US" sz="900" dirty="0">
                <a:solidFill>
                  <a:srgbClr val="8FA398"/>
                </a:solidFill>
                <a:latin typeface="Yu Gothic" pitchFamily="34" charset="0"/>
                <a:ea typeface="Yu Gothic" pitchFamily="34" charset="-122"/>
                <a:cs typeface="Yu Gothic" pitchFamily="34" charset="-120"/>
              </a:rPr>
              <a:t>内装工事費のご負担</a:t>
            </a:r>
            <a:endParaRPr lang="en-US" sz="900" dirty="0"/>
          </a:p>
        </p:txBody>
      </p:sp>
      <p:sp>
        <p:nvSpPr>
          <p:cNvPr id="20" name="Shape 15"/>
          <p:cNvSpPr/>
          <p:nvPr/>
        </p:nvSpPr>
        <p:spPr>
          <a:xfrm>
            <a:off x="2798064" y="5879592"/>
            <a:ext cx="11887" cy="512064"/>
          </a:xfrm>
          <a:prstGeom prst="rect">
            <a:avLst/>
          </a:prstGeom>
          <a:solidFill>
            <a:srgbClr val="3C5F4B"/>
          </a:solidFill>
          <a:ln/>
        </p:spPr>
      </p:sp>
      <p:sp>
        <p:nvSpPr>
          <p:cNvPr id="21" name="Shape 16"/>
          <p:cNvSpPr/>
          <p:nvPr/>
        </p:nvSpPr>
        <p:spPr>
          <a:xfrm>
            <a:off x="5020056" y="5879592"/>
            <a:ext cx="11887" cy="512064"/>
          </a:xfrm>
          <a:prstGeom prst="rect">
            <a:avLst/>
          </a:prstGeom>
          <a:solidFill>
            <a:srgbClr val="3C5F4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01</a:t>
            </a:r>
            <a:r>
              <a:rPr lang="en-US" sz="1050" b="1" dirty="0">
                <a:solidFill>
                  <a:srgbClr val="1B8149"/>
                </a:solidFill>
                <a:latin typeface="Yu Gothic" pitchFamily="34" charset="0"/>
                <a:ea typeface="Yu Gothic" pitchFamily="34" charset="-122"/>
                <a:cs typeface="Yu Gothic" pitchFamily="34" charset="-120"/>
              </a:rPr>
              <a:t>   内装イメージ（ご参考）</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プレミアム仕様なら、こんな仕上がりになります。</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ご要望をいただいたプレミアム仕様の完成イメージです。木製書架と間接照明でまとめた書店一体型の仕様です。</a:t>
            </a:r>
            <a:endParaRPr lang="en-US" sz="1250" dirty="0"/>
          </a:p>
        </p:txBody>
      </p:sp>
      <p:pic>
        <p:nvPicPr>
          <p:cNvPr id="6" name="Image 0" descr="/home/user/suzuki-ceo/selfcafe-miraiya-trial-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 未来屋書店 トライアル導入のご提案</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02</a:t>
            </a:r>
            <a:endParaRPr lang="en-US" sz="1000" dirty="0"/>
          </a:p>
        </p:txBody>
      </p:sp>
      <p:sp>
        <p:nvSpPr>
          <p:cNvPr id="9" name="Shape 6"/>
          <p:cNvSpPr/>
          <p:nvPr/>
        </p:nvSpPr>
        <p:spPr>
          <a:xfrm>
            <a:off x="660197" y="1651406"/>
            <a:ext cx="2194560" cy="237744"/>
          </a:xfrm>
          <a:prstGeom prst="roundRect">
            <a:avLst>
              <a:gd name="adj" fmla="val 19231"/>
            </a:avLst>
          </a:prstGeom>
          <a:solidFill>
            <a:srgbClr val="106838"/>
          </a:solidFill>
          <a:ln/>
        </p:spPr>
      </p:sp>
      <p:sp>
        <p:nvSpPr>
          <p:cNvPr id="10" name="Text 7"/>
          <p:cNvSpPr/>
          <p:nvPr/>
        </p:nvSpPr>
        <p:spPr>
          <a:xfrm>
            <a:off x="660197" y="1651406"/>
            <a:ext cx="219456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N案：ライトフロア</a:t>
            </a:r>
            <a:endParaRPr lang="en-US" sz="950" dirty="0"/>
          </a:p>
        </p:txBody>
      </p:sp>
      <p:sp>
        <p:nvSpPr>
          <p:cNvPr id="11" name="Shape 8"/>
          <p:cNvSpPr/>
          <p:nvPr/>
        </p:nvSpPr>
        <p:spPr>
          <a:xfrm>
            <a:off x="4345229" y="1651406"/>
            <a:ext cx="2194560" cy="237744"/>
          </a:xfrm>
          <a:prstGeom prst="roundRect">
            <a:avLst>
              <a:gd name="adj" fmla="val 19231"/>
            </a:avLst>
          </a:prstGeom>
          <a:solidFill>
            <a:srgbClr val="106838"/>
          </a:solidFill>
          <a:ln/>
        </p:spPr>
      </p:sp>
      <p:sp>
        <p:nvSpPr>
          <p:cNvPr id="12" name="Text 9"/>
          <p:cNvSpPr/>
          <p:nvPr/>
        </p:nvSpPr>
        <p:spPr>
          <a:xfrm>
            <a:off x="4345229" y="1651406"/>
            <a:ext cx="219456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G案：グリーンフロア</a:t>
            </a:r>
            <a:endParaRPr lang="en-US" sz="950" dirty="0"/>
          </a:p>
        </p:txBody>
      </p:sp>
      <p:pic>
        <p:nvPicPr>
          <p:cNvPr id="13" name="Image 1" descr="/home/user/suzuki-ceo/selfcafe-miraiya-trial-deck/assets/photos/.crops/tsuchiura-premium-n-375x211.jpg">    </p:cNvPr>
          <p:cNvPicPr>
            <a:picLocks noChangeAspect="1"/>
          </p:cNvPicPr>
          <p:nvPr/>
        </p:nvPicPr>
        <p:blipFill>
          <a:blip r:embed="rId2"/>
          <a:stretch>
            <a:fillRect/>
          </a:stretch>
        </p:blipFill>
        <p:spPr>
          <a:xfrm>
            <a:off x="660197" y="1920240"/>
            <a:ext cx="3429000" cy="1928813"/>
          </a:xfrm>
          <a:prstGeom prst="rect">
            <a:avLst/>
          </a:prstGeom>
        </p:spPr>
      </p:pic>
      <p:sp>
        <p:nvSpPr>
          <p:cNvPr id="14" name="Shape 10"/>
          <p:cNvSpPr/>
          <p:nvPr/>
        </p:nvSpPr>
        <p:spPr>
          <a:xfrm>
            <a:off x="660197" y="1920240"/>
            <a:ext cx="3429000" cy="1928813"/>
          </a:xfrm>
          <a:prstGeom prst="rect">
            <a:avLst/>
          </a:prstGeom>
          <a:ln w="12700">
            <a:solidFill>
              <a:srgbClr val="D8D2C6"/>
            </a:solidFill>
            <a:prstDash val="solid"/>
          </a:ln>
        </p:spPr>
      </p:sp>
      <p:sp>
        <p:nvSpPr>
          <p:cNvPr id="15" name="Shape 11"/>
          <p:cNvSpPr/>
          <p:nvPr/>
        </p:nvSpPr>
        <p:spPr>
          <a:xfrm>
            <a:off x="788213" y="3391852"/>
            <a:ext cx="749427" cy="329184"/>
          </a:xfrm>
          <a:prstGeom prst="roundRect">
            <a:avLst>
              <a:gd name="adj" fmla="val 13889"/>
            </a:avLst>
          </a:prstGeom>
          <a:solidFill>
            <a:srgbClr val="FFFFFF">
              <a:alpha val="90000"/>
            </a:srgbClr>
          </a:solidFill>
          <a:ln/>
        </p:spPr>
      </p:sp>
      <p:sp>
        <p:nvSpPr>
          <p:cNvPr id="16" name="Text 12"/>
          <p:cNvSpPr/>
          <p:nvPr/>
        </p:nvSpPr>
        <p:spPr>
          <a:xfrm>
            <a:off x="952805" y="3391852"/>
            <a:ext cx="475107" cy="329184"/>
          </a:xfrm>
          <a:prstGeom prst="rect">
            <a:avLst/>
          </a:prstGeom>
          <a:noFill/>
          <a:ln/>
        </p:spPr>
        <p:txBody>
          <a:bodyPr wrap="square" lIns="0" tIns="0" rIns="0" bIns="0" rtlCol="0" anchor="ctr"/>
          <a:lstStyle/>
          <a:p>
            <a:pPr indent="0" marL="0">
              <a:buNone/>
            </a:pPr>
            <a:r>
              <a:rPr lang="en-US" sz="950" b="1" dirty="0">
                <a:solidFill>
                  <a:srgbClr val="0A3D23"/>
                </a:solidFill>
                <a:latin typeface="Yu Gothic" pitchFamily="34" charset="0"/>
                <a:ea typeface="Yu Gothic" pitchFamily="34" charset="-122"/>
                <a:cs typeface="Yu Gothic" pitchFamily="34" charset="-120"/>
              </a:rPr>
              <a:t>土浦店</a:t>
            </a:r>
            <a:endParaRPr lang="en-US" sz="950" dirty="0"/>
          </a:p>
        </p:txBody>
      </p:sp>
      <p:pic>
        <p:nvPicPr>
          <p:cNvPr id="17" name="Image 2" descr="/home/user/suzuki-ceo/selfcafe-miraiya-trial-deck/assets/photos/.crops/tsuchiura-premium-g-375x211.jpg">    </p:cNvPr>
          <p:cNvPicPr>
            <a:picLocks noChangeAspect="1"/>
          </p:cNvPicPr>
          <p:nvPr/>
        </p:nvPicPr>
        <p:blipFill>
          <a:blip r:embed="rId3"/>
          <a:stretch>
            <a:fillRect/>
          </a:stretch>
        </p:blipFill>
        <p:spPr>
          <a:xfrm>
            <a:off x="4345229" y="1920240"/>
            <a:ext cx="3429000" cy="1928813"/>
          </a:xfrm>
          <a:prstGeom prst="rect">
            <a:avLst/>
          </a:prstGeom>
        </p:spPr>
      </p:pic>
      <p:sp>
        <p:nvSpPr>
          <p:cNvPr id="18" name="Shape 13"/>
          <p:cNvSpPr/>
          <p:nvPr/>
        </p:nvSpPr>
        <p:spPr>
          <a:xfrm>
            <a:off x="4345229" y="1920240"/>
            <a:ext cx="3429000" cy="1928813"/>
          </a:xfrm>
          <a:prstGeom prst="rect">
            <a:avLst/>
          </a:prstGeom>
          <a:ln w="12700">
            <a:solidFill>
              <a:srgbClr val="D8D2C6"/>
            </a:solidFill>
            <a:prstDash val="solid"/>
          </a:ln>
        </p:spPr>
      </p:sp>
      <p:sp>
        <p:nvSpPr>
          <p:cNvPr id="19" name="Shape 14"/>
          <p:cNvSpPr/>
          <p:nvPr/>
        </p:nvSpPr>
        <p:spPr>
          <a:xfrm>
            <a:off x="4473245" y="3391852"/>
            <a:ext cx="749427" cy="329184"/>
          </a:xfrm>
          <a:prstGeom prst="roundRect">
            <a:avLst>
              <a:gd name="adj" fmla="val 13889"/>
            </a:avLst>
          </a:prstGeom>
          <a:solidFill>
            <a:srgbClr val="FFFFFF">
              <a:alpha val="90000"/>
            </a:srgbClr>
          </a:solidFill>
          <a:ln/>
        </p:spPr>
      </p:sp>
      <p:sp>
        <p:nvSpPr>
          <p:cNvPr id="20" name="Text 15"/>
          <p:cNvSpPr/>
          <p:nvPr/>
        </p:nvSpPr>
        <p:spPr>
          <a:xfrm>
            <a:off x="4637837" y="3391852"/>
            <a:ext cx="475107" cy="329184"/>
          </a:xfrm>
          <a:prstGeom prst="rect">
            <a:avLst/>
          </a:prstGeom>
          <a:noFill/>
          <a:ln/>
        </p:spPr>
        <p:txBody>
          <a:bodyPr wrap="square" lIns="0" tIns="0" rIns="0" bIns="0" rtlCol="0" anchor="ctr"/>
          <a:lstStyle/>
          <a:p>
            <a:pPr indent="0" marL="0">
              <a:buNone/>
            </a:pPr>
            <a:r>
              <a:rPr lang="en-US" sz="950" b="1" dirty="0">
                <a:solidFill>
                  <a:srgbClr val="0A3D23"/>
                </a:solidFill>
                <a:latin typeface="Yu Gothic" pitchFamily="34" charset="0"/>
                <a:ea typeface="Yu Gothic" pitchFamily="34" charset="-122"/>
                <a:cs typeface="Yu Gothic" pitchFamily="34" charset="-120"/>
              </a:rPr>
              <a:t>土浦店</a:t>
            </a:r>
            <a:endParaRPr lang="en-US" sz="950" dirty="0"/>
          </a:p>
        </p:txBody>
      </p:sp>
      <p:pic>
        <p:nvPicPr>
          <p:cNvPr id="21" name="Image 3" descr="/home/user/suzuki-ceo/selfcafe-miraiya-trial-deck/assets/photos/.crops/akita-premium-n-375x211.jpg">    </p:cNvPr>
          <p:cNvPicPr>
            <a:picLocks noChangeAspect="1"/>
          </p:cNvPicPr>
          <p:nvPr/>
        </p:nvPicPr>
        <p:blipFill>
          <a:blip r:embed="rId4"/>
          <a:stretch>
            <a:fillRect/>
          </a:stretch>
        </p:blipFill>
        <p:spPr>
          <a:xfrm>
            <a:off x="660197" y="4324540"/>
            <a:ext cx="3429000" cy="1928813"/>
          </a:xfrm>
          <a:prstGeom prst="rect">
            <a:avLst/>
          </a:prstGeom>
        </p:spPr>
      </p:pic>
      <p:sp>
        <p:nvSpPr>
          <p:cNvPr id="22" name="Shape 16"/>
          <p:cNvSpPr/>
          <p:nvPr/>
        </p:nvSpPr>
        <p:spPr>
          <a:xfrm>
            <a:off x="660197" y="4324540"/>
            <a:ext cx="3429000" cy="1928813"/>
          </a:xfrm>
          <a:prstGeom prst="rect">
            <a:avLst/>
          </a:prstGeom>
          <a:ln w="12700">
            <a:solidFill>
              <a:srgbClr val="D8D2C6"/>
            </a:solidFill>
            <a:prstDash val="solid"/>
          </a:ln>
        </p:spPr>
      </p:sp>
      <p:sp>
        <p:nvSpPr>
          <p:cNvPr id="23" name="Shape 17"/>
          <p:cNvSpPr/>
          <p:nvPr/>
        </p:nvSpPr>
        <p:spPr>
          <a:xfrm>
            <a:off x="788213" y="5796153"/>
            <a:ext cx="749427" cy="329184"/>
          </a:xfrm>
          <a:prstGeom prst="roundRect">
            <a:avLst>
              <a:gd name="adj" fmla="val 13889"/>
            </a:avLst>
          </a:prstGeom>
          <a:solidFill>
            <a:srgbClr val="FFFFFF">
              <a:alpha val="90000"/>
            </a:srgbClr>
          </a:solidFill>
          <a:ln/>
        </p:spPr>
      </p:sp>
      <p:sp>
        <p:nvSpPr>
          <p:cNvPr id="24" name="Text 18"/>
          <p:cNvSpPr/>
          <p:nvPr/>
        </p:nvSpPr>
        <p:spPr>
          <a:xfrm>
            <a:off x="952805" y="5796153"/>
            <a:ext cx="475107" cy="329184"/>
          </a:xfrm>
          <a:prstGeom prst="rect">
            <a:avLst/>
          </a:prstGeom>
          <a:noFill/>
          <a:ln/>
        </p:spPr>
        <p:txBody>
          <a:bodyPr wrap="square" lIns="0" tIns="0" rIns="0" bIns="0" rtlCol="0" anchor="ctr"/>
          <a:lstStyle/>
          <a:p>
            <a:pPr indent="0" marL="0">
              <a:buNone/>
            </a:pPr>
            <a:r>
              <a:rPr lang="en-US" sz="950" b="1" dirty="0">
                <a:solidFill>
                  <a:srgbClr val="0A3D23"/>
                </a:solidFill>
                <a:latin typeface="Yu Gothic" pitchFamily="34" charset="0"/>
                <a:ea typeface="Yu Gothic" pitchFamily="34" charset="-122"/>
                <a:cs typeface="Yu Gothic" pitchFamily="34" charset="-120"/>
              </a:rPr>
              <a:t>秋田店</a:t>
            </a:r>
            <a:endParaRPr lang="en-US" sz="950" dirty="0"/>
          </a:p>
        </p:txBody>
      </p:sp>
      <p:pic>
        <p:nvPicPr>
          <p:cNvPr id="25" name="Image 4" descr="/home/user/suzuki-ceo/selfcafe-miraiya-trial-deck/assets/photos/.crops/akita-premium-g-375x211.jpg">    </p:cNvPr>
          <p:cNvPicPr>
            <a:picLocks noChangeAspect="1"/>
          </p:cNvPicPr>
          <p:nvPr/>
        </p:nvPicPr>
        <p:blipFill>
          <a:blip r:embed="rId5"/>
          <a:stretch>
            <a:fillRect/>
          </a:stretch>
        </p:blipFill>
        <p:spPr>
          <a:xfrm>
            <a:off x="4345229" y="4324540"/>
            <a:ext cx="3429000" cy="1928813"/>
          </a:xfrm>
          <a:prstGeom prst="rect">
            <a:avLst/>
          </a:prstGeom>
        </p:spPr>
      </p:pic>
      <p:sp>
        <p:nvSpPr>
          <p:cNvPr id="26" name="Shape 19"/>
          <p:cNvSpPr/>
          <p:nvPr/>
        </p:nvSpPr>
        <p:spPr>
          <a:xfrm>
            <a:off x="4345229" y="4324540"/>
            <a:ext cx="3429000" cy="1928813"/>
          </a:xfrm>
          <a:prstGeom prst="rect">
            <a:avLst/>
          </a:prstGeom>
          <a:ln w="12700">
            <a:solidFill>
              <a:srgbClr val="D8D2C6"/>
            </a:solidFill>
            <a:prstDash val="solid"/>
          </a:ln>
        </p:spPr>
      </p:sp>
      <p:sp>
        <p:nvSpPr>
          <p:cNvPr id="27" name="Shape 20"/>
          <p:cNvSpPr/>
          <p:nvPr/>
        </p:nvSpPr>
        <p:spPr>
          <a:xfrm>
            <a:off x="4473245" y="5796153"/>
            <a:ext cx="749427" cy="329184"/>
          </a:xfrm>
          <a:prstGeom prst="roundRect">
            <a:avLst>
              <a:gd name="adj" fmla="val 13889"/>
            </a:avLst>
          </a:prstGeom>
          <a:solidFill>
            <a:srgbClr val="FFFFFF">
              <a:alpha val="90000"/>
            </a:srgbClr>
          </a:solidFill>
          <a:ln/>
        </p:spPr>
      </p:sp>
      <p:sp>
        <p:nvSpPr>
          <p:cNvPr id="28" name="Text 21"/>
          <p:cNvSpPr/>
          <p:nvPr/>
        </p:nvSpPr>
        <p:spPr>
          <a:xfrm>
            <a:off x="4637837" y="5796153"/>
            <a:ext cx="475107" cy="329184"/>
          </a:xfrm>
          <a:prstGeom prst="rect">
            <a:avLst/>
          </a:prstGeom>
          <a:noFill/>
          <a:ln/>
        </p:spPr>
        <p:txBody>
          <a:bodyPr wrap="square" lIns="0" tIns="0" rIns="0" bIns="0" rtlCol="0" anchor="ctr"/>
          <a:lstStyle/>
          <a:p>
            <a:pPr indent="0" marL="0">
              <a:buNone/>
            </a:pPr>
            <a:r>
              <a:rPr lang="en-US" sz="950" b="1" dirty="0">
                <a:solidFill>
                  <a:srgbClr val="0A3D23"/>
                </a:solidFill>
                <a:latin typeface="Yu Gothic" pitchFamily="34" charset="0"/>
                <a:ea typeface="Yu Gothic" pitchFamily="34" charset="-122"/>
                <a:cs typeface="Yu Gothic" pitchFamily="34" charset="-120"/>
              </a:rPr>
              <a:t>秋田店</a:t>
            </a:r>
            <a:endParaRPr lang="en-US" sz="950" dirty="0"/>
          </a:p>
        </p:txBody>
      </p:sp>
      <p:sp>
        <p:nvSpPr>
          <p:cNvPr id="29" name="Shape 22"/>
          <p:cNvSpPr/>
          <p:nvPr/>
        </p:nvSpPr>
        <p:spPr>
          <a:xfrm>
            <a:off x="8048549" y="1920240"/>
            <a:ext cx="3482950" cy="1928813"/>
          </a:xfrm>
          <a:prstGeom prst="roundRect">
            <a:avLst>
              <a:gd name="adj" fmla="val 2844"/>
            </a:avLst>
          </a:prstGeom>
          <a:solidFill>
            <a:srgbClr val="F1F8F3"/>
          </a:solidFill>
          <a:ln w="9525">
            <a:solidFill>
              <a:srgbClr val="D2E7DA"/>
            </a:solidFill>
            <a:prstDash val="solid"/>
          </a:ln>
        </p:spPr>
      </p:sp>
      <p:sp>
        <p:nvSpPr>
          <p:cNvPr id="30" name="Text 23"/>
          <p:cNvSpPr/>
          <p:nvPr/>
        </p:nvSpPr>
        <p:spPr>
          <a:xfrm>
            <a:off x="8286293" y="2066544"/>
            <a:ext cx="3007462" cy="237744"/>
          </a:xfrm>
          <a:prstGeom prst="rect">
            <a:avLst/>
          </a:prstGeom>
          <a:noFill/>
          <a:ln/>
        </p:spPr>
        <p:txBody>
          <a:bodyPr wrap="square" lIns="0" tIns="0" rIns="0" bIns="0" rtlCol="0" anchor="ctr"/>
          <a:lstStyle/>
          <a:p>
            <a:pPr indent="0" marL="0">
              <a:buNone/>
            </a:pPr>
            <a:r>
              <a:rPr lang="en-US" sz="1050" b="1" dirty="0">
                <a:solidFill>
                  <a:srgbClr val="106838"/>
                </a:solidFill>
                <a:latin typeface="Yu Gothic" pitchFamily="34" charset="0"/>
                <a:ea typeface="Yu Gothic" pitchFamily="34" charset="-122"/>
                <a:cs typeface="Yu Gothic" pitchFamily="34" charset="-120"/>
              </a:rPr>
              <a:t>プレミアム仕様の特徴</a:t>
            </a:r>
            <a:endParaRPr lang="en-US" sz="1050" dirty="0"/>
          </a:p>
        </p:txBody>
      </p:sp>
      <p:pic>
        <p:nvPicPr>
          <p:cNvPr id="31" name="Image 5" descr="/home/user/suzuki-ceo/selfcafe-miraiya-trial-deck/assets/icons/LuCheck-green.png">    </p:cNvPr>
          <p:cNvPicPr>
            <a:picLocks noChangeAspect="1"/>
          </p:cNvPicPr>
          <p:nvPr/>
        </p:nvPicPr>
        <p:blipFill>
          <a:blip r:embed="rId6"/>
          <a:stretch>
            <a:fillRect/>
          </a:stretch>
        </p:blipFill>
        <p:spPr>
          <a:xfrm>
            <a:off x="8304581" y="2423160"/>
            <a:ext cx="164592" cy="164592"/>
          </a:xfrm>
          <a:prstGeom prst="rect">
            <a:avLst/>
          </a:prstGeom>
        </p:spPr>
      </p:pic>
      <p:sp>
        <p:nvSpPr>
          <p:cNvPr id="32" name="Text 24"/>
          <p:cNvSpPr/>
          <p:nvPr/>
        </p:nvSpPr>
        <p:spPr>
          <a:xfrm>
            <a:off x="8578901" y="2377440"/>
            <a:ext cx="2696566" cy="274320"/>
          </a:xfrm>
          <a:prstGeom prst="rect">
            <a:avLst/>
          </a:prstGeom>
          <a:noFill/>
          <a:ln/>
        </p:spPr>
        <p:txBody>
          <a:bodyPr wrap="square" lIns="0" tIns="0" rIns="0" bIns="0" rtlCol="0" anchor="ctr"/>
          <a:lstStyle/>
          <a:p>
            <a:pPr indent="0" marL="0">
              <a:buNone/>
            </a:pPr>
            <a:r>
              <a:rPr lang="en-US" sz="900" dirty="0">
                <a:solidFill>
                  <a:srgbClr val="0A3D23"/>
                </a:solidFill>
                <a:latin typeface="Yu Gothic" pitchFamily="34" charset="0"/>
                <a:ea typeface="Yu Gothic" pitchFamily="34" charset="-122"/>
                <a:cs typeface="Yu Gothic" pitchFamily="34" charset="-120"/>
              </a:rPr>
              <a:t>木製書架と一体の造作</a:t>
            </a:r>
            <a:endParaRPr lang="en-US" sz="900" dirty="0"/>
          </a:p>
        </p:txBody>
      </p:sp>
      <p:pic>
        <p:nvPicPr>
          <p:cNvPr id="33" name="Image 6" descr="/home/user/suzuki-ceo/selfcafe-miraiya-trial-deck/assets/icons/LuCheck-green.png">    </p:cNvPr>
          <p:cNvPicPr>
            <a:picLocks noChangeAspect="1"/>
          </p:cNvPicPr>
          <p:nvPr/>
        </p:nvPicPr>
        <p:blipFill>
          <a:blip r:embed="rId7"/>
          <a:stretch>
            <a:fillRect/>
          </a:stretch>
        </p:blipFill>
        <p:spPr>
          <a:xfrm>
            <a:off x="8304581" y="2752344"/>
            <a:ext cx="164592" cy="164592"/>
          </a:xfrm>
          <a:prstGeom prst="rect">
            <a:avLst/>
          </a:prstGeom>
        </p:spPr>
      </p:pic>
      <p:sp>
        <p:nvSpPr>
          <p:cNvPr id="34" name="Text 25"/>
          <p:cNvSpPr/>
          <p:nvPr/>
        </p:nvSpPr>
        <p:spPr>
          <a:xfrm>
            <a:off x="8578901" y="2706624"/>
            <a:ext cx="2696566" cy="274320"/>
          </a:xfrm>
          <a:prstGeom prst="rect">
            <a:avLst/>
          </a:prstGeom>
          <a:noFill/>
          <a:ln/>
        </p:spPr>
        <p:txBody>
          <a:bodyPr wrap="square" lIns="0" tIns="0" rIns="0" bIns="0" rtlCol="0" anchor="ctr"/>
          <a:lstStyle/>
          <a:p>
            <a:pPr indent="0" marL="0">
              <a:buNone/>
            </a:pPr>
            <a:r>
              <a:rPr lang="en-US" sz="900" dirty="0">
                <a:solidFill>
                  <a:srgbClr val="0A3D23"/>
                </a:solidFill>
                <a:latin typeface="Yu Gothic" pitchFamily="34" charset="0"/>
                <a:ea typeface="Yu Gothic" pitchFamily="34" charset="-122"/>
                <a:cs typeface="Yu Gothic" pitchFamily="34" charset="-120"/>
              </a:rPr>
              <a:t>間接照明・スタンドライト</a:t>
            </a:r>
            <a:endParaRPr lang="en-US" sz="900" dirty="0"/>
          </a:p>
        </p:txBody>
      </p:sp>
      <p:pic>
        <p:nvPicPr>
          <p:cNvPr id="35" name="Image 7" descr="/home/user/suzuki-ceo/selfcafe-miraiya-trial-deck/assets/icons/LuCheck-green.png">    </p:cNvPr>
          <p:cNvPicPr>
            <a:picLocks noChangeAspect="1"/>
          </p:cNvPicPr>
          <p:nvPr/>
        </p:nvPicPr>
        <p:blipFill>
          <a:blip r:embed="rId8"/>
          <a:stretch>
            <a:fillRect/>
          </a:stretch>
        </p:blipFill>
        <p:spPr>
          <a:xfrm>
            <a:off x="8304581" y="3081528"/>
            <a:ext cx="164592" cy="164592"/>
          </a:xfrm>
          <a:prstGeom prst="rect">
            <a:avLst/>
          </a:prstGeom>
        </p:spPr>
      </p:pic>
      <p:sp>
        <p:nvSpPr>
          <p:cNvPr id="36" name="Text 26"/>
          <p:cNvSpPr/>
          <p:nvPr/>
        </p:nvSpPr>
        <p:spPr>
          <a:xfrm>
            <a:off x="8578901" y="3035808"/>
            <a:ext cx="2696566" cy="274320"/>
          </a:xfrm>
          <a:prstGeom prst="rect">
            <a:avLst/>
          </a:prstGeom>
          <a:noFill/>
          <a:ln/>
        </p:spPr>
        <p:txBody>
          <a:bodyPr wrap="square" lIns="0" tIns="0" rIns="0" bIns="0" rtlCol="0" anchor="ctr"/>
          <a:lstStyle/>
          <a:p>
            <a:pPr indent="0" marL="0">
              <a:buNone/>
            </a:pPr>
            <a:r>
              <a:rPr lang="en-US" sz="900" dirty="0">
                <a:solidFill>
                  <a:srgbClr val="0A3D23"/>
                </a:solidFill>
                <a:latin typeface="Yu Gothic" pitchFamily="34" charset="0"/>
                <a:ea typeface="Yu Gothic" pitchFamily="34" charset="-122"/>
                <a:cs typeface="Yu Gothic" pitchFamily="34" charset="-120"/>
              </a:rPr>
              <a:t>落ち着いたダークトーンのサイン</a:t>
            </a:r>
            <a:endParaRPr lang="en-US" sz="900" dirty="0"/>
          </a:p>
        </p:txBody>
      </p:sp>
      <p:pic>
        <p:nvPicPr>
          <p:cNvPr id="37" name="Image 8" descr="/home/user/suzuki-ceo/selfcafe-miraiya-trial-deck/assets/icons/LuCheck-green.png">    </p:cNvPr>
          <p:cNvPicPr>
            <a:picLocks noChangeAspect="1"/>
          </p:cNvPicPr>
          <p:nvPr/>
        </p:nvPicPr>
        <p:blipFill>
          <a:blip r:embed="rId9"/>
          <a:stretch>
            <a:fillRect/>
          </a:stretch>
        </p:blipFill>
        <p:spPr>
          <a:xfrm>
            <a:off x="8304581" y="3410712"/>
            <a:ext cx="164592" cy="164592"/>
          </a:xfrm>
          <a:prstGeom prst="rect">
            <a:avLst/>
          </a:prstGeom>
        </p:spPr>
      </p:pic>
      <p:sp>
        <p:nvSpPr>
          <p:cNvPr id="38" name="Text 27"/>
          <p:cNvSpPr/>
          <p:nvPr/>
        </p:nvSpPr>
        <p:spPr>
          <a:xfrm>
            <a:off x="8578901" y="3364992"/>
            <a:ext cx="2696566" cy="274320"/>
          </a:xfrm>
          <a:prstGeom prst="rect">
            <a:avLst/>
          </a:prstGeom>
          <a:noFill/>
          <a:ln/>
        </p:spPr>
        <p:txBody>
          <a:bodyPr wrap="square" lIns="0" tIns="0" rIns="0" bIns="0" rtlCol="0" anchor="ctr"/>
          <a:lstStyle/>
          <a:p>
            <a:pPr indent="0" marL="0">
              <a:buNone/>
            </a:pPr>
            <a:r>
              <a:rPr lang="en-US" sz="900" dirty="0">
                <a:solidFill>
                  <a:srgbClr val="0A3D23"/>
                </a:solidFill>
                <a:latin typeface="Yu Gothic" pitchFamily="34" charset="0"/>
                <a:ea typeface="Yu Gothic" pitchFamily="34" charset="-122"/>
                <a:cs typeface="Yu Gothic" pitchFamily="34" charset="-120"/>
              </a:rPr>
              <a:t>「MIRAIYA Book &amp; Cafe」併記</a:t>
            </a:r>
            <a:endParaRPr lang="en-US" sz="900" dirty="0"/>
          </a:p>
        </p:txBody>
      </p:sp>
      <p:sp>
        <p:nvSpPr>
          <p:cNvPr id="39" name="Shape 28"/>
          <p:cNvSpPr/>
          <p:nvPr/>
        </p:nvSpPr>
        <p:spPr>
          <a:xfrm>
            <a:off x="8048549" y="4324540"/>
            <a:ext cx="3482950" cy="1928813"/>
          </a:xfrm>
          <a:prstGeom prst="roundRect">
            <a:avLst>
              <a:gd name="adj" fmla="val 2844"/>
            </a:avLst>
          </a:prstGeom>
          <a:solidFill>
            <a:srgbClr val="FFFFFF"/>
          </a:solidFill>
          <a:ln w="9525">
            <a:solidFill>
              <a:srgbClr val="EFEAE0"/>
            </a:solidFill>
            <a:prstDash val="solid"/>
          </a:ln>
        </p:spPr>
      </p:sp>
      <p:sp>
        <p:nvSpPr>
          <p:cNvPr id="40" name="Text 29"/>
          <p:cNvSpPr/>
          <p:nvPr/>
        </p:nvSpPr>
        <p:spPr>
          <a:xfrm>
            <a:off x="8286293" y="4470844"/>
            <a:ext cx="3007462" cy="237744"/>
          </a:xfrm>
          <a:prstGeom prst="rect">
            <a:avLst/>
          </a:prstGeom>
          <a:noFill/>
          <a:ln/>
        </p:spPr>
        <p:txBody>
          <a:bodyPr wrap="square" lIns="0" tIns="0" rIns="0" bIns="0" rtlCol="0" anchor="ctr"/>
          <a:lstStyle/>
          <a:p>
            <a:pPr indent="0" marL="0">
              <a:buNone/>
            </a:pPr>
            <a:r>
              <a:rPr lang="en-US" sz="1050" b="1" dirty="0">
                <a:solidFill>
                  <a:srgbClr val="A8761F"/>
                </a:solidFill>
                <a:latin typeface="Yu Gothic" pitchFamily="34" charset="0"/>
                <a:ea typeface="Yu Gothic" pitchFamily="34" charset="-122"/>
                <a:cs typeface="Yu Gothic" pitchFamily="34" charset="-120"/>
              </a:rPr>
              <a:t>床仕上げの違い</a:t>
            </a:r>
            <a:endParaRPr lang="en-US" sz="1050" dirty="0"/>
          </a:p>
        </p:txBody>
      </p:sp>
      <p:sp>
        <p:nvSpPr>
          <p:cNvPr id="41" name="Text 30"/>
          <p:cNvSpPr/>
          <p:nvPr/>
        </p:nvSpPr>
        <p:spPr>
          <a:xfrm>
            <a:off x="8286293" y="4800028"/>
            <a:ext cx="3007462" cy="219456"/>
          </a:xfrm>
          <a:prstGeom prst="rect">
            <a:avLst/>
          </a:prstGeom>
          <a:noFill/>
          <a:ln/>
        </p:spPr>
        <p:txBody>
          <a:bodyPr wrap="square" lIns="0" tIns="0" rIns="0" bIns="0" rtlCol="0" anchor="ctr"/>
          <a:lstStyle/>
          <a:p>
            <a:pPr indent="0" marL="0">
              <a:buNone/>
            </a:pPr>
            <a:r>
              <a:rPr lang="en-US" sz="950" b="1" dirty="0">
                <a:solidFill>
                  <a:srgbClr val="0A3D23"/>
                </a:solidFill>
                <a:latin typeface="Yu Gothic" pitchFamily="34" charset="0"/>
                <a:ea typeface="Yu Gothic" pitchFamily="34" charset="-122"/>
                <a:cs typeface="Yu Gothic" pitchFamily="34" charset="-120"/>
              </a:rPr>
              <a:t>N案</a:t>
            </a:r>
            <a:endParaRPr lang="en-US" sz="950" dirty="0"/>
          </a:p>
        </p:txBody>
      </p:sp>
      <p:sp>
        <p:nvSpPr>
          <p:cNvPr id="42" name="Text 31"/>
          <p:cNvSpPr/>
          <p:nvPr/>
        </p:nvSpPr>
        <p:spPr>
          <a:xfrm>
            <a:off x="8286293" y="5001196"/>
            <a:ext cx="3007462" cy="420624"/>
          </a:xfrm>
          <a:prstGeom prst="rect">
            <a:avLst/>
          </a:prstGeom>
          <a:noFill/>
          <a:ln/>
        </p:spPr>
        <p:txBody>
          <a:bodyPr wrap="square" lIns="0" tIns="0" rIns="0" bIns="0" rtlCol="0" anchor="t"/>
          <a:lstStyle/>
          <a:p>
            <a:pPr indent="0" marL="0">
              <a:lnSpc>
                <a:spcPct val="120000"/>
              </a:lnSpc>
              <a:buNone/>
            </a:pPr>
            <a:r>
              <a:rPr lang="en-US" sz="900" dirty="0">
                <a:solidFill>
                  <a:srgbClr val="4B5550"/>
                </a:solidFill>
                <a:latin typeface="Yu Gothic" pitchFamily="34" charset="0"/>
                <a:ea typeface="Yu Gothic" pitchFamily="34" charset="-122"/>
                <a:cs typeface="Yu Gothic" pitchFamily="34" charset="-120"/>
              </a:rPr>
              <a:t>書店売場の床と連続し、区画が広く開放的に見えます。</a:t>
            </a:r>
            <a:endParaRPr lang="en-US" sz="900" dirty="0"/>
          </a:p>
        </p:txBody>
      </p:sp>
      <p:sp>
        <p:nvSpPr>
          <p:cNvPr id="43" name="Text 32"/>
          <p:cNvSpPr/>
          <p:nvPr/>
        </p:nvSpPr>
        <p:spPr>
          <a:xfrm>
            <a:off x="8286293" y="5494972"/>
            <a:ext cx="3007462" cy="219456"/>
          </a:xfrm>
          <a:prstGeom prst="rect">
            <a:avLst/>
          </a:prstGeom>
          <a:noFill/>
          <a:ln/>
        </p:spPr>
        <p:txBody>
          <a:bodyPr wrap="square" lIns="0" tIns="0" rIns="0" bIns="0" rtlCol="0" anchor="ctr"/>
          <a:lstStyle/>
          <a:p>
            <a:pPr indent="0" marL="0">
              <a:buNone/>
            </a:pPr>
            <a:r>
              <a:rPr lang="en-US" sz="950" b="1" dirty="0">
                <a:solidFill>
                  <a:srgbClr val="0A3D23"/>
                </a:solidFill>
                <a:latin typeface="Yu Gothic" pitchFamily="34" charset="0"/>
                <a:ea typeface="Yu Gothic" pitchFamily="34" charset="-122"/>
                <a:cs typeface="Yu Gothic" pitchFamily="34" charset="-120"/>
              </a:rPr>
              <a:t>G案</a:t>
            </a:r>
            <a:endParaRPr lang="en-US" sz="950" dirty="0"/>
          </a:p>
        </p:txBody>
      </p:sp>
      <p:sp>
        <p:nvSpPr>
          <p:cNvPr id="44" name="Text 33"/>
          <p:cNvSpPr/>
          <p:nvPr/>
        </p:nvSpPr>
        <p:spPr>
          <a:xfrm>
            <a:off x="8286293" y="5696140"/>
            <a:ext cx="3007462" cy="420624"/>
          </a:xfrm>
          <a:prstGeom prst="rect">
            <a:avLst/>
          </a:prstGeom>
          <a:noFill/>
          <a:ln/>
        </p:spPr>
        <p:txBody>
          <a:bodyPr wrap="square" lIns="0" tIns="0" rIns="0" bIns="0" rtlCol="0" anchor="t"/>
          <a:lstStyle/>
          <a:p>
            <a:pPr indent="0" marL="0">
              <a:lnSpc>
                <a:spcPct val="120000"/>
              </a:lnSpc>
              <a:buNone/>
            </a:pPr>
            <a:r>
              <a:rPr lang="en-US" sz="900" dirty="0">
                <a:solidFill>
                  <a:srgbClr val="4B5550"/>
                </a:solidFill>
                <a:latin typeface="Yu Gothic" pitchFamily="34" charset="0"/>
                <a:ea typeface="Yu Gothic" pitchFamily="34" charset="-122"/>
                <a:cs typeface="Yu Gothic" pitchFamily="34" charset="-120"/>
              </a:rPr>
              <a:t>カフェ区画が明確に分かれ、落ち着いた印象になります。</a:t>
            </a:r>
            <a:endParaRPr lang="en-US" sz="900" dirty="0"/>
          </a:p>
        </p:txBody>
      </p:sp>
      <p:sp>
        <p:nvSpPr>
          <p:cNvPr id="45" name="Text 34"/>
          <p:cNvSpPr/>
          <p:nvPr/>
        </p:nvSpPr>
        <p:spPr>
          <a:xfrm>
            <a:off x="660197" y="6254496"/>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パースは完成予想図です。本ご提案の内装はスタンダード仕様（既存の書店併設店と同じ設え）です。プレミアム仕様をご希望の場合は、工事範囲と費用をあらためてご相談させてください。</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02</a:t>
            </a:r>
            <a:r>
              <a:rPr lang="en-US" sz="1050" b="1" dirty="0">
                <a:solidFill>
                  <a:srgbClr val="1B8149"/>
                </a:solidFill>
                <a:latin typeface="Yu Gothic" pitchFamily="34" charset="0"/>
                <a:ea typeface="Yu Gothic" pitchFamily="34" charset="-122"/>
                <a:cs typeface="Yu Gothic" pitchFamily="34" charset="-120"/>
              </a:rPr>
              <a:t>   トライアル条件</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トライアル導入の条件をご提案します。</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メールにてご提示した内容を、あらためて整理したものです。</a:t>
            </a:r>
            <a:endParaRPr lang="en-US" sz="1250" dirty="0"/>
          </a:p>
        </p:txBody>
      </p:sp>
      <p:pic>
        <p:nvPicPr>
          <p:cNvPr id="6" name="Image 0" descr="/home/user/suzuki-ceo/selfcafe-miraiya-trial-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 未来屋書店 トライアル導入のご提案</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03</a:t>
            </a:r>
            <a:endParaRPr lang="en-US" sz="1000" dirty="0"/>
          </a:p>
        </p:txBody>
      </p:sp>
      <p:sp>
        <p:nvSpPr>
          <p:cNvPr id="9" name="Shape 6"/>
          <p:cNvSpPr/>
          <p:nvPr/>
        </p:nvSpPr>
        <p:spPr>
          <a:xfrm>
            <a:off x="660197" y="1651406"/>
            <a:ext cx="6858000" cy="621792"/>
          </a:xfrm>
          <a:prstGeom prst="roundRect">
            <a:avLst>
              <a:gd name="adj" fmla="val 8824"/>
            </a:avLst>
          </a:prstGeom>
          <a:solidFill>
            <a:srgbClr val="F1F8F3"/>
          </a:solidFill>
          <a:ln w="9525">
            <a:solidFill>
              <a:srgbClr val="D2E7DA"/>
            </a:solidFill>
            <a:prstDash val="solid"/>
          </a:ln>
        </p:spPr>
      </p:sp>
      <p:pic>
        <p:nvPicPr>
          <p:cNvPr id="10" name="Image 1" descr="/home/user/suzuki-ceo/selfcafe-miraiya-trial-deck/assets/icons/LuSparkles-green.png">    </p:cNvPr>
          <p:cNvPicPr>
            <a:picLocks noChangeAspect="1"/>
          </p:cNvPicPr>
          <p:nvPr/>
        </p:nvPicPr>
        <p:blipFill>
          <a:blip r:embed="rId2"/>
          <a:stretch>
            <a:fillRect/>
          </a:stretch>
        </p:blipFill>
        <p:spPr>
          <a:xfrm>
            <a:off x="916229" y="1797710"/>
            <a:ext cx="329184" cy="329184"/>
          </a:xfrm>
          <a:prstGeom prst="rect">
            <a:avLst/>
          </a:prstGeom>
        </p:spPr>
      </p:pic>
      <p:sp>
        <p:nvSpPr>
          <p:cNvPr id="11" name="Text 7"/>
          <p:cNvSpPr/>
          <p:nvPr/>
        </p:nvSpPr>
        <p:spPr>
          <a:xfrm>
            <a:off x="1373429" y="1706270"/>
            <a:ext cx="5888736" cy="237744"/>
          </a:xfrm>
          <a:prstGeom prst="rect">
            <a:avLst/>
          </a:prstGeom>
          <a:noFill/>
          <a:ln/>
        </p:spPr>
        <p:txBody>
          <a:bodyPr wrap="square" lIns="0" tIns="0" rIns="0" bIns="0" rtlCol="0" anchor="ctr"/>
          <a:lstStyle/>
          <a:p>
            <a:pPr indent="0" marL="0">
              <a:buNone/>
            </a:pPr>
            <a:r>
              <a:rPr lang="en-US" sz="1150" b="1" dirty="0">
                <a:solidFill>
                  <a:srgbClr val="106838"/>
                </a:solidFill>
                <a:latin typeface="Yu Gothic" pitchFamily="34" charset="0"/>
                <a:ea typeface="Yu Gothic" pitchFamily="34" charset="-122"/>
                <a:cs typeface="Yu Gothic" pitchFamily="34" charset="-120"/>
              </a:rPr>
              <a:t>内装仕様</a:t>
            </a:r>
            <a:endParaRPr lang="en-US" sz="1150" dirty="0"/>
          </a:p>
        </p:txBody>
      </p:sp>
      <p:sp>
        <p:nvSpPr>
          <p:cNvPr id="12" name="Text 8"/>
          <p:cNvSpPr/>
          <p:nvPr/>
        </p:nvSpPr>
        <p:spPr>
          <a:xfrm>
            <a:off x="1373429" y="1962302"/>
            <a:ext cx="5888736" cy="256032"/>
          </a:xfrm>
          <a:prstGeom prst="rect">
            <a:avLst/>
          </a:prstGeom>
          <a:noFill/>
          <a:ln/>
        </p:spPr>
        <p:txBody>
          <a:bodyPr wrap="square" lIns="0" tIns="0" rIns="0" bIns="0" rtlCol="0" anchor="ctr"/>
          <a:lstStyle/>
          <a:p>
            <a:pPr indent="0" marL="0">
              <a:buNone/>
            </a:pPr>
            <a:r>
              <a:rPr lang="en-US" sz="1050" dirty="0">
                <a:solidFill>
                  <a:srgbClr val="0A3D23"/>
                </a:solidFill>
                <a:latin typeface="Yu Gothic" pitchFamily="34" charset="0"/>
                <a:ea typeface="Yu Gothic" pitchFamily="34" charset="-122"/>
                <a:cs typeface="Yu Gothic" pitchFamily="34" charset="-120"/>
              </a:rPr>
              <a:t>スタンダード仕様（既存の書店併設店と同じ設え）</a:t>
            </a:r>
            <a:endParaRPr lang="en-US" sz="1050" dirty="0"/>
          </a:p>
        </p:txBody>
      </p:sp>
      <p:sp>
        <p:nvSpPr>
          <p:cNvPr id="13" name="Shape 9"/>
          <p:cNvSpPr/>
          <p:nvPr/>
        </p:nvSpPr>
        <p:spPr>
          <a:xfrm>
            <a:off x="660197" y="2364638"/>
            <a:ext cx="6858000" cy="621792"/>
          </a:xfrm>
          <a:prstGeom prst="roundRect">
            <a:avLst>
              <a:gd name="adj" fmla="val 8824"/>
            </a:avLst>
          </a:prstGeom>
          <a:solidFill>
            <a:srgbClr val="F1F8F3"/>
          </a:solidFill>
          <a:ln w="9525">
            <a:solidFill>
              <a:srgbClr val="D2E7DA"/>
            </a:solidFill>
            <a:prstDash val="solid"/>
          </a:ln>
        </p:spPr>
      </p:sp>
      <p:pic>
        <p:nvPicPr>
          <p:cNvPr id="14" name="Image 2" descr="/home/user/suzuki-ceo/selfcafe-miraiya-trial-deck/assets/icons/LuHammer-green.png">    </p:cNvPr>
          <p:cNvPicPr>
            <a:picLocks noChangeAspect="1"/>
          </p:cNvPicPr>
          <p:nvPr/>
        </p:nvPicPr>
        <p:blipFill>
          <a:blip r:embed="rId3"/>
          <a:stretch>
            <a:fillRect/>
          </a:stretch>
        </p:blipFill>
        <p:spPr>
          <a:xfrm>
            <a:off x="916229" y="2510942"/>
            <a:ext cx="329184" cy="329184"/>
          </a:xfrm>
          <a:prstGeom prst="rect">
            <a:avLst/>
          </a:prstGeom>
        </p:spPr>
      </p:pic>
      <p:sp>
        <p:nvSpPr>
          <p:cNvPr id="15" name="Text 10"/>
          <p:cNvSpPr/>
          <p:nvPr/>
        </p:nvSpPr>
        <p:spPr>
          <a:xfrm>
            <a:off x="1373429" y="2419502"/>
            <a:ext cx="5888736" cy="237744"/>
          </a:xfrm>
          <a:prstGeom prst="rect">
            <a:avLst/>
          </a:prstGeom>
          <a:noFill/>
          <a:ln/>
        </p:spPr>
        <p:txBody>
          <a:bodyPr wrap="square" lIns="0" tIns="0" rIns="0" bIns="0" rtlCol="0" anchor="ctr"/>
          <a:lstStyle/>
          <a:p>
            <a:pPr indent="0" marL="0">
              <a:buNone/>
            </a:pPr>
            <a:r>
              <a:rPr lang="en-US" sz="1150" b="1" dirty="0">
                <a:solidFill>
                  <a:srgbClr val="106838"/>
                </a:solidFill>
                <a:latin typeface="Yu Gothic" pitchFamily="34" charset="0"/>
                <a:ea typeface="Yu Gothic" pitchFamily="34" charset="-122"/>
                <a:cs typeface="Yu Gothic" pitchFamily="34" charset="-120"/>
              </a:rPr>
              <a:t>工事部分</a:t>
            </a:r>
            <a:endParaRPr lang="en-US" sz="1150" dirty="0"/>
          </a:p>
        </p:txBody>
      </p:sp>
      <p:sp>
        <p:nvSpPr>
          <p:cNvPr id="16" name="Text 11"/>
          <p:cNvSpPr/>
          <p:nvPr/>
        </p:nvSpPr>
        <p:spPr>
          <a:xfrm>
            <a:off x="1373429" y="2675534"/>
            <a:ext cx="5888736" cy="256032"/>
          </a:xfrm>
          <a:prstGeom prst="rect">
            <a:avLst/>
          </a:prstGeom>
          <a:noFill/>
          <a:ln/>
        </p:spPr>
        <p:txBody>
          <a:bodyPr wrap="square" lIns="0" tIns="0" rIns="0" bIns="0" rtlCol="0" anchor="ctr"/>
          <a:lstStyle/>
          <a:p>
            <a:pPr indent="0" marL="0">
              <a:buNone/>
            </a:pPr>
            <a:r>
              <a:rPr lang="en-US" sz="1050" dirty="0">
                <a:solidFill>
                  <a:srgbClr val="0A3D23"/>
                </a:solidFill>
                <a:latin typeface="Yu Gothic" pitchFamily="34" charset="0"/>
                <a:ea typeface="Yu Gothic" pitchFamily="34" charset="-122"/>
                <a:cs typeface="Yu Gothic" pitchFamily="34" charset="-120"/>
              </a:rPr>
              <a:t>セルフカフェが負担します（御社のご負担なし）</a:t>
            </a:r>
            <a:endParaRPr lang="en-US" sz="1050" dirty="0"/>
          </a:p>
        </p:txBody>
      </p:sp>
      <p:sp>
        <p:nvSpPr>
          <p:cNvPr id="17" name="Shape 12"/>
          <p:cNvSpPr/>
          <p:nvPr/>
        </p:nvSpPr>
        <p:spPr>
          <a:xfrm>
            <a:off x="660197" y="3077870"/>
            <a:ext cx="6858000" cy="621792"/>
          </a:xfrm>
          <a:prstGeom prst="roundRect">
            <a:avLst>
              <a:gd name="adj" fmla="val 8824"/>
            </a:avLst>
          </a:prstGeom>
          <a:solidFill>
            <a:srgbClr val="F1F8F3"/>
          </a:solidFill>
          <a:ln w="9525">
            <a:solidFill>
              <a:srgbClr val="D2E7DA"/>
            </a:solidFill>
            <a:prstDash val="solid"/>
          </a:ln>
        </p:spPr>
      </p:sp>
      <p:pic>
        <p:nvPicPr>
          <p:cNvPr id="18" name="Image 3" descr="/home/user/suzuki-ceo/selfcafe-miraiya-trial-deck/assets/icons/LuLandPlot-green.png">    </p:cNvPr>
          <p:cNvPicPr>
            <a:picLocks noChangeAspect="1"/>
          </p:cNvPicPr>
          <p:nvPr/>
        </p:nvPicPr>
        <p:blipFill>
          <a:blip r:embed="rId4"/>
          <a:stretch>
            <a:fillRect/>
          </a:stretch>
        </p:blipFill>
        <p:spPr>
          <a:xfrm>
            <a:off x="916229" y="3224174"/>
            <a:ext cx="329184" cy="329184"/>
          </a:xfrm>
          <a:prstGeom prst="rect">
            <a:avLst/>
          </a:prstGeom>
        </p:spPr>
      </p:pic>
      <p:sp>
        <p:nvSpPr>
          <p:cNvPr id="19" name="Text 13"/>
          <p:cNvSpPr/>
          <p:nvPr/>
        </p:nvSpPr>
        <p:spPr>
          <a:xfrm>
            <a:off x="1373429" y="3132734"/>
            <a:ext cx="5888736" cy="237744"/>
          </a:xfrm>
          <a:prstGeom prst="rect">
            <a:avLst/>
          </a:prstGeom>
          <a:noFill/>
          <a:ln/>
        </p:spPr>
        <p:txBody>
          <a:bodyPr wrap="square" lIns="0" tIns="0" rIns="0" bIns="0" rtlCol="0" anchor="ctr"/>
          <a:lstStyle/>
          <a:p>
            <a:pPr indent="0" marL="0">
              <a:buNone/>
            </a:pPr>
            <a:r>
              <a:rPr lang="en-US" sz="1150" b="1" dirty="0">
                <a:solidFill>
                  <a:srgbClr val="106838"/>
                </a:solidFill>
                <a:latin typeface="Yu Gothic" pitchFamily="34" charset="0"/>
                <a:ea typeface="Yu Gothic" pitchFamily="34" charset="-122"/>
                <a:cs typeface="Yu Gothic" pitchFamily="34" charset="-120"/>
              </a:rPr>
              <a:t>家具・什器</a:t>
            </a:r>
            <a:endParaRPr lang="en-US" sz="1150" dirty="0"/>
          </a:p>
        </p:txBody>
      </p:sp>
      <p:sp>
        <p:nvSpPr>
          <p:cNvPr id="20" name="Text 14"/>
          <p:cNvSpPr/>
          <p:nvPr/>
        </p:nvSpPr>
        <p:spPr>
          <a:xfrm>
            <a:off x="1373429" y="3388766"/>
            <a:ext cx="5888736" cy="256032"/>
          </a:xfrm>
          <a:prstGeom prst="rect">
            <a:avLst/>
          </a:prstGeom>
          <a:noFill/>
          <a:ln/>
        </p:spPr>
        <p:txBody>
          <a:bodyPr wrap="square" lIns="0" tIns="0" rIns="0" bIns="0" rtlCol="0" anchor="ctr"/>
          <a:lstStyle/>
          <a:p>
            <a:pPr indent="0" marL="0">
              <a:buNone/>
            </a:pPr>
            <a:r>
              <a:rPr lang="en-US" sz="1050" dirty="0">
                <a:solidFill>
                  <a:srgbClr val="0A3D23"/>
                </a:solidFill>
                <a:latin typeface="Yu Gothic" pitchFamily="34" charset="0"/>
                <a:ea typeface="Yu Gothic" pitchFamily="34" charset="-122"/>
                <a:cs typeface="Yu Gothic" pitchFamily="34" charset="-120"/>
              </a:rPr>
              <a:t>御社にてご手配いただきます（御社の所有となります）</a:t>
            </a:r>
            <a:endParaRPr lang="en-US" sz="1050" dirty="0"/>
          </a:p>
        </p:txBody>
      </p:sp>
      <p:sp>
        <p:nvSpPr>
          <p:cNvPr id="21" name="Shape 15"/>
          <p:cNvSpPr/>
          <p:nvPr/>
        </p:nvSpPr>
        <p:spPr>
          <a:xfrm>
            <a:off x="660197" y="3791102"/>
            <a:ext cx="6858000" cy="621792"/>
          </a:xfrm>
          <a:prstGeom prst="roundRect">
            <a:avLst>
              <a:gd name="adj" fmla="val 8824"/>
            </a:avLst>
          </a:prstGeom>
          <a:solidFill>
            <a:srgbClr val="F1F8F3"/>
          </a:solidFill>
          <a:ln w="9525">
            <a:solidFill>
              <a:srgbClr val="D2E7DA"/>
            </a:solidFill>
            <a:prstDash val="solid"/>
          </a:ln>
        </p:spPr>
      </p:sp>
      <p:pic>
        <p:nvPicPr>
          <p:cNvPr id="22" name="Image 4" descr="/home/user/suzuki-ceo/selfcafe-miraiya-trial-deck/assets/icons/LuHandCoins-green.png">    </p:cNvPr>
          <p:cNvPicPr>
            <a:picLocks noChangeAspect="1"/>
          </p:cNvPicPr>
          <p:nvPr/>
        </p:nvPicPr>
        <p:blipFill>
          <a:blip r:embed="rId5"/>
          <a:stretch>
            <a:fillRect/>
          </a:stretch>
        </p:blipFill>
        <p:spPr>
          <a:xfrm>
            <a:off x="916229" y="3937406"/>
            <a:ext cx="329184" cy="329184"/>
          </a:xfrm>
          <a:prstGeom prst="rect">
            <a:avLst/>
          </a:prstGeom>
        </p:spPr>
      </p:pic>
      <p:sp>
        <p:nvSpPr>
          <p:cNvPr id="23" name="Text 16"/>
          <p:cNvSpPr/>
          <p:nvPr/>
        </p:nvSpPr>
        <p:spPr>
          <a:xfrm>
            <a:off x="1373429" y="3845966"/>
            <a:ext cx="5888736" cy="237744"/>
          </a:xfrm>
          <a:prstGeom prst="rect">
            <a:avLst/>
          </a:prstGeom>
          <a:noFill/>
          <a:ln/>
        </p:spPr>
        <p:txBody>
          <a:bodyPr wrap="square" lIns="0" tIns="0" rIns="0" bIns="0" rtlCol="0" anchor="ctr"/>
          <a:lstStyle/>
          <a:p>
            <a:pPr indent="0" marL="0">
              <a:buNone/>
            </a:pPr>
            <a:r>
              <a:rPr lang="en-US" sz="1150" b="1" dirty="0">
                <a:solidFill>
                  <a:srgbClr val="106838"/>
                </a:solidFill>
                <a:latin typeface="Yu Gothic" pitchFamily="34" charset="0"/>
                <a:ea typeface="Yu Gothic" pitchFamily="34" charset="-122"/>
                <a:cs typeface="Yu Gothic" pitchFamily="34" charset="-120"/>
              </a:rPr>
              <a:t>お支払い</a:t>
            </a:r>
            <a:endParaRPr lang="en-US" sz="1150" dirty="0"/>
          </a:p>
        </p:txBody>
      </p:sp>
      <p:sp>
        <p:nvSpPr>
          <p:cNvPr id="24" name="Text 17"/>
          <p:cNvSpPr/>
          <p:nvPr/>
        </p:nvSpPr>
        <p:spPr>
          <a:xfrm>
            <a:off x="1373429" y="4101998"/>
            <a:ext cx="5888736" cy="256032"/>
          </a:xfrm>
          <a:prstGeom prst="rect">
            <a:avLst/>
          </a:prstGeom>
          <a:noFill/>
          <a:ln/>
        </p:spPr>
        <p:txBody>
          <a:bodyPr wrap="square" lIns="0" tIns="0" rIns="0" bIns="0" rtlCol="0" anchor="ctr"/>
          <a:lstStyle/>
          <a:p>
            <a:pPr indent="0" marL="0">
              <a:buNone/>
            </a:pPr>
            <a:r>
              <a:rPr lang="en-US" sz="1050" dirty="0">
                <a:solidFill>
                  <a:srgbClr val="0A3D23"/>
                </a:solidFill>
                <a:latin typeface="Yu Gothic" pitchFamily="34" charset="0"/>
                <a:ea typeface="Yu Gothic" pitchFamily="34" charset="-122"/>
                <a:cs typeface="Yu Gothic" pitchFamily="34" charset="-120"/>
              </a:rPr>
              <a:t>セルフカフェ売上の25％を毎月お支払いします</a:t>
            </a:r>
            <a:endParaRPr lang="en-US" sz="1050" dirty="0"/>
          </a:p>
        </p:txBody>
      </p:sp>
      <p:sp>
        <p:nvSpPr>
          <p:cNvPr id="25" name="Shape 18"/>
          <p:cNvSpPr/>
          <p:nvPr/>
        </p:nvSpPr>
        <p:spPr>
          <a:xfrm>
            <a:off x="660197" y="4504334"/>
            <a:ext cx="6858000" cy="621792"/>
          </a:xfrm>
          <a:prstGeom prst="roundRect">
            <a:avLst>
              <a:gd name="adj" fmla="val 8824"/>
            </a:avLst>
          </a:prstGeom>
          <a:solidFill>
            <a:srgbClr val="F1F8F3"/>
          </a:solidFill>
          <a:ln w="9525">
            <a:solidFill>
              <a:srgbClr val="D2E7DA"/>
            </a:solidFill>
            <a:prstDash val="solid"/>
          </a:ln>
        </p:spPr>
      </p:sp>
      <p:pic>
        <p:nvPicPr>
          <p:cNvPr id="26" name="Image 5" descr="/home/user/suzuki-ceo/selfcafe-miraiya-trial-deck/assets/icons/LuCalendarCheck-green.png">    </p:cNvPr>
          <p:cNvPicPr>
            <a:picLocks noChangeAspect="1"/>
          </p:cNvPicPr>
          <p:nvPr/>
        </p:nvPicPr>
        <p:blipFill>
          <a:blip r:embed="rId6"/>
          <a:stretch>
            <a:fillRect/>
          </a:stretch>
        </p:blipFill>
        <p:spPr>
          <a:xfrm>
            <a:off x="916229" y="4650638"/>
            <a:ext cx="329184" cy="329184"/>
          </a:xfrm>
          <a:prstGeom prst="rect">
            <a:avLst/>
          </a:prstGeom>
        </p:spPr>
      </p:pic>
      <p:sp>
        <p:nvSpPr>
          <p:cNvPr id="27" name="Text 19"/>
          <p:cNvSpPr/>
          <p:nvPr/>
        </p:nvSpPr>
        <p:spPr>
          <a:xfrm>
            <a:off x="1373429" y="4559198"/>
            <a:ext cx="5888736" cy="237744"/>
          </a:xfrm>
          <a:prstGeom prst="rect">
            <a:avLst/>
          </a:prstGeom>
          <a:noFill/>
          <a:ln/>
        </p:spPr>
        <p:txBody>
          <a:bodyPr wrap="square" lIns="0" tIns="0" rIns="0" bIns="0" rtlCol="0" anchor="ctr"/>
          <a:lstStyle/>
          <a:p>
            <a:pPr indent="0" marL="0">
              <a:buNone/>
            </a:pPr>
            <a:r>
              <a:rPr lang="en-US" sz="1150" b="1" dirty="0">
                <a:solidFill>
                  <a:srgbClr val="106838"/>
                </a:solidFill>
                <a:latin typeface="Yu Gothic" pitchFamily="34" charset="0"/>
                <a:ea typeface="Yu Gothic" pitchFamily="34" charset="-122"/>
                <a:cs typeface="Yu Gothic" pitchFamily="34" charset="-120"/>
              </a:rPr>
              <a:t>契約期間</a:t>
            </a:r>
            <a:endParaRPr lang="en-US" sz="1150" dirty="0"/>
          </a:p>
        </p:txBody>
      </p:sp>
      <p:sp>
        <p:nvSpPr>
          <p:cNvPr id="28" name="Text 20"/>
          <p:cNvSpPr/>
          <p:nvPr/>
        </p:nvSpPr>
        <p:spPr>
          <a:xfrm>
            <a:off x="1373429" y="4815230"/>
            <a:ext cx="5888736" cy="256032"/>
          </a:xfrm>
          <a:prstGeom prst="rect">
            <a:avLst/>
          </a:prstGeom>
          <a:noFill/>
          <a:ln/>
        </p:spPr>
        <p:txBody>
          <a:bodyPr wrap="square" lIns="0" tIns="0" rIns="0" bIns="0" rtlCol="0" anchor="ctr"/>
          <a:lstStyle/>
          <a:p>
            <a:pPr indent="0" marL="0">
              <a:buNone/>
            </a:pPr>
            <a:r>
              <a:rPr lang="en-US" sz="1050" dirty="0">
                <a:solidFill>
                  <a:srgbClr val="0A3D23"/>
                </a:solidFill>
                <a:latin typeface="Yu Gothic" pitchFamily="34" charset="0"/>
                <a:ea typeface="Yu Gothic" pitchFamily="34" charset="-122"/>
                <a:cs typeface="Yu Gothic" pitchFamily="34" charset="-120"/>
              </a:rPr>
              <a:t>1年（通常は3年以上のところ、今回は1年で）</a:t>
            </a:r>
            <a:endParaRPr lang="en-US" sz="1050" dirty="0"/>
          </a:p>
        </p:txBody>
      </p:sp>
      <p:sp>
        <p:nvSpPr>
          <p:cNvPr id="29" name="Shape 21"/>
          <p:cNvSpPr/>
          <p:nvPr/>
        </p:nvSpPr>
        <p:spPr>
          <a:xfrm>
            <a:off x="660197" y="5217566"/>
            <a:ext cx="6858000" cy="621792"/>
          </a:xfrm>
          <a:prstGeom prst="roundRect">
            <a:avLst>
              <a:gd name="adj" fmla="val 8824"/>
            </a:avLst>
          </a:prstGeom>
          <a:solidFill>
            <a:srgbClr val="F1F8F3"/>
          </a:solidFill>
          <a:ln w="9525">
            <a:solidFill>
              <a:srgbClr val="D2E7DA"/>
            </a:solidFill>
            <a:prstDash val="solid"/>
          </a:ln>
        </p:spPr>
      </p:sp>
      <p:pic>
        <p:nvPicPr>
          <p:cNvPr id="30" name="Image 6" descr="/home/user/suzuki-ceo/selfcafe-miraiya-trial-deck/assets/icons/LuKeyRound-green.png">    </p:cNvPr>
          <p:cNvPicPr>
            <a:picLocks noChangeAspect="1"/>
          </p:cNvPicPr>
          <p:nvPr/>
        </p:nvPicPr>
        <p:blipFill>
          <a:blip r:embed="rId7"/>
          <a:stretch>
            <a:fillRect/>
          </a:stretch>
        </p:blipFill>
        <p:spPr>
          <a:xfrm>
            <a:off x="916229" y="5363870"/>
            <a:ext cx="329184" cy="329184"/>
          </a:xfrm>
          <a:prstGeom prst="rect">
            <a:avLst/>
          </a:prstGeom>
        </p:spPr>
      </p:pic>
      <p:sp>
        <p:nvSpPr>
          <p:cNvPr id="31" name="Text 22"/>
          <p:cNvSpPr/>
          <p:nvPr/>
        </p:nvSpPr>
        <p:spPr>
          <a:xfrm>
            <a:off x="1373429" y="5272430"/>
            <a:ext cx="5888736" cy="237744"/>
          </a:xfrm>
          <a:prstGeom prst="rect">
            <a:avLst/>
          </a:prstGeom>
          <a:noFill/>
          <a:ln/>
        </p:spPr>
        <p:txBody>
          <a:bodyPr wrap="square" lIns="0" tIns="0" rIns="0" bIns="0" rtlCol="0" anchor="ctr"/>
          <a:lstStyle/>
          <a:p>
            <a:pPr indent="0" marL="0">
              <a:buNone/>
            </a:pPr>
            <a:r>
              <a:rPr lang="en-US" sz="1150" b="1" dirty="0">
                <a:solidFill>
                  <a:srgbClr val="106838"/>
                </a:solidFill>
                <a:latin typeface="Yu Gothic" pitchFamily="34" charset="0"/>
                <a:ea typeface="Yu Gothic" pitchFamily="34" charset="-122"/>
                <a:cs typeface="Yu Gothic" pitchFamily="34" charset="-120"/>
              </a:rPr>
              <a:t>原状回復義務</a:t>
            </a:r>
            <a:endParaRPr lang="en-US" sz="1150" dirty="0"/>
          </a:p>
        </p:txBody>
      </p:sp>
      <p:sp>
        <p:nvSpPr>
          <p:cNvPr id="32" name="Text 23"/>
          <p:cNvSpPr/>
          <p:nvPr/>
        </p:nvSpPr>
        <p:spPr>
          <a:xfrm>
            <a:off x="1373429" y="5528462"/>
            <a:ext cx="5888736" cy="256032"/>
          </a:xfrm>
          <a:prstGeom prst="rect">
            <a:avLst/>
          </a:prstGeom>
          <a:noFill/>
          <a:ln/>
        </p:spPr>
        <p:txBody>
          <a:bodyPr wrap="square" lIns="0" tIns="0" rIns="0" bIns="0" rtlCol="0" anchor="ctr"/>
          <a:lstStyle/>
          <a:p>
            <a:pPr indent="0" marL="0">
              <a:buNone/>
            </a:pPr>
            <a:r>
              <a:rPr lang="en-US" sz="1050" dirty="0">
                <a:solidFill>
                  <a:srgbClr val="0A3D23"/>
                </a:solidFill>
                <a:latin typeface="Yu Gothic" pitchFamily="34" charset="0"/>
                <a:ea typeface="Yu Gothic" pitchFamily="34" charset="-122"/>
                <a:cs typeface="Yu Gothic" pitchFamily="34" charset="-120"/>
              </a:rPr>
              <a:t>なし（当社のマシン・カメラ等のみ撤去します）</a:t>
            </a:r>
            <a:endParaRPr lang="en-US" sz="1050" dirty="0"/>
          </a:p>
        </p:txBody>
      </p:sp>
      <p:sp>
        <p:nvSpPr>
          <p:cNvPr id="33" name="Shape 24"/>
          <p:cNvSpPr/>
          <p:nvPr/>
        </p:nvSpPr>
        <p:spPr>
          <a:xfrm>
            <a:off x="7902245" y="1651406"/>
            <a:ext cx="3629254" cy="2103120"/>
          </a:xfrm>
          <a:prstGeom prst="roundRect">
            <a:avLst>
              <a:gd name="adj" fmla="val 2609"/>
            </a:avLst>
          </a:prstGeom>
          <a:solidFill>
            <a:srgbClr val="0C5230"/>
          </a:solidFill>
          <a:ln/>
        </p:spPr>
      </p:sp>
      <p:sp>
        <p:nvSpPr>
          <p:cNvPr id="34" name="Text 25"/>
          <p:cNvSpPr/>
          <p:nvPr/>
        </p:nvSpPr>
        <p:spPr>
          <a:xfrm>
            <a:off x="8158277" y="1870862"/>
            <a:ext cx="237744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REVENUE SHARE</a:t>
            </a:r>
            <a:endParaRPr lang="en-US" sz="900" dirty="0"/>
          </a:p>
        </p:txBody>
      </p:sp>
      <p:sp>
        <p:nvSpPr>
          <p:cNvPr id="35" name="Text 26"/>
          <p:cNvSpPr/>
          <p:nvPr/>
        </p:nvSpPr>
        <p:spPr>
          <a:xfrm>
            <a:off x="8158277" y="2145182"/>
            <a:ext cx="3117190" cy="256032"/>
          </a:xfrm>
          <a:prstGeom prst="rect">
            <a:avLst/>
          </a:prstGeom>
          <a:noFill/>
          <a:ln/>
        </p:spPr>
        <p:txBody>
          <a:bodyPr wrap="square" lIns="0" tIns="0" rIns="0" bIns="0" rtlCol="0" anchor="ctr"/>
          <a:lstStyle/>
          <a:p>
            <a:pPr indent="0" marL="0">
              <a:buNone/>
            </a:pPr>
            <a:r>
              <a:rPr lang="en-US" sz="1100" dirty="0">
                <a:solidFill>
                  <a:srgbClr val="AFC2B8"/>
                </a:solidFill>
                <a:latin typeface="Yu Gothic" pitchFamily="34" charset="0"/>
                <a:ea typeface="Yu Gothic" pitchFamily="34" charset="-122"/>
                <a:cs typeface="Yu Gothic" pitchFamily="34" charset="-120"/>
              </a:rPr>
              <a:t>御社へのお支払い</a:t>
            </a:r>
            <a:endParaRPr lang="en-US" sz="1100" dirty="0"/>
          </a:p>
        </p:txBody>
      </p:sp>
      <p:sp>
        <p:nvSpPr>
          <p:cNvPr id="36" name="Text 27"/>
          <p:cNvSpPr/>
          <p:nvPr/>
        </p:nvSpPr>
        <p:spPr>
          <a:xfrm>
            <a:off x="8158277" y="2474366"/>
            <a:ext cx="3117190" cy="731520"/>
          </a:xfrm>
          <a:prstGeom prst="rect">
            <a:avLst/>
          </a:prstGeom>
          <a:noFill/>
          <a:ln/>
        </p:spPr>
        <p:txBody>
          <a:bodyPr wrap="square" lIns="0" tIns="0" rIns="0" bIns="0" rtlCol="0" anchor="ctr"/>
          <a:lstStyle/>
          <a:p>
            <a:pPr indent="0" marL="0">
              <a:buNone/>
            </a:pPr>
            <a:r>
              <a:rPr lang="en-US" sz="1400" dirty="0">
                <a:solidFill>
                  <a:srgbClr val="FFFFFF"/>
                </a:solidFill>
                <a:latin typeface="Yu Gothic" pitchFamily="34" charset="0"/>
                <a:ea typeface="Yu Gothic" pitchFamily="34" charset="-122"/>
                <a:cs typeface="Yu Gothic" pitchFamily="34" charset="-120"/>
              </a:rPr>
              <a:t>売上の </a:t>
            </a:r>
            <a:r>
              <a:rPr lang="en-US" sz="4000" b="1" dirty="0">
                <a:solidFill>
                  <a:srgbClr val="F0C05A"/>
                </a:solidFill>
                <a:latin typeface="Arial" pitchFamily="34" charset="0"/>
                <a:ea typeface="Arial" pitchFamily="34" charset="-122"/>
                <a:cs typeface="Arial" pitchFamily="34" charset="-120"/>
              </a:rPr>
              <a:t>25</a:t>
            </a:r>
            <a:r>
              <a:rPr lang="en-US" sz="1700" b="1" dirty="0">
                <a:solidFill>
                  <a:srgbClr val="F0C05A"/>
                </a:solidFill>
                <a:latin typeface="Yu Gothic" pitchFamily="34" charset="0"/>
                <a:ea typeface="Yu Gothic" pitchFamily="34" charset="-122"/>
                <a:cs typeface="Yu Gothic" pitchFamily="34" charset="-120"/>
              </a:rPr>
              <a:t> ％</a:t>
            </a:r>
            <a:endParaRPr lang="en-US" sz="1400" dirty="0"/>
          </a:p>
        </p:txBody>
      </p:sp>
      <p:sp>
        <p:nvSpPr>
          <p:cNvPr id="37" name="Text 28"/>
          <p:cNvSpPr/>
          <p:nvPr/>
        </p:nvSpPr>
        <p:spPr>
          <a:xfrm>
            <a:off x="8158277" y="3279038"/>
            <a:ext cx="3117190" cy="274320"/>
          </a:xfrm>
          <a:prstGeom prst="rect">
            <a:avLst/>
          </a:prstGeom>
          <a:noFill/>
          <a:ln/>
        </p:spPr>
        <p:txBody>
          <a:bodyPr wrap="square" lIns="0" tIns="0" rIns="0" bIns="0" rtlCol="0" anchor="ctr"/>
          <a:lstStyle/>
          <a:p>
            <a:pPr indent="0" marL="0">
              <a:buNone/>
            </a:pPr>
            <a:r>
              <a:rPr lang="en-US" sz="950" dirty="0">
                <a:solidFill>
                  <a:srgbClr val="AFC2B8"/>
                </a:solidFill>
                <a:latin typeface="Yu Gothic" pitchFamily="34" charset="0"/>
                <a:ea typeface="Yu Gothic" pitchFamily="34" charset="-122"/>
                <a:cs typeface="Yu Gothic" pitchFamily="34" charset="-120"/>
              </a:rPr>
              <a:t>毎月お支払いします（税抜）</a:t>
            </a:r>
            <a:endParaRPr lang="en-US" sz="950" dirty="0"/>
          </a:p>
        </p:txBody>
      </p:sp>
      <p:sp>
        <p:nvSpPr>
          <p:cNvPr id="38" name="Shape 29"/>
          <p:cNvSpPr/>
          <p:nvPr/>
        </p:nvSpPr>
        <p:spPr>
          <a:xfrm>
            <a:off x="7902245" y="3882542"/>
            <a:ext cx="3629254" cy="1060704"/>
          </a:xfrm>
          <a:prstGeom prst="roundRect">
            <a:avLst>
              <a:gd name="adj" fmla="val 5172"/>
            </a:avLst>
          </a:prstGeom>
          <a:solidFill>
            <a:srgbClr val="F1F8F3"/>
          </a:solidFill>
          <a:ln w="9525">
            <a:solidFill>
              <a:srgbClr val="D2E7DA"/>
            </a:solidFill>
            <a:prstDash val="solid"/>
          </a:ln>
        </p:spPr>
      </p:sp>
      <p:sp>
        <p:nvSpPr>
          <p:cNvPr id="39" name="Text 30"/>
          <p:cNvSpPr/>
          <p:nvPr/>
        </p:nvSpPr>
        <p:spPr>
          <a:xfrm>
            <a:off x="8158277" y="4010558"/>
            <a:ext cx="3117190" cy="237744"/>
          </a:xfrm>
          <a:prstGeom prst="rect">
            <a:avLst/>
          </a:prstGeom>
          <a:noFill/>
          <a:ln/>
        </p:spPr>
        <p:txBody>
          <a:bodyPr wrap="square" lIns="0" tIns="0" rIns="0" bIns="0" rtlCol="0" anchor="ctr"/>
          <a:lstStyle/>
          <a:p>
            <a:pPr indent="0" marL="0">
              <a:buNone/>
            </a:pPr>
            <a:r>
              <a:rPr lang="en-US" sz="1050" b="1" dirty="0">
                <a:solidFill>
                  <a:srgbClr val="106838"/>
                </a:solidFill>
                <a:latin typeface="Yu Gothic" pitchFamily="34" charset="0"/>
                <a:ea typeface="Yu Gothic" pitchFamily="34" charset="-122"/>
                <a:cs typeface="Yu Gothic" pitchFamily="34" charset="-120"/>
              </a:rPr>
              <a:t>御社のご負担</a:t>
            </a:r>
            <a:endParaRPr lang="en-US" sz="1050" dirty="0"/>
          </a:p>
        </p:txBody>
      </p:sp>
      <p:sp>
        <p:nvSpPr>
          <p:cNvPr id="40" name="Text 31"/>
          <p:cNvSpPr/>
          <p:nvPr/>
        </p:nvSpPr>
        <p:spPr>
          <a:xfrm>
            <a:off x="8158277" y="4266590"/>
            <a:ext cx="3117190" cy="585216"/>
          </a:xfrm>
          <a:prstGeom prst="rect">
            <a:avLst/>
          </a:prstGeom>
          <a:noFill/>
          <a:ln/>
        </p:spPr>
        <p:txBody>
          <a:bodyPr wrap="square" lIns="0" tIns="0" rIns="0" bIns="0" rtlCol="0" anchor="t"/>
          <a:lstStyle/>
          <a:p>
            <a:pPr indent="0" marL="0">
              <a:lnSpc>
                <a:spcPct val="130000"/>
              </a:lnSpc>
              <a:buNone/>
            </a:pPr>
            <a:r>
              <a:rPr lang="en-US" sz="1000" dirty="0">
                <a:solidFill>
                  <a:srgbClr val="0A3D23"/>
                </a:solidFill>
                <a:latin typeface="Yu Gothic" pitchFamily="34" charset="0"/>
                <a:ea typeface="Yu Gothic" pitchFamily="34" charset="-122"/>
                <a:cs typeface="Yu Gothic" pitchFamily="34" charset="-120"/>
              </a:rPr>
              <a:t>家具・什器のご手配のみです。</a:t>
            </a:r>
            <a:endParaRPr lang="en-US" sz="1000" dirty="0"/>
          </a:p>
          <a:p>
            <a:pPr indent="0" marL="0">
              <a:lnSpc>
                <a:spcPct val="130000"/>
              </a:lnSpc>
              <a:buNone/>
            </a:pPr>
            <a:r>
              <a:rPr lang="en-US" sz="1000" dirty="0">
                <a:solidFill>
                  <a:srgbClr val="0A3D23"/>
                </a:solidFill>
                <a:latin typeface="Yu Gothic" pitchFamily="34" charset="0"/>
                <a:ea typeface="Yu Gothic" pitchFamily="34" charset="-122"/>
                <a:cs typeface="Yu Gothic" pitchFamily="34" charset="-120"/>
              </a:rPr>
              <a:t>内装工事費のご負担はありません。</a:t>
            </a:r>
            <a:endParaRPr lang="en-US" sz="1000" dirty="0"/>
          </a:p>
        </p:txBody>
      </p:sp>
      <p:sp>
        <p:nvSpPr>
          <p:cNvPr id="41" name="Shape 32"/>
          <p:cNvSpPr/>
          <p:nvPr/>
        </p:nvSpPr>
        <p:spPr>
          <a:xfrm>
            <a:off x="7902245" y="5071262"/>
            <a:ext cx="3629254" cy="768096"/>
          </a:xfrm>
          <a:prstGeom prst="roundRect">
            <a:avLst>
              <a:gd name="adj" fmla="val 7143"/>
            </a:avLst>
          </a:prstGeom>
          <a:solidFill>
            <a:srgbClr val="FFFFFF"/>
          </a:solidFill>
          <a:ln w="9525">
            <a:solidFill>
              <a:srgbClr val="EFEAE0"/>
            </a:solidFill>
            <a:prstDash val="solid"/>
          </a:ln>
        </p:spPr>
      </p:sp>
      <p:pic>
        <p:nvPicPr>
          <p:cNvPr id="42" name="Image 7" descr="/home/user/suzuki-ceo/selfcafe-miraiya-trial-deck/assets/icons/LuShieldCheck-green.png">    </p:cNvPr>
          <p:cNvPicPr>
            <a:picLocks noChangeAspect="1"/>
          </p:cNvPicPr>
          <p:nvPr/>
        </p:nvPicPr>
        <p:blipFill>
          <a:blip r:embed="rId8"/>
          <a:stretch>
            <a:fillRect/>
          </a:stretch>
        </p:blipFill>
        <p:spPr>
          <a:xfrm>
            <a:off x="8139989" y="5217566"/>
            <a:ext cx="292608" cy="292608"/>
          </a:xfrm>
          <a:prstGeom prst="rect">
            <a:avLst/>
          </a:prstGeom>
        </p:spPr>
      </p:pic>
      <p:sp>
        <p:nvSpPr>
          <p:cNvPr id="43" name="Text 33"/>
          <p:cNvSpPr/>
          <p:nvPr/>
        </p:nvSpPr>
        <p:spPr>
          <a:xfrm>
            <a:off x="8524037" y="5144414"/>
            <a:ext cx="2769718" cy="237744"/>
          </a:xfrm>
          <a:prstGeom prst="rect">
            <a:avLst/>
          </a:prstGeom>
          <a:noFill/>
          <a:ln/>
        </p:spPr>
        <p:txBody>
          <a:bodyPr wrap="square" lIns="0" tIns="0" rIns="0" bIns="0" rtlCol="0" anchor="ctr"/>
          <a:lstStyle/>
          <a:p>
            <a:pPr indent="0" marL="0">
              <a:buNone/>
            </a:pPr>
            <a:r>
              <a:rPr lang="en-US" sz="1100" b="1" dirty="0">
                <a:solidFill>
                  <a:srgbClr val="A8761F"/>
                </a:solidFill>
                <a:latin typeface="Yu Gothic" pitchFamily="34" charset="0"/>
                <a:ea typeface="Yu Gothic" pitchFamily="34" charset="-122"/>
                <a:cs typeface="Yu Gothic" pitchFamily="34" charset="-120"/>
              </a:rPr>
              <a:t>原状回復義務なし</a:t>
            </a:r>
            <a:endParaRPr lang="en-US" sz="1100" dirty="0"/>
          </a:p>
        </p:txBody>
      </p:sp>
      <p:sp>
        <p:nvSpPr>
          <p:cNvPr id="44" name="Text 34"/>
          <p:cNvSpPr/>
          <p:nvPr/>
        </p:nvSpPr>
        <p:spPr>
          <a:xfrm>
            <a:off x="8524037" y="5382158"/>
            <a:ext cx="2769718" cy="365760"/>
          </a:xfrm>
          <a:prstGeom prst="rect">
            <a:avLst/>
          </a:prstGeom>
          <a:noFill/>
          <a:ln/>
        </p:spPr>
        <p:txBody>
          <a:bodyPr wrap="square" lIns="0" tIns="0" rIns="0" bIns="0" rtlCol="0" anchor="t"/>
          <a:lstStyle/>
          <a:p>
            <a:pPr indent="0" marL="0">
              <a:lnSpc>
                <a:spcPct val="120000"/>
              </a:lnSpc>
              <a:buNone/>
            </a:pPr>
            <a:r>
              <a:rPr lang="en-US" sz="900" dirty="0">
                <a:solidFill>
                  <a:srgbClr val="0A3D23"/>
                </a:solidFill>
                <a:latin typeface="Yu Gothic" pitchFamily="34" charset="0"/>
                <a:ea typeface="Yu Gothic" pitchFamily="34" charset="-122"/>
                <a:cs typeface="Yu Gothic" pitchFamily="34" charset="-120"/>
              </a:rPr>
              <a:t>終了時も内装を元に戻す必要はありません。</a:t>
            </a:r>
            <a:endParaRPr lang="en-US" sz="900" dirty="0"/>
          </a:p>
        </p:txBody>
      </p:sp>
      <p:sp>
        <p:nvSpPr>
          <p:cNvPr id="45" name="Text 35"/>
          <p:cNvSpPr/>
          <p:nvPr/>
        </p:nvSpPr>
        <p:spPr>
          <a:xfrm>
            <a:off x="660197" y="605332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金額はすべて税抜。通常のご契約との違いは次ページに整理しています。対象店舗はご相談のうえ決定させていただきます。</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03</a:t>
            </a:r>
            <a:r>
              <a:rPr lang="en-US" sz="1050" b="1" dirty="0">
                <a:solidFill>
                  <a:srgbClr val="1B8149"/>
                </a:solidFill>
                <a:latin typeface="Yu Gothic" pitchFamily="34" charset="0"/>
                <a:ea typeface="Yu Gothic" pitchFamily="34" charset="-122"/>
                <a:cs typeface="Yu Gothic" pitchFamily="34" charset="-120"/>
              </a:rPr>
              <a:t>   通常契約との比較</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違いは3点。それ以外は通常と同じです。</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通常は3年以上でお願いしていますが、今回は1年のトライアルとしてご提案します。</a:t>
            </a:r>
            <a:endParaRPr lang="en-US" sz="1250" dirty="0"/>
          </a:p>
        </p:txBody>
      </p:sp>
      <p:pic>
        <p:nvPicPr>
          <p:cNvPr id="6" name="Image 0" descr="/home/user/suzuki-ceo/selfcafe-miraiya-trial-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 未来屋書店 トライアル導入のご提案</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04</a:t>
            </a:r>
            <a:endParaRPr lang="en-US" sz="1000" dirty="0"/>
          </a:p>
        </p:txBody>
      </p:sp>
      <p:sp>
        <p:nvSpPr>
          <p:cNvPr id="9" name="Shape 6"/>
          <p:cNvSpPr/>
          <p:nvPr/>
        </p:nvSpPr>
        <p:spPr>
          <a:xfrm>
            <a:off x="7518197" y="1706270"/>
            <a:ext cx="4013302" cy="274320"/>
          </a:xfrm>
          <a:prstGeom prst="roundRect">
            <a:avLst>
              <a:gd name="adj" fmla="val 16667"/>
            </a:avLst>
          </a:prstGeom>
          <a:solidFill>
            <a:srgbClr val="A8761F"/>
          </a:solidFill>
          <a:ln/>
        </p:spPr>
      </p:sp>
      <p:sp>
        <p:nvSpPr>
          <p:cNvPr id="10" name="Text 7"/>
          <p:cNvSpPr/>
          <p:nvPr/>
        </p:nvSpPr>
        <p:spPr>
          <a:xfrm>
            <a:off x="7518197" y="1706270"/>
            <a:ext cx="4013302"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今回ご提案するのはこちら</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0197" y="2053742"/>
          <a:ext cx="10871302" cy="914400"/>
        </p:xfrm>
        <a:graphic>
          <a:graphicData uri="http://schemas.openxmlformats.org/drawingml/2006/table">
            <a:tbl>
              <a:tblPr/>
              <a:tblGrid>
                <a:gridCol w="2926080"/>
                <a:gridCol w="3931920"/>
                <a:gridCol w="4013302"/>
              </a:tblGrid>
              <a:tr h="384048">
                <a:tc>
                  <a:txBody>
                    <a:bodyPr/>
                    <a:lstStyle/>
                    <a:p>
                      <a:pPr algn="l" indent="0" marL="0">
                        <a:buNone/>
                      </a:pPr>
                      <a:r>
                        <a:rPr lang="en-US" sz="1150" b="1" dirty="0">
                          <a:solidFill>
                            <a:srgbClr val="0A3D23"/>
                          </a:solidFill>
                          <a:latin typeface="Yu Gothic" pitchFamily="34" charset="0"/>
                          <a:ea typeface="Yu Gothic" pitchFamily="34" charset="-122"/>
                          <a:cs typeface="Yu Gothic" pitchFamily="34" charset="-120"/>
                        </a:rPr>
                        <a:t>項目</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通常のご契約</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8E8B84"/>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今回のトライアル</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契約期間</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3年〜</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00" b="1" dirty="0">
                          <a:solidFill>
                            <a:srgbClr val="A8761F"/>
                          </a:solidFill>
                          <a:latin typeface="Yu Gothic" pitchFamily="34" charset="0"/>
                          <a:ea typeface="Yu Gothic" pitchFamily="34" charset="-122"/>
                          <a:cs typeface="Yu Gothic" pitchFamily="34" charset="-120"/>
                        </a:rPr>
                        <a:t>1年</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BF4E4"/>
                    </a:solidFill>
                  </a:tcPr>
                </a:tc>
              </a:tr>
              <a:tr h="438912">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内装仕様</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スタンダード仕様</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3D23"/>
                          </a:solidFill>
                          <a:latin typeface="Yu Gothic" pitchFamily="34" charset="0"/>
                          <a:ea typeface="Yu Gothic" pitchFamily="34" charset="-122"/>
                          <a:cs typeface="Yu Gothic" pitchFamily="34" charset="-120"/>
                        </a:rPr>
                        <a:t>スタンダード仕様（同じ）</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438912">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内装工事費</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セルフカフェが負担</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3D23"/>
                          </a:solidFill>
                          <a:latin typeface="Yu Gothic" pitchFamily="34" charset="0"/>
                          <a:ea typeface="Yu Gothic" pitchFamily="34" charset="-122"/>
                          <a:cs typeface="Yu Gothic" pitchFamily="34" charset="-120"/>
                        </a:rPr>
                        <a:t>セルフカフェが負担（同じ）</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家具・什器</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セルフカフェが準備</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00" b="1" dirty="0">
                          <a:solidFill>
                            <a:srgbClr val="A8761F"/>
                          </a:solidFill>
                          <a:latin typeface="Yu Gothic" pitchFamily="34" charset="0"/>
                          <a:ea typeface="Yu Gothic" pitchFamily="34" charset="-122"/>
                          <a:cs typeface="Yu Gothic" pitchFamily="34" charset="-120"/>
                        </a:rPr>
                        <a:t>御社にてご手配（御社の所有）</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BF4E4"/>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お支払い</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売上の25％ ＋ 月額固定5万円</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00" b="1" dirty="0">
                          <a:solidFill>
                            <a:srgbClr val="A8761F"/>
                          </a:solidFill>
                          <a:latin typeface="Yu Gothic" pitchFamily="34" charset="0"/>
                          <a:ea typeface="Yu Gothic" pitchFamily="34" charset="-122"/>
                          <a:cs typeface="Yu Gothic" pitchFamily="34" charset="-120"/>
                        </a:rPr>
                        <a:t>売上の25％</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BF4E4"/>
                    </a:solidFill>
                  </a:tcPr>
                </a:tc>
              </a:tr>
              <a:tr h="438912">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原状回復義務</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なし</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0A3D23"/>
                          </a:solidFill>
                          <a:latin typeface="Yu Gothic" pitchFamily="34" charset="0"/>
                          <a:ea typeface="Yu Gothic" pitchFamily="34" charset="-122"/>
                          <a:cs typeface="Yu Gothic" pitchFamily="34" charset="-120"/>
                        </a:rPr>
                        <a:t>なし（同じ）</a:t>
                      </a:r>
                      <a:endParaRPr lang="en-US" sz="11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bl>
          </a:graphicData>
        </a:graphic>
      </p:graphicFrame>
      <p:sp>
        <p:nvSpPr>
          <p:cNvPr id="12" name="Shape 8"/>
          <p:cNvSpPr/>
          <p:nvPr/>
        </p:nvSpPr>
        <p:spPr>
          <a:xfrm>
            <a:off x="660197" y="5230368"/>
            <a:ext cx="10871302" cy="822960"/>
          </a:xfrm>
          <a:prstGeom prst="roundRect">
            <a:avLst>
              <a:gd name="adj" fmla="val 6667"/>
            </a:avLst>
          </a:prstGeom>
          <a:solidFill>
            <a:srgbClr val="0C5230"/>
          </a:solidFill>
          <a:ln/>
        </p:spPr>
      </p:sp>
      <p:pic>
        <p:nvPicPr>
          <p:cNvPr id="13" name="Image 1" descr="/home/user/suzuki-ceo/selfcafe-miraiya-trial-deck/assets/icons/LuBadgeCheck-pale.png">    </p:cNvPr>
          <p:cNvPicPr>
            <a:picLocks noChangeAspect="1"/>
          </p:cNvPicPr>
          <p:nvPr/>
        </p:nvPicPr>
        <p:blipFill>
          <a:blip r:embed="rId2"/>
          <a:stretch>
            <a:fillRect/>
          </a:stretch>
        </p:blipFill>
        <p:spPr>
          <a:xfrm>
            <a:off x="1007669" y="5431536"/>
            <a:ext cx="402336" cy="402336"/>
          </a:xfrm>
          <a:prstGeom prst="rect">
            <a:avLst/>
          </a:prstGeom>
        </p:spPr>
      </p:pic>
      <p:sp>
        <p:nvSpPr>
          <p:cNvPr id="14" name="Text 9"/>
          <p:cNvSpPr/>
          <p:nvPr/>
        </p:nvSpPr>
        <p:spPr>
          <a:xfrm>
            <a:off x="1574597" y="5230368"/>
            <a:ext cx="9591142" cy="822960"/>
          </a:xfrm>
          <a:prstGeom prst="rect">
            <a:avLst/>
          </a:prstGeom>
          <a:noFill/>
          <a:ln/>
        </p:spPr>
        <p:txBody>
          <a:bodyPr wrap="square" lIns="0" tIns="0" rIns="0" bIns="0" rtlCol="0" anchor="ctr"/>
          <a:lstStyle/>
          <a:p>
            <a:pPr indent="0" marL="0">
              <a:lnSpc>
                <a:spcPct val="125000"/>
              </a:lnSpc>
              <a:buNone/>
            </a:pPr>
            <a:r>
              <a:rPr lang="en-US" sz="1250" b="1" dirty="0">
                <a:solidFill>
                  <a:srgbClr val="FFFFFF"/>
                </a:solidFill>
                <a:latin typeface="Yu Gothic" pitchFamily="34" charset="0"/>
                <a:ea typeface="Yu Gothic" pitchFamily="34" charset="-122"/>
                <a:cs typeface="Yu Gothic" pitchFamily="34" charset="-120"/>
              </a:rPr>
              <a:t>1年でご判断いただける代わりに、家具・什器のご手配と月額5万円の2点をご調整ください。</a:t>
            </a:r>
            <a:endParaRPr lang="en-US" sz="1250" dirty="0"/>
          </a:p>
          <a:p>
            <a:pPr indent="0" marL="0">
              <a:lnSpc>
                <a:spcPct val="125000"/>
              </a:lnSpc>
              <a:buNone/>
            </a:pPr>
            <a:r>
              <a:rPr lang="en-US" sz="1050" dirty="0">
                <a:solidFill>
                  <a:srgbClr val="AFC2B8"/>
                </a:solidFill>
                <a:latin typeface="Yu Gothic" pitchFamily="34" charset="0"/>
                <a:ea typeface="Yu Gothic" pitchFamily="34" charset="-122"/>
                <a:cs typeface="Yu Gothic" pitchFamily="34" charset="-120"/>
              </a:rPr>
              <a:t>家具・什器は御社の資産として残ります。それ以外の条件は通常のご契約とすべて同じです。</a:t>
            </a:r>
            <a:endParaRPr lang="en-US" sz="1250" dirty="0"/>
          </a:p>
        </p:txBody>
      </p:sp>
      <p:sp>
        <p:nvSpPr>
          <p:cNvPr id="15" name="Text 10"/>
          <p:cNvSpPr/>
          <p:nvPr/>
        </p:nvSpPr>
        <p:spPr>
          <a:xfrm>
            <a:off x="660197" y="6163056"/>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金額はすべて税抜。内装工事費は当社が負担し、原状回復義務もいただかないため、1年でご判断いただく形でも御社側の持ち出しは家具・什器のみです。</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04</a:t>
            </a:r>
            <a:r>
              <a:rPr lang="en-US" sz="1050" b="1" dirty="0">
                <a:solidFill>
                  <a:srgbClr val="1B8149"/>
                </a:solidFill>
                <a:latin typeface="Yu Gothic" pitchFamily="34" charset="0"/>
                <a:ea typeface="Yu Gothic" pitchFamily="34" charset="-122"/>
                <a:cs typeface="Yu Gothic" pitchFamily="34" charset="-120"/>
              </a:rPr>
              <a:t>   費用と所有の区分</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どちらが何を用意し、終了後どうなるか。</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トライアル期間中の費用負担と、終了後にそれがどう扱われるかを整理しました。</a:t>
            </a:r>
            <a:endParaRPr lang="en-US" sz="1250" dirty="0"/>
          </a:p>
        </p:txBody>
      </p:sp>
      <p:pic>
        <p:nvPicPr>
          <p:cNvPr id="6" name="Image 0" descr="/home/user/suzuki-ceo/selfcafe-miraiya-trial-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 未来屋書店 トライアル導入のご提案</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0197" y="1651406"/>
          <a:ext cx="10871302" cy="914400"/>
        </p:xfrm>
        <a:graphic>
          <a:graphicData uri="http://schemas.openxmlformats.org/drawingml/2006/table">
            <a:tbl>
              <a:tblPr/>
              <a:tblGrid>
                <a:gridCol w="4023360"/>
                <a:gridCol w="3108960"/>
                <a:gridCol w="3738982"/>
              </a:tblGrid>
              <a:tr h="365760">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項目</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ご手配・ご負担</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トライアル終了後</a:t>
                      </a:r>
                      <a:endParaRPr lang="en-US" sz="11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内装工事（造作・床・サイン）</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セルフカフェ</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b="1" dirty="0">
                          <a:solidFill>
                            <a:srgbClr val="106838"/>
                          </a:solidFill>
                          <a:latin typeface="Yu Gothic" pitchFamily="34" charset="0"/>
                          <a:ea typeface="Yu Gothic" pitchFamily="34" charset="-122"/>
                          <a:cs typeface="Yu Gothic" pitchFamily="34" charset="-120"/>
                        </a:rPr>
                        <a:t>そのまま残ります</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家具・什器（テーブル・椅子・植栽 等）</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b="1" dirty="0">
                          <a:solidFill>
                            <a:srgbClr val="A8761F"/>
                          </a:solidFill>
                          <a:latin typeface="Yu Gothic" pitchFamily="34" charset="0"/>
                          <a:ea typeface="Yu Gothic" pitchFamily="34" charset="-122"/>
                          <a:cs typeface="Yu Gothic" pitchFamily="34" charset="-120"/>
                        </a:rPr>
                        <a:t>未来屋書店様</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BF4E4"/>
                    </a:solidFill>
                  </a:tcPr>
                </a:tc>
                <a:tc>
                  <a:txBody>
                    <a:bodyPr/>
                    <a:lstStyle/>
                    <a:p>
                      <a:pPr indent="0" marL="0">
                        <a:buNone/>
                      </a:pPr>
                      <a:r>
                        <a:rPr lang="en-US" sz="1100" b="1" dirty="0">
                          <a:solidFill>
                            <a:srgbClr val="106838"/>
                          </a:solidFill>
                          <a:latin typeface="Yu Gothic" pitchFamily="34" charset="0"/>
                          <a:ea typeface="Yu Gothic" pitchFamily="34" charset="-122"/>
                          <a:cs typeface="Yu Gothic" pitchFamily="34" charset="-120"/>
                        </a:rPr>
                        <a:t>御社の資産として残ります</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ドリンクマシン・決済端末</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セルフカフェ</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4B5550"/>
                          </a:solidFill>
                          <a:latin typeface="Yu Gothic" pitchFamily="34" charset="0"/>
                          <a:ea typeface="Yu Gothic" pitchFamily="34" charset="-122"/>
                          <a:cs typeface="Yu Gothic" pitchFamily="34" charset="-120"/>
                        </a:rPr>
                        <a:t>当社が撤去します</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防犯カメラ・通信機器</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セルフカフェ</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4B5550"/>
                          </a:solidFill>
                          <a:latin typeface="Yu Gothic" pitchFamily="34" charset="0"/>
                          <a:ea typeface="Yu Gothic" pitchFamily="34" charset="-122"/>
                          <a:cs typeface="Yu Gothic" pitchFamily="34" charset="-120"/>
                        </a:rPr>
                        <a:t>当社が撤去します</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原料・機器メンテナンス</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dirty="0">
                          <a:solidFill>
                            <a:srgbClr val="6E6A61"/>
                          </a:solidFill>
                          <a:latin typeface="Yu Gothic" pitchFamily="34" charset="0"/>
                          <a:ea typeface="Yu Gothic" pitchFamily="34" charset="-122"/>
                          <a:cs typeface="Yu Gothic" pitchFamily="34" charset="-120"/>
                        </a:rPr>
                        <a:t>セルフカフェ</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4B5550"/>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水道光熱費・通信費・消耗品</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b="1" dirty="0">
                          <a:solidFill>
                            <a:srgbClr val="A8761F"/>
                          </a:solidFill>
                          <a:latin typeface="Yu Gothic" pitchFamily="34" charset="0"/>
                          <a:ea typeface="Yu Gothic" pitchFamily="34" charset="-122"/>
                          <a:cs typeface="Yu Gothic" pitchFamily="34" charset="-120"/>
                        </a:rPr>
                        <a:t>未来屋書店様（実費）</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BF4E4"/>
                    </a:solidFill>
                  </a:tcPr>
                </a:tc>
                <a:tc>
                  <a:txBody>
                    <a:bodyPr/>
                    <a:lstStyle/>
                    <a:p>
                      <a:pPr indent="0" marL="0">
                        <a:buNone/>
                      </a:pPr>
                      <a:r>
                        <a:rPr lang="en-US" sz="1100" dirty="0">
                          <a:solidFill>
                            <a:srgbClr val="4B5550"/>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A3D23"/>
                          </a:solidFill>
                          <a:latin typeface="Yu Gothic" pitchFamily="34" charset="0"/>
                          <a:ea typeface="Yu Gothic" pitchFamily="34" charset="-122"/>
                          <a:cs typeface="Yu Gothic" pitchFamily="34" charset="-120"/>
                        </a:rPr>
                        <a:t>原状回復</a:t>
                      </a:r>
                      <a:endParaRPr lang="en-US" sz="120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100" b="1" dirty="0">
                          <a:solidFill>
                            <a:srgbClr val="106838"/>
                          </a:solidFill>
                          <a:latin typeface="Yu Gothic" pitchFamily="34" charset="0"/>
                          <a:ea typeface="Yu Gothic" pitchFamily="34" charset="-122"/>
                          <a:cs typeface="Yu Gothic" pitchFamily="34" charset="-120"/>
                        </a:rPr>
                        <a:t>不要（義務なし）</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100" dirty="0">
                          <a:solidFill>
                            <a:srgbClr val="4B5550"/>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bl>
          </a:graphicData>
        </a:graphic>
      </p:graphicFrame>
      <p:sp>
        <p:nvSpPr>
          <p:cNvPr id="10" name="Shape 6"/>
          <p:cNvSpPr/>
          <p:nvPr/>
        </p:nvSpPr>
        <p:spPr>
          <a:xfrm>
            <a:off x="660197" y="5303520"/>
            <a:ext cx="10871302" cy="804672"/>
          </a:xfrm>
          <a:prstGeom prst="roundRect">
            <a:avLst>
              <a:gd name="adj" fmla="val 6818"/>
            </a:avLst>
          </a:prstGeom>
          <a:solidFill>
            <a:srgbClr val="0C5230"/>
          </a:solidFill>
          <a:ln/>
        </p:spPr>
      </p:sp>
      <p:sp>
        <p:nvSpPr>
          <p:cNvPr id="11" name="Text 7"/>
          <p:cNvSpPr/>
          <p:nvPr/>
        </p:nvSpPr>
        <p:spPr>
          <a:xfrm>
            <a:off x="971093" y="5303520"/>
            <a:ext cx="10249510" cy="804672"/>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御社にご手配いただくのは、家具・什器だけです。</a:t>
            </a:r>
            <a:r>
              <a:rPr lang="en-US" sz="1100" dirty="0">
                <a:solidFill>
                  <a:srgbClr val="AFC2B8"/>
                </a:solidFill>
                <a:latin typeface="Yu Gothic" pitchFamily="34" charset="0"/>
                <a:ea typeface="Yu Gothic" pitchFamily="34" charset="-122"/>
                <a:cs typeface="Yu Gothic" pitchFamily="34" charset="-120"/>
              </a:rPr>
              <a:t>  内装工事費のご負担はなく、終了時の原状回復も発生しません。</a:t>
            </a:r>
            <a:endParaRPr lang="en-US" sz="1300" dirty="0"/>
          </a:p>
        </p:txBody>
      </p:sp>
      <p:sp>
        <p:nvSpPr>
          <p:cNvPr id="12" name="Text 8"/>
          <p:cNvSpPr/>
          <p:nvPr/>
        </p:nvSpPr>
        <p:spPr>
          <a:xfrm>
            <a:off x="660197" y="6217920"/>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工事範囲・什器の仕様は現地確認のうえ確定します。金額はすべて税抜。</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05</a:t>
            </a:r>
            <a:r>
              <a:rPr lang="en-US" sz="1050" b="1" dirty="0">
                <a:solidFill>
                  <a:srgbClr val="1B8149"/>
                </a:solidFill>
                <a:latin typeface="Yu Gothic" pitchFamily="34" charset="0"/>
                <a:ea typeface="Yu Gothic" pitchFamily="34" charset="-122"/>
                <a:cs typeface="Yu Gothic" pitchFamily="34" charset="-120"/>
              </a:rPr>
              <a:t>   終了時の扱い</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原状回復は不要。撤去するのは当社の機器だけです。</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ご契約を終了される場合も、内装を元に戻していただく必要はありません。</a:t>
            </a:r>
            <a:endParaRPr lang="en-US" sz="1250" dirty="0"/>
          </a:p>
        </p:txBody>
      </p:sp>
      <p:pic>
        <p:nvPicPr>
          <p:cNvPr id="6" name="Image 0" descr="/home/user/suzuki-ceo/selfcafe-miraiya-trial-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 未来屋書店 トライアル導入のご提案</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06</a:t>
            </a:r>
            <a:endParaRPr lang="en-US" sz="1000" dirty="0"/>
          </a:p>
        </p:txBody>
      </p:sp>
      <p:sp>
        <p:nvSpPr>
          <p:cNvPr id="9" name="Shape 6"/>
          <p:cNvSpPr/>
          <p:nvPr/>
        </p:nvSpPr>
        <p:spPr>
          <a:xfrm>
            <a:off x="660197" y="1651406"/>
            <a:ext cx="5243627" cy="2926080"/>
          </a:xfrm>
          <a:prstGeom prst="roundRect">
            <a:avLst>
              <a:gd name="adj" fmla="val 1875"/>
            </a:avLst>
          </a:prstGeom>
          <a:solidFill>
            <a:srgbClr val="F1F8F3"/>
          </a:solidFill>
          <a:ln w="9525">
            <a:solidFill>
              <a:srgbClr val="D2E7DA"/>
            </a:solidFill>
            <a:prstDash val="solid"/>
          </a:ln>
        </p:spPr>
      </p:sp>
      <p:pic>
        <p:nvPicPr>
          <p:cNvPr id="10" name="Image 1" descr="/home/user/suzuki-ceo/selfcafe-miraiya-trial-deck/assets/icons/LuHouse-green.png">    </p:cNvPr>
          <p:cNvPicPr>
            <a:picLocks noChangeAspect="1"/>
          </p:cNvPicPr>
          <p:nvPr/>
        </p:nvPicPr>
        <p:blipFill>
          <a:blip r:embed="rId2"/>
          <a:stretch>
            <a:fillRect/>
          </a:stretch>
        </p:blipFill>
        <p:spPr>
          <a:xfrm>
            <a:off x="934517" y="1889150"/>
            <a:ext cx="329184" cy="329184"/>
          </a:xfrm>
          <a:prstGeom prst="rect">
            <a:avLst/>
          </a:prstGeom>
        </p:spPr>
      </p:pic>
      <p:sp>
        <p:nvSpPr>
          <p:cNvPr id="11" name="Text 7"/>
          <p:cNvSpPr/>
          <p:nvPr/>
        </p:nvSpPr>
        <p:spPr>
          <a:xfrm>
            <a:off x="1391717" y="1834286"/>
            <a:ext cx="4237787" cy="384048"/>
          </a:xfrm>
          <a:prstGeom prst="rect">
            <a:avLst/>
          </a:prstGeom>
          <a:noFill/>
          <a:ln/>
        </p:spPr>
        <p:txBody>
          <a:bodyPr wrap="square" lIns="0" tIns="0" rIns="0" bIns="0" rtlCol="0" anchor="ctr"/>
          <a:lstStyle/>
          <a:p>
            <a:pPr indent="0" marL="0">
              <a:buNone/>
            </a:pPr>
            <a:r>
              <a:rPr lang="en-US" sz="1400" b="1" dirty="0">
                <a:solidFill>
                  <a:srgbClr val="106838"/>
                </a:solidFill>
                <a:latin typeface="Yu Gothic" pitchFamily="34" charset="0"/>
                <a:ea typeface="Yu Gothic" pitchFamily="34" charset="-122"/>
                <a:cs typeface="Yu Gothic" pitchFamily="34" charset="-120"/>
              </a:rPr>
              <a:t>そのまま残るもの</a:t>
            </a:r>
            <a:endParaRPr lang="en-US" sz="1400" dirty="0"/>
          </a:p>
        </p:txBody>
      </p:sp>
      <p:sp>
        <p:nvSpPr>
          <p:cNvPr id="12" name="Shape 8"/>
          <p:cNvSpPr/>
          <p:nvPr/>
        </p:nvSpPr>
        <p:spPr>
          <a:xfrm>
            <a:off x="934517" y="2364638"/>
            <a:ext cx="4694987" cy="10058"/>
          </a:xfrm>
          <a:prstGeom prst="rect">
            <a:avLst/>
          </a:prstGeom>
          <a:solidFill>
            <a:srgbClr val="D2E7DA"/>
          </a:solidFill>
          <a:ln/>
        </p:spPr>
      </p:sp>
      <p:pic>
        <p:nvPicPr>
          <p:cNvPr id="13" name="Image 2" descr="/home/user/suzuki-ceo/selfcafe-miraiya-trial-deck/assets/icons/LuCheck-green.png">    </p:cNvPr>
          <p:cNvPicPr>
            <a:picLocks noChangeAspect="1"/>
          </p:cNvPicPr>
          <p:nvPr/>
        </p:nvPicPr>
        <p:blipFill>
          <a:blip r:embed="rId3"/>
          <a:stretch>
            <a:fillRect/>
          </a:stretch>
        </p:blipFill>
        <p:spPr>
          <a:xfrm>
            <a:off x="952805" y="2593238"/>
            <a:ext cx="182880" cy="182880"/>
          </a:xfrm>
          <a:prstGeom prst="rect">
            <a:avLst/>
          </a:prstGeom>
        </p:spPr>
      </p:pic>
      <p:sp>
        <p:nvSpPr>
          <p:cNvPr id="14" name="Text 9"/>
          <p:cNvSpPr/>
          <p:nvPr/>
        </p:nvSpPr>
        <p:spPr>
          <a:xfrm>
            <a:off x="1281989" y="2529230"/>
            <a:ext cx="4329227" cy="310896"/>
          </a:xfrm>
          <a:prstGeom prst="rect">
            <a:avLst/>
          </a:prstGeom>
          <a:noFill/>
          <a:ln/>
        </p:spPr>
        <p:txBody>
          <a:bodyPr wrap="square" lIns="0" tIns="0" rIns="0" bIns="0" rtlCol="0" anchor="ctr"/>
          <a:lstStyle/>
          <a:p>
            <a:pPr indent="0" marL="0">
              <a:buNone/>
            </a:pPr>
            <a:r>
              <a:rPr lang="en-US" sz="1100" dirty="0">
                <a:solidFill>
                  <a:srgbClr val="0A3D23"/>
                </a:solidFill>
                <a:latin typeface="Yu Gothic" pitchFamily="34" charset="0"/>
                <a:ea typeface="Yu Gothic" pitchFamily="34" charset="-122"/>
                <a:cs typeface="Yu Gothic" pitchFamily="34" charset="-120"/>
              </a:rPr>
              <a:t>内装工事（造作・床・サイン）</a:t>
            </a:r>
            <a:endParaRPr lang="en-US" sz="1100" dirty="0"/>
          </a:p>
        </p:txBody>
      </p:sp>
      <p:pic>
        <p:nvPicPr>
          <p:cNvPr id="15" name="Image 3" descr="/home/user/suzuki-ceo/selfcafe-miraiya-trial-deck/assets/icons/LuCheck-green.png">    </p:cNvPr>
          <p:cNvPicPr>
            <a:picLocks noChangeAspect="1"/>
          </p:cNvPicPr>
          <p:nvPr/>
        </p:nvPicPr>
        <p:blipFill>
          <a:blip r:embed="rId4"/>
          <a:stretch>
            <a:fillRect/>
          </a:stretch>
        </p:blipFill>
        <p:spPr>
          <a:xfrm>
            <a:off x="952805" y="3013862"/>
            <a:ext cx="182880" cy="182880"/>
          </a:xfrm>
          <a:prstGeom prst="rect">
            <a:avLst/>
          </a:prstGeom>
        </p:spPr>
      </p:pic>
      <p:sp>
        <p:nvSpPr>
          <p:cNvPr id="16" name="Text 10"/>
          <p:cNvSpPr/>
          <p:nvPr/>
        </p:nvSpPr>
        <p:spPr>
          <a:xfrm>
            <a:off x="1281989" y="2949854"/>
            <a:ext cx="4329227" cy="310896"/>
          </a:xfrm>
          <a:prstGeom prst="rect">
            <a:avLst/>
          </a:prstGeom>
          <a:noFill/>
          <a:ln/>
        </p:spPr>
        <p:txBody>
          <a:bodyPr wrap="square" lIns="0" tIns="0" rIns="0" bIns="0" rtlCol="0" anchor="ctr"/>
          <a:lstStyle/>
          <a:p>
            <a:pPr indent="0" marL="0">
              <a:buNone/>
            </a:pPr>
            <a:r>
              <a:rPr lang="en-US" sz="1100" dirty="0">
                <a:solidFill>
                  <a:srgbClr val="0A3D23"/>
                </a:solidFill>
                <a:latin typeface="Yu Gothic" pitchFamily="34" charset="0"/>
                <a:ea typeface="Yu Gothic" pitchFamily="34" charset="-122"/>
                <a:cs typeface="Yu Gothic" pitchFamily="34" charset="-120"/>
              </a:rPr>
              <a:t>家具・什器（テーブル・椅子・植栽 等）</a:t>
            </a:r>
            <a:endParaRPr lang="en-US" sz="1100" dirty="0"/>
          </a:p>
        </p:txBody>
      </p:sp>
      <p:pic>
        <p:nvPicPr>
          <p:cNvPr id="17" name="Image 4" descr="/home/user/suzuki-ceo/selfcafe-miraiya-trial-deck/assets/icons/LuCheck-green.png">    </p:cNvPr>
          <p:cNvPicPr>
            <a:picLocks noChangeAspect="1"/>
          </p:cNvPicPr>
          <p:nvPr/>
        </p:nvPicPr>
        <p:blipFill>
          <a:blip r:embed="rId5"/>
          <a:stretch>
            <a:fillRect/>
          </a:stretch>
        </p:blipFill>
        <p:spPr>
          <a:xfrm>
            <a:off x="952805" y="3434486"/>
            <a:ext cx="182880" cy="182880"/>
          </a:xfrm>
          <a:prstGeom prst="rect">
            <a:avLst/>
          </a:prstGeom>
        </p:spPr>
      </p:pic>
      <p:sp>
        <p:nvSpPr>
          <p:cNvPr id="18" name="Text 11"/>
          <p:cNvSpPr/>
          <p:nvPr/>
        </p:nvSpPr>
        <p:spPr>
          <a:xfrm>
            <a:off x="1281989" y="3370478"/>
            <a:ext cx="4329227" cy="310896"/>
          </a:xfrm>
          <a:prstGeom prst="rect">
            <a:avLst/>
          </a:prstGeom>
          <a:noFill/>
          <a:ln/>
        </p:spPr>
        <p:txBody>
          <a:bodyPr wrap="square" lIns="0" tIns="0" rIns="0" bIns="0" rtlCol="0" anchor="ctr"/>
          <a:lstStyle/>
          <a:p>
            <a:pPr indent="0" marL="0">
              <a:buNone/>
            </a:pPr>
            <a:r>
              <a:rPr lang="en-US" sz="1100" dirty="0">
                <a:solidFill>
                  <a:srgbClr val="0A3D23"/>
                </a:solidFill>
                <a:latin typeface="Yu Gothic" pitchFamily="34" charset="0"/>
                <a:ea typeface="Yu Gothic" pitchFamily="34" charset="-122"/>
                <a:cs typeface="Yu Gothic" pitchFamily="34" charset="-120"/>
              </a:rPr>
              <a:t>書店側の売場・動線</a:t>
            </a:r>
            <a:endParaRPr lang="en-US" sz="1100" dirty="0"/>
          </a:p>
        </p:txBody>
      </p:sp>
      <p:sp>
        <p:nvSpPr>
          <p:cNvPr id="19" name="Text 12"/>
          <p:cNvSpPr/>
          <p:nvPr/>
        </p:nvSpPr>
        <p:spPr>
          <a:xfrm>
            <a:off x="934517" y="3919118"/>
            <a:ext cx="4694987" cy="512064"/>
          </a:xfrm>
          <a:prstGeom prst="rect">
            <a:avLst/>
          </a:prstGeom>
          <a:noFill/>
          <a:ln/>
        </p:spPr>
        <p:txBody>
          <a:bodyPr wrap="square" lIns="0" tIns="0" rIns="0" bIns="0" rtlCol="0" anchor="t"/>
          <a:lstStyle/>
          <a:p>
            <a:pPr indent="0" marL="0">
              <a:lnSpc>
                <a:spcPct val="130000"/>
              </a:lnSpc>
              <a:buNone/>
            </a:pPr>
            <a:r>
              <a:rPr lang="en-US" sz="950" dirty="0">
                <a:solidFill>
                  <a:srgbClr val="7E8882"/>
                </a:solidFill>
                <a:latin typeface="Yu Gothic" pitchFamily="34" charset="0"/>
                <a:ea typeface="Yu Gothic" pitchFamily="34" charset="-122"/>
                <a:cs typeface="Yu Gothic" pitchFamily="34" charset="-120"/>
              </a:rPr>
              <a:t>工事部分は当社負担で施工しますが、撤去はいたしません。</a:t>
            </a:r>
            <a:endParaRPr lang="en-US" sz="950" dirty="0"/>
          </a:p>
        </p:txBody>
      </p:sp>
      <p:sp>
        <p:nvSpPr>
          <p:cNvPr id="20" name="Shape 13"/>
          <p:cNvSpPr/>
          <p:nvPr/>
        </p:nvSpPr>
        <p:spPr>
          <a:xfrm>
            <a:off x="6287872" y="1651406"/>
            <a:ext cx="5243627" cy="2926080"/>
          </a:xfrm>
          <a:prstGeom prst="roundRect">
            <a:avLst>
              <a:gd name="adj" fmla="val 1875"/>
            </a:avLst>
          </a:prstGeom>
          <a:solidFill>
            <a:srgbClr val="FFFFFF"/>
          </a:solidFill>
          <a:ln w="9525">
            <a:solidFill>
              <a:srgbClr val="EFEAE0"/>
            </a:solidFill>
            <a:prstDash val="solid"/>
          </a:ln>
        </p:spPr>
      </p:sp>
      <p:pic>
        <p:nvPicPr>
          <p:cNvPr id="21" name="Image 5" descr="/home/user/suzuki-ceo/selfcafe-miraiya-trial-deck/assets/icons/LuMinus-green.png">    </p:cNvPr>
          <p:cNvPicPr>
            <a:picLocks noChangeAspect="1"/>
          </p:cNvPicPr>
          <p:nvPr/>
        </p:nvPicPr>
        <p:blipFill>
          <a:blip r:embed="rId6"/>
          <a:stretch>
            <a:fillRect/>
          </a:stretch>
        </p:blipFill>
        <p:spPr>
          <a:xfrm>
            <a:off x="6562192" y="1889150"/>
            <a:ext cx="329184" cy="329184"/>
          </a:xfrm>
          <a:prstGeom prst="rect">
            <a:avLst/>
          </a:prstGeom>
        </p:spPr>
      </p:pic>
      <p:sp>
        <p:nvSpPr>
          <p:cNvPr id="22" name="Text 14"/>
          <p:cNvSpPr/>
          <p:nvPr/>
        </p:nvSpPr>
        <p:spPr>
          <a:xfrm>
            <a:off x="7019392" y="1834286"/>
            <a:ext cx="4237787" cy="384048"/>
          </a:xfrm>
          <a:prstGeom prst="rect">
            <a:avLst/>
          </a:prstGeom>
          <a:noFill/>
          <a:ln/>
        </p:spPr>
        <p:txBody>
          <a:bodyPr wrap="square" lIns="0" tIns="0" rIns="0" bIns="0" rtlCol="0" anchor="ctr"/>
          <a:lstStyle/>
          <a:p>
            <a:pPr indent="0" marL="0">
              <a:buNone/>
            </a:pPr>
            <a:r>
              <a:rPr lang="en-US" sz="1400" b="1" dirty="0">
                <a:solidFill>
                  <a:srgbClr val="0A3D23"/>
                </a:solidFill>
                <a:latin typeface="Yu Gothic" pitchFamily="34" charset="0"/>
                <a:ea typeface="Yu Gothic" pitchFamily="34" charset="-122"/>
                <a:cs typeface="Yu Gothic" pitchFamily="34" charset="-120"/>
              </a:rPr>
              <a:t>当社が撤去するもの</a:t>
            </a:r>
            <a:endParaRPr lang="en-US" sz="1400" dirty="0"/>
          </a:p>
        </p:txBody>
      </p:sp>
      <p:sp>
        <p:nvSpPr>
          <p:cNvPr id="23" name="Shape 15"/>
          <p:cNvSpPr/>
          <p:nvPr/>
        </p:nvSpPr>
        <p:spPr>
          <a:xfrm>
            <a:off x="6562192" y="2364638"/>
            <a:ext cx="4694987" cy="10058"/>
          </a:xfrm>
          <a:prstGeom prst="rect">
            <a:avLst/>
          </a:prstGeom>
          <a:solidFill>
            <a:srgbClr val="EFEAE0"/>
          </a:solidFill>
          <a:ln/>
        </p:spPr>
      </p:sp>
      <p:pic>
        <p:nvPicPr>
          <p:cNvPr id="24" name="Image 6" descr="/home/user/suzuki-ceo/selfcafe-miraiya-trial-deck/assets/icons/LuX-muted.png">    </p:cNvPr>
          <p:cNvPicPr>
            <a:picLocks noChangeAspect="1"/>
          </p:cNvPicPr>
          <p:nvPr/>
        </p:nvPicPr>
        <p:blipFill>
          <a:blip r:embed="rId7"/>
          <a:stretch>
            <a:fillRect/>
          </a:stretch>
        </p:blipFill>
        <p:spPr>
          <a:xfrm>
            <a:off x="6580480" y="2593238"/>
            <a:ext cx="182880" cy="182880"/>
          </a:xfrm>
          <a:prstGeom prst="rect">
            <a:avLst/>
          </a:prstGeom>
        </p:spPr>
      </p:pic>
      <p:sp>
        <p:nvSpPr>
          <p:cNvPr id="25" name="Text 16"/>
          <p:cNvSpPr/>
          <p:nvPr/>
        </p:nvSpPr>
        <p:spPr>
          <a:xfrm>
            <a:off x="6909664" y="2529230"/>
            <a:ext cx="4329227" cy="310896"/>
          </a:xfrm>
          <a:prstGeom prst="rect">
            <a:avLst/>
          </a:prstGeom>
          <a:noFill/>
          <a:ln/>
        </p:spPr>
        <p:txBody>
          <a:bodyPr wrap="square" lIns="0" tIns="0" rIns="0" bIns="0" rtlCol="0" anchor="ctr"/>
          <a:lstStyle/>
          <a:p>
            <a:pPr indent="0" marL="0">
              <a:buNone/>
            </a:pPr>
            <a:r>
              <a:rPr lang="en-US" sz="1100" dirty="0">
                <a:solidFill>
                  <a:srgbClr val="0A3D23"/>
                </a:solidFill>
                <a:latin typeface="Yu Gothic" pitchFamily="34" charset="0"/>
                <a:ea typeface="Yu Gothic" pitchFamily="34" charset="-122"/>
                <a:cs typeface="Yu Gothic" pitchFamily="34" charset="-120"/>
              </a:rPr>
              <a:t>ドリンクマシン</a:t>
            </a:r>
            <a:endParaRPr lang="en-US" sz="1100" dirty="0"/>
          </a:p>
        </p:txBody>
      </p:sp>
      <p:pic>
        <p:nvPicPr>
          <p:cNvPr id="26" name="Image 7" descr="/home/user/suzuki-ceo/selfcafe-miraiya-trial-deck/assets/icons/LuX-muted.png">    </p:cNvPr>
          <p:cNvPicPr>
            <a:picLocks noChangeAspect="1"/>
          </p:cNvPicPr>
          <p:nvPr/>
        </p:nvPicPr>
        <p:blipFill>
          <a:blip r:embed="rId8"/>
          <a:stretch>
            <a:fillRect/>
          </a:stretch>
        </p:blipFill>
        <p:spPr>
          <a:xfrm>
            <a:off x="6580480" y="3013862"/>
            <a:ext cx="182880" cy="182880"/>
          </a:xfrm>
          <a:prstGeom prst="rect">
            <a:avLst/>
          </a:prstGeom>
        </p:spPr>
      </p:pic>
      <p:sp>
        <p:nvSpPr>
          <p:cNvPr id="27" name="Text 17"/>
          <p:cNvSpPr/>
          <p:nvPr/>
        </p:nvSpPr>
        <p:spPr>
          <a:xfrm>
            <a:off x="6909664" y="2949854"/>
            <a:ext cx="4329227" cy="310896"/>
          </a:xfrm>
          <a:prstGeom prst="rect">
            <a:avLst/>
          </a:prstGeom>
          <a:noFill/>
          <a:ln/>
        </p:spPr>
        <p:txBody>
          <a:bodyPr wrap="square" lIns="0" tIns="0" rIns="0" bIns="0" rtlCol="0" anchor="ctr"/>
          <a:lstStyle/>
          <a:p>
            <a:pPr indent="0" marL="0">
              <a:buNone/>
            </a:pPr>
            <a:r>
              <a:rPr lang="en-US" sz="1100" dirty="0">
                <a:solidFill>
                  <a:srgbClr val="0A3D23"/>
                </a:solidFill>
                <a:latin typeface="Yu Gothic" pitchFamily="34" charset="0"/>
                <a:ea typeface="Yu Gothic" pitchFamily="34" charset="-122"/>
                <a:cs typeface="Yu Gothic" pitchFamily="34" charset="-120"/>
              </a:rPr>
              <a:t>決済端末</a:t>
            </a:r>
            <a:endParaRPr lang="en-US" sz="1100" dirty="0"/>
          </a:p>
        </p:txBody>
      </p:sp>
      <p:pic>
        <p:nvPicPr>
          <p:cNvPr id="28" name="Image 8" descr="/home/user/suzuki-ceo/selfcafe-miraiya-trial-deck/assets/icons/LuX-muted.png">    </p:cNvPr>
          <p:cNvPicPr>
            <a:picLocks noChangeAspect="1"/>
          </p:cNvPicPr>
          <p:nvPr/>
        </p:nvPicPr>
        <p:blipFill>
          <a:blip r:embed="rId9"/>
          <a:stretch>
            <a:fillRect/>
          </a:stretch>
        </p:blipFill>
        <p:spPr>
          <a:xfrm>
            <a:off x="6580480" y="3434486"/>
            <a:ext cx="182880" cy="182880"/>
          </a:xfrm>
          <a:prstGeom prst="rect">
            <a:avLst/>
          </a:prstGeom>
        </p:spPr>
      </p:pic>
      <p:sp>
        <p:nvSpPr>
          <p:cNvPr id="29" name="Text 18"/>
          <p:cNvSpPr/>
          <p:nvPr/>
        </p:nvSpPr>
        <p:spPr>
          <a:xfrm>
            <a:off x="6909664" y="3370478"/>
            <a:ext cx="4329227" cy="310896"/>
          </a:xfrm>
          <a:prstGeom prst="rect">
            <a:avLst/>
          </a:prstGeom>
          <a:noFill/>
          <a:ln/>
        </p:spPr>
        <p:txBody>
          <a:bodyPr wrap="square" lIns="0" tIns="0" rIns="0" bIns="0" rtlCol="0" anchor="ctr"/>
          <a:lstStyle/>
          <a:p>
            <a:pPr indent="0" marL="0">
              <a:buNone/>
            </a:pPr>
            <a:r>
              <a:rPr lang="en-US" sz="1100" dirty="0">
                <a:solidFill>
                  <a:srgbClr val="0A3D23"/>
                </a:solidFill>
                <a:latin typeface="Yu Gothic" pitchFamily="34" charset="0"/>
                <a:ea typeface="Yu Gothic" pitchFamily="34" charset="-122"/>
                <a:cs typeface="Yu Gothic" pitchFamily="34" charset="-120"/>
              </a:rPr>
              <a:t>防犯カメラ・通信機器</a:t>
            </a:r>
            <a:endParaRPr lang="en-US" sz="1100" dirty="0"/>
          </a:p>
        </p:txBody>
      </p:sp>
      <p:sp>
        <p:nvSpPr>
          <p:cNvPr id="30" name="Text 19"/>
          <p:cNvSpPr/>
          <p:nvPr/>
        </p:nvSpPr>
        <p:spPr>
          <a:xfrm>
            <a:off x="6562192" y="3919118"/>
            <a:ext cx="4694987" cy="512064"/>
          </a:xfrm>
          <a:prstGeom prst="rect">
            <a:avLst/>
          </a:prstGeom>
          <a:noFill/>
          <a:ln/>
        </p:spPr>
        <p:txBody>
          <a:bodyPr wrap="square" lIns="0" tIns="0" rIns="0" bIns="0" rtlCol="0" anchor="t"/>
          <a:lstStyle/>
          <a:p>
            <a:pPr indent="0" marL="0">
              <a:lnSpc>
                <a:spcPct val="130000"/>
              </a:lnSpc>
              <a:buNone/>
            </a:pPr>
            <a:r>
              <a:rPr lang="en-US" sz="950" dirty="0">
                <a:solidFill>
                  <a:srgbClr val="7E8882"/>
                </a:solidFill>
                <a:latin typeface="Yu Gothic" pitchFamily="34" charset="0"/>
                <a:ea typeface="Yu Gothic" pitchFamily="34" charset="-122"/>
                <a:cs typeface="Yu Gothic" pitchFamily="34" charset="-120"/>
              </a:rPr>
              <a:t>撤去費用は当社が負担します。跡の補修も当社で対応します。</a:t>
            </a:r>
            <a:endParaRPr lang="en-US" sz="950" dirty="0"/>
          </a:p>
        </p:txBody>
      </p:sp>
      <p:sp>
        <p:nvSpPr>
          <p:cNvPr id="31" name="Shape 20"/>
          <p:cNvSpPr/>
          <p:nvPr/>
        </p:nvSpPr>
        <p:spPr>
          <a:xfrm>
            <a:off x="660197" y="4718304"/>
            <a:ext cx="10871302" cy="1005840"/>
          </a:xfrm>
          <a:prstGeom prst="roundRect">
            <a:avLst>
              <a:gd name="adj" fmla="val 5455"/>
            </a:avLst>
          </a:prstGeom>
          <a:solidFill>
            <a:srgbClr val="0C5230"/>
          </a:solidFill>
          <a:ln/>
        </p:spPr>
      </p:sp>
      <p:pic>
        <p:nvPicPr>
          <p:cNvPr id="32" name="Image 9" descr="/home/user/suzuki-ceo/selfcafe-miraiya-trial-deck/assets/icons/LuBadgeCheck-pale.png">    </p:cNvPr>
          <p:cNvPicPr>
            <a:picLocks noChangeAspect="1"/>
          </p:cNvPicPr>
          <p:nvPr/>
        </p:nvPicPr>
        <p:blipFill>
          <a:blip r:embed="rId10"/>
          <a:stretch>
            <a:fillRect/>
          </a:stretch>
        </p:blipFill>
        <p:spPr>
          <a:xfrm>
            <a:off x="1007669" y="4992624"/>
            <a:ext cx="402336" cy="402336"/>
          </a:xfrm>
          <a:prstGeom prst="rect">
            <a:avLst/>
          </a:prstGeom>
        </p:spPr>
      </p:pic>
      <p:sp>
        <p:nvSpPr>
          <p:cNvPr id="33" name="Text 21"/>
          <p:cNvSpPr/>
          <p:nvPr/>
        </p:nvSpPr>
        <p:spPr>
          <a:xfrm>
            <a:off x="1574597" y="4718304"/>
            <a:ext cx="9591142" cy="1005840"/>
          </a:xfrm>
          <a:prstGeom prst="rect">
            <a:avLst/>
          </a:prstGeom>
          <a:noFill/>
          <a:ln/>
        </p:spPr>
        <p:txBody>
          <a:bodyPr wrap="square" lIns="0" tIns="0" rIns="0" bIns="0" rtlCol="0" anchor="ctr"/>
          <a:lstStyle/>
          <a:p>
            <a:pPr indent="0" marL="0">
              <a:lnSpc>
                <a:spcPct val="125000"/>
              </a:lnSpc>
              <a:buNone/>
            </a:pPr>
            <a:r>
              <a:rPr lang="en-US" sz="1400" b="1" dirty="0">
                <a:solidFill>
                  <a:srgbClr val="FFFFFF"/>
                </a:solidFill>
                <a:latin typeface="Yu Gothic" pitchFamily="34" charset="0"/>
                <a:ea typeface="Yu Gothic" pitchFamily="34" charset="-122"/>
                <a:cs typeface="Yu Gothic" pitchFamily="34" charset="-120"/>
              </a:rPr>
              <a:t>トライアル後は、基本そのまま残す形を想定しています。</a:t>
            </a:r>
            <a:endParaRPr lang="en-US" sz="1400" dirty="0"/>
          </a:p>
          <a:p>
            <a:pPr indent="0" marL="0">
              <a:lnSpc>
                <a:spcPct val="125000"/>
              </a:lnSpc>
              <a:buNone/>
            </a:pPr>
            <a:r>
              <a:rPr lang="en-US" sz="1100" dirty="0">
                <a:solidFill>
                  <a:srgbClr val="AFC2B8"/>
                </a:solidFill>
                <a:latin typeface="Yu Gothic" pitchFamily="34" charset="0"/>
                <a:ea typeface="Yu Gothic" pitchFamily="34" charset="-122"/>
                <a:cs typeface="Yu Gothic" pitchFamily="34" charset="-120"/>
              </a:rPr>
              <a:t>内装も什器も残るため、継続いただく場合は追加の工事なくそのまま運営を続けられます。</a:t>
            </a:r>
            <a:endParaRPr lang="en-US" sz="1400" dirty="0"/>
          </a:p>
        </p:txBody>
      </p:sp>
      <p:sp>
        <p:nvSpPr>
          <p:cNvPr id="34" name="Text 22"/>
          <p:cNvSpPr/>
          <p:nvPr/>
        </p:nvSpPr>
        <p:spPr>
          <a:xfrm>
            <a:off x="660197" y="5888736"/>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撤去の範囲・時期は事前にお打ち合わせのうえ決定します。什器の再利用可否は現地確認時にご相談させてください。</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06</a:t>
            </a:r>
            <a:r>
              <a:rPr lang="en-US" sz="1050" b="1" dirty="0">
                <a:solidFill>
                  <a:srgbClr val="1B8149"/>
                </a:solidFill>
                <a:latin typeface="Yu Gothic" pitchFamily="34" charset="0"/>
                <a:ea typeface="Yu Gothic" pitchFamily="34" charset="-122"/>
                <a:cs typeface="Yu Gothic" pitchFamily="34" charset="-120"/>
              </a:rPr>
              <a:t>   家具・什器の考え方</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家具は御社ご所有のほうがよい、と判断しました。</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家具・什器は本来当社でご用意しますが、そのまま残す前提では御社の資産にしておくのが最も無駄がありません。</a:t>
            </a:r>
            <a:endParaRPr lang="en-US" sz="1250" dirty="0"/>
          </a:p>
        </p:txBody>
      </p:sp>
      <p:pic>
        <p:nvPicPr>
          <p:cNvPr id="6" name="Image 0" descr="/home/user/suzuki-ceo/selfcafe-miraiya-trial-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 未来屋書店 トライアル導入のご提案</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07</a:t>
            </a:r>
            <a:endParaRPr lang="en-US" sz="1000" dirty="0"/>
          </a:p>
        </p:txBody>
      </p:sp>
      <p:sp>
        <p:nvSpPr>
          <p:cNvPr id="9" name="Shape 6"/>
          <p:cNvSpPr/>
          <p:nvPr/>
        </p:nvSpPr>
        <p:spPr>
          <a:xfrm>
            <a:off x="660197" y="1651406"/>
            <a:ext cx="3440887" cy="3017520"/>
          </a:xfrm>
          <a:prstGeom prst="roundRect">
            <a:avLst>
              <a:gd name="adj" fmla="val 1818"/>
            </a:avLst>
          </a:prstGeom>
          <a:solidFill>
            <a:srgbClr val="FFFFFF"/>
          </a:solidFill>
          <a:ln w="9525">
            <a:solidFill>
              <a:srgbClr val="EFEAE0"/>
            </a:solidFill>
            <a:prstDash val="solid"/>
          </a:ln>
        </p:spPr>
      </p:sp>
      <p:pic>
        <p:nvPicPr>
          <p:cNvPr id="10" name="Image 1" descr="/home/user/suzuki-ceo/selfcafe-miraiya-trial-deck/assets/icons/LuStore-green.png">    </p:cNvPr>
          <p:cNvPicPr>
            <a:picLocks noChangeAspect="1"/>
          </p:cNvPicPr>
          <p:nvPr/>
        </p:nvPicPr>
        <p:blipFill>
          <a:blip r:embed="rId2"/>
          <a:stretch>
            <a:fillRect/>
          </a:stretch>
        </p:blipFill>
        <p:spPr>
          <a:xfrm>
            <a:off x="934517" y="1925726"/>
            <a:ext cx="365760" cy="365760"/>
          </a:xfrm>
          <a:prstGeom prst="rect">
            <a:avLst/>
          </a:prstGeom>
        </p:spPr>
      </p:pic>
      <p:sp>
        <p:nvSpPr>
          <p:cNvPr id="11" name="Text 7"/>
          <p:cNvSpPr/>
          <p:nvPr/>
        </p:nvSpPr>
        <p:spPr>
          <a:xfrm>
            <a:off x="934517" y="2456078"/>
            <a:ext cx="2892247" cy="548640"/>
          </a:xfrm>
          <a:prstGeom prst="rect">
            <a:avLst/>
          </a:prstGeom>
          <a:noFill/>
          <a:ln/>
        </p:spPr>
        <p:txBody>
          <a:bodyPr wrap="square" lIns="0" tIns="0" rIns="0" bIns="0" rtlCol="0" anchor="t"/>
          <a:lstStyle/>
          <a:p>
            <a:pPr indent="0" marL="0">
              <a:lnSpc>
                <a:spcPct val="120000"/>
              </a:lnSpc>
              <a:buNone/>
            </a:pPr>
            <a:r>
              <a:rPr lang="en-US" sz="1300" b="1" dirty="0">
                <a:solidFill>
                  <a:srgbClr val="0A3D23"/>
                </a:solidFill>
                <a:latin typeface="Yu Gothic" pitchFamily="34" charset="0"/>
                <a:ea typeface="Yu Gothic" pitchFamily="34" charset="-122"/>
                <a:cs typeface="Yu Gothic" pitchFamily="34" charset="-120"/>
              </a:rPr>
              <a:t>そのまま使い続けられる</a:t>
            </a:r>
            <a:endParaRPr lang="en-US" sz="1300" dirty="0"/>
          </a:p>
        </p:txBody>
      </p:sp>
      <p:sp>
        <p:nvSpPr>
          <p:cNvPr id="12" name="Shape 8"/>
          <p:cNvSpPr/>
          <p:nvPr/>
        </p:nvSpPr>
        <p:spPr>
          <a:xfrm>
            <a:off x="934517" y="3096158"/>
            <a:ext cx="2892247" cy="10058"/>
          </a:xfrm>
          <a:prstGeom prst="rect">
            <a:avLst/>
          </a:prstGeom>
          <a:solidFill>
            <a:srgbClr val="EFEAE0"/>
          </a:solidFill>
          <a:ln/>
        </p:spPr>
      </p:sp>
      <p:sp>
        <p:nvSpPr>
          <p:cNvPr id="13" name="Text 9"/>
          <p:cNvSpPr/>
          <p:nvPr/>
        </p:nvSpPr>
        <p:spPr>
          <a:xfrm>
            <a:off x="934517" y="3242462"/>
            <a:ext cx="2892247" cy="1280160"/>
          </a:xfrm>
          <a:prstGeom prst="rect">
            <a:avLst/>
          </a:prstGeom>
          <a:noFill/>
          <a:ln/>
        </p:spPr>
        <p:txBody>
          <a:bodyPr wrap="square" lIns="0" tIns="0" rIns="0" bIns="0" rtlCol="0" anchor="t"/>
          <a:lstStyle/>
          <a:p>
            <a:pPr indent="0" marL="0">
              <a:lnSpc>
                <a:spcPct val="140000"/>
              </a:lnSpc>
              <a:buNone/>
            </a:pPr>
            <a:r>
              <a:rPr lang="en-US" sz="1000" dirty="0">
                <a:solidFill>
                  <a:srgbClr val="4B5550"/>
                </a:solidFill>
                <a:latin typeface="Yu Gothic" pitchFamily="34" charset="0"/>
                <a:ea typeface="Yu Gothic" pitchFamily="34" charset="-122"/>
                <a:cs typeface="Yu Gothic" pitchFamily="34" charset="-120"/>
              </a:rPr>
              <a:t>トライアル後に継続される場合、什器の入れ替えも買い直しも発生しません。設えを変えずに運営を続けられます。</a:t>
            </a:r>
            <a:endParaRPr lang="en-US" sz="1000" dirty="0"/>
          </a:p>
        </p:txBody>
      </p:sp>
      <p:sp>
        <p:nvSpPr>
          <p:cNvPr id="14" name="Shape 10"/>
          <p:cNvSpPr/>
          <p:nvPr/>
        </p:nvSpPr>
        <p:spPr>
          <a:xfrm>
            <a:off x="4375404" y="1651406"/>
            <a:ext cx="3440887" cy="3017520"/>
          </a:xfrm>
          <a:prstGeom prst="roundRect">
            <a:avLst>
              <a:gd name="adj" fmla="val 1818"/>
            </a:avLst>
          </a:prstGeom>
          <a:solidFill>
            <a:srgbClr val="FFFFFF"/>
          </a:solidFill>
          <a:ln w="9525">
            <a:solidFill>
              <a:srgbClr val="EFEAE0"/>
            </a:solidFill>
            <a:prstDash val="solid"/>
          </a:ln>
        </p:spPr>
      </p:sp>
      <p:pic>
        <p:nvPicPr>
          <p:cNvPr id="15" name="Image 2" descr="/home/user/suzuki-ceo/selfcafe-miraiya-trial-deck/assets/icons/LuShieldCheck-green.png">    </p:cNvPr>
          <p:cNvPicPr>
            <a:picLocks noChangeAspect="1"/>
          </p:cNvPicPr>
          <p:nvPr/>
        </p:nvPicPr>
        <p:blipFill>
          <a:blip r:embed="rId3"/>
          <a:stretch>
            <a:fillRect/>
          </a:stretch>
        </p:blipFill>
        <p:spPr>
          <a:xfrm>
            <a:off x="4649724" y="1925726"/>
            <a:ext cx="365760" cy="365760"/>
          </a:xfrm>
          <a:prstGeom prst="rect">
            <a:avLst/>
          </a:prstGeom>
        </p:spPr>
      </p:pic>
      <p:sp>
        <p:nvSpPr>
          <p:cNvPr id="16" name="Text 11"/>
          <p:cNvSpPr/>
          <p:nvPr/>
        </p:nvSpPr>
        <p:spPr>
          <a:xfrm>
            <a:off x="4649724" y="2456078"/>
            <a:ext cx="2892247" cy="548640"/>
          </a:xfrm>
          <a:prstGeom prst="rect">
            <a:avLst/>
          </a:prstGeom>
          <a:noFill/>
          <a:ln/>
        </p:spPr>
        <p:txBody>
          <a:bodyPr wrap="square" lIns="0" tIns="0" rIns="0" bIns="0" rtlCol="0" anchor="t"/>
          <a:lstStyle/>
          <a:p>
            <a:pPr indent="0" marL="0">
              <a:lnSpc>
                <a:spcPct val="120000"/>
              </a:lnSpc>
              <a:buNone/>
            </a:pPr>
            <a:r>
              <a:rPr lang="en-US" sz="1300" b="1" dirty="0">
                <a:solidFill>
                  <a:srgbClr val="0A3D23"/>
                </a:solidFill>
                <a:latin typeface="Yu Gothic" pitchFamily="34" charset="0"/>
                <a:ea typeface="Yu Gothic" pitchFamily="34" charset="-122"/>
                <a:cs typeface="Yu Gothic" pitchFamily="34" charset="-120"/>
              </a:rPr>
              <a:t>御社の資産として残る</a:t>
            </a:r>
            <a:endParaRPr lang="en-US" sz="1300" dirty="0"/>
          </a:p>
        </p:txBody>
      </p:sp>
      <p:sp>
        <p:nvSpPr>
          <p:cNvPr id="17" name="Shape 12"/>
          <p:cNvSpPr/>
          <p:nvPr/>
        </p:nvSpPr>
        <p:spPr>
          <a:xfrm>
            <a:off x="4649724" y="3096158"/>
            <a:ext cx="2892247" cy="10058"/>
          </a:xfrm>
          <a:prstGeom prst="rect">
            <a:avLst/>
          </a:prstGeom>
          <a:solidFill>
            <a:srgbClr val="EFEAE0"/>
          </a:solidFill>
          <a:ln/>
        </p:spPr>
      </p:sp>
      <p:sp>
        <p:nvSpPr>
          <p:cNvPr id="18" name="Text 13"/>
          <p:cNvSpPr/>
          <p:nvPr/>
        </p:nvSpPr>
        <p:spPr>
          <a:xfrm>
            <a:off x="4649724" y="3242462"/>
            <a:ext cx="2892247" cy="1280160"/>
          </a:xfrm>
          <a:prstGeom prst="rect">
            <a:avLst/>
          </a:prstGeom>
          <a:noFill/>
          <a:ln/>
        </p:spPr>
        <p:txBody>
          <a:bodyPr wrap="square" lIns="0" tIns="0" rIns="0" bIns="0" rtlCol="0" anchor="t"/>
          <a:lstStyle/>
          <a:p>
            <a:pPr indent="0" marL="0">
              <a:lnSpc>
                <a:spcPct val="140000"/>
              </a:lnSpc>
              <a:buNone/>
            </a:pPr>
            <a:r>
              <a:rPr lang="en-US" sz="1000" dirty="0">
                <a:solidFill>
                  <a:srgbClr val="4B5550"/>
                </a:solidFill>
                <a:latin typeface="Yu Gothic" pitchFamily="34" charset="0"/>
                <a:ea typeface="Yu Gothic" pitchFamily="34" charset="-122"/>
                <a:cs typeface="Yu Gothic" pitchFamily="34" charset="-120"/>
              </a:rPr>
              <a:t>当社所有にすると、契約が終わる際に引き上げか買取かの整理が必要になります。はじめから御社ご所有であれば、その論点自体がなくなります。</a:t>
            </a:r>
            <a:endParaRPr lang="en-US" sz="1000" dirty="0"/>
          </a:p>
        </p:txBody>
      </p:sp>
      <p:sp>
        <p:nvSpPr>
          <p:cNvPr id="19" name="Shape 14"/>
          <p:cNvSpPr/>
          <p:nvPr/>
        </p:nvSpPr>
        <p:spPr>
          <a:xfrm>
            <a:off x="8090611" y="1651406"/>
            <a:ext cx="3440887" cy="3017520"/>
          </a:xfrm>
          <a:prstGeom prst="roundRect">
            <a:avLst>
              <a:gd name="adj" fmla="val 1818"/>
            </a:avLst>
          </a:prstGeom>
          <a:solidFill>
            <a:srgbClr val="FFFFFF"/>
          </a:solidFill>
          <a:ln w="9525">
            <a:solidFill>
              <a:srgbClr val="EFEAE0"/>
            </a:solidFill>
            <a:prstDash val="solid"/>
          </a:ln>
        </p:spPr>
      </p:sp>
      <p:pic>
        <p:nvPicPr>
          <p:cNvPr id="20" name="Image 3" descr="/home/user/suzuki-ceo/selfcafe-miraiya-trial-deck/assets/icons/LuPenLine-green.png">    </p:cNvPr>
          <p:cNvPicPr>
            <a:picLocks noChangeAspect="1"/>
          </p:cNvPicPr>
          <p:nvPr/>
        </p:nvPicPr>
        <p:blipFill>
          <a:blip r:embed="rId4"/>
          <a:stretch>
            <a:fillRect/>
          </a:stretch>
        </p:blipFill>
        <p:spPr>
          <a:xfrm>
            <a:off x="8364931" y="1925726"/>
            <a:ext cx="365760" cy="365760"/>
          </a:xfrm>
          <a:prstGeom prst="rect">
            <a:avLst/>
          </a:prstGeom>
        </p:spPr>
      </p:pic>
      <p:sp>
        <p:nvSpPr>
          <p:cNvPr id="21" name="Text 15"/>
          <p:cNvSpPr/>
          <p:nvPr/>
        </p:nvSpPr>
        <p:spPr>
          <a:xfrm>
            <a:off x="8364931" y="2456078"/>
            <a:ext cx="2892247" cy="548640"/>
          </a:xfrm>
          <a:prstGeom prst="rect">
            <a:avLst/>
          </a:prstGeom>
          <a:noFill/>
          <a:ln/>
        </p:spPr>
        <p:txBody>
          <a:bodyPr wrap="square" lIns="0" tIns="0" rIns="0" bIns="0" rtlCol="0" anchor="t"/>
          <a:lstStyle/>
          <a:p>
            <a:pPr indent="0" marL="0">
              <a:lnSpc>
                <a:spcPct val="120000"/>
              </a:lnSpc>
              <a:buNone/>
            </a:pPr>
            <a:r>
              <a:rPr lang="en-US" sz="1300" b="1" dirty="0">
                <a:solidFill>
                  <a:srgbClr val="0A3D23"/>
                </a:solidFill>
                <a:latin typeface="Yu Gothic" pitchFamily="34" charset="0"/>
                <a:ea typeface="Yu Gothic" pitchFamily="34" charset="-122"/>
                <a:cs typeface="Yu Gothic" pitchFamily="34" charset="-120"/>
              </a:rPr>
              <a:t>仕様を御社で選べる</a:t>
            </a:r>
            <a:endParaRPr lang="en-US" sz="1300" dirty="0"/>
          </a:p>
        </p:txBody>
      </p:sp>
      <p:sp>
        <p:nvSpPr>
          <p:cNvPr id="22" name="Shape 16"/>
          <p:cNvSpPr/>
          <p:nvPr/>
        </p:nvSpPr>
        <p:spPr>
          <a:xfrm>
            <a:off x="8364931" y="3096158"/>
            <a:ext cx="2892247" cy="10058"/>
          </a:xfrm>
          <a:prstGeom prst="rect">
            <a:avLst/>
          </a:prstGeom>
          <a:solidFill>
            <a:srgbClr val="EFEAE0"/>
          </a:solidFill>
          <a:ln/>
        </p:spPr>
      </p:sp>
      <p:sp>
        <p:nvSpPr>
          <p:cNvPr id="23" name="Text 17"/>
          <p:cNvSpPr/>
          <p:nvPr/>
        </p:nvSpPr>
        <p:spPr>
          <a:xfrm>
            <a:off x="8364931" y="3242462"/>
            <a:ext cx="2892247" cy="1280160"/>
          </a:xfrm>
          <a:prstGeom prst="rect">
            <a:avLst/>
          </a:prstGeom>
          <a:noFill/>
          <a:ln/>
        </p:spPr>
        <p:txBody>
          <a:bodyPr wrap="square" lIns="0" tIns="0" rIns="0" bIns="0" rtlCol="0" anchor="t"/>
          <a:lstStyle/>
          <a:p>
            <a:pPr indent="0" marL="0">
              <a:lnSpc>
                <a:spcPct val="140000"/>
              </a:lnSpc>
              <a:buNone/>
            </a:pPr>
            <a:r>
              <a:rPr lang="en-US" sz="1000" dirty="0">
                <a:solidFill>
                  <a:srgbClr val="4B5550"/>
                </a:solidFill>
                <a:latin typeface="Yu Gothic" pitchFamily="34" charset="0"/>
                <a:ea typeface="Yu Gothic" pitchFamily="34" charset="-122"/>
                <a:cs typeface="Yu Gothic" pitchFamily="34" charset="-120"/>
              </a:rPr>
              <a:t>テーブル・椅子・植栽は店舗の雰囲気を大きく左右します。書店の売場に合わせて御社側でお選びいただけます。</a:t>
            </a:r>
            <a:endParaRPr lang="en-US" sz="1000" dirty="0"/>
          </a:p>
        </p:txBody>
      </p:sp>
      <p:sp>
        <p:nvSpPr>
          <p:cNvPr id="24" name="Shape 18"/>
          <p:cNvSpPr/>
          <p:nvPr/>
        </p:nvSpPr>
        <p:spPr>
          <a:xfrm>
            <a:off x="660197" y="4809744"/>
            <a:ext cx="10871302" cy="914400"/>
          </a:xfrm>
          <a:prstGeom prst="roundRect">
            <a:avLst>
              <a:gd name="adj" fmla="val 6000"/>
            </a:avLst>
          </a:prstGeom>
          <a:solidFill>
            <a:srgbClr val="F1F8F3"/>
          </a:solidFill>
          <a:ln w="9525">
            <a:solidFill>
              <a:srgbClr val="D2E7DA"/>
            </a:solidFill>
            <a:prstDash val="solid"/>
          </a:ln>
        </p:spPr>
      </p:sp>
      <p:pic>
        <p:nvPicPr>
          <p:cNvPr id="25" name="Image 4" descr="/home/user/suzuki-ceo/selfcafe-miraiya-trial-deck/assets/icons/LuMessagesSquare-green.png">    </p:cNvPr>
          <p:cNvPicPr>
            <a:picLocks noChangeAspect="1"/>
          </p:cNvPicPr>
          <p:nvPr/>
        </p:nvPicPr>
        <p:blipFill>
          <a:blip r:embed="rId5"/>
          <a:stretch>
            <a:fillRect/>
          </a:stretch>
        </p:blipFill>
        <p:spPr>
          <a:xfrm>
            <a:off x="971093" y="5084064"/>
            <a:ext cx="365760" cy="365760"/>
          </a:xfrm>
          <a:prstGeom prst="rect">
            <a:avLst/>
          </a:prstGeom>
        </p:spPr>
      </p:pic>
      <p:sp>
        <p:nvSpPr>
          <p:cNvPr id="26" name="Text 19"/>
          <p:cNvSpPr/>
          <p:nvPr/>
        </p:nvSpPr>
        <p:spPr>
          <a:xfrm>
            <a:off x="1501445" y="4809744"/>
            <a:ext cx="9682582" cy="914400"/>
          </a:xfrm>
          <a:prstGeom prst="rect">
            <a:avLst/>
          </a:prstGeom>
          <a:noFill/>
          <a:ln/>
        </p:spPr>
        <p:txBody>
          <a:bodyPr wrap="square" lIns="0" tIns="0" rIns="0" bIns="0" rtlCol="0" anchor="ctr"/>
          <a:lstStyle/>
          <a:p>
            <a:pPr indent="0" marL="0">
              <a:lnSpc>
                <a:spcPct val="135000"/>
              </a:lnSpc>
              <a:buNone/>
            </a:pPr>
            <a:r>
              <a:rPr lang="en-US" sz="1050" dirty="0">
                <a:solidFill>
                  <a:srgbClr val="0A3D23"/>
                </a:solidFill>
                <a:latin typeface="Yu Gothic" pitchFamily="34" charset="0"/>
                <a:ea typeface="Yu Gothic" pitchFamily="34" charset="-122"/>
                <a:cs typeface="Yu Gothic" pitchFamily="34" charset="-120"/>
              </a:rPr>
              <a:t>通常のご契約と同じく当社側で家具・什器を手配することも可能です。その場合は当社の資産となるため、終了時に引き上げ・買取のご相談が必要になります。ご希望があればその形でもお受けします。</a:t>
            </a:r>
            <a:endParaRPr lang="en-US" sz="1050" dirty="0"/>
          </a:p>
        </p:txBody>
      </p:sp>
      <p:sp>
        <p:nvSpPr>
          <p:cNvPr id="27" name="Text 20"/>
          <p:cNvSpPr/>
          <p:nvPr/>
        </p:nvSpPr>
        <p:spPr>
          <a:xfrm>
            <a:off x="660197" y="5888736"/>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什器の概算費用は、レイアウト確定後にお見積りをお出しします。既存什器を再利用できる場合は、その分ご負担が減ります。</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07</a:t>
            </a:r>
            <a:r>
              <a:rPr lang="en-US" sz="1050" b="1" dirty="0">
                <a:solidFill>
                  <a:srgbClr val="1B8149"/>
                </a:solidFill>
                <a:latin typeface="Yu Gothic" pitchFamily="34" charset="0"/>
                <a:ea typeface="Yu Gothic" pitchFamily="34" charset="-122"/>
                <a:cs typeface="Yu Gothic" pitchFamily="34" charset="-120"/>
              </a:rPr>
              <a:t>   今後の進め方</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現地確認から、最短2〜3ヶ月で開始できます。</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まずは対象店舗と期間のすり合わせ、現地確認からお願いできればと存じます。</a:t>
            </a:r>
            <a:endParaRPr lang="en-US" sz="1250" dirty="0"/>
          </a:p>
        </p:txBody>
      </p:sp>
      <p:pic>
        <p:nvPicPr>
          <p:cNvPr id="6" name="Image 0" descr="/home/user/suzuki-ceo/selfcafe-miraiya-trial-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 未来屋書店 トライアル導入のご提案</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08</a:t>
            </a:r>
            <a:endParaRPr lang="en-US" sz="1000" dirty="0"/>
          </a:p>
        </p:txBody>
      </p:sp>
      <p:sp>
        <p:nvSpPr>
          <p:cNvPr id="9" name="Shape 6"/>
          <p:cNvSpPr/>
          <p:nvPr/>
        </p:nvSpPr>
        <p:spPr>
          <a:xfrm>
            <a:off x="660197" y="1651406"/>
            <a:ext cx="2013326" cy="2487168"/>
          </a:xfrm>
          <a:prstGeom prst="roundRect">
            <a:avLst>
              <a:gd name="adj" fmla="val 2725"/>
            </a:avLst>
          </a:prstGeom>
          <a:solidFill>
            <a:srgbClr val="FFFFFF"/>
          </a:solidFill>
          <a:ln w="9525">
            <a:solidFill>
              <a:srgbClr val="EFEAE0"/>
            </a:solidFill>
            <a:prstDash val="solid"/>
          </a:ln>
        </p:spPr>
      </p:sp>
      <p:sp>
        <p:nvSpPr>
          <p:cNvPr id="10" name="Text 7"/>
          <p:cNvSpPr/>
          <p:nvPr/>
        </p:nvSpPr>
        <p:spPr>
          <a:xfrm>
            <a:off x="879653" y="1870862"/>
            <a:ext cx="146304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STEP 01</a:t>
            </a:r>
            <a:endParaRPr lang="en-US" sz="900" dirty="0"/>
          </a:p>
        </p:txBody>
      </p:sp>
      <p:pic>
        <p:nvPicPr>
          <p:cNvPr id="11" name="Image 1" descr="/home/user/suzuki-ceo/selfcafe-miraiya-trial-deck/assets/icons/LuMessagesSquare-green.png">    </p:cNvPr>
          <p:cNvPicPr>
            <a:picLocks noChangeAspect="1"/>
          </p:cNvPicPr>
          <p:nvPr/>
        </p:nvPicPr>
        <p:blipFill>
          <a:blip r:embed="rId2"/>
          <a:stretch>
            <a:fillRect/>
          </a:stretch>
        </p:blipFill>
        <p:spPr>
          <a:xfrm>
            <a:off x="2015155" y="1834286"/>
            <a:ext cx="329184" cy="329184"/>
          </a:xfrm>
          <a:prstGeom prst="rect">
            <a:avLst/>
          </a:prstGeom>
        </p:spPr>
      </p:pic>
      <p:sp>
        <p:nvSpPr>
          <p:cNvPr id="12" name="Text 8"/>
          <p:cNvSpPr/>
          <p:nvPr/>
        </p:nvSpPr>
        <p:spPr>
          <a:xfrm>
            <a:off x="879653" y="2218334"/>
            <a:ext cx="1574414" cy="457200"/>
          </a:xfrm>
          <a:prstGeom prst="rect">
            <a:avLst/>
          </a:prstGeom>
          <a:noFill/>
          <a:ln/>
        </p:spPr>
        <p:txBody>
          <a:bodyPr wrap="square" lIns="0" tIns="0" rIns="0" bIns="0" rtlCol="0" anchor="ctr"/>
          <a:lstStyle/>
          <a:p>
            <a:pPr indent="0" marL="0">
              <a:buNone/>
            </a:pPr>
            <a:r>
              <a:rPr lang="en-US" sz="1250" b="1" dirty="0">
                <a:solidFill>
                  <a:srgbClr val="0A3D23"/>
                </a:solidFill>
                <a:latin typeface="Yu Gothic" pitchFamily="34" charset="0"/>
                <a:ea typeface="Yu Gothic" pitchFamily="34" charset="-122"/>
                <a:cs typeface="Yu Gothic" pitchFamily="34" charset="-120"/>
              </a:rPr>
              <a:t>条件のすり合わせ</a:t>
            </a:r>
            <a:endParaRPr lang="en-US" sz="1250" dirty="0"/>
          </a:p>
        </p:txBody>
      </p:sp>
      <p:sp>
        <p:nvSpPr>
          <p:cNvPr id="13" name="Shape 9"/>
          <p:cNvSpPr/>
          <p:nvPr/>
        </p:nvSpPr>
        <p:spPr>
          <a:xfrm>
            <a:off x="879653" y="2730398"/>
            <a:ext cx="1574414" cy="10058"/>
          </a:xfrm>
          <a:prstGeom prst="rect">
            <a:avLst/>
          </a:prstGeom>
          <a:solidFill>
            <a:srgbClr val="EFEAE0"/>
          </a:solidFill>
          <a:ln/>
        </p:spPr>
      </p:sp>
      <p:sp>
        <p:nvSpPr>
          <p:cNvPr id="14" name="Text 10"/>
          <p:cNvSpPr/>
          <p:nvPr/>
        </p:nvSpPr>
        <p:spPr>
          <a:xfrm>
            <a:off x="879653" y="2858414"/>
            <a:ext cx="1574414" cy="1097280"/>
          </a:xfrm>
          <a:prstGeom prst="rect">
            <a:avLst/>
          </a:prstGeom>
          <a:noFill/>
          <a:ln/>
        </p:spPr>
        <p:txBody>
          <a:bodyPr wrap="square" lIns="0" tIns="0" rIns="0" bIns="0" rtlCol="0" anchor="t"/>
          <a:lstStyle/>
          <a:p>
            <a:pPr indent="0" marL="0">
              <a:lnSpc>
                <a:spcPct val="140000"/>
              </a:lnSpc>
              <a:buNone/>
            </a:pPr>
            <a:r>
              <a:rPr lang="en-US" sz="950" dirty="0">
                <a:solidFill>
                  <a:srgbClr val="4B5550"/>
                </a:solidFill>
                <a:latin typeface="Yu Gothic" pitchFamily="34" charset="0"/>
                <a:ea typeface="Yu Gothic" pitchFamily="34" charset="-122"/>
                <a:cs typeface="Yu Gothic" pitchFamily="34" charset="-120"/>
              </a:rPr>
              <a:t>対象店舗・トライアル期間・開始時期を決めます。</a:t>
            </a:r>
            <a:endParaRPr lang="en-US" sz="950" dirty="0"/>
          </a:p>
        </p:txBody>
      </p:sp>
      <p:sp>
        <p:nvSpPr>
          <p:cNvPr id="15" name="Shape 11"/>
          <p:cNvSpPr/>
          <p:nvPr/>
        </p:nvSpPr>
        <p:spPr>
          <a:xfrm>
            <a:off x="2874691" y="1651406"/>
            <a:ext cx="2013326" cy="2487168"/>
          </a:xfrm>
          <a:prstGeom prst="roundRect">
            <a:avLst>
              <a:gd name="adj" fmla="val 2725"/>
            </a:avLst>
          </a:prstGeom>
          <a:solidFill>
            <a:srgbClr val="FFFFFF"/>
          </a:solidFill>
          <a:ln w="9525">
            <a:solidFill>
              <a:srgbClr val="EFEAE0"/>
            </a:solidFill>
            <a:prstDash val="solid"/>
          </a:ln>
        </p:spPr>
      </p:sp>
      <p:sp>
        <p:nvSpPr>
          <p:cNvPr id="16" name="Text 12"/>
          <p:cNvSpPr/>
          <p:nvPr/>
        </p:nvSpPr>
        <p:spPr>
          <a:xfrm>
            <a:off x="3094147" y="1870862"/>
            <a:ext cx="146304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STEP 02</a:t>
            </a:r>
            <a:endParaRPr lang="en-US" sz="900" dirty="0"/>
          </a:p>
        </p:txBody>
      </p:sp>
      <p:pic>
        <p:nvPicPr>
          <p:cNvPr id="17" name="Image 2" descr="/home/user/suzuki-ceo/selfcafe-miraiya-trial-deck/assets/icons/LuFileSearch-green.png">    </p:cNvPr>
          <p:cNvPicPr>
            <a:picLocks noChangeAspect="1"/>
          </p:cNvPicPr>
          <p:nvPr/>
        </p:nvPicPr>
        <p:blipFill>
          <a:blip r:embed="rId3"/>
          <a:stretch>
            <a:fillRect/>
          </a:stretch>
        </p:blipFill>
        <p:spPr>
          <a:xfrm>
            <a:off x="4229649" y="1834286"/>
            <a:ext cx="329184" cy="329184"/>
          </a:xfrm>
          <a:prstGeom prst="rect">
            <a:avLst/>
          </a:prstGeom>
        </p:spPr>
      </p:pic>
      <p:sp>
        <p:nvSpPr>
          <p:cNvPr id="18" name="Text 13"/>
          <p:cNvSpPr/>
          <p:nvPr/>
        </p:nvSpPr>
        <p:spPr>
          <a:xfrm>
            <a:off x="3094147" y="2218334"/>
            <a:ext cx="1574414" cy="457200"/>
          </a:xfrm>
          <a:prstGeom prst="rect">
            <a:avLst/>
          </a:prstGeom>
          <a:noFill/>
          <a:ln/>
        </p:spPr>
        <p:txBody>
          <a:bodyPr wrap="square" lIns="0" tIns="0" rIns="0" bIns="0" rtlCol="0" anchor="ctr"/>
          <a:lstStyle/>
          <a:p>
            <a:pPr indent="0" marL="0">
              <a:buNone/>
            </a:pPr>
            <a:r>
              <a:rPr lang="en-US" sz="1250" b="1" dirty="0">
                <a:solidFill>
                  <a:srgbClr val="0A3D23"/>
                </a:solidFill>
                <a:latin typeface="Yu Gothic" pitchFamily="34" charset="0"/>
                <a:ea typeface="Yu Gothic" pitchFamily="34" charset="-122"/>
                <a:cs typeface="Yu Gothic" pitchFamily="34" charset="-120"/>
              </a:rPr>
              <a:t>現地確認</a:t>
            </a:r>
            <a:endParaRPr lang="en-US" sz="1250" dirty="0"/>
          </a:p>
        </p:txBody>
      </p:sp>
      <p:sp>
        <p:nvSpPr>
          <p:cNvPr id="19" name="Shape 14"/>
          <p:cNvSpPr/>
          <p:nvPr/>
        </p:nvSpPr>
        <p:spPr>
          <a:xfrm>
            <a:off x="3094147" y="2730398"/>
            <a:ext cx="1574414" cy="10058"/>
          </a:xfrm>
          <a:prstGeom prst="rect">
            <a:avLst/>
          </a:prstGeom>
          <a:solidFill>
            <a:srgbClr val="EFEAE0"/>
          </a:solidFill>
          <a:ln/>
        </p:spPr>
      </p:sp>
      <p:sp>
        <p:nvSpPr>
          <p:cNvPr id="20" name="Text 15"/>
          <p:cNvSpPr/>
          <p:nvPr/>
        </p:nvSpPr>
        <p:spPr>
          <a:xfrm>
            <a:off x="3094147" y="2858414"/>
            <a:ext cx="1574414" cy="1097280"/>
          </a:xfrm>
          <a:prstGeom prst="rect">
            <a:avLst/>
          </a:prstGeom>
          <a:noFill/>
          <a:ln/>
        </p:spPr>
        <p:txBody>
          <a:bodyPr wrap="square" lIns="0" tIns="0" rIns="0" bIns="0" rtlCol="0" anchor="t"/>
          <a:lstStyle/>
          <a:p>
            <a:pPr indent="0" marL="0">
              <a:lnSpc>
                <a:spcPct val="140000"/>
              </a:lnSpc>
              <a:buNone/>
            </a:pPr>
            <a:r>
              <a:rPr lang="en-US" sz="950" dirty="0">
                <a:solidFill>
                  <a:srgbClr val="4B5550"/>
                </a:solidFill>
                <a:latin typeface="Yu Gothic" pitchFamily="34" charset="0"/>
                <a:ea typeface="Yu Gothic" pitchFamily="34" charset="-122"/>
                <a:cs typeface="Yu Gothic" pitchFamily="34" charset="-120"/>
              </a:rPr>
              <a:t>区画・電源・動線を確認し、レイアウトと什器の仕様を設計。</a:t>
            </a:r>
            <a:endParaRPr lang="en-US" sz="950" dirty="0"/>
          </a:p>
        </p:txBody>
      </p:sp>
      <p:sp>
        <p:nvSpPr>
          <p:cNvPr id="21" name="Shape 16"/>
          <p:cNvSpPr/>
          <p:nvPr/>
        </p:nvSpPr>
        <p:spPr>
          <a:xfrm>
            <a:off x="5089185" y="1651406"/>
            <a:ext cx="2013326" cy="2487168"/>
          </a:xfrm>
          <a:prstGeom prst="roundRect">
            <a:avLst>
              <a:gd name="adj" fmla="val 2725"/>
            </a:avLst>
          </a:prstGeom>
          <a:solidFill>
            <a:srgbClr val="FFFFFF"/>
          </a:solidFill>
          <a:ln w="9525">
            <a:solidFill>
              <a:srgbClr val="EFEAE0"/>
            </a:solidFill>
            <a:prstDash val="solid"/>
          </a:ln>
        </p:spPr>
      </p:sp>
      <p:sp>
        <p:nvSpPr>
          <p:cNvPr id="22" name="Text 17"/>
          <p:cNvSpPr/>
          <p:nvPr/>
        </p:nvSpPr>
        <p:spPr>
          <a:xfrm>
            <a:off x="5308641" y="1870862"/>
            <a:ext cx="146304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STEP 03</a:t>
            </a:r>
            <a:endParaRPr lang="en-US" sz="900" dirty="0"/>
          </a:p>
        </p:txBody>
      </p:sp>
      <p:pic>
        <p:nvPicPr>
          <p:cNvPr id="23" name="Image 3" descr="/home/user/suzuki-ceo/selfcafe-miraiya-trial-deck/assets/icons/LuPenLine-green.png">    </p:cNvPr>
          <p:cNvPicPr>
            <a:picLocks noChangeAspect="1"/>
          </p:cNvPicPr>
          <p:nvPr/>
        </p:nvPicPr>
        <p:blipFill>
          <a:blip r:embed="rId4"/>
          <a:stretch>
            <a:fillRect/>
          </a:stretch>
        </p:blipFill>
        <p:spPr>
          <a:xfrm>
            <a:off x="6444143" y="1834286"/>
            <a:ext cx="329184" cy="329184"/>
          </a:xfrm>
          <a:prstGeom prst="rect">
            <a:avLst/>
          </a:prstGeom>
        </p:spPr>
      </p:pic>
      <p:sp>
        <p:nvSpPr>
          <p:cNvPr id="24" name="Text 18"/>
          <p:cNvSpPr/>
          <p:nvPr/>
        </p:nvSpPr>
        <p:spPr>
          <a:xfrm>
            <a:off x="5308641" y="2218334"/>
            <a:ext cx="1574414" cy="457200"/>
          </a:xfrm>
          <a:prstGeom prst="rect">
            <a:avLst/>
          </a:prstGeom>
          <a:noFill/>
          <a:ln/>
        </p:spPr>
        <p:txBody>
          <a:bodyPr wrap="square" lIns="0" tIns="0" rIns="0" bIns="0" rtlCol="0" anchor="ctr"/>
          <a:lstStyle/>
          <a:p>
            <a:pPr indent="0" marL="0">
              <a:buNone/>
            </a:pPr>
            <a:r>
              <a:rPr lang="en-US" sz="1250" b="1" dirty="0">
                <a:solidFill>
                  <a:srgbClr val="0A3D23"/>
                </a:solidFill>
                <a:latin typeface="Yu Gothic" pitchFamily="34" charset="0"/>
                <a:ea typeface="Yu Gothic" pitchFamily="34" charset="-122"/>
                <a:cs typeface="Yu Gothic" pitchFamily="34" charset="-120"/>
              </a:rPr>
              <a:t>契約締結</a:t>
            </a:r>
            <a:endParaRPr lang="en-US" sz="1250" dirty="0"/>
          </a:p>
        </p:txBody>
      </p:sp>
      <p:sp>
        <p:nvSpPr>
          <p:cNvPr id="25" name="Shape 19"/>
          <p:cNvSpPr/>
          <p:nvPr/>
        </p:nvSpPr>
        <p:spPr>
          <a:xfrm>
            <a:off x="5308641" y="2730398"/>
            <a:ext cx="1574414" cy="10058"/>
          </a:xfrm>
          <a:prstGeom prst="rect">
            <a:avLst/>
          </a:prstGeom>
          <a:solidFill>
            <a:srgbClr val="EFEAE0"/>
          </a:solidFill>
          <a:ln/>
        </p:spPr>
      </p:sp>
      <p:sp>
        <p:nvSpPr>
          <p:cNvPr id="26" name="Text 20"/>
          <p:cNvSpPr/>
          <p:nvPr/>
        </p:nvSpPr>
        <p:spPr>
          <a:xfrm>
            <a:off x="5308641" y="2858414"/>
            <a:ext cx="1574414" cy="1097280"/>
          </a:xfrm>
          <a:prstGeom prst="rect">
            <a:avLst/>
          </a:prstGeom>
          <a:noFill/>
          <a:ln/>
        </p:spPr>
        <p:txBody>
          <a:bodyPr wrap="square" lIns="0" tIns="0" rIns="0" bIns="0" rtlCol="0" anchor="t"/>
          <a:lstStyle/>
          <a:p>
            <a:pPr indent="0" marL="0">
              <a:lnSpc>
                <a:spcPct val="140000"/>
              </a:lnSpc>
              <a:buNone/>
            </a:pPr>
            <a:r>
              <a:rPr lang="en-US" sz="950" dirty="0">
                <a:solidFill>
                  <a:srgbClr val="4B5550"/>
                </a:solidFill>
                <a:latin typeface="Yu Gothic" pitchFamily="34" charset="0"/>
                <a:ea typeface="Yu Gothic" pitchFamily="34" charset="-122"/>
                <a:cs typeface="Yu Gothic" pitchFamily="34" charset="-120"/>
              </a:rPr>
              <a:t>トライアル条件を明記した契約を締結します。</a:t>
            </a:r>
            <a:endParaRPr lang="en-US" sz="950" dirty="0"/>
          </a:p>
        </p:txBody>
      </p:sp>
      <p:sp>
        <p:nvSpPr>
          <p:cNvPr id="27" name="Shape 21"/>
          <p:cNvSpPr/>
          <p:nvPr/>
        </p:nvSpPr>
        <p:spPr>
          <a:xfrm>
            <a:off x="7303679" y="1651406"/>
            <a:ext cx="2013326" cy="2487168"/>
          </a:xfrm>
          <a:prstGeom prst="roundRect">
            <a:avLst>
              <a:gd name="adj" fmla="val 2725"/>
            </a:avLst>
          </a:prstGeom>
          <a:solidFill>
            <a:srgbClr val="FFFFFF"/>
          </a:solidFill>
          <a:ln w="9525">
            <a:solidFill>
              <a:srgbClr val="EFEAE0"/>
            </a:solidFill>
            <a:prstDash val="solid"/>
          </a:ln>
        </p:spPr>
      </p:sp>
      <p:sp>
        <p:nvSpPr>
          <p:cNvPr id="28" name="Text 22"/>
          <p:cNvSpPr/>
          <p:nvPr/>
        </p:nvSpPr>
        <p:spPr>
          <a:xfrm>
            <a:off x="7523135" y="1870862"/>
            <a:ext cx="146304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STEP 04</a:t>
            </a:r>
            <a:endParaRPr lang="en-US" sz="900" dirty="0"/>
          </a:p>
        </p:txBody>
      </p:sp>
      <p:pic>
        <p:nvPicPr>
          <p:cNvPr id="29" name="Image 4" descr="/home/user/suzuki-ceo/selfcafe-miraiya-trial-deck/assets/icons/LuHammer-green.png">    </p:cNvPr>
          <p:cNvPicPr>
            <a:picLocks noChangeAspect="1"/>
          </p:cNvPicPr>
          <p:nvPr/>
        </p:nvPicPr>
        <p:blipFill>
          <a:blip r:embed="rId5"/>
          <a:stretch>
            <a:fillRect/>
          </a:stretch>
        </p:blipFill>
        <p:spPr>
          <a:xfrm>
            <a:off x="8658636" y="1834286"/>
            <a:ext cx="329184" cy="329184"/>
          </a:xfrm>
          <a:prstGeom prst="rect">
            <a:avLst/>
          </a:prstGeom>
        </p:spPr>
      </p:pic>
      <p:sp>
        <p:nvSpPr>
          <p:cNvPr id="30" name="Text 23"/>
          <p:cNvSpPr/>
          <p:nvPr/>
        </p:nvSpPr>
        <p:spPr>
          <a:xfrm>
            <a:off x="7523135" y="2218334"/>
            <a:ext cx="1574414" cy="457200"/>
          </a:xfrm>
          <a:prstGeom prst="rect">
            <a:avLst/>
          </a:prstGeom>
          <a:noFill/>
          <a:ln/>
        </p:spPr>
        <p:txBody>
          <a:bodyPr wrap="square" lIns="0" tIns="0" rIns="0" bIns="0" rtlCol="0" anchor="ctr"/>
          <a:lstStyle/>
          <a:p>
            <a:pPr indent="0" marL="0">
              <a:buNone/>
            </a:pPr>
            <a:r>
              <a:rPr lang="en-US" sz="1250" b="1" dirty="0">
                <a:solidFill>
                  <a:srgbClr val="0A3D23"/>
                </a:solidFill>
                <a:latin typeface="Yu Gothic" pitchFamily="34" charset="0"/>
                <a:ea typeface="Yu Gothic" pitchFamily="34" charset="-122"/>
                <a:cs typeface="Yu Gothic" pitchFamily="34" charset="-120"/>
              </a:rPr>
              <a:t>工事・設置</a:t>
            </a:r>
            <a:endParaRPr lang="en-US" sz="1250" dirty="0"/>
          </a:p>
        </p:txBody>
      </p:sp>
      <p:sp>
        <p:nvSpPr>
          <p:cNvPr id="31" name="Shape 24"/>
          <p:cNvSpPr/>
          <p:nvPr/>
        </p:nvSpPr>
        <p:spPr>
          <a:xfrm>
            <a:off x="7523135" y="2730398"/>
            <a:ext cx="1574414" cy="10058"/>
          </a:xfrm>
          <a:prstGeom prst="rect">
            <a:avLst/>
          </a:prstGeom>
          <a:solidFill>
            <a:srgbClr val="EFEAE0"/>
          </a:solidFill>
          <a:ln/>
        </p:spPr>
      </p:sp>
      <p:sp>
        <p:nvSpPr>
          <p:cNvPr id="32" name="Text 25"/>
          <p:cNvSpPr/>
          <p:nvPr/>
        </p:nvSpPr>
        <p:spPr>
          <a:xfrm>
            <a:off x="7523135" y="2858414"/>
            <a:ext cx="1574414" cy="1097280"/>
          </a:xfrm>
          <a:prstGeom prst="rect">
            <a:avLst/>
          </a:prstGeom>
          <a:noFill/>
          <a:ln/>
        </p:spPr>
        <p:txBody>
          <a:bodyPr wrap="square" lIns="0" tIns="0" rIns="0" bIns="0" rtlCol="0" anchor="t"/>
          <a:lstStyle/>
          <a:p>
            <a:pPr indent="0" marL="0">
              <a:lnSpc>
                <a:spcPct val="140000"/>
              </a:lnSpc>
              <a:buNone/>
            </a:pPr>
            <a:r>
              <a:rPr lang="en-US" sz="950" dirty="0">
                <a:solidFill>
                  <a:srgbClr val="4B5550"/>
                </a:solidFill>
                <a:latin typeface="Yu Gothic" pitchFamily="34" charset="0"/>
                <a:ea typeface="Yu Gothic" pitchFamily="34" charset="-122"/>
                <a:cs typeface="Yu Gothic" pitchFamily="34" charset="-120"/>
              </a:rPr>
              <a:t>内装工事は当社が施工。家具・什器は御社にてご手配。</a:t>
            </a:r>
            <a:endParaRPr lang="en-US" sz="950" dirty="0"/>
          </a:p>
        </p:txBody>
      </p:sp>
      <p:sp>
        <p:nvSpPr>
          <p:cNvPr id="33" name="Shape 26"/>
          <p:cNvSpPr/>
          <p:nvPr/>
        </p:nvSpPr>
        <p:spPr>
          <a:xfrm>
            <a:off x="9518172" y="1651406"/>
            <a:ext cx="2013326" cy="2487168"/>
          </a:xfrm>
          <a:prstGeom prst="roundRect">
            <a:avLst>
              <a:gd name="adj" fmla="val 2725"/>
            </a:avLst>
          </a:prstGeom>
          <a:solidFill>
            <a:srgbClr val="FFFFFF"/>
          </a:solidFill>
          <a:ln w="9525">
            <a:solidFill>
              <a:srgbClr val="EFEAE0"/>
            </a:solidFill>
            <a:prstDash val="solid"/>
          </a:ln>
        </p:spPr>
      </p:sp>
      <p:sp>
        <p:nvSpPr>
          <p:cNvPr id="34" name="Text 27"/>
          <p:cNvSpPr/>
          <p:nvPr/>
        </p:nvSpPr>
        <p:spPr>
          <a:xfrm>
            <a:off x="9737628" y="1870862"/>
            <a:ext cx="146304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STEP 05</a:t>
            </a:r>
            <a:endParaRPr lang="en-US" sz="900" dirty="0"/>
          </a:p>
        </p:txBody>
      </p:sp>
      <p:pic>
        <p:nvPicPr>
          <p:cNvPr id="35" name="Image 5" descr="/home/user/suzuki-ceo/selfcafe-miraiya-trial-deck/assets/icons/LuStore-green.png">    </p:cNvPr>
          <p:cNvPicPr>
            <a:picLocks noChangeAspect="1"/>
          </p:cNvPicPr>
          <p:nvPr/>
        </p:nvPicPr>
        <p:blipFill>
          <a:blip r:embed="rId6"/>
          <a:stretch>
            <a:fillRect/>
          </a:stretch>
        </p:blipFill>
        <p:spPr>
          <a:xfrm>
            <a:off x="10873130" y="1834286"/>
            <a:ext cx="329184" cy="329184"/>
          </a:xfrm>
          <a:prstGeom prst="rect">
            <a:avLst/>
          </a:prstGeom>
        </p:spPr>
      </p:pic>
      <p:sp>
        <p:nvSpPr>
          <p:cNvPr id="36" name="Text 28"/>
          <p:cNvSpPr/>
          <p:nvPr/>
        </p:nvSpPr>
        <p:spPr>
          <a:xfrm>
            <a:off x="9737628" y="2218334"/>
            <a:ext cx="1574414" cy="457200"/>
          </a:xfrm>
          <a:prstGeom prst="rect">
            <a:avLst/>
          </a:prstGeom>
          <a:noFill/>
          <a:ln/>
        </p:spPr>
        <p:txBody>
          <a:bodyPr wrap="square" lIns="0" tIns="0" rIns="0" bIns="0" rtlCol="0" anchor="ctr"/>
          <a:lstStyle/>
          <a:p>
            <a:pPr indent="0" marL="0">
              <a:buNone/>
            </a:pPr>
            <a:r>
              <a:rPr lang="en-US" sz="1250" b="1" dirty="0">
                <a:solidFill>
                  <a:srgbClr val="0A3D23"/>
                </a:solidFill>
                <a:latin typeface="Yu Gothic" pitchFamily="34" charset="0"/>
                <a:ea typeface="Yu Gothic" pitchFamily="34" charset="-122"/>
                <a:cs typeface="Yu Gothic" pitchFamily="34" charset="-120"/>
              </a:rPr>
              <a:t>トライアル開始</a:t>
            </a:r>
            <a:endParaRPr lang="en-US" sz="1250" dirty="0"/>
          </a:p>
        </p:txBody>
      </p:sp>
      <p:sp>
        <p:nvSpPr>
          <p:cNvPr id="37" name="Shape 29"/>
          <p:cNvSpPr/>
          <p:nvPr/>
        </p:nvSpPr>
        <p:spPr>
          <a:xfrm>
            <a:off x="9737628" y="2730398"/>
            <a:ext cx="1574414" cy="10058"/>
          </a:xfrm>
          <a:prstGeom prst="rect">
            <a:avLst/>
          </a:prstGeom>
          <a:solidFill>
            <a:srgbClr val="EFEAE0"/>
          </a:solidFill>
          <a:ln/>
        </p:spPr>
      </p:sp>
      <p:sp>
        <p:nvSpPr>
          <p:cNvPr id="38" name="Text 30"/>
          <p:cNvSpPr/>
          <p:nvPr/>
        </p:nvSpPr>
        <p:spPr>
          <a:xfrm>
            <a:off x="9737628" y="2858414"/>
            <a:ext cx="1574414" cy="1097280"/>
          </a:xfrm>
          <a:prstGeom prst="rect">
            <a:avLst/>
          </a:prstGeom>
          <a:noFill/>
          <a:ln/>
        </p:spPr>
        <p:txBody>
          <a:bodyPr wrap="square" lIns="0" tIns="0" rIns="0" bIns="0" rtlCol="0" anchor="t"/>
          <a:lstStyle/>
          <a:p>
            <a:pPr indent="0" marL="0">
              <a:lnSpc>
                <a:spcPct val="140000"/>
              </a:lnSpc>
              <a:buNone/>
            </a:pPr>
            <a:r>
              <a:rPr lang="en-US" sz="950" dirty="0">
                <a:solidFill>
                  <a:srgbClr val="4B5550"/>
                </a:solidFill>
                <a:latin typeface="Yu Gothic" pitchFamily="34" charset="0"/>
                <a:ea typeface="Yu Gothic" pitchFamily="34" charset="-122"/>
                <a:cs typeface="Yu Gothic" pitchFamily="34" charset="-120"/>
              </a:rPr>
              <a:t>運営・集客・お問い合わせ対応は当社が担当します。</a:t>
            </a:r>
            <a:endParaRPr lang="en-US" sz="950" dirty="0"/>
          </a:p>
        </p:txBody>
      </p:sp>
      <p:sp>
        <p:nvSpPr>
          <p:cNvPr id="39" name="Shape 31"/>
          <p:cNvSpPr/>
          <p:nvPr/>
        </p:nvSpPr>
        <p:spPr>
          <a:xfrm>
            <a:off x="660197" y="4376318"/>
            <a:ext cx="10871302" cy="1737360"/>
          </a:xfrm>
          <a:prstGeom prst="roundRect">
            <a:avLst>
              <a:gd name="adj" fmla="val 3158"/>
            </a:avLst>
          </a:prstGeom>
          <a:solidFill>
            <a:srgbClr val="0C5230"/>
          </a:solidFill>
          <a:ln/>
        </p:spPr>
      </p:sp>
      <p:pic>
        <p:nvPicPr>
          <p:cNvPr id="40" name="Image 6" descr="/home/user/suzuki-ceo/selfcafe-miraiya-trial-deck/assets/logo-white.png">    </p:cNvPr>
          <p:cNvPicPr>
            <a:picLocks noChangeAspect="1"/>
          </p:cNvPicPr>
          <p:nvPr/>
        </p:nvPicPr>
        <p:blipFill>
          <a:blip r:embed="rId7"/>
          <a:stretch>
            <a:fillRect/>
          </a:stretch>
        </p:blipFill>
        <p:spPr>
          <a:xfrm>
            <a:off x="1062533" y="4632350"/>
            <a:ext cx="2093976" cy="298094"/>
          </a:xfrm>
          <a:prstGeom prst="rect">
            <a:avLst/>
          </a:prstGeom>
        </p:spPr>
      </p:pic>
      <p:sp>
        <p:nvSpPr>
          <p:cNvPr id="41" name="Text 32"/>
          <p:cNvSpPr/>
          <p:nvPr/>
        </p:nvSpPr>
        <p:spPr>
          <a:xfrm>
            <a:off x="1062533" y="5071262"/>
            <a:ext cx="5852160" cy="310896"/>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ご不明な点は、お気軽にお問い合わせください。</a:t>
            </a:r>
            <a:endParaRPr lang="en-US" sz="1300" dirty="0"/>
          </a:p>
        </p:txBody>
      </p:sp>
      <p:pic>
        <p:nvPicPr>
          <p:cNvPr id="42" name="Image 7" descr="/home/user/suzuki-ceo/selfcafe-miraiya-trial-deck/assets/icons/LuPhone-pale.png">    </p:cNvPr>
          <p:cNvPicPr>
            <a:picLocks noChangeAspect="1"/>
          </p:cNvPicPr>
          <p:nvPr/>
        </p:nvPicPr>
        <p:blipFill>
          <a:blip r:embed="rId8"/>
          <a:stretch>
            <a:fillRect/>
          </a:stretch>
        </p:blipFill>
        <p:spPr>
          <a:xfrm>
            <a:off x="7426757" y="4650638"/>
            <a:ext cx="219456" cy="219456"/>
          </a:xfrm>
          <a:prstGeom prst="rect">
            <a:avLst/>
          </a:prstGeom>
        </p:spPr>
      </p:pic>
      <p:sp>
        <p:nvSpPr>
          <p:cNvPr id="43" name="Text 33"/>
          <p:cNvSpPr/>
          <p:nvPr/>
        </p:nvSpPr>
        <p:spPr>
          <a:xfrm>
            <a:off x="7792517" y="4595774"/>
            <a:ext cx="914400" cy="329184"/>
          </a:xfrm>
          <a:prstGeom prst="rect">
            <a:avLst/>
          </a:prstGeom>
          <a:noFill/>
          <a:ln/>
        </p:spPr>
        <p:txBody>
          <a:bodyPr wrap="square" lIns="0" tIns="0" rIns="0" bIns="0" rtlCol="0" anchor="ctr"/>
          <a:lstStyle/>
          <a:p>
            <a:pPr indent="0" marL="0">
              <a:buNone/>
            </a:pPr>
            <a:r>
              <a:rPr lang="en-US" sz="900" b="1" spc="100" kern="0" dirty="0">
                <a:solidFill>
                  <a:srgbClr val="8CC5A5"/>
                </a:solidFill>
                <a:latin typeface="Arial" pitchFamily="34" charset="0"/>
                <a:ea typeface="Arial" pitchFamily="34" charset="-122"/>
                <a:cs typeface="Arial" pitchFamily="34" charset="-120"/>
              </a:rPr>
              <a:t>TEL</a:t>
            </a:r>
            <a:endParaRPr lang="en-US" sz="900" dirty="0"/>
          </a:p>
        </p:txBody>
      </p:sp>
      <p:sp>
        <p:nvSpPr>
          <p:cNvPr id="44" name="Text 34"/>
          <p:cNvSpPr/>
          <p:nvPr/>
        </p:nvSpPr>
        <p:spPr>
          <a:xfrm>
            <a:off x="8615477" y="4595774"/>
            <a:ext cx="2926080" cy="32918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052-879-3557</a:t>
            </a:r>
            <a:endParaRPr lang="en-US" sz="1300" dirty="0"/>
          </a:p>
        </p:txBody>
      </p:sp>
      <p:pic>
        <p:nvPicPr>
          <p:cNvPr id="45" name="Image 8" descr="/home/user/suzuki-ceo/selfcafe-miraiya-trial-deck/assets/icons/LuMail-pale.png">    </p:cNvPr>
          <p:cNvPicPr>
            <a:picLocks noChangeAspect="1"/>
          </p:cNvPicPr>
          <p:nvPr/>
        </p:nvPicPr>
        <p:blipFill>
          <a:blip r:embed="rId9"/>
          <a:stretch>
            <a:fillRect/>
          </a:stretch>
        </p:blipFill>
        <p:spPr>
          <a:xfrm>
            <a:off x="7426757" y="5107838"/>
            <a:ext cx="219456" cy="219456"/>
          </a:xfrm>
          <a:prstGeom prst="rect">
            <a:avLst/>
          </a:prstGeom>
        </p:spPr>
      </p:pic>
      <p:sp>
        <p:nvSpPr>
          <p:cNvPr id="46" name="Text 35"/>
          <p:cNvSpPr/>
          <p:nvPr/>
        </p:nvSpPr>
        <p:spPr>
          <a:xfrm>
            <a:off x="7792517" y="5052974"/>
            <a:ext cx="914400" cy="329184"/>
          </a:xfrm>
          <a:prstGeom prst="rect">
            <a:avLst/>
          </a:prstGeom>
          <a:noFill/>
          <a:ln/>
        </p:spPr>
        <p:txBody>
          <a:bodyPr wrap="square" lIns="0" tIns="0" rIns="0" bIns="0" rtlCol="0" anchor="ctr"/>
          <a:lstStyle/>
          <a:p>
            <a:pPr indent="0" marL="0">
              <a:buNone/>
            </a:pPr>
            <a:r>
              <a:rPr lang="en-US" sz="900" b="1" spc="100" kern="0" dirty="0">
                <a:solidFill>
                  <a:srgbClr val="8CC5A5"/>
                </a:solidFill>
                <a:latin typeface="Arial" pitchFamily="34" charset="0"/>
                <a:ea typeface="Arial" pitchFamily="34" charset="-122"/>
                <a:cs typeface="Arial" pitchFamily="34" charset="-120"/>
              </a:rPr>
              <a:t>E-MAIL</a:t>
            </a:r>
            <a:endParaRPr lang="en-US" sz="900" dirty="0"/>
          </a:p>
        </p:txBody>
      </p:sp>
      <p:sp>
        <p:nvSpPr>
          <p:cNvPr id="47" name="Text 36"/>
          <p:cNvSpPr/>
          <p:nvPr/>
        </p:nvSpPr>
        <p:spPr>
          <a:xfrm>
            <a:off x="8615477" y="5052974"/>
            <a:ext cx="2926080" cy="32918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info@selfcafe.jp</a:t>
            </a:r>
            <a:endParaRPr lang="en-US" sz="1300" dirty="0"/>
          </a:p>
        </p:txBody>
      </p:sp>
      <p:pic>
        <p:nvPicPr>
          <p:cNvPr id="48" name="Image 9" descr="/home/user/suzuki-ceo/selfcafe-miraiya-trial-deck/assets/icons/LuGlobe-pale.png">    </p:cNvPr>
          <p:cNvPicPr>
            <a:picLocks noChangeAspect="1"/>
          </p:cNvPicPr>
          <p:nvPr/>
        </p:nvPicPr>
        <p:blipFill>
          <a:blip r:embed="rId10"/>
          <a:stretch>
            <a:fillRect/>
          </a:stretch>
        </p:blipFill>
        <p:spPr>
          <a:xfrm>
            <a:off x="7426757" y="5565038"/>
            <a:ext cx="219456" cy="219456"/>
          </a:xfrm>
          <a:prstGeom prst="rect">
            <a:avLst/>
          </a:prstGeom>
        </p:spPr>
      </p:pic>
      <p:sp>
        <p:nvSpPr>
          <p:cNvPr id="49" name="Text 37"/>
          <p:cNvSpPr/>
          <p:nvPr/>
        </p:nvSpPr>
        <p:spPr>
          <a:xfrm>
            <a:off x="7792517" y="5510174"/>
            <a:ext cx="914400" cy="329184"/>
          </a:xfrm>
          <a:prstGeom prst="rect">
            <a:avLst/>
          </a:prstGeom>
          <a:noFill/>
          <a:ln/>
        </p:spPr>
        <p:txBody>
          <a:bodyPr wrap="square" lIns="0" tIns="0" rIns="0" bIns="0" rtlCol="0" anchor="ctr"/>
          <a:lstStyle/>
          <a:p>
            <a:pPr indent="0" marL="0">
              <a:buNone/>
            </a:pPr>
            <a:r>
              <a:rPr lang="en-US" sz="900" b="1" spc="100" kern="0" dirty="0">
                <a:solidFill>
                  <a:srgbClr val="8CC5A5"/>
                </a:solidFill>
                <a:latin typeface="Arial" pitchFamily="34" charset="0"/>
                <a:ea typeface="Arial" pitchFamily="34" charset="-122"/>
                <a:cs typeface="Arial" pitchFamily="34" charset="-120"/>
              </a:rPr>
              <a:t>WEB</a:t>
            </a:r>
            <a:endParaRPr lang="en-US" sz="900" dirty="0"/>
          </a:p>
        </p:txBody>
      </p:sp>
      <p:sp>
        <p:nvSpPr>
          <p:cNvPr id="50" name="Text 38"/>
          <p:cNvSpPr/>
          <p:nvPr/>
        </p:nvSpPr>
        <p:spPr>
          <a:xfrm>
            <a:off x="8615477" y="5510174"/>
            <a:ext cx="2926080" cy="32918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https://selfcafe.jp/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セルフカフェ × 未来屋書店 トライアル導入のご提案</dc:title>
  <dc:subject>PptxGenJS Presentation</dc:subject>
  <dc:creator>セルフカフェ株式会社</dc:creator>
  <cp:lastModifiedBy>セルフカフェ株式会社</cp:lastModifiedBy>
  <cp:revision>1</cp:revision>
  <dcterms:created xsi:type="dcterms:W3CDTF">2026-09-21T09:16:31Z</dcterms:created>
  <dcterms:modified xsi:type="dcterms:W3CDTF">2026-09-21T09:16:31Z</dcterms:modified>
</cp:coreProperties>
</file>