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image" Target="../media/image-2-6.png"/><Relationship Id="rId7" Type="http://schemas.openxmlformats.org/officeDocument/2006/relationships/image" Target="../media/image-2-6.png"/><Relationship Id="rId8" Type="http://schemas.openxmlformats.org/officeDocument/2006/relationships/image" Target="../media/image-2-6.png"/><Relationship Id="rId9" Type="http://schemas.openxmlformats.org/officeDocument/2006/relationships/image" Target="../media/image-2-6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3.png"/><Relationship Id="rId5" Type="http://schemas.openxmlformats.org/officeDocument/2006/relationships/image" Target="../media/image-6-3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7.png"/><Relationship Id="rId9" Type="http://schemas.openxmlformats.org/officeDocument/2006/relationships/image" Target="../media/image-6-7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trial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trial-deck/assets/photos/.crops/inzai-hall-538x75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0"/>
            <a:ext cx="4922215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242048" y="0"/>
            <a:ext cx="27432" cy="6858000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812902" y="758952"/>
            <a:ext cx="36576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  <p:pic>
        <p:nvPicPr>
          <p:cNvPr id="6" name="Image 2" descr="/home/user/suzuki-ceo/selfcafe-miraiya-trial-deck/assets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12902" y="2615184"/>
            <a:ext cx="1143000" cy="310896"/>
          </a:xfrm>
          <a:prstGeom prst="roundRect">
            <a:avLst>
              <a:gd name="adj" fmla="val 14706"/>
            </a:avLst>
          </a:prstGeom>
          <a:solidFill>
            <a:srgbClr val="A8761F"/>
          </a:solidFill>
          <a:ln/>
        </p:spPr>
      </p:sp>
      <p:sp>
        <p:nvSpPr>
          <p:cNvPr id="8" name="Text 3"/>
          <p:cNvSpPr/>
          <p:nvPr/>
        </p:nvSpPr>
        <p:spPr>
          <a:xfrm>
            <a:off x="812902" y="261518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</a:t>
            </a:r>
            <a:endParaRPr lang="en-US" sz="1100" dirty="0"/>
          </a:p>
        </p:txBody>
      </p:sp>
      <p:sp>
        <p:nvSpPr>
          <p:cNvPr id="9" name="Text 4"/>
          <p:cNvSpPr/>
          <p:nvPr/>
        </p:nvSpPr>
        <p:spPr>
          <a:xfrm>
            <a:off x="2084832" y="261518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1年間のお試し導入</a:t>
            </a:r>
            <a:endParaRPr lang="en-US" sz="1150" dirty="0"/>
          </a:p>
        </p:txBody>
      </p:sp>
      <p:sp>
        <p:nvSpPr>
          <p:cNvPr id="10" name="Text 5"/>
          <p:cNvSpPr/>
          <p:nvPr/>
        </p:nvSpPr>
        <p:spPr>
          <a:xfrm>
            <a:off x="812902" y="307238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812902" y="3364992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トライアル導入の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ご提案</a:t>
            </a:r>
            <a:endParaRPr lang="en-US" sz="4000" dirty="0"/>
          </a:p>
        </p:txBody>
      </p:sp>
      <p:sp>
        <p:nvSpPr>
          <p:cNvPr id="12" name="Shape 7"/>
          <p:cNvSpPr/>
          <p:nvPr/>
        </p:nvSpPr>
        <p:spPr>
          <a:xfrm>
            <a:off x="812902" y="4882896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3" name="Text 8"/>
          <p:cNvSpPr/>
          <p:nvPr/>
        </p:nvSpPr>
        <p:spPr>
          <a:xfrm>
            <a:off x="812902" y="5029200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内装工事費は当社が負担し、原状回復義務もいただきません。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まずは1年、実際の数字をご確認ください。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812902" y="5852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en-US" sz="115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年</a:t>
            </a:r>
            <a:endParaRPr lang="en-US" sz="2400" dirty="0"/>
          </a:p>
        </p:txBody>
      </p:sp>
      <p:sp>
        <p:nvSpPr>
          <p:cNvPr id="15" name="Text 10"/>
          <p:cNvSpPr/>
          <p:nvPr/>
        </p:nvSpPr>
        <p:spPr>
          <a:xfrm>
            <a:off x="812902" y="6236208"/>
            <a:ext cx="228600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トライアルの契約期間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3035808" y="5852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r>
              <a:rPr lang="en-US" sz="115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％</a:t>
            </a:r>
            <a:endParaRPr lang="en-US" sz="2400" dirty="0"/>
          </a:p>
        </p:txBody>
      </p:sp>
      <p:sp>
        <p:nvSpPr>
          <p:cNvPr id="17" name="Text 12"/>
          <p:cNvSpPr/>
          <p:nvPr/>
        </p:nvSpPr>
        <p:spPr>
          <a:xfrm>
            <a:off x="3035808" y="6236208"/>
            <a:ext cx="228600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売上からのお受取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5257800" y="5852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15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5257800" y="6236208"/>
            <a:ext cx="228600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内装工事費のご負担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2798064" y="5879592"/>
            <a:ext cx="11887" cy="512064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21" name="Shape 16"/>
          <p:cNvSpPr/>
          <p:nvPr/>
        </p:nvSpPr>
        <p:spPr>
          <a:xfrm>
            <a:off x="5020056" y="5879592"/>
            <a:ext cx="11887" cy="512064"/>
          </a:xfrm>
          <a:prstGeom prst="rect">
            <a:avLst/>
          </a:prstGeom>
          <a:solidFill>
            <a:srgbClr val="3C5F4B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内装イメージ（ご参考）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プレミアム仕様なら、こんな仕上がりになります。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ご要望をいただいたプレミアム仕様の完成イメージです。木製書架と間接照明でまとめた書店一体型の仕様です。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194560" cy="237744"/>
          </a:xfrm>
          <a:prstGeom prst="roundRect">
            <a:avLst>
              <a:gd name="adj" fmla="val 19231"/>
            </a:avLst>
          </a:prstGeom>
          <a:solidFill>
            <a:srgbClr val="106838"/>
          </a:solidFill>
          <a:ln/>
        </p:spPr>
      </p:sp>
      <p:sp>
        <p:nvSpPr>
          <p:cNvPr id="10" name="Text 7"/>
          <p:cNvSpPr/>
          <p:nvPr/>
        </p:nvSpPr>
        <p:spPr>
          <a:xfrm>
            <a:off x="660197" y="165140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N案：ライトフロア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45229" y="1651406"/>
            <a:ext cx="2194560" cy="237744"/>
          </a:xfrm>
          <a:prstGeom prst="roundRect">
            <a:avLst>
              <a:gd name="adj" fmla="val 19231"/>
            </a:avLst>
          </a:prstGeom>
          <a:solidFill>
            <a:srgbClr val="106838"/>
          </a:solidFill>
          <a:ln/>
        </p:spPr>
      </p:sp>
      <p:sp>
        <p:nvSpPr>
          <p:cNvPr id="12" name="Text 9"/>
          <p:cNvSpPr/>
          <p:nvPr/>
        </p:nvSpPr>
        <p:spPr>
          <a:xfrm>
            <a:off x="4345229" y="165140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G案：グリーンフロア</a:t>
            </a:r>
            <a:endParaRPr lang="en-US" sz="950" dirty="0"/>
          </a:p>
        </p:txBody>
      </p:sp>
      <p:pic>
        <p:nvPicPr>
          <p:cNvPr id="13" name="Image 1" descr="/home/user/suzuki-ceo/selfcafe-miraiya-trial-deck/assets/photos/.crops/tsuchiura-premium-n-375x21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920240"/>
            <a:ext cx="3429000" cy="1928813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60197" y="1920240"/>
            <a:ext cx="3429000" cy="1928813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88213" y="3391852"/>
            <a:ext cx="749427" cy="329184"/>
          </a:xfrm>
          <a:prstGeom prst="roundRect">
            <a:avLst>
              <a:gd name="adj" fmla="val 13889"/>
            </a:avLst>
          </a:prstGeom>
          <a:solidFill>
            <a:srgbClr val="FFFFFF">
              <a:alpha val="90000"/>
            </a:srgbClr>
          </a:solidFill>
          <a:ln/>
        </p:spPr>
      </p:sp>
      <p:sp>
        <p:nvSpPr>
          <p:cNvPr id="16" name="Text 12"/>
          <p:cNvSpPr/>
          <p:nvPr/>
        </p:nvSpPr>
        <p:spPr>
          <a:xfrm>
            <a:off x="952805" y="3391852"/>
            <a:ext cx="4751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endParaRPr lang="en-US" sz="950" dirty="0"/>
          </a:p>
        </p:txBody>
      </p:sp>
      <p:pic>
        <p:nvPicPr>
          <p:cNvPr id="17" name="Image 2" descr="/home/user/suzuki-ceo/selfcafe-miraiya-trial-deck/assets/photos/.crops/tsuchiura-premium-g-375x21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5229" y="1920240"/>
            <a:ext cx="3429000" cy="1928813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345229" y="1920240"/>
            <a:ext cx="3429000" cy="1928813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473245" y="3391852"/>
            <a:ext cx="749427" cy="329184"/>
          </a:xfrm>
          <a:prstGeom prst="roundRect">
            <a:avLst>
              <a:gd name="adj" fmla="val 13889"/>
            </a:avLst>
          </a:prstGeom>
          <a:solidFill>
            <a:srgbClr val="FFFFFF">
              <a:alpha val="90000"/>
            </a:srgbClr>
          </a:solidFill>
          <a:ln/>
        </p:spPr>
      </p:sp>
      <p:sp>
        <p:nvSpPr>
          <p:cNvPr id="20" name="Text 15"/>
          <p:cNvSpPr/>
          <p:nvPr/>
        </p:nvSpPr>
        <p:spPr>
          <a:xfrm>
            <a:off x="4637837" y="3391852"/>
            <a:ext cx="4751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endParaRPr lang="en-US" sz="950" dirty="0"/>
          </a:p>
        </p:txBody>
      </p:sp>
      <p:pic>
        <p:nvPicPr>
          <p:cNvPr id="21" name="Image 3" descr="/home/user/suzuki-ceo/selfcafe-miraiya-trial-deck/assets/photos/.crops/akita-premium-n-375x211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7" y="4324540"/>
            <a:ext cx="3429000" cy="1928813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60197" y="4324540"/>
            <a:ext cx="3429000" cy="1928813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788213" y="5796153"/>
            <a:ext cx="749427" cy="329184"/>
          </a:xfrm>
          <a:prstGeom prst="roundRect">
            <a:avLst>
              <a:gd name="adj" fmla="val 13889"/>
            </a:avLst>
          </a:prstGeom>
          <a:solidFill>
            <a:srgbClr val="FFFFFF">
              <a:alpha val="90000"/>
            </a:srgbClr>
          </a:solidFill>
          <a:ln/>
        </p:spPr>
      </p:sp>
      <p:sp>
        <p:nvSpPr>
          <p:cNvPr id="24" name="Text 18"/>
          <p:cNvSpPr/>
          <p:nvPr/>
        </p:nvSpPr>
        <p:spPr>
          <a:xfrm>
            <a:off x="952805" y="5796153"/>
            <a:ext cx="4751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endParaRPr lang="en-US" sz="950" dirty="0"/>
          </a:p>
        </p:txBody>
      </p:sp>
      <p:pic>
        <p:nvPicPr>
          <p:cNvPr id="25" name="Image 4" descr="/home/user/suzuki-ceo/selfcafe-miraiya-trial-deck/assets/photos/.crops/akita-premium-g-375x211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5229" y="4324540"/>
            <a:ext cx="3429000" cy="1928813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345229" y="4324540"/>
            <a:ext cx="3429000" cy="1928813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473245" y="5796153"/>
            <a:ext cx="749427" cy="329184"/>
          </a:xfrm>
          <a:prstGeom prst="roundRect">
            <a:avLst>
              <a:gd name="adj" fmla="val 13889"/>
            </a:avLst>
          </a:prstGeom>
          <a:solidFill>
            <a:srgbClr val="FFFFFF">
              <a:alpha val="90000"/>
            </a:srgbClr>
          </a:solidFill>
          <a:ln/>
        </p:spPr>
      </p:sp>
      <p:sp>
        <p:nvSpPr>
          <p:cNvPr id="28" name="Text 21"/>
          <p:cNvSpPr/>
          <p:nvPr/>
        </p:nvSpPr>
        <p:spPr>
          <a:xfrm>
            <a:off x="4637837" y="5796153"/>
            <a:ext cx="4751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8048549" y="1920240"/>
            <a:ext cx="3482950" cy="1928813"/>
          </a:xfrm>
          <a:prstGeom prst="roundRect">
            <a:avLst>
              <a:gd name="adj" fmla="val 284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8286293" y="2066544"/>
            <a:ext cx="30074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プレミアム仕様の特徴</a:t>
            </a:r>
            <a:endParaRPr lang="en-US" sz="1050" dirty="0"/>
          </a:p>
        </p:txBody>
      </p:sp>
      <p:pic>
        <p:nvPicPr>
          <p:cNvPr id="31" name="Image 5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4581" y="2423160"/>
            <a:ext cx="164592" cy="16459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578901" y="2377440"/>
            <a:ext cx="2696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木製書架と一体の造作</a:t>
            </a:r>
            <a:endParaRPr lang="en-US" sz="900" dirty="0"/>
          </a:p>
        </p:txBody>
      </p:sp>
      <p:pic>
        <p:nvPicPr>
          <p:cNvPr id="33" name="Image 6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4581" y="2752344"/>
            <a:ext cx="164592" cy="1645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8578901" y="2706624"/>
            <a:ext cx="2696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間接照明・スタンドライト</a:t>
            </a:r>
            <a:endParaRPr lang="en-US" sz="900" dirty="0"/>
          </a:p>
        </p:txBody>
      </p:sp>
      <p:pic>
        <p:nvPicPr>
          <p:cNvPr id="35" name="Image 7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4581" y="3081528"/>
            <a:ext cx="164592" cy="164592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8578901" y="3035808"/>
            <a:ext cx="2696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落ち着いたダークトーンのサイン</a:t>
            </a:r>
            <a:endParaRPr lang="en-US" sz="900" dirty="0"/>
          </a:p>
        </p:txBody>
      </p:sp>
      <p:pic>
        <p:nvPicPr>
          <p:cNvPr id="37" name="Image 8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4581" y="3410712"/>
            <a:ext cx="164592" cy="164592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8578901" y="3364992"/>
            <a:ext cx="2696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「MIRAIYA Book &amp; Cafe」併記</a:t>
            </a:r>
            <a:endParaRPr lang="en-US" sz="900" dirty="0"/>
          </a:p>
        </p:txBody>
      </p:sp>
      <p:sp>
        <p:nvSpPr>
          <p:cNvPr id="39" name="Shape 28"/>
          <p:cNvSpPr/>
          <p:nvPr/>
        </p:nvSpPr>
        <p:spPr>
          <a:xfrm>
            <a:off x="8048549" y="4324540"/>
            <a:ext cx="3482950" cy="1928813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40" name="Text 29"/>
          <p:cNvSpPr/>
          <p:nvPr/>
        </p:nvSpPr>
        <p:spPr>
          <a:xfrm>
            <a:off x="8286293" y="4470844"/>
            <a:ext cx="30074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床仕上げの違い</a:t>
            </a:r>
            <a:endParaRPr lang="en-US" sz="1050" dirty="0"/>
          </a:p>
        </p:txBody>
      </p:sp>
      <p:sp>
        <p:nvSpPr>
          <p:cNvPr id="41" name="Text 30"/>
          <p:cNvSpPr/>
          <p:nvPr/>
        </p:nvSpPr>
        <p:spPr>
          <a:xfrm>
            <a:off x="8286293" y="4800028"/>
            <a:ext cx="30074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N案</a:t>
            </a:r>
            <a:endParaRPr lang="en-US" sz="950" dirty="0"/>
          </a:p>
        </p:txBody>
      </p:sp>
      <p:sp>
        <p:nvSpPr>
          <p:cNvPr id="42" name="Text 31"/>
          <p:cNvSpPr/>
          <p:nvPr/>
        </p:nvSpPr>
        <p:spPr>
          <a:xfrm>
            <a:off x="8286293" y="5001196"/>
            <a:ext cx="30074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書店売場の床と連続し、区画が広く開放的に見えます。</a:t>
            </a:r>
            <a:endParaRPr lang="en-US" sz="900" dirty="0"/>
          </a:p>
        </p:txBody>
      </p:sp>
      <p:sp>
        <p:nvSpPr>
          <p:cNvPr id="43" name="Text 32"/>
          <p:cNvSpPr/>
          <p:nvPr/>
        </p:nvSpPr>
        <p:spPr>
          <a:xfrm>
            <a:off x="8286293" y="5494972"/>
            <a:ext cx="30074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G案</a:t>
            </a:r>
            <a:endParaRPr lang="en-US" sz="950" dirty="0"/>
          </a:p>
        </p:txBody>
      </p:sp>
      <p:sp>
        <p:nvSpPr>
          <p:cNvPr id="44" name="Text 33"/>
          <p:cNvSpPr/>
          <p:nvPr/>
        </p:nvSpPr>
        <p:spPr>
          <a:xfrm>
            <a:off x="8286293" y="5696140"/>
            <a:ext cx="30074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カフェ区画が明確に分かれ、落ち着いた印象になります。</a:t>
            </a:r>
            <a:endParaRPr lang="en-US" sz="900" dirty="0"/>
          </a:p>
        </p:txBody>
      </p:sp>
      <p:sp>
        <p:nvSpPr>
          <p:cNvPr id="45" name="Text 34"/>
          <p:cNvSpPr/>
          <p:nvPr/>
        </p:nvSpPr>
        <p:spPr>
          <a:xfrm>
            <a:off x="660197" y="625449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パースは完成予想図です。本ご提案の内装はスタンダード仕様（既存の書店併設店と同じ設え）です。プレミアム仕様をご希望の場合は、工事範囲と費用をあらためてご相談させてください。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トライアル条件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トライアル導入の条件をご提案します。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メールにてご提示した内容を、あらためて整理したものです。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0" name="Image 1" descr="/home/user/suzuki-ceo/selfcafe-miraiya-trial-deck/assets/icons/LuSparkle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9" y="179771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3429" y="1706270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内装仕様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1373429" y="1962302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スタンダード仕様（既存の書店併設店と同じ設え）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60197" y="2364638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4" name="Image 2" descr="/home/user/suzuki-ceo/selfcafe-miraiya-trial-deck/assets/icons/LuHammer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9" y="251094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3429" y="2419502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工事部分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373429" y="2675534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セルフカフェが負担します（御社のご負担なし）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60197" y="3077870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8" name="Image 3" descr="/home/user/suzuki-ceo/selfcafe-miraiya-trial-deck/assets/icons/LuLandPlot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229" y="3224174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3429" y="3132734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1373429" y="3388766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御社にてご手配いただきます（御社の所有となります）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60197" y="3791102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2" name="Image 4" descr="/home/user/suzuki-ceo/selfcafe-miraiya-trial-deck/assets/icons/LuHandCoins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29" y="3937406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73429" y="3845966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1373429" y="4101998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セルフカフェ売上の25％を毎月お支払いします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660197" y="4504334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5" descr="/home/user/suzuki-ceo/selfcafe-miraiya-trial-deck/assets/icons/LuCalendarCheck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229" y="4650638"/>
            <a:ext cx="329184" cy="32918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373429" y="4559198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1150" dirty="0"/>
          </a:p>
        </p:txBody>
      </p:sp>
      <p:sp>
        <p:nvSpPr>
          <p:cNvPr id="28" name="Text 20"/>
          <p:cNvSpPr/>
          <p:nvPr/>
        </p:nvSpPr>
        <p:spPr>
          <a:xfrm>
            <a:off x="1373429" y="481523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1年（通常は3年以上のところ、今回は1年で）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660197" y="5217566"/>
            <a:ext cx="6858000" cy="621792"/>
          </a:xfrm>
          <a:prstGeom prst="roundRect">
            <a:avLst>
              <a:gd name="adj" fmla="val 8824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0" name="Image 6" descr="/home/user/suzuki-ceo/selfcafe-miraiya-trial-deck/assets/icons/LuKeyRound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6229" y="5363870"/>
            <a:ext cx="329184" cy="32918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373429" y="5272430"/>
            <a:ext cx="5888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原状回復義務</a:t>
            </a:r>
            <a:endParaRPr lang="en-US" sz="1150" dirty="0"/>
          </a:p>
        </p:txBody>
      </p:sp>
      <p:sp>
        <p:nvSpPr>
          <p:cNvPr id="32" name="Text 23"/>
          <p:cNvSpPr/>
          <p:nvPr/>
        </p:nvSpPr>
        <p:spPr>
          <a:xfrm>
            <a:off x="1373429" y="5528462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なし（当社のマシン・カメラ等のみ撤去します）</a:t>
            </a:r>
            <a:endParaRPr lang="en-US" sz="1050" dirty="0"/>
          </a:p>
        </p:txBody>
      </p:sp>
      <p:sp>
        <p:nvSpPr>
          <p:cNvPr id="33" name="Shape 24"/>
          <p:cNvSpPr/>
          <p:nvPr/>
        </p:nvSpPr>
        <p:spPr>
          <a:xfrm>
            <a:off x="7902245" y="1651406"/>
            <a:ext cx="3629254" cy="2103120"/>
          </a:xfrm>
          <a:prstGeom prst="roundRect">
            <a:avLst>
              <a:gd name="adj" fmla="val 2609"/>
            </a:avLst>
          </a:prstGeom>
          <a:solidFill>
            <a:srgbClr val="0C5230"/>
          </a:solidFill>
          <a:ln/>
        </p:spPr>
      </p:sp>
      <p:sp>
        <p:nvSpPr>
          <p:cNvPr id="34" name="Text 25"/>
          <p:cNvSpPr/>
          <p:nvPr/>
        </p:nvSpPr>
        <p:spPr>
          <a:xfrm>
            <a:off x="8158277" y="187086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SHARE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8158277" y="2145182"/>
            <a:ext cx="31171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御社へのお支払い</a:t>
            </a:r>
            <a:endParaRPr lang="en-US" sz="1100" dirty="0"/>
          </a:p>
        </p:txBody>
      </p:sp>
      <p:sp>
        <p:nvSpPr>
          <p:cNvPr id="36" name="Text 27"/>
          <p:cNvSpPr/>
          <p:nvPr/>
        </p:nvSpPr>
        <p:spPr>
          <a:xfrm>
            <a:off x="8158277" y="2474366"/>
            <a:ext cx="31171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 </a:t>
            </a:r>
            <a:r>
              <a:rPr lang="en-US" sz="4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r>
              <a:rPr lang="en-US" sz="17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％</a:t>
            </a:r>
            <a:endParaRPr lang="en-US" sz="1400" dirty="0"/>
          </a:p>
        </p:txBody>
      </p:sp>
      <p:sp>
        <p:nvSpPr>
          <p:cNvPr id="37" name="Text 28"/>
          <p:cNvSpPr/>
          <p:nvPr/>
        </p:nvSpPr>
        <p:spPr>
          <a:xfrm>
            <a:off x="8158277" y="3279038"/>
            <a:ext cx="3117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毎月お支払いします（税抜）</a:t>
            </a:r>
            <a:endParaRPr lang="en-US" sz="950" dirty="0"/>
          </a:p>
        </p:txBody>
      </p:sp>
      <p:sp>
        <p:nvSpPr>
          <p:cNvPr id="38" name="Shape 29"/>
          <p:cNvSpPr/>
          <p:nvPr/>
        </p:nvSpPr>
        <p:spPr>
          <a:xfrm>
            <a:off x="7902245" y="3882542"/>
            <a:ext cx="3629254" cy="1060704"/>
          </a:xfrm>
          <a:prstGeom prst="roundRect">
            <a:avLst>
              <a:gd name="adj" fmla="val 5172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8158277" y="4010558"/>
            <a:ext cx="31171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御社のご負担</a:t>
            </a:r>
            <a:endParaRPr lang="en-US" sz="1050" dirty="0"/>
          </a:p>
        </p:txBody>
      </p:sp>
      <p:sp>
        <p:nvSpPr>
          <p:cNvPr id="40" name="Text 31"/>
          <p:cNvSpPr/>
          <p:nvPr/>
        </p:nvSpPr>
        <p:spPr>
          <a:xfrm>
            <a:off x="8158277" y="4266590"/>
            <a:ext cx="311719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家具・什器のご手配のみです。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内装工事費のご負担はありません。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7902245" y="5071262"/>
            <a:ext cx="3629254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42" name="Image 7" descr="/home/user/suzuki-ceo/selfcafe-miraiya-trial-deck/assets/icons/LuShieldCheck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9989" y="5217566"/>
            <a:ext cx="292608" cy="292608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8524037" y="5144414"/>
            <a:ext cx="27697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原状回復義務なし</a:t>
            </a:r>
            <a:endParaRPr lang="en-US" sz="1100" dirty="0"/>
          </a:p>
        </p:txBody>
      </p:sp>
      <p:sp>
        <p:nvSpPr>
          <p:cNvPr id="44" name="Text 34"/>
          <p:cNvSpPr/>
          <p:nvPr/>
        </p:nvSpPr>
        <p:spPr>
          <a:xfrm>
            <a:off x="8524037" y="5382158"/>
            <a:ext cx="27697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終了時も内装を元に戻す必要はありません。</a:t>
            </a:r>
            <a:endParaRPr lang="en-US" sz="900" dirty="0"/>
          </a:p>
        </p:txBody>
      </p:sp>
      <p:sp>
        <p:nvSpPr>
          <p:cNvPr id="45" name="Text 35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金額はすべて税抜。通常のご契約との違いは次ページに整理しています。対象店舗はご相談のうえ決定させていただきます。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通常契約との比較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違いは3点。それ以外は通常と同じです。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通常は3年以上でお願いしていますが、今回は1年のトライアルとしてご提案します。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518197" y="1706270"/>
            <a:ext cx="4013302" cy="274320"/>
          </a:xfrm>
          <a:prstGeom prst="roundRect">
            <a:avLst>
              <a:gd name="adj" fmla="val 16667"/>
            </a:avLst>
          </a:prstGeom>
          <a:solidFill>
            <a:srgbClr val="A8761F"/>
          </a:solidFill>
          <a:ln/>
        </p:spPr>
      </p:sp>
      <p:sp>
        <p:nvSpPr>
          <p:cNvPr id="10" name="Text 7"/>
          <p:cNvSpPr/>
          <p:nvPr/>
        </p:nvSpPr>
        <p:spPr>
          <a:xfrm>
            <a:off x="7518197" y="1706270"/>
            <a:ext cx="4013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今回ご提案するのはこちら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2053742"/>
          <a:ext cx="1087130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931920"/>
                <a:gridCol w="401330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通常のご契約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今回のトライアル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契約期間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3年〜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内装仕様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スタンダード仕様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スタンダード仕様（同じ）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内装工事費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セルフカフェが負担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セルフカフェが負担（同じ）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家具・什器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セルフカフェが準備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御社にてご手配（御社の所有）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お支払い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売上の25％ ＋ 月額固定5万円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原状回復義務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なし（同じ）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60197" y="5230368"/>
            <a:ext cx="10871302" cy="822960"/>
          </a:xfrm>
          <a:prstGeom prst="roundRect">
            <a:avLst>
              <a:gd name="adj" fmla="val 6667"/>
            </a:avLst>
          </a:prstGeom>
          <a:solidFill>
            <a:srgbClr val="0C5230"/>
          </a:solidFill>
          <a:ln/>
        </p:spPr>
      </p:sp>
      <p:pic>
        <p:nvPicPr>
          <p:cNvPr id="13" name="Image 1" descr="/home/user/suzuki-ceo/selfcafe-miraiya-trial-deck/assets/icons/LuBadgeCheck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9" y="5431536"/>
            <a:ext cx="402336" cy="40233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74597" y="5230368"/>
            <a:ext cx="95911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1年でご判断いただける代わりに、家具・什器のご手配と月額5万円の2点をご調整ください。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家具・什器は御社の資産として残ります。それ以外の条件は通常のご契約とすべて同じです。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660197" y="616305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金額はすべて税抜。内装工事費は当社が負担し、原状回復義務もいただかないため、1年でご判断いただく形でも御社側の持ち出しは家具・什器のみです。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費用と所有の区分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どちらが何を用意し、終了後どうなるか。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トライアル期間中の費用負担と、終了後にそれがどう扱われるかを整理しました。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1087130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108960"/>
                <a:gridCol w="373898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ご手配・ご負担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トライアル終了後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内装工事（造作・床・サイン）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そのまま残ります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家具・什器（テーブル・椅子・植栽 等）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御社の資産として残ります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ドリンクマシン・決済端末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当社が撤去します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防犯カメラ・通信機器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当社が撤去します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原料・機器メンテナンス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水道光熱費・通信費・消耗品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未来屋書店様（実費）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原状回復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不要（義務なし）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60197" y="5303520"/>
            <a:ext cx="10871302" cy="804672"/>
          </a:xfrm>
          <a:prstGeom prst="roundRect">
            <a:avLst>
              <a:gd name="adj" fmla="val 6818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971093" y="5303520"/>
            <a:ext cx="1024951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御社にご手配いただくのは、家具・什器だけです。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内装工事費のご負担はなく、終了時の原状回復も発生しません。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60197" y="6217920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工事範囲・什器の仕様は現地確認のうえ確定します。金額はすべて税抜。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終了時の扱い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原状回復は不要。撤去するのは当社の機器だけです。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ご契約を終了される場合も、内装を元に戻していただく必要はありません。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2926080"/>
          </a:xfrm>
          <a:prstGeom prst="roundRect">
            <a:avLst>
              <a:gd name="adj" fmla="val 187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0" name="Image 1" descr="/home/user/suzuki-ceo/selfcafe-miraiya-trial-deck/assets/icons/LuHous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188915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91717" y="1834286"/>
            <a:ext cx="4237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そのまま残るもの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934517" y="2364638"/>
            <a:ext cx="4694987" cy="10058"/>
          </a:xfrm>
          <a:prstGeom prst="rect">
            <a:avLst/>
          </a:prstGeom>
          <a:solidFill>
            <a:srgbClr val="D2E7DA"/>
          </a:solidFill>
          <a:ln/>
        </p:spPr>
      </p:sp>
      <p:pic>
        <p:nvPicPr>
          <p:cNvPr id="13" name="Image 2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2593238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1989" y="2529230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内装工事（造作・床・サイン）</a:t>
            </a:r>
            <a:endParaRPr lang="en-US" sz="1100" dirty="0"/>
          </a:p>
        </p:txBody>
      </p:sp>
      <p:pic>
        <p:nvPicPr>
          <p:cNvPr id="15" name="Image 3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3013862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81989" y="2949854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家具・什器（テーブル・椅子・植栽 等）</a:t>
            </a:r>
            <a:endParaRPr lang="en-US" sz="1100" dirty="0"/>
          </a:p>
        </p:txBody>
      </p:sp>
      <p:pic>
        <p:nvPicPr>
          <p:cNvPr id="17" name="Image 4" descr="/home/user/suzuki-ceo/selfcafe-miraiya-trial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3434486"/>
            <a:ext cx="182880" cy="1828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81989" y="3370478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書店側の売場・動線</a:t>
            </a:r>
            <a:endParaRPr lang="en-US" sz="1100" dirty="0"/>
          </a:p>
        </p:txBody>
      </p:sp>
      <p:sp>
        <p:nvSpPr>
          <p:cNvPr id="19" name="Text 12"/>
          <p:cNvSpPr/>
          <p:nvPr/>
        </p:nvSpPr>
        <p:spPr>
          <a:xfrm>
            <a:off x="934517" y="3919118"/>
            <a:ext cx="469498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工事部分は当社負担で施工しますが、撤去はいたしません。</a:t>
            </a:r>
            <a:endParaRPr lang="en-US" sz="950" dirty="0"/>
          </a:p>
        </p:txBody>
      </p:sp>
      <p:sp>
        <p:nvSpPr>
          <p:cNvPr id="20" name="Shape 13"/>
          <p:cNvSpPr/>
          <p:nvPr/>
        </p:nvSpPr>
        <p:spPr>
          <a:xfrm>
            <a:off x="6287872" y="1651406"/>
            <a:ext cx="5243627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1" name="Image 5" descr="/home/user/suzuki-ceo/selfcafe-miraiya-trial-deck/assets/icons/LuMinus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192" y="1889150"/>
            <a:ext cx="329184" cy="329184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019392" y="1834286"/>
            <a:ext cx="4237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当社が撤去するもの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6562192" y="2364638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pic>
        <p:nvPicPr>
          <p:cNvPr id="24" name="Image 6" descr="/home/user/suzuki-ceo/selfcafe-miraiya-trial-deck/assets/icons/LuX-mut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0480" y="2593238"/>
            <a:ext cx="182880" cy="18288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09664" y="2529230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ドリンクマシン</a:t>
            </a:r>
            <a:endParaRPr lang="en-US" sz="1100" dirty="0"/>
          </a:p>
        </p:txBody>
      </p:sp>
      <p:pic>
        <p:nvPicPr>
          <p:cNvPr id="26" name="Image 7" descr="/home/user/suzuki-ceo/selfcafe-miraiya-trial-deck/assets/icons/LuX-mut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0480" y="3013862"/>
            <a:ext cx="182880" cy="18288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909664" y="2949854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決済端末</a:t>
            </a:r>
            <a:endParaRPr lang="en-US" sz="1100" dirty="0"/>
          </a:p>
        </p:txBody>
      </p:sp>
      <p:pic>
        <p:nvPicPr>
          <p:cNvPr id="28" name="Image 8" descr="/home/user/suzuki-ceo/selfcafe-miraiya-trial-deck/assets/icons/LuX-mut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0480" y="3434486"/>
            <a:ext cx="182880" cy="182880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6909664" y="3370478"/>
            <a:ext cx="4329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防犯カメラ・通信機器</a:t>
            </a:r>
            <a:endParaRPr lang="en-US" sz="1100" dirty="0"/>
          </a:p>
        </p:txBody>
      </p:sp>
      <p:sp>
        <p:nvSpPr>
          <p:cNvPr id="30" name="Text 19"/>
          <p:cNvSpPr/>
          <p:nvPr/>
        </p:nvSpPr>
        <p:spPr>
          <a:xfrm>
            <a:off x="6562192" y="3919118"/>
            <a:ext cx="469498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撤去費用は当社が負担します。跡の補修も当社で対応します。</a:t>
            </a:r>
            <a:endParaRPr lang="en-US" sz="950" dirty="0"/>
          </a:p>
        </p:txBody>
      </p:sp>
      <p:sp>
        <p:nvSpPr>
          <p:cNvPr id="31" name="Shape 20"/>
          <p:cNvSpPr/>
          <p:nvPr/>
        </p:nvSpPr>
        <p:spPr>
          <a:xfrm>
            <a:off x="660197" y="4718304"/>
            <a:ext cx="10871302" cy="1005840"/>
          </a:xfrm>
          <a:prstGeom prst="roundRect">
            <a:avLst>
              <a:gd name="adj" fmla="val 5455"/>
            </a:avLst>
          </a:prstGeom>
          <a:solidFill>
            <a:srgbClr val="0C5230"/>
          </a:solidFill>
          <a:ln/>
        </p:spPr>
      </p:sp>
      <p:pic>
        <p:nvPicPr>
          <p:cNvPr id="32" name="Image 9" descr="/home/user/suzuki-ceo/selfcafe-miraiya-trial-deck/assets/icons/LuBadgeCheck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9" y="4992624"/>
            <a:ext cx="402336" cy="402336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1574597" y="4718304"/>
            <a:ext cx="95911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トライアル後は、基本そのまま残す形を想定しています。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内装も什器も残るため、継続いただく場合は追加の工事なくそのまま運営を続けられます。</a:t>
            </a:r>
            <a:endParaRPr lang="en-US" sz="1400" dirty="0"/>
          </a:p>
        </p:txBody>
      </p:sp>
      <p:sp>
        <p:nvSpPr>
          <p:cNvPr id="34" name="Text 22"/>
          <p:cNvSpPr/>
          <p:nvPr/>
        </p:nvSpPr>
        <p:spPr>
          <a:xfrm>
            <a:off x="660197" y="58887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撤去の範囲・時期は事前にお打ち合わせのうえ決定します。什器の再利用可否は現地確認時にご相談させてください。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現地確認から、最短2〜3ヶ月で開始できます。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まずは対象店舗と期間のすり合わせ、現地確認からお願いできればと存じます。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trial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トライアル導入のご提案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trial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条件のすり合わせ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対象店舗・トライアル期間・開始時期を決めます。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trial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区画・電源・動線を確認し、レイアウトと什器の仕様を設計。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trial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トライアル条件を明記した契約を締結します。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trial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工事・設置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内装工事は当社が施工。家具・什器は御社にてご手配。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trial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トライアル開始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運営・集客・お問い合わせ対応は当社が担当します。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trial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trial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trial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trial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トライアル導入のご提案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2026-09-21T09:24:54Z</dcterms:created>
  <dcterms:modified xsi:type="dcterms:W3CDTF">2026-09-21T09:24:54Z</dcterms:modified>
</cp:coreProperties>
</file>