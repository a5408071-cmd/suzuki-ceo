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店舗数</c:v>
                </c:pt>
              </c:strCache>
            </c:strRef>
          </c:tx>
          <c:spPr>
            <a:solidFill>
              <a:srgbClr val="1D6B44"/>
            </a:solidFill>
            <a:effectLst/>
          </c:spPr>
          <c:invertIfNegative val="0"/>
          <c:dLbls>
            <c:numFmt formatCode="0&quot;店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22"/>
                    </a:solidFill>
                    <a:latin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2022.09</c:v>
                  </c:pt>
                  <c:pt idx="1">
                    <c:v>2023.09</c:v>
                  </c:pt>
                  <c:pt idx="2">
                    <c:v>2024.09</c:v>
                  </c:pt>
                  <c:pt idx="3">
                    <c:v>2025.09</c:v>
                  </c:pt>
                  <c:pt idx="4">
                    <c:v>2026.07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23</c:v>
                </c:pt>
                <c:pt idx="3">
                  <c:v>48</c:v>
                </c:pt>
                <c:pt idx="4">
                  <c:v>71</c:v>
                </c:pt>
              </c:numCache>
            </c:numRef>
          </c:val>
        </c:ser>
        <c:dLbls>
          <c:numFmt formatCode="0&quot;店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F2A22"/>
                  </a:solidFill>
                  <a:latin typeface="Yu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E62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店舗数</c:v>
                </c:pt>
              </c:strCache>
            </c:strRef>
          </c:tx>
          <c:spPr>
            <a:solidFill>
              <a:srgbClr val="B5433C">
                <a:alpha val="100000"/>
              </a:srgbClr>
            </a:solidFill>
            <a:effectLst/>
          </c:spPr>
          <c:invertIfNegative val="0"/>
          <c:dLbls>
            <c:numFmt formatCode="0&quot;店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22"/>
                    </a:solidFill>
                    <a:latin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543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D6B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D6B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6B4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D6B4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赤字</c:v>
                  </c:pt>
                  <c:pt idx="1">
                    <c:v>0〜10万円</c:v>
                  </c:pt>
                  <c:pt idx="2">
                    <c:v>10〜20万円</c:v>
                  </c:pt>
                  <c:pt idx="3">
                    <c:v>20〜30万円</c:v>
                  </c:pt>
                  <c:pt idx="4">
                    <c:v>30万円以上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13</c:v>
                </c:pt>
                <c:pt idx="2">
                  <c:v>15</c:v>
                </c:pt>
                <c:pt idx="3">
                  <c:v>5</c:v>
                </c:pt>
                <c:pt idx="4">
                  <c:v>12</c:v>
                </c:pt>
              </c:numCache>
            </c:numRef>
          </c:val>
        </c:ser>
        <c:dLbls>
          <c:numFmt formatCode="0&quot;店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A22"/>
                  </a:solidFill>
                  <a:latin typeface="Yu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A22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自社物件</c:v>
                </c:pt>
              </c:strCache>
            </c:strRef>
          </c:tx>
          <c:spPr>
            <a:solidFill>
              <a:srgbClr val="1D6B44"/>
            </a:solidFill>
            <a:ln w="38100" cap="flat">
              <a:solidFill>
                <a:srgbClr val="1D6B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D6B44"/>
              </a:solidFill>
              <a:ln w="9525" cap="flat">
                <a:solidFill>
                  <a:srgbClr val="1D6B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  <c:pt idx="5">
                    <c:v>60</c:v>
                  </c:pt>
                  <c:pt idx="6">
                    <c:v>70</c:v>
                  </c:pt>
                  <c:pt idx="7">
                    <c:v>80</c:v>
                  </c:pt>
                  <c:pt idx="8">
                    <c:v>90</c:v>
                  </c:pt>
                  <c:pt idx="9">
                    <c:v>100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-18.5</c:v>
                </c:pt>
                <c:pt idx="1">
                  <c:v>-8.4</c:v>
                </c:pt>
                <c:pt idx="2">
                  <c:v>1.6</c:v>
                </c:pt>
                <c:pt idx="3">
                  <c:v>11.7</c:v>
                </c:pt>
                <c:pt idx="4">
                  <c:v>21.8</c:v>
                </c:pt>
                <c:pt idx="5">
                  <c:v>31.9</c:v>
                </c:pt>
                <c:pt idx="6">
                  <c:v>42</c:v>
                </c:pt>
                <c:pt idx="7">
                  <c:v>52</c:v>
                </c:pt>
                <c:pt idx="8">
                  <c:v>62.1</c:v>
                </c:pt>
                <c:pt idx="9">
                  <c:v>72.2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賃貸（家賃20万円）</c:v>
                </c:pt>
              </c:strCache>
            </c:strRef>
          </c:tx>
          <c:spPr>
            <a:solidFill>
              <a:srgbClr val="C9A227"/>
            </a:solidFill>
            <a:ln w="38100" cap="flat">
              <a:solidFill>
                <a:srgbClr val="C9A22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A227"/>
              </a:solidFill>
              <a:ln w="9525" cap="flat">
                <a:solidFill>
                  <a:srgbClr val="C9A22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  <c:pt idx="5">
                    <c:v>60</c:v>
                  </c:pt>
                  <c:pt idx="6">
                    <c:v>70</c:v>
                  </c:pt>
                  <c:pt idx="7">
                    <c:v>80</c:v>
                  </c:pt>
                  <c:pt idx="8">
                    <c:v>90</c:v>
                  </c:pt>
                  <c:pt idx="9">
                    <c:v>100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-38.5</c:v>
                </c:pt>
                <c:pt idx="1">
                  <c:v>-28.4</c:v>
                </c:pt>
                <c:pt idx="2">
                  <c:v>-18.4</c:v>
                </c:pt>
                <c:pt idx="3">
                  <c:v>-8.3</c:v>
                </c:pt>
                <c:pt idx="4">
                  <c:v>1.8</c:v>
                </c:pt>
                <c:pt idx="5">
                  <c:v>11.9</c:v>
                </c:pt>
                <c:pt idx="6">
                  <c:v>22</c:v>
                </c:pt>
                <c:pt idx="7">
                  <c:v>32</c:v>
                </c:pt>
                <c:pt idx="8">
                  <c:v>42.1</c:v>
                </c:pt>
                <c:pt idx="9">
                  <c:v>52.2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F6E62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F6E62"/>
                    </a:solidFill>
                    <a:latin typeface="Arial"/>
                  </a:rPr>
                  <a:t>杯/日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E62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E2D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F6E62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F6E62"/>
                    </a:solidFill>
                    <a:latin typeface="Arial"/>
                  </a:rPr>
                  <a:t>月間損益（万円）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E62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A22"/>
              </a:solidFill>
              <a:latin typeface="Yu Gothic"/>
              <a:cs typeface="Yu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自社物件（月47万円）</c:v>
                </c:pt>
              </c:strCache>
            </c:strRef>
          </c:tx>
          <c:spPr>
            <a:solidFill>
              <a:srgbClr val="1D6B44"/>
            </a:solidFill>
            <a:ln w="38100" cap="flat">
              <a:solidFill>
                <a:srgbClr val="1D6B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D6B44"/>
              </a:solidFill>
              <a:ln w="9525" cap="flat">
                <a:solidFill>
                  <a:srgbClr val="1D6B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</c:v>
                  </c:pt>
                  <c:pt idx="1">
                    <c:v>3</c:v>
                  </c:pt>
                  <c:pt idx="2">
                    <c:v>6</c:v>
                  </c:pt>
                  <c:pt idx="3">
                    <c:v>9</c:v>
                  </c:pt>
                  <c:pt idx="4">
                    <c:v>12</c:v>
                  </c:pt>
                  <c:pt idx="5">
                    <c:v>15</c:v>
                  </c:pt>
                  <c:pt idx="6">
                    <c:v>18</c:v>
                  </c:pt>
                  <c:pt idx="7">
                    <c:v>21</c:v>
                  </c:pt>
                  <c:pt idx="8">
                    <c:v>24</c:v>
                  </c:pt>
                  <c:pt idx="9">
                    <c:v>27</c:v>
                  </c:pt>
                  <c:pt idx="10">
                    <c:v>30</c:v>
                  </c:pt>
                  <c:pt idx="11">
                    <c:v>33</c:v>
                  </c:pt>
                  <c:pt idx="12">
                    <c:v>36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-800</c:v>
                </c:pt>
                <c:pt idx="1">
                  <c:v>-659</c:v>
                </c:pt>
                <c:pt idx="2">
                  <c:v>-518</c:v>
                </c:pt>
                <c:pt idx="3">
                  <c:v>-377</c:v>
                </c:pt>
                <c:pt idx="4">
                  <c:v>-236</c:v>
                </c:pt>
                <c:pt idx="5">
                  <c:v>-95</c:v>
                </c:pt>
                <c:pt idx="6">
                  <c:v>46</c:v>
                </c:pt>
                <c:pt idx="7">
                  <c:v>187</c:v>
                </c:pt>
                <c:pt idx="8">
                  <c:v>328</c:v>
                </c:pt>
                <c:pt idx="9">
                  <c:v>469</c:v>
                </c:pt>
                <c:pt idx="10">
                  <c:v>610</c:v>
                </c:pt>
                <c:pt idx="11">
                  <c:v>751</c:v>
                </c:pt>
                <c:pt idx="12">
                  <c:v>892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賃貸（月27万円）</c:v>
                </c:pt>
              </c:strCache>
            </c:strRef>
          </c:tx>
          <c:spPr>
            <a:solidFill>
              <a:srgbClr val="C9A227"/>
            </a:solidFill>
            <a:ln w="38100" cap="flat">
              <a:solidFill>
                <a:srgbClr val="C9A22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A227"/>
              </a:solidFill>
              <a:ln w="9525" cap="flat">
                <a:solidFill>
                  <a:srgbClr val="C9A22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</c:v>
                  </c:pt>
                  <c:pt idx="1">
                    <c:v>3</c:v>
                  </c:pt>
                  <c:pt idx="2">
                    <c:v>6</c:v>
                  </c:pt>
                  <c:pt idx="3">
                    <c:v>9</c:v>
                  </c:pt>
                  <c:pt idx="4">
                    <c:v>12</c:v>
                  </c:pt>
                  <c:pt idx="5">
                    <c:v>15</c:v>
                  </c:pt>
                  <c:pt idx="6">
                    <c:v>18</c:v>
                  </c:pt>
                  <c:pt idx="7">
                    <c:v>21</c:v>
                  </c:pt>
                  <c:pt idx="8">
                    <c:v>24</c:v>
                  </c:pt>
                  <c:pt idx="9">
                    <c:v>27</c:v>
                  </c:pt>
                  <c:pt idx="10">
                    <c:v>30</c:v>
                  </c:pt>
                  <c:pt idx="11">
                    <c:v>33</c:v>
                  </c:pt>
                  <c:pt idx="12">
                    <c:v>36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-800</c:v>
                </c:pt>
                <c:pt idx="1">
                  <c:v>-719</c:v>
                </c:pt>
                <c:pt idx="2">
                  <c:v>-638</c:v>
                </c:pt>
                <c:pt idx="3">
                  <c:v>-557</c:v>
                </c:pt>
                <c:pt idx="4">
                  <c:v>-476</c:v>
                </c:pt>
                <c:pt idx="5">
                  <c:v>-395</c:v>
                </c:pt>
                <c:pt idx="6">
                  <c:v>-314</c:v>
                </c:pt>
                <c:pt idx="7">
                  <c:v>-233</c:v>
                </c:pt>
                <c:pt idx="8">
                  <c:v>-152</c:v>
                </c:pt>
                <c:pt idx="9">
                  <c:v>-71</c:v>
                </c:pt>
                <c:pt idx="10">
                  <c:v>10</c:v>
                </c:pt>
                <c:pt idx="11">
                  <c:v>91</c:v>
                </c:pt>
                <c:pt idx="12">
                  <c:v>172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F6E62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F6E62"/>
                    </a:solidFill>
                    <a:latin typeface="Arial"/>
                  </a:rPr>
                  <a:t>経過月数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E62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E2D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F6E62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F6E62"/>
                    </a:solidFill>
                    <a:latin typeface="Arial"/>
                  </a:rPr>
                  <a:t>累計損益（万円）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E62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A22"/>
              </a:solidFill>
              <a:latin typeface="Yu Gothic"/>
              <a:cs typeface="Yu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1192" y="0"/>
            <a:ext cx="49377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251192" y="0"/>
            <a:ext cx="4937760" cy="6858000"/>
          </a:xfrm>
          <a:prstGeom prst="rect">
            <a:avLst/>
          </a:prstGeom>
          <a:solidFill>
            <a:srgbClr val="0D4828">
              <a:alpha val="18000"/>
            </a:srgbClr>
          </a:solidFill>
          <a:ln/>
        </p:spPr>
      </p:sp>
      <p:pic>
        <p:nvPicPr>
          <p:cNvPr id="4" name="Image 1" descr="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57200"/>
            <a:ext cx="566928" cy="5212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61872" y="56692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FC7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SELF CAFE  PARTNER PROGRAM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48640" y="1554480"/>
            <a:ext cx="6492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今ある空間を、</a:t>
            </a:r>
            <a:endParaRPr lang="en-US" sz="41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人を増やさず</a:t>
            </a:r>
            <a:endParaRPr lang="en-US" sz="41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収益資産に変える。</a:t>
            </a:r>
            <a:endParaRPr lang="en-US" sz="4100" dirty="0"/>
          </a:p>
        </p:txBody>
      </p:sp>
      <p:sp>
        <p:nvSpPr>
          <p:cNvPr id="7" name="Text 3"/>
          <p:cNvSpPr/>
          <p:nvPr/>
        </p:nvSpPr>
        <p:spPr>
          <a:xfrm>
            <a:off x="566928" y="422452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8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自社物件・遊休スペースを活かす、無人カフェFC「セルフカフェ パートナー制度」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66928" y="4892040"/>
            <a:ext cx="2066544" cy="1170432"/>
          </a:xfrm>
          <a:prstGeom prst="roundRect">
            <a:avLst>
              <a:gd name="adj" fmla="val 4688"/>
            </a:avLst>
          </a:prstGeom>
          <a:solidFill>
            <a:srgbClr val="0A3A20"/>
          </a:solidFill>
          <a:ln w="9525">
            <a:solidFill>
              <a:srgbClr val="2C6B4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94944" y="50017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FC7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初期費用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694944" y="5230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B7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650万円〜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694944" y="5705856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E8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標準総投資予算 800万円程度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2779776" y="4892040"/>
            <a:ext cx="2066544" cy="1170432"/>
          </a:xfrm>
          <a:prstGeom prst="roundRect">
            <a:avLst>
              <a:gd name="adj" fmla="val 4688"/>
            </a:avLst>
          </a:prstGeom>
          <a:solidFill>
            <a:srgbClr val="0A3A20"/>
          </a:solidFill>
          <a:ln w="9525">
            <a:solidFill>
              <a:srgbClr val="2C6B4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907792" y="50017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FC7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オーナー業務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2907792" y="5230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B7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1日 約15分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2907792" y="5705856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E8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清掃・補充のみ／新規採用不要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4992624" y="4892040"/>
            <a:ext cx="2066544" cy="1170432"/>
          </a:xfrm>
          <a:prstGeom prst="roundRect">
            <a:avLst>
              <a:gd name="adj" fmla="val 4688"/>
            </a:avLst>
          </a:prstGeom>
          <a:solidFill>
            <a:srgbClr val="0A3A20"/>
          </a:solidFill>
          <a:ln w="9525">
            <a:solidFill>
              <a:srgbClr val="2C6B4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20640" y="50017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FC7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全国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5120640" y="5230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B7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71店舗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5120640" y="5705856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E8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月間利用者 約10万人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566928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8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セルフカフェ株式会社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66928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C7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店舗数・利用者数は2026年7月時点。初期費用は居抜き・20坪想定の目安。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6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｜ セルフカフェFCとは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貸すのではなく、自分で持つ「省人型テナント」。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12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セルフカフェは、ドリンク1杯で時間制限なく使える無人のカフェ型ワークスペースです。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空きテナントに入居者を探すのではなく、オーナー自身が低投資で運営する「収益事業」として、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遊休スペースを稼働資産に変えます。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54203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労働力不足 ／ 手頃な作業場所の不足 ／ 遊休不動産の増加 —— 3つの社会課題が需要をつくっています。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294436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E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3145536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必要面積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3232" y="3383280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20坪〜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13232" y="3913632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既存施設の一角でも可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75888" y="3017520"/>
            <a:ext cx="294436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E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0" y="3145536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利用料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0" y="3383280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420円〜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840480" y="3913632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1杯で滞在無制限・登録不要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4498848"/>
            <a:ext cx="294436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E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" y="4626864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営業時間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13232" y="4864608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24時間可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13232" y="5394960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無人・年中無休も設定可能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75888" y="4498848"/>
            <a:ext cx="294436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E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40480" y="4626864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新規採用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40480" y="4864608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0人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3840480" y="5394960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既存スタッフの稼働内で運営</a:t>
            </a:r>
            <a:endParaRPr lang="en-US" sz="950" dirty="0"/>
          </a:p>
        </p:txBody>
      </p:sp>
      <p:pic>
        <p:nvPicPr>
          <p:cNvPr id="22" name="Image 0" descr="assets/concep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417320"/>
            <a:ext cx="4690872" cy="423367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949440" y="5705856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店内利用の様子（実店舗）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予約不要・会員登録不要。二次利用（貸しスペース・物販等）の可否は立地・契約条件により異なります。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6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｜ まず、数字から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650万円から始めて、自社物件なら月47万円モデル・回収約17か月。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920240"/>
          </a:xfrm>
          <a:prstGeom prst="roundRect">
            <a:avLst>
              <a:gd name="adj" fmla="val 3333"/>
            </a:avLst>
          </a:prstGeom>
          <a:solidFill>
            <a:srgbClr val="EDF4EE"/>
          </a:solidFill>
          <a:ln w="12700">
            <a:solidFill>
              <a:srgbClr val="D8E2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7830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6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初期投資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7568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4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650万円〜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04672" y="28986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最低開業費（居抜き・20坪）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標準総投資予算：800万円程度〜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91072" y="1600200"/>
            <a:ext cx="5349240" cy="1920240"/>
          </a:xfrm>
          <a:prstGeom prst="roundRect">
            <a:avLst>
              <a:gd name="adj" fmla="val 3333"/>
            </a:avLst>
          </a:prstGeom>
          <a:solidFill>
            <a:srgbClr val="0D4828"/>
          </a:solidFill>
          <a:ln w="12700">
            <a:solidFill>
              <a:srgbClr val="0D4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47104" y="17830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C7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月間利益モデル（75杯/日）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47104" y="207568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自社物件 47万円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547104" y="28986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9E8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賃貸物件の場合：27万円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9E8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（償却前営業利益・月）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349240" cy="1920240"/>
          </a:xfrm>
          <a:prstGeom prst="roundRect">
            <a:avLst>
              <a:gd name="adj" fmla="val 3333"/>
            </a:avLst>
          </a:prstGeom>
          <a:solidFill>
            <a:srgbClr val="EDF4EE"/>
          </a:solidFill>
          <a:ln w="12700">
            <a:solidFill>
              <a:srgbClr val="D8E2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40233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6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オーナーの運営時間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431596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4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1日 約15分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04672" y="513892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清掃・原料補充のみ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委託運営も可能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91072" y="3840480"/>
            <a:ext cx="5349240" cy="1920240"/>
          </a:xfrm>
          <a:prstGeom prst="roundRect">
            <a:avLst>
              <a:gd name="adj" fmla="val 3333"/>
            </a:avLst>
          </a:prstGeom>
          <a:solidFill>
            <a:srgbClr val="0D4828"/>
          </a:solidFill>
          <a:ln w="12700">
            <a:solidFill>
              <a:srgbClr val="0D4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47104" y="40233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C7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投資回収期間モデル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47104" y="431596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約17か月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547104" y="513892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9E8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自社物件・75杯/日・投資800万円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9E8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賃貸の場合：約30か月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利益・回収は1杯420円・原価20%・20坪モデルの試算（償却前・税引前）。収益・回収期間を保証するものではありません。詳細はp.11〜15。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6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｜ 実績：店舗網と利用者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47か月で71店舗。月間利用者は約10万人へ。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5836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600200"/>
            <a:ext cx="4114800" cy="1298448"/>
          </a:xfrm>
          <a:prstGeom prst="roundRect">
            <a:avLst>
              <a:gd name="adj" fmla="val 4225"/>
            </a:avLst>
          </a:prstGeom>
          <a:solidFill>
            <a:srgbClr val="0D4828"/>
          </a:solidFill>
          <a:ln w="12700">
            <a:solidFill>
              <a:srgbClr val="0D4828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E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662672" y="1728216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FD8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月間利用者数（2026年7月）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662672" y="1965960"/>
            <a:ext cx="3785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約10万人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662672" y="2496312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E8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3年半で約100倍に拡大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498080" y="3081528"/>
            <a:ext cx="411480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E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662672" y="3209544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展開エリア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62672" y="3447288"/>
            <a:ext cx="3785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11都府県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662672" y="3977640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年内にさらに10店舗以上出店予定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498080" y="4562856"/>
            <a:ext cx="411480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E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662672" y="4690872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1店舗あたり月間利用者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662672" y="4928616"/>
            <a:ext cx="3785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約1,400人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7662672" y="5458968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平均滞在2〜3時間・1人2杯程度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出典：社内管理台帳（営業中店舗の開店月ベース累計・各月の全社利用者数）。2026年7月時点、利用者数は概数。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4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C7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｜ 実績：既存店の黒字率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開業6か月以上の店舗の93.8%が、営業黒字。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2B7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93.8%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603504" y="30632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2026年7月単月・営業利益ベース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開業6か月以上の48店中45店が黒字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" y="3977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8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開業12か月以上でも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91840" y="3977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93.0%（43店中40店）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3504" y="448970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8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5〜7月 3か月連続黒字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91840" y="448970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79.2%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03504" y="50017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8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平均営業利益 ／ 中央値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91840" y="50017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21.6万円 ／ 13.2万円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55138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8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平均月商 ／ 中央値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91840" y="55138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74.2万円 ／ 66.8万円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4630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6276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7月単月・営業利益の店舗分布（開業6か月以上・48店）</a:t>
            </a:r>
            <a:endParaRPr lang="en-US" sz="11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400800" y="1965960"/>
          <a:ext cx="51206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603504" y="60533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参考：家賃を除いた営業利益では 48店すべてが黒字（平均45.5万円）＝ 自社物件オーナー様の参考値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FC7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2026年7月速報値・単月実績。営業利益（減価償却費込み）ベース。開業6か月以上経過し月次店舗損益を集計している48店が対象（内訳・店舗別数値は非開示）。店舗により賃料・立地・面積・運営条件等は異なり、将来の収益を保証するものではありません。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6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｜ 実店舗事例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「真ん中の店」でも回る。上振れすれば、こうなる。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32120" cy="4480560"/>
          </a:xfrm>
          <a:prstGeom prst="roundRect">
            <a:avLst>
              <a:gd name="adj" fmla="val 1633"/>
            </a:avLst>
          </a:prstGeom>
          <a:solidFill>
            <a:srgbClr val="EDF4EE"/>
          </a:solidFill>
          <a:ln w="12700">
            <a:solidFill>
              <a:srgbClr val="D8E2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6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STANDARD MODEL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標準的な店舗（実績中央値ベース）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4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約67万円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35112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営業利益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351129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4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約13万円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4370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販売ペース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43708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4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約50杯/日 相当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525780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開業6か月以上店舗の月商・営業利益の中央値から作成した匿名モデル。特別に成功した店ではなく「分布の真ん中」です。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46520" y="1554480"/>
            <a:ext cx="5193792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E">
                <a:alpha val="15000"/>
              </a:srgbClr>
            </a:outerShdw>
          </a:effectLst>
        </p:spPr>
      </p:sp>
      <p:pic>
        <p:nvPicPr>
          <p:cNvPr id="15" name="Image 0" descr="assets/moriok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554480"/>
            <a:ext cx="5193792" cy="125272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675120" y="2926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6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CASE STUDY ｜ 岩手県・盛岡駅前店（2025年4月開業）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675120" y="3291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販売ペース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675120" y="35387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4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約80杯/日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9189720" y="3291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月間売上高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9189720" y="35387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4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96万円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6675120" y="4206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家賃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675120" y="44531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4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28万円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9189720" y="4206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償却前営業利益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9189720" y="44531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4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23.2万円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6675120" y="525780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地方都市の駅前立地。月28万円の家賃を払った上で利益を確保。20坪・40席・24時間営業。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標準店は2026年7月速報の中央値による匿名モデル（営業利益は減価償却費込み）。盛岡駅前店は実績値・償却前・概数。他店舗での同等の売上・利益を保証するものではありません。参考：月商180万円超の店舗もあります。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6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｜ 自社物件の優位性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最大の固定費「家賃」がゼロ。利益は1.7倍、回収期間は約半分。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108960" cy="3017520"/>
          </a:xfrm>
          <a:prstGeom prst="roundRect">
            <a:avLst>
              <a:gd name="adj" fmla="val 2424"/>
            </a:avLst>
          </a:prstGeom>
          <a:solidFill>
            <a:srgbClr val="EDF4EE"/>
          </a:solidFill>
          <a:ln w="12700">
            <a:solidFill>
              <a:srgbClr val="D8E2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賃貸物件で開業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4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27万円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月間利益（75杯/日・償却前）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77240" y="3657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回収期間 約30か月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31920" y="1645920"/>
            <a:ext cx="3108960" cy="3017520"/>
          </a:xfrm>
          <a:prstGeom prst="roundRect">
            <a:avLst>
              <a:gd name="adj" fmla="val 2424"/>
            </a:avLst>
          </a:prstGeom>
          <a:solidFill>
            <a:srgbClr val="0D4828"/>
          </a:solidFill>
          <a:ln w="12700">
            <a:solidFill>
              <a:srgbClr val="0D4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1874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C7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自社物件で開業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60520" y="2286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B7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47万円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160520" y="3154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E8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月間利益（75杯/日・償却前）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60520" y="3657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回収期間 約17か月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51760" y="48006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6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＋20万円/月（+74%）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0" y="1691640"/>
            <a:ext cx="310896" cy="310896"/>
          </a:xfrm>
          <a:prstGeom prst="ellipse">
            <a:avLst/>
          </a:prstGeom>
          <a:solidFill>
            <a:srgbClr val="1D6B44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1691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0" y="1645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家賃という最大の固定費が不要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772400" y="20116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売上がそのまま利益層に乗る構造。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0" y="2807208"/>
            <a:ext cx="310896" cy="310896"/>
          </a:xfrm>
          <a:prstGeom prst="ellipse">
            <a:avLst/>
          </a:prstGeom>
          <a:solidFill>
            <a:srgbClr val="1D6B44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0" y="2807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0" y="27614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空室の機会損失を収益に転換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772400" y="31272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テナント誘致を待たず、自社で稼働させる。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0" y="3922776"/>
            <a:ext cx="310896" cy="310896"/>
          </a:xfrm>
          <a:prstGeom prst="ellipse">
            <a:avLst/>
          </a:prstGeom>
          <a:solidFill>
            <a:srgbClr val="1D6B44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0" y="3922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0" y="38770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人件費の追加もゼロ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772400" y="424281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既存スタッフの稼働内で運営。新規採用不要。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315200" y="5038344"/>
            <a:ext cx="310896" cy="310896"/>
          </a:xfrm>
          <a:prstGeom prst="ellipse">
            <a:avLst/>
          </a:prstGeom>
          <a:solidFill>
            <a:srgbClr val="1D6B44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0" y="5038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0" y="499262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実績（参考値）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772400" y="535838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既存店から家賃を除くと48店すべてが営業黒字・平均45.5万円。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利益・回収は1杯420円・20坪モデル（総投資800万円）の試算。実績参考値は2026年7月速報の家賃控除前営業利益（開業6か月以上・48店）。収益を保証するものではありません。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6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｜ 無人運営の仕組み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開閉店・監視・緊急対応まで、仕組みが店番をする。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29184" cy="329184"/>
          </a:xfrm>
          <a:prstGeom prst="ellipse">
            <a:avLst/>
          </a:prstGeom>
          <a:solidFill>
            <a:srgbClr val="0D482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6002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スマートロック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24128" y="1965960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開錠・施錠を遠隔で完全自動化。営業時間を分単位で制御、24時間営業も容易。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329184" cy="329184"/>
          </a:xfrm>
          <a:prstGeom prst="ellipse">
            <a:avLst/>
          </a:prstGeom>
          <a:solidFill>
            <a:srgbClr val="0D48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43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71576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カメラ6台以上＋双方向音声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24128" y="3081528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死角のない常時モニタリング。カメラ越しにお客様へ直接声がけ・サポート。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858768"/>
            <a:ext cx="329184" cy="329184"/>
          </a:xfrm>
          <a:prstGeom prst="ellipse">
            <a:avLst/>
          </a:prstGeom>
          <a:solidFill>
            <a:srgbClr val="0D482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58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83133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警備会社と連携（ALSOK・SECOM等）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24128" y="4197096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非常ボタン・火災センサー・侵入検知と連動し、非常時は警備員が駆けつけ。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974336"/>
            <a:ext cx="329184" cy="329184"/>
          </a:xfrm>
          <a:prstGeom prst="ellipse">
            <a:avLst/>
          </a:prstGeom>
          <a:solidFill>
            <a:srgbClr val="0D482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974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494690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LINEチャットサポート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024128" y="5312664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お客様からの問い合わせに即時対応（営業サポートプラン）。</a:t>
            </a:r>
            <a:endParaRPr lang="en-US" sz="1050" dirty="0"/>
          </a:p>
        </p:txBody>
      </p:sp>
      <p:pic>
        <p:nvPicPr>
          <p:cNvPr id="20" name="Image 0" descr="assets/camera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600200"/>
            <a:ext cx="4782312" cy="2587752"/>
          </a:xfrm>
          <a:prstGeom prst="rect">
            <a:avLst/>
          </a:prstGeom>
        </p:spPr>
      </p:pic>
      <p:pic>
        <p:nvPicPr>
          <p:cNvPr id="21" name="Image 1" descr="assets/camera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315968"/>
            <a:ext cx="4782312" cy="133502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858000" y="568756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店内カメラの実際の映像（平日日中）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連携する警備会社・設備構成は物件・環境により異なります。LINEチャット対応は有料オプション（営業サポートプラン）です。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6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 ｜ オーナー様の業務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やることは清掃と補充だけ。1日約15分、それすら委託できる。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D4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約15分/日</a:t>
            </a:r>
            <a:endParaRPr lang="en-US" sz="58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669280" cy="1005840"/>
          </a:xfrm>
          <a:prstGeom prst="roundRect">
            <a:avLst>
              <a:gd name="adj" fmla="val 6364"/>
            </a:avLst>
          </a:prstGeom>
          <a:solidFill>
            <a:srgbClr val="EDF4EE"/>
          </a:solidFill>
          <a:ln w="12700">
            <a:solidFill>
              <a:srgbClr val="D8E2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86207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6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店内清掃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テーブル・床の簡易清掃、ゴミ回収。営業前後の都合の良い時間でOK。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5669280" cy="1005840"/>
          </a:xfrm>
          <a:prstGeom prst="roundRect">
            <a:avLst>
              <a:gd name="adj" fmla="val 6364"/>
            </a:avLst>
          </a:prstGeom>
          <a:solidFill>
            <a:srgbClr val="EDF4EE"/>
          </a:solidFill>
          <a:ln w="12700">
            <a:solidFill>
              <a:srgbClr val="D8E2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05079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6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原料・備品の補充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43891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コーヒー豆・カップ等の補充。在庫は本部から定期配送。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5212080"/>
            <a:ext cx="5669280" cy="868680"/>
          </a:xfrm>
          <a:prstGeom prst="roundRect">
            <a:avLst>
              <a:gd name="adj" fmla="val 7368"/>
            </a:avLst>
          </a:prstGeom>
          <a:solidFill>
            <a:srgbClr val="0D482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5212080"/>
            <a:ext cx="5257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自分でやらない選択肢も。清掃パートナーへの委託 月3万円程度（収支モデルに計上済み）</a:t>
            </a:r>
            <a:endParaRPr lang="en-US" sz="1150" dirty="0"/>
          </a:p>
        </p:txBody>
      </p:sp>
      <p:pic>
        <p:nvPicPr>
          <p:cNvPr id="13" name="Image 0" descr="assets/hand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554480"/>
            <a:ext cx="4690872" cy="428853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所要時間は店舗規模・営業時間により変動します。運営に必要な営業届の申請は本部が代行、食品衛生責任者の資格は貴社にて取得いただきます。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6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 ｜ 本部のサポート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立地診断から集客まで本部が伴走。オーナー様は「場所」を出すだけ。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886200" cy="4160520"/>
          </a:xfrm>
          <a:prstGeom prst="roundRect">
            <a:avLst>
              <a:gd name="adj" fmla="val 1882"/>
            </a:avLst>
          </a:prstGeom>
          <a:solidFill>
            <a:srgbClr val="F7FAF7"/>
          </a:solidFill>
          <a:ln w="12700">
            <a:solidFill>
              <a:srgbClr val="D8E2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開業前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パートナー制度のご説明・収益試算表の作成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現地調査・工事業者の手配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店舗デザイン・設計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運営研修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営業届の申請代行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1600200"/>
            <a:ext cx="3886200" cy="4160520"/>
          </a:xfrm>
          <a:prstGeom prst="roundRect">
            <a:avLst>
              <a:gd name="adj" fmla="val 1882"/>
            </a:avLst>
          </a:prstGeom>
          <a:solidFill>
            <a:srgbClr val="F7FAF7"/>
          </a:solidFill>
          <a:ln w="12700">
            <a:solidFill>
              <a:srgbClr val="D8E2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開業後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228600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店舗運営相談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マシンの定期メンテナンス（月1回）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WEBサイト作成・更新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SEO・MEO・AIO（LLMO）による集客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改修工事サポート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915400" y="1600200"/>
            <a:ext cx="2724912" cy="4160520"/>
          </a:xfrm>
          <a:prstGeom prst="roundRect">
            <a:avLst>
              <a:gd name="adj" fmla="val 2685"/>
            </a:avLst>
          </a:prstGeom>
          <a:solidFill>
            <a:srgbClr val="0D4828"/>
          </a:solidFill>
          <a:ln/>
        </p:spPr>
      </p:sp>
      <p:sp>
        <p:nvSpPr>
          <p:cNvPr id="11" name="Text 9"/>
          <p:cNvSpPr/>
          <p:nvPr/>
        </p:nvSpPr>
        <p:spPr>
          <a:xfrm>
            <a:off x="9125712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C7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ロイヤリティ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25712" y="228600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月5万円</a:t>
            </a:r>
            <a:endParaRPr lang="en-US" sz="3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一律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125712" y="384048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D9E8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売上連動ではありません。売上が伸びた分は、すべてオーナー様の利益になります。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サポート内容の詳細・有料オプション（公式LINE作成、営業サポートプラン等）は別紙をご参照ください。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6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｜ 初期投資の詳細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最低開業費650万円〜。予備費まで見た標準予算は800万円程度。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982980" cy="960120"/>
          </a:xfrm>
          <a:prstGeom prst="rect">
            <a:avLst/>
          </a:prstGeom>
          <a:solidFill>
            <a:srgbClr val="0D482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9829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100万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加盟金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31620" y="1828800"/>
            <a:ext cx="3931920" cy="960120"/>
          </a:xfrm>
          <a:prstGeom prst="rect">
            <a:avLst/>
          </a:prstGeom>
          <a:solidFill>
            <a:srgbClr val="1D6B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31620" y="182880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400万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40180" y="28803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出店工事費用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63540" y="1828800"/>
            <a:ext cx="982980" cy="960120"/>
          </a:xfrm>
          <a:prstGeom prst="rect">
            <a:avLst/>
          </a:prstGeom>
          <a:solidFill>
            <a:srgbClr val="4E8B6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63540" y="1828800"/>
            <a:ext cx="9829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72100" y="141732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出店準備金（備品類）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46520" y="1828800"/>
            <a:ext cx="491490" cy="960120"/>
          </a:xfrm>
          <a:prstGeom prst="rect">
            <a:avLst/>
          </a:prstGeom>
          <a:solidFill>
            <a:srgbClr val="7FAE9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828800"/>
            <a:ext cx="49149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50万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55080" y="2880360"/>
            <a:ext cx="10401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保証金（預り金）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38010" y="1828800"/>
            <a:ext cx="1474470" cy="960120"/>
          </a:xfrm>
          <a:prstGeom prst="rect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38010" y="1828800"/>
            <a:ext cx="14744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150万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46570" y="1417320"/>
            <a:ext cx="20231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諸経費・予備費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485632" y="1828800"/>
            <a:ext cx="164592" cy="960120"/>
          </a:xfrm>
          <a:prstGeom prst="rightBrace">
            <a:avLst/>
          </a:prstGeom>
          <a:noFill/>
          <a:ln w="15240">
            <a:solidFill>
              <a:srgbClr val="5F6E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32520" y="178308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標準総投資予算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800万円程度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3246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最低開業費 650万円〜（居抜き・20坪）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977640"/>
            <a:ext cx="5349240" cy="804672"/>
          </a:xfrm>
          <a:prstGeom prst="roundRect">
            <a:avLst>
              <a:gd name="adj" fmla="val 6818"/>
            </a:avLst>
          </a:prstGeom>
          <a:solidFill>
            <a:srgbClr val="F7FAF7"/>
          </a:solidFill>
          <a:ln w="12700">
            <a:solidFill>
              <a:srgbClr val="D8E2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4069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6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ロイヤリティ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49808" y="4343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月5万円 一律（売上連動なし）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91072" y="3977640"/>
            <a:ext cx="5349240" cy="804672"/>
          </a:xfrm>
          <a:prstGeom prst="roundRect">
            <a:avLst>
              <a:gd name="adj" fmla="val 6818"/>
            </a:avLst>
          </a:prstGeom>
          <a:solidFill>
            <a:srgbClr val="F7FAF7"/>
          </a:solidFill>
          <a:ln w="12700">
            <a:solidFill>
              <a:srgbClr val="D8E2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069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6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研修費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92240" y="4343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なし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937760"/>
            <a:ext cx="5349240" cy="804672"/>
          </a:xfrm>
          <a:prstGeom prst="roundRect">
            <a:avLst>
              <a:gd name="adj" fmla="val 6818"/>
            </a:avLst>
          </a:prstGeom>
          <a:solidFill>
            <a:srgbClr val="F7FAF7"/>
          </a:solidFill>
          <a:ln w="12700">
            <a:solidFill>
              <a:srgbClr val="D8E2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5029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6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スケルトン物件の場合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49808" y="5303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工事費が増え950万円〜（総予算1,200万円程度）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91072" y="4937760"/>
            <a:ext cx="5349240" cy="804672"/>
          </a:xfrm>
          <a:prstGeom prst="roundRect">
            <a:avLst>
              <a:gd name="adj" fmla="val 6818"/>
            </a:avLst>
          </a:prstGeom>
          <a:solidFill>
            <a:srgbClr val="F7FAF7"/>
          </a:solidFill>
          <a:ln w="12700">
            <a:solidFill>
              <a:srgbClr val="D8E2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5029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6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保証金50万円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92240" y="5303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預り金。原料・ロイヤリティの支払確認後、契約条件に基づき精算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金額はすべて税抜・目安。物件条件・工事範囲により変動します。他社カフェ業態（開業資金3,000万〜8,400万円）の1/4〜1/12の水準です。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6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 ｜ 収益モデル（20坪・40席・75杯/日）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同じ売上でも、自社物件なら月間利益47万円。</a:t>
            </a:r>
            <a:endParaRPr lang="en-US" sz="2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9494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項目（月次・円）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8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賃貸物件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8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自社物件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8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売上高（420円×75杯×30日）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945,000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945,000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ドリンク原料（20%）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543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▲189,000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543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▲189,000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清掃費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543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▲30,000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543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▲30,000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水道光熱費（24H営業想定）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543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▲80,000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543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▲80,000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機械使用料（マシン2台・決済端末）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543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▲86,000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543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▲86,000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セキュリティ費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543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▲20,000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543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▲20,000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ロイヤリティ（一律）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543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▲50,000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543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▲50,000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雑費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543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▲20,000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543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▲20,000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家賃（坪1万円）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543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▲200,000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48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償却前営業利益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D48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270,000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D48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470,000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554480"/>
            <a:ext cx="3776472" cy="2103120"/>
          </a:xfrm>
          <a:prstGeom prst="roundRect">
            <a:avLst>
              <a:gd name="adj" fmla="val 3478"/>
            </a:avLst>
          </a:prstGeom>
          <a:solidFill>
            <a:srgbClr val="EDF4EE"/>
          </a:solidFill>
          <a:ln w="12700">
            <a:solidFill>
              <a:srgbClr val="D8E2D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92440" y="17556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賃貸物件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092440" y="20482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月27万円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092440" y="27614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年間換算 324万円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863840" y="3840480"/>
            <a:ext cx="3776472" cy="2103120"/>
          </a:xfrm>
          <a:prstGeom prst="roundRect">
            <a:avLst>
              <a:gd name="adj" fmla="val 3478"/>
            </a:avLst>
          </a:prstGeom>
          <a:solidFill>
            <a:srgbClr val="0D4828"/>
          </a:solidFill>
          <a:ln/>
        </p:spPr>
      </p:sp>
      <p:sp>
        <p:nvSpPr>
          <p:cNvPr id="10" name="Text 7"/>
          <p:cNvSpPr/>
          <p:nvPr/>
        </p:nvSpPr>
        <p:spPr>
          <a:xfrm>
            <a:off x="8092440" y="40416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C7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自社物件（家賃0円）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092440" y="43342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B7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月47万円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092440" y="50474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8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年間換算 564万円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減価償却費・税を含みません。家賃は仮定坪単価による試算。目安であり売上・利益を保証するものではありません。40坪（80席）モデルは別紙参照。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6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 ｜ 杯数別シミュレーション（5段階）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下振れも含めて、先にすべてお見せします。</a:t>
            </a:r>
            <a:endParaRPr lang="en-US" sz="2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325880"/>
                <a:gridCol w="1371600"/>
                <a:gridCol w="1188720"/>
                <a:gridCol w="1600200"/>
                <a:gridCol w="1371600"/>
                <a:gridCol w="1188720"/>
                <a:gridCol w="130759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杯数/日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月商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自社物件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利益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利益率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回収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(投資800万)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賃貸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利益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利益率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回収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(投資800万)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8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30杯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37.8万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1.6万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4.3%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543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▲18.4万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543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回収不可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50杯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63.0万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21.8万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34.6%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約37か月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1.8万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2.9%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48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75杯（標準）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D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D48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94.5万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D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D48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47.0万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D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D48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49.7%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D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D48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約17か月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D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D48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27.0万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D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D48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28.6%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D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D48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約30か月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D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100杯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126.0万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72.2万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57.3%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約12か月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52.2万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41.4%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約16か月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125杯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157.5万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97.4万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61.8%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約9か月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77.4万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49.1%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約11か月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6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実績との接続：既存店（開業6か月以上）の月商中央値66.8万円は、約53杯/日に相当します（単価ミックス込み概算）。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1杯420円・原価20%・固定費28.6万円/月（清掃・水道光熱・機械・警備・ロイヤリティ・雑費／20坪モデル・杯数によらず一定と仮定）。賃貸は家賃20万円/月を加算。償却前・税引前。「—」は利益僅少で回収が非現実的な水準。収益を保証するものではありません。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6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 ｜ 損益分岐点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自社物件なら1日約29杯。40席の店で「1席1杯以下」で黒字圏。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7665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737360"/>
            <a:ext cx="3913632" cy="1463040"/>
          </a:xfrm>
          <a:prstGeom prst="roundRect">
            <a:avLst>
              <a:gd name="adj" fmla="val 4375"/>
            </a:avLst>
          </a:prstGeom>
          <a:solidFill>
            <a:srgbClr val="0D4828"/>
          </a:solidFill>
          <a:ln w="12700">
            <a:solidFill>
              <a:srgbClr val="0D482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36992" y="18745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C7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自社物件（家賃0円）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936992" y="21488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B7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約29杯/日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7936992" y="27249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E8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固定費28.6万円 ÷ 1杯あたり限界利益336円 ≒ 月851杯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7726680" y="3429000"/>
            <a:ext cx="3913632" cy="1463040"/>
          </a:xfrm>
          <a:prstGeom prst="roundRect">
            <a:avLst>
              <a:gd name="adj" fmla="val 4375"/>
            </a:avLst>
          </a:prstGeom>
          <a:solidFill>
            <a:srgbClr val="EDF4EE"/>
          </a:solidFill>
          <a:ln w="12700">
            <a:solidFill>
              <a:srgbClr val="D8E2D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36992" y="35661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賃貸物件（家賃20万円）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36992" y="38404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4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約49杯/日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7936992" y="44165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固定費48.6万円 ÷ 336円 ≒ 月1,447杯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726680" y="5257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D6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参考：既存店（開業6か月以上）の月商中央値は約53杯/日相当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20坪モデルの前提（1杯420円・原価20%・固定費28.6万円/月）による試算。家賃・光熱費等の条件により分岐点は変動します。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6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 ｜ 投資回収シミュレーション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標準予算800万円。自社物件・標準杯数で約17か月。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7665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554480"/>
            <a:ext cx="3913632" cy="1298448"/>
          </a:xfrm>
          <a:prstGeom prst="roundRect">
            <a:avLst>
              <a:gd name="adj" fmla="val 4225"/>
            </a:avLst>
          </a:prstGeom>
          <a:solidFill>
            <a:srgbClr val="0D4828"/>
          </a:solidFill>
          <a:ln w="12700">
            <a:solidFill>
              <a:srgbClr val="0D4828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E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891272" y="1682496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FD8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自社物件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891272" y="1920240"/>
            <a:ext cx="3584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約17か月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891272" y="2450592"/>
            <a:ext cx="3584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E8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75杯/日・月間利益47万円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726680" y="3035808"/>
            <a:ext cx="3913632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E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891272" y="316382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賃貸物件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891272" y="3401568"/>
            <a:ext cx="3584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約30か月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891272" y="3931920"/>
            <a:ext cx="3584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75杯/日・月間利益27万円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726680" y="4517136"/>
            <a:ext cx="3913632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E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891272" y="4645152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100杯/日なら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891272" y="4882896"/>
            <a:ext cx="3584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約12か月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7891272" y="5413248"/>
            <a:ext cx="3584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自社物件・月間利益72.2万円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総投資800万円（開業費650万円＋諸経費・予備費150万円）。償却前営業利益ベース・税引前。回収期間・利益を保証するものではありません。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6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 ｜ リスクと対策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赤字になる店には、共通のパターンがあります。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206240" cy="4160520"/>
          </a:xfrm>
          <a:prstGeom prst="roundRect">
            <a:avLst>
              <a:gd name="adj" fmla="val 1758"/>
            </a:avLst>
          </a:prstGeom>
          <a:solidFill>
            <a:srgbClr val="F7FAF7"/>
          </a:solidFill>
          <a:ln w="12700">
            <a:solidFill>
              <a:srgbClr val="D8E2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8288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事実の開示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" y="21488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543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48店中 3店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04672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が2026年7月単月で営業赤字（6.3%）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4672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赤字の要因は主に2類型：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37033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売上規模に対して家賃が重い立地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小型区画・商業施設内で客数が伸びにくい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484632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D6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いずれも「家賃と売上のミスマッチ」。家賃を除いた営業利益では全店黒字です。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0" y="1600200"/>
            <a:ext cx="6611112" cy="1261872"/>
          </a:xfrm>
          <a:prstGeom prst="roundRect">
            <a:avLst>
              <a:gd name="adj" fmla="val 5072"/>
            </a:avLst>
          </a:prstGeom>
          <a:solidFill>
            <a:srgbClr val="EDF4EE"/>
          </a:solidFill>
          <a:ln w="12700">
            <a:solidFill>
              <a:srgbClr val="D8E2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7800" y="17099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対策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57800" y="194767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出店前の立地審査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257800" y="2276856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現地調査と収益試算を実施し、基準に満たない物件には出店をお勧めしません。加盟審査は「お互いに選ぶ」プロセスです。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0" y="3017520"/>
            <a:ext cx="6611112" cy="1261872"/>
          </a:xfrm>
          <a:prstGeom prst="roundRect">
            <a:avLst>
              <a:gd name="adj" fmla="val 5072"/>
            </a:avLst>
          </a:prstGeom>
          <a:solidFill>
            <a:srgbClr val="EDF4EE"/>
          </a:solidFill>
          <a:ln w="12700">
            <a:solidFill>
              <a:srgbClr val="D8E2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31272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対策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57800" y="336499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家賃比率の目安を事前提示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257800" y="3694176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想定売上に対する適正家賃の目安を契約前にご提示。自社物件はこのリスク自体がありません。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0" y="4434840"/>
            <a:ext cx="6611112" cy="1261872"/>
          </a:xfrm>
          <a:prstGeom prst="roundRect">
            <a:avLst>
              <a:gd name="adj" fmla="val 5072"/>
            </a:avLst>
          </a:prstGeom>
          <a:solidFill>
            <a:srgbClr val="EDF4EE"/>
          </a:solidFill>
          <a:ln w="12700">
            <a:solidFill>
              <a:srgbClr val="D8E2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4544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対策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57800" y="47823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契約条件の明確化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257800" y="5111496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契約期間（最低3年〜）・中途解約・原状回復の条件は契約前にすべて書面でご確認いただきます。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赤字店数は2026年7月速報・営業利益ベース（開業6か月以上・48店）。個別店舗の状況・契約条件の詳細は個別面談でご説明します。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6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 ｜ 開業までの流れ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お問い合わせから、2〜3か月でオープン。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7FAF7"/>
          </a:solidFill>
          <a:ln w="12700">
            <a:solidFill>
              <a:srgbClr val="D8E2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901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D6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94944" y="2194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面談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94944" y="267004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制度のご説明と、ご希望条件のヒアリング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34640" y="173736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7FAF7"/>
          </a:solidFill>
          <a:ln w="12700">
            <a:solidFill>
              <a:srgbClr val="D8E2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80944" y="1901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D6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80944" y="2194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加盟審査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980944" y="267004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立地・スペースの現地調査と収益試算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120640" y="173736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7FAF7"/>
          </a:solidFill>
          <a:ln w="12700">
            <a:solidFill>
              <a:srgbClr val="D8E2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66944" y="1901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D6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266944" y="2194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契約締結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266944" y="267004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審査通過後に契約（契約期間 最低3年〜）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06640" y="173736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7FAF7"/>
          </a:solidFill>
          <a:ln w="12700">
            <a:solidFill>
              <a:srgbClr val="D8E2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52944" y="1901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D6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552944" y="2194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工事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552944" y="267004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内装・機器設置。工事業者は本部が手配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692640" y="173736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0D4828"/>
          </a:solidFill>
          <a:ln w="12700">
            <a:solidFill>
              <a:srgbClr val="0D48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38944" y="1901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FC7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5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838944" y="2194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運営開始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838944" y="267004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D9E8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運営研修を経てオープン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480560"/>
            <a:ext cx="11091672" cy="1600200"/>
          </a:xfrm>
          <a:prstGeom prst="roundRect">
            <a:avLst>
              <a:gd name="adj" fmla="val 4571"/>
            </a:avLst>
          </a:prstGeom>
          <a:solidFill>
            <a:srgbClr val="F7FAF7"/>
          </a:solidFill>
          <a:ln w="12700">
            <a:solidFill>
              <a:srgbClr val="D8E2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46451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6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会社概要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" y="4983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会社名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76272" y="4983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セルフカフェ株式会社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91072" y="4983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代表取締役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62672" y="4983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鈴木 大基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04672" y="5458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資本金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176272" y="54589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2,000万円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91072" y="5458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沿革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662672" y="54589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2022年9月 1号店開業／2024年5月 WDPグループより分社化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工事内容・立地条件により期間は変動します。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E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4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al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0"/>
            <a:ext cx="43251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0D4828">
              <a:alpha val="20000"/>
            </a:srgbClr>
          </a:solidFill>
          <a:ln/>
        </p:spPr>
      </p:sp>
      <p:pic>
        <p:nvPicPr>
          <p:cNvPr id="4" name="Image 1" descr="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02920"/>
            <a:ext cx="530352" cy="48463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25296" y="621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FC7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548640" y="1463040"/>
            <a:ext cx="7132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まずは、お持ちの物件で</a:t>
            </a:r>
            <a:endParaRPr lang="en-US" sz="3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収支診断を。</a:t>
            </a:r>
            <a:endParaRPr lang="en-US" sz="3800" dirty="0"/>
          </a:p>
        </p:txBody>
      </p:sp>
      <p:sp>
        <p:nvSpPr>
          <p:cNvPr id="7" name="Text 3"/>
          <p:cNvSpPr/>
          <p:nvPr/>
        </p:nvSpPr>
        <p:spPr>
          <a:xfrm>
            <a:off x="566928" y="32461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9E8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スペースの写真と図面をお送りいただくだけで、貴社の物件でいくら残るか、無料で試算します。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66928" y="4069080"/>
            <a:ext cx="2596896" cy="914400"/>
          </a:xfrm>
          <a:prstGeom prst="roundRect">
            <a:avLst>
              <a:gd name="adj" fmla="val 7000"/>
            </a:avLst>
          </a:prstGeom>
          <a:solidFill>
            <a:srgbClr val="0A3A20"/>
          </a:solidFill>
          <a:ln w="9525">
            <a:solidFill>
              <a:srgbClr val="2C6B4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13232" y="4187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C7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必要なもの ①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13232" y="44622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スペースの写真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3310128" y="4069080"/>
            <a:ext cx="2596896" cy="914400"/>
          </a:xfrm>
          <a:prstGeom prst="roundRect">
            <a:avLst>
              <a:gd name="adj" fmla="val 7000"/>
            </a:avLst>
          </a:prstGeom>
          <a:solidFill>
            <a:srgbClr val="0A3A20"/>
          </a:solidFill>
          <a:ln w="9525">
            <a:solidFill>
              <a:srgbClr val="2C6B4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456432" y="4187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C7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必要なもの ②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456432" y="44622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図面（面積が分かるもの）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66928" y="53492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B7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TEL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554480" y="53492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090-6386-5493（担当：佐藤）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66928" y="57332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B7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E-MAIL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554480" y="57332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selfcafe001@gmail.com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566928" y="611733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B7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1554480" y="611733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https://selfcafe.jp/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10058400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E8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セルフカフェ株式会社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2026-08-25T06:32:40Z</dcterms:created>
  <dcterms:modified xsi:type="dcterms:W3CDTF">2026-08-25T06:32:40Z</dcterms:modified>
</cp:coreProperties>
</file>