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3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7.png"/><Relationship Id="rId9" Type="http://schemas.openxmlformats.org/officeDocument/2006/relationships/image" Target="../media/image-4-7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trial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— SPECIAL TERMS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 特別条件のご提案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内装工事は当社が負担し、原状回復義務もいただきません。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まずは実際の数字をご確認いただいたうえで、その先をご判断ください。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セルフカフェ売上の歩合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トライアル特別条件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通常条件とは別の、トライアル条件です。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メールにてご提示した内容を、あらためて整理したものです。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 特別条件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8580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Sparkle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186171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3429" y="1742846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内装仕様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373429" y="2017166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スタンダード仕様（既存の書店併設店と同じ設え）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60197" y="2510942"/>
            <a:ext cx="68580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4" name="Image 2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2721254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3429" y="260238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373429" y="2876702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セルフカフェが負担します（御社のご負担なし）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60197" y="3370478"/>
            <a:ext cx="68580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8" name="Image 3" descr="/home/user/suzuki-ceo/selfcafe-miraiya-trial-deck/assets/icons/LuLandPlot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9" y="3580790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3429" y="3461918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373429" y="373623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御社にてご手配いただきます（御社の所有となります）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60197" y="4230014"/>
            <a:ext cx="68580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2" name="Image 4" descr="/home/user/suzuki-ceo/selfcafe-miraiya-trial-deck/assets/icons/LuHandCoins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9" y="444032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3429" y="4321454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歩合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1373429" y="4595774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セルフカフェ売上の25％を御社へお支払い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660197" y="5089550"/>
            <a:ext cx="68580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5" descr="/home/user/suzuki-ceo/selfcafe-miraiya-trial-deck/assets/icons/LuKeyRoun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229" y="5299862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373429" y="518099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1373429" y="5455310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なし（当社のマシン・カメラ等のみ撤去します）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7902245" y="1651406"/>
            <a:ext cx="3629254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sp>
        <p:nvSpPr>
          <p:cNvPr id="30" name="Text 22"/>
          <p:cNvSpPr/>
          <p:nvPr/>
        </p:nvSpPr>
        <p:spPr>
          <a:xfrm>
            <a:off x="8158277" y="187086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SHARE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8158277" y="2108606"/>
            <a:ext cx="31171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御社へのお支払い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8158277" y="2401214"/>
            <a:ext cx="3117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 </a:t>
            </a:r>
            <a:r>
              <a:rPr lang="en-US" sz="34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158277" y="3023006"/>
            <a:ext cx="31171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毎月お支払いします（税抜）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7902245" y="3535070"/>
            <a:ext cx="3629254" cy="1188720"/>
          </a:xfrm>
          <a:prstGeom prst="roundRect">
            <a:avLst>
              <a:gd name="adj" fmla="val 461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158277" y="3699662"/>
            <a:ext cx="31171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御社のご負担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8158277" y="3973982"/>
            <a:ext cx="3117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家具・什器のご手配のみです。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内装工事費のご負担はありません。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7902245" y="4851806"/>
            <a:ext cx="3629254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38" name="Image 6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9989" y="5071262"/>
            <a:ext cx="310896" cy="310896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8560613" y="4998110"/>
            <a:ext cx="27331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原状回復義務なし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8560613" y="5272430"/>
            <a:ext cx="27331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終了時も内装を元に戻す必要はありません。</a:t>
            </a:r>
            <a:endParaRPr lang="en-US" sz="950" dirty="0"/>
          </a:p>
        </p:txBody>
      </p:sp>
      <p:sp>
        <p:nvSpPr>
          <p:cNvPr id="41" name="Text 32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金額はすべて税抜。トライアルの期間・対象店舗はご相談のうえ決定させていただきます。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費用と所有の区分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どちらが何を用意し、終了後どうなるか。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トライアル期間中の費用負担と、終了後にそれがどう扱われるかを整理しました。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 特別条件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373898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ご手配・ご負担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トライアル終了後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内装工事（造作・床・サイン）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そのまま残ります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家具・什器（テーブル・椅子・植栽 等）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御社の資産として残ります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ドリンクマシン・決済端末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防犯カメラ・通信機器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原料・機器メンテナンス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水道光熱費・通信費・消耗品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未来屋書店様（実費）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原状回復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不要（義務なし）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5303520"/>
            <a:ext cx="10871302" cy="804672"/>
          </a:xfrm>
          <a:prstGeom prst="roundRect">
            <a:avLst>
              <a:gd name="adj" fmla="val 6818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5303520"/>
            <a:ext cx="1024951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御社にご手配いただくのは、家具・什器だけです。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内装工事費のご負担はなく、終了時の原状回復も発生しません。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60197" y="6217920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工事範囲・什器の仕様は現地確認のうえ確定します。金額はすべて税抜。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終了時の扱い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原状回復は不要。撤去するのは当社の機器だけです。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トライアルを終了される場合も、内装を元に戻していただく必要はありません。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 特別条件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Hous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88915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91717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そのまま残るもの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34517" y="2364638"/>
            <a:ext cx="4694987" cy="10058"/>
          </a:xfrm>
          <a:prstGeom prst="rect">
            <a:avLst/>
          </a:prstGeom>
          <a:solidFill>
            <a:srgbClr val="D2E7DA"/>
          </a:solidFill>
          <a:ln/>
        </p:spPr>
      </p:sp>
      <p:pic>
        <p:nvPicPr>
          <p:cNvPr id="13" name="Image 2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259323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1989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内装工事（造作・床・サイン）</a:t>
            </a:r>
            <a:endParaRPr lang="en-US" sz="1100" dirty="0"/>
          </a:p>
        </p:txBody>
      </p:sp>
      <p:pic>
        <p:nvPicPr>
          <p:cNvPr id="15" name="Image 3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3013862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81989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家具・什器（テーブル・椅子・植栽 等）</a:t>
            </a:r>
            <a:endParaRPr lang="en-US" sz="1100" dirty="0"/>
          </a:p>
        </p:txBody>
      </p:sp>
      <p:pic>
        <p:nvPicPr>
          <p:cNvPr id="17" name="Image 4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34486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1989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書店側の売場・動線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934517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工事部分は当社負担で施工しますが、撤去はいたしません。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6287872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1" name="Image 5" descr="/home/user/suzuki-ceo/selfcafe-miraiya-trial-deck/assets/icons/LuMinus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92" y="1889150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19392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当社が撤去するもの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6562192" y="2364638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pic>
        <p:nvPicPr>
          <p:cNvPr id="24" name="Image 6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0480" y="2593238"/>
            <a:ext cx="182880" cy="18288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9664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ドリンクマシン</a:t>
            </a:r>
            <a:endParaRPr lang="en-US" sz="1100" dirty="0"/>
          </a:p>
        </p:txBody>
      </p:sp>
      <p:pic>
        <p:nvPicPr>
          <p:cNvPr id="26" name="Image 7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480" y="3013862"/>
            <a:ext cx="182880" cy="18288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09664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決済端末</a:t>
            </a:r>
            <a:endParaRPr lang="en-US" sz="1100" dirty="0"/>
          </a:p>
        </p:txBody>
      </p:sp>
      <p:pic>
        <p:nvPicPr>
          <p:cNvPr id="28" name="Image 8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0480" y="3434486"/>
            <a:ext cx="182880" cy="18288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09664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防犯カメラ・通信機器</a:t>
            </a:r>
            <a:endParaRPr lang="en-US" sz="1100" dirty="0"/>
          </a:p>
        </p:txBody>
      </p:sp>
      <p:sp>
        <p:nvSpPr>
          <p:cNvPr id="30" name="Text 19"/>
          <p:cNvSpPr/>
          <p:nvPr/>
        </p:nvSpPr>
        <p:spPr>
          <a:xfrm>
            <a:off x="6562192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撤去費用は当社が負担します。跡の補修も当社で対応します。</a:t>
            </a:r>
            <a:endParaRPr lang="en-US" sz="950" dirty="0"/>
          </a:p>
        </p:txBody>
      </p:sp>
      <p:sp>
        <p:nvSpPr>
          <p:cNvPr id="31" name="Shape 20"/>
          <p:cNvSpPr/>
          <p:nvPr/>
        </p:nvSpPr>
        <p:spPr>
          <a:xfrm>
            <a:off x="660197" y="4718304"/>
            <a:ext cx="10871302" cy="1005840"/>
          </a:xfrm>
          <a:prstGeom prst="roundRect">
            <a:avLst>
              <a:gd name="adj" fmla="val 5455"/>
            </a:avLst>
          </a:prstGeom>
          <a:solidFill>
            <a:srgbClr val="0C5230"/>
          </a:solidFill>
          <a:ln/>
        </p:spPr>
      </p:sp>
      <p:pic>
        <p:nvPicPr>
          <p:cNvPr id="32" name="Image 9" descr="/home/user/suzuki-ceo/selfcafe-miraiya-trial-deck/assets/icons/LuBadgeCheck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9" y="4992624"/>
            <a:ext cx="402336" cy="40233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1574597" y="4718304"/>
            <a:ext cx="95911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トライアル後は、基本そのまま残す形を想定しています。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内装も什器も残るため、継続いただく場合は追加の工事なくそのまま運営を続けられます。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撤去の範囲・時期は事前にお打ち合わせのうえ決定します。什器の再利用可否は現地確認時にご相談させてください。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家具・什器の考え方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家具は御社ご所有のほうがよい、と判断しました。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トライアル後もそのまま残す前提で考えると、御社の資産にしておくのが最も無駄がありません。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 特別条件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92572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4517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そのまま使い続けられる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34517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3" name="Text 9"/>
          <p:cNvSpPr/>
          <p:nvPr/>
        </p:nvSpPr>
        <p:spPr>
          <a:xfrm>
            <a:off x="934517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トライアル後に継続される場合、什器の入れ替えも買い直しも発生しません。設えを変えずに運営を続けられます。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375404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5" name="Image 2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1925726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49724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御社の資産として残る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649724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3"/>
          <p:cNvSpPr/>
          <p:nvPr/>
        </p:nvSpPr>
        <p:spPr>
          <a:xfrm>
            <a:off x="4649724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当社所有にすると、契約が終わる際に引き上げか買取かの整理が必要になります。はじめから御社ご所有であれば、その論点自体がなくなります。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090611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0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931" y="1925726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64931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仕様を御社で選べる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364931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17"/>
          <p:cNvSpPr/>
          <p:nvPr/>
        </p:nvSpPr>
        <p:spPr>
          <a:xfrm>
            <a:off x="8364931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テーブル・椅子・植栽は店舗の雰囲気を大きく左右します。書店の売場に合わせて御社側でお選びいただけます。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0197" y="4809744"/>
            <a:ext cx="10871302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5" name="Image 4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084064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1445" y="4809744"/>
            <a:ext cx="96825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当社側で家具・什器を手配することも可能です。その場合は当社の資産となるため、トライアル終了時に引き上げ・買取のご相談が必要になります。ご希望があればその形でもお受けします。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什器の概算費用は、レイアウト確定後にお見積りをお出しします。既存什器を再利用できる場合は、その分ご負担が減ります。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現地確認から、最短2〜3ヶ月で開始できます。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まずは対象店舗と期間のすり合わせ、現地確認からお願いできればと存じます。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 特別条件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条件のすり合わせ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対象店舗・トライアル期間・開始時期を決めます。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trial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区画・電源・動線を確認し、レイアウトと什器の仕様を設計。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トライアル条件を明記した契約を締結します。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工事・設置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内装工事は当社が施工。家具・什器は御社にてご手配。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トライアル開始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運営・集客・お問い合わせ対応は当社が担当します。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trial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trial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trial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トライアル導入 特別条件のご提案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2026-09-20T02:48:00Z</dcterms:created>
  <dcterms:modified xsi:type="dcterms:W3CDTF">2026-09-20T02:48:00Z</dcterms:modified>
</cp:coreProperties>
</file>