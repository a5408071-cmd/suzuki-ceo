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3.png"/><Relationship Id="rId6" Type="http://schemas.openxmlformats.org/officeDocument/2006/relationships/image" Target="../media/image-29-3.png"/><Relationship Id="rId7" Type="http://schemas.openxmlformats.org/officeDocument/2006/relationships/image" Target="../media/image-29-3.png"/><Relationship Id="rId8" Type="http://schemas.openxmlformats.org/officeDocument/2006/relationships/image" Target="../media/image-29-8.png"/><Relationship Id="rId9" Type="http://schemas.openxmlformats.org/officeDocument/2006/relationships/image" Target="../media/image-29-3.png"/><Relationship Id="rId10" Type="http://schemas.openxmlformats.org/officeDocument/2006/relationships/image" Target="../media/image-29-3.png"/><Relationship Id="rId11" Type="http://schemas.openxmlformats.org/officeDocument/2006/relationships/image" Target="../media/image-29-3.png"/><Relationship Id="rId12" Type="http://schemas.openxmlformats.org/officeDocument/2006/relationships/image" Target="../media/image-29-3.png"/><Relationship Id="rId13" Type="http://schemas.openxmlformats.org/officeDocument/2006/relationships/image" Target="../media/image-29-3.png"/><Relationship Id="rId14" Type="http://schemas.openxmlformats.org/officeDocument/2006/relationships/image" Target="../media/image-29-14.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開業費650万円〜・標準予算800万円程度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1096023" cy="859536"/>
          </a:xfrm>
          <a:prstGeom prst="rect">
            <a:avLst/>
          </a:prstGeom>
          <a:solidFill>
            <a:srgbClr val="0C5230"/>
          </a:solidFill>
          <a:ln w="12700">
            <a:solidFill>
              <a:srgbClr val="FFFFFF"/>
            </a:solidFill>
            <a:prstDash val="solid"/>
          </a:ln>
        </p:spPr>
      </p:sp>
      <p:sp>
        <p:nvSpPr>
          <p:cNvPr id="10" name="Text 7"/>
          <p:cNvSpPr/>
          <p:nvPr/>
        </p:nvSpPr>
        <p:spPr>
          <a:xfrm>
            <a:off x="660197"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756219" y="2218334"/>
            <a:ext cx="4384091" cy="859536"/>
          </a:xfrm>
          <a:prstGeom prst="rect">
            <a:avLst/>
          </a:prstGeom>
          <a:solidFill>
            <a:srgbClr val="1B7A47"/>
          </a:solidFill>
          <a:ln w="12700">
            <a:solidFill>
              <a:srgbClr val="FFFFFF"/>
            </a:solidFill>
            <a:prstDash val="solid"/>
          </a:ln>
        </p:spPr>
      </p:sp>
      <p:sp>
        <p:nvSpPr>
          <p:cNvPr id="13" name="Text 10"/>
          <p:cNvSpPr/>
          <p:nvPr/>
        </p:nvSpPr>
        <p:spPr>
          <a:xfrm>
            <a:off x="1756219" y="2218334"/>
            <a:ext cx="4384091"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481899" y="3169310"/>
            <a:ext cx="493273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6140310" y="2218334"/>
            <a:ext cx="1096023" cy="859536"/>
          </a:xfrm>
          <a:prstGeom prst="rect">
            <a:avLst/>
          </a:prstGeom>
          <a:solidFill>
            <a:srgbClr val="5FA57C"/>
          </a:solidFill>
          <a:ln w="12700">
            <a:solidFill>
              <a:srgbClr val="FFFFFF"/>
            </a:solidFill>
            <a:prstDash val="solid"/>
          </a:ln>
        </p:spPr>
      </p:sp>
      <p:sp>
        <p:nvSpPr>
          <p:cNvPr id="16" name="Text 13"/>
          <p:cNvSpPr/>
          <p:nvPr/>
        </p:nvSpPr>
        <p:spPr>
          <a:xfrm>
            <a:off x="6140310"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7" name="Text 14"/>
          <p:cNvSpPr/>
          <p:nvPr/>
        </p:nvSpPr>
        <p:spPr>
          <a:xfrm>
            <a:off x="5865990"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236333" y="2218334"/>
            <a:ext cx="548011" cy="859536"/>
          </a:xfrm>
          <a:prstGeom prst="rect">
            <a:avLst/>
          </a:prstGeom>
          <a:solidFill>
            <a:srgbClr val="9CC3AA"/>
          </a:solidFill>
          <a:ln w="12700">
            <a:solidFill>
              <a:srgbClr val="FFFFFF"/>
            </a:solidFill>
            <a:prstDash val="solid"/>
          </a:ln>
        </p:spPr>
      </p:sp>
      <p:sp>
        <p:nvSpPr>
          <p:cNvPr id="19" name="Text 16"/>
          <p:cNvSpPr/>
          <p:nvPr/>
        </p:nvSpPr>
        <p:spPr>
          <a:xfrm>
            <a:off x="7236333" y="2218334"/>
            <a:ext cx="54801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6962013" y="3169310"/>
            <a:ext cx="109665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784344" y="2218334"/>
            <a:ext cx="1644034" cy="859536"/>
          </a:xfrm>
          <a:prstGeom prst="rect">
            <a:avLst/>
          </a:prstGeom>
          <a:solidFill>
            <a:srgbClr val="A8761F"/>
          </a:solidFill>
          <a:ln w="12700">
            <a:solidFill>
              <a:srgbClr val="FFFFFF"/>
            </a:solidFill>
            <a:prstDash val="solid"/>
          </a:ln>
        </p:spPr>
      </p:sp>
      <p:sp>
        <p:nvSpPr>
          <p:cNvPr id="22" name="Text 19"/>
          <p:cNvSpPr/>
          <p:nvPr/>
        </p:nvSpPr>
        <p:spPr>
          <a:xfrm>
            <a:off x="7784344" y="2218334"/>
            <a:ext cx="164403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510024" y="1907438"/>
            <a:ext cx="219267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800万円程度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出店準備金の内訳：設計費・デザイン費・開業サポート費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出店準備金 100万円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設計費・デザイン費・開業サポート費（見積書の項目と対応）</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工事費が増え950万円〜（標準総投資予算1,200万円程度）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開業費650万円（加盟金100＋工事400＋準備金100＋保証金50）＋諸経費・予備費150万円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800万円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スケルトン工事の開業費950万円＋諸経費・予備費250万円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前提：初期費用は標準総投資予算（居抜き800万円／スケルトン1,200万円程度）／1杯420円・販売数は収益シミュレーションと同一／減価償却費・税を除く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573x138.jpg">    </p:cNvPr>
          <p:cNvPicPr>
            <a:picLocks noChangeAspect="1"/>
          </p:cNvPicPr>
          <p:nvPr/>
        </p:nvPicPr>
        <p:blipFill>
          <a:blip r:embed="rId2"/>
          <a:stretch>
            <a:fillRect/>
          </a:stretch>
        </p:blipFill>
        <p:spPr>
          <a:xfrm>
            <a:off x="660197" y="2492654"/>
            <a:ext cx="5243627" cy="1262004"/>
          </a:xfrm>
          <a:prstGeom prst="rect">
            <a:avLst/>
          </a:prstGeom>
        </p:spPr>
      </p:pic>
      <p:sp>
        <p:nvSpPr>
          <p:cNvPr id="22" name="Shape 18"/>
          <p:cNvSpPr/>
          <p:nvPr/>
        </p:nvSpPr>
        <p:spPr>
          <a:xfrm>
            <a:off x="660197" y="2492654"/>
            <a:ext cx="5243627" cy="1262004"/>
          </a:xfrm>
          <a:prstGeom prst="rect">
            <a:avLst/>
          </a:prstGeom>
          <a:ln w="12700">
            <a:solidFill>
              <a:srgbClr val="D8D2C6"/>
            </a:solidFill>
            <a:prstDash val="solid"/>
          </a:ln>
        </p:spPr>
      </p:sp>
      <p:sp>
        <p:nvSpPr>
          <p:cNvPr id="23" name="Shape 19"/>
          <p:cNvSpPr/>
          <p:nvPr/>
        </p:nvSpPr>
        <p:spPr>
          <a:xfrm>
            <a:off x="788213" y="3297458"/>
            <a:ext cx="1442720" cy="329184"/>
          </a:xfrm>
          <a:prstGeom prst="roundRect">
            <a:avLst>
              <a:gd name="adj" fmla="val 13889"/>
            </a:avLst>
          </a:prstGeom>
          <a:solidFill>
            <a:srgbClr val="FFFFFF">
              <a:alpha val="90000"/>
            </a:srgbClr>
          </a:solidFill>
          <a:ln/>
        </p:spPr>
      </p:sp>
      <p:sp>
        <p:nvSpPr>
          <p:cNvPr id="24" name="Text 20"/>
          <p:cNvSpPr/>
          <p:nvPr/>
        </p:nvSpPr>
        <p:spPr>
          <a:xfrm>
            <a:off x="952805" y="3297458"/>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60197" y="3955826"/>
            <a:ext cx="5243627" cy="2102988"/>
          </a:xfrm>
          <a:prstGeom prst="roundRect">
            <a:avLst>
              <a:gd name="adj" fmla="val 2609"/>
            </a:avLst>
          </a:prstGeom>
          <a:solidFill>
            <a:srgbClr val="0C5230"/>
          </a:solidFill>
          <a:ln/>
        </p:spPr>
      </p:sp>
      <p:sp>
        <p:nvSpPr>
          <p:cNvPr id="26" name="Text 22"/>
          <p:cNvSpPr/>
          <p:nvPr/>
        </p:nvSpPr>
        <p:spPr>
          <a:xfrm>
            <a:off x="971093" y="4230146"/>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PERFORMANCE</a:t>
            </a:r>
            <a:endParaRPr lang="en-US" sz="900" dirty="0"/>
          </a:p>
        </p:txBody>
      </p:sp>
      <p:sp>
        <p:nvSpPr>
          <p:cNvPr id="27" name="Text 23"/>
          <p:cNvSpPr/>
          <p:nvPr/>
        </p:nvSpPr>
        <p:spPr>
          <a:xfrm>
            <a:off x="971093" y="4522754"/>
            <a:ext cx="4621835" cy="658368"/>
          </a:xfrm>
          <a:prstGeom prst="rect">
            <a:avLst/>
          </a:prstGeom>
          <a:noFill/>
          <a:ln/>
        </p:spPr>
        <p:txBody>
          <a:bodyPr wrap="square" lIns="0" tIns="0" rIns="0" bIns="0" rtlCol="0" anchor="ctr"/>
          <a:lstStyle/>
          <a:p>
            <a:pPr indent="0" marL="0">
              <a:buNone/>
            </a:pPr>
            <a:r>
              <a:rPr lang="en-US" sz="3400" b="1" dirty="0">
                <a:solidFill>
                  <a:srgbClr val="F0C05A"/>
                </a:solidFill>
                <a:latin typeface="Arial" pitchFamily="34" charset="0"/>
                <a:ea typeface="Arial" pitchFamily="34" charset="-122"/>
                <a:cs typeface="Arial" pitchFamily="34" charset="-120"/>
              </a:rPr>
              <a:t>232,000</a:t>
            </a:r>
            <a:r>
              <a:rPr lang="en-US" sz="1400" b="1" dirty="0">
                <a:solidFill>
                  <a:srgbClr val="F0C05A"/>
                </a:solidFill>
                <a:latin typeface="Yu Gothic" pitchFamily="34" charset="0"/>
                <a:ea typeface="Yu Gothic" pitchFamily="34" charset="-122"/>
                <a:cs typeface="Yu Gothic" pitchFamily="34" charset="-120"/>
              </a:rPr>
              <a:t> 円／月</a:t>
            </a:r>
            <a:endParaRPr lang="en-US" sz="3400" dirty="0"/>
          </a:p>
        </p:txBody>
      </p:sp>
      <p:sp>
        <p:nvSpPr>
          <p:cNvPr id="28" name="Text 24"/>
          <p:cNvSpPr/>
          <p:nvPr/>
        </p:nvSpPr>
        <p:spPr>
          <a:xfrm>
            <a:off x="971093" y="5181122"/>
            <a:ext cx="4621835" cy="25603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償却前営業利益</a:t>
            </a:r>
            <a:endParaRPr lang="en-US" sz="1200" dirty="0"/>
          </a:p>
        </p:txBody>
      </p:sp>
      <p:sp>
        <p:nvSpPr>
          <p:cNvPr id="29" name="Text 25"/>
          <p:cNvSpPr/>
          <p:nvPr/>
        </p:nvSpPr>
        <p:spPr>
          <a:xfrm>
            <a:off x="971093" y="5510306"/>
            <a:ext cx="4621835" cy="73152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月の家賃280,000円を支払った上で確保しています。地方都市の駅前立地で、学生からビジネスマンまで幅広い層を獲得。</a:t>
            </a:r>
            <a:endParaRPr lang="en-US" sz="1050" dirty="0"/>
          </a:p>
        </p:txBody>
      </p:sp>
      <p:sp>
        <p:nvSpPr>
          <p:cNvPr id="30" name="Shape 26"/>
          <p:cNvSpPr/>
          <p:nvPr/>
        </p:nvSpPr>
        <p:spPr>
          <a:xfrm>
            <a:off x="6287872" y="2492654"/>
            <a:ext cx="5243627" cy="3566160"/>
          </a:xfrm>
          <a:prstGeom prst="roundRect">
            <a:avLst>
              <a:gd name="adj" fmla="val 1538"/>
            </a:avLst>
          </a:prstGeom>
          <a:solidFill>
            <a:srgbClr val="FFFFFF"/>
          </a:solidFill>
          <a:ln w="9525">
            <a:solidFill>
              <a:srgbClr val="EFEAE0"/>
            </a:solidFill>
            <a:prstDash val="solid"/>
          </a:ln>
        </p:spPr>
      </p:sp>
      <p:sp>
        <p:nvSpPr>
          <p:cNvPr id="31" name="Text 27"/>
          <p:cNvSpPr/>
          <p:nvPr/>
        </p:nvSpPr>
        <p:spPr>
          <a:xfrm>
            <a:off x="6562192"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8"/>
          <p:cNvSpPr/>
          <p:nvPr/>
        </p:nvSpPr>
        <p:spPr>
          <a:xfrm>
            <a:off x="6562192" y="2986430"/>
            <a:ext cx="4694987"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1日約80杯ペースでの稼働</a:t>
            </a:r>
            <a:endParaRPr lang="en-US" sz="1800" dirty="0"/>
          </a:p>
        </p:txBody>
      </p:sp>
      <p:sp>
        <p:nvSpPr>
          <p:cNvPr id="33" name="Text 29"/>
          <p:cNvSpPr/>
          <p:nvPr/>
        </p:nvSpPr>
        <p:spPr>
          <a:xfrm>
            <a:off x="6562192" y="3425342"/>
            <a:ext cx="4694987" cy="274320"/>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1回の利用で2〜3時間、2杯程度購入する傾向があります。</a:t>
            </a:r>
            <a:endParaRPr lang="en-US" sz="1050" dirty="0"/>
          </a:p>
        </p:txBody>
      </p:sp>
      <p:sp>
        <p:nvSpPr>
          <p:cNvPr id="34" name="Shape 30"/>
          <p:cNvSpPr/>
          <p:nvPr/>
        </p:nvSpPr>
        <p:spPr>
          <a:xfrm>
            <a:off x="6562192" y="3809390"/>
            <a:ext cx="4694987" cy="10058"/>
          </a:xfrm>
          <a:prstGeom prst="rect">
            <a:avLst/>
          </a:prstGeom>
          <a:solidFill>
            <a:srgbClr val="EFEAE0"/>
          </a:solidFill>
          <a:ln/>
        </p:spPr>
      </p:sp>
      <p:sp>
        <p:nvSpPr>
          <p:cNvPr id="35" name="Text 31"/>
          <p:cNvSpPr/>
          <p:nvPr/>
        </p:nvSpPr>
        <p:spPr>
          <a:xfrm>
            <a:off x="6562192" y="3973982"/>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6" name="Text 32"/>
          <p:cNvSpPr/>
          <p:nvPr/>
        </p:nvSpPr>
        <p:spPr>
          <a:xfrm>
            <a:off x="8299552" y="3973982"/>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7" name="Shape 33"/>
          <p:cNvSpPr/>
          <p:nvPr/>
        </p:nvSpPr>
        <p:spPr>
          <a:xfrm>
            <a:off x="6562192" y="4321454"/>
            <a:ext cx="4694987" cy="10058"/>
          </a:xfrm>
          <a:prstGeom prst="rect">
            <a:avLst/>
          </a:prstGeom>
          <a:solidFill>
            <a:srgbClr val="EFEAE0"/>
          </a:solidFill>
          <a:ln/>
        </p:spPr>
      </p:sp>
      <p:sp>
        <p:nvSpPr>
          <p:cNvPr id="38" name="Text 34"/>
          <p:cNvSpPr/>
          <p:nvPr/>
        </p:nvSpPr>
        <p:spPr>
          <a:xfrm>
            <a:off x="6562192" y="4376318"/>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9" name="Text 35"/>
          <p:cNvSpPr/>
          <p:nvPr/>
        </p:nvSpPr>
        <p:spPr>
          <a:xfrm>
            <a:off x="8299552" y="4376318"/>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40" name="Shape 36"/>
          <p:cNvSpPr/>
          <p:nvPr/>
        </p:nvSpPr>
        <p:spPr>
          <a:xfrm>
            <a:off x="6562192" y="4723790"/>
            <a:ext cx="4694987" cy="10058"/>
          </a:xfrm>
          <a:prstGeom prst="rect">
            <a:avLst/>
          </a:prstGeom>
          <a:solidFill>
            <a:srgbClr val="EFEAE0"/>
          </a:solidFill>
          <a:ln/>
        </p:spPr>
      </p:sp>
      <p:sp>
        <p:nvSpPr>
          <p:cNvPr id="41" name="Text 37"/>
          <p:cNvSpPr/>
          <p:nvPr/>
        </p:nvSpPr>
        <p:spPr>
          <a:xfrm>
            <a:off x="6562192" y="4778654"/>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2" name="Text 38"/>
          <p:cNvSpPr/>
          <p:nvPr/>
        </p:nvSpPr>
        <p:spPr>
          <a:xfrm>
            <a:off x="8299552" y="4778654"/>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43" name="Shape 39"/>
          <p:cNvSpPr/>
          <p:nvPr/>
        </p:nvSpPr>
        <p:spPr>
          <a:xfrm>
            <a:off x="6562192" y="5126126"/>
            <a:ext cx="4694987" cy="10058"/>
          </a:xfrm>
          <a:prstGeom prst="rect">
            <a:avLst/>
          </a:prstGeom>
          <a:solidFill>
            <a:srgbClr val="EFEAE0"/>
          </a:solidFill>
          <a:ln/>
        </p:spPr>
      </p:sp>
      <p:sp>
        <p:nvSpPr>
          <p:cNvPr id="44" name="Text 40"/>
          <p:cNvSpPr/>
          <p:nvPr/>
        </p:nvSpPr>
        <p:spPr>
          <a:xfrm>
            <a:off x="6562192" y="5180990"/>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5" name="Text 41"/>
          <p:cNvSpPr/>
          <p:nvPr/>
        </p:nvSpPr>
        <p:spPr>
          <a:xfrm>
            <a:off x="8299552" y="5180990"/>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46" name="Shape 42"/>
          <p:cNvSpPr/>
          <p:nvPr/>
        </p:nvSpPr>
        <p:spPr>
          <a:xfrm>
            <a:off x="6562192" y="5528462"/>
            <a:ext cx="4694987" cy="10058"/>
          </a:xfrm>
          <a:prstGeom prst="rect">
            <a:avLst/>
          </a:prstGeom>
          <a:solidFill>
            <a:srgbClr val="EFEAE0"/>
          </a:solidFill>
          <a:ln/>
        </p:spPr>
      </p:sp>
      <p:sp>
        <p:nvSpPr>
          <p:cNvPr id="47" name="Text 43"/>
          <p:cNvSpPr/>
          <p:nvPr/>
        </p:nvSpPr>
        <p:spPr>
          <a:xfrm>
            <a:off x="6562192" y="5583326"/>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月間売上高</a:t>
            </a:r>
            <a:endParaRPr lang="en-US" sz="1000" dirty="0"/>
          </a:p>
        </p:txBody>
      </p:sp>
      <p:sp>
        <p:nvSpPr>
          <p:cNvPr id="48" name="Text 44"/>
          <p:cNvSpPr/>
          <p:nvPr/>
        </p:nvSpPr>
        <p:spPr>
          <a:xfrm>
            <a:off x="8299552" y="5583326"/>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960,000円</a:t>
            </a:r>
            <a:endParaRPr lang="en-US" sz="1250" dirty="0"/>
          </a:p>
        </p:txBody>
      </p:sp>
      <p:sp>
        <p:nvSpPr>
          <p:cNvPr id="49" name="Text 45"/>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31</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2026-08-26T06:44:43Z</dcterms:created>
  <dcterms:modified xsi:type="dcterms:W3CDTF">2026-08-26T06:44:43Z</dcterms:modified>
</cp:coreProperties>
</file>