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areaChart>
        <c:varyColors val="0"/>
        <c:ser>
          <c:idx val="0"/>
          <c:order val="0"/>
          <c:tx>
            <c:strRef>
              <c:f>Sheet1!$B$1</c:f>
              <c:strCache>
                <c:ptCount val="1"/>
                <c:pt idx="0">
                  <c:v>累計店舗数</c:v>
                </c:pt>
              </c:strCache>
            </c:strRef>
          </c:tx>
          <c:spPr>
            <a:solidFill>
              <a:srgbClr val="2E7D32">
                <a:alpha val="34000"/>
              </a:srgbClr>
            </a:solidFill>
            <a:ln w="9525" cap="flat">
              <a:solidFill>
                <a:srgbClr val="2E7D3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Sheet1!$A$2:$A$48</c:f>
              <c:multiLvlStrCache>
                <c:ptCount val="47"/>
                <c:lvl>
                  <c:pt idx="0">
                    <c:v>2022.09</c:v>
                  </c:pt>
                  <c:pt idx="1">
                    <c:v/>
                  </c:pt>
                  <c:pt idx="2">
                    <c:v/>
                  </c:pt>
                  <c:pt idx="3">
                    <c:v/>
                  </c:pt>
                  <c:pt idx="4">
                    <c:v/>
                  </c:pt>
                  <c:pt idx="5">
                    <c:v/>
                  </c:pt>
                  <c:pt idx="6">
                    <c:v/>
                  </c:pt>
                  <c:pt idx="7">
                    <c:v/>
                  </c:pt>
                  <c:pt idx="8">
                    <c:v/>
                  </c:pt>
                  <c:pt idx="9">
                    <c:v/>
                  </c:pt>
                  <c:pt idx="10">
                    <c:v/>
                  </c:pt>
                  <c:pt idx="11">
                    <c:v/>
                  </c:pt>
                  <c:pt idx="12">
                    <c:v>2023.09</c:v>
                  </c:pt>
                  <c:pt idx="13">
                    <c:v/>
                  </c:pt>
                  <c:pt idx="14">
                    <c:v/>
                  </c:pt>
                  <c:pt idx="15">
                    <c:v/>
                  </c:pt>
                  <c:pt idx="16">
                    <c:v/>
                  </c:pt>
                  <c:pt idx="17">
                    <c:v/>
                  </c:pt>
                  <c:pt idx="18">
                    <c:v/>
                  </c:pt>
                  <c:pt idx="19">
                    <c:v/>
                  </c:pt>
                  <c:pt idx="20">
                    <c:v/>
                  </c:pt>
                  <c:pt idx="21">
                    <c:v/>
                  </c:pt>
                  <c:pt idx="22">
                    <c:v/>
                  </c:pt>
                  <c:pt idx="23">
                    <c:v/>
                  </c:pt>
                  <c:pt idx="24">
                    <c:v>2024.09</c:v>
                  </c:pt>
                  <c:pt idx="25">
                    <c:v/>
                  </c:pt>
                  <c:pt idx="26">
                    <c:v/>
                  </c:pt>
                  <c:pt idx="27">
                    <c:v/>
                  </c:pt>
                  <c:pt idx="28">
                    <c:v/>
                  </c:pt>
                  <c:pt idx="29">
                    <c:v/>
                  </c:pt>
                  <c:pt idx="30">
                    <c:v/>
                  </c:pt>
                  <c:pt idx="31">
                    <c:v/>
                  </c:pt>
                  <c:pt idx="32">
                    <c:v/>
                  </c:pt>
                  <c:pt idx="33">
                    <c:v/>
                  </c:pt>
                  <c:pt idx="34">
                    <c:v/>
                  </c:pt>
                  <c:pt idx="35">
                    <c:v/>
                  </c:pt>
                  <c:pt idx="36">
                    <c:v>2025.09</c:v>
                  </c:pt>
                  <c:pt idx="37">
                    <c:v/>
                  </c:pt>
                  <c:pt idx="38">
                    <c:v/>
                  </c:pt>
                  <c:pt idx="39">
                    <c:v/>
                  </c:pt>
                  <c:pt idx="40">
                    <c:v/>
                  </c:pt>
                  <c:pt idx="41">
                    <c:v/>
                  </c:pt>
                  <c:pt idx="42">
                    <c:v/>
                  </c:pt>
                  <c:pt idx="43">
                    <c:v/>
                  </c:pt>
                  <c:pt idx="44">
                    <c:v/>
                  </c:pt>
                  <c:pt idx="45">
                    <c:v/>
                  </c:pt>
                  <c:pt idx="46">
                    <c:v>2026.07</c:v>
                  </c:pt>
                </c:lvl>
              </c:multiLvlStrCache>
            </c:multiLvlStrRef>
          </c:cat>
          <c:val>
            <c:numRef>
              <c:f>Sheet1!$B$2:$B$48</c:f>
              <c:numCache>
                <c:formatCode>General</c:formatCode>
                <c:ptCount val="47"/>
                <c:pt idx="0">
                  <c:v>1</c:v>
                </c:pt>
                <c:pt idx="1">
                  <c:v>1</c:v>
                </c:pt>
                <c:pt idx="2">
                  <c:v>1</c:v>
                </c:pt>
                <c:pt idx="3">
                  <c:v>1</c:v>
                </c:pt>
                <c:pt idx="4">
                  <c:v>1</c:v>
                </c:pt>
                <c:pt idx="5">
                  <c:v>1</c:v>
                </c:pt>
                <c:pt idx="6">
                  <c:v>1</c:v>
                </c:pt>
                <c:pt idx="7">
                  <c:v>1</c:v>
                </c:pt>
                <c:pt idx="8">
                  <c:v>1</c:v>
                </c:pt>
                <c:pt idx="9">
                  <c:v>1</c:v>
                </c:pt>
                <c:pt idx="10">
                  <c:v>1</c:v>
                </c:pt>
                <c:pt idx="11">
                  <c:v>1</c:v>
                </c:pt>
                <c:pt idx="12">
                  <c:v>2</c:v>
                </c:pt>
                <c:pt idx="13">
                  <c:v>4</c:v>
                </c:pt>
                <c:pt idx="14">
                  <c:v>8</c:v>
                </c:pt>
                <c:pt idx="15">
                  <c:v>8</c:v>
                </c:pt>
                <c:pt idx="16">
                  <c:v>9</c:v>
                </c:pt>
                <c:pt idx="17">
                  <c:v>9</c:v>
                </c:pt>
                <c:pt idx="18">
                  <c:v>12</c:v>
                </c:pt>
                <c:pt idx="19">
                  <c:v>17</c:v>
                </c:pt>
                <c:pt idx="20">
                  <c:v>19</c:v>
                </c:pt>
                <c:pt idx="21">
                  <c:v>21</c:v>
                </c:pt>
                <c:pt idx="22">
                  <c:v>22</c:v>
                </c:pt>
                <c:pt idx="23">
                  <c:v>23</c:v>
                </c:pt>
                <c:pt idx="24">
                  <c:v>23</c:v>
                </c:pt>
                <c:pt idx="25">
                  <c:v>25</c:v>
                </c:pt>
                <c:pt idx="26">
                  <c:v>28</c:v>
                </c:pt>
                <c:pt idx="27">
                  <c:v>31</c:v>
                </c:pt>
                <c:pt idx="28">
                  <c:v>32</c:v>
                </c:pt>
                <c:pt idx="29">
                  <c:v>34</c:v>
                </c:pt>
                <c:pt idx="30">
                  <c:v>39</c:v>
                </c:pt>
                <c:pt idx="31">
                  <c:v>42</c:v>
                </c:pt>
                <c:pt idx="32">
                  <c:v>44</c:v>
                </c:pt>
                <c:pt idx="33">
                  <c:v>44</c:v>
                </c:pt>
                <c:pt idx="34">
                  <c:v>46</c:v>
                </c:pt>
                <c:pt idx="35">
                  <c:v>47</c:v>
                </c:pt>
                <c:pt idx="36">
                  <c:v>48</c:v>
                </c:pt>
                <c:pt idx="37">
                  <c:v>48</c:v>
                </c:pt>
                <c:pt idx="38">
                  <c:v>50</c:v>
                </c:pt>
                <c:pt idx="39">
                  <c:v>50</c:v>
                </c:pt>
                <c:pt idx="40">
                  <c:v>51</c:v>
                </c:pt>
                <c:pt idx="41">
                  <c:v>55</c:v>
                </c:pt>
                <c:pt idx="42">
                  <c:v>58</c:v>
                </c:pt>
                <c:pt idx="43">
                  <c:v>61</c:v>
                </c:pt>
                <c:pt idx="44">
                  <c:v>64</c:v>
                </c:pt>
                <c:pt idx="45">
                  <c:v>67</c:v>
                </c:pt>
                <c:pt idx="46">
                  <c:v>71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axId val="2094734554"/>
        <c:axId val="2094734552"/>
        <c:axId val="2094734556"/>
      </c:areaChart>
      <c:catAx>
        <c:axId val="2094734554"/>
        <c:scaling>
          <c:orientation val="minMax"/>
        </c:scaling>
        <c:delete val="0"/>
        <c:axPos val="b"/>
        <c:numFmt formatCode="General" sourceLinked="1"/>
        <c:majorTickMark val="out"/>
        <c:minorTickMark val="none"/>
        <c:tickLblPos val="low"/>
        <c:spPr>
          <a:ln w="12700" cap="flat">
            <a:solidFill>
              <a:srgbClr val="E9DEC4"/>
            </a:solidFill>
            <a:prstDash val="solid"/>
            <a:round/>
          </a:ln>
        </c:spPr>
        <c:txPr>
          <a:bodyPr/>
          <a:lstStyle/>
          <a:p>
            <a:pPr>
              <a:defRPr sz="1000" b="0" i="0" u="none" strike="noStrike">
                <a:solidFill>
                  <a:srgbClr val="6E6A61"/>
                </a:solidFill>
                <a:latin typeface="Arial"/>
              </a:defRPr>
            </a:pPr>
            <a:endParaRPr lang="en-US"/>
          </a:p>
        </c:txPr>
        <c:crossAx val="2094734552"/>
        <c:crosses val="autoZero"/>
        <c:auto val="1"/>
        <c:lblAlgn val="ctr"/>
        <c:noMultiLvlLbl val="1"/>
        <c:tickLblSkip val="1"/>
      </c:catAx>
      <c:valAx>
        <c:axId val="2094734552"/>
        <c:scaling>
          <c:orientation val="minMax"/>
          <c:max val="75"/>
          <c:min val="0"/>
        </c:scaling>
        <c:delete val="0"/>
        <c:axPos val="l"/>
        <c:majorGridlines>
          <c:spPr>
            <a:ln w="9525" cap="flat">
              <a:solidFill>
                <a:srgbClr val="E6DFCD"/>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9A948A"/>
                </a:solidFill>
                <a:latin typeface="Arial"/>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月間利用者数（人・左軸）</c:v>
                </c:pt>
              </c:strCache>
            </c:strRef>
          </c:tx>
          <c:spPr>
            <a:solidFill>
              <a:srgbClr val="2E7D32"/>
            </a:solidFill>
            <a:effectLst/>
          </c:spPr>
          <c:invertIfNegative val="0"/>
          <c:dLbls>
            <c:numFmt formatCode="#,##0" sourceLinked="0"/>
            <c:txPr>
              <a:bodyPr/>
              <a:lstStyle/>
              <a:p>
                <a:pPr>
                  <a:defRPr b="0" i="0" strike="noStrike" sz="900" u="none">
                    <a:solidFill>
                      <a:srgbClr val="1B5E20"/>
                    </a:solidFill>
                    <a:latin typeface="Arial"/>
                  </a:defRPr>
                </a:pPr>
              </a:p>
            </c:txPr>
            <c:dLblPos val="outEnd"/>
            <c:showLegendKey val="0"/>
            <c:showVal val="1"/>
            <c:showCatName val="0"/>
            <c:showSerName val="0"/>
            <c:showPercent val="0"/>
            <c:showBubbleSize val="0"/>
            <c:showLeaderLines val="0"/>
          </c:dLbls>
          <c:cat>
            <c:multiLvlStrRef>
              <c:f>Sheet1!$A$2:$A$9</c:f>
              <c:multiLvlStrCache>
                <c:ptCount val="8"/>
                <c:lvl>
                  <c:pt idx="0">
                    <c:v>2023.01</c:v>
                  </c:pt>
                  <c:pt idx="1">
                    <c:v>2023.07</c:v>
                  </c:pt>
                  <c:pt idx="2">
                    <c:v>2024.01</c:v>
                  </c:pt>
                  <c:pt idx="3">
                    <c:v>2024.07</c:v>
                  </c:pt>
                  <c:pt idx="4">
                    <c:v>2025.01</c:v>
                  </c:pt>
                  <c:pt idx="5">
                    <c:v>2025.07</c:v>
                  </c:pt>
                  <c:pt idx="6">
                    <c:v>2026.01</c:v>
                  </c:pt>
                  <c:pt idx="7">
                    <c:v>2026.07</c:v>
                  </c:pt>
                </c:lvl>
              </c:multiLvlStrCache>
            </c:multiLvlStrRef>
          </c:cat>
          <c:val>
            <c:numRef>
              <c:f>Sheet1!$B$2:$B$9</c:f>
              <c:numCache>
                <c:formatCode>General</c:formatCode>
                <c:ptCount val="8"/>
                <c:pt idx="0">
                  <c:v>895</c:v>
                </c:pt>
                <c:pt idx="1">
                  <c:v>1419</c:v>
                </c:pt>
                <c:pt idx="2">
                  <c:v>9722</c:v>
                </c:pt>
                <c:pt idx="3">
                  <c:v>26383</c:v>
                </c:pt>
                <c:pt idx="4">
                  <c:v>46017</c:v>
                </c:pt>
                <c:pt idx="5">
                  <c:v>74260</c:v>
                </c:pt>
                <c:pt idx="6">
                  <c:v>80293</c:v>
                </c:pt>
                <c:pt idx="7">
                  <c:v>101343</c:v>
                </c:pt>
              </c:numCache>
            </c:numRef>
          </c:val>
        </c:ser>
        <c:dLbls>
          <c:numFmt formatCode="#,##0" sourceLinked="0"/>
          <c:txPr>
            <a:bodyPr/>
            <a:lstStyle/>
            <a:p>
              <a:pPr>
                <a:defRPr b="0" i="0" strike="noStrike" sz="900" u="none">
                  <a:solidFill>
                    <a:srgbClr val="1B5E20"/>
                  </a:solidFill>
                  <a:latin typeface="Arial"/>
                </a:defRPr>
              </a:pPr>
            </a:p>
          </c:txPr>
          <c:dLblPos val="outEnd"/>
          <c:showLegendKey val="0"/>
          <c:showVal val="1"/>
          <c:showCatName val="0"/>
          <c:showSerName val="0"/>
          <c:showPercent val="0"/>
          <c:showBubbleSize val="0"/>
          <c:showLeaderLines val="0"/>
        </c:dLbls>
        <c:gapWidth val="36"/>
        <c:overlap val="0"/>
        <c:axId val="2094734554"/>
        <c:axId val="2094734552"/>
        <c:axId val="2094734556"/>
      </c:barChart>
      <c:lineChart>
        <c:varyColors val="0"/>
        <c:ser>
          <c:idx val="1"/>
          <c:order val="1"/>
          <c:tx>
            <c:strRef>
              <c:f>Sheet1!$C$1</c:f>
              <c:strCache>
                <c:ptCount val="1"/>
                <c:pt idx="0">
                  <c:v>累計店舗数（店・右軸）</c:v>
                </c:pt>
              </c:strCache>
            </c:strRef>
          </c:tx>
          <c:spPr>
            <a:solidFill>
              <a:srgbClr val="B8893B"/>
            </a:solidFill>
            <a:ln w="31750" cap="flat">
              <a:solidFill>
                <a:srgbClr val="B8893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B8893B"/>
              </a:solidFill>
              <a:ln w="1.25" cap="flat">
                <a:solidFill>
                  <a:srgbClr val="B8893B"/>
                </a:solidFill>
                <a:prstDash val="solid"/>
                <a:round/>
              </a:ln>
              <a:effectLst/>
            </c:spPr>
          </c:marker>
          <c:cat>
            <c:multiLvlStrRef>
              <c:f>Sheet1!$A$2:$A$9</c:f>
              <c:multiLvlStrCache>
                <c:ptCount val="8"/>
                <c:lvl>
                  <c:pt idx="0">
                    <c:v>2023.01</c:v>
                  </c:pt>
                  <c:pt idx="1">
                    <c:v>2023.07</c:v>
                  </c:pt>
                  <c:pt idx="2">
                    <c:v>2024.01</c:v>
                  </c:pt>
                  <c:pt idx="3">
                    <c:v>2024.07</c:v>
                  </c:pt>
                  <c:pt idx="4">
                    <c:v>2025.01</c:v>
                  </c:pt>
                  <c:pt idx="5">
                    <c:v>2025.07</c:v>
                  </c:pt>
                  <c:pt idx="6">
                    <c:v>2026.01</c:v>
                  </c:pt>
                  <c:pt idx="7">
                    <c:v>2026.07</c:v>
                  </c:pt>
                </c:lvl>
              </c:multiLvlStrCache>
            </c:multiLvlStrRef>
          </c:cat>
          <c:val>
            <c:numRef>
              <c:f>Sheet1!$C$2:$C$9</c:f>
              <c:numCache>
                <c:formatCode>General</c:formatCode>
                <c:ptCount val="8"/>
                <c:pt idx="0">
                  <c:v>1</c:v>
                </c:pt>
                <c:pt idx="1">
                  <c:v>1</c:v>
                </c:pt>
                <c:pt idx="2">
                  <c:v>9</c:v>
                </c:pt>
                <c:pt idx="3">
                  <c:v>22</c:v>
                </c:pt>
                <c:pt idx="4">
                  <c:v>32</c:v>
                </c:pt>
                <c:pt idx="5">
                  <c:v>46</c:v>
                </c:pt>
                <c:pt idx="6">
                  <c:v>51</c:v>
                </c:pt>
                <c:pt idx="7">
                  <c:v>71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5"/>
        <c:axId val="2094734553"/>
        <c:axId val="2094734556"/>
      </c:lineChart>
      <c:catAx>
        <c:axId val="2094734554"/>
        <c:scaling>
          <c:orientation val="minMax"/>
        </c:scaling>
        <c:delete val="0"/>
        <c:axPos val="b"/>
        <c:numFmt formatCode="General" sourceLinked="1"/>
        <c:majorTickMark val="out"/>
        <c:minorTickMark val="none"/>
        <c:tickLblPos val="low"/>
        <c:spPr>
          <a:ln w="12700" cap="flat">
            <a:solidFill>
              <a:srgbClr val="E9DEC4"/>
            </a:solidFill>
            <a:prstDash val="solid"/>
            <a:round/>
          </a:ln>
        </c:spPr>
        <c:txPr>
          <a:bodyPr/>
          <a:lstStyle/>
          <a:p>
            <a:pPr>
              <a:defRPr sz="1000" b="0" i="0" u="none" strike="noStrike">
                <a:solidFill>
                  <a:srgbClr val="6E6A61"/>
                </a:solidFill>
                <a:latin typeface="Arial"/>
              </a:defRPr>
            </a:pPr>
            <a:endParaRPr lang="en-US"/>
          </a:p>
        </c:txPr>
        <c:crossAx val="2094734552"/>
        <c:crosses val="autoZero"/>
        <c:auto val="1"/>
        <c:lblAlgn val="ctr"/>
        <c:noMultiLvlLbl val="1"/>
      </c:catAx>
      <c:valAx>
        <c:axId val="2094734552"/>
        <c:scaling>
          <c:orientation val="minMax"/>
          <c:max val="110000"/>
          <c:min val="0"/>
        </c:scaling>
        <c:delete val="0"/>
        <c:axPos val="l"/>
        <c:majorGridlines>
          <c:spPr>
            <a:ln w="9525" cap="flat">
              <a:solidFill>
                <a:srgbClr val="E6DFCD"/>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9A948A"/>
                </a:solidFill>
                <a:latin typeface="Arial"/>
              </a:defRPr>
            </a:pPr>
            <a:endParaRPr lang="en-US"/>
          </a:p>
        </c:txPr>
        <c:crossAx val="2094734554"/>
        <c:crosses val="autoZero"/>
        <c:crossBetween val="between"/>
        <c:majorUnit val="55000"/>
      </c:valAx>
      <c:valAx>
        <c:axId val="2094734553"/>
        <c:scaling>
          <c:orientation val="minMax"/>
          <c:max val="75"/>
          <c:min val="0"/>
        </c:scaling>
        <c:delete val="0"/>
        <c:axPos val="r"/>
        <c:numFmt formatCode="General" sourceLinked="0"/>
        <c:majorTickMark val="out"/>
        <c:minorTickMark val="none"/>
        <c:tickLblPos val="nextTo"/>
        <c:spPr>
          <a:ln w="12700" cap="flat">
            <a:noFill/>
            <a:prstDash val="solid"/>
            <a:round/>
          </a:ln>
        </c:spPr>
        <c:txPr>
          <a:bodyPr/>
          <a:lstStyle/>
          <a:p>
            <a:pPr>
              <a:defRPr sz="1000" b="0" i="0" u="none" strike="noStrike">
                <a:solidFill>
                  <a:srgbClr val="9A948A"/>
                </a:solidFill>
                <a:latin typeface="Arial"/>
              </a:defRPr>
            </a:pPr>
            <a:endParaRPr lang="en-US"/>
          </a:p>
        </c:txPr>
        <c:crossAx val="2094734555"/>
        <c:crosses val="max"/>
        <c:crossBetween val="between"/>
        <c:majorUnit val="25"/>
      </c:valAx>
      <c:catAx>
        <c:axId val="2094734555"/>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3"/>
        <c:crosses val="autoZero"/>
        <c:auto val="1"/>
        <c:lblAlgn val="ctr"/>
        <c:noMultiLvlLbl val="1"/>
      </c:catAx>
      <c:spPr>
        <a:noFill/>
        <a:ln>
          <a:noFill/>
        </a:ln>
        <a:effectLst/>
      </c:spPr>
    </c:plotArea>
    <c:legend>
      <c:legendPos val="t"/>
      <c:overlay val="0"/>
      <c:txPr>
        <a:bodyPr/>
        <a:lstStyle/>
        <a:p>
          <a:pPr>
            <a:defRPr sz="1000">
              <a:solidFill>
                <a:srgbClr val="6E6A61"/>
              </a:solidFill>
              <a:latin typeface="Noto Sans JP"/>
              <a:cs typeface="Noto Sans JP"/>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構成比</c:v>
                </c:pt>
              </c:strCache>
            </c:strRef>
          </c:tx>
          <c:spPr>
            <a:solidFill>
              <a:srgbClr val="A9C6AC"/>
            </a:solidFill>
            <a:effectLst/>
          </c:spPr>
          <c:invertIfNegative val="0"/>
          <c:dLbls>
            <c:numFmt formatCode="0&quot;%&quot;" sourceLinked="0"/>
            <c:txPr>
              <a:bodyPr/>
              <a:lstStyle/>
              <a:p>
                <a:pPr>
                  <a:defRPr b="0" i="0" strike="noStrike" sz="1000" u="none">
                    <a:solidFill>
                      <a:srgbClr val="1B5E20"/>
                    </a:solidFill>
                    <a:latin typeface="Arial"/>
                  </a:defRPr>
                </a:pPr>
              </a:p>
            </c:txPr>
            <c:showLegendKey val="0"/>
            <c:showVal val="1"/>
            <c:showCatName val="0"/>
            <c:showSerName val="0"/>
            <c:showPercent val="0"/>
            <c:showBubbleSize val="0"/>
            <c:showLeaderLines val="0"/>
          </c:dLbls>
          <c:dPt>
            <c:idx val="0"/>
            <c:invertIfNegative val="0"/>
            <c:bubble3D val="0"/>
            <c:spPr>
              <a:solidFill>
                <a:srgbClr val="A9C6AC"/>
              </a:solidFill>
              <a:effectLst/>
            </c:spPr>
          </c:dPt>
          <c:dPt>
            <c:idx val="1"/>
            <c:invertIfNegative val="0"/>
            <c:bubble3D val="0"/>
            <c:spPr>
              <a:solidFill>
                <a:srgbClr val="1B5E20"/>
              </a:solidFill>
              <a:effectLst/>
            </c:spPr>
          </c:dPt>
          <c:dPt>
            <c:idx val="2"/>
            <c:invertIfNegative val="0"/>
            <c:bubble3D val="0"/>
            <c:spPr>
              <a:solidFill>
                <a:srgbClr val="1B5E20"/>
              </a:solidFill>
              <a:effectLst/>
            </c:spPr>
          </c:dPt>
          <c:dPt>
            <c:idx val="3"/>
            <c:invertIfNegative val="0"/>
            <c:bubble3D val="0"/>
            <c:spPr>
              <a:solidFill>
                <a:srgbClr val="2E7D32"/>
              </a:solidFill>
              <a:effectLst/>
            </c:spPr>
          </c:dPt>
          <c:dPt>
            <c:idx val="4"/>
            <c:invertIfNegative val="0"/>
            <c:bubble3D val="0"/>
            <c:spPr>
              <a:solidFill>
                <a:srgbClr val="2E7D32"/>
              </a:solidFill>
              <a:effectLst/>
            </c:spPr>
          </c:dPt>
          <c:dPt>
            <c:idx val="5"/>
            <c:invertIfNegative val="0"/>
            <c:bubble3D val="0"/>
            <c:spPr>
              <a:solidFill>
                <a:srgbClr val="E9DEC4"/>
              </a:solidFill>
              <a:effectLst/>
            </c:spPr>
          </c:dPt>
          <c:dPt>
            <c:idx val="6"/>
            <c:invertIfNegative val="0"/>
            <c:bubble3D val="0"/>
            <c:spPr>
              <a:solidFill>
                <a:srgbClr val="E9DEC4"/>
              </a:solidFill>
              <a:effectLst/>
            </c:spPr>
          </c:dPt>
          <c:cat>
            <c:multiLvlStrRef>
              <c:f>Sheet1!$A$2:$A$8</c:f>
              <c:multiLvlStrCache>
                <c:ptCount val="7"/>
                <c:lvl>
                  <c:pt idx="0">
                    <c:v>〜14</c:v>
                  </c:pt>
                  <c:pt idx="1">
                    <c:v>15〜19</c:v>
                  </c:pt>
                  <c:pt idx="2">
                    <c:v>20〜29</c:v>
                  </c:pt>
                  <c:pt idx="3">
                    <c:v>30〜39</c:v>
                  </c:pt>
                  <c:pt idx="4">
                    <c:v>40〜49</c:v>
                  </c:pt>
                  <c:pt idx="5">
                    <c:v>50〜59</c:v>
                  </c:pt>
                  <c:pt idx="6">
                    <c:v>60〜</c:v>
                  </c:pt>
                </c:lvl>
              </c:multiLvlStrCache>
            </c:multiLvlStrRef>
          </c:cat>
          <c:val>
            <c:numRef>
              <c:f>Sheet1!$B$2:$B$8</c:f>
              <c:numCache>
                <c:formatCode>General</c:formatCode>
                <c:ptCount val="7"/>
                <c:pt idx="0">
                  <c:v>3</c:v>
                </c:pt>
                <c:pt idx="1">
                  <c:v>24</c:v>
                </c:pt>
                <c:pt idx="2">
                  <c:v>29</c:v>
                </c:pt>
                <c:pt idx="3">
                  <c:v>16</c:v>
                </c:pt>
                <c:pt idx="4">
                  <c:v>13</c:v>
                </c:pt>
                <c:pt idx="5">
                  <c:v>4</c:v>
                </c:pt>
                <c:pt idx="6">
                  <c:v>1</c:v>
                </c:pt>
              </c:numCache>
            </c:numRef>
          </c:val>
        </c:ser>
        <c:dLbls>
          <c:numFmt formatCode="0&quot;%&quot;" sourceLinked="0"/>
          <c:txPr>
            <a:bodyPr/>
            <a:lstStyle/>
            <a:p>
              <a:pPr>
                <a:defRPr b="0" i="0" strike="noStrike" sz="1000" u="none">
                  <a:solidFill>
                    <a:srgbClr val="1B5E2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E9DEC4"/>
            </a:solidFill>
            <a:prstDash val="solid"/>
            <a:round/>
          </a:ln>
        </c:spPr>
        <c:txPr>
          <a:bodyPr/>
          <a:lstStyle/>
          <a:p>
            <a:pPr>
              <a:defRPr sz="1000" b="0" i="0" u="none" strike="noStrike">
                <a:solidFill>
                  <a:srgbClr val="6E6A61"/>
                </a:solidFill>
                <a:latin typeface="Arial"/>
              </a:defRPr>
            </a:pPr>
            <a:endParaRPr lang="en-US"/>
          </a:p>
        </c:txPr>
        <c:crossAx val="2094734552"/>
        <c:crosses val="autoZero"/>
        <c:auto val="1"/>
        <c:lblAlgn val="ctr"/>
        <c:noMultiLvlLbl val="1"/>
      </c:catAx>
      <c:valAx>
        <c:axId val="2094734552"/>
        <c:scaling>
          <c:orientation val="minMax"/>
          <c:max val="36"/>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利用目的</c:v>
                </c:pt>
              </c:strCache>
            </c:strRef>
          </c:tx>
          <c:spPr>
            <a:solidFill>
              <a:schemeClr val="accent1"/>
            </a:solidFill>
            <a:ln w="9525" cap="flat">
              <a:solidFill>
                <a:srgbClr val="F9F9F9"/>
              </a:solidFill>
              <a:prstDash val="solid"/>
              <a:round/>
            </a:ln>
            <a:effectLst/>
          </c:spPr>
          <c:dPt>
            <c:idx val="0"/>
            <c:bubble3D val="0"/>
            <c:spPr>
              <a:solidFill>
                <a:srgbClr val="1B5E20"/>
              </a:solidFill>
              <a:effectLst/>
            </c:spPr>
          </c:dPt>
          <c:dPt>
            <c:idx val="1"/>
            <c:bubble3D val="0"/>
            <c:spPr>
              <a:solidFill>
                <a:srgbClr val="B8893B"/>
              </a:solidFill>
              <a:effectLst/>
            </c:spPr>
          </c:dPt>
          <c:dPt>
            <c:idx val="2"/>
            <c:bubble3D val="0"/>
            <c:spPr>
              <a:solidFill>
                <a:srgbClr val="A9C6AC"/>
              </a:solidFill>
              <a:effectLst/>
            </c:spPr>
          </c:dPt>
          <c:dPt>
            <c:idx val="3"/>
            <c:bubble3D val="0"/>
            <c:spPr>
              <a:solidFill>
                <a:srgbClr val="E9DEC4"/>
              </a:solidFill>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勉強 62.6%</c:v>
                </c:pt>
                <c:pt idx="1">
                  <c:v>休憩・雑談 22.8%</c:v>
                </c:pt>
                <c:pt idx="2">
                  <c:v>仕事・打ち合わせ 13.0%</c:v>
                </c:pt>
                <c:pt idx="3">
                  <c:v>その他 1.6%</c:v>
                </c:pt>
              </c:strCache>
            </c:strRef>
          </c:cat>
          <c:val>
            <c:numRef>
              <c:f>Sheet1!$B$2:$B$5</c:f>
              <c:numCache>
                <c:ptCount val="4"/>
                <c:pt idx="0">
                  <c:v>62.6</c:v>
                </c:pt>
                <c:pt idx="1">
                  <c:v>22.8</c:v>
                </c:pt>
                <c:pt idx="2">
                  <c:v>13</c:v>
                </c:pt>
                <c:pt idx="3">
                  <c:v>1.6</c:v>
                </c:pt>
              </c:numCache>
            </c:numRef>
          </c:val>
        </c:ser>
        <c:firstSliceAng val="0"/>
        <c:holeSize val="56"/>
      </c:doughnutChart>
      <c:spPr>
        <a:noFill/>
        <a:ln>
          <a:noFill/>
        </a:ln>
        <a:effectLst/>
      </c:spPr>
    </c:plotArea>
    <c:legend>
      <c:legendPos val="b"/>
      <c:overlay val="0"/>
      <c:txPr>
        <a:bodyPr/>
        <a:lstStyle/>
        <a:p>
          <a:pPr>
            <a:defRPr sz="1000">
              <a:solidFill>
                <a:srgbClr val="6E6A61"/>
              </a:solidFill>
              <a:latin typeface="Noto Sans JP"/>
              <a:cs typeface="Noto Sans JP"/>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5.png"/><Relationship Id="rId7" Type="http://schemas.openxmlformats.org/officeDocument/2006/relationships/image" Target="../media/image-1-5.png"/><Relationship Id="rId8" Type="http://schemas.openxmlformats.org/officeDocument/2006/relationships/image" Target="../media/image-1-5.png"/><Relationship Id="rId9" Type="http://schemas.openxmlformats.org/officeDocument/2006/relationships/slideLayout" Target="../slideLayouts/slideLayout1.xml"/><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jp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9-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10-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3.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slideLayout" Target="../slideLayouts/slideLayout1.xml"/><Relationship Id="rId1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chart" Target="/ppt/charts/chart3.xml"/><Relationship Id="rId5" Type="http://schemas.openxmlformats.org/officeDocument/2006/relationships/chart" Target="/ppt/charts/chart4.xml"/><Relationship Id="rId1" Type="http://schemas.openxmlformats.org/officeDocument/2006/relationships/image" Target="../media/image-12-1.png"/><Relationship Id="rId2" Type="http://schemas.openxmlformats.org/officeDocument/2006/relationships/image" Target="../media/image-12-2.png"/><Relationship Id="rId4" Type="http://schemas.openxmlformats.org/officeDocument/2006/relationships/image" Target="../media/image-12-3.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jpg"/><Relationship Id="rId3" Type="http://schemas.openxmlformats.org/officeDocument/2006/relationships/image" Target="../media/image-13-3.jpg"/><Relationship Id="rId4" Type="http://schemas.openxmlformats.org/officeDocument/2006/relationships/image" Target="../media/image-13-4.jpg"/><Relationship Id="rId5" Type="http://schemas.openxmlformats.org/officeDocument/2006/relationships/image" Target="../media/image-13-5.jpg"/><Relationship Id="rId6" Type="http://schemas.openxmlformats.org/officeDocument/2006/relationships/image" Target="../media/image-13-6.jpg"/><Relationship Id="rId7" Type="http://schemas.openxmlformats.org/officeDocument/2006/relationships/image" Target="../media/image-13-7.jp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jpg"/><Relationship Id="rId3" Type="http://schemas.openxmlformats.org/officeDocument/2006/relationships/image" Target="../media/image-14-3.jpg"/><Relationship Id="rId4" Type="http://schemas.openxmlformats.org/officeDocument/2006/relationships/image" Target="../media/image-14-4.jpg"/><Relationship Id="rId5" Type="http://schemas.openxmlformats.org/officeDocument/2006/relationships/image" Target="../media/image-14-5.jpg"/><Relationship Id="rId6" Type="http://schemas.openxmlformats.org/officeDocument/2006/relationships/image" Target="../media/image-14-6.jpg"/><Relationship Id="rId7" Type="http://schemas.openxmlformats.org/officeDocument/2006/relationships/image" Target="../media/image-14-7.jpg"/><Relationship Id="rId8" Type="http://schemas.openxmlformats.org/officeDocument/2006/relationships/slideLayout" Target="../slideLayouts/slideLayout1.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3.png"/><Relationship Id="rId5" Type="http://schemas.openxmlformats.org/officeDocument/2006/relationships/image" Target="../media/image-16-3.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slideLayout" Target="../slideLayouts/slideLayout1.xml"/><Relationship Id="rId11"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jpg"/><Relationship Id="rId7" Type="http://schemas.openxmlformats.org/officeDocument/2006/relationships/image" Target="../media/image-17-7.png"/><Relationship Id="rId8" Type="http://schemas.openxmlformats.org/officeDocument/2006/relationships/slideLayout" Target="../slideLayouts/slideLayout1.xml"/><Relationship Id="rId9"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jpg"/><Relationship Id="rId4" Type="http://schemas.openxmlformats.org/officeDocument/2006/relationships/image" Target="../media/image-21-4.jp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3.png"/><Relationship Id="rId5" Type="http://schemas.openxmlformats.org/officeDocument/2006/relationships/image" Target="../media/image-23-3.png"/><Relationship Id="rId6" Type="http://schemas.openxmlformats.org/officeDocument/2006/relationships/image" Target="../media/image-23-3.png"/><Relationship Id="rId7" Type="http://schemas.openxmlformats.org/officeDocument/2006/relationships/image" Target="../media/image-23-3.png"/><Relationship Id="rId8" Type="http://schemas.openxmlformats.org/officeDocument/2006/relationships/image" Target="../media/image-23-8.png"/><Relationship Id="rId9" Type="http://schemas.openxmlformats.org/officeDocument/2006/relationships/image" Target="../media/image-23-3.png"/><Relationship Id="rId10" Type="http://schemas.openxmlformats.org/officeDocument/2006/relationships/image" Target="../media/image-23-3.png"/><Relationship Id="rId11" Type="http://schemas.openxmlformats.org/officeDocument/2006/relationships/image" Target="../media/image-23-3.png"/><Relationship Id="rId12" Type="http://schemas.openxmlformats.org/officeDocument/2006/relationships/image" Target="../media/image-23-3.png"/><Relationship Id="rId13" Type="http://schemas.openxmlformats.org/officeDocument/2006/relationships/image" Target="../media/image-23-3.png"/><Relationship Id="rId14" Type="http://schemas.openxmlformats.org/officeDocument/2006/relationships/image" Target="../media/image-23-3.png"/><Relationship Id="rId15" Type="http://schemas.openxmlformats.org/officeDocument/2006/relationships/image" Target="../media/image-23-15.png"/><Relationship Id="rId16" Type="http://schemas.openxmlformats.org/officeDocument/2006/relationships/slideLayout" Target="../slideLayouts/slideLayout1.xml"/><Relationship Id="rId1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slideLayout" Target="../slideLayouts/slideLayout1.xml"/><Relationship Id="rId9"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jpg"/><Relationship Id="rId6" Type="http://schemas.openxmlformats.org/officeDocument/2006/relationships/slideLayout" Target="../slideLayouts/slideLayout1.xml"/><Relationship Id="rId7"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401A"/>
        </a:solidFill>
      </p:bgPr>
    </p:bg>
    <p:spTree>
      <p:nvGrpSpPr>
        <p:cNvPr id="1" name=""/>
        <p:cNvGrpSpPr/>
        <p:nvPr/>
      </p:nvGrpSpPr>
      <p:grpSpPr>
        <a:xfrm>
          <a:off x="0" y="0"/>
          <a:ext cx="0" cy="0"/>
          <a:chOff x="0" y="0"/>
          <a:chExt cx="0" cy="0"/>
        </a:xfrm>
      </p:grpSpPr>
      <p:pic>
        <p:nvPicPr>
          <p:cNvPr id="2" name="Image 0" descr="/home/user/suzuki-ceo/selfcafe-fc-deck/assets/logo_white.png">    </p:cNvPr>
          <p:cNvPicPr>
            <a:picLocks noChangeAspect="1"/>
          </p:cNvPicPr>
          <p:nvPr/>
        </p:nvPicPr>
        <p:blipFill>
          <a:blip r:embed="rId1"/>
          <a:stretch>
            <a:fillRect/>
          </a:stretch>
        </p:blipFill>
        <p:spPr>
          <a:xfrm>
            <a:off x="822960" y="658368"/>
            <a:ext cx="2432304" cy="345643"/>
          </a:xfrm>
          <a:prstGeom prst="rect">
            <a:avLst/>
          </a:prstGeom>
        </p:spPr>
      </p:pic>
      <p:sp>
        <p:nvSpPr>
          <p:cNvPr id="3" name="Text 0"/>
          <p:cNvSpPr/>
          <p:nvPr/>
        </p:nvSpPr>
        <p:spPr>
          <a:xfrm>
            <a:off x="822960" y="1481328"/>
            <a:ext cx="8229600" cy="932688"/>
          </a:xfrm>
          <a:prstGeom prst="rect">
            <a:avLst/>
          </a:prstGeom>
          <a:noFill/>
          <a:ln/>
        </p:spPr>
        <p:txBody>
          <a:bodyPr wrap="square" lIns="0" tIns="0" rIns="0" bIns="0" rtlCol="0" anchor="ctr"/>
          <a:lstStyle/>
          <a:p>
            <a:pPr indent="0" marL="0">
              <a:buNone/>
            </a:pPr>
            <a:r>
              <a:rPr lang="en-US" sz="5200" b="1" dirty="0">
                <a:solidFill>
                  <a:srgbClr val="FFFFFF"/>
                </a:solidFill>
                <a:latin typeface="Noto Sans JP" pitchFamily="34" charset="0"/>
                <a:ea typeface="Noto Sans JP" pitchFamily="34" charset="-122"/>
                <a:cs typeface="Noto Sans JP" pitchFamily="34" charset="-120"/>
              </a:rPr>
              <a:t>業務委託型制度</a:t>
            </a:r>
            <a:endParaRPr lang="en-US" sz="5200" dirty="0"/>
          </a:p>
        </p:txBody>
      </p:sp>
      <p:sp>
        <p:nvSpPr>
          <p:cNvPr id="4" name="Text 1"/>
          <p:cNvSpPr/>
          <p:nvPr/>
        </p:nvSpPr>
        <p:spPr>
          <a:xfrm>
            <a:off x="822960" y="2450592"/>
            <a:ext cx="8229600" cy="274320"/>
          </a:xfrm>
          <a:prstGeom prst="rect">
            <a:avLst/>
          </a:prstGeom>
          <a:noFill/>
          <a:ln/>
        </p:spPr>
        <p:txBody>
          <a:bodyPr wrap="square" lIns="0" tIns="0" rIns="0" bIns="0" rtlCol="0" anchor="ctr"/>
          <a:lstStyle/>
          <a:p>
            <a:pPr indent="0" marL="0">
              <a:buNone/>
            </a:pPr>
            <a:r>
              <a:rPr lang="en-US" sz="1200" b="1" spc="400" kern="0" dirty="0">
                <a:solidFill>
                  <a:srgbClr val="A9C6AC"/>
                </a:solidFill>
                <a:latin typeface="Arial" pitchFamily="34" charset="0"/>
                <a:ea typeface="Arial" pitchFamily="34" charset="-122"/>
                <a:cs typeface="Arial" pitchFamily="34" charset="-120"/>
              </a:rPr>
              <a:t>PARTNER PROGRAM</a:t>
            </a:r>
            <a:endParaRPr lang="en-US" sz="1200" dirty="0"/>
          </a:p>
        </p:txBody>
      </p:sp>
      <p:sp>
        <p:nvSpPr>
          <p:cNvPr id="5" name="Text 2"/>
          <p:cNvSpPr/>
          <p:nvPr/>
        </p:nvSpPr>
        <p:spPr>
          <a:xfrm>
            <a:off x="822960" y="2816352"/>
            <a:ext cx="8595360" cy="347472"/>
          </a:xfrm>
          <a:prstGeom prst="rect">
            <a:avLst/>
          </a:prstGeom>
          <a:noFill/>
          <a:ln/>
        </p:spPr>
        <p:txBody>
          <a:bodyPr wrap="square" lIns="0" tIns="0" rIns="0" bIns="0" rtlCol="0" anchor="ctr"/>
          <a:lstStyle/>
          <a:p>
            <a:pPr indent="0" marL="0">
              <a:buNone/>
            </a:pPr>
            <a:r>
              <a:rPr lang="en-US" sz="1600" dirty="0">
                <a:solidFill>
                  <a:srgbClr val="FFFFFF"/>
                </a:solidFill>
                <a:latin typeface="Noto Sans JP" pitchFamily="34" charset="0"/>
                <a:ea typeface="Noto Sans JP" pitchFamily="34" charset="-122"/>
                <a:cs typeface="Noto Sans JP" pitchFamily="34" charset="-120"/>
              </a:rPr>
              <a:t>場所をご提供いただくだけ。運営は本部が担う、新しいパートナー制度。</a:t>
            </a:r>
            <a:endParaRPr lang="en-US" sz="1600" dirty="0"/>
          </a:p>
        </p:txBody>
      </p:sp>
      <p:sp>
        <p:nvSpPr>
          <p:cNvPr id="6" name="Shape 3"/>
          <p:cNvSpPr/>
          <p:nvPr/>
        </p:nvSpPr>
        <p:spPr>
          <a:xfrm>
            <a:off x="822960" y="3364992"/>
            <a:ext cx="1514246" cy="457200"/>
          </a:xfrm>
          <a:prstGeom prst="roundRect">
            <a:avLst>
              <a:gd name="adj" fmla="val 50000"/>
            </a:avLst>
          </a:prstGeom>
          <a:solidFill>
            <a:srgbClr val="1D5624"/>
          </a:solidFill>
          <a:ln w="9525">
            <a:solidFill>
              <a:srgbClr val="3E7A45"/>
            </a:solidFill>
            <a:prstDash val="solid"/>
          </a:ln>
        </p:spPr>
      </p:sp>
      <p:pic>
        <p:nvPicPr>
          <p:cNvPr id="7" name="Image 1" descr="/home/user/suzuki-ceo/selfcafe-fc-deck/assets/icons/LuStore-white.png">    </p:cNvPr>
          <p:cNvPicPr>
            <a:picLocks noChangeAspect="1"/>
          </p:cNvPicPr>
          <p:nvPr/>
        </p:nvPicPr>
        <p:blipFill>
          <a:blip r:embed="rId2"/>
          <a:stretch>
            <a:fillRect/>
          </a:stretch>
        </p:blipFill>
        <p:spPr>
          <a:xfrm>
            <a:off x="1005840" y="3488436"/>
            <a:ext cx="210312" cy="210312"/>
          </a:xfrm>
          <a:prstGeom prst="rect">
            <a:avLst/>
          </a:prstGeom>
        </p:spPr>
      </p:pic>
      <p:sp>
        <p:nvSpPr>
          <p:cNvPr id="8" name="Text 4"/>
          <p:cNvSpPr/>
          <p:nvPr/>
        </p:nvSpPr>
        <p:spPr>
          <a:xfrm>
            <a:off x="1298448" y="3364992"/>
            <a:ext cx="947318" cy="457200"/>
          </a:xfrm>
          <a:prstGeom prst="rect">
            <a:avLst/>
          </a:prstGeom>
          <a:noFill/>
          <a:ln/>
        </p:spPr>
        <p:txBody>
          <a:bodyPr wrap="square" lIns="0" tIns="0" rIns="0" bIns="0" rtlCol="0" anchor="ctr"/>
          <a:lstStyle/>
          <a:p>
            <a:pPr indent="0" marL="0">
              <a:buNone/>
            </a:pPr>
            <a:r>
              <a:rPr lang="en-US" sz="1150" b="1" dirty="0">
                <a:solidFill>
                  <a:srgbClr val="FFFFFF"/>
                </a:solidFill>
                <a:latin typeface="Noto Sans JP" pitchFamily="34" charset="0"/>
                <a:ea typeface="Noto Sans JP" pitchFamily="34" charset="-122"/>
                <a:cs typeface="Noto Sans JP" pitchFamily="34" charset="-120"/>
              </a:rPr>
              <a:t>全国71店舗</a:t>
            </a:r>
            <a:endParaRPr lang="en-US" sz="1150" dirty="0"/>
          </a:p>
        </p:txBody>
      </p:sp>
      <p:sp>
        <p:nvSpPr>
          <p:cNvPr id="9" name="Shape 5"/>
          <p:cNvSpPr/>
          <p:nvPr/>
        </p:nvSpPr>
        <p:spPr>
          <a:xfrm>
            <a:off x="2520086" y="3364992"/>
            <a:ext cx="2576779" cy="457200"/>
          </a:xfrm>
          <a:prstGeom prst="roundRect">
            <a:avLst>
              <a:gd name="adj" fmla="val 50000"/>
            </a:avLst>
          </a:prstGeom>
          <a:solidFill>
            <a:srgbClr val="1D5624"/>
          </a:solidFill>
          <a:ln w="9525">
            <a:solidFill>
              <a:srgbClr val="3E7A45"/>
            </a:solidFill>
            <a:prstDash val="solid"/>
          </a:ln>
        </p:spPr>
      </p:sp>
      <p:pic>
        <p:nvPicPr>
          <p:cNvPr id="10" name="Image 2" descr="/home/user/suzuki-ceo/selfcafe-fc-deck/assets/icons/LuCoins-white.png">    </p:cNvPr>
          <p:cNvPicPr>
            <a:picLocks noChangeAspect="1"/>
          </p:cNvPicPr>
          <p:nvPr/>
        </p:nvPicPr>
        <p:blipFill>
          <a:blip r:embed="rId3"/>
          <a:stretch>
            <a:fillRect/>
          </a:stretch>
        </p:blipFill>
        <p:spPr>
          <a:xfrm>
            <a:off x="2702966" y="3488436"/>
            <a:ext cx="210312" cy="210312"/>
          </a:xfrm>
          <a:prstGeom prst="rect">
            <a:avLst/>
          </a:prstGeom>
        </p:spPr>
      </p:pic>
      <p:sp>
        <p:nvSpPr>
          <p:cNvPr id="11" name="Text 6"/>
          <p:cNvSpPr/>
          <p:nvPr/>
        </p:nvSpPr>
        <p:spPr>
          <a:xfrm>
            <a:off x="2995574" y="3364992"/>
            <a:ext cx="2009851" cy="457200"/>
          </a:xfrm>
          <a:prstGeom prst="rect">
            <a:avLst/>
          </a:prstGeom>
          <a:noFill/>
          <a:ln/>
        </p:spPr>
        <p:txBody>
          <a:bodyPr wrap="square" lIns="0" tIns="0" rIns="0" bIns="0" rtlCol="0" anchor="ctr"/>
          <a:lstStyle/>
          <a:p>
            <a:pPr indent="0" marL="0">
              <a:buNone/>
            </a:pPr>
            <a:r>
              <a:rPr lang="en-US" sz="1150" b="1" dirty="0">
                <a:solidFill>
                  <a:srgbClr val="FFFFFF"/>
                </a:solidFill>
                <a:latin typeface="Noto Sans JP" pitchFamily="34" charset="0"/>
                <a:ea typeface="Noto Sans JP" pitchFamily="34" charset="-122"/>
                <a:cs typeface="Noto Sans JP" pitchFamily="34" charset="-120"/>
              </a:rPr>
              <a:t>初期費用 30万〜50万円</a:t>
            </a:r>
            <a:endParaRPr lang="en-US" sz="1150" dirty="0"/>
          </a:p>
        </p:txBody>
      </p:sp>
      <p:sp>
        <p:nvSpPr>
          <p:cNvPr id="12" name="Shape 7"/>
          <p:cNvSpPr/>
          <p:nvPr/>
        </p:nvSpPr>
        <p:spPr>
          <a:xfrm>
            <a:off x="5279746" y="3364992"/>
            <a:ext cx="2121408" cy="457200"/>
          </a:xfrm>
          <a:prstGeom prst="roundRect">
            <a:avLst>
              <a:gd name="adj" fmla="val 50000"/>
            </a:avLst>
          </a:prstGeom>
          <a:solidFill>
            <a:srgbClr val="1D5624"/>
          </a:solidFill>
          <a:ln w="9525">
            <a:solidFill>
              <a:srgbClr val="3E7A45"/>
            </a:solidFill>
            <a:prstDash val="solid"/>
          </a:ln>
        </p:spPr>
      </p:sp>
      <p:pic>
        <p:nvPicPr>
          <p:cNvPr id="13" name="Image 3" descr="/home/user/suzuki-ceo/selfcafe-fc-deck/assets/icons/LuTimer-white.png">    </p:cNvPr>
          <p:cNvPicPr>
            <a:picLocks noChangeAspect="1"/>
          </p:cNvPicPr>
          <p:nvPr/>
        </p:nvPicPr>
        <p:blipFill>
          <a:blip r:embed="rId4"/>
          <a:stretch>
            <a:fillRect/>
          </a:stretch>
        </p:blipFill>
        <p:spPr>
          <a:xfrm>
            <a:off x="5462626" y="3488436"/>
            <a:ext cx="210312" cy="210312"/>
          </a:xfrm>
          <a:prstGeom prst="rect">
            <a:avLst/>
          </a:prstGeom>
        </p:spPr>
      </p:pic>
      <p:sp>
        <p:nvSpPr>
          <p:cNvPr id="14" name="Text 8"/>
          <p:cNvSpPr/>
          <p:nvPr/>
        </p:nvSpPr>
        <p:spPr>
          <a:xfrm>
            <a:off x="5755234" y="3364992"/>
            <a:ext cx="1554480" cy="457200"/>
          </a:xfrm>
          <a:prstGeom prst="rect">
            <a:avLst/>
          </a:prstGeom>
          <a:noFill/>
          <a:ln/>
        </p:spPr>
        <p:txBody>
          <a:bodyPr wrap="square" lIns="0" tIns="0" rIns="0" bIns="0" rtlCol="0" anchor="ctr"/>
          <a:lstStyle/>
          <a:p>
            <a:pPr indent="0" marL="0">
              <a:buNone/>
            </a:pPr>
            <a:r>
              <a:rPr lang="en-US" sz="1150" b="1" dirty="0">
                <a:solidFill>
                  <a:srgbClr val="FFFFFF"/>
                </a:solidFill>
                <a:latin typeface="Noto Sans JP" pitchFamily="34" charset="0"/>
                <a:ea typeface="Noto Sans JP" pitchFamily="34" charset="-122"/>
                <a:cs typeface="Noto Sans JP" pitchFamily="34" charset="-120"/>
              </a:rPr>
              <a:t>1日15分程度の運営</a:t>
            </a:r>
            <a:endParaRPr lang="en-US" sz="1150" dirty="0"/>
          </a:p>
        </p:txBody>
      </p:sp>
      <p:sp>
        <p:nvSpPr>
          <p:cNvPr id="15" name="Shape 9"/>
          <p:cNvSpPr/>
          <p:nvPr/>
        </p:nvSpPr>
        <p:spPr>
          <a:xfrm>
            <a:off x="0" y="4169664"/>
            <a:ext cx="3006776" cy="2688336"/>
          </a:xfrm>
          <a:prstGeom prst="rect">
            <a:avLst/>
          </a:prstGeom>
          <a:solidFill>
            <a:srgbClr val="FAF3E3"/>
          </a:solidFill>
          <a:ln/>
        </p:spPr>
      </p:sp>
      <p:pic>
        <p:nvPicPr>
          <p:cNvPr id="16" name="Image 4" descr="/home/user/suzuki-ceo/selfcafe-fc-deck/assets/icons/LuImage-muted.png">    </p:cNvPr>
          <p:cNvPicPr>
            <a:picLocks noChangeAspect="1"/>
          </p:cNvPicPr>
          <p:nvPr/>
        </p:nvPicPr>
        <p:blipFill>
          <a:blip r:embed="rId5"/>
          <a:stretch>
            <a:fillRect/>
          </a:stretch>
        </p:blipFill>
        <p:spPr>
          <a:xfrm>
            <a:off x="1229068" y="4828032"/>
            <a:ext cx="548640" cy="548640"/>
          </a:xfrm>
          <a:prstGeom prst="rect">
            <a:avLst/>
          </a:prstGeom>
        </p:spPr>
      </p:pic>
      <p:sp>
        <p:nvSpPr>
          <p:cNvPr id="17" name="Text 10"/>
          <p:cNvSpPr/>
          <p:nvPr/>
        </p:nvSpPr>
        <p:spPr>
          <a:xfrm>
            <a:off x="91440" y="5449824"/>
            <a:ext cx="2823896" cy="219456"/>
          </a:xfrm>
          <a:prstGeom prst="rect">
            <a:avLst/>
          </a:prstGeom>
          <a:noFill/>
          <a:ln/>
        </p:spPr>
        <p:txBody>
          <a:bodyPr wrap="square" lIns="0" tIns="0" rIns="0" bIns="0" rtlCol="0" anchor="ctr"/>
          <a:lstStyle/>
          <a:p>
            <a:pPr algn="ctr" indent="0" marL="0">
              <a:buNone/>
            </a:pPr>
            <a:r>
              <a:rPr lang="en-US" sz="1000" dirty="0">
                <a:solidFill>
                  <a:srgbClr val="9A948A"/>
                </a:solidFill>
                <a:latin typeface="Noto Sans JP" pitchFamily="34" charset="0"/>
                <a:ea typeface="Noto Sans JP" pitchFamily="34" charset="-122"/>
                <a:cs typeface="Noto Sans JP" pitchFamily="34" charset="-120"/>
              </a:rPr>
              <a:t>写真を挿入</a:t>
            </a:r>
            <a:endParaRPr lang="en-US" sz="1000" dirty="0"/>
          </a:p>
        </p:txBody>
      </p:sp>
      <p:sp>
        <p:nvSpPr>
          <p:cNvPr id="18" name="Text 11"/>
          <p:cNvSpPr/>
          <p:nvPr/>
        </p:nvSpPr>
        <p:spPr>
          <a:xfrm>
            <a:off x="91440" y="5687568"/>
            <a:ext cx="2823896" cy="274320"/>
          </a:xfrm>
          <a:prstGeom prst="rect">
            <a:avLst/>
          </a:prstGeom>
          <a:noFill/>
          <a:ln/>
        </p:spPr>
        <p:txBody>
          <a:bodyPr wrap="square" lIns="0" tIns="0" rIns="0" bIns="0" rtlCol="0" anchor="ctr"/>
          <a:lstStyle/>
          <a:p>
            <a:pPr algn="ctr" indent="0" marL="0">
              <a:buNone/>
            </a:pPr>
            <a:r>
              <a:rPr lang="en-US" sz="1150" b="1" dirty="0">
                <a:solidFill>
                  <a:srgbClr val="5D4037"/>
                </a:solidFill>
                <a:latin typeface="Noto Sans JP" pitchFamily="34" charset="0"/>
                <a:ea typeface="Noto Sans JP" pitchFamily="34" charset="-122"/>
                <a:cs typeface="Noto Sans JP" pitchFamily="34" charset="-120"/>
              </a:rPr>
              <a:t>店舗外観</a:t>
            </a:r>
            <a:endParaRPr lang="en-US" sz="1150" dirty="0"/>
          </a:p>
        </p:txBody>
      </p:sp>
      <p:sp>
        <p:nvSpPr>
          <p:cNvPr id="19" name="Shape 12"/>
          <p:cNvSpPr/>
          <p:nvPr/>
        </p:nvSpPr>
        <p:spPr>
          <a:xfrm>
            <a:off x="3061640" y="4169664"/>
            <a:ext cx="3006776" cy="2688336"/>
          </a:xfrm>
          <a:prstGeom prst="rect">
            <a:avLst/>
          </a:prstGeom>
          <a:solidFill>
            <a:srgbClr val="FAF3E3"/>
          </a:solidFill>
          <a:ln/>
        </p:spPr>
      </p:sp>
      <p:pic>
        <p:nvPicPr>
          <p:cNvPr id="20" name="Image 5" descr="/home/user/suzuki-ceo/selfcafe-fc-deck/assets/icons/LuImage-muted.png">    </p:cNvPr>
          <p:cNvPicPr>
            <a:picLocks noChangeAspect="1"/>
          </p:cNvPicPr>
          <p:nvPr/>
        </p:nvPicPr>
        <p:blipFill>
          <a:blip r:embed="rId6"/>
          <a:stretch>
            <a:fillRect/>
          </a:stretch>
        </p:blipFill>
        <p:spPr>
          <a:xfrm>
            <a:off x="4290708" y="4828032"/>
            <a:ext cx="548640" cy="548640"/>
          </a:xfrm>
          <a:prstGeom prst="rect">
            <a:avLst/>
          </a:prstGeom>
        </p:spPr>
      </p:pic>
      <p:sp>
        <p:nvSpPr>
          <p:cNvPr id="21" name="Text 13"/>
          <p:cNvSpPr/>
          <p:nvPr/>
        </p:nvSpPr>
        <p:spPr>
          <a:xfrm>
            <a:off x="3153080" y="5449824"/>
            <a:ext cx="2823896" cy="219456"/>
          </a:xfrm>
          <a:prstGeom prst="rect">
            <a:avLst/>
          </a:prstGeom>
          <a:noFill/>
          <a:ln/>
        </p:spPr>
        <p:txBody>
          <a:bodyPr wrap="square" lIns="0" tIns="0" rIns="0" bIns="0" rtlCol="0" anchor="ctr"/>
          <a:lstStyle/>
          <a:p>
            <a:pPr algn="ctr" indent="0" marL="0">
              <a:buNone/>
            </a:pPr>
            <a:r>
              <a:rPr lang="en-US" sz="1000" dirty="0">
                <a:solidFill>
                  <a:srgbClr val="9A948A"/>
                </a:solidFill>
                <a:latin typeface="Noto Sans JP" pitchFamily="34" charset="0"/>
                <a:ea typeface="Noto Sans JP" pitchFamily="34" charset="-122"/>
                <a:cs typeface="Noto Sans JP" pitchFamily="34" charset="-120"/>
              </a:rPr>
              <a:t>写真を挿入</a:t>
            </a:r>
            <a:endParaRPr lang="en-US" sz="1000" dirty="0"/>
          </a:p>
        </p:txBody>
      </p:sp>
      <p:sp>
        <p:nvSpPr>
          <p:cNvPr id="22" name="Text 14"/>
          <p:cNvSpPr/>
          <p:nvPr/>
        </p:nvSpPr>
        <p:spPr>
          <a:xfrm>
            <a:off x="3153080" y="5687568"/>
            <a:ext cx="2823896" cy="274320"/>
          </a:xfrm>
          <a:prstGeom prst="rect">
            <a:avLst/>
          </a:prstGeom>
          <a:noFill/>
          <a:ln/>
        </p:spPr>
        <p:txBody>
          <a:bodyPr wrap="square" lIns="0" tIns="0" rIns="0" bIns="0" rtlCol="0" anchor="ctr"/>
          <a:lstStyle/>
          <a:p>
            <a:pPr algn="ctr" indent="0" marL="0">
              <a:buNone/>
            </a:pPr>
            <a:r>
              <a:rPr lang="en-US" sz="1150" b="1" dirty="0">
                <a:solidFill>
                  <a:srgbClr val="5D4037"/>
                </a:solidFill>
                <a:latin typeface="Noto Sans JP" pitchFamily="34" charset="0"/>
                <a:ea typeface="Noto Sans JP" pitchFamily="34" charset="-122"/>
                <a:cs typeface="Noto Sans JP" pitchFamily="34" charset="-120"/>
              </a:rPr>
              <a:t>店内（席・照明）</a:t>
            </a:r>
            <a:endParaRPr lang="en-US" sz="1150" dirty="0"/>
          </a:p>
        </p:txBody>
      </p:sp>
      <p:sp>
        <p:nvSpPr>
          <p:cNvPr id="23" name="Shape 15"/>
          <p:cNvSpPr/>
          <p:nvPr/>
        </p:nvSpPr>
        <p:spPr>
          <a:xfrm>
            <a:off x="6123280" y="4169664"/>
            <a:ext cx="3006776" cy="2688336"/>
          </a:xfrm>
          <a:prstGeom prst="rect">
            <a:avLst/>
          </a:prstGeom>
          <a:solidFill>
            <a:srgbClr val="FAF3E3"/>
          </a:solidFill>
          <a:ln/>
        </p:spPr>
      </p:sp>
      <p:pic>
        <p:nvPicPr>
          <p:cNvPr id="24" name="Image 6" descr="/home/user/suzuki-ceo/selfcafe-fc-deck/assets/icons/LuImage-muted.png">    </p:cNvPr>
          <p:cNvPicPr>
            <a:picLocks noChangeAspect="1"/>
          </p:cNvPicPr>
          <p:nvPr/>
        </p:nvPicPr>
        <p:blipFill>
          <a:blip r:embed="rId7"/>
          <a:stretch>
            <a:fillRect/>
          </a:stretch>
        </p:blipFill>
        <p:spPr>
          <a:xfrm>
            <a:off x="7352348" y="4828032"/>
            <a:ext cx="548640" cy="548640"/>
          </a:xfrm>
          <a:prstGeom prst="rect">
            <a:avLst/>
          </a:prstGeom>
        </p:spPr>
      </p:pic>
      <p:sp>
        <p:nvSpPr>
          <p:cNvPr id="25" name="Text 16"/>
          <p:cNvSpPr/>
          <p:nvPr/>
        </p:nvSpPr>
        <p:spPr>
          <a:xfrm>
            <a:off x="6214720" y="5449824"/>
            <a:ext cx="2823896" cy="219456"/>
          </a:xfrm>
          <a:prstGeom prst="rect">
            <a:avLst/>
          </a:prstGeom>
          <a:noFill/>
          <a:ln/>
        </p:spPr>
        <p:txBody>
          <a:bodyPr wrap="square" lIns="0" tIns="0" rIns="0" bIns="0" rtlCol="0" anchor="ctr"/>
          <a:lstStyle/>
          <a:p>
            <a:pPr algn="ctr" indent="0" marL="0">
              <a:buNone/>
            </a:pPr>
            <a:r>
              <a:rPr lang="en-US" sz="1000" dirty="0">
                <a:solidFill>
                  <a:srgbClr val="9A948A"/>
                </a:solidFill>
                <a:latin typeface="Noto Sans JP" pitchFamily="34" charset="0"/>
                <a:ea typeface="Noto Sans JP" pitchFamily="34" charset="-122"/>
                <a:cs typeface="Noto Sans JP" pitchFamily="34" charset="-120"/>
              </a:rPr>
              <a:t>写真を挿入</a:t>
            </a:r>
            <a:endParaRPr lang="en-US" sz="1000" dirty="0"/>
          </a:p>
        </p:txBody>
      </p:sp>
      <p:sp>
        <p:nvSpPr>
          <p:cNvPr id="26" name="Text 17"/>
          <p:cNvSpPr/>
          <p:nvPr/>
        </p:nvSpPr>
        <p:spPr>
          <a:xfrm>
            <a:off x="6214720" y="5687568"/>
            <a:ext cx="2823896" cy="274320"/>
          </a:xfrm>
          <a:prstGeom prst="rect">
            <a:avLst/>
          </a:prstGeom>
          <a:noFill/>
          <a:ln/>
        </p:spPr>
        <p:txBody>
          <a:bodyPr wrap="square" lIns="0" tIns="0" rIns="0" bIns="0" rtlCol="0" anchor="ctr"/>
          <a:lstStyle/>
          <a:p>
            <a:pPr algn="ctr" indent="0" marL="0">
              <a:buNone/>
            </a:pPr>
            <a:r>
              <a:rPr lang="en-US" sz="1150" b="1" dirty="0">
                <a:solidFill>
                  <a:srgbClr val="5D4037"/>
                </a:solidFill>
                <a:latin typeface="Noto Sans JP" pitchFamily="34" charset="0"/>
                <a:ea typeface="Noto Sans JP" pitchFamily="34" charset="-122"/>
                <a:cs typeface="Noto Sans JP" pitchFamily="34" charset="-120"/>
              </a:rPr>
              <a:t>ドリンクマシン</a:t>
            </a:r>
            <a:endParaRPr lang="en-US" sz="1150" dirty="0"/>
          </a:p>
        </p:txBody>
      </p:sp>
      <p:sp>
        <p:nvSpPr>
          <p:cNvPr id="27" name="Shape 18"/>
          <p:cNvSpPr/>
          <p:nvPr/>
        </p:nvSpPr>
        <p:spPr>
          <a:xfrm>
            <a:off x="9184919" y="4169664"/>
            <a:ext cx="3006776" cy="2688336"/>
          </a:xfrm>
          <a:prstGeom prst="rect">
            <a:avLst/>
          </a:prstGeom>
          <a:solidFill>
            <a:srgbClr val="FAF3E3"/>
          </a:solidFill>
          <a:ln/>
        </p:spPr>
      </p:sp>
      <p:pic>
        <p:nvPicPr>
          <p:cNvPr id="28" name="Image 7" descr="/home/user/suzuki-ceo/selfcafe-fc-deck/assets/icons/LuImage-muted.png">    </p:cNvPr>
          <p:cNvPicPr>
            <a:picLocks noChangeAspect="1"/>
          </p:cNvPicPr>
          <p:nvPr/>
        </p:nvPicPr>
        <p:blipFill>
          <a:blip r:embed="rId8"/>
          <a:stretch>
            <a:fillRect/>
          </a:stretch>
        </p:blipFill>
        <p:spPr>
          <a:xfrm>
            <a:off x="10413987" y="4828032"/>
            <a:ext cx="548640" cy="548640"/>
          </a:xfrm>
          <a:prstGeom prst="rect">
            <a:avLst/>
          </a:prstGeom>
        </p:spPr>
      </p:pic>
      <p:sp>
        <p:nvSpPr>
          <p:cNvPr id="29" name="Text 19"/>
          <p:cNvSpPr/>
          <p:nvPr/>
        </p:nvSpPr>
        <p:spPr>
          <a:xfrm>
            <a:off x="9276359" y="5449824"/>
            <a:ext cx="2823896" cy="219456"/>
          </a:xfrm>
          <a:prstGeom prst="rect">
            <a:avLst/>
          </a:prstGeom>
          <a:noFill/>
          <a:ln/>
        </p:spPr>
        <p:txBody>
          <a:bodyPr wrap="square" lIns="0" tIns="0" rIns="0" bIns="0" rtlCol="0" anchor="ctr"/>
          <a:lstStyle/>
          <a:p>
            <a:pPr algn="ctr" indent="0" marL="0">
              <a:buNone/>
            </a:pPr>
            <a:r>
              <a:rPr lang="en-US" sz="1000" dirty="0">
                <a:solidFill>
                  <a:srgbClr val="9A948A"/>
                </a:solidFill>
                <a:latin typeface="Noto Sans JP" pitchFamily="34" charset="0"/>
                <a:ea typeface="Noto Sans JP" pitchFamily="34" charset="-122"/>
                <a:cs typeface="Noto Sans JP" pitchFamily="34" charset="-120"/>
              </a:rPr>
              <a:t>写真を挿入</a:t>
            </a:r>
            <a:endParaRPr lang="en-US" sz="1000" dirty="0"/>
          </a:p>
        </p:txBody>
      </p:sp>
      <p:sp>
        <p:nvSpPr>
          <p:cNvPr id="30" name="Text 20"/>
          <p:cNvSpPr/>
          <p:nvPr/>
        </p:nvSpPr>
        <p:spPr>
          <a:xfrm>
            <a:off x="9276359" y="5687568"/>
            <a:ext cx="2823896" cy="274320"/>
          </a:xfrm>
          <a:prstGeom prst="rect">
            <a:avLst/>
          </a:prstGeom>
          <a:noFill/>
          <a:ln/>
        </p:spPr>
        <p:txBody>
          <a:bodyPr wrap="square" lIns="0" tIns="0" rIns="0" bIns="0" rtlCol="0" anchor="ctr"/>
          <a:lstStyle/>
          <a:p>
            <a:pPr algn="ctr" indent="0" marL="0">
              <a:buNone/>
            </a:pPr>
            <a:r>
              <a:rPr lang="en-US" sz="1150" b="1" dirty="0">
                <a:solidFill>
                  <a:srgbClr val="5D4037"/>
                </a:solidFill>
                <a:latin typeface="Noto Sans JP" pitchFamily="34" charset="0"/>
                <a:ea typeface="Noto Sans JP" pitchFamily="34" charset="-122"/>
                <a:cs typeface="Noto Sans JP" pitchFamily="34" charset="-120"/>
              </a:rPr>
              <a:t>利用中の店内</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CF5"/>
        </a:solidFill>
      </p:bgPr>
    </p:bg>
    <p:spTree>
      <p:nvGrpSpPr>
        <p:cNvPr id="1" name=""/>
        <p:cNvGrpSpPr/>
        <p:nvPr/>
      </p:nvGrpSpPr>
      <p:grpSpPr>
        <a:xfrm>
          <a:off x="0" y="0"/>
          <a:ext cx="0" cy="0"/>
          <a:chOff x="0" y="0"/>
          <a:chExt cx="0" cy="0"/>
        </a:xfrm>
      </p:grpSpPr>
      <p:sp>
        <p:nvSpPr>
          <p:cNvPr id="2" name="Text 0"/>
          <p:cNvSpPr/>
          <p:nvPr/>
        </p:nvSpPr>
        <p:spPr>
          <a:xfrm>
            <a:off x="666598" y="506578"/>
            <a:ext cx="8503920" cy="384048"/>
          </a:xfrm>
          <a:prstGeom prst="rect">
            <a:avLst/>
          </a:prstGeom>
          <a:noFill/>
          <a:ln/>
        </p:spPr>
        <p:txBody>
          <a:bodyPr wrap="square" lIns="0" tIns="0" rIns="0" bIns="0" rtlCol="0" anchor="ctr"/>
          <a:lstStyle/>
          <a:p>
            <a:pPr algn="l" indent="0" marL="0">
              <a:buNone/>
            </a:pPr>
            <a:r>
              <a:rPr lang="en-US" sz="3000" dirty="0">
                <a:solidFill>
                  <a:srgbClr val="1B5E20"/>
                </a:solidFill>
                <a:latin typeface="Noto Sans JP" pitchFamily="34" charset="0"/>
                <a:ea typeface="Noto Sans JP" pitchFamily="34" charset="-122"/>
                <a:cs typeface="Noto Sans JP" pitchFamily="34" charset="-120"/>
              </a:rPr>
              <a:t>業務委託型とは</a:t>
            </a:r>
            <a:endParaRPr lang="en-US" sz="3000" dirty="0"/>
          </a:p>
        </p:txBody>
      </p:sp>
      <p:sp>
        <p:nvSpPr>
          <p:cNvPr id="3" name="Shape 1"/>
          <p:cNvSpPr/>
          <p:nvPr/>
        </p:nvSpPr>
        <p:spPr>
          <a:xfrm>
            <a:off x="666598" y="1114654"/>
            <a:ext cx="10858500" cy="19202"/>
          </a:xfrm>
          <a:prstGeom prst="rect">
            <a:avLst/>
          </a:prstGeom>
          <a:solidFill>
            <a:srgbClr val="8D6E63"/>
          </a:solidFill>
          <a:ln/>
        </p:spPr>
      </p:sp>
      <p:pic>
        <p:nvPicPr>
          <p:cNvPr id="4" name="Image 0" descr="/home/user/suzuki-ceo/selfcafe-fc-deck/assets/logo_gray.png">    </p:cNvPr>
          <p:cNvPicPr>
            <a:picLocks noChangeAspect="1"/>
          </p:cNvPicPr>
          <p:nvPr/>
        </p:nvPicPr>
        <p:blipFill>
          <a:blip r:embed="rId1"/>
          <a:stretch>
            <a:fillRect/>
          </a:stretch>
        </p:blipFill>
        <p:spPr>
          <a:xfrm>
            <a:off x="9415577" y="802843"/>
            <a:ext cx="2024482" cy="288036"/>
          </a:xfrm>
          <a:prstGeom prst="rect">
            <a:avLst/>
          </a:prstGeom>
        </p:spPr>
      </p:pic>
      <p:sp>
        <p:nvSpPr>
          <p:cNvPr id="5" name="Text 2"/>
          <p:cNvSpPr/>
          <p:nvPr/>
        </p:nvSpPr>
        <p:spPr>
          <a:xfrm>
            <a:off x="10610698" y="6345936"/>
            <a:ext cx="914400" cy="219456"/>
          </a:xfrm>
          <a:prstGeom prst="rect">
            <a:avLst/>
          </a:prstGeom>
          <a:noFill/>
          <a:ln/>
        </p:spPr>
        <p:txBody>
          <a:bodyPr wrap="square" lIns="0" tIns="0" rIns="0" bIns="0" rtlCol="0" anchor="ctr"/>
          <a:lstStyle/>
          <a:p>
            <a:pPr algn="r" indent="0" marL="0">
              <a:buNone/>
            </a:pPr>
            <a:r>
              <a:rPr lang="en-US" sz="1300" dirty="0">
                <a:solidFill>
                  <a:srgbClr val="000000"/>
                </a:solidFill>
                <a:latin typeface="Cambria" pitchFamily="34" charset="0"/>
                <a:ea typeface="Cambria" pitchFamily="34" charset="-122"/>
                <a:cs typeface="Cambria" pitchFamily="34" charset="-120"/>
              </a:rPr>
              <a:t>2</a:t>
            </a:r>
            <a:endParaRPr lang="en-US" sz="1300" dirty="0"/>
          </a:p>
        </p:txBody>
      </p:sp>
      <p:sp>
        <p:nvSpPr>
          <p:cNvPr id="6" name="Text 3"/>
          <p:cNvSpPr/>
          <p:nvPr/>
        </p:nvSpPr>
        <p:spPr>
          <a:xfrm>
            <a:off x="666598" y="1243584"/>
            <a:ext cx="10858500" cy="256032"/>
          </a:xfrm>
          <a:prstGeom prst="rect">
            <a:avLst/>
          </a:prstGeom>
          <a:noFill/>
          <a:ln/>
        </p:spPr>
        <p:txBody>
          <a:bodyPr wrap="square" lIns="0" tIns="0" rIns="0" bIns="0" rtlCol="0" anchor="ctr"/>
          <a:lstStyle/>
          <a:p>
            <a:pPr indent="0" marL="0">
              <a:buNone/>
            </a:pPr>
            <a:r>
              <a:rPr lang="en-US" sz="1150" b="1" dirty="0">
                <a:solidFill>
                  <a:srgbClr val="5D4037"/>
                </a:solidFill>
                <a:latin typeface="Noto Sans JP" pitchFamily="34" charset="0"/>
                <a:ea typeface="Noto Sans JP" pitchFamily="34" charset="-122"/>
                <a:cs typeface="Noto Sans JP" pitchFamily="34" charset="-120"/>
              </a:rPr>
              <a:t>通常のFC加盟とは異なり、貴社は場所をご提供いただくだけ／運営主体は本部</a:t>
            </a:r>
            <a:endParaRPr lang="en-US" sz="1150" dirty="0"/>
          </a:p>
        </p:txBody>
      </p:sp>
      <p:sp>
        <p:nvSpPr>
          <p:cNvPr id="7" name="Shape 4"/>
          <p:cNvSpPr/>
          <p:nvPr/>
        </p:nvSpPr>
        <p:spPr>
          <a:xfrm>
            <a:off x="6911950" y="1536192"/>
            <a:ext cx="4626864" cy="4709160"/>
          </a:xfrm>
          <a:prstGeom prst="roundRect">
            <a:avLst>
              <a:gd name="adj" fmla="val 1383"/>
            </a:avLst>
          </a:prstGeom>
          <a:solidFill>
            <a:srgbClr val="F0F5EF"/>
          </a:solidFill>
          <a:ln/>
        </p:spPr>
      </p:sp>
      <p:pic>
        <p:nvPicPr>
          <p:cNvPr id="8" name="Image 1" descr="/home/user/suzuki-ceo/selfcafe-fc-deck/assets/icons/LuBadgeCheck-green.png">    </p:cNvPr>
          <p:cNvPicPr>
            <a:picLocks noChangeAspect="1"/>
          </p:cNvPicPr>
          <p:nvPr/>
        </p:nvPicPr>
        <p:blipFill>
          <a:blip r:embed="rId2"/>
          <a:stretch>
            <a:fillRect/>
          </a:stretch>
        </p:blipFill>
        <p:spPr>
          <a:xfrm>
            <a:off x="7076542" y="1554480"/>
            <a:ext cx="219456" cy="219456"/>
          </a:xfrm>
          <a:prstGeom prst="rect">
            <a:avLst/>
          </a:prstGeom>
        </p:spPr>
      </p:pic>
      <p:sp>
        <p:nvSpPr>
          <p:cNvPr id="9" name="Text 5"/>
          <p:cNvSpPr/>
          <p:nvPr/>
        </p:nvSpPr>
        <p:spPr>
          <a:xfrm>
            <a:off x="7350862" y="1536192"/>
            <a:ext cx="4041648" cy="256032"/>
          </a:xfrm>
          <a:prstGeom prst="rect">
            <a:avLst/>
          </a:prstGeom>
          <a:noFill/>
          <a:ln/>
        </p:spPr>
        <p:txBody>
          <a:bodyPr wrap="square" lIns="0" tIns="0" rIns="0" bIns="0" rtlCol="0" anchor="ctr"/>
          <a:lstStyle/>
          <a:p>
            <a:pPr indent="0" marL="0">
              <a:buNone/>
            </a:pPr>
            <a:r>
              <a:rPr lang="en-US" sz="1050" b="1" dirty="0">
                <a:solidFill>
                  <a:srgbClr val="2E7D32"/>
                </a:solidFill>
                <a:latin typeface="Noto Sans JP" pitchFamily="34" charset="0"/>
                <a:ea typeface="Noto Sans JP" pitchFamily="34" charset="-122"/>
                <a:cs typeface="Noto Sans JP" pitchFamily="34" charset="-120"/>
              </a:rPr>
              <a:t>貴社にご提案するのはこちら</a:t>
            </a:r>
            <a:endParaRPr lang="en-US" sz="10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66598" y="1828800"/>
          <a:ext cx="10858500" cy="914400"/>
        </p:xfrm>
        <a:graphic>
          <a:graphicData uri="http://schemas.openxmlformats.org/drawingml/2006/table">
            <a:tbl>
              <a:tblPr/>
              <a:tblGrid>
                <a:gridCol w="2103120"/>
                <a:gridCol w="4160520"/>
                <a:gridCol w="4590288"/>
              </a:tblGrid>
              <a:tr h="457200">
                <a:tc>
                  <a:txBody>
                    <a:bodyPr/>
                    <a:lstStyle/>
                    <a:p>
                      <a:pPr algn="l" indent="0" marL="0">
                        <a:buNone/>
                      </a:pPr>
                      <a:r>
                        <a:rPr lang="en-US" sz="1200" b="1" dirty="0">
                          <a:solidFill>
                            <a:srgbClr val="5D4037"/>
                          </a:solidFill>
                          <a:latin typeface="Noto Sans JP" pitchFamily="34" charset="0"/>
                          <a:ea typeface="Noto Sans JP" pitchFamily="34" charset="-122"/>
                          <a:cs typeface="Noto Sans JP" pitchFamily="34" charset="-120"/>
                        </a:rPr>
                        <a:t>項目</a:t>
                      </a:r>
                      <a:endParaRPr lang="en-US" sz="1200" dirty="0">
                        <a:latin typeface="Noto Sans JP" charset="0"/>
                        <a:ea typeface="Noto Sans JP" charset="0"/>
                        <a:cs typeface="Noto Sans JP" charset="0"/>
                      </a:endParaRPr>
                    </a:p>
                  </a:txBody>
                  <a:tcPr marL="128016" marR="128016" marT="54864" marB="54864"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E9DEC4"/>
                    </a:solidFill>
                  </a:tcPr>
                </a:tc>
                <a:tc>
                  <a:txBody>
                    <a:bodyPr/>
                    <a:lstStyle/>
                    <a:p>
                      <a:pPr algn="l" indent="0" marL="0">
                        <a:buNone/>
                      </a:pPr>
                      <a:r>
                        <a:rPr lang="en-US" sz="1200" b="1" dirty="0">
                          <a:solidFill>
                            <a:srgbClr val="FFFFFF"/>
                          </a:solidFill>
                          <a:latin typeface="Noto Sans JP" pitchFamily="34" charset="0"/>
                          <a:ea typeface="Noto Sans JP" pitchFamily="34" charset="-122"/>
                          <a:cs typeface="Noto Sans JP" pitchFamily="34" charset="-120"/>
                        </a:rPr>
                        <a:t>通常のFC加盟</a:t>
                      </a:r>
                      <a:endParaRPr lang="en-US" sz="1200" dirty="0">
                        <a:latin typeface="Noto Sans JP" charset="0"/>
                        <a:ea typeface="Noto Sans JP" charset="0"/>
                        <a:cs typeface="Noto Sans JP" charset="0"/>
                      </a:endParaRPr>
                    </a:p>
                  </a:txBody>
                  <a:tcPr marL="128016" marR="128016" marT="54864" marB="54864"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8A8272"/>
                    </a:solidFill>
                  </a:tcPr>
                </a:tc>
                <a:tc>
                  <a:txBody>
                    <a:bodyPr/>
                    <a:lstStyle/>
                    <a:p>
                      <a:pPr algn="l" indent="0" marL="0">
                        <a:buNone/>
                      </a:pPr>
                      <a:r>
                        <a:rPr lang="en-US" sz="1200" b="1" dirty="0">
                          <a:solidFill>
                            <a:srgbClr val="FFFFFF"/>
                          </a:solidFill>
                          <a:latin typeface="Noto Sans JP" pitchFamily="34" charset="0"/>
                          <a:ea typeface="Noto Sans JP" pitchFamily="34" charset="-122"/>
                          <a:cs typeface="Noto Sans JP" pitchFamily="34" charset="-120"/>
                        </a:rPr>
                        <a:t>業務委託型</a:t>
                      </a:r>
                      <a:endParaRPr lang="en-US" sz="1200" dirty="0">
                        <a:latin typeface="Noto Sans JP" charset="0"/>
                        <a:ea typeface="Noto Sans JP" charset="0"/>
                        <a:cs typeface="Noto Sans JP" charset="0"/>
                      </a:endParaRPr>
                    </a:p>
                  </a:txBody>
                  <a:tcPr marL="128016" marR="128016" marT="54864" marB="54864"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1B5E20"/>
                    </a:solidFill>
                  </a:tcPr>
                </a:tc>
              </a:tr>
              <a:tr h="548640">
                <a:tc>
                  <a:txBody>
                    <a:bodyPr/>
                    <a:lstStyle/>
                    <a:p>
                      <a:pPr indent="0" marL="0">
                        <a:buNone/>
                      </a:pPr>
                      <a:r>
                        <a:rPr lang="en-US" sz="1150" b="1" dirty="0">
                          <a:solidFill>
                            <a:srgbClr val="5D4037"/>
                          </a:solidFill>
                          <a:latin typeface="Noto Sans JP" pitchFamily="34" charset="0"/>
                          <a:ea typeface="Noto Sans JP" pitchFamily="34" charset="-122"/>
                          <a:cs typeface="Noto Sans JP" pitchFamily="34" charset="-120"/>
                        </a:rPr>
                        <a:t>運営主体</a:t>
                      </a:r>
                      <a:endParaRPr lang="en-US" sz="1150" dirty="0">
                        <a:latin typeface="Noto Sans JP" charset="0"/>
                        <a:ea typeface="Noto Sans JP" charset="0"/>
                        <a:cs typeface="Noto Sans JP" charset="0"/>
                      </a:endParaRPr>
                    </a:p>
                  </a:txBody>
                  <a:tcPr marL="128016" marR="128016" marT="54864" marB="54864"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6F2E6"/>
                    </a:solidFill>
                  </a:tcPr>
                </a:tc>
                <a:tc>
                  <a:txBody>
                    <a:bodyPr/>
                    <a:lstStyle/>
                    <a:p>
                      <a:pPr indent="0" marL="0">
                        <a:buNone/>
                      </a:pPr>
                      <a:r>
                        <a:rPr lang="en-US" sz="1050" dirty="0">
                          <a:solidFill>
                            <a:srgbClr val="6E6A61"/>
                          </a:solidFill>
                          <a:latin typeface="Noto Sans JP" pitchFamily="34" charset="0"/>
                          <a:ea typeface="Noto Sans JP" pitchFamily="34" charset="-122"/>
                          <a:cs typeface="Noto Sans JP" pitchFamily="34" charset="-120"/>
                        </a:rPr>
                        <a:t>加盟者様が独立オーナーとして運営</a:t>
                      </a:r>
                      <a:endParaRPr lang="en-US" sz="1050" dirty="0">
                        <a:latin typeface="Noto Sans JP" charset="0"/>
                        <a:ea typeface="Noto Sans JP" charset="0"/>
                        <a:cs typeface="Noto Sans JP" charset="0"/>
                      </a:endParaRPr>
                    </a:p>
                  </a:txBody>
                  <a:tcPr marL="146304" marR="146304" marT="73152" marB="73152"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FFFFF"/>
                    </a:solidFill>
                  </a:tcPr>
                </a:tc>
                <a:tc>
                  <a:txBody>
                    <a:bodyPr/>
                    <a:lstStyle/>
                    <a:p>
                      <a:pPr indent="0" marL="0">
                        <a:buNone/>
                      </a:pPr>
                      <a:r>
                        <a:rPr lang="en-US" sz="1100" b="1" dirty="0">
                          <a:solidFill>
                            <a:srgbClr val="1B5E20"/>
                          </a:solidFill>
                          <a:latin typeface="Noto Sans JP" pitchFamily="34" charset="0"/>
                          <a:ea typeface="Noto Sans JP" pitchFamily="34" charset="-122"/>
                          <a:cs typeface="Noto Sans JP" pitchFamily="34" charset="-120"/>
                        </a:rPr>
                        <a:t>本部が運営を主導、貴社は場所提供のみ</a:t>
                      </a:r>
                      <a:endParaRPr lang="en-US" sz="1100" dirty="0">
                        <a:latin typeface="Noto Sans JP" charset="0"/>
                        <a:ea typeface="Noto Sans JP" charset="0"/>
                        <a:cs typeface="Noto Sans JP" charset="0"/>
                      </a:endParaRPr>
                    </a:p>
                  </a:txBody>
                  <a:tcPr marL="146304" marR="146304" marT="73152" marB="73152"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2F7F2"/>
                    </a:solidFill>
                  </a:tcPr>
                </a:tc>
              </a:tr>
              <a:tr h="786384">
                <a:tc>
                  <a:txBody>
                    <a:bodyPr/>
                    <a:lstStyle/>
                    <a:p>
                      <a:pPr indent="0" marL="0">
                        <a:buNone/>
                      </a:pPr>
                      <a:r>
                        <a:rPr lang="en-US" sz="1150" b="1" dirty="0">
                          <a:solidFill>
                            <a:srgbClr val="5D4037"/>
                          </a:solidFill>
                          <a:latin typeface="Noto Sans JP" pitchFamily="34" charset="0"/>
                          <a:ea typeface="Noto Sans JP" pitchFamily="34" charset="-122"/>
                          <a:cs typeface="Noto Sans JP" pitchFamily="34" charset="-120"/>
                        </a:rPr>
                        <a:t>初期費用</a:t>
                      </a:r>
                      <a:endParaRPr lang="en-US" sz="1150" dirty="0">
                        <a:latin typeface="Noto Sans JP" charset="0"/>
                        <a:ea typeface="Noto Sans JP" charset="0"/>
                        <a:cs typeface="Noto Sans JP" charset="0"/>
                      </a:endParaRPr>
                    </a:p>
                  </a:txBody>
                  <a:tcPr marL="128016" marR="128016" marT="54864" marB="54864"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6F2E6"/>
                    </a:solidFill>
                  </a:tcPr>
                </a:tc>
                <a:tc>
                  <a:txBody>
                    <a:bodyPr/>
                    <a:lstStyle/>
                    <a:p>
                      <a:pPr indent="0" marL="0">
                        <a:buNone/>
                      </a:pPr>
                      <a:r>
                        <a:rPr lang="en-US" sz="1050" dirty="0">
                          <a:solidFill>
                            <a:srgbClr val="6E6A61"/>
                          </a:solidFill>
                          <a:latin typeface="Noto Sans JP" pitchFamily="34" charset="0"/>
                          <a:ea typeface="Noto Sans JP" pitchFamily="34" charset="-122"/>
                          <a:cs typeface="Noto Sans JP" pitchFamily="34" charset="-120"/>
                        </a:rPr>
                        <a:t>加盟金100万円＋工事費用等</a:t>
                      </a:r>
                      <a:endParaRPr lang="en-US" sz="1050" dirty="0">
                        <a:latin typeface="Noto Sans JP" charset="0"/>
                        <a:ea typeface="Noto Sans JP" charset="0"/>
                        <a:cs typeface="Noto Sans JP" charset="0"/>
                      </a:endParaRPr>
                    </a:p>
                    <a:p>
                      <a:pPr indent="0" marL="0">
                        <a:buNone/>
                      </a:pPr>
                      <a:r>
                        <a:rPr lang="en-US" sz="1050" dirty="0">
                          <a:solidFill>
                            <a:srgbClr val="6E6A61"/>
                          </a:solidFill>
                          <a:latin typeface="Noto Sans JP" pitchFamily="34" charset="0"/>
                          <a:ea typeface="Noto Sans JP" pitchFamily="34" charset="-122"/>
                          <a:cs typeface="Noto Sans JP" pitchFamily="34" charset="-120"/>
                        </a:rPr>
                        <a:t>（開業資金目安：居抜き700万円〜／スケルトン工事1,000万円〜）</a:t>
                      </a:r>
                      <a:endParaRPr lang="en-US" sz="1050" dirty="0">
                        <a:latin typeface="Noto Sans JP" charset="0"/>
                        <a:ea typeface="Noto Sans JP" charset="0"/>
                        <a:cs typeface="Noto Sans JP" charset="0"/>
                      </a:endParaRPr>
                    </a:p>
                  </a:txBody>
                  <a:tcPr marL="146304" marR="146304" marT="73152" marB="73152"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FFFFF"/>
                    </a:solidFill>
                  </a:tcPr>
                </a:tc>
                <a:tc>
                  <a:txBody>
                    <a:bodyPr/>
                    <a:lstStyle/>
                    <a:p>
                      <a:pPr indent="0" marL="0">
                        <a:buNone/>
                      </a:pPr>
                      <a:r>
                        <a:rPr lang="en-US" sz="1100" b="1" dirty="0">
                          <a:solidFill>
                            <a:srgbClr val="1B5E20"/>
                          </a:solidFill>
                          <a:latin typeface="Noto Sans JP" pitchFamily="34" charset="0"/>
                          <a:ea typeface="Noto Sans JP" pitchFamily="34" charset="-122"/>
                          <a:cs typeface="Noto Sans JP" pitchFamily="34" charset="-120"/>
                        </a:rPr>
                        <a:t>30万〜50万円程度（機器設置費のみ）</a:t>
                      </a:r>
                      <a:endParaRPr lang="en-US" sz="1100" dirty="0">
                        <a:latin typeface="Noto Sans JP" charset="0"/>
                        <a:ea typeface="Noto Sans JP" charset="0"/>
                        <a:cs typeface="Noto Sans JP" charset="0"/>
                      </a:endParaRPr>
                    </a:p>
                  </a:txBody>
                  <a:tcPr marL="146304" marR="146304" marT="73152" marB="73152"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2F7F2"/>
                    </a:solidFill>
                  </a:tcPr>
                </a:tc>
              </a:tr>
              <a:tr h="530352">
                <a:tc>
                  <a:txBody>
                    <a:bodyPr/>
                    <a:lstStyle/>
                    <a:p>
                      <a:pPr indent="0" marL="0">
                        <a:buNone/>
                      </a:pPr>
                      <a:r>
                        <a:rPr lang="en-US" sz="1150" b="1" dirty="0">
                          <a:solidFill>
                            <a:srgbClr val="5D4037"/>
                          </a:solidFill>
                          <a:latin typeface="Noto Sans JP" pitchFamily="34" charset="0"/>
                          <a:ea typeface="Noto Sans JP" pitchFamily="34" charset="-122"/>
                          <a:cs typeface="Noto Sans JP" pitchFamily="34" charset="-120"/>
                        </a:rPr>
                        <a:t>出店スペース</a:t>
                      </a:r>
                      <a:endParaRPr lang="en-US" sz="1150" dirty="0">
                        <a:latin typeface="Noto Sans JP" charset="0"/>
                        <a:ea typeface="Noto Sans JP" charset="0"/>
                        <a:cs typeface="Noto Sans JP" charset="0"/>
                      </a:endParaRPr>
                    </a:p>
                  </a:txBody>
                  <a:tcPr marL="128016" marR="128016" marT="54864" marB="54864"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6F2E6"/>
                    </a:solidFill>
                  </a:tcPr>
                </a:tc>
                <a:tc>
                  <a:txBody>
                    <a:bodyPr/>
                    <a:lstStyle/>
                    <a:p>
                      <a:pPr indent="0" marL="0">
                        <a:buNone/>
                      </a:pPr>
                      <a:r>
                        <a:rPr lang="en-US" sz="1050" dirty="0">
                          <a:solidFill>
                            <a:srgbClr val="6E6A61"/>
                          </a:solidFill>
                          <a:latin typeface="Noto Sans JP" pitchFamily="34" charset="0"/>
                          <a:ea typeface="Noto Sans JP" pitchFamily="34" charset="-122"/>
                          <a:cs typeface="Noto Sans JP" pitchFamily="34" charset="-120"/>
                        </a:rPr>
                        <a:t>独立した店舗区画（25坪〜）が必要</a:t>
                      </a:r>
                      <a:endParaRPr lang="en-US" sz="1050" dirty="0">
                        <a:latin typeface="Noto Sans JP" charset="0"/>
                        <a:ea typeface="Noto Sans JP" charset="0"/>
                        <a:cs typeface="Noto Sans JP" charset="0"/>
                      </a:endParaRPr>
                    </a:p>
                  </a:txBody>
                  <a:tcPr marL="146304" marR="146304" marT="73152" marB="73152"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FFFFF"/>
                    </a:solidFill>
                  </a:tcPr>
                </a:tc>
                <a:tc>
                  <a:txBody>
                    <a:bodyPr/>
                    <a:lstStyle/>
                    <a:p>
                      <a:pPr indent="0" marL="0">
                        <a:buNone/>
                      </a:pPr>
                      <a:r>
                        <a:rPr lang="en-US" sz="1100" b="1" dirty="0">
                          <a:solidFill>
                            <a:srgbClr val="1B5E20"/>
                          </a:solidFill>
                          <a:latin typeface="Noto Sans JP" pitchFamily="34" charset="0"/>
                          <a:ea typeface="Noto Sans JP" pitchFamily="34" charset="-122"/>
                          <a:cs typeface="Noto Sans JP" pitchFamily="34" charset="-120"/>
                        </a:rPr>
                        <a:t>既存スペースの一角に間借り設置可能</a:t>
                      </a:r>
                      <a:endParaRPr lang="en-US" sz="1100" dirty="0">
                        <a:latin typeface="Noto Sans JP" charset="0"/>
                        <a:ea typeface="Noto Sans JP" charset="0"/>
                        <a:cs typeface="Noto Sans JP" charset="0"/>
                      </a:endParaRPr>
                    </a:p>
                  </a:txBody>
                  <a:tcPr marL="146304" marR="146304" marT="73152" marB="73152"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2F7F2"/>
                    </a:solidFill>
                  </a:tcPr>
                </a:tc>
              </a:tr>
              <a:tr h="658368">
                <a:tc>
                  <a:txBody>
                    <a:bodyPr/>
                    <a:lstStyle/>
                    <a:p>
                      <a:pPr indent="0" marL="0">
                        <a:buNone/>
                      </a:pPr>
                      <a:r>
                        <a:rPr lang="en-US" sz="1150" b="1" dirty="0">
                          <a:solidFill>
                            <a:srgbClr val="5D4037"/>
                          </a:solidFill>
                          <a:latin typeface="Noto Sans JP" pitchFamily="34" charset="0"/>
                          <a:ea typeface="Noto Sans JP" pitchFamily="34" charset="-122"/>
                          <a:cs typeface="Noto Sans JP" pitchFamily="34" charset="-120"/>
                        </a:rPr>
                        <a:t>日常業務</a:t>
                      </a:r>
                      <a:endParaRPr lang="en-US" sz="1150" dirty="0">
                        <a:latin typeface="Noto Sans JP" charset="0"/>
                        <a:ea typeface="Noto Sans JP" charset="0"/>
                        <a:cs typeface="Noto Sans JP" charset="0"/>
                      </a:endParaRPr>
                    </a:p>
                  </a:txBody>
                  <a:tcPr marL="128016" marR="128016" marT="54864" marB="54864"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6F2E6"/>
                    </a:solidFill>
                  </a:tcPr>
                </a:tc>
                <a:tc>
                  <a:txBody>
                    <a:bodyPr/>
                    <a:lstStyle/>
                    <a:p>
                      <a:pPr indent="0" marL="0">
                        <a:buNone/>
                      </a:pPr>
                      <a:r>
                        <a:rPr lang="en-US" sz="1050" dirty="0">
                          <a:solidFill>
                            <a:srgbClr val="6E6A61"/>
                          </a:solidFill>
                          <a:latin typeface="Noto Sans JP" pitchFamily="34" charset="0"/>
                          <a:ea typeface="Noto Sans JP" pitchFamily="34" charset="-122"/>
                          <a:cs typeface="Noto Sans JP" pitchFamily="34" charset="-120"/>
                        </a:rPr>
                        <a:t>加盟者様が運営全般を担当</a:t>
                      </a:r>
                      <a:endParaRPr lang="en-US" sz="1050" dirty="0">
                        <a:latin typeface="Noto Sans JP" charset="0"/>
                        <a:ea typeface="Noto Sans JP" charset="0"/>
                        <a:cs typeface="Noto Sans JP" charset="0"/>
                      </a:endParaRPr>
                    </a:p>
                  </a:txBody>
                  <a:tcPr marL="146304" marR="146304" marT="73152" marB="73152"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FFFFF"/>
                    </a:solidFill>
                  </a:tcPr>
                </a:tc>
                <a:tc>
                  <a:txBody>
                    <a:bodyPr/>
                    <a:lstStyle/>
                    <a:p>
                      <a:pPr indent="0" marL="0">
                        <a:buNone/>
                      </a:pPr>
                      <a:r>
                        <a:rPr lang="en-US" sz="1100" b="1" dirty="0">
                          <a:solidFill>
                            <a:srgbClr val="1B5E20"/>
                          </a:solidFill>
                          <a:latin typeface="Noto Sans JP" pitchFamily="34" charset="0"/>
                          <a:ea typeface="Noto Sans JP" pitchFamily="34" charset="-122"/>
                          <a:cs typeface="Noto Sans JP" pitchFamily="34" charset="-120"/>
                        </a:rPr>
                        <a:t>清掃・補充のみ、1日15分程度</a:t>
                      </a:r>
                      <a:endParaRPr lang="en-US" sz="1100" dirty="0">
                        <a:latin typeface="Noto Sans JP" charset="0"/>
                        <a:ea typeface="Noto Sans JP" charset="0"/>
                        <a:cs typeface="Noto Sans JP" charset="0"/>
                      </a:endParaRPr>
                    </a:p>
                    <a:p>
                      <a:pPr indent="0" marL="0">
                        <a:buNone/>
                      </a:pPr>
                      <a:r>
                        <a:rPr lang="en-US" sz="1100" b="1" dirty="0">
                          <a:solidFill>
                            <a:srgbClr val="1B5E20"/>
                          </a:solidFill>
                          <a:latin typeface="Noto Sans JP" pitchFamily="34" charset="0"/>
                          <a:ea typeface="Noto Sans JP" pitchFamily="34" charset="-122"/>
                          <a:cs typeface="Noto Sans JP" pitchFamily="34" charset="-120"/>
                        </a:rPr>
                        <a:t>（既存スタッフで対応可）</a:t>
                      </a:r>
                      <a:endParaRPr lang="en-US" sz="1100" dirty="0">
                        <a:latin typeface="Noto Sans JP" charset="0"/>
                        <a:ea typeface="Noto Sans JP" charset="0"/>
                        <a:cs typeface="Noto Sans JP" charset="0"/>
                      </a:endParaRPr>
                    </a:p>
                  </a:txBody>
                  <a:tcPr marL="146304" marR="146304" marT="73152" marB="73152"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2F7F2"/>
                    </a:solidFill>
                  </a:tcPr>
                </a:tc>
              </a:tr>
              <a:tr h="749808">
                <a:tc>
                  <a:txBody>
                    <a:bodyPr/>
                    <a:lstStyle/>
                    <a:p>
                      <a:pPr indent="0" marL="0">
                        <a:buNone/>
                      </a:pPr>
                      <a:r>
                        <a:rPr lang="en-US" sz="1150" b="1" dirty="0">
                          <a:solidFill>
                            <a:srgbClr val="5D4037"/>
                          </a:solidFill>
                          <a:latin typeface="Noto Sans JP" pitchFamily="34" charset="0"/>
                          <a:ea typeface="Noto Sans JP" pitchFamily="34" charset="-122"/>
                          <a:cs typeface="Noto Sans JP" pitchFamily="34" charset="-120"/>
                        </a:rPr>
                        <a:t>売上金の流れ</a:t>
                      </a:r>
                      <a:endParaRPr lang="en-US" sz="1150" dirty="0">
                        <a:latin typeface="Noto Sans JP" charset="0"/>
                        <a:ea typeface="Noto Sans JP" charset="0"/>
                        <a:cs typeface="Noto Sans JP" charset="0"/>
                      </a:endParaRPr>
                    </a:p>
                  </a:txBody>
                  <a:tcPr marL="128016" marR="128016" marT="54864" marB="54864"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6F2E6"/>
                    </a:solidFill>
                  </a:tcPr>
                </a:tc>
                <a:tc>
                  <a:txBody>
                    <a:bodyPr/>
                    <a:lstStyle/>
                    <a:p>
                      <a:pPr indent="0" marL="0">
                        <a:buNone/>
                      </a:pPr>
                      <a:r>
                        <a:rPr lang="en-US" sz="1050" dirty="0">
                          <a:solidFill>
                            <a:srgbClr val="6E6A61"/>
                          </a:solidFill>
                          <a:latin typeface="Noto Sans JP" pitchFamily="34" charset="0"/>
                          <a:ea typeface="Noto Sans JP" pitchFamily="34" charset="-122"/>
                          <a:cs typeface="Noto Sans JP" pitchFamily="34" charset="-120"/>
                        </a:rPr>
                        <a:t>本部が売上金を管理し、ロイヤリティなどの費用を控除した残額を加盟者様へ振込</a:t>
                      </a:r>
                      <a:endParaRPr lang="en-US" sz="1050" dirty="0">
                        <a:latin typeface="Noto Sans JP" charset="0"/>
                        <a:ea typeface="Noto Sans JP" charset="0"/>
                        <a:cs typeface="Noto Sans JP" charset="0"/>
                      </a:endParaRPr>
                    </a:p>
                  </a:txBody>
                  <a:tcPr marL="146304" marR="146304" marT="73152" marB="73152"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FFFFF"/>
                    </a:solidFill>
                  </a:tcPr>
                </a:tc>
                <a:tc>
                  <a:txBody>
                    <a:bodyPr/>
                    <a:lstStyle/>
                    <a:p>
                      <a:pPr indent="0" marL="0">
                        <a:buNone/>
                      </a:pPr>
                      <a:r>
                        <a:rPr lang="en-US" sz="1100" b="1" dirty="0">
                          <a:solidFill>
                            <a:srgbClr val="1B5E20"/>
                          </a:solidFill>
                          <a:latin typeface="Noto Sans JP" pitchFamily="34" charset="0"/>
                          <a:ea typeface="Noto Sans JP" pitchFamily="34" charset="-122"/>
                          <a:cs typeface="Noto Sans JP" pitchFamily="34" charset="-120"/>
                        </a:rPr>
                        <a:t>本部が売上金を管理し、25%を業務委託料として貴社へお支払い</a:t>
                      </a:r>
                      <a:endParaRPr lang="en-US" sz="1100" dirty="0">
                        <a:latin typeface="Noto Sans JP" charset="0"/>
                        <a:ea typeface="Noto Sans JP" charset="0"/>
                        <a:cs typeface="Noto Sans JP" charset="0"/>
                      </a:endParaRPr>
                    </a:p>
                  </a:txBody>
                  <a:tcPr marL="146304" marR="146304" marT="73152" marB="73152"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2F7F2"/>
                    </a:solidFill>
                  </a:tcPr>
                </a:tc>
              </a:tr>
              <a:tr h="704088">
                <a:tc>
                  <a:txBody>
                    <a:bodyPr/>
                    <a:lstStyle/>
                    <a:p>
                      <a:pPr indent="0" marL="0">
                        <a:buNone/>
                      </a:pPr>
                      <a:r>
                        <a:rPr lang="en-US" sz="1150" b="1" dirty="0">
                          <a:solidFill>
                            <a:srgbClr val="5D4037"/>
                          </a:solidFill>
                          <a:latin typeface="Noto Sans JP" pitchFamily="34" charset="0"/>
                          <a:ea typeface="Noto Sans JP" pitchFamily="34" charset="-122"/>
                          <a:cs typeface="Noto Sans JP" pitchFamily="34" charset="-120"/>
                        </a:rPr>
                        <a:t>契約・撤退</a:t>
                      </a:r>
                      <a:endParaRPr lang="en-US" sz="1150" dirty="0">
                        <a:latin typeface="Noto Sans JP" charset="0"/>
                        <a:ea typeface="Noto Sans JP" charset="0"/>
                        <a:cs typeface="Noto Sans JP" charset="0"/>
                      </a:endParaRPr>
                    </a:p>
                  </a:txBody>
                  <a:tcPr marL="128016" marR="128016" marT="54864" marB="54864"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6F2E6"/>
                    </a:solidFill>
                  </a:tcPr>
                </a:tc>
                <a:tc>
                  <a:txBody>
                    <a:bodyPr/>
                    <a:lstStyle/>
                    <a:p>
                      <a:pPr indent="0" marL="0">
                        <a:buNone/>
                      </a:pPr>
                      <a:r>
                        <a:rPr lang="en-US" sz="1050" dirty="0">
                          <a:solidFill>
                            <a:srgbClr val="6E6A61"/>
                          </a:solidFill>
                          <a:latin typeface="Noto Sans JP" pitchFamily="34" charset="0"/>
                          <a:ea typeface="Noto Sans JP" pitchFamily="34" charset="-122"/>
                          <a:cs typeface="Noto Sans JP" pitchFamily="34" charset="-120"/>
                        </a:rPr>
                        <a:t>独立出店が前提の長期契約</a:t>
                      </a:r>
                      <a:endParaRPr lang="en-US" sz="1050" dirty="0">
                        <a:latin typeface="Noto Sans JP" charset="0"/>
                        <a:ea typeface="Noto Sans JP" charset="0"/>
                        <a:cs typeface="Noto Sans JP" charset="0"/>
                      </a:endParaRPr>
                    </a:p>
                  </a:txBody>
                  <a:tcPr marL="146304" marR="146304" marT="73152" marB="73152"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FFFFF"/>
                    </a:solidFill>
                  </a:tcPr>
                </a:tc>
                <a:tc>
                  <a:txBody>
                    <a:bodyPr/>
                    <a:lstStyle/>
                    <a:p>
                      <a:pPr indent="0" marL="0">
                        <a:buNone/>
                      </a:pPr>
                      <a:r>
                        <a:rPr lang="en-US" sz="1100" b="1" dirty="0">
                          <a:solidFill>
                            <a:srgbClr val="1B5E20"/>
                          </a:solidFill>
                          <a:latin typeface="Noto Sans JP" pitchFamily="34" charset="0"/>
                          <a:ea typeface="Noto Sans JP" pitchFamily="34" charset="-122"/>
                          <a:cs typeface="Noto Sans JP" pitchFamily="34" charset="-120"/>
                        </a:rPr>
                        <a:t>契約期間の縛りあり（最低3年〜）／本部審査あり。原状回復の負担も小さい</a:t>
                      </a:r>
                      <a:endParaRPr lang="en-US" sz="1100" dirty="0">
                        <a:latin typeface="Noto Sans JP" charset="0"/>
                        <a:ea typeface="Noto Sans JP" charset="0"/>
                        <a:cs typeface="Noto Sans JP" charset="0"/>
                      </a:endParaRPr>
                    </a:p>
                  </a:txBody>
                  <a:tcPr marL="146304" marR="146304" marT="73152" marB="73152"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2F7F2"/>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CF5"/>
        </a:solidFill>
      </p:bgPr>
    </p:bg>
    <p:spTree>
      <p:nvGrpSpPr>
        <p:cNvPr id="1" name=""/>
        <p:cNvGrpSpPr/>
        <p:nvPr/>
      </p:nvGrpSpPr>
      <p:grpSpPr>
        <a:xfrm>
          <a:off x="0" y="0"/>
          <a:ext cx="0" cy="0"/>
          <a:chOff x="0" y="0"/>
          <a:chExt cx="0" cy="0"/>
        </a:xfrm>
      </p:grpSpPr>
      <p:sp>
        <p:nvSpPr>
          <p:cNvPr id="2" name="Text 0"/>
          <p:cNvSpPr/>
          <p:nvPr/>
        </p:nvSpPr>
        <p:spPr>
          <a:xfrm>
            <a:off x="666598" y="506578"/>
            <a:ext cx="8503920" cy="384048"/>
          </a:xfrm>
          <a:prstGeom prst="rect">
            <a:avLst/>
          </a:prstGeom>
          <a:noFill/>
          <a:ln/>
        </p:spPr>
        <p:txBody>
          <a:bodyPr wrap="square" lIns="0" tIns="0" rIns="0" bIns="0" rtlCol="0" anchor="ctr"/>
          <a:lstStyle/>
          <a:p>
            <a:pPr algn="l" indent="0" marL="0">
              <a:buNone/>
            </a:pPr>
            <a:r>
              <a:rPr lang="en-US" sz="3000" dirty="0">
                <a:solidFill>
                  <a:srgbClr val="1B5E20"/>
                </a:solidFill>
                <a:latin typeface="Noto Sans JP" pitchFamily="34" charset="0"/>
                <a:ea typeface="Noto Sans JP" pitchFamily="34" charset="-122"/>
                <a:cs typeface="Noto Sans JP" pitchFamily="34" charset="-120"/>
              </a:rPr>
              <a:t>業務委託型のメリット</a:t>
            </a:r>
            <a:endParaRPr lang="en-US" sz="3000" dirty="0"/>
          </a:p>
        </p:txBody>
      </p:sp>
      <p:sp>
        <p:nvSpPr>
          <p:cNvPr id="3" name="Shape 1"/>
          <p:cNvSpPr/>
          <p:nvPr/>
        </p:nvSpPr>
        <p:spPr>
          <a:xfrm>
            <a:off x="666598" y="1114654"/>
            <a:ext cx="10858500" cy="19202"/>
          </a:xfrm>
          <a:prstGeom prst="rect">
            <a:avLst/>
          </a:prstGeom>
          <a:solidFill>
            <a:srgbClr val="8D6E63"/>
          </a:solidFill>
          <a:ln/>
        </p:spPr>
      </p:sp>
      <p:pic>
        <p:nvPicPr>
          <p:cNvPr id="4" name="Image 0" descr="/home/user/suzuki-ceo/selfcafe-fc-deck/assets/logo_gray.png">    </p:cNvPr>
          <p:cNvPicPr>
            <a:picLocks noChangeAspect="1"/>
          </p:cNvPicPr>
          <p:nvPr/>
        </p:nvPicPr>
        <p:blipFill>
          <a:blip r:embed="rId1"/>
          <a:stretch>
            <a:fillRect/>
          </a:stretch>
        </p:blipFill>
        <p:spPr>
          <a:xfrm>
            <a:off x="9415577" y="802843"/>
            <a:ext cx="2024482" cy="288036"/>
          </a:xfrm>
          <a:prstGeom prst="rect">
            <a:avLst/>
          </a:prstGeom>
        </p:spPr>
      </p:pic>
      <p:sp>
        <p:nvSpPr>
          <p:cNvPr id="5" name="Text 2"/>
          <p:cNvSpPr/>
          <p:nvPr/>
        </p:nvSpPr>
        <p:spPr>
          <a:xfrm>
            <a:off x="10610698" y="6345936"/>
            <a:ext cx="914400" cy="219456"/>
          </a:xfrm>
          <a:prstGeom prst="rect">
            <a:avLst/>
          </a:prstGeom>
          <a:noFill/>
          <a:ln/>
        </p:spPr>
        <p:txBody>
          <a:bodyPr wrap="square" lIns="0" tIns="0" rIns="0" bIns="0" rtlCol="0" anchor="ctr"/>
          <a:lstStyle/>
          <a:p>
            <a:pPr algn="r" indent="0" marL="0">
              <a:buNone/>
            </a:pPr>
            <a:r>
              <a:rPr lang="en-US" sz="1300" dirty="0">
                <a:solidFill>
                  <a:srgbClr val="000000"/>
                </a:solidFill>
                <a:latin typeface="Cambria" pitchFamily="34" charset="0"/>
                <a:ea typeface="Cambria" pitchFamily="34" charset="-122"/>
                <a:cs typeface="Cambria" pitchFamily="34" charset="-120"/>
              </a:rPr>
              <a:t>3</a:t>
            </a:r>
            <a:endParaRPr lang="en-US" sz="1300" dirty="0"/>
          </a:p>
        </p:txBody>
      </p:sp>
      <p:sp>
        <p:nvSpPr>
          <p:cNvPr id="6" name="Text 3"/>
          <p:cNvSpPr/>
          <p:nvPr/>
        </p:nvSpPr>
        <p:spPr>
          <a:xfrm>
            <a:off x="666598" y="1243584"/>
            <a:ext cx="10858500" cy="256032"/>
          </a:xfrm>
          <a:prstGeom prst="rect">
            <a:avLst/>
          </a:prstGeom>
          <a:noFill/>
          <a:ln/>
        </p:spPr>
        <p:txBody>
          <a:bodyPr wrap="square" lIns="0" tIns="0" rIns="0" bIns="0" rtlCol="0" anchor="ctr"/>
          <a:lstStyle/>
          <a:p>
            <a:pPr indent="0" marL="0">
              <a:buNone/>
            </a:pPr>
            <a:r>
              <a:rPr lang="en-US" sz="1150" b="1" dirty="0">
                <a:solidFill>
                  <a:srgbClr val="5D4037"/>
                </a:solidFill>
                <a:latin typeface="Noto Sans JP" pitchFamily="34" charset="0"/>
                <a:ea typeface="Noto Sans JP" pitchFamily="34" charset="-122"/>
                <a:cs typeface="Noto Sans JP" pitchFamily="34" charset="-120"/>
              </a:rPr>
              <a:t>貴社にとってのメリット／既存事業の一角を、負担をかけずに収益資産へ</a:t>
            </a:r>
            <a:endParaRPr lang="en-US" sz="1150" dirty="0"/>
          </a:p>
        </p:txBody>
      </p:sp>
      <p:sp>
        <p:nvSpPr>
          <p:cNvPr id="7" name="Shape 4"/>
          <p:cNvSpPr/>
          <p:nvPr/>
        </p:nvSpPr>
        <p:spPr>
          <a:xfrm>
            <a:off x="666598" y="1645920"/>
            <a:ext cx="5276088" cy="2212848"/>
          </a:xfrm>
          <a:prstGeom prst="roundRect">
            <a:avLst>
              <a:gd name="adj" fmla="val 2893"/>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8" name="Shape 5"/>
          <p:cNvSpPr/>
          <p:nvPr/>
        </p:nvSpPr>
        <p:spPr>
          <a:xfrm>
            <a:off x="940918" y="1865376"/>
            <a:ext cx="548640" cy="548640"/>
          </a:xfrm>
          <a:prstGeom prst="ellipse">
            <a:avLst/>
          </a:prstGeom>
          <a:solidFill>
            <a:srgbClr val="F0F5EF"/>
          </a:solidFill>
          <a:ln/>
        </p:spPr>
      </p:sp>
      <p:pic>
        <p:nvPicPr>
          <p:cNvPr id="9" name="Image 1" descr="/home/user/suzuki-ceo/selfcafe-fc-deck/assets/icons/LuCoins-green.png">    </p:cNvPr>
          <p:cNvPicPr>
            <a:picLocks noChangeAspect="1"/>
          </p:cNvPicPr>
          <p:nvPr/>
        </p:nvPicPr>
        <p:blipFill>
          <a:blip r:embed="rId2"/>
          <a:stretch>
            <a:fillRect/>
          </a:stretch>
        </p:blipFill>
        <p:spPr>
          <a:xfrm>
            <a:off x="1061618" y="1986077"/>
            <a:ext cx="307238" cy="307238"/>
          </a:xfrm>
          <a:prstGeom prst="rect">
            <a:avLst/>
          </a:prstGeom>
        </p:spPr>
      </p:pic>
      <p:sp>
        <p:nvSpPr>
          <p:cNvPr id="10" name="Text 6"/>
          <p:cNvSpPr/>
          <p:nvPr/>
        </p:nvSpPr>
        <p:spPr>
          <a:xfrm>
            <a:off x="1617574" y="1865376"/>
            <a:ext cx="4050792" cy="548640"/>
          </a:xfrm>
          <a:prstGeom prst="rect">
            <a:avLst/>
          </a:prstGeom>
          <a:noFill/>
          <a:ln/>
        </p:spPr>
        <p:txBody>
          <a:bodyPr wrap="square" lIns="0" tIns="0" rIns="0" bIns="0" rtlCol="0" anchor="ctr"/>
          <a:lstStyle/>
          <a:p>
            <a:pPr indent="0" marL="0">
              <a:buNone/>
            </a:pPr>
            <a:r>
              <a:rPr lang="en-US" sz="1550" b="1" dirty="0">
                <a:solidFill>
                  <a:srgbClr val="1B5E20"/>
                </a:solidFill>
                <a:latin typeface="Noto Sans JP" pitchFamily="34" charset="0"/>
                <a:ea typeface="Noto Sans JP" pitchFamily="34" charset="-122"/>
                <a:cs typeface="Noto Sans JP" pitchFamily="34" charset="-120"/>
              </a:rPr>
              <a:t>遊休スペースが収益化</a:t>
            </a:r>
            <a:endParaRPr lang="en-US" sz="1550" dirty="0"/>
          </a:p>
        </p:txBody>
      </p:sp>
      <p:sp>
        <p:nvSpPr>
          <p:cNvPr id="11" name="Text 7"/>
          <p:cNvSpPr/>
          <p:nvPr/>
        </p:nvSpPr>
        <p:spPr>
          <a:xfrm>
            <a:off x="940918" y="2487168"/>
            <a:ext cx="4727448" cy="457200"/>
          </a:xfrm>
          <a:prstGeom prst="rect">
            <a:avLst/>
          </a:prstGeom>
          <a:noFill/>
          <a:ln/>
        </p:spPr>
        <p:txBody>
          <a:bodyPr wrap="square" lIns="0" tIns="0" rIns="0" bIns="0" rtlCol="0" anchor="t"/>
          <a:lstStyle/>
          <a:p>
            <a:pPr indent="0" marL="0">
              <a:lnSpc>
                <a:spcPct val="120000"/>
              </a:lnSpc>
              <a:buNone/>
            </a:pPr>
            <a:r>
              <a:rPr lang="en-US" sz="1100" dirty="0">
                <a:solidFill>
                  <a:srgbClr val="6E6A61"/>
                </a:solidFill>
                <a:latin typeface="Noto Sans JP" pitchFamily="34" charset="0"/>
                <a:ea typeface="Noto Sans JP" pitchFamily="34" charset="-122"/>
                <a:cs typeface="Noto Sans JP" pitchFamily="34" charset="-120"/>
              </a:rPr>
              <a:t>レジ横・待合スペースなどの</a:t>
            </a:r>
            <a:pPr indent="0" marL="0">
              <a:lnSpc>
                <a:spcPct val="120000"/>
              </a:lnSpc>
              <a:buNone/>
            </a:pPr>
            <a:r>
              <a:rPr lang="en-US" sz="1100" b="1" dirty="0">
                <a:solidFill>
                  <a:srgbClr val="1B5E20"/>
                </a:solidFill>
                <a:latin typeface="Noto Sans JP" pitchFamily="34" charset="0"/>
                <a:ea typeface="Noto Sans JP" pitchFamily="34" charset="-122"/>
                <a:cs typeface="Noto Sans JP" pitchFamily="34" charset="-120"/>
              </a:rPr>
              <a:t>デッドスペースが毎月の収益源に。</a:t>
            </a:r>
            <a:endParaRPr lang="en-US" sz="1100" dirty="0"/>
          </a:p>
        </p:txBody>
      </p:sp>
      <p:sp>
        <p:nvSpPr>
          <p:cNvPr id="12" name="Shape 8"/>
          <p:cNvSpPr/>
          <p:nvPr/>
        </p:nvSpPr>
        <p:spPr>
          <a:xfrm>
            <a:off x="940918" y="3017520"/>
            <a:ext cx="4727448" cy="10058"/>
          </a:xfrm>
          <a:prstGeom prst="rect">
            <a:avLst/>
          </a:prstGeom>
          <a:solidFill>
            <a:srgbClr val="E6DFCD"/>
          </a:solidFill>
          <a:ln/>
        </p:spPr>
      </p:sp>
      <p:sp>
        <p:nvSpPr>
          <p:cNvPr id="13" name="Text 9"/>
          <p:cNvSpPr/>
          <p:nvPr/>
        </p:nvSpPr>
        <p:spPr>
          <a:xfrm>
            <a:off x="940918" y="3127248"/>
            <a:ext cx="4727448" cy="621792"/>
          </a:xfrm>
          <a:prstGeom prst="rect">
            <a:avLst/>
          </a:prstGeom>
          <a:noFill/>
          <a:ln/>
        </p:spPr>
        <p:txBody>
          <a:bodyPr wrap="square" lIns="0" tIns="0" rIns="0" bIns="0" rtlCol="0" anchor="t"/>
          <a:lstStyle/>
          <a:p>
            <a:pPr marL="139700" indent="-139700">
              <a:spcAft>
                <a:spcPts val="500"/>
              </a:spcAft>
              <a:buSzPct val="100000"/>
              <a:buChar char="▪"/>
            </a:pPr>
            <a:r>
              <a:rPr lang="en-US" sz="1000" dirty="0">
                <a:solidFill>
                  <a:srgbClr val="3B3833"/>
                </a:solidFill>
                <a:latin typeface="Noto Sans JP" pitchFamily="34" charset="0"/>
                <a:ea typeface="Noto Sans JP" pitchFamily="34" charset="-122"/>
                <a:cs typeface="Noto Sans JP" pitchFamily="34" charset="-120"/>
              </a:rPr>
              <a:t>加盟金なし、機器設置費（30万〜50万円程度）のみで開始</a:t>
            </a:r>
            <a:endParaRPr lang="en-US" sz="1000" dirty="0"/>
          </a:p>
          <a:p>
            <a:pPr marL="139700" indent="-139700">
              <a:spcAft>
                <a:spcPts val="500"/>
              </a:spcAft>
              <a:buSzPct val="100000"/>
              <a:buChar char="▪"/>
            </a:pPr>
            <a:r>
              <a:rPr lang="en-US" sz="1000" dirty="0">
                <a:solidFill>
                  <a:srgbClr val="3B3833"/>
                </a:solidFill>
                <a:latin typeface="Noto Sans JP" pitchFamily="34" charset="0"/>
                <a:ea typeface="Noto Sans JP" pitchFamily="34" charset="-122"/>
                <a:cs typeface="Noto Sans JP" pitchFamily="34" charset="-120"/>
              </a:rPr>
              <a:t>業務委託料として売上の25%を毎月お支払い（収益イメージは次ページ参照）</a:t>
            </a:r>
            <a:endParaRPr lang="en-US" sz="1000" dirty="0"/>
          </a:p>
        </p:txBody>
      </p:sp>
      <p:sp>
        <p:nvSpPr>
          <p:cNvPr id="14" name="Shape 10"/>
          <p:cNvSpPr/>
          <p:nvPr/>
        </p:nvSpPr>
        <p:spPr>
          <a:xfrm>
            <a:off x="6239866" y="1645920"/>
            <a:ext cx="5276088" cy="2212848"/>
          </a:xfrm>
          <a:prstGeom prst="roundRect">
            <a:avLst>
              <a:gd name="adj" fmla="val 2893"/>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15" name="Shape 11"/>
          <p:cNvSpPr/>
          <p:nvPr/>
        </p:nvSpPr>
        <p:spPr>
          <a:xfrm>
            <a:off x="6514186" y="1865376"/>
            <a:ext cx="548640" cy="548640"/>
          </a:xfrm>
          <a:prstGeom prst="ellipse">
            <a:avLst/>
          </a:prstGeom>
          <a:solidFill>
            <a:srgbClr val="F0F5EF"/>
          </a:solidFill>
          <a:ln/>
        </p:spPr>
      </p:sp>
      <p:pic>
        <p:nvPicPr>
          <p:cNvPr id="16" name="Image 2" descr="/home/user/suzuki-ceo/selfcafe-fc-deck/assets/icons/LuTimer-green.png">    </p:cNvPr>
          <p:cNvPicPr>
            <a:picLocks noChangeAspect="1"/>
          </p:cNvPicPr>
          <p:nvPr/>
        </p:nvPicPr>
        <p:blipFill>
          <a:blip r:embed="rId3"/>
          <a:stretch>
            <a:fillRect/>
          </a:stretch>
        </p:blipFill>
        <p:spPr>
          <a:xfrm>
            <a:off x="6634886" y="1986077"/>
            <a:ext cx="307238" cy="307238"/>
          </a:xfrm>
          <a:prstGeom prst="rect">
            <a:avLst/>
          </a:prstGeom>
        </p:spPr>
      </p:pic>
      <p:sp>
        <p:nvSpPr>
          <p:cNvPr id="17" name="Text 12"/>
          <p:cNvSpPr/>
          <p:nvPr/>
        </p:nvSpPr>
        <p:spPr>
          <a:xfrm>
            <a:off x="7190842" y="1865376"/>
            <a:ext cx="4050792" cy="548640"/>
          </a:xfrm>
          <a:prstGeom prst="rect">
            <a:avLst/>
          </a:prstGeom>
          <a:noFill/>
          <a:ln/>
        </p:spPr>
        <p:txBody>
          <a:bodyPr wrap="square" lIns="0" tIns="0" rIns="0" bIns="0" rtlCol="0" anchor="ctr"/>
          <a:lstStyle/>
          <a:p>
            <a:pPr indent="0" marL="0">
              <a:buNone/>
            </a:pPr>
            <a:r>
              <a:rPr lang="en-US" sz="1550" b="1" dirty="0">
                <a:solidFill>
                  <a:srgbClr val="1B5E20"/>
                </a:solidFill>
                <a:latin typeface="Noto Sans JP" pitchFamily="34" charset="0"/>
                <a:ea typeface="Noto Sans JP" pitchFamily="34" charset="-122"/>
                <a:cs typeface="Noto Sans JP" pitchFamily="34" charset="-120"/>
              </a:rPr>
              <a:t>運営負担はほぼゼロ</a:t>
            </a:r>
            <a:endParaRPr lang="en-US" sz="1550" dirty="0"/>
          </a:p>
        </p:txBody>
      </p:sp>
      <p:sp>
        <p:nvSpPr>
          <p:cNvPr id="18" name="Text 13"/>
          <p:cNvSpPr/>
          <p:nvPr/>
        </p:nvSpPr>
        <p:spPr>
          <a:xfrm>
            <a:off x="6514186" y="2487168"/>
            <a:ext cx="4727448" cy="457200"/>
          </a:xfrm>
          <a:prstGeom prst="rect">
            <a:avLst/>
          </a:prstGeom>
          <a:noFill/>
          <a:ln/>
        </p:spPr>
        <p:txBody>
          <a:bodyPr wrap="square" lIns="0" tIns="0" rIns="0" bIns="0" rtlCol="0" anchor="t"/>
          <a:lstStyle/>
          <a:p>
            <a:pPr indent="0" marL="0">
              <a:lnSpc>
                <a:spcPct val="120000"/>
              </a:lnSpc>
              <a:buNone/>
            </a:pPr>
            <a:r>
              <a:rPr lang="en-US" sz="1100" dirty="0">
                <a:solidFill>
                  <a:srgbClr val="6E6A61"/>
                </a:solidFill>
                <a:latin typeface="Noto Sans JP" pitchFamily="34" charset="0"/>
                <a:ea typeface="Noto Sans JP" pitchFamily="34" charset="-122"/>
                <a:cs typeface="Noto Sans JP" pitchFamily="34" charset="-120"/>
              </a:rPr>
              <a:t>日常業務は清掃・補充のみ、</a:t>
            </a:r>
            <a:pPr indent="0" marL="0">
              <a:lnSpc>
                <a:spcPct val="120000"/>
              </a:lnSpc>
              <a:buNone/>
            </a:pPr>
            <a:r>
              <a:rPr lang="en-US" sz="1100" b="1" dirty="0">
                <a:solidFill>
                  <a:srgbClr val="1B5E20"/>
                </a:solidFill>
                <a:latin typeface="Noto Sans JP" pitchFamily="34" charset="0"/>
                <a:ea typeface="Noto Sans JP" pitchFamily="34" charset="-122"/>
                <a:cs typeface="Noto Sans JP" pitchFamily="34" charset="-120"/>
              </a:rPr>
              <a:t>1日15分程度。</a:t>
            </a:r>
            <a:endParaRPr lang="en-US" sz="1100" dirty="0"/>
          </a:p>
        </p:txBody>
      </p:sp>
      <p:sp>
        <p:nvSpPr>
          <p:cNvPr id="19" name="Shape 14"/>
          <p:cNvSpPr/>
          <p:nvPr/>
        </p:nvSpPr>
        <p:spPr>
          <a:xfrm>
            <a:off x="6514186" y="3017520"/>
            <a:ext cx="4727448" cy="10058"/>
          </a:xfrm>
          <a:prstGeom prst="rect">
            <a:avLst/>
          </a:prstGeom>
          <a:solidFill>
            <a:srgbClr val="E6DFCD"/>
          </a:solidFill>
          <a:ln/>
        </p:spPr>
      </p:sp>
      <p:sp>
        <p:nvSpPr>
          <p:cNvPr id="20" name="Text 15"/>
          <p:cNvSpPr/>
          <p:nvPr/>
        </p:nvSpPr>
        <p:spPr>
          <a:xfrm>
            <a:off x="6514186" y="3127248"/>
            <a:ext cx="4727448" cy="621792"/>
          </a:xfrm>
          <a:prstGeom prst="rect">
            <a:avLst/>
          </a:prstGeom>
          <a:noFill/>
          <a:ln/>
        </p:spPr>
        <p:txBody>
          <a:bodyPr wrap="square" lIns="0" tIns="0" rIns="0" bIns="0" rtlCol="0" anchor="t"/>
          <a:lstStyle/>
          <a:p>
            <a:pPr marL="139700" indent="-139700">
              <a:spcAft>
                <a:spcPts val="500"/>
              </a:spcAft>
              <a:buSzPct val="100000"/>
              <a:buChar char="▪"/>
            </a:pPr>
            <a:r>
              <a:rPr lang="en-US" sz="1000" dirty="0">
                <a:solidFill>
                  <a:srgbClr val="3B3833"/>
                </a:solidFill>
                <a:latin typeface="Noto Sans JP" pitchFamily="34" charset="0"/>
                <a:ea typeface="Noto Sans JP" pitchFamily="34" charset="-122"/>
                <a:cs typeface="Noto Sans JP" pitchFamily="34" charset="-120"/>
              </a:rPr>
              <a:t>既存スタッフの稼働内で対応可能、新規採用は不要</a:t>
            </a:r>
            <a:endParaRPr lang="en-US" sz="1000" dirty="0"/>
          </a:p>
          <a:p>
            <a:pPr marL="139700" indent="-139700">
              <a:spcAft>
                <a:spcPts val="500"/>
              </a:spcAft>
              <a:buSzPct val="100000"/>
              <a:buChar char="▪"/>
            </a:pPr>
            <a:r>
              <a:rPr lang="en-US" sz="1000" dirty="0">
                <a:solidFill>
                  <a:srgbClr val="3B3833"/>
                </a:solidFill>
                <a:latin typeface="Noto Sans JP" pitchFamily="34" charset="0"/>
                <a:ea typeface="Noto Sans JP" pitchFamily="34" charset="-122"/>
                <a:cs typeface="Noto Sans JP" pitchFamily="34" charset="-120"/>
              </a:rPr>
              <a:t>トラブル対応も24時間警備会社・遠隔監視で完結、現場対応はほぼ不要</a:t>
            </a:r>
            <a:endParaRPr lang="en-US" sz="1000" dirty="0"/>
          </a:p>
        </p:txBody>
      </p:sp>
      <p:sp>
        <p:nvSpPr>
          <p:cNvPr id="21" name="Shape 16"/>
          <p:cNvSpPr/>
          <p:nvPr/>
        </p:nvSpPr>
        <p:spPr>
          <a:xfrm>
            <a:off x="666598" y="4096512"/>
            <a:ext cx="5276088" cy="2212848"/>
          </a:xfrm>
          <a:prstGeom prst="roundRect">
            <a:avLst>
              <a:gd name="adj" fmla="val 2893"/>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22" name="Shape 17"/>
          <p:cNvSpPr/>
          <p:nvPr/>
        </p:nvSpPr>
        <p:spPr>
          <a:xfrm>
            <a:off x="940918" y="4315968"/>
            <a:ext cx="548640" cy="548640"/>
          </a:xfrm>
          <a:prstGeom prst="ellipse">
            <a:avLst/>
          </a:prstGeom>
          <a:solidFill>
            <a:srgbClr val="F0F5EF"/>
          </a:solidFill>
          <a:ln/>
        </p:spPr>
      </p:sp>
      <p:pic>
        <p:nvPicPr>
          <p:cNvPr id="23" name="Image 3" descr="/home/user/suzuki-ceo/selfcafe-fc-deck/assets/icons/LuMapPin-green.png">    </p:cNvPr>
          <p:cNvPicPr>
            <a:picLocks noChangeAspect="1"/>
          </p:cNvPicPr>
          <p:nvPr/>
        </p:nvPicPr>
        <p:blipFill>
          <a:blip r:embed="rId4"/>
          <a:stretch>
            <a:fillRect/>
          </a:stretch>
        </p:blipFill>
        <p:spPr>
          <a:xfrm>
            <a:off x="1061618" y="4436669"/>
            <a:ext cx="307238" cy="307238"/>
          </a:xfrm>
          <a:prstGeom prst="rect">
            <a:avLst/>
          </a:prstGeom>
        </p:spPr>
      </p:pic>
      <p:sp>
        <p:nvSpPr>
          <p:cNvPr id="24" name="Text 18"/>
          <p:cNvSpPr/>
          <p:nvPr/>
        </p:nvSpPr>
        <p:spPr>
          <a:xfrm>
            <a:off x="1617574" y="4315968"/>
            <a:ext cx="4050792" cy="548640"/>
          </a:xfrm>
          <a:prstGeom prst="rect">
            <a:avLst/>
          </a:prstGeom>
          <a:noFill/>
          <a:ln/>
        </p:spPr>
        <p:txBody>
          <a:bodyPr wrap="square" lIns="0" tIns="0" rIns="0" bIns="0" rtlCol="0" anchor="ctr"/>
          <a:lstStyle/>
          <a:p>
            <a:pPr indent="0" marL="0">
              <a:buNone/>
            </a:pPr>
            <a:r>
              <a:rPr lang="en-US" sz="1550" b="1" dirty="0">
                <a:solidFill>
                  <a:srgbClr val="1B5E20"/>
                </a:solidFill>
                <a:latin typeface="Noto Sans JP" pitchFamily="34" charset="0"/>
                <a:ea typeface="Noto Sans JP" pitchFamily="34" charset="-122"/>
                <a:cs typeface="Noto Sans JP" pitchFamily="34" charset="-120"/>
              </a:rPr>
              <a:t>新しい来店動機に</a:t>
            </a:r>
            <a:endParaRPr lang="en-US" sz="1550" dirty="0"/>
          </a:p>
        </p:txBody>
      </p:sp>
      <p:sp>
        <p:nvSpPr>
          <p:cNvPr id="25" name="Text 19"/>
          <p:cNvSpPr/>
          <p:nvPr/>
        </p:nvSpPr>
        <p:spPr>
          <a:xfrm>
            <a:off x="940918" y="4937760"/>
            <a:ext cx="4727448" cy="457200"/>
          </a:xfrm>
          <a:prstGeom prst="rect">
            <a:avLst/>
          </a:prstGeom>
          <a:noFill/>
          <a:ln/>
        </p:spPr>
        <p:txBody>
          <a:bodyPr wrap="square" lIns="0" tIns="0" rIns="0" bIns="0" rtlCol="0" anchor="t"/>
          <a:lstStyle/>
          <a:p>
            <a:pPr indent="0" marL="0">
              <a:lnSpc>
                <a:spcPct val="120000"/>
              </a:lnSpc>
              <a:buNone/>
            </a:pPr>
            <a:r>
              <a:rPr lang="en-US" sz="1100" dirty="0">
                <a:solidFill>
                  <a:srgbClr val="6E6A61"/>
                </a:solidFill>
                <a:latin typeface="Noto Sans JP" pitchFamily="34" charset="0"/>
                <a:ea typeface="Noto Sans JP" pitchFamily="34" charset="-122"/>
                <a:cs typeface="Noto Sans JP" pitchFamily="34" charset="-120"/>
              </a:rPr>
              <a:t>Wi-Fi・電源完備のカフェが</a:t>
            </a:r>
            <a:pPr indent="0" marL="0">
              <a:lnSpc>
                <a:spcPct val="120000"/>
              </a:lnSpc>
              <a:buNone/>
            </a:pPr>
            <a:r>
              <a:rPr lang="en-US" sz="1100" b="1" dirty="0">
                <a:solidFill>
                  <a:srgbClr val="1B5E20"/>
                </a:solidFill>
                <a:latin typeface="Noto Sans JP" pitchFamily="34" charset="0"/>
                <a:ea typeface="Noto Sans JP" pitchFamily="34" charset="-122"/>
                <a:cs typeface="Noto Sans JP" pitchFamily="34" charset="-120"/>
              </a:rPr>
              <a:t>新しい接点に。</a:t>
            </a:r>
            <a:endParaRPr lang="en-US" sz="1100" dirty="0"/>
          </a:p>
        </p:txBody>
      </p:sp>
      <p:sp>
        <p:nvSpPr>
          <p:cNvPr id="26" name="Shape 20"/>
          <p:cNvSpPr/>
          <p:nvPr/>
        </p:nvSpPr>
        <p:spPr>
          <a:xfrm>
            <a:off x="940918" y="5468112"/>
            <a:ext cx="4727448" cy="10058"/>
          </a:xfrm>
          <a:prstGeom prst="rect">
            <a:avLst/>
          </a:prstGeom>
          <a:solidFill>
            <a:srgbClr val="E6DFCD"/>
          </a:solidFill>
          <a:ln/>
        </p:spPr>
      </p:sp>
      <p:sp>
        <p:nvSpPr>
          <p:cNvPr id="27" name="Text 21"/>
          <p:cNvSpPr/>
          <p:nvPr/>
        </p:nvSpPr>
        <p:spPr>
          <a:xfrm>
            <a:off x="940918" y="5577840"/>
            <a:ext cx="4727448" cy="621792"/>
          </a:xfrm>
          <a:prstGeom prst="rect">
            <a:avLst/>
          </a:prstGeom>
          <a:noFill/>
          <a:ln/>
        </p:spPr>
        <p:txBody>
          <a:bodyPr wrap="square" lIns="0" tIns="0" rIns="0" bIns="0" rtlCol="0" anchor="t"/>
          <a:lstStyle/>
          <a:p>
            <a:pPr marL="139700" indent="-139700">
              <a:spcAft>
                <a:spcPts val="500"/>
              </a:spcAft>
              <a:buSzPct val="100000"/>
              <a:buChar char="▪"/>
            </a:pPr>
            <a:r>
              <a:rPr lang="en-US" sz="1000" dirty="0">
                <a:solidFill>
                  <a:srgbClr val="3B3833"/>
                </a:solidFill>
                <a:latin typeface="Noto Sans JP" pitchFamily="34" charset="0"/>
                <a:ea typeface="Noto Sans JP" pitchFamily="34" charset="-122"/>
                <a:cs typeface="Noto Sans JP" pitchFamily="34" charset="-120"/>
              </a:rPr>
              <a:t>Googleマップ・カフェ検索アプリで「近くのカフェ」を探す人と出会える</a:t>
            </a:r>
            <a:endParaRPr lang="en-US" sz="1000" dirty="0"/>
          </a:p>
          <a:p>
            <a:pPr marL="139700" indent="-139700">
              <a:spcAft>
                <a:spcPts val="500"/>
              </a:spcAft>
              <a:buSzPct val="100000"/>
              <a:buChar char="▪"/>
            </a:pPr>
            <a:r>
              <a:rPr lang="en-US" sz="1000" dirty="0">
                <a:solidFill>
                  <a:srgbClr val="3B3833"/>
                </a:solidFill>
                <a:latin typeface="Noto Sans JP" pitchFamily="34" charset="0"/>
                <a:ea typeface="Noto Sans JP" pitchFamily="34" charset="-122"/>
                <a:cs typeface="Noto Sans JP" pitchFamily="34" charset="-120"/>
              </a:rPr>
              <a:t>書店・美容室・整体院・病院の待合など、待ち時間が生まれる業態と特に好相性</a:t>
            </a:r>
            <a:endParaRPr lang="en-US" sz="1000" dirty="0"/>
          </a:p>
        </p:txBody>
      </p:sp>
      <p:sp>
        <p:nvSpPr>
          <p:cNvPr id="28" name="Shape 22"/>
          <p:cNvSpPr/>
          <p:nvPr/>
        </p:nvSpPr>
        <p:spPr>
          <a:xfrm>
            <a:off x="6239866" y="4096512"/>
            <a:ext cx="5276088" cy="2212848"/>
          </a:xfrm>
          <a:prstGeom prst="roundRect">
            <a:avLst>
              <a:gd name="adj" fmla="val 2893"/>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29" name="Shape 23"/>
          <p:cNvSpPr/>
          <p:nvPr/>
        </p:nvSpPr>
        <p:spPr>
          <a:xfrm>
            <a:off x="6514186" y="4315968"/>
            <a:ext cx="548640" cy="548640"/>
          </a:xfrm>
          <a:prstGeom prst="ellipse">
            <a:avLst/>
          </a:prstGeom>
          <a:solidFill>
            <a:srgbClr val="F0F5EF"/>
          </a:solidFill>
          <a:ln/>
        </p:spPr>
      </p:sp>
      <p:pic>
        <p:nvPicPr>
          <p:cNvPr id="30" name="Image 4" descr="/home/user/suzuki-ceo/selfcafe-fc-deck/assets/icons/LuShieldCheck-green.png">    </p:cNvPr>
          <p:cNvPicPr>
            <a:picLocks noChangeAspect="1"/>
          </p:cNvPicPr>
          <p:nvPr/>
        </p:nvPicPr>
        <p:blipFill>
          <a:blip r:embed="rId5"/>
          <a:stretch>
            <a:fillRect/>
          </a:stretch>
        </p:blipFill>
        <p:spPr>
          <a:xfrm>
            <a:off x="6634886" y="4436669"/>
            <a:ext cx="307238" cy="307238"/>
          </a:xfrm>
          <a:prstGeom prst="rect">
            <a:avLst/>
          </a:prstGeom>
        </p:spPr>
      </p:pic>
      <p:sp>
        <p:nvSpPr>
          <p:cNvPr id="31" name="Text 24"/>
          <p:cNvSpPr/>
          <p:nvPr/>
        </p:nvSpPr>
        <p:spPr>
          <a:xfrm>
            <a:off x="7190842" y="4315968"/>
            <a:ext cx="4050792" cy="548640"/>
          </a:xfrm>
          <a:prstGeom prst="rect">
            <a:avLst/>
          </a:prstGeom>
          <a:noFill/>
          <a:ln/>
        </p:spPr>
        <p:txBody>
          <a:bodyPr wrap="square" lIns="0" tIns="0" rIns="0" bIns="0" rtlCol="0" anchor="ctr"/>
          <a:lstStyle/>
          <a:p>
            <a:pPr indent="0" marL="0">
              <a:buNone/>
            </a:pPr>
            <a:r>
              <a:rPr lang="en-US" sz="1550" b="1" dirty="0">
                <a:solidFill>
                  <a:srgbClr val="1B5E20"/>
                </a:solidFill>
                <a:latin typeface="Noto Sans JP" pitchFamily="34" charset="0"/>
                <a:ea typeface="Noto Sans JP" pitchFamily="34" charset="-122"/>
                <a:cs typeface="Noto Sans JP" pitchFamily="34" charset="-120"/>
              </a:rPr>
              <a:t>低リスクで導入できる</a:t>
            </a:r>
            <a:endParaRPr lang="en-US" sz="1550" dirty="0"/>
          </a:p>
        </p:txBody>
      </p:sp>
      <p:sp>
        <p:nvSpPr>
          <p:cNvPr id="32" name="Text 25"/>
          <p:cNvSpPr/>
          <p:nvPr/>
        </p:nvSpPr>
        <p:spPr>
          <a:xfrm>
            <a:off x="6514186" y="4937760"/>
            <a:ext cx="4727448" cy="457200"/>
          </a:xfrm>
          <a:prstGeom prst="rect">
            <a:avLst/>
          </a:prstGeom>
          <a:noFill/>
          <a:ln/>
        </p:spPr>
        <p:txBody>
          <a:bodyPr wrap="square" lIns="0" tIns="0" rIns="0" bIns="0" rtlCol="0" anchor="t"/>
          <a:lstStyle/>
          <a:p>
            <a:pPr indent="0" marL="0">
              <a:lnSpc>
                <a:spcPct val="120000"/>
              </a:lnSpc>
              <a:buNone/>
            </a:pPr>
            <a:r>
              <a:rPr lang="en-US" sz="1100" dirty="0">
                <a:solidFill>
                  <a:srgbClr val="6E6A61"/>
                </a:solidFill>
                <a:latin typeface="Noto Sans JP" pitchFamily="34" charset="0"/>
                <a:ea typeface="Noto Sans JP" pitchFamily="34" charset="-122"/>
                <a:cs typeface="Noto Sans JP" pitchFamily="34" charset="-120"/>
              </a:rPr>
              <a:t>通常のFC加盟（700万円〜）と比べ、</a:t>
            </a:r>
            <a:pPr indent="0" marL="0">
              <a:lnSpc>
                <a:spcPct val="120000"/>
              </a:lnSpc>
              <a:buNone/>
            </a:pPr>
            <a:r>
              <a:rPr lang="en-US" sz="1100" b="1" dirty="0">
                <a:solidFill>
                  <a:srgbClr val="1B5E20"/>
                </a:solidFill>
                <a:latin typeface="Noto Sans JP" pitchFamily="34" charset="0"/>
                <a:ea typeface="Noto Sans JP" pitchFamily="34" charset="-122"/>
                <a:cs typeface="Noto Sans JP" pitchFamily="34" charset="-120"/>
              </a:rPr>
              <a:t>意思決定のハードルが低い。</a:t>
            </a:r>
            <a:endParaRPr lang="en-US" sz="1100" dirty="0"/>
          </a:p>
        </p:txBody>
      </p:sp>
      <p:sp>
        <p:nvSpPr>
          <p:cNvPr id="33" name="Shape 26"/>
          <p:cNvSpPr/>
          <p:nvPr/>
        </p:nvSpPr>
        <p:spPr>
          <a:xfrm>
            <a:off x="6514186" y="5468112"/>
            <a:ext cx="4727448" cy="10058"/>
          </a:xfrm>
          <a:prstGeom prst="rect">
            <a:avLst/>
          </a:prstGeom>
          <a:solidFill>
            <a:srgbClr val="E6DFCD"/>
          </a:solidFill>
          <a:ln/>
        </p:spPr>
      </p:sp>
      <p:sp>
        <p:nvSpPr>
          <p:cNvPr id="34" name="Text 27"/>
          <p:cNvSpPr/>
          <p:nvPr/>
        </p:nvSpPr>
        <p:spPr>
          <a:xfrm>
            <a:off x="6514186" y="5577840"/>
            <a:ext cx="4727448" cy="621792"/>
          </a:xfrm>
          <a:prstGeom prst="rect">
            <a:avLst/>
          </a:prstGeom>
          <a:noFill/>
          <a:ln/>
        </p:spPr>
        <p:txBody>
          <a:bodyPr wrap="square" lIns="0" tIns="0" rIns="0" bIns="0" rtlCol="0" anchor="t"/>
          <a:lstStyle/>
          <a:p>
            <a:pPr marL="139700" indent="-139700">
              <a:spcAft>
                <a:spcPts val="500"/>
              </a:spcAft>
              <a:buSzPct val="100000"/>
              <a:buChar char="▪"/>
            </a:pPr>
            <a:r>
              <a:rPr lang="en-US" sz="1000" dirty="0">
                <a:solidFill>
                  <a:srgbClr val="3B3833"/>
                </a:solidFill>
                <a:latin typeface="Noto Sans JP" pitchFamily="34" charset="0"/>
                <a:ea typeface="Noto Sans JP" pitchFamily="34" charset="-122"/>
                <a:cs typeface="Noto Sans JP" pitchFamily="34" charset="-120"/>
              </a:rPr>
              <a:t>独立出店ではないため原状回復の負担も小さい</a:t>
            </a:r>
            <a:endParaRPr lang="en-US" sz="1000" dirty="0"/>
          </a:p>
          <a:p>
            <a:pPr marL="139700" indent="-139700">
              <a:spcAft>
                <a:spcPts val="500"/>
              </a:spcAft>
              <a:buSzPct val="100000"/>
              <a:buChar char="▪"/>
            </a:pPr>
            <a:r>
              <a:rPr lang="en-US" sz="1000" dirty="0">
                <a:solidFill>
                  <a:srgbClr val="3B3833"/>
                </a:solidFill>
                <a:latin typeface="Noto Sans JP" pitchFamily="34" charset="0"/>
                <a:ea typeface="Noto Sans JP" pitchFamily="34" charset="-122"/>
                <a:cs typeface="Noto Sans JP" pitchFamily="34" charset="-120"/>
              </a:rPr>
              <a:t>内装・システム導入まで本部がフルサポート、店舗運営のノウハウをそのまま活用</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CF5"/>
        </a:solidFill>
      </p:bgPr>
    </p:bg>
    <p:spTree>
      <p:nvGrpSpPr>
        <p:cNvPr id="1" name=""/>
        <p:cNvGrpSpPr/>
        <p:nvPr/>
      </p:nvGrpSpPr>
      <p:grpSpPr>
        <a:xfrm>
          <a:off x="0" y="0"/>
          <a:ext cx="0" cy="0"/>
          <a:chOff x="0" y="0"/>
          <a:chExt cx="0" cy="0"/>
        </a:xfrm>
      </p:grpSpPr>
      <p:sp>
        <p:nvSpPr>
          <p:cNvPr id="2" name="Text 0"/>
          <p:cNvSpPr/>
          <p:nvPr/>
        </p:nvSpPr>
        <p:spPr>
          <a:xfrm>
            <a:off x="666598" y="506578"/>
            <a:ext cx="8503920" cy="384048"/>
          </a:xfrm>
          <a:prstGeom prst="rect">
            <a:avLst/>
          </a:prstGeom>
          <a:noFill/>
          <a:ln/>
        </p:spPr>
        <p:txBody>
          <a:bodyPr wrap="square" lIns="0" tIns="0" rIns="0" bIns="0" rtlCol="0" anchor="ctr"/>
          <a:lstStyle/>
          <a:p>
            <a:pPr algn="l" indent="0" marL="0">
              <a:buNone/>
            </a:pPr>
            <a:r>
              <a:rPr lang="en-US" sz="3000" dirty="0">
                <a:solidFill>
                  <a:srgbClr val="1B5E20"/>
                </a:solidFill>
                <a:latin typeface="Noto Sans JP" pitchFamily="34" charset="0"/>
                <a:ea typeface="Noto Sans JP" pitchFamily="34" charset="-122"/>
                <a:cs typeface="Noto Sans JP" pitchFamily="34" charset="-120"/>
              </a:rPr>
              <a:t>会社概要</a:t>
            </a:r>
            <a:endParaRPr lang="en-US" sz="3000" dirty="0"/>
          </a:p>
        </p:txBody>
      </p:sp>
      <p:sp>
        <p:nvSpPr>
          <p:cNvPr id="3" name="Shape 1"/>
          <p:cNvSpPr/>
          <p:nvPr/>
        </p:nvSpPr>
        <p:spPr>
          <a:xfrm>
            <a:off x="666598" y="1114654"/>
            <a:ext cx="10858500" cy="19202"/>
          </a:xfrm>
          <a:prstGeom prst="rect">
            <a:avLst/>
          </a:prstGeom>
          <a:solidFill>
            <a:srgbClr val="8D6E63"/>
          </a:solidFill>
          <a:ln/>
        </p:spPr>
      </p:sp>
      <p:pic>
        <p:nvPicPr>
          <p:cNvPr id="4" name="Image 0" descr="/home/user/suzuki-ceo/selfcafe-fc-deck/assets/logo_gray.png">    </p:cNvPr>
          <p:cNvPicPr>
            <a:picLocks noChangeAspect="1"/>
          </p:cNvPicPr>
          <p:nvPr/>
        </p:nvPicPr>
        <p:blipFill>
          <a:blip r:embed="rId1"/>
          <a:stretch>
            <a:fillRect/>
          </a:stretch>
        </p:blipFill>
        <p:spPr>
          <a:xfrm>
            <a:off x="9415577" y="802843"/>
            <a:ext cx="2024482" cy="288036"/>
          </a:xfrm>
          <a:prstGeom prst="rect">
            <a:avLst/>
          </a:prstGeom>
        </p:spPr>
      </p:pic>
      <p:sp>
        <p:nvSpPr>
          <p:cNvPr id="5" name="Text 2"/>
          <p:cNvSpPr/>
          <p:nvPr/>
        </p:nvSpPr>
        <p:spPr>
          <a:xfrm>
            <a:off x="10610698" y="6345936"/>
            <a:ext cx="914400" cy="219456"/>
          </a:xfrm>
          <a:prstGeom prst="rect">
            <a:avLst/>
          </a:prstGeom>
          <a:noFill/>
          <a:ln/>
        </p:spPr>
        <p:txBody>
          <a:bodyPr wrap="square" lIns="0" tIns="0" rIns="0" bIns="0" rtlCol="0" anchor="ctr"/>
          <a:lstStyle/>
          <a:p>
            <a:pPr algn="r" indent="0" marL="0">
              <a:buNone/>
            </a:pPr>
            <a:r>
              <a:rPr lang="en-US" sz="1300" dirty="0">
                <a:solidFill>
                  <a:srgbClr val="000000"/>
                </a:solidFill>
                <a:latin typeface="Cambria" pitchFamily="34" charset="0"/>
                <a:ea typeface="Cambria" pitchFamily="34" charset="-122"/>
                <a:cs typeface="Cambria" pitchFamily="34" charset="-120"/>
              </a:rPr>
              <a:t>4</a:t>
            </a:r>
            <a:endParaRPr lang="en-US" sz="1300" dirty="0"/>
          </a:p>
        </p:txBody>
      </p:sp>
      <p:sp>
        <p:nvSpPr>
          <p:cNvPr id="6" name="Shape 3"/>
          <p:cNvSpPr/>
          <p:nvPr/>
        </p:nvSpPr>
        <p:spPr>
          <a:xfrm>
            <a:off x="666598" y="1417320"/>
            <a:ext cx="4160520" cy="4846320"/>
          </a:xfrm>
          <a:prstGeom prst="roundRect">
            <a:avLst>
              <a:gd name="adj" fmla="val 1978"/>
            </a:avLst>
          </a:prstGeom>
          <a:solidFill>
            <a:srgbClr val="12401A"/>
          </a:solidFill>
          <a:ln/>
          <a:effectLst>
            <a:outerShdw sx="100000" sy="100000" kx="0" ky="0" algn="bl" rotWithShape="0" blurRad="114300" dist="17780" dir="5400000">
              <a:srgbClr val="6B6250">
                <a:alpha val="14000"/>
              </a:srgbClr>
            </a:outerShdw>
          </a:effectLst>
        </p:spPr>
      </p:sp>
      <p:pic>
        <p:nvPicPr>
          <p:cNvPr id="7" name="Image 1" descr="/home/user/suzuki-ceo/selfcafe-fc-deck/assets/logo_white.png">    </p:cNvPr>
          <p:cNvPicPr>
            <a:picLocks noChangeAspect="1"/>
          </p:cNvPicPr>
          <p:nvPr/>
        </p:nvPicPr>
        <p:blipFill>
          <a:blip r:embed="rId2"/>
          <a:stretch>
            <a:fillRect/>
          </a:stretch>
        </p:blipFill>
        <p:spPr>
          <a:xfrm>
            <a:off x="1142086" y="1929384"/>
            <a:ext cx="3209544" cy="457200"/>
          </a:xfrm>
          <a:prstGeom prst="rect">
            <a:avLst/>
          </a:prstGeom>
        </p:spPr>
      </p:pic>
      <p:sp>
        <p:nvSpPr>
          <p:cNvPr id="8" name="Text 4"/>
          <p:cNvSpPr/>
          <p:nvPr/>
        </p:nvSpPr>
        <p:spPr>
          <a:xfrm>
            <a:off x="1142086" y="2624328"/>
            <a:ext cx="3209544" cy="384048"/>
          </a:xfrm>
          <a:prstGeom prst="rect">
            <a:avLst/>
          </a:prstGeom>
          <a:noFill/>
          <a:ln/>
        </p:spPr>
        <p:txBody>
          <a:bodyPr wrap="square" lIns="0" tIns="0" rIns="0" bIns="0" rtlCol="0" anchor="ctr"/>
          <a:lstStyle/>
          <a:p>
            <a:pPr indent="0" marL="0">
              <a:buNone/>
            </a:pPr>
            <a:r>
              <a:rPr lang="en-US" sz="1900" b="1" dirty="0">
                <a:solidFill>
                  <a:srgbClr val="FFFFFF"/>
                </a:solidFill>
                <a:latin typeface="Noto Sans JP" pitchFamily="34" charset="0"/>
                <a:ea typeface="Noto Sans JP" pitchFamily="34" charset="-122"/>
                <a:cs typeface="Noto Sans JP" pitchFamily="34" charset="-120"/>
              </a:rPr>
              <a:t>セルフカフェ株式会社</a:t>
            </a:r>
            <a:endParaRPr lang="en-US" sz="1900" dirty="0"/>
          </a:p>
        </p:txBody>
      </p:sp>
      <p:sp>
        <p:nvSpPr>
          <p:cNvPr id="9" name="Text 5"/>
          <p:cNvSpPr/>
          <p:nvPr/>
        </p:nvSpPr>
        <p:spPr>
          <a:xfrm>
            <a:off x="1142086" y="3026664"/>
            <a:ext cx="3209544" cy="274320"/>
          </a:xfrm>
          <a:prstGeom prst="rect">
            <a:avLst/>
          </a:prstGeom>
          <a:noFill/>
          <a:ln/>
        </p:spPr>
        <p:txBody>
          <a:bodyPr wrap="square" lIns="0" tIns="0" rIns="0" bIns="0" rtlCol="0" anchor="ctr"/>
          <a:lstStyle/>
          <a:p>
            <a:pPr indent="0" marL="0">
              <a:buNone/>
            </a:pPr>
            <a:r>
              <a:rPr lang="en-US" sz="1150" spc="200" kern="0" dirty="0">
                <a:solidFill>
                  <a:srgbClr val="A9C6AC"/>
                </a:solidFill>
                <a:latin typeface="Arial" pitchFamily="34" charset="0"/>
                <a:ea typeface="Arial" pitchFamily="34" charset="-122"/>
                <a:cs typeface="Arial" pitchFamily="34" charset="-120"/>
              </a:rPr>
              <a:t>SELF CAFE Inc.</a:t>
            </a:r>
            <a:endParaRPr lang="en-US" sz="1150" dirty="0"/>
          </a:p>
        </p:txBody>
      </p:sp>
      <p:sp>
        <p:nvSpPr>
          <p:cNvPr id="10" name="Shape 6"/>
          <p:cNvSpPr/>
          <p:nvPr/>
        </p:nvSpPr>
        <p:spPr>
          <a:xfrm>
            <a:off x="1142086" y="3429000"/>
            <a:ext cx="1005840" cy="19202"/>
          </a:xfrm>
          <a:prstGeom prst="rect">
            <a:avLst/>
          </a:prstGeom>
          <a:solidFill>
            <a:srgbClr val="A9C6AC"/>
          </a:solidFill>
          <a:ln/>
        </p:spPr>
      </p:sp>
      <p:sp>
        <p:nvSpPr>
          <p:cNvPr id="11" name="Text 7"/>
          <p:cNvSpPr/>
          <p:nvPr/>
        </p:nvSpPr>
        <p:spPr>
          <a:xfrm>
            <a:off x="1142086" y="3611880"/>
            <a:ext cx="3209544" cy="658368"/>
          </a:xfrm>
          <a:prstGeom prst="rect">
            <a:avLst/>
          </a:prstGeom>
          <a:noFill/>
          <a:ln/>
        </p:spPr>
        <p:txBody>
          <a:bodyPr wrap="square" lIns="0" tIns="0" rIns="0" bIns="0" rtlCol="0" anchor="t"/>
          <a:lstStyle/>
          <a:p>
            <a:pPr indent="0" marL="0">
              <a:lnSpc>
                <a:spcPct val="135000"/>
              </a:lnSpc>
              <a:buNone/>
            </a:pPr>
            <a:r>
              <a:rPr lang="en-US" sz="1200" dirty="0">
                <a:solidFill>
                  <a:srgbClr val="A9C6AC"/>
                </a:solidFill>
                <a:latin typeface="Noto Sans JP" pitchFamily="34" charset="0"/>
                <a:ea typeface="Noto Sans JP" pitchFamily="34" charset="-122"/>
                <a:cs typeface="Noto Sans JP" pitchFamily="34" charset="-120"/>
              </a:rPr>
              <a:t>Wi-Fi・電源完備の無人カフェを企画・開発・運営しています。</a:t>
            </a:r>
            <a:endParaRPr lang="en-US" sz="1200" dirty="0"/>
          </a:p>
        </p:txBody>
      </p:sp>
      <p:pic>
        <p:nvPicPr>
          <p:cNvPr id="12" name="Image 2" descr="/home/user/suzuki-ceo/selfcafe-fc-deck/assets/photos/p02-storefront.jpg">    </p:cNvPr>
          <p:cNvPicPr>
            <a:picLocks noChangeAspect="1"/>
          </p:cNvPicPr>
          <p:nvPr/>
        </p:nvPicPr>
        <p:blipFill>
          <a:blip r:embed="rId3"/>
          <a:srcRect l="0" r="0" t="0" b="0"/>
          <a:stretch/>
        </p:blipFill>
        <p:spPr>
          <a:xfrm>
            <a:off x="1142086" y="4398264"/>
            <a:ext cx="3209544" cy="1481328"/>
          </a:xfrm>
          <a:prstGeom prst="rect">
            <a:avLst/>
          </a:prstGeom>
        </p:spPr>
      </p:pic>
      <p:sp>
        <p:nvSpPr>
          <p:cNvPr id="13" name="Shape 8"/>
          <p:cNvSpPr/>
          <p:nvPr/>
        </p:nvSpPr>
        <p:spPr>
          <a:xfrm>
            <a:off x="1142086" y="4398264"/>
            <a:ext cx="3209544" cy="1481328"/>
          </a:xfrm>
          <a:prstGeom prst="rect">
            <a:avLst/>
          </a:prstGeom>
          <a:ln w="12700">
            <a:solidFill>
              <a:srgbClr val="D8CFBB"/>
            </a:solidFill>
            <a:prstDash val="solid"/>
          </a:ln>
        </p:spPr>
      </p:sp>
      <p:sp>
        <p:nvSpPr>
          <p:cNvPr id="14" name="Shape 9"/>
          <p:cNvSpPr/>
          <p:nvPr/>
        </p:nvSpPr>
        <p:spPr>
          <a:xfrm>
            <a:off x="1251814" y="5440680"/>
            <a:ext cx="1900428" cy="329184"/>
          </a:xfrm>
          <a:prstGeom prst="roundRect">
            <a:avLst>
              <a:gd name="adj" fmla="val 13889"/>
            </a:avLst>
          </a:prstGeom>
          <a:solidFill>
            <a:srgbClr val="FFFFFF">
              <a:alpha val="90000"/>
            </a:srgbClr>
          </a:solidFill>
          <a:ln/>
        </p:spPr>
      </p:sp>
      <p:sp>
        <p:nvSpPr>
          <p:cNvPr id="15" name="Text 10"/>
          <p:cNvSpPr/>
          <p:nvPr/>
        </p:nvSpPr>
        <p:spPr>
          <a:xfrm>
            <a:off x="1398118" y="5440680"/>
            <a:ext cx="1644396" cy="329184"/>
          </a:xfrm>
          <a:prstGeom prst="rect">
            <a:avLst/>
          </a:prstGeom>
          <a:noFill/>
          <a:ln/>
        </p:spPr>
        <p:txBody>
          <a:bodyPr wrap="square" lIns="0" tIns="0" rIns="0" bIns="0" rtlCol="0" anchor="ctr"/>
          <a:lstStyle/>
          <a:p>
            <a:pPr indent="0" marL="0">
              <a:buNone/>
            </a:pPr>
            <a:r>
              <a:rPr lang="en-US" sz="950" b="1" dirty="0">
                <a:solidFill>
                  <a:srgbClr val="3B3833"/>
                </a:solidFill>
                <a:latin typeface="Noto Sans JP" pitchFamily="34" charset="0"/>
                <a:ea typeface="Noto Sans JP" pitchFamily="34" charset="-122"/>
                <a:cs typeface="Noto Sans JP" pitchFamily="34" charset="-120"/>
              </a:rPr>
              <a:t>セルフカフェ 盛岡駅前店</a:t>
            </a:r>
            <a:endParaRPr lang="en-US" sz="950" dirty="0"/>
          </a:p>
        </p:txBody>
      </p:sp>
      <p:sp>
        <p:nvSpPr>
          <p:cNvPr id="16" name="Text 11"/>
          <p:cNvSpPr/>
          <p:nvPr/>
        </p:nvSpPr>
        <p:spPr>
          <a:xfrm>
            <a:off x="5257800" y="1463040"/>
            <a:ext cx="1417320" cy="603504"/>
          </a:xfrm>
          <a:prstGeom prst="rect">
            <a:avLst/>
          </a:prstGeom>
          <a:noFill/>
          <a:ln/>
        </p:spPr>
        <p:txBody>
          <a:bodyPr wrap="square" lIns="0" tIns="0" rIns="0" bIns="0" rtlCol="0" anchor="ctr"/>
          <a:lstStyle/>
          <a:p>
            <a:pPr indent="0" marL="0">
              <a:buNone/>
            </a:pPr>
            <a:r>
              <a:rPr lang="en-US" sz="1150" b="1" dirty="0">
                <a:solidFill>
                  <a:srgbClr val="5D4037"/>
                </a:solidFill>
                <a:latin typeface="Noto Sans JP" pitchFamily="34" charset="0"/>
                <a:ea typeface="Noto Sans JP" pitchFamily="34" charset="-122"/>
                <a:cs typeface="Noto Sans JP" pitchFamily="34" charset="-120"/>
              </a:rPr>
              <a:t>会社名</a:t>
            </a:r>
            <a:endParaRPr lang="en-US" sz="1150" dirty="0"/>
          </a:p>
        </p:txBody>
      </p:sp>
      <p:sp>
        <p:nvSpPr>
          <p:cNvPr id="17" name="Text 12"/>
          <p:cNvSpPr/>
          <p:nvPr/>
        </p:nvSpPr>
        <p:spPr>
          <a:xfrm>
            <a:off x="6739128" y="1463040"/>
            <a:ext cx="4785970" cy="603504"/>
          </a:xfrm>
          <a:prstGeom prst="rect">
            <a:avLst/>
          </a:prstGeom>
          <a:noFill/>
          <a:ln/>
        </p:spPr>
        <p:txBody>
          <a:bodyPr wrap="square" lIns="0" tIns="0" rIns="0" bIns="0" rtlCol="0" anchor="ctr"/>
          <a:lstStyle/>
          <a:p>
            <a:pPr indent="0" marL="0">
              <a:buNone/>
            </a:pPr>
            <a:r>
              <a:rPr lang="en-US" sz="1450" dirty="0">
                <a:solidFill>
                  <a:srgbClr val="3B3833"/>
                </a:solidFill>
                <a:latin typeface="Noto Sans JP" pitchFamily="34" charset="0"/>
                <a:ea typeface="Noto Sans JP" pitchFamily="34" charset="-122"/>
                <a:cs typeface="Noto Sans JP" pitchFamily="34" charset="-120"/>
              </a:rPr>
              <a:t>セルフカフェ株式会社</a:t>
            </a:r>
            <a:endParaRPr lang="en-US" sz="1450" dirty="0"/>
          </a:p>
        </p:txBody>
      </p:sp>
      <p:sp>
        <p:nvSpPr>
          <p:cNvPr id="18" name="Shape 13"/>
          <p:cNvSpPr/>
          <p:nvPr/>
        </p:nvSpPr>
        <p:spPr>
          <a:xfrm>
            <a:off x="5257800" y="2084832"/>
            <a:ext cx="6267298" cy="10058"/>
          </a:xfrm>
          <a:prstGeom prst="rect">
            <a:avLst/>
          </a:prstGeom>
          <a:solidFill>
            <a:srgbClr val="E6DFCD"/>
          </a:solidFill>
          <a:ln/>
        </p:spPr>
      </p:sp>
      <p:sp>
        <p:nvSpPr>
          <p:cNvPr id="19" name="Text 14"/>
          <p:cNvSpPr/>
          <p:nvPr/>
        </p:nvSpPr>
        <p:spPr>
          <a:xfrm>
            <a:off x="5257800" y="2139696"/>
            <a:ext cx="1417320" cy="603504"/>
          </a:xfrm>
          <a:prstGeom prst="rect">
            <a:avLst/>
          </a:prstGeom>
          <a:noFill/>
          <a:ln/>
        </p:spPr>
        <p:txBody>
          <a:bodyPr wrap="square" lIns="0" tIns="0" rIns="0" bIns="0" rtlCol="0" anchor="ctr"/>
          <a:lstStyle/>
          <a:p>
            <a:pPr indent="0" marL="0">
              <a:buNone/>
            </a:pPr>
            <a:r>
              <a:rPr lang="en-US" sz="1150" b="1" dirty="0">
                <a:solidFill>
                  <a:srgbClr val="5D4037"/>
                </a:solidFill>
                <a:latin typeface="Noto Sans JP" pitchFamily="34" charset="0"/>
                <a:ea typeface="Noto Sans JP" pitchFamily="34" charset="-122"/>
                <a:cs typeface="Noto Sans JP" pitchFamily="34" charset="-120"/>
              </a:rPr>
              <a:t>代表取締役</a:t>
            </a:r>
            <a:endParaRPr lang="en-US" sz="1150" dirty="0"/>
          </a:p>
        </p:txBody>
      </p:sp>
      <p:sp>
        <p:nvSpPr>
          <p:cNvPr id="20" name="Text 15"/>
          <p:cNvSpPr/>
          <p:nvPr/>
        </p:nvSpPr>
        <p:spPr>
          <a:xfrm>
            <a:off x="6739128" y="2139696"/>
            <a:ext cx="4785970" cy="603504"/>
          </a:xfrm>
          <a:prstGeom prst="rect">
            <a:avLst/>
          </a:prstGeom>
          <a:noFill/>
          <a:ln/>
        </p:spPr>
        <p:txBody>
          <a:bodyPr wrap="square" lIns="0" tIns="0" rIns="0" bIns="0" rtlCol="0" anchor="ctr"/>
          <a:lstStyle/>
          <a:p>
            <a:pPr indent="0" marL="0">
              <a:buNone/>
            </a:pPr>
            <a:r>
              <a:rPr lang="en-US" sz="1450" dirty="0">
                <a:solidFill>
                  <a:srgbClr val="3B3833"/>
                </a:solidFill>
                <a:latin typeface="Noto Sans JP" pitchFamily="34" charset="0"/>
                <a:ea typeface="Noto Sans JP" pitchFamily="34" charset="-122"/>
                <a:cs typeface="Noto Sans JP" pitchFamily="34" charset="-120"/>
              </a:rPr>
              <a:t>鈴木 大基</a:t>
            </a:r>
            <a:endParaRPr lang="en-US" sz="1450" dirty="0"/>
          </a:p>
        </p:txBody>
      </p:sp>
      <p:sp>
        <p:nvSpPr>
          <p:cNvPr id="21" name="Shape 16"/>
          <p:cNvSpPr/>
          <p:nvPr/>
        </p:nvSpPr>
        <p:spPr>
          <a:xfrm>
            <a:off x="5257800" y="2761488"/>
            <a:ext cx="6267298" cy="10058"/>
          </a:xfrm>
          <a:prstGeom prst="rect">
            <a:avLst/>
          </a:prstGeom>
          <a:solidFill>
            <a:srgbClr val="E6DFCD"/>
          </a:solidFill>
          <a:ln/>
        </p:spPr>
      </p:sp>
      <p:sp>
        <p:nvSpPr>
          <p:cNvPr id="22" name="Text 17"/>
          <p:cNvSpPr/>
          <p:nvPr/>
        </p:nvSpPr>
        <p:spPr>
          <a:xfrm>
            <a:off x="5257800" y="2816352"/>
            <a:ext cx="1417320" cy="603504"/>
          </a:xfrm>
          <a:prstGeom prst="rect">
            <a:avLst/>
          </a:prstGeom>
          <a:noFill/>
          <a:ln/>
        </p:spPr>
        <p:txBody>
          <a:bodyPr wrap="square" lIns="0" tIns="0" rIns="0" bIns="0" rtlCol="0" anchor="ctr"/>
          <a:lstStyle/>
          <a:p>
            <a:pPr indent="0" marL="0">
              <a:buNone/>
            </a:pPr>
            <a:r>
              <a:rPr lang="en-US" sz="1150" b="1" dirty="0">
                <a:solidFill>
                  <a:srgbClr val="5D4037"/>
                </a:solidFill>
                <a:latin typeface="Noto Sans JP" pitchFamily="34" charset="0"/>
                <a:ea typeface="Noto Sans JP" pitchFamily="34" charset="-122"/>
                <a:cs typeface="Noto Sans JP" pitchFamily="34" charset="-120"/>
              </a:rPr>
              <a:t>設立日</a:t>
            </a:r>
            <a:endParaRPr lang="en-US" sz="1150" dirty="0"/>
          </a:p>
        </p:txBody>
      </p:sp>
      <p:sp>
        <p:nvSpPr>
          <p:cNvPr id="23" name="Text 18"/>
          <p:cNvSpPr/>
          <p:nvPr/>
        </p:nvSpPr>
        <p:spPr>
          <a:xfrm>
            <a:off x="6739128" y="2816352"/>
            <a:ext cx="4785970" cy="603504"/>
          </a:xfrm>
          <a:prstGeom prst="rect">
            <a:avLst/>
          </a:prstGeom>
          <a:noFill/>
          <a:ln/>
        </p:spPr>
        <p:txBody>
          <a:bodyPr wrap="square" lIns="0" tIns="0" rIns="0" bIns="0" rtlCol="0" anchor="ctr"/>
          <a:lstStyle/>
          <a:p>
            <a:pPr indent="0" marL="0">
              <a:buNone/>
            </a:pPr>
            <a:r>
              <a:rPr lang="en-US" sz="1450" dirty="0">
                <a:solidFill>
                  <a:srgbClr val="3B3833"/>
                </a:solidFill>
                <a:latin typeface="Noto Sans JP" pitchFamily="34" charset="0"/>
                <a:ea typeface="Noto Sans JP" pitchFamily="34" charset="-122"/>
                <a:cs typeface="Noto Sans JP" pitchFamily="34" charset="-120"/>
              </a:rPr>
              <a:t>2024年5月1日</a:t>
            </a:r>
            <a:endParaRPr lang="en-US" sz="1450" dirty="0"/>
          </a:p>
        </p:txBody>
      </p:sp>
      <p:sp>
        <p:nvSpPr>
          <p:cNvPr id="24" name="Shape 19"/>
          <p:cNvSpPr/>
          <p:nvPr/>
        </p:nvSpPr>
        <p:spPr>
          <a:xfrm>
            <a:off x="5257800" y="3438144"/>
            <a:ext cx="6267298" cy="10058"/>
          </a:xfrm>
          <a:prstGeom prst="rect">
            <a:avLst/>
          </a:prstGeom>
          <a:solidFill>
            <a:srgbClr val="E6DFCD"/>
          </a:solidFill>
          <a:ln/>
        </p:spPr>
      </p:sp>
      <p:sp>
        <p:nvSpPr>
          <p:cNvPr id="25" name="Text 20"/>
          <p:cNvSpPr/>
          <p:nvPr/>
        </p:nvSpPr>
        <p:spPr>
          <a:xfrm>
            <a:off x="5257800" y="3493008"/>
            <a:ext cx="1417320" cy="603504"/>
          </a:xfrm>
          <a:prstGeom prst="rect">
            <a:avLst/>
          </a:prstGeom>
          <a:noFill/>
          <a:ln/>
        </p:spPr>
        <p:txBody>
          <a:bodyPr wrap="square" lIns="0" tIns="0" rIns="0" bIns="0" rtlCol="0" anchor="ctr"/>
          <a:lstStyle/>
          <a:p>
            <a:pPr indent="0" marL="0">
              <a:buNone/>
            </a:pPr>
            <a:r>
              <a:rPr lang="en-US" sz="1150" b="1" dirty="0">
                <a:solidFill>
                  <a:srgbClr val="5D4037"/>
                </a:solidFill>
                <a:latin typeface="Noto Sans JP" pitchFamily="34" charset="0"/>
                <a:ea typeface="Noto Sans JP" pitchFamily="34" charset="-122"/>
                <a:cs typeface="Noto Sans JP" pitchFamily="34" charset="-120"/>
              </a:rPr>
              <a:t>資本金</a:t>
            </a:r>
            <a:endParaRPr lang="en-US" sz="1150" dirty="0"/>
          </a:p>
        </p:txBody>
      </p:sp>
      <p:sp>
        <p:nvSpPr>
          <p:cNvPr id="26" name="Text 21"/>
          <p:cNvSpPr/>
          <p:nvPr/>
        </p:nvSpPr>
        <p:spPr>
          <a:xfrm>
            <a:off x="6739128" y="3493008"/>
            <a:ext cx="4785970" cy="603504"/>
          </a:xfrm>
          <a:prstGeom prst="rect">
            <a:avLst/>
          </a:prstGeom>
          <a:noFill/>
          <a:ln/>
        </p:spPr>
        <p:txBody>
          <a:bodyPr wrap="square" lIns="0" tIns="0" rIns="0" bIns="0" rtlCol="0" anchor="ctr"/>
          <a:lstStyle/>
          <a:p>
            <a:pPr indent="0" marL="0">
              <a:buNone/>
            </a:pPr>
            <a:r>
              <a:rPr lang="en-US" sz="1450" dirty="0">
                <a:solidFill>
                  <a:srgbClr val="3B3833"/>
                </a:solidFill>
                <a:latin typeface="Noto Sans JP" pitchFamily="34" charset="0"/>
                <a:ea typeface="Noto Sans JP" pitchFamily="34" charset="-122"/>
                <a:cs typeface="Noto Sans JP" pitchFamily="34" charset="-120"/>
              </a:rPr>
              <a:t>2,000万円</a:t>
            </a:r>
            <a:endParaRPr lang="en-US" sz="1450" dirty="0"/>
          </a:p>
        </p:txBody>
      </p:sp>
      <p:sp>
        <p:nvSpPr>
          <p:cNvPr id="27" name="Shape 22"/>
          <p:cNvSpPr/>
          <p:nvPr/>
        </p:nvSpPr>
        <p:spPr>
          <a:xfrm>
            <a:off x="5257800" y="4114800"/>
            <a:ext cx="6267298" cy="10058"/>
          </a:xfrm>
          <a:prstGeom prst="rect">
            <a:avLst/>
          </a:prstGeom>
          <a:solidFill>
            <a:srgbClr val="E6DFCD"/>
          </a:solidFill>
          <a:ln/>
        </p:spPr>
      </p:sp>
      <p:sp>
        <p:nvSpPr>
          <p:cNvPr id="28" name="Text 23"/>
          <p:cNvSpPr/>
          <p:nvPr/>
        </p:nvSpPr>
        <p:spPr>
          <a:xfrm>
            <a:off x="5257800" y="4169664"/>
            <a:ext cx="1417320" cy="603504"/>
          </a:xfrm>
          <a:prstGeom prst="rect">
            <a:avLst/>
          </a:prstGeom>
          <a:noFill/>
          <a:ln/>
        </p:spPr>
        <p:txBody>
          <a:bodyPr wrap="square" lIns="0" tIns="0" rIns="0" bIns="0" rtlCol="0" anchor="ctr"/>
          <a:lstStyle/>
          <a:p>
            <a:pPr indent="0" marL="0">
              <a:buNone/>
            </a:pPr>
            <a:r>
              <a:rPr lang="en-US" sz="1150" b="1" dirty="0">
                <a:solidFill>
                  <a:srgbClr val="5D4037"/>
                </a:solidFill>
                <a:latin typeface="Noto Sans JP" pitchFamily="34" charset="0"/>
                <a:ea typeface="Noto Sans JP" pitchFamily="34" charset="-122"/>
                <a:cs typeface="Noto Sans JP" pitchFamily="34" charset="-120"/>
              </a:rPr>
              <a:t>事業内容</a:t>
            </a:r>
            <a:endParaRPr lang="en-US" sz="1150" dirty="0"/>
          </a:p>
        </p:txBody>
      </p:sp>
      <p:sp>
        <p:nvSpPr>
          <p:cNvPr id="29" name="Text 24"/>
          <p:cNvSpPr/>
          <p:nvPr/>
        </p:nvSpPr>
        <p:spPr>
          <a:xfrm>
            <a:off x="6739128" y="4169664"/>
            <a:ext cx="4785970" cy="603504"/>
          </a:xfrm>
          <a:prstGeom prst="rect">
            <a:avLst/>
          </a:prstGeom>
          <a:noFill/>
          <a:ln/>
        </p:spPr>
        <p:txBody>
          <a:bodyPr wrap="square" lIns="0" tIns="0" rIns="0" bIns="0" rtlCol="0" anchor="ctr"/>
          <a:lstStyle/>
          <a:p>
            <a:pPr indent="0" marL="0">
              <a:buNone/>
            </a:pPr>
            <a:r>
              <a:rPr lang="en-US" sz="1450" dirty="0">
                <a:solidFill>
                  <a:srgbClr val="3B3833"/>
                </a:solidFill>
                <a:latin typeface="Noto Sans JP" pitchFamily="34" charset="0"/>
                <a:ea typeface="Noto Sans JP" pitchFamily="34" charset="-122"/>
                <a:cs typeface="Noto Sans JP" pitchFamily="34" charset="-120"/>
              </a:rPr>
              <a:t>無人カフェの経営</a:t>
            </a:r>
            <a:endParaRPr lang="en-US" sz="1450" dirty="0"/>
          </a:p>
        </p:txBody>
      </p:sp>
      <p:sp>
        <p:nvSpPr>
          <p:cNvPr id="30" name="Shape 25"/>
          <p:cNvSpPr/>
          <p:nvPr/>
        </p:nvSpPr>
        <p:spPr>
          <a:xfrm>
            <a:off x="5257800" y="4791456"/>
            <a:ext cx="6267298" cy="10058"/>
          </a:xfrm>
          <a:prstGeom prst="rect">
            <a:avLst/>
          </a:prstGeom>
          <a:solidFill>
            <a:srgbClr val="E6DFCD"/>
          </a:solidFill>
          <a:ln/>
        </p:spPr>
      </p:sp>
      <p:sp>
        <p:nvSpPr>
          <p:cNvPr id="31" name="Text 26"/>
          <p:cNvSpPr/>
          <p:nvPr/>
        </p:nvSpPr>
        <p:spPr>
          <a:xfrm>
            <a:off x="5257800" y="4846320"/>
            <a:ext cx="1417320" cy="603504"/>
          </a:xfrm>
          <a:prstGeom prst="rect">
            <a:avLst/>
          </a:prstGeom>
          <a:noFill/>
          <a:ln/>
        </p:spPr>
        <p:txBody>
          <a:bodyPr wrap="square" lIns="0" tIns="0" rIns="0" bIns="0" rtlCol="0" anchor="ctr"/>
          <a:lstStyle/>
          <a:p>
            <a:pPr indent="0" marL="0">
              <a:buNone/>
            </a:pPr>
            <a:r>
              <a:rPr lang="en-US" sz="1150" b="1" dirty="0">
                <a:solidFill>
                  <a:srgbClr val="5D4037"/>
                </a:solidFill>
                <a:latin typeface="Noto Sans JP" pitchFamily="34" charset="0"/>
                <a:ea typeface="Noto Sans JP" pitchFamily="34" charset="-122"/>
                <a:cs typeface="Noto Sans JP" pitchFamily="34" charset="-120"/>
              </a:rPr>
              <a:t>公式HP</a:t>
            </a:r>
            <a:endParaRPr lang="en-US" sz="1150" dirty="0"/>
          </a:p>
        </p:txBody>
      </p:sp>
      <p:sp>
        <p:nvSpPr>
          <p:cNvPr id="32" name="Text 27"/>
          <p:cNvSpPr/>
          <p:nvPr/>
        </p:nvSpPr>
        <p:spPr>
          <a:xfrm>
            <a:off x="6739128" y="4846320"/>
            <a:ext cx="4785970" cy="603504"/>
          </a:xfrm>
          <a:prstGeom prst="rect">
            <a:avLst/>
          </a:prstGeom>
          <a:noFill/>
          <a:ln/>
        </p:spPr>
        <p:txBody>
          <a:bodyPr wrap="square" lIns="0" tIns="0" rIns="0" bIns="0" rtlCol="0" anchor="ctr"/>
          <a:lstStyle/>
          <a:p>
            <a:pPr indent="0" marL="0">
              <a:buNone/>
            </a:pPr>
            <a:r>
              <a:rPr lang="en-US" sz="1450" dirty="0">
                <a:solidFill>
                  <a:srgbClr val="3B3833"/>
                </a:solidFill>
                <a:latin typeface="Noto Sans JP" pitchFamily="34" charset="0"/>
                <a:ea typeface="Noto Sans JP" pitchFamily="34" charset="-122"/>
                <a:cs typeface="Noto Sans JP" pitchFamily="34" charset="-120"/>
              </a:rPr>
              <a:t>https://selfcafe.jp/</a:t>
            </a:r>
            <a:endParaRPr lang="en-US" sz="1450" dirty="0"/>
          </a:p>
        </p:txBody>
      </p:sp>
      <p:sp>
        <p:nvSpPr>
          <p:cNvPr id="33" name="Shape 28"/>
          <p:cNvSpPr/>
          <p:nvPr/>
        </p:nvSpPr>
        <p:spPr>
          <a:xfrm>
            <a:off x="5257800" y="5468112"/>
            <a:ext cx="6267298" cy="10058"/>
          </a:xfrm>
          <a:prstGeom prst="rect">
            <a:avLst/>
          </a:prstGeom>
          <a:solidFill>
            <a:srgbClr val="E6DFCD"/>
          </a:solidFill>
          <a:ln/>
        </p:spPr>
      </p:sp>
      <p:sp>
        <p:nvSpPr>
          <p:cNvPr id="34" name="Shape 29"/>
          <p:cNvSpPr/>
          <p:nvPr/>
        </p:nvSpPr>
        <p:spPr>
          <a:xfrm>
            <a:off x="5257800" y="5669280"/>
            <a:ext cx="6267298" cy="475488"/>
          </a:xfrm>
          <a:prstGeom prst="roundRect">
            <a:avLst>
              <a:gd name="adj" fmla="val 11538"/>
            </a:avLst>
          </a:prstGeom>
          <a:solidFill>
            <a:srgbClr val="FAF3E3"/>
          </a:solidFill>
          <a:ln/>
        </p:spPr>
      </p:sp>
      <p:sp>
        <p:nvSpPr>
          <p:cNvPr id="35" name="Text 30"/>
          <p:cNvSpPr/>
          <p:nvPr/>
        </p:nvSpPr>
        <p:spPr>
          <a:xfrm>
            <a:off x="5458968" y="5669280"/>
            <a:ext cx="5864962" cy="475488"/>
          </a:xfrm>
          <a:prstGeom prst="rect">
            <a:avLst/>
          </a:prstGeom>
          <a:noFill/>
          <a:ln/>
        </p:spPr>
        <p:txBody>
          <a:bodyPr wrap="square" lIns="0" tIns="0" rIns="0" bIns="0" rtlCol="0" anchor="ctr"/>
          <a:lstStyle/>
          <a:p>
            <a:pPr indent="0" marL="0">
              <a:buNone/>
            </a:pPr>
            <a:r>
              <a:rPr lang="en-US" sz="1100" dirty="0">
                <a:solidFill>
                  <a:srgbClr val="5D4037"/>
                </a:solidFill>
                <a:latin typeface="Noto Sans JP" pitchFamily="34" charset="0"/>
                <a:ea typeface="Noto Sans JP" pitchFamily="34" charset="-122"/>
                <a:cs typeface="Noto Sans JP" pitchFamily="34" charset="-120"/>
              </a:rPr>
              <a:t>※2024年5月1日よりウッドデザインパーク(株)から分社化</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CF5"/>
        </a:solidFill>
      </p:bgPr>
    </p:bg>
    <p:spTree>
      <p:nvGrpSpPr>
        <p:cNvPr id="1" name=""/>
        <p:cNvGrpSpPr/>
        <p:nvPr/>
      </p:nvGrpSpPr>
      <p:grpSpPr>
        <a:xfrm>
          <a:off x="0" y="0"/>
          <a:ext cx="0" cy="0"/>
          <a:chOff x="0" y="0"/>
          <a:chExt cx="0" cy="0"/>
        </a:xfrm>
      </p:grpSpPr>
      <p:sp>
        <p:nvSpPr>
          <p:cNvPr id="2" name="Text 0"/>
          <p:cNvSpPr/>
          <p:nvPr/>
        </p:nvSpPr>
        <p:spPr>
          <a:xfrm>
            <a:off x="666598" y="506578"/>
            <a:ext cx="8503920" cy="384048"/>
          </a:xfrm>
          <a:prstGeom prst="rect">
            <a:avLst/>
          </a:prstGeom>
          <a:noFill/>
          <a:ln/>
        </p:spPr>
        <p:txBody>
          <a:bodyPr wrap="square" lIns="0" tIns="0" rIns="0" bIns="0" rtlCol="0" anchor="ctr"/>
          <a:lstStyle/>
          <a:p>
            <a:pPr algn="l" indent="0" marL="0">
              <a:buNone/>
            </a:pPr>
            <a:r>
              <a:rPr lang="en-US" sz="3000" dirty="0">
                <a:solidFill>
                  <a:srgbClr val="1B5E20"/>
                </a:solidFill>
                <a:latin typeface="Noto Sans JP" pitchFamily="34" charset="0"/>
                <a:ea typeface="Noto Sans JP" pitchFamily="34" charset="-122"/>
                <a:cs typeface="Noto Sans JP" pitchFamily="34" charset="-120"/>
              </a:rPr>
              <a:t>社会背景と市場性</a:t>
            </a:r>
            <a:endParaRPr lang="en-US" sz="3000" dirty="0"/>
          </a:p>
        </p:txBody>
      </p:sp>
      <p:sp>
        <p:nvSpPr>
          <p:cNvPr id="3" name="Shape 1"/>
          <p:cNvSpPr/>
          <p:nvPr/>
        </p:nvSpPr>
        <p:spPr>
          <a:xfrm>
            <a:off x="666598" y="1114654"/>
            <a:ext cx="10858500" cy="19202"/>
          </a:xfrm>
          <a:prstGeom prst="rect">
            <a:avLst/>
          </a:prstGeom>
          <a:solidFill>
            <a:srgbClr val="8D6E63"/>
          </a:solidFill>
          <a:ln/>
        </p:spPr>
      </p:sp>
      <p:pic>
        <p:nvPicPr>
          <p:cNvPr id="4" name="Image 0" descr="/home/user/suzuki-ceo/selfcafe-fc-deck/assets/logo_gray.png">    </p:cNvPr>
          <p:cNvPicPr>
            <a:picLocks noChangeAspect="1"/>
          </p:cNvPicPr>
          <p:nvPr/>
        </p:nvPicPr>
        <p:blipFill>
          <a:blip r:embed="rId1"/>
          <a:stretch>
            <a:fillRect/>
          </a:stretch>
        </p:blipFill>
        <p:spPr>
          <a:xfrm>
            <a:off x="9415577" y="802843"/>
            <a:ext cx="2024482" cy="288036"/>
          </a:xfrm>
          <a:prstGeom prst="rect">
            <a:avLst/>
          </a:prstGeom>
        </p:spPr>
      </p:pic>
      <p:sp>
        <p:nvSpPr>
          <p:cNvPr id="5" name="Text 2"/>
          <p:cNvSpPr/>
          <p:nvPr/>
        </p:nvSpPr>
        <p:spPr>
          <a:xfrm>
            <a:off x="10610698" y="6345936"/>
            <a:ext cx="914400" cy="219456"/>
          </a:xfrm>
          <a:prstGeom prst="rect">
            <a:avLst/>
          </a:prstGeom>
          <a:noFill/>
          <a:ln/>
        </p:spPr>
        <p:txBody>
          <a:bodyPr wrap="square" lIns="0" tIns="0" rIns="0" bIns="0" rtlCol="0" anchor="ctr"/>
          <a:lstStyle/>
          <a:p>
            <a:pPr algn="r" indent="0" marL="0">
              <a:buNone/>
            </a:pPr>
            <a:r>
              <a:rPr lang="en-US" sz="1300" dirty="0">
                <a:solidFill>
                  <a:srgbClr val="000000"/>
                </a:solidFill>
                <a:latin typeface="Cambria" pitchFamily="34" charset="0"/>
                <a:ea typeface="Cambria" pitchFamily="34" charset="-122"/>
                <a:cs typeface="Cambria" pitchFamily="34" charset="-120"/>
              </a:rPr>
              <a:t>5</a:t>
            </a:r>
            <a:endParaRPr lang="en-US" sz="1300" dirty="0"/>
          </a:p>
        </p:txBody>
      </p:sp>
      <p:sp>
        <p:nvSpPr>
          <p:cNvPr id="6" name="Text 3"/>
          <p:cNvSpPr/>
          <p:nvPr/>
        </p:nvSpPr>
        <p:spPr>
          <a:xfrm>
            <a:off x="666598" y="1243584"/>
            <a:ext cx="10858500" cy="256032"/>
          </a:xfrm>
          <a:prstGeom prst="rect">
            <a:avLst/>
          </a:prstGeom>
          <a:noFill/>
          <a:ln/>
        </p:spPr>
        <p:txBody>
          <a:bodyPr wrap="square" lIns="0" tIns="0" rIns="0" bIns="0" rtlCol="0" anchor="ctr"/>
          <a:lstStyle/>
          <a:p>
            <a:pPr indent="0" marL="0">
              <a:buNone/>
            </a:pPr>
            <a:r>
              <a:rPr lang="en-US" sz="1150" b="1" dirty="0">
                <a:solidFill>
                  <a:srgbClr val="5D4037"/>
                </a:solidFill>
                <a:latin typeface="Noto Sans JP" pitchFamily="34" charset="0"/>
                <a:ea typeface="Noto Sans JP" pitchFamily="34" charset="-122"/>
                <a:cs typeface="Noto Sans JP" pitchFamily="34" charset="-120"/>
              </a:rPr>
              <a:t>現代社会が抱える3つの課題</a:t>
            </a:r>
            <a:endParaRPr lang="en-US" sz="1150" dirty="0"/>
          </a:p>
        </p:txBody>
      </p:sp>
      <p:sp>
        <p:nvSpPr>
          <p:cNvPr id="7" name="Shape 4"/>
          <p:cNvSpPr/>
          <p:nvPr/>
        </p:nvSpPr>
        <p:spPr>
          <a:xfrm>
            <a:off x="666598" y="1700784"/>
            <a:ext cx="3448812" cy="2834640"/>
          </a:xfrm>
          <a:prstGeom prst="roundRect">
            <a:avLst>
              <a:gd name="adj" fmla="val 2258"/>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8" name="Shape 5"/>
          <p:cNvSpPr/>
          <p:nvPr/>
        </p:nvSpPr>
        <p:spPr>
          <a:xfrm>
            <a:off x="940918" y="1956816"/>
            <a:ext cx="603504" cy="603504"/>
          </a:xfrm>
          <a:prstGeom prst="ellipse">
            <a:avLst/>
          </a:prstGeom>
          <a:solidFill>
            <a:srgbClr val="F0F5EF"/>
          </a:solidFill>
          <a:ln/>
        </p:spPr>
      </p:sp>
      <p:pic>
        <p:nvPicPr>
          <p:cNvPr id="9" name="Image 1" descr="/home/user/suzuki-ceo/selfcafe-fc-deck/assets/icons/LuUsers-green.png">    </p:cNvPr>
          <p:cNvPicPr>
            <a:picLocks noChangeAspect="1"/>
          </p:cNvPicPr>
          <p:nvPr/>
        </p:nvPicPr>
        <p:blipFill>
          <a:blip r:embed="rId2"/>
          <a:stretch>
            <a:fillRect/>
          </a:stretch>
        </p:blipFill>
        <p:spPr>
          <a:xfrm>
            <a:off x="1073688" y="2089587"/>
            <a:ext cx="337962" cy="337962"/>
          </a:xfrm>
          <a:prstGeom prst="rect">
            <a:avLst/>
          </a:prstGeom>
        </p:spPr>
      </p:pic>
      <p:sp>
        <p:nvSpPr>
          <p:cNvPr id="10" name="Text 6"/>
          <p:cNvSpPr/>
          <p:nvPr/>
        </p:nvSpPr>
        <p:spPr>
          <a:xfrm>
            <a:off x="3292450" y="1956816"/>
            <a:ext cx="548640" cy="365760"/>
          </a:xfrm>
          <a:prstGeom prst="rect">
            <a:avLst/>
          </a:prstGeom>
          <a:noFill/>
          <a:ln/>
        </p:spPr>
        <p:txBody>
          <a:bodyPr wrap="square" lIns="0" tIns="0" rIns="0" bIns="0" rtlCol="0" anchor="ctr"/>
          <a:lstStyle/>
          <a:p>
            <a:pPr algn="r" indent="0" marL="0">
              <a:buNone/>
            </a:pPr>
            <a:r>
              <a:rPr lang="en-US" sz="2000" b="1" dirty="0">
                <a:solidFill>
                  <a:srgbClr val="E9DEC4"/>
                </a:solidFill>
                <a:latin typeface="Arial" pitchFamily="34" charset="0"/>
                <a:ea typeface="Arial" pitchFamily="34" charset="-122"/>
                <a:cs typeface="Arial" pitchFamily="34" charset="-120"/>
              </a:rPr>
              <a:t>01</a:t>
            </a:r>
            <a:endParaRPr lang="en-US" sz="2000" dirty="0"/>
          </a:p>
        </p:txBody>
      </p:sp>
      <p:sp>
        <p:nvSpPr>
          <p:cNvPr id="11" name="Text 7"/>
          <p:cNvSpPr/>
          <p:nvPr/>
        </p:nvSpPr>
        <p:spPr>
          <a:xfrm>
            <a:off x="940918" y="2670048"/>
            <a:ext cx="2900172" cy="347472"/>
          </a:xfrm>
          <a:prstGeom prst="rect">
            <a:avLst/>
          </a:prstGeom>
          <a:noFill/>
          <a:ln/>
        </p:spPr>
        <p:txBody>
          <a:bodyPr wrap="square" lIns="0" tIns="0" rIns="0" bIns="0" rtlCol="0" anchor="ctr"/>
          <a:lstStyle/>
          <a:p>
            <a:pPr indent="0" marL="0">
              <a:buNone/>
            </a:pPr>
            <a:r>
              <a:rPr lang="en-US" sz="1550" b="1" dirty="0">
                <a:solidFill>
                  <a:srgbClr val="1B5E20"/>
                </a:solidFill>
                <a:latin typeface="Noto Sans JP" pitchFamily="34" charset="0"/>
                <a:ea typeface="Noto Sans JP" pitchFamily="34" charset="-122"/>
                <a:cs typeface="Noto Sans JP" pitchFamily="34" charset="-120"/>
              </a:rPr>
              <a:t>深刻な労働力不足</a:t>
            </a:r>
            <a:endParaRPr lang="en-US" sz="1550" dirty="0"/>
          </a:p>
        </p:txBody>
      </p:sp>
      <p:sp>
        <p:nvSpPr>
          <p:cNvPr id="12" name="Text 8"/>
          <p:cNvSpPr/>
          <p:nvPr/>
        </p:nvSpPr>
        <p:spPr>
          <a:xfrm>
            <a:off x="940918" y="3035808"/>
            <a:ext cx="2900172" cy="237744"/>
          </a:xfrm>
          <a:prstGeom prst="rect">
            <a:avLst/>
          </a:prstGeom>
          <a:noFill/>
          <a:ln/>
        </p:spPr>
        <p:txBody>
          <a:bodyPr wrap="square" lIns="0" tIns="0" rIns="0" bIns="0" rtlCol="0" anchor="ctr"/>
          <a:lstStyle/>
          <a:p>
            <a:pPr indent="0" marL="0">
              <a:buNone/>
            </a:pPr>
            <a:r>
              <a:rPr lang="en-US" sz="1050" b="1" dirty="0">
                <a:solidFill>
                  <a:srgbClr val="B8893B"/>
                </a:solidFill>
                <a:latin typeface="Noto Sans JP" pitchFamily="34" charset="0"/>
                <a:ea typeface="Noto Sans JP" pitchFamily="34" charset="-122"/>
                <a:cs typeface="Noto Sans JP" pitchFamily="34" charset="-120"/>
              </a:rPr>
              <a:t>サービス業の人手確保が困難に</a:t>
            </a:r>
            <a:endParaRPr lang="en-US" sz="1050" dirty="0"/>
          </a:p>
        </p:txBody>
      </p:sp>
      <p:sp>
        <p:nvSpPr>
          <p:cNvPr id="13" name="Shape 9"/>
          <p:cNvSpPr/>
          <p:nvPr/>
        </p:nvSpPr>
        <p:spPr>
          <a:xfrm>
            <a:off x="940918" y="3346704"/>
            <a:ext cx="2900172" cy="10058"/>
          </a:xfrm>
          <a:prstGeom prst="rect">
            <a:avLst/>
          </a:prstGeom>
          <a:solidFill>
            <a:srgbClr val="E6DFCD"/>
          </a:solidFill>
          <a:ln/>
        </p:spPr>
      </p:sp>
      <p:sp>
        <p:nvSpPr>
          <p:cNvPr id="14" name="Text 10"/>
          <p:cNvSpPr/>
          <p:nvPr/>
        </p:nvSpPr>
        <p:spPr>
          <a:xfrm>
            <a:off x="940918" y="3456432"/>
            <a:ext cx="2900172" cy="950976"/>
          </a:xfrm>
          <a:prstGeom prst="rect">
            <a:avLst/>
          </a:prstGeom>
          <a:noFill/>
          <a:ln/>
        </p:spPr>
        <p:txBody>
          <a:bodyPr wrap="square" lIns="0" tIns="0" rIns="0" bIns="0" rtlCol="0" anchor="t"/>
          <a:lstStyle/>
          <a:p>
            <a:pPr indent="0" marL="0">
              <a:lnSpc>
                <a:spcPct val="140000"/>
              </a:lnSpc>
              <a:buNone/>
            </a:pPr>
            <a:r>
              <a:rPr lang="en-US" sz="1100" dirty="0">
                <a:solidFill>
                  <a:srgbClr val="3B3833"/>
                </a:solidFill>
                <a:latin typeface="Noto Sans JP" pitchFamily="34" charset="0"/>
                <a:ea typeface="Noto Sans JP" pitchFamily="34" charset="-122"/>
                <a:cs typeface="Noto Sans JP" pitchFamily="34" charset="-120"/>
              </a:rPr>
              <a:t>少子高齢化と働き手の価値観の変化でサービス業の人手確保が難しくなり、人件費が上昇して経営負担が増している。</a:t>
            </a:r>
            <a:endParaRPr lang="en-US" sz="1100" dirty="0"/>
          </a:p>
        </p:txBody>
      </p:sp>
      <p:sp>
        <p:nvSpPr>
          <p:cNvPr id="15" name="Shape 11"/>
          <p:cNvSpPr/>
          <p:nvPr/>
        </p:nvSpPr>
        <p:spPr>
          <a:xfrm>
            <a:off x="4371442" y="1700784"/>
            <a:ext cx="3448812" cy="2834640"/>
          </a:xfrm>
          <a:prstGeom prst="roundRect">
            <a:avLst>
              <a:gd name="adj" fmla="val 2258"/>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16" name="Shape 12"/>
          <p:cNvSpPr/>
          <p:nvPr/>
        </p:nvSpPr>
        <p:spPr>
          <a:xfrm>
            <a:off x="4645762" y="1956816"/>
            <a:ext cx="603504" cy="603504"/>
          </a:xfrm>
          <a:prstGeom prst="ellipse">
            <a:avLst/>
          </a:prstGeom>
          <a:solidFill>
            <a:srgbClr val="F0F5EF"/>
          </a:solidFill>
          <a:ln/>
        </p:spPr>
      </p:sp>
      <p:pic>
        <p:nvPicPr>
          <p:cNvPr id="17" name="Image 2" descr="/home/user/suzuki-ceo/selfcafe-fc-deck/assets/icons/LuLaptop-green.png">    </p:cNvPr>
          <p:cNvPicPr>
            <a:picLocks noChangeAspect="1"/>
          </p:cNvPicPr>
          <p:nvPr/>
        </p:nvPicPr>
        <p:blipFill>
          <a:blip r:embed="rId3"/>
          <a:stretch>
            <a:fillRect/>
          </a:stretch>
        </p:blipFill>
        <p:spPr>
          <a:xfrm>
            <a:off x="4778532" y="2089587"/>
            <a:ext cx="337962" cy="337962"/>
          </a:xfrm>
          <a:prstGeom prst="rect">
            <a:avLst/>
          </a:prstGeom>
        </p:spPr>
      </p:pic>
      <p:sp>
        <p:nvSpPr>
          <p:cNvPr id="18" name="Text 13"/>
          <p:cNvSpPr/>
          <p:nvPr/>
        </p:nvSpPr>
        <p:spPr>
          <a:xfrm>
            <a:off x="6997294" y="1956816"/>
            <a:ext cx="548640" cy="365760"/>
          </a:xfrm>
          <a:prstGeom prst="rect">
            <a:avLst/>
          </a:prstGeom>
          <a:noFill/>
          <a:ln/>
        </p:spPr>
        <p:txBody>
          <a:bodyPr wrap="square" lIns="0" tIns="0" rIns="0" bIns="0" rtlCol="0" anchor="ctr"/>
          <a:lstStyle/>
          <a:p>
            <a:pPr algn="r" indent="0" marL="0">
              <a:buNone/>
            </a:pPr>
            <a:r>
              <a:rPr lang="en-US" sz="2000" b="1" dirty="0">
                <a:solidFill>
                  <a:srgbClr val="E9DEC4"/>
                </a:solidFill>
                <a:latin typeface="Arial" pitchFamily="34" charset="0"/>
                <a:ea typeface="Arial" pitchFamily="34" charset="-122"/>
                <a:cs typeface="Arial" pitchFamily="34" charset="-120"/>
              </a:rPr>
              <a:t>02</a:t>
            </a:r>
            <a:endParaRPr lang="en-US" sz="2000" dirty="0"/>
          </a:p>
        </p:txBody>
      </p:sp>
      <p:sp>
        <p:nvSpPr>
          <p:cNvPr id="19" name="Text 14"/>
          <p:cNvSpPr/>
          <p:nvPr/>
        </p:nvSpPr>
        <p:spPr>
          <a:xfrm>
            <a:off x="4645762" y="2670048"/>
            <a:ext cx="2900172" cy="347472"/>
          </a:xfrm>
          <a:prstGeom prst="rect">
            <a:avLst/>
          </a:prstGeom>
          <a:noFill/>
          <a:ln/>
        </p:spPr>
        <p:txBody>
          <a:bodyPr wrap="square" lIns="0" tIns="0" rIns="0" bIns="0" rtlCol="0" anchor="ctr"/>
          <a:lstStyle/>
          <a:p>
            <a:pPr indent="0" marL="0">
              <a:buNone/>
            </a:pPr>
            <a:r>
              <a:rPr lang="en-US" sz="1550" b="1" dirty="0">
                <a:solidFill>
                  <a:srgbClr val="1B5E20"/>
                </a:solidFill>
                <a:latin typeface="Noto Sans JP" pitchFamily="34" charset="0"/>
                <a:ea typeface="Noto Sans JP" pitchFamily="34" charset="-122"/>
                <a:cs typeface="Noto Sans JP" pitchFamily="34" charset="-120"/>
              </a:rPr>
              <a:t>サードプレイスの枯渇</a:t>
            </a:r>
            <a:endParaRPr lang="en-US" sz="1550" dirty="0"/>
          </a:p>
        </p:txBody>
      </p:sp>
      <p:sp>
        <p:nvSpPr>
          <p:cNvPr id="20" name="Text 15"/>
          <p:cNvSpPr/>
          <p:nvPr/>
        </p:nvSpPr>
        <p:spPr>
          <a:xfrm>
            <a:off x="4645762" y="3035808"/>
            <a:ext cx="2900172" cy="237744"/>
          </a:xfrm>
          <a:prstGeom prst="rect">
            <a:avLst/>
          </a:prstGeom>
          <a:noFill/>
          <a:ln/>
        </p:spPr>
        <p:txBody>
          <a:bodyPr wrap="square" lIns="0" tIns="0" rIns="0" bIns="0" rtlCol="0" anchor="ctr"/>
          <a:lstStyle/>
          <a:p>
            <a:pPr indent="0" marL="0">
              <a:buNone/>
            </a:pPr>
            <a:r>
              <a:rPr lang="en-US" sz="1050" b="1" dirty="0">
                <a:solidFill>
                  <a:srgbClr val="B8893B"/>
                </a:solidFill>
                <a:latin typeface="Noto Sans JP" pitchFamily="34" charset="0"/>
                <a:ea typeface="Noto Sans JP" pitchFamily="34" charset="-122"/>
                <a:cs typeface="Noto Sans JP" pitchFamily="34" charset="-120"/>
              </a:rPr>
              <a:t>自宅以外の作業場所が足りない</a:t>
            </a:r>
            <a:endParaRPr lang="en-US" sz="1050" dirty="0"/>
          </a:p>
        </p:txBody>
      </p:sp>
      <p:sp>
        <p:nvSpPr>
          <p:cNvPr id="21" name="Shape 16"/>
          <p:cNvSpPr/>
          <p:nvPr/>
        </p:nvSpPr>
        <p:spPr>
          <a:xfrm>
            <a:off x="4645762" y="3346704"/>
            <a:ext cx="2900172" cy="10058"/>
          </a:xfrm>
          <a:prstGeom prst="rect">
            <a:avLst/>
          </a:prstGeom>
          <a:solidFill>
            <a:srgbClr val="E6DFCD"/>
          </a:solidFill>
          <a:ln/>
        </p:spPr>
      </p:sp>
      <p:sp>
        <p:nvSpPr>
          <p:cNvPr id="22" name="Text 17"/>
          <p:cNvSpPr/>
          <p:nvPr/>
        </p:nvSpPr>
        <p:spPr>
          <a:xfrm>
            <a:off x="4645762" y="3456432"/>
            <a:ext cx="2900172" cy="950976"/>
          </a:xfrm>
          <a:prstGeom prst="rect">
            <a:avLst/>
          </a:prstGeom>
          <a:noFill/>
          <a:ln/>
        </p:spPr>
        <p:txBody>
          <a:bodyPr wrap="square" lIns="0" tIns="0" rIns="0" bIns="0" rtlCol="0" anchor="t"/>
          <a:lstStyle/>
          <a:p>
            <a:pPr indent="0" marL="0">
              <a:lnSpc>
                <a:spcPct val="140000"/>
              </a:lnSpc>
              <a:buNone/>
            </a:pPr>
            <a:r>
              <a:rPr lang="en-US" sz="1100" dirty="0">
                <a:solidFill>
                  <a:srgbClr val="3B3833"/>
                </a:solidFill>
                <a:latin typeface="Noto Sans JP" pitchFamily="34" charset="0"/>
                <a:ea typeface="Noto Sans JP" pitchFamily="34" charset="-122"/>
                <a:cs typeface="Noto Sans JP" pitchFamily="34" charset="-120"/>
              </a:rPr>
              <a:t>リモートワークの普及で自宅以外の手頃な作業場所が不足し、カフェやコワーキングは価格や混雑の課題が残り、学習スペースも制限が多く気軽に利用できない。</a:t>
            </a:r>
            <a:endParaRPr lang="en-US" sz="1100" dirty="0"/>
          </a:p>
        </p:txBody>
      </p:sp>
      <p:sp>
        <p:nvSpPr>
          <p:cNvPr id="23" name="Shape 18"/>
          <p:cNvSpPr/>
          <p:nvPr/>
        </p:nvSpPr>
        <p:spPr>
          <a:xfrm>
            <a:off x="8076286" y="1700784"/>
            <a:ext cx="3448812" cy="2834640"/>
          </a:xfrm>
          <a:prstGeom prst="roundRect">
            <a:avLst>
              <a:gd name="adj" fmla="val 2258"/>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24" name="Shape 19"/>
          <p:cNvSpPr/>
          <p:nvPr/>
        </p:nvSpPr>
        <p:spPr>
          <a:xfrm>
            <a:off x="8350606" y="1956816"/>
            <a:ext cx="603504" cy="603504"/>
          </a:xfrm>
          <a:prstGeom prst="ellipse">
            <a:avLst/>
          </a:prstGeom>
          <a:solidFill>
            <a:srgbClr val="F0F5EF"/>
          </a:solidFill>
          <a:ln/>
        </p:spPr>
      </p:sp>
      <p:pic>
        <p:nvPicPr>
          <p:cNvPr id="25" name="Image 3" descr="/home/user/suzuki-ceo/selfcafe-fc-deck/assets/icons/LuBuilding2-green.png">    </p:cNvPr>
          <p:cNvPicPr>
            <a:picLocks noChangeAspect="1"/>
          </p:cNvPicPr>
          <p:nvPr/>
        </p:nvPicPr>
        <p:blipFill>
          <a:blip r:embed="rId4"/>
          <a:stretch>
            <a:fillRect/>
          </a:stretch>
        </p:blipFill>
        <p:spPr>
          <a:xfrm>
            <a:off x="8483376" y="2089587"/>
            <a:ext cx="337962" cy="337962"/>
          </a:xfrm>
          <a:prstGeom prst="rect">
            <a:avLst/>
          </a:prstGeom>
        </p:spPr>
      </p:pic>
      <p:sp>
        <p:nvSpPr>
          <p:cNvPr id="26" name="Text 20"/>
          <p:cNvSpPr/>
          <p:nvPr/>
        </p:nvSpPr>
        <p:spPr>
          <a:xfrm>
            <a:off x="10702138" y="1956816"/>
            <a:ext cx="548640" cy="365760"/>
          </a:xfrm>
          <a:prstGeom prst="rect">
            <a:avLst/>
          </a:prstGeom>
          <a:noFill/>
          <a:ln/>
        </p:spPr>
        <p:txBody>
          <a:bodyPr wrap="square" lIns="0" tIns="0" rIns="0" bIns="0" rtlCol="0" anchor="ctr"/>
          <a:lstStyle/>
          <a:p>
            <a:pPr algn="r" indent="0" marL="0">
              <a:buNone/>
            </a:pPr>
            <a:r>
              <a:rPr lang="en-US" sz="2000" b="1" dirty="0">
                <a:solidFill>
                  <a:srgbClr val="E9DEC4"/>
                </a:solidFill>
                <a:latin typeface="Arial" pitchFamily="34" charset="0"/>
                <a:ea typeface="Arial" pitchFamily="34" charset="-122"/>
                <a:cs typeface="Arial" pitchFamily="34" charset="-120"/>
              </a:rPr>
              <a:t>03</a:t>
            </a:r>
            <a:endParaRPr lang="en-US" sz="2000" dirty="0"/>
          </a:p>
        </p:txBody>
      </p:sp>
      <p:sp>
        <p:nvSpPr>
          <p:cNvPr id="27" name="Text 21"/>
          <p:cNvSpPr/>
          <p:nvPr/>
        </p:nvSpPr>
        <p:spPr>
          <a:xfrm>
            <a:off x="8350606" y="2670048"/>
            <a:ext cx="2900172" cy="347472"/>
          </a:xfrm>
          <a:prstGeom prst="rect">
            <a:avLst/>
          </a:prstGeom>
          <a:noFill/>
          <a:ln/>
        </p:spPr>
        <p:txBody>
          <a:bodyPr wrap="square" lIns="0" tIns="0" rIns="0" bIns="0" rtlCol="0" anchor="ctr"/>
          <a:lstStyle/>
          <a:p>
            <a:pPr indent="0" marL="0">
              <a:buNone/>
            </a:pPr>
            <a:r>
              <a:rPr lang="en-US" sz="1550" b="1" dirty="0">
                <a:solidFill>
                  <a:srgbClr val="1B5E20"/>
                </a:solidFill>
                <a:latin typeface="Noto Sans JP" pitchFamily="34" charset="0"/>
                <a:ea typeface="Noto Sans JP" pitchFamily="34" charset="-122"/>
                <a:cs typeface="Noto Sans JP" pitchFamily="34" charset="-120"/>
              </a:rPr>
              <a:t>遊休資産の有効活用</a:t>
            </a:r>
            <a:endParaRPr lang="en-US" sz="1550" dirty="0"/>
          </a:p>
        </p:txBody>
      </p:sp>
      <p:sp>
        <p:nvSpPr>
          <p:cNvPr id="28" name="Text 22"/>
          <p:cNvSpPr/>
          <p:nvPr/>
        </p:nvSpPr>
        <p:spPr>
          <a:xfrm>
            <a:off x="8350606" y="3035808"/>
            <a:ext cx="2900172" cy="237744"/>
          </a:xfrm>
          <a:prstGeom prst="rect">
            <a:avLst/>
          </a:prstGeom>
          <a:noFill/>
          <a:ln/>
        </p:spPr>
        <p:txBody>
          <a:bodyPr wrap="square" lIns="0" tIns="0" rIns="0" bIns="0" rtlCol="0" anchor="ctr"/>
          <a:lstStyle/>
          <a:p>
            <a:pPr indent="0" marL="0">
              <a:buNone/>
            </a:pPr>
            <a:r>
              <a:rPr lang="en-US" sz="1050" b="1" dirty="0">
                <a:solidFill>
                  <a:srgbClr val="B8893B"/>
                </a:solidFill>
                <a:latin typeface="Noto Sans JP" pitchFamily="34" charset="0"/>
                <a:ea typeface="Noto Sans JP" pitchFamily="34" charset="-122"/>
                <a:cs typeface="Noto Sans JP" pitchFamily="34" charset="-120"/>
              </a:rPr>
              <a:t>空室・デッドスペースが埋まらない</a:t>
            </a:r>
            <a:endParaRPr lang="en-US" sz="1050" dirty="0"/>
          </a:p>
        </p:txBody>
      </p:sp>
      <p:sp>
        <p:nvSpPr>
          <p:cNvPr id="29" name="Shape 23"/>
          <p:cNvSpPr/>
          <p:nvPr/>
        </p:nvSpPr>
        <p:spPr>
          <a:xfrm>
            <a:off x="8350606" y="3346704"/>
            <a:ext cx="2900172" cy="10058"/>
          </a:xfrm>
          <a:prstGeom prst="rect">
            <a:avLst/>
          </a:prstGeom>
          <a:solidFill>
            <a:srgbClr val="E6DFCD"/>
          </a:solidFill>
          <a:ln/>
        </p:spPr>
      </p:sp>
      <p:sp>
        <p:nvSpPr>
          <p:cNvPr id="30" name="Text 24"/>
          <p:cNvSpPr/>
          <p:nvPr/>
        </p:nvSpPr>
        <p:spPr>
          <a:xfrm>
            <a:off x="8350606" y="3456432"/>
            <a:ext cx="2900172" cy="950976"/>
          </a:xfrm>
          <a:prstGeom prst="rect">
            <a:avLst/>
          </a:prstGeom>
          <a:noFill/>
          <a:ln/>
        </p:spPr>
        <p:txBody>
          <a:bodyPr wrap="square" lIns="0" tIns="0" rIns="0" bIns="0" rtlCol="0" anchor="t"/>
          <a:lstStyle/>
          <a:p>
            <a:pPr indent="0" marL="0">
              <a:lnSpc>
                <a:spcPct val="140000"/>
              </a:lnSpc>
              <a:buNone/>
            </a:pPr>
            <a:r>
              <a:rPr lang="en-US" sz="1100" dirty="0">
                <a:solidFill>
                  <a:srgbClr val="3B3833"/>
                </a:solidFill>
                <a:latin typeface="Noto Sans JP" pitchFamily="34" charset="0"/>
                <a:ea typeface="Noto Sans JP" pitchFamily="34" charset="-122"/>
                <a:cs typeface="Noto Sans JP" pitchFamily="34" charset="-120"/>
              </a:rPr>
              <a:t>ビル空室やデッドスペースが増え、従来のテナント誘致だけでは埋まらず、新たな活用モデルの開発が求められている。</a:t>
            </a:r>
            <a:endParaRPr lang="en-US" sz="1100" dirty="0"/>
          </a:p>
        </p:txBody>
      </p:sp>
      <p:sp>
        <p:nvSpPr>
          <p:cNvPr id="31" name="Shape 25"/>
          <p:cNvSpPr/>
          <p:nvPr/>
        </p:nvSpPr>
        <p:spPr>
          <a:xfrm>
            <a:off x="666598" y="4828032"/>
            <a:ext cx="10858500" cy="1426464"/>
          </a:xfrm>
          <a:prstGeom prst="roundRect">
            <a:avLst>
              <a:gd name="adj" fmla="val 5769"/>
            </a:avLst>
          </a:prstGeom>
          <a:solidFill>
            <a:srgbClr val="12401A"/>
          </a:solidFill>
          <a:ln/>
          <a:effectLst>
            <a:outerShdw sx="100000" sy="100000" kx="0" ky="0" algn="bl" rotWithShape="0" blurRad="114300" dist="17780" dir="5400000">
              <a:srgbClr val="6B6250">
                <a:alpha val="14000"/>
              </a:srgbClr>
            </a:outerShdw>
          </a:effectLst>
        </p:spPr>
      </p:sp>
      <p:pic>
        <p:nvPicPr>
          <p:cNvPr id="32" name="Image 4" descr="/home/user/suzuki-ceo/selfcafe-fc-deck/assets/icons/LuZap-white.png">    </p:cNvPr>
          <p:cNvPicPr>
            <a:picLocks noChangeAspect="1"/>
          </p:cNvPicPr>
          <p:nvPr/>
        </p:nvPicPr>
        <p:blipFill>
          <a:blip r:embed="rId5"/>
          <a:stretch>
            <a:fillRect/>
          </a:stretch>
        </p:blipFill>
        <p:spPr>
          <a:xfrm>
            <a:off x="1050646" y="5084064"/>
            <a:ext cx="310896" cy="310896"/>
          </a:xfrm>
          <a:prstGeom prst="rect">
            <a:avLst/>
          </a:prstGeom>
        </p:spPr>
      </p:pic>
      <p:sp>
        <p:nvSpPr>
          <p:cNvPr id="33" name="Text 26"/>
          <p:cNvSpPr/>
          <p:nvPr/>
        </p:nvSpPr>
        <p:spPr>
          <a:xfrm>
            <a:off x="1507846" y="5029200"/>
            <a:ext cx="9633204" cy="420624"/>
          </a:xfrm>
          <a:prstGeom prst="rect">
            <a:avLst/>
          </a:prstGeom>
          <a:noFill/>
          <a:ln/>
        </p:spPr>
        <p:txBody>
          <a:bodyPr wrap="square" lIns="0" tIns="0" rIns="0" bIns="0" rtlCol="0" anchor="ctr"/>
          <a:lstStyle/>
          <a:p>
            <a:pPr indent="0" marL="0">
              <a:buNone/>
            </a:pPr>
            <a:r>
              <a:rPr lang="en-US" sz="1900" b="1" dirty="0">
                <a:solidFill>
                  <a:srgbClr val="FFFFFF"/>
                </a:solidFill>
                <a:latin typeface="Noto Sans JP" pitchFamily="34" charset="0"/>
                <a:ea typeface="Noto Sans JP" pitchFamily="34" charset="-122"/>
                <a:cs typeface="Noto Sans JP" pitchFamily="34" charset="-120"/>
              </a:rPr>
              <a:t>この3つの課題に同時に応えるのが、「無人カフェ × 遊休スペース」というモデルです。</a:t>
            </a:r>
            <a:endParaRPr lang="en-US" sz="1900" dirty="0"/>
          </a:p>
        </p:txBody>
      </p:sp>
      <p:sp>
        <p:nvSpPr>
          <p:cNvPr id="34" name="Text 27"/>
          <p:cNvSpPr/>
          <p:nvPr/>
        </p:nvSpPr>
        <p:spPr>
          <a:xfrm>
            <a:off x="1507846" y="5522976"/>
            <a:ext cx="9633204" cy="402336"/>
          </a:xfrm>
          <a:prstGeom prst="rect">
            <a:avLst/>
          </a:prstGeom>
          <a:noFill/>
          <a:ln/>
        </p:spPr>
        <p:txBody>
          <a:bodyPr wrap="square" lIns="0" tIns="0" rIns="0" bIns="0" rtlCol="0" anchor="ctr"/>
          <a:lstStyle/>
          <a:p>
            <a:pPr indent="0" marL="0">
              <a:buNone/>
            </a:pPr>
            <a:r>
              <a:rPr lang="en-US" sz="1150" dirty="0">
                <a:solidFill>
                  <a:srgbClr val="A9C6AC"/>
                </a:solidFill>
                <a:latin typeface="Noto Sans JP" pitchFamily="34" charset="0"/>
                <a:ea typeface="Noto Sans JP" pitchFamily="34" charset="-122"/>
                <a:cs typeface="Noto Sans JP" pitchFamily="34" charset="-120"/>
              </a:rPr>
              <a:t>人手をかけずに運営でき、働く・学ぶ場所を求める需要を受け止め、空いたスペースを収益資産に変えられます。</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CF5"/>
        </a:solidFill>
      </p:bgPr>
    </p:bg>
    <p:spTree>
      <p:nvGrpSpPr>
        <p:cNvPr id="1" name=""/>
        <p:cNvGrpSpPr/>
        <p:nvPr/>
      </p:nvGrpSpPr>
      <p:grpSpPr>
        <a:xfrm>
          <a:off x="0" y="0"/>
          <a:ext cx="0" cy="0"/>
          <a:chOff x="0" y="0"/>
          <a:chExt cx="0" cy="0"/>
        </a:xfrm>
      </p:grpSpPr>
      <p:sp>
        <p:nvSpPr>
          <p:cNvPr id="2" name="Text 0"/>
          <p:cNvSpPr/>
          <p:nvPr/>
        </p:nvSpPr>
        <p:spPr>
          <a:xfrm>
            <a:off x="666598" y="506578"/>
            <a:ext cx="8503920" cy="384048"/>
          </a:xfrm>
          <a:prstGeom prst="rect">
            <a:avLst/>
          </a:prstGeom>
          <a:noFill/>
          <a:ln/>
        </p:spPr>
        <p:txBody>
          <a:bodyPr wrap="square" lIns="0" tIns="0" rIns="0" bIns="0" rtlCol="0" anchor="ctr"/>
          <a:lstStyle/>
          <a:p>
            <a:pPr algn="l" indent="0" marL="0">
              <a:buNone/>
            </a:pPr>
            <a:r>
              <a:rPr lang="en-US" sz="3000" dirty="0">
                <a:solidFill>
                  <a:srgbClr val="1B5E20"/>
                </a:solidFill>
                <a:latin typeface="Noto Sans JP" pitchFamily="34" charset="0"/>
                <a:ea typeface="Noto Sans JP" pitchFamily="34" charset="-122"/>
                <a:cs typeface="Noto Sans JP" pitchFamily="34" charset="-120"/>
              </a:rPr>
              <a:t>人手不足対策：無人管理の優位性</a:t>
            </a:r>
            <a:endParaRPr lang="en-US" sz="3000" dirty="0"/>
          </a:p>
        </p:txBody>
      </p:sp>
      <p:sp>
        <p:nvSpPr>
          <p:cNvPr id="3" name="Shape 1"/>
          <p:cNvSpPr/>
          <p:nvPr/>
        </p:nvSpPr>
        <p:spPr>
          <a:xfrm>
            <a:off x="666598" y="1114654"/>
            <a:ext cx="10858500" cy="19202"/>
          </a:xfrm>
          <a:prstGeom prst="rect">
            <a:avLst/>
          </a:prstGeom>
          <a:solidFill>
            <a:srgbClr val="8D6E63"/>
          </a:solidFill>
          <a:ln/>
        </p:spPr>
      </p:sp>
      <p:pic>
        <p:nvPicPr>
          <p:cNvPr id="4" name="Image 0" descr="/home/user/suzuki-ceo/selfcafe-fc-deck/assets/logo_gray.png">    </p:cNvPr>
          <p:cNvPicPr>
            <a:picLocks noChangeAspect="1"/>
          </p:cNvPicPr>
          <p:nvPr/>
        </p:nvPicPr>
        <p:blipFill>
          <a:blip r:embed="rId1"/>
          <a:stretch>
            <a:fillRect/>
          </a:stretch>
        </p:blipFill>
        <p:spPr>
          <a:xfrm>
            <a:off x="9415577" y="802843"/>
            <a:ext cx="2024482" cy="288036"/>
          </a:xfrm>
          <a:prstGeom prst="rect">
            <a:avLst/>
          </a:prstGeom>
        </p:spPr>
      </p:pic>
      <p:sp>
        <p:nvSpPr>
          <p:cNvPr id="5" name="Text 2"/>
          <p:cNvSpPr/>
          <p:nvPr/>
        </p:nvSpPr>
        <p:spPr>
          <a:xfrm>
            <a:off x="10610698" y="6345936"/>
            <a:ext cx="914400" cy="219456"/>
          </a:xfrm>
          <a:prstGeom prst="rect">
            <a:avLst/>
          </a:prstGeom>
          <a:noFill/>
          <a:ln/>
        </p:spPr>
        <p:txBody>
          <a:bodyPr wrap="square" lIns="0" tIns="0" rIns="0" bIns="0" rtlCol="0" anchor="ctr"/>
          <a:lstStyle/>
          <a:p>
            <a:pPr algn="r" indent="0" marL="0">
              <a:buNone/>
            </a:pPr>
            <a:r>
              <a:rPr lang="en-US" sz="1300" dirty="0">
                <a:solidFill>
                  <a:srgbClr val="000000"/>
                </a:solidFill>
                <a:latin typeface="Cambria" pitchFamily="34" charset="0"/>
                <a:ea typeface="Cambria" pitchFamily="34" charset="-122"/>
                <a:cs typeface="Cambria" pitchFamily="34" charset="-120"/>
              </a:rPr>
              <a:t>6</a:t>
            </a:r>
            <a:endParaRPr lang="en-US" sz="1300" dirty="0"/>
          </a:p>
        </p:txBody>
      </p:sp>
      <p:sp>
        <p:nvSpPr>
          <p:cNvPr id="6" name="Shape 3"/>
          <p:cNvSpPr/>
          <p:nvPr/>
        </p:nvSpPr>
        <p:spPr>
          <a:xfrm>
            <a:off x="666598" y="1417320"/>
            <a:ext cx="3977640" cy="4846320"/>
          </a:xfrm>
          <a:prstGeom prst="roundRect">
            <a:avLst>
              <a:gd name="adj" fmla="val 2069"/>
            </a:avLst>
          </a:prstGeom>
          <a:solidFill>
            <a:srgbClr val="12401A"/>
          </a:solidFill>
          <a:ln/>
          <a:effectLst>
            <a:outerShdw sx="100000" sy="100000" kx="0" ky="0" algn="bl" rotWithShape="0" blurRad="114300" dist="17780" dir="5400000">
              <a:srgbClr val="6B6250">
                <a:alpha val="14000"/>
              </a:srgbClr>
            </a:outerShdw>
          </a:effectLst>
        </p:spPr>
      </p:sp>
      <p:sp>
        <p:nvSpPr>
          <p:cNvPr id="7" name="Text 4"/>
          <p:cNvSpPr/>
          <p:nvPr/>
        </p:nvSpPr>
        <p:spPr>
          <a:xfrm>
            <a:off x="1087222" y="1892808"/>
            <a:ext cx="3136392" cy="256032"/>
          </a:xfrm>
          <a:prstGeom prst="rect">
            <a:avLst/>
          </a:prstGeom>
          <a:noFill/>
          <a:ln/>
        </p:spPr>
        <p:txBody>
          <a:bodyPr wrap="square" lIns="0" tIns="0" rIns="0" bIns="0" rtlCol="0" anchor="ctr"/>
          <a:lstStyle/>
          <a:p>
            <a:pPr indent="0" marL="0">
              <a:buNone/>
            </a:pPr>
            <a:r>
              <a:rPr lang="en-US" sz="1050" b="1" spc="300" kern="0" dirty="0">
                <a:solidFill>
                  <a:srgbClr val="A9C6AC"/>
                </a:solidFill>
                <a:latin typeface="Arial" pitchFamily="34" charset="0"/>
                <a:ea typeface="Arial" pitchFamily="34" charset="-122"/>
                <a:cs typeface="Arial" pitchFamily="34" charset="-120"/>
              </a:rPr>
              <a:t>THE ADVANTAGE</a:t>
            </a:r>
            <a:endParaRPr lang="en-US" sz="1050" dirty="0"/>
          </a:p>
        </p:txBody>
      </p:sp>
      <p:sp>
        <p:nvSpPr>
          <p:cNvPr id="8" name="Text 5"/>
          <p:cNvSpPr/>
          <p:nvPr/>
        </p:nvSpPr>
        <p:spPr>
          <a:xfrm>
            <a:off x="1087222" y="2331720"/>
            <a:ext cx="3136392" cy="2011680"/>
          </a:xfrm>
          <a:prstGeom prst="rect">
            <a:avLst/>
          </a:prstGeom>
          <a:noFill/>
          <a:ln/>
        </p:spPr>
        <p:txBody>
          <a:bodyPr wrap="square" lIns="0" tIns="0" rIns="0" bIns="0" rtlCol="0" anchor="t"/>
          <a:lstStyle/>
          <a:p>
            <a:pPr indent="0" marL="0">
              <a:lnSpc>
                <a:spcPct val="124000"/>
              </a:lnSpc>
              <a:buNone/>
            </a:pPr>
            <a:r>
              <a:rPr lang="en-US" sz="3100" b="1" dirty="0">
                <a:solidFill>
                  <a:srgbClr val="FFFFFF"/>
                </a:solidFill>
                <a:latin typeface="Noto Sans JP" pitchFamily="34" charset="0"/>
                <a:ea typeface="Noto Sans JP" pitchFamily="34" charset="-122"/>
                <a:cs typeface="Noto Sans JP" pitchFamily="34" charset="-120"/>
              </a:rPr>
              <a:t>「人」に</a:t>
            </a:r>
            <a:endParaRPr lang="en-US" sz="3100" dirty="0"/>
          </a:p>
          <a:p>
            <a:pPr indent="0" marL="0">
              <a:lnSpc>
                <a:spcPct val="124000"/>
              </a:lnSpc>
              <a:buNone/>
            </a:pPr>
            <a:r>
              <a:rPr lang="en-US" sz="3100" b="1" dirty="0">
                <a:solidFill>
                  <a:srgbClr val="FFFFFF"/>
                </a:solidFill>
                <a:latin typeface="Noto Sans JP" pitchFamily="34" charset="0"/>
                <a:ea typeface="Noto Sans JP" pitchFamily="34" charset="-122"/>
                <a:cs typeface="Noto Sans JP" pitchFamily="34" charset="-120"/>
              </a:rPr>
              <a:t>頼らない</a:t>
            </a:r>
            <a:endParaRPr lang="en-US" sz="3100" dirty="0"/>
          </a:p>
          <a:p>
            <a:pPr indent="0" marL="0">
              <a:lnSpc>
                <a:spcPct val="124000"/>
              </a:lnSpc>
              <a:buNone/>
            </a:pPr>
            <a:r>
              <a:rPr lang="en-US" sz="3100" b="1" dirty="0">
                <a:solidFill>
                  <a:srgbClr val="FFFFFF"/>
                </a:solidFill>
                <a:latin typeface="Noto Sans JP" pitchFamily="34" charset="0"/>
                <a:ea typeface="Noto Sans JP" pitchFamily="34" charset="-122"/>
                <a:cs typeface="Noto Sans JP" pitchFamily="34" charset="-120"/>
              </a:rPr>
              <a:t>経営へ</a:t>
            </a:r>
            <a:endParaRPr lang="en-US" sz="3100" dirty="0"/>
          </a:p>
        </p:txBody>
      </p:sp>
      <p:sp>
        <p:nvSpPr>
          <p:cNvPr id="9" name="Shape 6"/>
          <p:cNvSpPr/>
          <p:nvPr/>
        </p:nvSpPr>
        <p:spPr>
          <a:xfrm>
            <a:off x="1087222" y="4489704"/>
            <a:ext cx="1005840" cy="19202"/>
          </a:xfrm>
          <a:prstGeom prst="rect">
            <a:avLst/>
          </a:prstGeom>
          <a:solidFill>
            <a:srgbClr val="A9C6AC"/>
          </a:solidFill>
          <a:ln/>
        </p:spPr>
      </p:sp>
      <p:sp>
        <p:nvSpPr>
          <p:cNvPr id="10" name="Text 7"/>
          <p:cNvSpPr/>
          <p:nvPr/>
        </p:nvSpPr>
        <p:spPr>
          <a:xfrm>
            <a:off x="1087222" y="4709160"/>
            <a:ext cx="3136392" cy="1078992"/>
          </a:xfrm>
          <a:prstGeom prst="rect">
            <a:avLst/>
          </a:prstGeom>
          <a:noFill/>
          <a:ln/>
        </p:spPr>
        <p:txBody>
          <a:bodyPr wrap="square" lIns="0" tIns="0" rIns="0" bIns="0" rtlCol="0" anchor="t"/>
          <a:lstStyle/>
          <a:p>
            <a:pPr indent="0" marL="0">
              <a:lnSpc>
                <a:spcPct val="140000"/>
              </a:lnSpc>
              <a:buNone/>
            </a:pPr>
            <a:r>
              <a:rPr lang="en-US" sz="1150" dirty="0">
                <a:solidFill>
                  <a:srgbClr val="A9C6AC"/>
                </a:solidFill>
                <a:latin typeface="Noto Sans JP" pitchFamily="34" charset="0"/>
                <a:ea typeface="Noto Sans JP" pitchFamily="34" charset="-122"/>
                <a:cs typeface="Noto Sans JP" pitchFamily="34" charset="-120"/>
              </a:rPr>
              <a:t>無人運営がもたらす、3つの構造的な強み。人に依存しないから、規模を広げても運営品質とコストが崩れません。</a:t>
            </a:r>
            <a:endParaRPr lang="en-US" sz="1150" dirty="0"/>
          </a:p>
        </p:txBody>
      </p:sp>
      <p:pic>
        <p:nvPicPr>
          <p:cNvPr id="11" name="Image 1" descr="/home/user/suzuki-ceo/selfcafe-fc-deck/assets/icons/LuUsers-pale.png">    </p:cNvPr>
          <p:cNvPicPr>
            <a:picLocks noChangeAspect="1"/>
          </p:cNvPicPr>
          <p:nvPr/>
        </p:nvPicPr>
        <p:blipFill>
          <a:blip r:embed="rId2"/>
          <a:stretch>
            <a:fillRect/>
          </a:stretch>
        </p:blipFill>
        <p:spPr>
          <a:xfrm>
            <a:off x="3510382" y="5257800"/>
            <a:ext cx="658368" cy="658368"/>
          </a:xfrm>
          <a:prstGeom prst="rect">
            <a:avLst/>
          </a:prstGeom>
        </p:spPr>
      </p:pic>
      <p:sp>
        <p:nvSpPr>
          <p:cNvPr id="12" name="Shape 8"/>
          <p:cNvSpPr/>
          <p:nvPr/>
        </p:nvSpPr>
        <p:spPr>
          <a:xfrm>
            <a:off x="4892040" y="1417320"/>
            <a:ext cx="6633058" cy="1481328"/>
          </a:xfrm>
          <a:prstGeom prst="roundRect">
            <a:avLst>
              <a:gd name="adj" fmla="val 4321"/>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13" name="Shape 9"/>
          <p:cNvSpPr/>
          <p:nvPr/>
        </p:nvSpPr>
        <p:spPr>
          <a:xfrm>
            <a:off x="5202936" y="1728216"/>
            <a:ext cx="603504" cy="603504"/>
          </a:xfrm>
          <a:prstGeom prst="ellipse">
            <a:avLst/>
          </a:prstGeom>
          <a:solidFill>
            <a:srgbClr val="F0F5EF"/>
          </a:solidFill>
          <a:ln/>
        </p:spPr>
      </p:sp>
      <p:pic>
        <p:nvPicPr>
          <p:cNvPr id="14" name="Image 2" descr="/home/user/suzuki-ceo/selfcafe-fc-deck/assets/icons/LuClipboardList-green.png">    </p:cNvPr>
          <p:cNvPicPr>
            <a:picLocks noChangeAspect="1"/>
          </p:cNvPicPr>
          <p:nvPr/>
        </p:nvPicPr>
        <p:blipFill>
          <a:blip r:embed="rId3"/>
          <a:stretch>
            <a:fillRect/>
          </a:stretch>
        </p:blipFill>
        <p:spPr>
          <a:xfrm>
            <a:off x="5335707" y="1860987"/>
            <a:ext cx="337962" cy="337962"/>
          </a:xfrm>
          <a:prstGeom prst="rect">
            <a:avLst/>
          </a:prstGeom>
        </p:spPr>
      </p:pic>
      <p:sp>
        <p:nvSpPr>
          <p:cNvPr id="15" name="Text 10"/>
          <p:cNvSpPr/>
          <p:nvPr/>
        </p:nvSpPr>
        <p:spPr>
          <a:xfrm>
            <a:off x="5952744" y="1691640"/>
            <a:ext cx="5261458" cy="384048"/>
          </a:xfrm>
          <a:prstGeom prst="rect">
            <a:avLst/>
          </a:prstGeom>
          <a:noFill/>
          <a:ln/>
        </p:spPr>
        <p:txBody>
          <a:bodyPr wrap="square" lIns="0" tIns="0" rIns="0" bIns="0" rtlCol="0" anchor="ctr"/>
          <a:lstStyle/>
          <a:p>
            <a:pPr indent="0" marL="0">
              <a:buNone/>
            </a:pPr>
            <a:r>
              <a:rPr lang="en-US" sz="1600" b="1" dirty="0">
                <a:solidFill>
                  <a:srgbClr val="1B5E20"/>
                </a:solidFill>
                <a:latin typeface="Noto Sans JP" pitchFamily="34" charset="0"/>
                <a:ea typeface="Noto Sans JP" pitchFamily="34" charset="-122"/>
                <a:cs typeface="Noto Sans JP" pitchFamily="34" charset="-120"/>
              </a:rPr>
              <a:t>管理・教育コストの大幅削減</a:t>
            </a:r>
            <a:endParaRPr lang="en-US" sz="1600" dirty="0"/>
          </a:p>
        </p:txBody>
      </p:sp>
      <p:sp>
        <p:nvSpPr>
          <p:cNvPr id="16" name="Text 11"/>
          <p:cNvSpPr/>
          <p:nvPr/>
        </p:nvSpPr>
        <p:spPr>
          <a:xfrm>
            <a:off x="5952744" y="2130552"/>
            <a:ext cx="5261458" cy="566928"/>
          </a:xfrm>
          <a:prstGeom prst="rect">
            <a:avLst/>
          </a:prstGeom>
          <a:noFill/>
          <a:ln/>
        </p:spPr>
        <p:txBody>
          <a:bodyPr wrap="square" lIns="0" tIns="0" rIns="0" bIns="0" rtlCol="0" anchor="t"/>
          <a:lstStyle/>
          <a:p>
            <a:pPr indent="0" marL="0">
              <a:lnSpc>
                <a:spcPct val="130000"/>
              </a:lnSpc>
              <a:buNone/>
            </a:pPr>
            <a:r>
              <a:rPr lang="en-US" sz="1150" dirty="0">
                <a:solidFill>
                  <a:srgbClr val="3B3833"/>
                </a:solidFill>
                <a:latin typeface="Noto Sans JP" pitchFamily="34" charset="0"/>
                <a:ea typeface="Noto Sans JP" pitchFamily="34" charset="-122"/>
                <a:cs typeface="Noto Sans JP" pitchFamily="34" charset="-120"/>
              </a:rPr>
              <a:t>スタッフ管理に伴う工数や人的リスクを抑え、運営にかかる負担を軽減します。</a:t>
            </a:r>
            <a:endParaRPr lang="en-US" sz="1150" dirty="0"/>
          </a:p>
        </p:txBody>
      </p:sp>
      <p:sp>
        <p:nvSpPr>
          <p:cNvPr id="17" name="Shape 12"/>
          <p:cNvSpPr/>
          <p:nvPr/>
        </p:nvSpPr>
        <p:spPr>
          <a:xfrm>
            <a:off x="4892040" y="3099816"/>
            <a:ext cx="6633058" cy="1481328"/>
          </a:xfrm>
          <a:prstGeom prst="roundRect">
            <a:avLst>
              <a:gd name="adj" fmla="val 4321"/>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18" name="Shape 13"/>
          <p:cNvSpPr/>
          <p:nvPr/>
        </p:nvSpPr>
        <p:spPr>
          <a:xfrm>
            <a:off x="5202936" y="3410712"/>
            <a:ext cx="603504" cy="603504"/>
          </a:xfrm>
          <a:prstGeom prst="ellipse">
            <a:avLst/>
          </a:prstGeom>
          <a:solidFill>
            <a:srgbClr val="F0F5EF"/>
          </a:solidFill>
          <a:ln/>
        </p:spPr>
      </p:sp>
      <p:pic>
        <p:nvPicPr>
          <p:cNvPr id="19" name="Image 3" descr="/home/user/suzuki-ceo/selfcafe-fc-deck/assets/icons/LuPiggyBank-green.png">    </p:cNvPr>
          <p:cNvPicPr>
            <a:picLocks noChangeAspect="1"/>
          </p:cNvPicPr>
          <p:nvPr/>
        </p:nvPicPr>
        <p:blipFill>
          <a:blip r:embed="rId4"/>
          <a:stretch>
            <a:fillRect/>
          </a:stretch>
        </p:blipFill>
        <p:spPr>
          <a:xfrm>
            <a:off x="5335707" y="3543483"/>
            <a:ext cx="337962" cy="337962"/>
          </a:xfrm>
          <a:prstGeom prst="rect">
            <a:avLst/>
          </a:prstGeom>
        </p:spPr>
      </p:pic>
      <p:sp>
        <p:nvSpPr>
          <p:cNvPr id="20" name="Text 14"/>
          <p:cNvSpPr/>
          <p:nvPr/>
        </p:nvSpPr>
        <p:spPr>
          <a:xfrm>
            <a:off x="5952744" y="3374136"/>
            <a:ext cx="5261458" cy="384048"/>
          </a:xfrm>
          <a:prstGeom prst="rect">
            <a:avLst/>
          </a:prstGeom>
          <a:noFill/>
          <a:ln/>
        </p:spPr>
        <p:txBody>
          <a:bodyPr wrap="square" lIns="0" tIns="0" rIns="0" bIns="0" rtlCol="0" anchor="ctr"/>
          <a:lstStyle/>
          <a:p>
            <a:pPr indent="0" marL="0">
              <a:buNone/>
            </a:pPr>
            <a:r>
              <a:rPr lang="en-US" sz="1600" b="1" dirty="0">
                <a:solidFill>
                  <a:srgbClr val="1B5E20"/>
                </a:solidFill>
                <a:latin typeface="Noto Sans JP" pitchFamily="34" charset="0"/>
                <a:ea typeface="Noto Sans JP" pitchFamily="34" charset="-122"/>
                <a:cs typeface="Noto Sans JP" pitchFamily="34" charset="-120"/>
              </a:rPr>
              <a:t>省人力運営で、無駄な人件費をカット</a:t>
            </a:r>
            <a:endParaRPr lang="en-US" sz="1600" dirty="0"/>
          </a:p>
        </p:txBody>
      </p:sp>
      <p:sp>
        <p:nvSpPr>
          <p:cNvPr id="21" name="Text 15"/>
          <p:cNvSpPr/>
          <p:nvPr/>
        </p:nvSpPr>
        <p:spPr>
          <a:xfrm>
            <a:off x="5952744" y="3813048"/>
            <a:ext cx="5261458" cy="566928"/>
          </a:xfrm>
          <a:prstGeom prst="rect">
            <a:avLst/>
          </a:prstGeom>
          <a:noFill/>
          <a:ln/>
        </p:spPr>
        <p:txBody>
          <a:bodyPr wrap="square" lIns="0" tIns="0" rIns="0" bIns="0" rtlCol="0" anchor="t"/>
          <a:lstStyle/>
          <a:p>
            <a:pPr indent="0" marL="0">
              <a:lnSpc>
                <a:spcPct val="130000"/>
              </a:lnSpc>
              <a:buNone/>
            </a:pPr>
            <a:r>
              <a:rPr lang="en-US" sz="1150" dirty="0">
                <a:solidFill>
                  <a:srgbClr val="3B3833"/>
                </a:solidFill>
                <a:latin typeface="Noto Sans JP" pitchFamily="34" charset="0"/>
                <a:ea typeface="Noto Sans JP" pitchFamily="34" charset="-122"/>
                <a:cs typeface="Noto Sans JP" pitchFamily="34" charset="-120"/>
              </a:rPr>
              <a:t>必要最小限の作業で回る仕組みにより、人件費を抑えながら安定した収益を確保できます。</a:t>
            </a:r>
            <a:endParaRPr lang="en-US" sz="1150" dirty="0"/>
          </a:p>
        </p:txBody>
      </p:sp>
      <p:sp>
        <p:nvSpPr>
          <p:cNvPr id="22" name="Shape 16"/>
          <p:cNvSpPr/>
          <p:nvPr/>
        </p:nvSpPr>
        <p:spPr>
          <a:xfrm>
            <a:off x="4892040" y="4782312"/>
            <a:ext cx="6633058" cy="1481328"/>
          </a:xfrm>
          <a:prstGeom prst="roundRect">
            <a:avLst>
              <a:gd name="adj" fmla="val 4321"/>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23" name="Shape 17"/>
          <p:cNvSpPr/>
          <p:nvPr/>
        </p:nvSpPr>
        <p:spPr>
          <a:xfrm>
            <a:off x="5202936" y="5093208"/>
            <a:ext cx="603504" cy="603504"/>
          </a:xfrm>
          <a:prstGeom prst="ellipse">
            <a:avLst/>
          </a:prstGeom>
          <a:solidFill>
            <a:srgbClr val="F0F5EF"/>
          </a:solidFill>
          <a:ln/>
        </p:spPr>
      </p:sp>
      <p:pic>
        <p:nvPicPr>
          <p:cNvPr id="24" name="Image 4" descr="/home/user/suzuki-ceo/selfcafe-fc-deck/assets/icons/LuBadgeCheck-green.png">    </p:cNvPr>
          <p:cNvPicPr>
            <a:picLocks noChangeAspect="1"/>
          </p:cNvPicPr>
          <p:nvPr/>
        </p:nvPicPr>
        <p:blipFill>
          <a:blip r:embed="rId5"/>
          <a:stretch>
            <a:fillRect/>
          </a:stretch>
        </p:blipFill>
        <p:spPr>
          <a:xfrm>
            <a:off x="5335707" y="5225979"/>
            <a:ext cx="337962" cy="337962"/>
          </a:xfrm>
          <a:prstGeom prst="rect">
            <a:avLst/>
          </a:prstGeom>
        </p:spPr>
      </p:pic>
      <p:sp>
        <p:nvSpPr>
          <p:cNvPr id="25" name="Text 18"/>
          <p:cNvSpPr/>
          <p:nvPr/>
        </p:nvSpPr>
        <p:spPr>
          <a:xfrm>
            <a:off x="5952744" y="5056632"/>
            <a:ext cx="5261458" cy="384048"/>
          </a:xfrm>
          <a:prstGeom prst="rect">
            <a:avLst/>
          </a:prstGeom>
          <a:noFill/>
          <a:ln/>
        </p:spPr>
        <p:txBody>
          <a:bodyPr wrap="square" lIns="0" tIns="0" rIns="0" bIns="0" rtlCol="0" anchor="ctr"/>
          <a:lstStyle/>
          <a:p>
            <a:pPr indent="0" marL="0">
              <a:buNone/>
            </a:pPr>
            <a:r>
              <a:rPr lang="en-US" sz="1600" b="1" dirty="0">
                <a:solidFill>
                  <a:srgbClr val="1B5E20"/>
                </a:solidFill>
                <a:latin typeface="Noto Sans JP" pitchFamily="34" charset="0"/>
                <a:ea typeface="Noto Sans JP" pitchFamily="34" charset="-122"/>
                <a:cs typeface="Noto Sans JP" pitchFamily="34" charset="-120"/>
              </a:rPr>
              <a:t>安定した収益と品質</a:t>
            </a:r>
            <a:endParaRPr lang="en-US" sz="1600" dirty="0"/>
          </a:p>
        </p:txBody>
      </p:sp>
      <p:sp>
        <p:nvSpPr>
          <p:cNvPr id="26" name="Text 19"/>
          <p:cNvSpPr/>
          <p:nvPr/>
        </p:nvSpPr>
        <p:spPr>
          <a:xfrm>
            <a:off x="5952744" y="5495544"/>
            <a:ext cx="5261458" cy="566928"/>
          </a:xfrm>
          <a:prstGeom prst="rect">
            <a:avLst/>
          </a:prstGeom>
          <a:noFill/>
          <a:ln/>
        </p:spPr>
        <p:txBody>
          <a:bodyPr wrap="square" lIns="0" tIns="0" rIns="0" bIns="0" rtlCol="0" anchor="t"/>
          <a:lstStyle/>
          <a:p>
            <a:pPr indent="0" marL="0">
              <a:lnSpc>
                <a:spcPct val="130000"/>
              </a:lnSpc>
              <a:buNone/>
            </a:pPr>
            <a:r>
              <a:rPr lang="en-US" sz="1150" dirty="0">
                <a:solidFill>
                  <a:srgbClr val="3B3833"/>
                </a:solidFill>
                <a:latin typeface="Noto Sans JP" pitchFamily="34" charset="0"/>
                <a:ea typeface="Noto Sans JP" pitchFamily="34" charset="-122"/>
                <a:cs typeface="Noto Sans JP" pitchFamily="34" charset="-120"/>
              </a:rPr>
              <a:t>属人性を排除することで、常に均一したサービス品質を維持し、運営の安定性を高めます。</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CF5"/>
        </a:solidFill>
      </p:bgPr>
    </p:bg>
    <p:spTree>
      <p:nvGrpSpPr>
        <p:cNvPr id="1" name=""/>
        <p:cNvGrpSpPr/>
        <p:nvPr/>
      </p:nvGrpSpPr>
      <p:grpSpPr>
        <a:xfrm>
          <a:off x="0" y="0"/>
          <a:ext cx="0" cy="0"/>
          <a:chOff x="0" y="0"/>
          <a:chExt cx="0" cy="0"/>
        </a:xfrm>
      </p:grpSpPr>
      <p:sp>
        <p:nvSpPr>
          <p:cNvPr id="2" name="Text 0"/>
          <p:cNvSpPr/>
          <p:nvPr/>
        </p:nvSpPr>
        <p:spPr>
          <a:xfrm>
            <a:off x="666598" y="506578"/>
            <a:ext cx="8503920" cy="384048"/>
          </a:xfrm>
          <a:prstGeom prst="rect">
            <a:avLst/>
          </a:prstGeom>
          <a:noFill/>
          <a:ln/>
        </p:spPr>
        <p:txBody>
          <a:bodyPr wrap="square" lIns="0" tIns="0" rIns="0" bIns="0" rtlCol="0" anchor="ctr"/>
          <a:lstStyle/>
          <a:p>
            <a:pPr algn="l" indent="0" marL="0">
              <a:buNone/>
            </a:pPr>
            <a:r>
              <a:rPr lang="en-US" sz="3000" dirty="0">
                <a:solidFill>
                  <a:srgbClr val="1B5E20"/>
                </a:solidFill>
                <a:latin typeface="Noto Sans JP" pitchFamily="34" charset="0"/>
                <a:ea typeface="Noto Sans JP" pitchFamily="34" charset="-122"/>
                <a:cs typeface="Noto Sans JP" pitchFamily="34" charset="-120"/>
              </a:rPr>
              <a:t>既存事業とのシナジー</a:t>
            </a:r>
            <a:endParaRPr lang="en-US" sz="3000" dirty="0"/>
          </a:p>
        </p:txBody>
      </p:sp>
      <p:sp>
        <p:nvSpPr>
          <p:cNvPr id="3" name="Shape 1"/>
          <p:cNvSpPr/>
          <p:nvPr/>
        </p:nvSpPr>
        <p:spPr>
          <a:xfrm>
            <a:off x="666598" y="1114654"/>
            <a:ext cx="10858500" cy="19202"/>
          </a:xfrm>
          <a:prstGeom prst="rect">
            <a:avLst/>
          </a:prstGeom>
          <a:solidFill>
            <a:srgbClr val="8D6E63"/>
          </a:solidFill>
          <a:ln/>
        </p:spPr>
      </p:sp>
      <p:pic>
        <p:nvPicPr>
          <p:cNvPr id="4" name="Image 0" descr="/home/user/suzuki-ceo/selfcafe-fc-deck/assets/logo_gray.png">    </p:cNvPr>
          <p:cNvPicPr>
            <a:picLocks noChangeAspect="1"/>
          </p:cNvPicPr>
          <p:nvPr/>
        </p:nvPicPr>
        <p:blipFill>
          <a:blip r:embed="rId1"/>
          <a:stretch>
            <a:fillRect/>
          </a:stretch>
        </p:blipFill>
        <p:spPr>
          <a:xfrm>
            <a:off x="9415577" y="802843"/>
            <a:ext cx="2024482" cy="288036"/>
          </a:xfrm>
          <a:prstGeom prst="rect">
            <a:avLst/>
          </a:prstGeom>
        </p:spPr>
      </p:pic>
      <p:sp>
        <p:nvSpPr>
          <p:cNvPr id="5" name="Text 2"/>
          <p:cNvSpPr/>
          <p:nvPr/>
        </p:nvSpPr>
        <p:spPr>
          <a:xfrm>
            <a:off x="10610698" y="6345936"/>
            <a:ext cx="914400" cy="219456"/>
          </a:xfrm>
          <a:prstGeom prst="rect">
            <a:avLst/>
          </a:prstGeom>
          <a:noFill/>
          <a:ln/>
        </p:spPr>
        <p:txBody>
          <a:bodyPr wrap="square" lIns="0" tIns="0" rIns="0" bIns="0" rtlCol="0" anchor="ctr"/>
          <a:lstStyle/>
          <a:p>
            <a:pPr algn="r" indent="0" marL="0">
              <a:buNone/>
            </a:pPr>
            <a:r>
              <a:rPr lang="en-US" sz="1300" dirty="0">
                <a:solidFill>
                  <a:srgbClr val="000000"/>
                </a:solidFill>
                <a:latin typeface="Cambria" pitchFamily="34" charset="0"/>
                <a:ea typeface="Cambria" pitchFamily="34" charset="-122"/>
                <a:cs typeface="Cambria" pitchFamily="34" charset="-120"/>
              </a:rPr>
              <a:t>7</a:t>
            </a:r>
            <a:endParaRPr lang="en-US" sz="1300" dirty="0"/>
          </a:p>
        </p:txBody>
      </p:sp>
      <p:sp>
        <p:nvSpPr>
          <p:cNvPr id="6" name="Shape 3"/>
          <p:cNvSpPr/>
          <p:nvPr/>
        </p:nvSpPr>
        <p:spPr>
          <a:xfrm>
            <a:off x="666598" y="1280160"/>
            <a:ext cx="10858500" cy="1170432"/>
          </a:xfrm>
          <a:prstGeom prst="roundRect">
            <a:avLst>
              <a:gd name="adj" fmla="val 7031"/>
            </a:avLst>
          </a:prstGeom>
          <a:solidFill>
            <a:srgbClr val="12401A"/>
          </a:solidFill>
          <a:ln/>
          <a:effectLst>
            <a:outerShdw sx="100000" sy="100000" kx="0" ky="0" algn="bl" rotWithShape="0" blurRad="114300" dist="17780" dir="5400000">
              <a:srgbClr val="6B6250">
                <a:alpha val="14000"/>
              </a:srgbClr>
            </a:outerShdw>
          </a:effectLst>
        </p:spPr>
      </p:sp>
      <p:sp>
        <p:nvSpPr>
          <p:cNvPr id="7" name="Text 4"/>
          <p:cNvSpPr/>
          <p:nvPr/>
        </p:nvSpPr>
        <p:spPr>
          <a:xfrm>
            <a:off x="1050646" y="1389888"/>
            <a:ext cx="10090404" cy="256032"/>
          </a:xfrm>
          <a:prstGeom prst="rect">
            <a:avLst/>
          </a:prstGeom>
          <a:noFill/>
          <a:ln/>
        </p:spPr>
        <p:txBody>
          <a:bodyPr wrap="square" lIns="0" tIns="0" rIns="0" bIns="0" rtlCol="0" anchor="ctr"/>
          <a:lstStyle/>
          <a:p>
            <a:pPr indent="0" marL="0">
              <a:buNone/>
            </a:pPr>
            <a:r>
              <a:rPr lang="en-US" sz="1050" b="1" dirty="0">
                <a:solidFill>
                  <a:srgbClr val="A9C6AC"/>
                </a:solidFill>
                <a:latin typeface="Noto Sans JP" pitchFamily="34" charset="0"/>
                <a:ea typeface="Noto Sans JP" pitchFamily="34" charset="-122"/>
                <a:cs typeface="Noto Sans JP" pitchFamily="34" charset="-120"/>
              </a:rPr>
              <a:t>カフェ併設がもたらす、既存事業へのプラス効果</a:t>
            </a:r>
            <a:endParaRPr lang="en-US" sz="1050" dirty="0"/>
          </a:p>
        </p:txBody>
      </p:sp>
      <p:sp>
        <p:nvSpPr>
          <p:cNvPr id="8" name="Text 5"/>
          <p:cNvSpPr/>
          <p:nvPr/>
        </p:nvSpPr>
        <p:spPr>
          <a:xfrm>
            <a:off x="1050646" y="1700784"/>
            <a:ext cx="10090404" cy="566928"/>
          </a:xfrm>
          <a:prstGeom prst="rect">
            <a:avLst/>
          </a:prstGeom>
          <a:noFill/>
          <a:ln/>
        </p:spPr>
        <p:txBody>
          <a:bodyPr wrap="square" lIns="0" tIns="0" rIns="0" bIns="0" rtlCol="0" anchor="ctr"/>
          <a:lstStyle/>
          <a:p>
            <a:pPr indent="0" marL="0">
              <a:buNone/>
            </a:pPr>
            <a:r>
              <a:rPr lang="en-US" sz="2100" b="1" dirty="0">
                <a:solidFill>
                  <a:srgbClr val="FFFFFF"/>
                </a:solidFill>
                <a:latin typeface="Noto Sans JP" pitchFamily="34" charset="0"/>
                <a:ea typeface="Noto Sans JP" pitchFamily="34" charset="-122"/>
                <a:cs typeface="Noto Sans JP" pitchFamily="34" charset="-120"/>
              </a:rPr>
              <a:t>「待ち時間」の解消や新規集客のフックとして、カフェは最適の組み合わせです。</a:t>
            </a:r>
            <a:endParaRPr lang="en-US" sz="2100" dirty="0"/>
          </a:p>
        </p:txBody>
      </p:sp>
      <p:sp>
        <p:nvSpPr>
          <p:cNvPr id="9" name="Shape 6"/>
          <p:cNvSpPr/>
          <p:nvPr/>
        </p:nvSpPr>
        <p:spPr>
          <a:xfrm>
            <a:off x="666598" y="2651760"/>
            <a:ext cx="5276088" cy="1664208"/>
          </a:xfrm>
          <a:prstGeom prst="roundRect">
            <a:avLst>
              <a:gd name="adj" fmla="val 3846"/>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10" name="Shape 7"/>
          <p:cNvSpPr/>
          <p:nvPr/>
        </p:nvSpPr>
        <p:spPr>
          <a:xfrm>
            <a:off x="922630" y="2907792"/>
            <a:ext cx="530352" cy="530352"/>
          </a:xfrm>
          <a:prstGeom prst="ellipse">
            <a:avLst/>
          </a:prstGeom>
          <a:solidFill>
            <a:srgbClr val="F0F5EF"/>
          </a:solidFill>
          <a:ln/>
        </p:spPr>
      </p:sp>
      <p:pic>
        <p:nvPicPr>
          <p:cNvPr id="11" name="Image 1" descr="/home/user/suzuki-ceo/selfcafe-fc-deck/assets/icons/LuHourglass-green.png">    </p:cNvPr>
          <p:cNvPicPr>
            <a:picLocks noChangeAspect="1"/>
          </p:cNvPicPr>
          <p:nvPr/>
        </p:nvPicPr>
        <p:blipFill>
          <a:blip r:embed="rId2"/>
          <a:stretch>
            <a:fillRect/>
          </a:stretch>
        </p:blipFill>
        <p:spPr>
          <a:xfrm>
            <a:off x="1039307" y="3024469"/>
            <a:ext cx="296997" cy="296997"/>
          </a:xfrm>
          <a:prstGeom prst="rect">
            <a:avLst/>
          </a:prstGeom>
        </p:spPr>
      </p:pic>
      <p:sp>
        <p:nvSpPr>
          <p:cNvPr id="12" name="Shape 8"/>
          <p:cNvSpPr/>
          <p:nvPr/>
        </p:nvSpPr>
        <p:spPr>
          <a:xfrm>
            <a:off x="1562710" y="2907792"/>
            <a:ext cx="1037844" cy="274320"/>
          </a:xfrm>
          <a:prstGeom prst="roundRect">
            <a:avLst>
              <a:gd name="adj" fmla="val 50000"/>
            </a:avLst>
          </a:prstGeom>
          <a:solidFill>
            <a:srgbClr val="1B5E20"/>
          </a:solidFill>
          <a:ln/>
        </p:spPr>
      </p:sp>
      <p:sp>
        <p:nvSpPr>
          <p:cNvPr id="13" name="Text 9"/>
          <p:cNvSpPr/>
          <p:nvPr/>
        </p:nvSpPr>
        <p:spPr>
          <a:xfrm>
            <a:off x="1562710" y="2907792"/>
            <a:ext cx="1037844"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Noto Sans JP" pitchFamily="34" charset="0"/>
                <a:ea typeface="Noto Sans JP" pitchFamily="34" charset="-122"/>
                <a:cs typeface="Noto Sans JP" pitchFamily="34" charset="-120"/>
              </a:rPr>
              <a:t>待ち時間の解消</a:t>
            </a:r>
            <a:endParaRPr lang="en-US" sz="950" dirty="0"/>
          </a:p>
        </p:txBody>
      </p:sp>
      <p:sp>
        <p:nvSpPr>
          <p:cNvPr id="14" name="Text 10"/>
          <p:cNvSpPr/>
          <p:nvPr/>
        </p:nvSpPr>
        <p:spPr>
          <a:xfrm>
            <a:off x="1562710" y="3236976"/>
            <a:ext cx="4123944" cy="310896"/>
          </a:xfrm>
          <a:prstGeom prst="rect">
            <a:avLst/>
          </a:prstGeom>
          <a:noFill/>
          <a:ln/>
        </p:spPr>
        <p:txBody>
          <a:bodyPr wrap="square" lIns="0" tIns="0" rIns="0" bIns="0" rtlCol="0" anchor="ctr"/>
          <a:lstStyle/>
          <a:p>
            <a:pPr indent="0" marL="0">
              <a:buNone/>
            </a:pPr>
            <a:r>
              <a:rPr lang="en-US" sz="1450" b="1" dirty="0">
                <a:solidFill>
                  <a:srgbClr val="1B5E20"/>
                </a:solidFill>
                <a:latin typeface="Noto Sans JP" pitchFamily="34" charset="0"/>
                <a:ea typeface="Noto Sans JP" pitchFamily="34" charset="-122"/>
                <a:cs typeface="Noto Sans JP" pitchFamily="34" charset="-120"/>
              </a:rPr>
              <a:t>「待つ時間」を「くつろぐ時間」へ</a:t>
            </a:r>
            <a:endParaRPr lang="en-US" sz="1450" dirty="0"/>
          </a:p>
        </p:txBody>
      </p:sp>
      <p:sp>
        <p:nvSpPr>
          <p:cNvPr id="15" name="Text 11"/>
          <p:cNvSpPr/>
          <p:nvPr/>
        </p:nvSpPr>
        <p:spPr>
          <a:xfrm>
            <a:off x="922630" y="3602736"/>
            <a:ext cx="4764024" cy="585216"/>
          </a:xfrm>
          <a:prstGeom prst="rect">
            <a:avLst/>
          </a:prstGeom>
          <a:noFill/>
          <a:ln/>
        </p:spPr>
        <p:txBody>
          <a:bodyPr wrap="square" lIns="0" tIns="0" rIns="0" bIns="0" rtlCol="0" anchor="t"/>
          <a:lstStyle/>
          <a:p>
            <a:pPr indent="0" marL="0">
              <a:lnSpc>
                <a:spcPct val="126000"/>
              </a:lnSpc>
              <a:buNone/>
            </a:pPr>
            <a:r>
              <a:rPr lang="en-US" sz="1050" dirty="0">
                <a:solidFill>
                  <a:srgbClr val="3B3833"/>
                </a:solidFill>
                <a:latin typeface="Noto Sans JP" pitchFamily="34" charset="0"/>
                <a:ea typeface="Noto Sans JP" pitchFamily="34" charset="-122"/>
                <a:cs typeface="Noto Sans JP" pitchFamily="34" charset="-120"/>
              </a:rPr>
              <a:t>書店・美容室・整体院・病院の待合・コインランドリーなど、待ち時間が生まれる場所にカフェがあるだけで顧客満足度が上がります。</a:t>
            </a:r>
            <a:endParaRPr lang="en-US" sz="1050" dirty="0"/>
          </a:p>
        </p:txBody>
      </p:sp>
      <p:sp>
        <p:nvSpPr>
          <p:cNvPr id="16" name="Shape 12"/>
          <p:cNvSpPr/>
          <p:nvPr/>
        </p:nvSpPr>
        <p:spPr>
          <a:xfrm>
            <a:off x="6239866" y="2651760"/>
            <a:ext cx="5276088" cy="1664208"/>
          </a:xfrm>
          <a:prstGeom prst="roundRect">
            <a:avLst>
              <a:gd name="adj" fmla="val 3846"/>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17" name="Shape 13"/>
          <p:cNvSpPr/>
          <p:nvPr/>
        </p:nvSpPr>
        <p:spPr>
          <a:xfrm>
            <a:off x="6495898" y="2907792"/>
            <a:ext cx="530352" cy="530352"/>
          </a:xfrm>
          <a:prstGeom prst="ellipse">
            <a:avLst/>
          </a:prstGeom>
          <a:solidFill>
            <a:srgbClr val="F0F5EF"/>
          </a:solidFill>
          <a:ln/>
        </p:spPr>
      </p:sp>
      <p:pic>
        <p:nvPicPr>
          <p:cNvPr id="18" name="Image 2" descr="/home/user/suzuki-ceo/selfcafe-fc-deck/assets/icons/LuSearch-green.png">    </p:cNvPr>
          <p:cNvPicPr>
            <a:picLocks noChangeAspect="1"/>
          </p:cNvPicPr>
          <p:nvPr/>
        </p:nvPicPr>
        <p:blipFill>
          <a:blip r:embed="rId3"/>
          <a:stretch>
            <a:fillRect/>
          </a:stretch>
        </p:blipFill>
        <p:spPr>
          <a:xfrm>
            <a:off x="6612575" y="3024469"/>
            <a:ext cx="296997" cy="296997"/>
          </a:xfrm>
          <a:prstGeom prst="rect">
            <a:avLst/>
          </a:prstGeom>
        </p:spPr>
      </p:pic>
      <p:sp>
        <p:nvSpPr>
          <p:cNvPr id="19" name="Shape 14"/>
          <p:cNvSpPr/>
          <p:nvPr/>
        </p:nvSpPr>
        <p:spPr>
          <a:xfrm>
            <a:off x="7135978" y="2907792"/>
            <a:ext cx="1531620" cy="274320"/>
          </a:xfrm>
          <a:prstGeom prst="roundRect">
            <a:avLst>
              <a:gd name="adj" fmla="val 50000"/>
            </a:avLst>
          </a:prstGeom>
          <a:solidFill>
            <a:srgbClr val="1B5E20"/>
          </a:solidFill>
          <a:ln/>
        </p:spPr>
      </p:sp>
      <p:sp>
        <p:nvSpPr>
          <p:cNvPr id="20" name="Text 15"/>
          <p:cNvSpPr/>
          <p:nvPr/>
        </p:nvSpPr>
        <p:spPr>
          <a:xfrm>
            <a:off x="7135978" y="2907792"/>
            <a:ext cx="15316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Noto Sans JP" pitchFamily="34" charset="0"/>
                <a:ea typeface="Noto Sans JP" pitchFamily="34" charset="-122"/>
                <a:cs typeface="Noto Sans JP" pitchFamily="34" charset="-120"/>
              </a:rPr>
              <a:t>新規集客の新しい入り口</a:t>
            </a:r>
            <a:endParaRPr lang="en-US" sz="950" dirty="0"/>
          </a:p>
        </p:txBody>
      </p:sp>
      <p:sp>
        <p:nvSpPr>
          <p:cNvPr id="21" name="Text 16"/>
          <p:cNvSpPr/>
          <p:nvPr/>
        </p:nvSpPr>
        <p:spPr>
          <a:xfrm>
            <a:off x="7135978" y="3236976"/>
            <a:ext cx="4123944" cy="310896"/>
          </a:xfrm>
          <a:prstGeom prst="rect">
            <a:avLst/>
          </a:prstGeom>
          <a:noFill/>
          <a:ln/>
        </p:spPr>
        <p:txBody>
          <a:bodyPr wrap="square" lIns="0" tIns="0" rIns="0" bIns="0" rtlCol="0" anchor="ctr"/>
          <a:lstStyle/>
          <a:p>
            <a:pPr indent="0" marL="0">
              <a:buNone/>
            </a:pPr>
            <a:r>
              <a:rPr lang="en-US" sz="1450" b="1" dirty="0">
                <a:solidFill>
                  <a:srgbClr val="1B5E20"/>
                </a:solidFill>
                <a:latin typeface="Noto Sans JP" pitchFamily="34" charset="0"/>
                <a:ea typeface="Noto Sans JP" pitchFamily="34" charset="-122"/>
                <a:cs typeface="Noto Sans JP" pitchFamily="34" charset="-120"/>
              </a:rPr>
              <a:t>「カフェ」で検索されて見つかる</a:t>
            </a:r>
            <a:endParaRPr lang="en-US" sz="1450" dirty="0"/>
          </a:p>
        </p:txBody>
      </p:sp>
      <p:sp>
        <p:nvSpPr>
          <p:cNvPr id="22" name="Text 17"/>
          <p:cNvSpPr/>
          <p:nvPr/>
        </p:nvSpPr>
        <p:spPr>
          <a:xfrm>
            <a:off x="6495898" y="3602736"/>
            <a:ext cx="4764024" cy="585216"/>
          </a:xfrm>
          <a:prstGeom prst="rect">
            <a:avLst/>
          </a:prstGeom>
          <a:noFill/>
          <a:ln/>
        </p:spPr>
        <p:txBody>
          <a:bodyPr wrap="square" lIns="0" tIns="0" rIns="0" bIns="0" rtlCol="0" anchor="t"/>
          <a:lstStyle/>
          <a:p>
            <a:pPr indent="0" marL="0">
              <a:lnSpc>
                <a:spcPct val="126000"/>
              </a:lnSpc>
              <a:buNone/>
            </a:pPr>
            <a:r>
              <a:rPr lang="en-US" sz="1050" dirty="0">
                <a:solidFill>
                  <a:srgbClr val="3B3833"/>
                </a:solidFill>
                <a:latin typeface="Noto Sans JP" pitchFamily="34" charset="0"/>
                <a:ea typeface="Noto Sans JP" pitchFamily="34" charset="-122"/>
                <a:cs typeface="Noto Sans JP" pitchFamily="34" charset="-120"/>
              </a:rPr>
              <a:t>Googleマップやカフェ検索アプリ・SNSで「近くのカフェ」を探す人にも見つけてもらえる。カフェ目的で立ち寄った人が、既存事業を初めて知る新しいお客様になります。</a:t>
            </a:r>
            <a:endParaRPr lang="en-US" sz="1050" dirty="0"/>
          </a:p>
        </p:txBody>
      </p:sp>
      <p:sp>
        <p:nvSpPr>
          <p:cNvPr id="23" name="Shape 18"/>
          <p:cNvSpPr/>
          <p:nvPr/>
        </p:nvSpPr>
        <p:spPr>
          <a:xfrm>
            <a:off x="666598" y="4517136"/>
            <a:ext cx="5276088" cy="1664208"/>
          </a:xfrm>
          <a:prstGeom prst="roundRect">
            <a:avLst>
              <a:gd name="adj" fmla="val 3846"/>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24" name="Shape 19"/>
          <p:cNvSpPr/>
          <p:nvPr/>
        </p:nvSpPr>
        <p:spPr>
          <a:xfrm>
            <a:off x="922630" y="4773168"/>
            <a:ext cx="530352" cy="530352"/>
          </a:xfrm>
          <a:prstGeom prst="ellipse">
            <a:avLst/>
          </a:prstGeom>
          <a:solidFill>
            <a:srgbClr val="F0F5EF"/>
          </a:solidFill>
          <a:ln/>
        </p:spPr>
      </p:sp>
      <p:pic>
        <p:nvPicPr>
          <p:cNvPr id="25" name="Image 3" descr="/home/user/suzuki-ceo/selfcafe-fc-deck/assets/icons/LuShoppingBag-green.png">    </p:cNvPr>
          <p:cNvPicPr>
            <a:picLocks noChangeAspect="1"/>
          </p:cNvPicPr>
          <p:nvPr/>
        </p:nvPicPr>
        <p:blipFill>
          <a:blip r:embed="rId4"/>
          <a:stretch>
            <a:fillRect/>
          </a:stretch>
        </p:blipFill>
        <p:spPr>
          <a:xfrm>
            <a:off x="1039307" y="4889845"/>
            <a:ext cx="296997" cy="296997"/>
          </a:xfrm>
          <a:prstGeom prst="rect">
            <a:avLst/>
          </a:prstGeom>
        </p:spPr>
      </p:pic>
      <p:sp>
        <p:nvSpPr>
          <p:cNvPr id="26" name="Shape 20"/>
          <p:cNvSpPr/>
          <p:nvPr/>
        </p:nvSpPr>
        <p:spPr>
          <a:xfrm>
            <a:off x="1562710" y="4773168"/>
            <a:ext cx="1531620" cy="274320"/>
          </a:xfrm>
          <a:prstGeom prst="roundRect">
            <a:avLst>
              <a:gd name="adj" fmla="val 50000"/>
            </a:avLst>
          </a:prstGeom>
          <a:solidFill>
            <a:srgbClr val="1B5E20"/>
          </a:solidFill>
          <a:ln/>
        </p:spPr>
      </p:sp>
      <p:sp>
        <p:nvSpPr>
          <p:cNvPr id="27" name="Text 21"/>
          <p:cNvSpPr/>
          <p:nvPr/>
        </p:nvSpPr>
        <p:spPr>
          <a:xfrm>
            <a:off x="1562710" y="4773168"/>
            <a:ext cx="15316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Noto Sans JP" pitchFamily="34" charset="0"/>
                <a:ea typeface="Noto Sans JP" pitchFamily="34" charset="-122"/>
                <a:cs typeface="Noto Sans JP" pitchFamily="34" charset="-120"/>
              </a:rPr>
              <a:t>滞在時間・回遊率アップ</a:t>
            </a:r>
            <a:endParaRPr lang="en-US" sz="950" dirty="0"/>
          </a:p>
        </p:txBody>
      </p:sp>
      <p:sp>
        <p:nvSpPr>
          <p:cNvPr id="28" name="Text 22"/>
          <p:cNvSpPr/>
          <p:nvPr/>
        </p:nvSpPr>
        <p:spPr>
          <a:xfrm>
            <a:off x="1562710" y="5102352"/>
            <a:ext cx="4123944" cy="310896"/>
          </a:xfrm>
          <a:prstGeom prst="rect">
            <a:avLst/>
          </a:prstGeom>
          <a:noFill/>
          <a:ln/>
        </p:spPr>
        <p:txBody>
          <a:bodyPr wrap="square" lIns="0" tIns="0" rIns="0" bIns="0" rtlCol="0" anchor="ctr"/>
          <a:lstStyle/>
          <a:p>
            <a:pPr indent="0" marL="0">
              <a:buNone/>
            </a:pPr>
            <a:r>
              <a:rPr lang="en-US" sz="1450" b="1" dirty="0">
                <a:solidFill>
                  <a:srgbClr val="1B5E20"/>
                </a:solidFill>
                <a:latin typeface="Noto Sans JP" pitchFamily="34" charset="0"/>
                <a:ea typeface="Noto Sans JP" pitchFamily="34" charset="-122"/>
                <a:cs typeface="Noto Sans JP" pitchFamily="34" charset="-120"/>
              </a:rPr>
              <a:t>「ついで買い」のきっかけに</a:t>
            </a:r>
            <a:endParaRPr lang="en-US" sz="1450" dirty="0"/>
          </a:p>
        </p:txBody>
      </p:sp>
      <p:sp>
        <p:nvSpPr>
          <p:cNvPr id="29" name="Text 23"/>
          <p:cNvSpPr/>
          <p:nvPr/>
        </p:nvSpPr>
        <p:spPr>
          <a:xfrm>
            <a:off x="922630" y="5468112"/>
            <a:ext cx="4764024" cy="585216"/>
          </a:xfrm>
          <a:prstGeom prst="rect">
            <a:avLst/>
          </a:prstGeom>
          <a:noFill/>
          <a:ln/>
        </p:spPr>
        <p:txBody>
          <a:bodyPr wrap="square" lIns="0" tIns="0" rIns="0" bIns="0" rtlCol="0" anchor="t"/>
          <a:lstStyle/>
          <a:p>
            <a:pPr indent="0" marL="0">
              <a:lnSpc>
                <a:spcPct val="126000"/>
              </a:lnSpc>
              <a:buNone/>
            </a:pPr>
            <a:r>
              <a:rPr lang="en-US" sz="1050" dirty="0">
                <a:solidFill>
                  <a:srgbClr val="3B3833"/>
                </a:solidFill>
                <a:latin typeface="Noto Sans JP" pitchFamily="34" charset="0"/>
                <a:ea typeface="Noto Sans JP" pitchFamily="34" charset="-122"/>
                <a:cs typeface="Noto Sans JP" pitchFamily="34" charset="-120"/>
              </a:rPr>
              <a:t>コーヒー片手に店内をゆっくり見て回れるようになり、滞在時間が伸びて追加購入・再来店のきっかけが増えます。</a:t>
            </a:r>
            <a:endParaRPr lang="en-US" sz="1050" dirty="0"/>
          </a:p>
        </p:txBody>
      </p:sp>
      <p:sp>
        <p:nvSpPr>
          <p:cNvPr id="30" name="Shape 24"/>
          <p:cNvSpPr/>
          <p:nvPr/>
        </p:nvSpPr>
        <p:spPr>
          <a:xfrm>
            <a:off x="6239866" y="4517136"/>
            <a:ext cx="5276088" cy="1664208"/>
          </a:xfrm>
          <a:prstGeom prst="roundRect">
            <a:avLst>
              <a:gd name="adj" fmla="val 3846"/>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31" name="Shape 25"/>
          <p:cNvSpPr/>
          <p:nvPr/>
        </p:nvSpPr>
        <p:spPr>
          <a:xfrm>
            <a:off x="6495898" y="4773168"/>
            <a:ext cx="530352" cy="530352"/>
          </a:xfrm>
          <a:prstGeom prst="ellipse">
            <a:avLst/>
          </a:prstGeom>
          <a:solidFill>
            <a:srgbClr val="F0F5EF"/>
          </a:solidFill>
          <a:ln/>
        </p:spPr>
      </p:sp>
      <p:pic>
        <p:nvPicPr>
          <p:cNvPr id="32" name="Image 4" descr="/home/user/suzuki-ceo/selfcafe-fc-deck/assets/icons/LuRuler-green.png">    </p:cNvPr>
          <p:cNvPicPr>
            <a:picLocks noChangeAspect="1"/>
          </p:cNvPicPr>
          <p:nvPr/>
        </p:nvPicPr>
        <p:blipFill>
          <a:blip r:embed="rId5"/>
          <a:stretch>
            <a:fillRect/>
          </a:stretch>
        </p:blipFill>
        <p:spPr>
          <a:xfrm>
            <a:off x="6612575" y="4889845"/>
            <a:ext cx="296997" cy="296997"/>
          </a:xfrm>
          <a:prstGeom prst="rect">
            <a:avLst/>
          </a:prstGeom>
        </p:spPr>
      </p:pic>
      <p:sp>
        <p:nvSpPr>
          <p:cNvPr id="33" name="Shape 26"/>
          <p:cNvSpPr/>
          <p:nvPr/>
        </p:nvSpPr>
        <p:spPr>
          <a:xfrm>
            <a:off x="7135978" y="4773168"/>
            <a:ext cx="1408176" cy="274320"/>
          </a:xfrm>
          <a:prstGeom prst="roundRect">
            <a:avLst>
              <a:gd name="adj" fmla="val 50000"/>
            </a:avLst>
          </a:prstGeom>
          <a:solidFill>
            <a:srgbClr val="1B5E20"/>
          </a:solidFill>
          <a:ln/>
        </p:spPr>
      </p:sp>
      <p:sp>
        <p:nvSpPr>
          <p:cNvPr id="34" name="Text 27"/>
          <p:cNvSpPr/>
          <p:nvPr/>
        </p:nvSpPr>
        <p:spPr>
          <a:xfrm>
            <a:off x="7135978" y="4773168"/>
            <a:ext cx="1408176"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Noto Sans JP" pitchFamily="34" charset="0"/>
                <a:ea typeface="Noto Sans JP" pitchFamily="34" charset="-122"/>
                <a:cs typeface="Noto Sans JP" pitchFamily="34" charset="-120"/>
              </a:rPr>
              <a:t>省スペース・低コスト</a:t>
            </a:r>
            <a:endParaRPr lang="en-US" sz="950" dirty="0"/>
          </a:p>
        </p:txBody>
      </p:sp>
      <p:sp>
        <p:nvSpPr>
          <p:cNvPr id="35" name="Text 28"/>
          <p:cNvSpPr/>
          <p:nvPr/>
        </p:nvSpPr>
        <p:spPr>
          <a:xfrm>
            <a:off x="7135978" y="5102352"/>
            <a:ext cx="4123944" cy="310896"/>
          </a:xfrm>
          <a:prstGeom prst="rect">
            <a:avLst/>
          </a:prstGeom>
          <a:noFill/>
          <a:ln/>
        </p:spPr>
        <p:txBody>
          <a:bodyPr wrap="square" lIns="0" tIns="0" rIns="0" bIns="0" rtlCol="0" anchor="ctr"/>
          <a:lstStyle/>
          <a:p>
            <a:pPr indent="0" marL="0">
              <a:buNone/>
            </a:pPr>
            <a:r>
              <a:rPr lang="en-US" sz="1450" b="1" dirty="0">
                <a:solidFill>
                  <a:srgbClr val="1B5E20"/>
                </a:solidFill>
                <a:latin typeface="Noto Sans JP" pitchFamily="34" charset="0"/>
                <a:ea typeface="Noto Sans JP" pitchFamily="34" charset="-122"/>
                <a:cs typeface="Noto Sans JP" pitchFamily="34" charset="-120"/>
              </a:rPr>
              <a:t>セルフ型だから始めやすい</a:t>
            </a:r>
            <a:endParaRPr lang="en-US" sz="1450" dirty="0"/>
          </a:p>
        </p:txBody>
      </p:sp>
      <p:sp>
        <p:nvSpPr>
          <p:cNvPr id="36" name="Text 29"/>
          <p:cNvSpPr/>
          <p:nvPr/>
        </p:nvSpPr>
        <p:spPr>
          <a:xfrm>
            <a:off x="6495898" y="5468112"/>
            <a:ext cx="4764024" cy="585216"/>
          </a:xfrm>
          <a:prstGeom prst="rect">
            <a:avLst/>
          </a:prstGeom>
          <a:noFill/>
          <a:ln/>
        </p:spPr>
        <p:txBody>
          <a:bodyPr wrap="square" lIns="0" tIns="0" rIns="0" bIns="0" rtlCol="0" anchor="t"/>
          <a:lstStyle/>
          <a:p>
            <a:pPr indent="0" marL="0">
              <a:lnSpc>
                <a:spcPct val="126000"/>
              </a:lnSpc>
              <a:buNone/>
            </a:pPr>
            <a:r>
              <a:rPr lang="en-US" sz="1050" dirty="0">
                <a:solidFill>
                  <a:srgbClr val="3B3833"/>
                </a:solidFill>
                <a:latin typeface="Noto Sans JP" pitchFamily="34" charset="0"/>
                <a:ea typeface="Noto Sans JP" pitchFamily="34" charset="-122"/>
                <a:cs typeface="Noto Sans JP" pitchFamily="34" charset="-120"/>
              </a:rPr>
              <a:t>専任スタッフ不要。レジ横や待合の小さなスペースに設置でき、大掛かりな工事や人員追加なしで導入できます。</a:t>
            </a:r>
            <a:endParaRPr lang="en-US" sz="1050" dirty="0"/>
          </a:p>
        </p:txBody>
      </p:sp>
      <p:sp>
        <p:nvSpPr>
          <p:cNvPr id="37" name="Text 30"/>
          <p:cNvSpPr/>
          <p:nvPr/>
        </p:nvSpPr>
        <p:spPr>
          <a:xfrm>
            <a:off x="666598" y="6217920"/>
            <a:ext cx="10858500" cy="219456"/>
          </a:xfrm>
          <a:prstGeom prst="rect">
            <a:avLst/>
          </a:prstGeom>
          <a:noFill/>
          <a:ln/>
        </p:spPr>
        <p:txBody>
          <a:bodyPr wrap="square" lIns="0" tIns="0" rIns="0" bIns="0" rtlCol="0" anchor="ctr"/>
          <a:lstStyle/>
          <a:p>
            <a:pPr indent="0" marL="0">
              <a:buNone/>
            </a:pPr>
            <a:r>
              <a:rPr lang="en-US" sz="950" dirty="0">
                <a:solidFill>
                  <a:srgbClr val="9A948A"/>
                </a:solidFill>
                <a:latin typeface="Noto Sans JP" pitchFamily="34" charset="0"/>
                <a:ea typeface="Noto Sans JP" pitchFamily="34" charset="-122"/>
                <a:cs typeface="Noto Sans JP" pitchFamily="34" charset="-120"/>
              </a:rPr>
              <a:t>※待合スペース・レジ横カウンターなど、限られたスペースでも設置可能です。</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CF5"/>
        </a:solidFill>
      </p:bgPr>
    </p:bg>
    <p:spTree>
      <p:nvGrpSpPr>
        <p:cNvPr id="1" name=""/>
        <p:cNvGrpSpPr/>
        <p:nvPr/>
      </p:nvGrpSpPr>
      <p:grpSpPr>
        <a:xfrm>
          <a:off x="0" y="0"/>
          <a:ext cx="0" cy="0"/>
          <a:chOff x="0" y="0"/>
          <a:chExt cx="0" cy="0"/>
        </a:xfrm>
      </p:grpSpPr>
      <p:sp>
        <p:nvSpPr>
          <p:cNvPr id="2" name="Text 0"/>
          <p:cNvSpPr/>
          <p:nvPr/>
        </p:nvSpPr>
        <p:spPr>
          <a:xfrm>
            <a:off x="666598" y="506578"/>
            <a:ext cx="8503920" cy="384048"/>
          </a:xfrm>
          <a:prstGeom prst="rect">
            <a:avLst/>
          </a:prstGeom>
          <a:noFill/>
          <a:ln/>
        </p:spPr>
        <p:txBody>
          <a:bodyPr wrap="square" lIns="0" tIns="0" rIns="0" bIns="0" rtlCol="0" anchor="ctr"/>
          <a:lstStyle/>
          <a:p>
            <a:pPr algn="l" indent="0" marL="0">
              <a:buNone/>
            </a:pPr>
            <a:r>
              <a:rPr lang="en-US" sz="3000" dirty="0">
                <a:solidFill>
                  <a:srgbClr val="1B5E20"/>
                </a:solidFill>
                <a:latin typeface="Noto Sans JP" pitchFamily="34" charset="0"/>
                <a:ea typeface="Noto Sans JP" pitchFamily="34" charset="-122"/>
                <a:cs typeface="Noto Sans JP" pitchFamily="34" charset="-120"/>
              </a:rPr>
              <a:t>セルフカフェとは</a:t>
            </a:r>
            <a:endParaRPr lang="en-US" sz="3000" dirty="0"/>
          </a:p>
        </p:txBody>
      </p:sp>
      <p:sp>
        <p:nvSpPr>
          <p:cNvPr id="3" name="Shape 1"/>
          <p:cNvSpPr/>
          <p:nvPr/>
        </p:nvSpPr>
        <p:spPr>
          <a:xfrm>
            <a:off x="666598" y="1114654"/>
            <a:ext cx="10858500" cy="19202"/>
          </a:xfrm>
          <a:prstGeom prst="rect">
            <a:avLst/>
          </a:prstGeom>
          <a:solidFill>
            <a:srgbClr val="8D6E63"/>
          </a:solidFill>
          <a:ln/>
        </p:spPr>
      </p:sp>
      <p:pic>
        <p:nvPicPr>
          <p:cNvPr id="4" name="Image 0" descr="/home/user/suzuki-ceo/selfcafe-fc-deck/assets/logo_gray.png">    </p:cNvPr>
          <p:cNvPicPr>
            <a:picLocks noChangeAspect="1"/>
          </p:cNvPicPr>
          <p:nvPr/>
        </p:nvPicPr>
        <p:blipFill>
          <a:blip r:embed="rId1"/>
          <a:stretch>
            <a:fillRect/>
          </a:stretch>
        </p:blipFill>
        <p:spPr>
          <a:xfrm>
            <a:off x="9415577" y="802843"/>
            <a:ext cx="2024482" cy="288036"/>
          </a:xfrm>
          <a:prstGeom prst="rect">
            <a:avLst/>
          </a:prstGeom>
        </p:spPr>
      </p:pic>
      <p:sp>
        <p:nvSpPr>
          <p:cNvPr id="5" name="Text 2"/>
          <p:cNvSpPr/>
          <p:nvPr/>
        </p:nvSpPr>
        <p:spPr>
          <a:xfrm>
            <a:off x="10610698" y="6345936"/>
            <a:ext cx="914400" cy="219456"/>
          </a:xfrm>
          <a:prstGeom prst="rect">
            <a:avLst/>
          </a:prstGeom>
          <a:noFill/>
          <a:ln/>
        </p:spPr>
        <p:txBody>
          <a:bodyPr wrap="square" lIns="0" tIns="0" rIns="0" bIns="0" rtlCol="0" anchor="ctr"/>
          <a:lstStyle/>
          <a:p>
            <a:pPr algn="r" indent="0" marL="0">
              <a:buNone/>
            </a:pPr>
            <a:r>
              <a:rPr lang="en-US" sz="1300" dirty="0">
                <a:solidFill>
                  <a:srgbClr val="000000"/>
                </a:solidFill>
                <a:latin typeface="Cambria" pitchFamily="34" charset="0"/>
                <a:ea typeface="Cambria" pitchFamily="34" charset="-122"/>
                <a:cs typeface="Cambria" pitchFamily="34" charset="-120"/>
              </a:rPr>
              <a:t>8</a:t>
            </a:r>
            <a:endParaRPr lang="en-US" sz="1300" dirty="0"/>
          </a:p>
        </p:txBody>
      </p:sp>
      <p:sp>
        <p:nvSpPr>
          <p:cNvPr id="6" name="Shape 3"/>
          <p:cNvSpPr/>
          <p:nvPr/>
        </p:nvSpPr>
        <p:spPr>
          <a:xfrm>
            <a:off x="666598" y="1417320"/>
            <a:ext cx="5989320" cy="1005840"/>
          </a:xfrm>
          <a:prstGeom prst="roundRect">
            <a:avLst>
              <a:gd name="adj" fmla="val 6364"/>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7" name="Shape 4"/>
          <p:cNvSpPr/>
          <p:nvPr/>
        </p:nvSpPr>
        <p:spPr>
          <a:xfrm>
            <a:off x="940918" y="1636776"/>
            <a:ext cx="566928" cy="566928"/>
          </a:xfrm>
          <a:prstGeom prst="ellipse">
            <a:avLst/>
          </a:prstGeom>
          <a:solidFill>
            <a:srgbClr val="F0F5EF"/>
          </a:solidFill>
          <a:ln/>
        </p:spPr>
      </p:sp>
      <p:pic>
        <p:nvPicPr>
          <p:cNvPr id="8" name="Image 1" descr="/home/user/suzuki-ceo/selfcafe-fc-deck/assets/icons/LuHouse-green.png">    </p:cNvPr>
          <p:cNvPicPr>
            <a:picLocks noChangeAspect="1"/>
          </p:cNvPicPr>
          <p:nvPr/>
        </p:nvPicPr>
        <p:blipFill>
          <a:blip r:embed="rId2"/>
          <a:stretch>
            <a:fillRect/>
          </a:stretch>
        </p:blipFill>
        <p:spPr>
          <a:xfrm>
            <a:off x="1065642" y="1761500"/>
            <a:ext cx="317480" cy="317480"/>
          </a:xfrm>
          <a:prstGeom prst="rect">
            <a:avLst/>
          </a:prstGeom>
        </p:spPr>
      </p:pic>
      <p:sp>
        <p:nvSpPr>
          <p:cNvPr id="9" name="Text 5"/>
          <p:cNvSpPr/>
          <p:nvPr/>
        </p:nvSpPr>
        <p:spPr>
          <a:xfrm>
            <a:off x="1672438" y="1600200"/>
            <a:ext cx="4709160" cy="329184"/>
          </a:xfrm>
          <a:prstGeom prst="rect">
            <a:avLst/>
          </a:prstGeom>
          <a:noFill/>
          <a:ln/>
        </p:spPr>
        <p:txBody>
          <a:bodyPr wrap="square" lIns="0" tIns="0" rIns="0" bIns="0" rtlCol="0" anchor="ctr"/>
          <a:lstStyle/>
          <a:p>
            <a:pPr indent="0" marL="0">
              <a:buNone/>
            </a:pPr>
            <a:r>
              <a:rPr lang="en-US" sz="1600" b="1" dirty="0">
                <a:solidFill>
                  <a:srgbClr val="1B5E20"/>
                </a:solidFill>
                <a:latin typeface="Noto Sans JP" pitchFamily="34" charset="0"/>
                <a:ea typeface="Noto Sans JP" pitchFamily="34" charset="-122"/>
                <a:cs typeface="Noto Sans JP" pitchFamily="34" charset="-120"/>
              </a:rPr>
              <a:t>お家のような</a:t>
            </a:r>
            <a:endParaRPr lang="en-US" sz="1600" dirty="0"/>
          </a:p>
        </p:txBody>
      </p:sp>
      <p:sp>
        <p:nvSpPr>
          <p:cNvPr id="10" name="Text 6"/>
          <p:cNvSpPr/>
          <p:nvPr/>
        </p:nvSpPr>
        <p:spPr>
          <a:xfrm>
            <a:off x="1672438" y="1947672"/>
            <a:ext cx="4709160" cy="310896"/>
          </a:xfrm>
          <a:prstGeom prst="rect">
            <a:avLst/>
          </a:prstGeom>
          <a:noFill/>
          <a:ln/>
        </p:spPr>
        <p:txBody>
          <a:bodyPr wrap="square" lIns="0" tIns="0" rIns="0" bIns="0" rtlCol="0" anchor="ctr"/>
          <a:lstStyle/>
          <a:p>
            <a:pPr indent="0" marL="0">
              <a:buNone/>
            </a:pPr>
            <a:r>
              <a:rPr lang="en-US" sz="1150" dirty="0">
                <a:solidFill>
                  <a:srgbClr val="3B3833"/>
                </a:solidFill>
                <a:latin typeface="Noto Sans JP" pitchFamily="34" charset="0"/>
                <a:ea typeface="Noto Sans JP" pitchFamily="34" charset="-122"/>
                <a:cs typeface="Noto Sans JP" pitchFamily="34" charset="-120"/>
              </a:rPr>
              <a:t>寛ぎすぎないが、設備が整った集中環境。</a:t>
            </a:r>
            <a:endParaRPr lang="en-US" sz="1150" dirty="0"/>
          </a:p>
        </p:txBody>
      </p:sp>
      <p:sp>
        <p:nvSpPr>
          <p:cNvPr id="11" name="Shape 7"/>
          <p:cNvSpPr/>
          <p:nvPr/>
        </p:nvSpPr>
        <p:spPr>
          <a:xfrm>
            <a:off x="666598" y="2569464"/>
            <a:ext cx="5989320" cy="1005840"/>
          </a:xfrm>
          <a:prstGeom prst="roundRect">
            <a:avLst>
              <a:gd name="adj" fmla="val 6364"/>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12" name="Shape 8"/>
          <p:cNvSpPr/>
          <p:nvPr/>
        </p:nvSpPr>
        <p:spPr>
          <a:xfrm>
            <a:off x="940918" y="2788920"/>
            <a:ext cx="566928" cy="566928"/>
          </a:xfrm>
          <a:prstGeom prst="ellipse">
            <a:avLst/>
          </a:prstGeom>
          <a:solidFill>
            <a:srgbClr val="F0F5EF"/>
          </a:solidFill>
          <a:ln/>
        </p:spPr>
      </p:sp>
      <p:pic>
        <p:nvPicPr>
          <p:cNvPr id="13" name="Image 2" descr="/home/user/suzuki-ceo/selfcafe-fc-deck/assets/icons/LuCoffee-green.png">    </p:cNvPr>
          <p:cNvPicPr>
            <a:picLocks noChangeAspect="1"/>
          </p:cNvPicPr>
          <p:nvPr/>
        </p:nvPicPr>
        <p:blipFill>
          <a:blip r:embed="rId3"/>
          <a:stretch>
            <a:fillRect/>
          </a:stretch>
        </p:blipFill>
        <p:spPr>
          <a:xfrm>
            <a:off x="1065642" y="2913644"/>
            <a:ext cx="317480" cy="317480"/>
          </a:xfrm>
          <a:prstGeom prst="rect">
            <a:avLst/>
          </a:prstGeom>
        </p:spPr>
      </p:pic>
      <p:sp>
        <p:nvSpPr>
          <p:cNvPr id="14" name="Text 9"/>
          <p:cNvSpPr/>
          <p:nvPr/>
        </p:nvSpPr>
        <p:spPr>
          <a:xfrm>
            <a:off x="1672438" y="2752344"/>
            <a:ext cx="4709160" cy="329184"/>
          </a:xfrm>
          <a:prstGeom prst="rect">
            <a:avLst/>
          </a:prstGeom>
          <a:noFill/>
          <a:ln/>
        </p:spPr>
        <p:txBody>
          <a:bodyPr wrap="square" lIns="0" tIns="0" rIns="0" bIns="0" rtlCol="0" anchor="ctr"/>
          <a:lstStyle/>
          <a:p>
            <a:pPr indent="0" marL="0">
              <a:buNone/>
            </a:pPr>
            <a:r>
              <a:rPr lang="en-US" sz="1600" b="1" dirty="0">
                <a:solidFill>
                  <a:srgbClr val="1B5E20"/>
                </a:solidFill>
                <a:latin typeface="Noto Sans JP" pitchFamily="34" charset="0"/>
                <a:ea typeface="Noto Sans JP" pitchFamily="34" charset="-122"/>
                <a:cs typeface="Noto Sans JP" pitchFamily="34" charset="-120"/>
              </a:rPr>
              <a:t>カフェのような</a:t>
            </a:r>
            <a:endParaRPr lang="en-US" sz="1600" dirty="0"/>
          </a:p>
        </p:txBody>
      </p:sp>
      <p:sp>
        <p:nvSpPr>
          <p:cNvPr id="15" name="Text 10"/>
          <p:cNvSpPr/>
          <p:nvPr/>
        </p:nvSpPr>
        <p:spPr>
          <a:xfrm>
            <a:off x="1672438" y="3099816"/>
            <a:ext cx="4709160" cy="310896"/>
          </a:xfrm>
          <a:prstGeom prst="rect">
            <a:avLst/>
          </a:prstGeom>
          <a:noFill/>
          <a:ln/>
        </p:spPr>
        <p:txBody>
          <a:bodyPr wrap="square" lIns="0" tIns="0" rIns="0" bIns="0" rtlCol="0" anchor="ctr"/>
          <a:lstStyle/>
          <a:p>
            <a:pPr indent="0" marL="0">
              <a:buNone/>
            </a:pPr>
            <a:r>
              <a:rPr lang="en-US" sz="1150" dirty="0">
                <a:solidFill>
                  <a:srgbClr val="3B3833"/>
                </a:solidFill>
                <a:latin typeface="Noto Sans JP" pitchFamily="34" charset="0"/>
                <a:ea typeface="Noto Sans JP" pitchFamily="34" charset="-122"/>
                <a:cs typeface="Noto Sans JP" pitchFamily="34" charset="-120"/>
              </a:rPr>
              <a:t>食事はないが、時間を気にせず美味しいコーヒーが飲める。</a:t>
            </a:r>
            <a:endParaRPr lang="en-US" sz="1150" dirty="0"/>
          </a:p>
        </p:txBody>
      </p:sp>
      <p:sp>
        <p:nvSpPr>
          <p:cNvPr id="16" name="Shape 11"/>
          <p:cNvSpPr/>
          <p:nvPr/>
        </p:nvSpPr>
        <p:spPr>
          <a:xfrm>
            <a:off x="666598" y="3721608"/>
            <a:ext cx="5989320" cy="1005840"/>
          </a:xfrm>
          <a:prstGeom prst="roundRect">
            <a:avLst>
              <a:gd name="adj" fmla="val 6364"/>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17" name="Shape 12"/>
          <p:cNvSpPr/>
          <p:nvPr/>
        </p:nvSpPr>
        <p:spPr>
          <a:xfrm>
            <a:off x="940918" y="3941064"/>
            <a:ext cx="566928" cy="566928"/>
          </a:xfrm>
          <a:prstGeom prst="ellipse">
            <a:avLst/>
          </a:prstGeom>
          <a:solidFill>
            <a:srgbClr val="F0F5EF"/>
          </a:solidFill>
          <a:ln/>
        </p:spPr>
      </p:sp>
      <p:pic>
        <p:nvPicPr>
          <p:cNvPr id="18" name="Image 3" descr="/home/user/suzuki-ceo/selfcafe-fc-deck/assets/icons/LuBookOpen-green.png">    </p:cNvPr>
          <p:cNvPicPr>
            <a:picLocks noChangeAspect="1"/>
          </p:cNvPicPr>
          <p:nvPr/>
        </p:nvPicPr>
        <p:blipFill>
          <a:blip r:embed="rId4"/>
          <a:stretch>
            <a:fillRect/>
          </a:stretch>
        </p:blipFill>
        <p:spPr>
          <a:xfrm>
            <a:off x="1065642" y="4065788"/>
            <a:ext cx="317480" cy="317480"/>
          </a:xfrm>
          <a:prstGeom prst="rect">
            <a:avLst/>
          </a:prstGeom>
        </p:spPr>
      </p:pic>
      <p:sp>
        <p:nvSpPr>
          <p:cNvPr id="19" name="Text 13"/>
          <p:cNvSpPr/>
          <p:nvPr/>
        </p:nvSpPr>
        <p:spPr>
          <a:xfrm>
            <a:off x="1672438" y="3904488"/>
            <a:ext cx="4709160" cy="329184"/>
          </a:xfrm>
          <a:prstGeom prst="rect">
            <a:avLst/>
          </a:prstGeom>
          <a:noFill/>
          <a:ln/>
        </p:spPr>
        <p:txBody>
          <a:bodyPr wrap="square" lIns="0" tIns="0" rIns="0" bIns="0" rtlCol="0" anchor="ctr"/>
          <a:lstStyle/>
          <a:p>
            <a:pPr indent="0" marL="0">
              <a:buNone/>
            </a:pPr>
            <a:r>
              <a:rPr lang="en-US" sz="1600" b="1" dirty="0">
                <a:solidFill>
                  <a:srgbClr val="1B5E20"/>
                </a:solidFill>
                <a:latin typeface="Noto Sans JP" pitchFamily="34" charset="0"/>
                <a:ea typeface="Noto Sans JP" pitchFamily="34" charset="-122"/>
                <a:cs typeface="Noto Sans JP" pitchFamily="34" charset="-120"/>
              </a:rPr>
              <a:t>図書館のような</a:t>
            </a:r>
            <a:endParaRPr lang="en-US" sz="1600" dirty="0"/>
          </a:p>
        </p:txBody>
      </p:sp>
      <p:sp>
        <p:nvSpPr>
          <p:cNvPr id="20" name="Text 14"/>
          <p:cNvSpPr/>
          <p:nvPr/>
        </p:nvSpPr>
        <p:spPr>
          <a:xfrm>
            <a:off x="1672438" y="4251960"/>
            <a:ext cx="4709160" cy="310896"/>
          </a:xfrm>
          <a:prstGeom prst="rect">
            <a:avLst/>
          </a:prstGeom>
          <a:noFill/>
          <a:ln/>
        </p:spPr>
        <p:txBody>
          <a:bodyPr wrap="square" lIns="0" tIns="0" rIns="0" bIns="0" rtlCol="0" anchor="ctr"/>
          <a:lstStyle/>
          <a:p>
            <a:pPr indent="0" marL="0">
              <a:buNone/>
            </a:pPr>
            <a:r>
              <a:rPr lang="en-US" sz="1150" dirty="0">
                <a:solidFill>
                  <a:srgbClr val="3B3833"/>
                </a:solidFill>
                <a:latin typeface="Noto Sans JP" pitchFamily="34" charset="0"/>
                <a:ea typeface="Noto Sans JP" pitchFamily="34" charset="-122"/>
                <a:cs typeface="Noto Sans JP" pitchFamily="34" charset="-120"/>
              </a:rPr>
              <a:t>静かすぎない、適度な賑やかさがある。</a:t>
            </a:r>
            <a:endParaRPr lang="en-US" sz="1150" dirty="0"/>
          </a:p>
        </p:txBody>
      </p:sp>
      <p:sp>
        <p:nvSpPr>
          <p:cNvPr id="21" name="Shape 15"/>
          <p:cNvSpPr/>
          <p:nvPr/>
        </p:nvSpPr>
        <p:spPr>
          <a:xfrm>
            <a:off x="666598" y="4974336"/>
            <a:ext cx="5989320" cy="1280160"/>
          </a:xfrm>
          <a:prstGeom prst="roundRect">
            <a:avLst>
              <a:gd name="adj" fmla="val 6429"/>
            </a:avLst>
          </a:prstGeom>
          <a:solidFill>
            <a:srgbClr val="12401A"/>
          </a:solidFill>
          <a:ln/>
          <a:effectLst>
            <a:outerShdw sx="100000" sy="100000" kx="0" ky="0" algn="bl" rotWithShape="0" blurRad="114300" dist="17780" dir="5400000">
              <a:srgbClr val="6B6250">
                <a:alpha val="14000"/>
              </a:srgbClr>
            </a:outerShdw>
          </a:effectLst>
        </p:spPr>
      </p:sp>
      <p:sp>
        <p:nvSpPr>
          <p:cNvPr id="22" name="Text 16"/>
          <p:cNvSpPr/>
          <p:nvPr/>
        </p:nvSpPr>
        <p:spPr>
          <a:xfrm>
            <a:off x="1032358" y="5102352"/>
            <a:ext cx="5257800" cy="347472"/>
          </a:xfrm>
          <a:prstGeom prst="rect">
            <a:avLst/>
          </a:prstGeom>
          <a:noFill/>
          <a:ln/>
        </p:spPr>
        <p:txBody>
          <a:bodyPr wrap="square" lIns="0" tIns="0" rIns="0" bIns="0" rtlCol="0" anchor="ctr"/>
          <a:lstStyle/>
          <a:p>
            <a:pPr indent="0" marL="0">
              <a:buNone/>
            </a:pPr>
            <a:r>
              <a:rPr lang="en-US" sz="1400" dirty="0">
                <a:solidFill>
                  <a:srgbClr val="A9C6AC"/>
                </a:solidFill>
                <a:latin typeface="Noto Sans JP" pitchFamily="34" charset="0"/>
                <a:ea typeface="Noto Sans JP" pitchFamily="34" charset="-122"/>
                <a:cs typeface="Noto Sans JP" pitchFamily="34" charset="-120"/>
              </a:rPr>
              <a:t>「誰もが気軽に使える」</a:t>
            </a:r>
            <a:endParaRPr lang="en-US" sz="1400" dirty="0"/>
          </a:p>
        </p:txBody>
      </p:sp>
      <p:sp>
        <p:nvSpPr>
          <p:cNvPr id="23" name="Text 17"/>
          <p:cNvSpPr/>
          <p:nvPr/>
        </p:nvSpPr>
        <p:spPr>
          <a:xfrm>
            <a:off x="1032358" y="5468112"/>
            <a:ext cx="4709160" cy="566928"/>
          </a:xfrm>
          <a:prstGeom prst="rect">
            <a:avLst/>
          </a:prstGeom>
          <a:noFill/>
          <a:ln/>
        </p:spPr>
        <p:txBody>
          <a:bodyPr wrap="square" lIns="0" tIns="0" rIns="0" bIns="0" rtlCol="0" anchor="ctr"/>
          <a:lstStyle/>
          <a:p>
            <a:pPr indent="0" marL="0">
              <a:buNone/>
            </a:pPr>
            <a:r>
              <a:rPr lang="en-US" sz="2700" b="1" dirty="0">
                <a:solidFill>
                  <a:srgbClr val="FFFFFF"/>
                </a:solidFill>
                <a:latin typeface="Noto Sans JP" pitchFamily="34" charset="0"/>
                <a:ea typeface="Noto Sans JP" pitchFamily="34" charset="-122"/>
                <a:cs typeface="Noto Sans JP" pitchFamily="34" charset="-120"/>
              </a:rPr>
              <a:t>第三の居場所</a:t>
            </a:r>
            <a:endParaRPr lang="en-US" sz="2700" dirty="0"/>
          </a:p>
        </p:txBody>
      </p:sp>
      <p:pic>
        <p:nvPicPr>
          <p:cNvPr id="24" name="Image 4" descr="/home/user/suzuki-ceo/selfcafe-fc-deck/assets/icons/LuCoffee-pale.png">    </p:cNvPr>
          <p:cNvPicPr>
            <a:picLocks noChangeAspect="1"/>
          </p:cNvPicPr>
          <p:nvPr/>
        </p:nvPicPr>
        <p:blipFill>
          <a:blip r:embed="rId5"/>
          <a:stretch>
            <a:fillRect/>
          </a:stretch>
        </p:blipFill>
        <p:spPr>
          <a:xfrm>
            <a:off x="5613502" y="5340096"/>
            <a:ext cx="603504" cy="603504"/>
          </a:xfrm>
          <a:prstGeom prst="rect">
            <a:avLst/>
          </a:prstGeom>
        </p:spPr>
      </p:pic>
      <p:sp>
        <p:nvSpPr>
          <p:cNvPr id="25" name="Shape 18"/>
          <p:cNvSpPr/>
          <p:nvPr/>
        </p:nvSpPr>
        <p:spPr>
          <a:xfrm>
            <a:off x="6949440" y="1417320"/>
            <a:ext cx="4575658" cy="4837176"/>
          </a:xfrm>
          <a:prstGeom prst="roundRect">
            <a:avLst>
              <a:gd name="adj" fmla="val 1399"/>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pic>
        <p:nvPicPr>
          <p:cNvPr id="26" name="Image 5" descr="/home/user/suzuki-ceo/selfcafe-fc-deck/assets/icons/LuStore-green.png">    </p:cNvPr>
          <p:cNvPicPr>
            <a:picLocks noChangeAspect="1"/>
          </p:cNvPicPr>
          <p:nvPr/>
        </p:nvPicPr>
        <p:blipFill>
          <a:blip r:embed="rId6"/>
          <a:stretch>
            <a:fillRect/>
          </a:stretch>
        </p:blipFill>
        <p:spPr>
          <a:xfrm>
            <a:off x="7260336" y="1645920"/>
            <a:ext cx="274320" cy="274320"/>
          </a:xfrm>
          <a:prstGeom prst="rect">
            <a:avLst/>
          </a:prstGeom>
        </p:spPr>
      </p:pic>
      <p:sp>
        <p:nvSpPr>
          <p:cNvPr id="27" name="Text 19"/>
          <p:cNvSpPr/>
          <p:nvPr/>
        </p:nvSpPr>
        <p:spPr>
          <a:xfrm>
            <a:off x="7626096" y="1627632"/>
            <a:ext cx="3588106" cy="274320"/>
          </a:xfrm>
          <a:prstGeom prst="rect">
            <a:avLst/>
          </a:prstGeom>
          <a:noFill/>
          <a:ln/>
        </p:spPr>
        <p:txBody>
          <a:bodyPr wrap="square" lIns="0" tIns="0" rIns="0" bIns="0" rtlCol="0" anchor="ctr"/>
          <a:lstStyle/>
          <a:p>
            <a:pPr indent="0" marL="0">
              <a:buNone/>
            </a:pPr>
            <a:r>
              <a:rPr lang="en-US" sz="1050" b="1" dirty="0">
                <a:solidFill>
                  <a:srgbClr val="5D4037"/>
                </a:solidFill>
                <a:latin typeface="Noto Sans JP" pitchFamily="34" charset="0"/>
                <a:ea typeface="Noto Sans JP" pitchFamily="34" charset="-122"/>
                <a:cs typeface="Noto Sans JP" pitchFamily="34" charset="-120"/>
              </a:rPr>
              <a:t>展開エリア（2026年7月時点）</a:t>
            </a:r>
            <a:endParaRPr lang="en-US" sz="1050" dirty="0"/>
          </a:p>
        </p:txBody>
      </p:sp>
      <p:sp>
        <p:nvSpPr>
          <p:cNvPr id="28" name="Text 20"/>
          <p:cNvSpPr/>
          <p:nvPr/>
        </p:nvSpPr>
        <p:spPr>
          <a:xfrm>
            <a:off x="7260336" y="1956816"/>
            <a:ext cx="3953866" cy="603504"/>
          </a:xfrm>
          <a:prstGeom prst="rect">
            <a:avLst/>
          </a:prstGeom>
          <a:noFill/>
          <a:ln/>
        </p:spPr>
        <p:txBody>
          <a:bodyPr wrap="square" lIns="0" tIns="0" rIns="0" bIns="0" rtlCol="0" anchor="ctr"/>
          <a:lstStyle/>
          <a:p>
            <a:pPr algn="l" indent="0" marL="0">
              <a:buNone/>
            </a:pPr>
            <a:r>
              <a:rPr lang="en-US" sz="4600" b="1" dirty="0">
                <a:solidFill>
                  <a:srgbClr val="1B5E20"/>
                </a:solidFill>
                <a:latin typeface="Arial" pitchFamily="34" charset="0"/>
                <a:ea typeface="Arial" pitchFamily="34" charset="-122"/>
                <a:cs typeface="Arial" pitchFamily="34" charset="-120"/>
              </a:rPr>
              <a:t>71</a:t>
            </a:r>
            <a:pPr algn="l" indent="0" marL="0">
              <a:buNone/>
            </a:pPr>
            <a:r>
              <a:rPr lang="en-US" sz="1500" b="1" dirty="0">
                <a:solidFill>
                  <a:srgbClr val="1B5E20"/>
                </a:solidFill>
                <a:latin typeface="Noto Sans JP" pitchFamily="34" charset="0"/>
                <a:ea typeface="Noto Sans JP" pitchFamily="34" charset="-122"/>
                <a:cs typeface="Noto Sans JP" pitchFamily="34" charset="-120"/>
              </a:rPr>
              <a:t> 店舗</a:t>
            </a:r>
            <a:endParaRPr lang="en-US" sz="4600" dirty="0"/>
          </a:p>
        </p:txBody>
      </p:sp>
      <p:sp>
        <p:nvSpPr>
          <p:cNvPr id="29" name="Shape 21"/>
          <p:cNvSpPr/>
          <p:nvPr/>
        </p:nvSpPr>
        <p:spPr>
          <a:xfrm>
            <a:off x="7260336" y="2670048"/>
            <a:ext cx="3953866" cy="10058"/>
          </a:xfrm>
          <a:prstGeom prst="rect">
            <a:avLst/>
          </a:prstGeom>
          <a:solidFill>
            <a:srgbClr val="E6DFCD"/>
          </a:solidFill>
          <a:ln/>
        </p:spPr>
      </p:sp>
      <p:sp>
        <p:nvSpPr>
          <p:cNvPr id="30" name="Text 22"/>
          <p:cNvSpPr/>
          <p:nvPr/>
        </p:nvSpPr>
        <p:spPr>
          <a:xfrm>
            <a:off x="7260336" y="2779776"/>
            <a:ext cx="1828800" cy="219456"/>
          </a:xfrm>
          <a:prstGeom prst="rect">
            <a:avLst/>
          </a:prstGeom>
          <a:noFill/>
          <a:ln/>
        </p:spPr>
        <p:txBody>
          <a:bodyPr wrap="square" lIns="0" tIns="0" rIns="0" bIns="0" rtlCol="0" anchor="ctr"/>
          <a:lstStyle/>
          <a:p>
            <a:pPr indent="0" marL="0">
              <a:buNone/>
            </a:pPr>
            <a:r>
              <a:rPr lang="en-US" sz="1050" dirty="0">
                <a:solidFill>
                  <a:srgbClr val="3B3833"/>
                </a:solidFill>
                <a:latin typeface="Noto Sans JP" pitchFamily="34" charset="0"/>
                <a:ea typeface="Noto Sans JP" pitchFamily="34" charset="-122"/>
                <a:cs typeface="Noto Sans JP" pitchFamily="34" charset="-120"/>
              </a:rPr>
              <a:t>愛知県</a:t>
            </a:r>
            <a:endParaRPr lang="en-US" sz="1050" dirty="0"/>
          </a:p>
        </p:txBody>
      </p:sp>
      <p:sp>
        <p:nvSpPr>
          <p:cNvPr id="31" name="Text 23"/>
          <p:cNvSpPr/>
          <p:nvPr/>
        </p:nvSpPr>
        <p:spPr>
          <a:xfrm>
            <a:off x="9787738" y="2779776"/>
            <a:ext cx="1426464" cy="219456"/>
          </a:xfrm>
          <a:prstGeom prst="rect">
            <a:avLst/>
          </a:prstGeom>
          <a:noFill/>
          <a:ln/>
        </p:spPr>
        <p:txBody>
          <a:bodyPr wrap="square" lIns="0" tIns="0" rIns="0" bIns="0" rtlCol="0" anchor="ctr"/>
          <a:lstStyle/>
          <a:p>
            <a:pPr algn="r" indent="0" marL="0">
              <a:buNone/>
            </a:pPr>
            <a:r>
              <a:rPr lang="en-US" sz="1050" b="1" dirty="0">
                <a:solidFill>
                  <a:srgbClr val="1B5E20"/>
                </a:solidFill>
                <a:latin typeface="Noto Sans JP" pitchFamily="34" charset="0"/>
                <a:ea typeface="Noto Sans JP" pitchFamily="34" charset="-122"/>
                <a:cs typeface="Noto Sans JP" pitchFamily="34" charset="-120"/>
              </a:rPr>
              <a:t>36 店舗</a:t>
            </a:r>
            <a:endParaRPr lang="en-US" sz="1050" dirty="0"/>
          </a:p>
        </p:txBody>
      </p:sp>
      <p:sp>
        <p:nvSpPr>
          <p:cNvPr id="32" name="Text 24"/>
          <p:cNvSpPr/>
          <p:nvPr/>
        </p:nvSpPr>
        <p:spPr>
          <a:xfrm>
            <a:off x="7260336" y="3010205"/>
            <a:ext cx="1828800" cy="219456"/>
          </a:xfrm>
          <a:prstGeom prst="rect">
            <a:avLst/>
          </a:prstGeom>
          <a:noFill/>
          <a:ln/>
        </p:spPr>
        <p:txBody>
          <a:bodyPr wrap="square" lIns="0" tIns="0" rIns="0" bIns="0" rtlCol="0" anchor="ctr"/>
          <a:lstStyle/>
          <a:p>
            <a:pPr indent="0" marL="0">
              <a:buNone/>
            </a:pPr>
            <a:r>
              <a:rPr lang="en-US" sz="1050" dirty="0">
                <a:solidFill>
                  <a:srgbClr val="3B3833"/>
                </a:solidFill>
                <a:latin typeface="Noto Sans JP" pitchFamily="34" charset="0"/>
                <a:ea typeface="Noto Sans JP" pitchFamily="34" charset="-122"/>
                <a:cs typeface="Noto Sans JP" pitchFamily="34" charset="-120"/>
              </a:rPr>
              <a:t>大阪府</a:t>
            </a:r>
            <a:endParaRPr lang="en-US" sz="1050" dirty="0"/>
          </a:p>
        </p:txBody>
      </p:sp>
      <p:sp>
        <p:nvSpPr>
          <p:cNvPr id="33" name="Text 25"/>
          <p:cNvSpPr/>
          <p:nvPr/>
        </p:nvSpPr>
        <p:spPr>
          <a:xfrm>
            <a:off x="9787738" y="3010205"/>
            <a:ext cx="1426464" cy="219456"/>
          </a:xfrm>
          <a:prstGeom prst="rect">
            <a:avLst/>
          </a:prstGeom>
          <a:noFill/>
          <a:ln/>
        </p:spPr>
        <p:txBody>
          <a:bodyPr wrap="square" lIns="0" tIns="0" rIns="0" bIns="0" rtlCol="0" anchor="ctr"/>
          <a:lstStyle/>
          <a:p>
            <a:pPr algn="r" indent="0" marL="0">
              <a:buNone/>
            </a:pPr>
            <a:r>
              <a:rPr lang="en-US" sz="1050" b="1" dirty="0">
                <a:solidFill>
                  <a:srgbClr val="1B5E20"/>
                </a:solidFill>
                <a:latin typeface="Noto Sans JP" pitchFamily="34" charset="0"/>
                <a:ea typeface="Noto Sans JP" pitchFamily="34" charset="-122"/>
                <a:cs typeface="Noto Sans JP" pitchFamily="34" charset="-120"/>
              </a:rPr>
              <a:t>18 店舗</a:t>
            </a:r>
            <a:endParaRPr lang="en-US" sz="1050" dirty="0"/>
          </a:p>
        </p:txBody>
      </p:sp>
      <p:sp>
        <p:nvSpPr>
          <p:cNvPr id="34" name="Text 26"/>
          <p:cNvSpPr/>
          <p:nvPr/>
        </p:nvSpPr>
        <p:spPr>
          <a:xfrm>
            <a:off x="7260336" y="3240634"/>
            <a:ext cx="1828800" cy="219456"/>
          </a:xfrm>
          <a:prstGeom prst="rect">
            <a:avLst/>
          </a:prstGeom>
          <a:noFill/>
          <a:ln/>
        </p:spPr>
        <p:txBody>
          <a:bodyPr wrap="square" lIns="0" tIns="0" rIns="0" bIns="0" rtlCol="0" anchor="ctr"/>
          <a:lstStyle/>
          <a:p>
            <a:pPr indent="0" marL="0">
              <a:buNone/>
            </a:pPr>
            <a:r>
              <a:rPr lang="en-US" sz="1050" dirty="0">
                <a:solidFill>
                  <a:srgbClr val="3B3833"/>
                </a:solidFill>
                <a:latin typeface="Noto Sans JP" pitchFamily="34" charset="0"/>
                <a:ea typeface="Noto Sans JP" pitchFamily="34" charset="-122"/>
                <a:cs typeface="Noto Sans JP" pitchFamily="34" charset="-120"/>
              </a:rPr>
              <a:t>東京都</a:t>
            </a:r>
            <a:endParaRPr lang="en-US" sz="1050" dirty="0"/>
          </a:p>
        </p:txBody>
      </p:sp>
      <p:sp>
        <p:nvSpPr>
          <p:cNvPr id="35" name="Text 27"/>
          <p:cNvSpPr/>
          <p:nvPr/>
        </p:nvSpPr>
        <p:spPr>
          <a:xfrm>
            <a:off x="9787738" y="3240634"/>
            <a:ext cx="1426464" cy="219456"/>
          </a:xfrm>
          <a:prstGeom prst="rect">
            <a:avLst/>
          </a:prstGeom>
          <a:noFill/>
          <a:ln/>
        </p:spPr>
        <p:txBody>
          <a:bodyPr wrap="square" lIns="0" tIns="0" rIns="0" bIns="0" rtlCol="0" anchor="ctr"/>
          <a:lstStyle/>
          <a:p>
            <a:pPr algn="r" indent="0" marL="0">
              <a:buNone/>
            </a:pPr>
            <a:r>
              <a:rPr lang="en-US" sz="1050" b="1" dirty="0">
                <a:solidFill>
                  <a:srgbClr val="1B5E20"/>
                </a:solidFill>
                <a:latin typeface="Noto Sans JP" pitchFamily="34" charset="0"/>
                <a:ea typeface="Noto Sans JP" pitchFamily="34" charset="-122"/>
                <a:cs typeface="Noto Sans JP" pitchFamily="34" charset="-120"/>
              </a:rPr>
              <a:t>7 店舗</a:t>
            </a:r>
            <a:endParaRPr lang="en-US" sz="1050" dirty="0"/>
          </a:p>
        </p:txBody>
      </p:sp>
      <p:sp>
        <p:nvSpPr>
          <p:cNvPr id="36" name="Text 28"/>
          <p:cNvSpPr/>
          <p:nvPr/>
        </p:nvSpPr>
        <p:spPr>
          <a:xfrm>
            <a:off x="7260336" y="3471062"/>
            <a:ext cx="1828800" cy="219456"/>
          </a:xfrm>
          <a:prstGeom prst="rect">
            <a:avLst/>
          </a:prstGeom>
          <a:noFill/>
          <a:ln/>
        </p:spPr>
        <p:txBody>
          <a:bodyPr wrap="square" lIns="0" tIns="0" rIns="0" bIns="0" rtlCol="0" anchor="ctr"/>
          <a:lstStyle/>
          <a:p>
            <a:pPr indent="0" marL="0">
              <a:buNone/>
            </a:pPr>
            <a:r>
              <a:rPr lang="en-US" sz="1050" dirty="0">
                <a:solidFill>
                  <a:srgbClr val="3B3833"/>
                </a:solidFill>
                <a:latin typeface="Noto Sans JP" pitchFamily="34" charset="0"/>
                <a:ea typeface="Noto Sans JP" pitchFamily="34" charset="-122"/>
                <a:cs typeface="Noto Sans JP" pitchFamily="34" charset="-120"/>
              </a:rPr>
              <a:t>岩手県</a:t>
            </a:r>
            <a:endParaRPr lang="en-US" sz="1050" dirty="0"/>
          </a:p>
        </p:txBody>
      </p:sp>
      <p:sp>
        <p:nvSpPr>
          <p:cNvPr id="37" name="Text 29"/>
          <p:cNvSpPr/>
          <p:nvPr/>
        </p:nvSpPr>
        <p:spPr>
          <a:xfrm>
            <a:off x="9787738" y="3471062"/>
            <a:ext cx="1426464" cy="219456"/>
          </a:xfrm>
          <a:prstGeom prst="rect">
            <a:avLst/>
          </a:prstGeom>
          <a:noFill/>
          <a:ln/>
        </p:spPr>
        <p:txBody>
          <a:bodyPr wrap="square" lIns="0" tIns="0" rIns="0" bIns="0" rtlCol="0" anchor="ctr"/>
          <a:lstStyle/>
          <a:p>
            <a:pPr algn="r" indent="0" marL="0">
              <a:buNone/>
            </a:pPr>
            <a:r>
              <a:rPr lang="en-US" sz="1050" b="1" dirty="0">
                <a:solidFill>
                  <a:srgbClr val="1B5E20"/>
                </a:solidFill>
                <a:latin typeface="Noto Sans JP" pitchFamily="34" charset="0"/>
                <a:ea typeface="Noto Sans JP" pitchFamily="34" charset="-122"/>
                <a:cs typeface="Noto Sans JP" pitchFamily="34" charset="-120"/>
              </a:rPr>
              <a:t>2 店舗</a:t>
            </a:r>
            <a:endParaRPr lang="en-US" sz="1050" dirty="0"/>
          </a:p>
        </p:txBody>
      </p:sp>
      <p:sp>
        <p:nvSpPr>
          <p:cNvPr id="38" name="Text 30"/>
          <p:cNvSpPr/>
          <p:nvPr/>
        </p:nvSpPr>
        <p:spPr>
          <a:xfrm>
            <a:off x="7260336" y="3701491"/>
            <a:ext cx="1828800" cy="219456"/>
          </a:xfrm>
          <a:prstGeom prst="rect">
            <a:avLst/>
          </a:prstGeom>
          <a:noFill/>
          <a:ln/>
        </p:spPr>
        <p:txBody>
          <a:bodyPr wrap="square" lIns="0" tIns="0" rIns="0" bIns="0" rtlCol="0" anchor="ctr"/>
          <a:lstStyle/>
          <a:p>
            <a:pPr indent="0" marL="0">
              <a:buNone/>
            </a:pPr>
            <a:r>
              <a:rPr lang="en-US" sz="1050" dirty="0">
                <a:solidFill>
                  <a:srgbClr val="3B3833"/>
                </a:solidFill>
                <a:latin typeface="Noto Sans JP" pitchFamily="34" charset="0"/>
                <a:ea typeface="Noto Sans JP" pitchFamily="34" charset="-122"/>
                <a:cs typeface="Noto Sans JP" pitchFamily="34" charset="-120"/>
              </a:rPr>
              <a:t>岐阜県</a:t>
            </a:r>
            <a:endParaRPr lang="en-US" sz="1050" dirty="0"/>
          </a:p>
        </p:txBody>
      </p:sp>
      <p:sp>
        <p:nvSpPr>
          <p:cNvPr id="39" name="Text 31"/>
          <p:cNvSpPr/>
          <p:nvPr/>
        </p:nvSpPr>
        <p:spPr>
          <a:xfrm>
            <a:off x="9787738" y="3701491"/>
            <a:ext cx="1426464" cy="219456"/>
          </a:xfrm>
          <a:prstGeom prst="rect">
            <a:avLst/>
          </a:prstGeom>
          <a:noFill/>
          <a:ln/>
        </p:spPr>
        <p:txBody>
          <a:bodyPr wrap="square" lIns="0" tIns="0" rIns="0" bIns="0" rtlCol="0" anchor="ctr"/>
          <a:lstStyle/>
          <a:p>
            <a:pPr algn="r" indent="0" marL="0">
              <a:buNone/>
            </a:pPr>
            <a:r>
              <a:rPr lang="en-US" sz="1050" b="1" dirty="0">
                <a:solidFill>
                  <a:srgbClr val="1B5E20"/>
                </a:solidFill>
                <a:latin typeface="Noto Sans JP" pitchFamily="34" charset="0"/>
                <a:ea typeface="Noto Sans JP" pitchFamily="34" charset="-122"/>
                <a:cs typeface="Noto Sans JP" pitchFamily="34" charset="-120"/>
              </a:rPr>
              <a:t>2 店舗</a:t>
            </a:r>
            <a:endParaRPr lang="en-US" sz="1050" dirty="0"/>
          </a:p>
        </p:txBody>
      </p:sp>
      <p:sp>
        <p:nvSpPr>
          <p:cNvPr id="40" name="Text 32"/>
          <p:cNvSpPr/>
          <p:nvPr/>
        </p:nvSpPr>
        <p:spPr>
          <a:xfrm>
            <a:off x="7260336" y="3931920"/>
            <a:ext cx="1828800" cy="219456"/>
          </a:xfrm>
          <a:prstGeom prst="rect">
            <a:avLst/>
          </a:prstGeom>
          <a:noFill/>
          <a:ln/>
        </p:spPr>
        <p:txBody>
          <a:bodyPr wrap="square" lIns="0" tIns="0" rIns="0" bIns="0" rtlCol="0" anchor="ctr"/>
          <a:lstStyle/>
          <a:p>
            <a:pPr indent="0" marL="0">
              <a:buNone/>
            </a:pPr>
            <a:r>
              <a:rPr lang="en-US" sz="1050" dirty="0">
                <a:solidFill>
                  <a:srgbClr val="3B3833"/>
                </a:solidFill>
                <a:latin typeface="Noto Sans JP" pitchFamily="34" charset="0"/>
                <a:ea typeface="Noto Sans JP" pitchFamily="34" charset="-122"/>
                <a:cs typeface="Noto Sans JP" pitchFamily="34" charset="-120"/>
              </a:rPr>
              <a:t>埼玉県</a:t>
            </a:r>
            <a:endParaRPr lang="en-US" sz="1050" dirty="0"/>
          </a:p>
        </p:txBody>
      </p:sp>
      <p:sp>
        <p:nvSpPr>
          <p:cNvPr id="41" name="Text 33"/>
          <p:cNvSpPr/>
          <p:nvPr/>
        </p:nvSpPr>
        <p:spPr>
          <a:xfrm>
            <a:off x="9787738" y="3931920"/>
            <a:ext cx="1426464" cy="219456"/>
          </a:xfrm>
          <a:prstGeom prst="rect">
            <a:avLst/>
          </a:prstGeom>
          <a:noFill/>
          <a:ln/>
        </p:spPr>
        <p:txBody>
          <a:bodyPr wrap="square" lIns="0" tIns="0" rIns="0" bIns="0" rtlCol="0" anchor="ctr"/>
          <a:lstStyle/>
          <a:p>
            <a:pPr algn="r" indent="0" marL="0">
              <a:buNone/>
            </a:pPr>
            <a:r>
              <a:rPr lang="en-US" sz="1050" b="1" dirty="0">
                <a:solidFill>
                  <a:srgbClr val="1B5E20"/>
                </a:solidFill>
                <a:latin typeface="Noto Sans JP" pitchFamily="34" charset="0"/>
                <a:ea typeface="Noto Sans JP" pitchFamily="34" charset="-122"/>
                <a:cs typeface="Noto Sans JP" pitchFamily="34" charset="-120"/>
              </a:rPr>
              <a:t>1 店舗</a:t>
            </a:r>
            <a:endParaRPr lang="en-US" sz="1050" dirty="0"/>
          </a:p>
        </p:txBody>
      </p:sp>
      <p:sp>
        <p:nvSpPr>
          <p:cNvPr id="42" name="Text 34"/>
          <p:cNvSpPr/>
          <p:nvPr/>
        </p:nvSpPr>
        <p:spPr>
          <a:xfrm>
            <a:off x="7260336" y="4162349"/>
            <a:ext cx="1828800" cy="219456"/>
          </a:xfrm>
          <a:prstGeom prst="rect">
            <a:avLst/>
          </a:prstGeom>
          <a:noFill/>
          <a:ln/>
        </p:spPr>
        <p:txBody>
          <a:bodyPr wrap="square" lIns="0" tIns="0" rIns="0" bIns="0" rtlCol="0" anchor="ctr"/>
          <a:lstStyle/>
          <a:p>
            <a:pPr indent="0" marL="0">
              <a:buNone/>
            </a:pPr>
            <a:r>
              <a:rPr lang="en-US" sz="1050" dirty="0">
                <a:solidFill>
                  <a:srgbClr val="3B3833"/>
                </a:solidFill>
                <a:latin typeface="Noto Sans JP" pitchFamily="34" charset="0"/>
                <a:ea typeface="Noto Sans JP" pitchFamily="34" charset="-122"/>
                <a:cs typeface="Noto Sans JP" pitchFamily="34" charset="-120"/>
              </a:rPr>
              <a:t>千葉県</a:t>
            </a:r>
            <a:endParaRPr lang="en-US" sz="1050" dirty="0"/>
          </a:p>
        </p:txBody>
      </p:sp>
      <p:sp>
        <p:nvSpPr>
          <p:cNvPr id="43" name="Text 35"/>
          <p:cNvSpPr/>
          <p:nvPr/>
        </p:nvSpPr>
        <p:spPr>
          <a:xfrm>
            <a:off x="9787738" y="4162349"/>
            <a:ext cx="1426464" cy="219456"/>
          </a:xfrm>
          <a:prstGeom prst="rect">
            <a:avLst/>
          </a:prstGeom>
          <a:noFill/>
          <a:ln/>
        </p:spPr>
        <p:txBody>
          <a:bodyPr wrap="square" lIns="0" tIns="0" rIns="0" bIns="0" rtlCol="0" anchor="ctr"/>
          <a:lstStyle/>
          <a:p>
            <a:pPr algn="r" indent="0" marL="0">
              <a:buNone/>
            </a:pPr>
            <a:r>
              <a:rPr lang="en-US" sz="1050" b="1" dirty="0">
                <a:solidFill>
                  <a:srgbClr val="1B5E20"/>
                </a:solidFill>
                <a:latin typeface="Noto Sans JP" pitchFamily="34" charset="0"/>
                <a:ea typeface="Noto Sans JP" pitchFamily="34" charset="-122"/>
                <a:cs typeface="Noto Sans JP" pitchFamily="34" charset="-120"/>
              </a:rPr>
              <a:t>1 店舗</a:t>
            </a:r>
            <a:endParaRPr lang="en-US" sz="1050" dirty="0"/>
          </a:p>
        </p:txBody>
      </p:sp>
      <p:sp>
        <p:nvSpPr>
          <p:cNvPr id="44" name="Text 36"/>
          <p:cNvSpPr/>
          <p:nvPr/>
        </p:nvSpPr>
        <p:spPr>
          <a:xfrm>
            <a:off x="7260336" y="4392778"/>
            <a:ext cx="1828800" cy="219456"/>
          </a:xfrm>
          <a:prstGeom prst="rect">
            <a:avLst/>
          </a:prstGeom>
          <a:noFill/>
          <a:ln/>
        </p:spPr>
        <p:txBody>
          <a:bodyPr wrap="square" lIns="0" tIns="0" rIns="0" bIns="0" rtlCol="0" anchor="ctr"/>
          <a:lstStyle/>
          <a:p>
            <a:pPr indent="0" marL="0">
              <a:buNone/>
            </a:pPr>
            <a:r>
              <a:rPr lang="en-US" sz="1050" dirty="0">
                <a:solidFill>
                  <a:srgbClr val="3B3833"/>
                </a:solidFill>
                <a:latin typeface="Noto Sans JP" pitchFamily="34" charset="0"/>
                <a:ea typeface="Noto Sans JP" pitchFamily="34" charset="-122"/>
                <a:cs typeface="Noto Sans JP" pitchFamily="34" charset="-120"/>
              </a:rPr>
              <a:t>静岡県</a:t>
            </a:r>
            <a:endParaRPr lang="en-US" sz="1050" dirty="0"/>
          </a:p>
        </p:txBody>
      </p:sp>
      <p:sp>
        <p:nvSpPr>
          <p:cNvPr id="45" name="Text 37"/>
          <p:cNvSpPr/>
          <p:nvPr/>
        </p:nvSpPr>
        <p:spPr>
          <a:xfrm>
            <a:off x="9787738" y="4392778"/>
            <a:ext cx="1426464" cy="219456"/>
          </a:xfrm>
          <a:prstGeom prst="rect">
            <a:avLst/>
          </a:prstGeom>
          <a:noFill/>
          <a:ln/>
        </p:spPr>
        <p:txBody>
          <a:bodyPr wrap="square" lIns="0" tIns="0" rIns="0" bIns="0" rtlCol="0" anchor="ctr"/>
          <a:lstStyle/>
          <a:p>
            <a:pPr algn="r" indent="0" marL="0">
              <a:buNone/>
            </a:pPr>
            <a:r>
              <a:rPr lang="en-US" sz="1050" b="1" dirty="0">
                <a:solidFill>
                  <a:srgbClr val="1B5E20"/>
                </a:solidFill>
                <a:latin typeface="Noto Sans JP" pitchFamily="34" charset="0"/>
                <a:ea typeface="Noto Sans JP" pitchFamily="34" charset="-122"/>
                <a:cs typeface="Noto Sans JP" pitchFamily="34" charset="-120"/>
              </a:rPr>
              <a:t>1 店舗</a:t>
            </a:r>
            <a:endParaRPr lang="en-US" sz="1050" dirty="0"/>
          </a:p>
        </p:txBody>
      </p:sp>
      <p:sp>
        <p:nvSpPr>
          <p:cNvPr id="46" name="Text 38"/>
          <p:cNvSpPr/>
          <p:nvPr/>
        </p:nvSpPr>
        <p:spPr>
          <a:xfrm>
            <a:off x="7260336" y="4623206"/>
            <a:ext cx="1828800" cy="219456"/>
          </a:xfrm>
          <a:prstGeom prst="rect">
            <a:avLst/>
          </a:prstGeom>
          <a:noFill/>
          <a:ln/>
        </p:spPr>
        <p:txBody>
          <a:bodyPr wrap="square" lIns="0" tIns="0" rIns="0" bIns="0" rtlCol="0" anchor="ctr"/>
          <a:lstStyle/>
          <a:p>
            <a:pPr indent="0" marL="0">
              <a:buNone/>
            </a:pPr>
            <a:r>
              <a:rPr lang="en-US" sz="1050" dirty="0">
                <a:solidFill>
                  <a:srgbClr val="3B3833"/>
                </a:solidFill>
                <a:latin typeface="Noto Sans JP" pitchFamily="34" charset="0"/>
                <a:ea typeface="Noto Sans JP" pitchFamily="34" charset="-122"/>
                <a:cs typeface="Noto Sans JP" pitchFamily="34" charset="-120"/>
              </a:rPr>
              <a:t>滋賀県</a:t>
            </a:r>
            <a:endParaRPr lang="en-US" sz="1050" dirty="0"/>
          </a:p>
        </p:txBody>
      </p:sp>
      <p:sp>
        <p:nvSpPr>
          <p:cNvPr id="47" name="Text 39"/>
          <p:cNvSpPr/>
          <p:nvPr/>
        </p:nvSpPr>
        <p:spPr>
          <a:xfrm>
            <a:off x="9787738" y="4623206"/>
            <a:ext cx="1426464" cy="219456"/>
          </a:xfrm>
          <a:prstGeom prst="rect">
            <a:avLst/>
          </a:prstGeom>
          <a:noFill/>
          <a:ln/>
        </p:spPr>
        <p:txBody>
          <a:bodyPr wrap="square" lIns="0" tIns="0" rIns="0" bIns="0" rtlCol="0" anchor="ctr"/>
          <a:lstStyle/>
          <a:p>
            <a:pPr algn="r" indent="0" marL="0">
              <a:buNone/>
            </a:pPr>
            <a:r>
              <a:rPr lang="en-US" sz="1050" b="1" dirty="0">
                <a:solidFill>
                  <a:srgbClr val="1B5E20"/>
                </a:solidFill>
                <a:latin typeface="Noto Sans JP" pitchFamily="34" charset="0"/>
                <a:ea typeface="Noto Sans JP" pitchFamily="34" charset="-122"/>
                <a:cs typeface="Noto Sans JP" pitchFamily="34" charset="-120"/>
              </a:rPr>
              <a:t>1 店舗</a:t>
            </a:r>
            <a:endParaRPr lang="en-US" sz="1050" dirty="0"/>
          </a:p>
        </p:txBody>
      </p:sp>
      <p:sp>
        <p:nvSpPr>
          <p:cNvPr id="48" name="Text 40"/>
          <p:cNvSpPr/>
          <p:nvPr/>
        </p:nvSpPr>
        <p:spPr>
          <a:xfrm>
            <a:off x="7260336" y="4853635"/>
            <a:ext cx="1828800" cy="219456"/>
          </a:xfrm>
          <a:prstGeom prst="rect">
            <a:avLst/>
          </a:prstGeom>
          <a:noFill/>
          <a:ln/>
        </p:spPr>
        <p:txBody>
          <a:bodyPr wrap="square" lIns="0" tIns="0" rIns="0" bIns="0" rtlCol="0" anchor="ctr"/>
          <a:lstStyle/>
          <a:p>
            <a:pPr indent="0" marL="0">
              <a:buNone/>
            </a:pPr>
            <a:r>
              <a:rPr lang="en-US" sz="1050" dirty="0">
                <a:solidFill>
                  <a:srgbClr val="3B3833"/>
                </a:solidFill>
                <a:latin typeface="Noto Sans JP" pitchFamily="34" charset="0"/>
                <a:ea typeface="Noto Sans JP" pitchFamily="34" charset="-122"/>
                <a:cs typeface="Noto Sans JP" pitchFamily="34" charset="-120"/>
              </a:rPr>
              <a:t>三重県</a:t>
            </a:r>
            <a:endParaRPr lang="en-US" sz="1050" dirty="0"/>
          </a:p>
        </p:txBody>
      </p:sp>
      <p:sp>
        <p:nvSpPr>
          <p:cNvPr id="49" name="Text 41"/>
          <p:cNvSpPr/>
          <p:nvPr/>
        </p:nvSpPr>
        <p:spPr>
          <a:xfrm>
            <a:off x="9787738" y="4853635"/>
            <a:ext cx="1426464" cy="219456"/>
          </a:xfrm>
          <a:prstGeom prst="rect">
            <a:avLst/>
          </a:prstGeom>
          <a:noFill/>
          <a:ln/>
        </p:spPr>
        <p:txBody>
          <a:bodyPr wrap="square" lIns="0" tIns="0" rIns="0" bIns="0" rtlCol="0" anchor="ctr"/>
          <a:lstStyle/>
          <a:p>
            <a:pPr algn="r" indent="0" marL="0">
              <a:buNone/>
            </a:pPr>
            <a:r>
              <a:rPr lang="en-US" sz="1050" b="1" dirty="0">
                <a:solidFill>
                  <a:srgbClr val="1B5E20"/>
                </a:solidFill>
                <a:latin typeface="Noto Sans JP" pitchFamily="34" charset="0"/>
                <a:ea typeface="Noto Sans JP" pitchFamily="34" charset="-122"/>
                <a:cs typeface="Noto Sans JP" pitchFamily="34" charset="-120"/>
              </a:rPr>
              <a:t>1 店舗</a:t>
            </a:r>
            <a:endParaRPr lang="en-US" sz="1050" dirty="0"/>
          </a:p>
        </p:txBody>
      </p:sp>
      <p:sp>
        <p:nvSpPr>
          <p:cNvPr id="50" name="Text 42"/>
          <p:cNvSpPr/>
          <p:nvPr/>
        </p:nvSpPr>
        <p:spPr>
          <a:xfrm>
            <a:off x="7260336" y="5084064"/>
            <a:ext cx="1828800" cy="219456"/>
          </a:xfrm>
          <a:prstGeom prst="rect">
            <a:avLst/>
          </a:prstGeom>
          <a:noFill/>
          <a:ln/>
        </p:spPr>
        <p:txBody>
          <a:bodyPr wrap="square" lIns="0" tIns="0" rIns="0" bIns="0" rtlCol="0" anchor="ctr"/>
          <a:lstStyle/>
          <a:p>
            <a:pPr indent="0" marL="0">
              <a:buNone/>
            </a:pPr>
            <a:r>
              <a:rPr lang="en-US" sz="1050" dirty="0">
                <a:solidFill>
                  <a:srgbClr val="3B3833"/>
                </a:solidFill>
                <a:latin typeface="Noto Sans JP" pitchFamily="34" charset="0"/>
                <a:ea typeface="Noto Sans JP" pitchFamily="34" charset="-122"/>
                <a:cs typeface="Noto Sans JP" pitchFamily="34" charset="-120"/>
              </a:rPr>
              <a:t>鳥取県</a:t>
            </a:r>
            <a:endParaRPr lang="en-US" sz="1050" dirty="0"/>
          </a:p>
        </p:txBody>
      </p:sp>
      <p:sp>
        <p:nvSpPr>
          <p:cNvPr id="51" name="Text 43"/>
          <p:cNvSpPr/>
          <p:nvPr/>
        </p:nvSpPr>
        <p:spPr>
          <a:xfrm>
            <a:off x="9787738" y="5084064"/>
            <a:ext cx="1426464" cy="219456"/>
          </a:xfrm>
          <a:prstGeom prst="rect">
            <a:avLst/>
          </a:prstGeom>
          <a:noFill/>
          <a:ln/>
        </p:spPr>
        <p:txBody>
          <a:bodyPr wrap="square" lIns="0" tIns="0" rIns="0" bIns="0" rtlCol="0" anchor="ctr"/>
          <a:lstStyle/>
          <a:p>
            <a:pPr algn="r" indent="0" marL="0">
              <a:buNone/>
            </a:pPr>
            <a:r>
              <a:rPr lang="en-US" sz="1050" b="1" dirty="0">
                <a:solidFill>
                  <a:srgbClr val="1B5E20"/>
                </a:solidFill>
                <a:latin typeface="Noto Sans JP" pitchFamily="34" charset="0"/>
                <a:ea typeface="Noto Sans JP" pitchFamily="34" charset="-122"/>
                <a:cs typeface="Noto Sans JP" pitchFamily="34" charset="-120"/>
              </a:rPr>
              <a:t>1 店舗</a:t>
            </a:r>
            <a:endParaRPr lang="en-US" sz="1050" dirty="0"/>
          </a:p>
        </p:txBody>
      </p:sp>
      <p:sp>
        <p:nvSpPr>
          <p:cNvPr id="52" name="Shape 44"/>
          <p:cNvSpPr/>
          <p:nvPr/>
        </p:nvSpPr>
        <p:spPr>
          <a:xfrm>
            <a:off x="7260336" y="5394960"/>
            <a:ext cx="3953866" cy="658368"/>
          </a:xfrm>
          <a:prstGeom prst="roundRect">
            <a:avLst>
              <a:gd name="adj" fmla="val 8333"/>
            </a:avLst>
          </a:prstGeom>
          <a:solidFill>
            <a:srgbClr val="FAF3E3"/>
          </a:solidFill>
          <a:ln/>
        </p:spPr>
      </p:sp>
      <p:sp>
        <p:nvSpPr>
          <p:cNvPr id="53" name="Text 45"/>
          <p:cNvSpPr/>
          <p:nvPr/>
        </p:nvSpPr>
        <p:spPr>
          <a:xfrm>
            <a:off x="7424928" y="5394960"/>
            <a:ext cx="3624682" cy="658368"/>
          </a:xfrm>
          <a:prstGeom prst="rect">
            <a:avLst/>
          </a:prstGeom>
          <a:noFill/>
          <a:ln/>
        </p:spPr>
        <p:txBody>
          <a:bodyPr wrap="square" lIns="0" tIns="0" rIns="0" bIns="0" rtlCol="0" anchor="ctr"/>
          <a:lstStyle/>
          <a:p>
            <a:pPr indent="0" marL="0">
              <a:lnSpc>
                <a:spcPct val="125000"/>
              </a:lnSpc>
              <a:buNone/>
            </a:pPr>
            <a:r>
              <a:rPr lang="en-US" sz="1000" dirty="0">
                <a:solidFill>
                  <a:srgbClr val="5D4037"/>
                </a:solidFill>
                <a:latin typeface="Noto Sans JP" pitchFamily="34" charset="0"/>
                <a:ea typeface="Noto Sans JP" pitchFamily="34" charset="-122"/>
                <a:cs typeface="Noto Sans JP" pitchFamily="34" charset="-120"/>
              </a:rPr>
              <a:t>※平均滞在時間は2〜3時間、1回のご利用で2杯程度購入される傾向があります。</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CF5"/>
        </a:solidFill>
      </p:bgPr>
    </p:bg>
    <p:spTree>
      <p:nvGrpSpPr>
        <p:cNvPr id="1" name=""/>
        <p:cNvGrpSpPr/>
        <p:nvPr/>
      </p:nvGrpSpPr>
      <p:grpSpPr>
        <a:xfrm>
          <a:off x="0" y="0"/>
          <a:ext cx="0" cy="0"/>
          <a:chOff x="0" y="0"/>
          <a:chExt cx="0" cy="0"/>
        </a:xfrm>
      </p:grpSpPr>
      <p:sp>
        <p:nvSpPr>
          <p:cNvPr id="2" name="Text 0"/>
          <p:cNvSpPr/>
          <p:nvPr/>
        </p:nvSpPr>
        <p:spPr>
          <a:xfrm>
            <a:off x="666598" y="506578"/>
            <a:ext cx="8503920" cy="384048"/>
          </a:xfrm>
          <a:prstGeom prst="rect">
            <a:avLst/>
          </a:prstGeom>
          <a:noFill/>
          <a:ln/>
        </p:spPr>
        <p:txBody>
          <a:bodyPr wrap="square" lIns="0" tIns="0" rIns="0" bIns="0" rtlCol="0" anchor="ctr"/>
          <a:lstStyle/>
          <a:p>
            <a:pPr algn="l" indent="0" marL="0">
              <a:buNone/>
            </a:pPr>
            <a:r>
              <a:rPr lang="en-US" sz="3000" dirty="0">
                <a:solidFill>
                  <a:srgbClr val="1B5E20"/>
                </a:solidFill>
                <a:latin typeface="Noto Sans JP" pitchFamily="34" charset="0"/>
                <a:ea typeface="Noto Sans JP" pitchFamily="34" charset="-122"/>
                <a:cs typeface="Noto Sans JP" pitchFamily="34" charset="-120"/>
              </a:rPr>
              <a:t>実績データ：店舗展開数の推移</a:t>
            </a:r>
            <a:endParaRPr lang="en-US" sz="3000" dirty="0"/>
          </a:p>
        </p:txBody>
      </p:sp>
      <p:sp>
        <p:nvSpPr>
          <p:cNvPr id="3" name="Shape 1"/>
          <p:cNvSpPr/>
          <p:nvPr/>
        </p:nvSpPr>
        <p:spPr>
          <a:xfrm>
            <a:off x="666598" y="1114654"/>
            <a:ext cx="10858500" cy="19202"/>
          </a:xfrm>
          <a:prstGeom prst="rect">
            <a:avLst/>
          </a:prstGeom>
          <a:solidFill>
            <a:srgbClr val="8D6E63"/>
          </a:solidFill>
          <a:ln/>
        </p:spPr>
      </p:sp>
      <p:pic>
        <p:nvPicPr>
          <p:cNvPr id="4" name="Image 0" descr="/home/user/suzuki-ceo/selfcafe-fc-deck/assets/logo_gray.png">    </p:cNvPr>
          <p:cNvPicPr>
            <a:picLocks noChangeAspect="1"/>
          </p:cNvPicPr>
          <p:nvPr/>
        </p:nvPicPr>
        <p:blipFill>
          <a:blip r:embed="rId1"/>
          <a:stretch>
            <a:fillRect/>
          </a:stretch>
        </p:blipFill>
        <p:spPr>
          <a:xfrm>
            <a:off x="9415577" y="802843"/>
            <a:ext cx="2024482" cy="288036"/>
          </a:xfrm>
          <a:prstGeom prst="rect">
            <a:avLst/>
          </a:prstGeom>
        </p:spPr>
      </p:pic>
      <p:sp>
        <p:nvSpPr>
          <p:cNvPr id="5" name="Text 2"/>
          <p:cNvSpPr/>
          <p:nvPr/>
        </p:nvSpPr>
        <p:spPr>
          <a:xfrm>
            <a:off x="10610698" y="6345936"/>
            <a:ext cx="914400" cy="219456"/>
          </a:xfrm>
          <a:prstGeom prst="rect">
            <a:avLst/>
          </a:prstGeom>
          <a:noFill/>
          <a:ln/>
        </p:spPr>
        <p:txBody>
          <a:bodyPr wrap="square" lIns="0" tIns="0" rIns="0" bIns="0" rtlCol="0" anchor="ctr"/>
          <a:lstStyle/>
          <a:p>
            <a:pPr algn="r" indent="0" marL="0">
              <a:buNone/>
            </a:pPr>
            <a:r>
              <a:rPr lang="en-US" sz="1300" dirty="0">
                <a:solidFill>
                  <a:srgbClr val="000000"/>
                </a:solidFill>
                <a:latin typeface="Cambria" pitchFamily="34" charset="0"/>
                <a:ea typeface="Cambria" pitchFamily="34" charset="-122"/>
                <a:cs typeface="Cambria" pitchFamily="34" charset="-120"/>
              </a:rPr>
              <a:t>9</a:t>
            </a:r>
            <a:endParaRPr lang="en-US" sz="1300" dirty="0"/>
          </a:p>
        </p:txBody>
      </p:sp>
      <p:sp>
        <p:nvSpPr>
          <p:cNvPr id="6" name="Text 3"/>
          <p:cNvSpPr/>
          <p:nvPr/>
        </p:nvSpPr>
        <p:spPr>
          <a:xfrm>
            <a:off x="666598" y="1243584"/>
            <a:ext cx="10858500" cy="256032"/>
          </a:xfrm>
          <a:prstGeom prst="rect">
            <a:avLst/>
          </a:prstGeom>
          <a:noFill/>
          <a:ln/>
        </p:spPr>
        <p:txBody>
          <a:bodyPr wrap="square" lIns="0" tIns="0" rIns="0" bIns="0" rtlCol="0" anchor="ctr"/>
          <a:lstStyle/>
          <a:p>
            <a:pPr indent="0" marL="0">
              <a:buNone/>
            </a:pPr>
            <a:r>
              <a:rPr lang="en-US" sz="1150" b="1" dirty="0">
                <a:solidFill>
                  <a:srgbClr val="5D4037"/>
                </a:solidFill>
                <a:latin typeface="Noto Sans JP" pitchFamily="34" charset="0"/>
                <a:ea typeface="Noto Sans JP" pitchFamily="34" charset="-122"/>
                <a:cs typeface="Noto Sans JP" pitchFamily="34" charset="-120"/>
              </a:rPr>
              <a:t>営業中店舗の開店月ベース累計（2022.09〜2026.07／単位：店舗）</a:t>
            </a:r>
            <a:endParaRPr lang="en-US" sz="1150" dirty="0"/>
          </a:p>
        </p:txBody>
      </p:sp>
      <p:graphicFrame>
        <p:nvGraphicFramePr>
          <p:cNvPr id="7" name="Chart 0" descr=""/>
          <p:cNvGraphicFramePr/>
          <p:nvPr/>
        </p:nvGraphicFramePr>
        <p:xfrm>
          <a:off x="666598" y="1645920"/>
          <a:ext cx="7790688" cy="4133088"/>
        </p:xfrm>
        <a:graphic xmlns:a="http://schemas.openxmlformats.org/drawingml/2006/main">
          <a:graphicData uri="http://schemas.openxmlformats.org/drawingml/2006/chart">
            <c:chart xmlns:c="http://schemas.openxmlformats.org/drawingml/2006/chart" r:id="rId2"/>
          </a:graphicData>
        </a:graphic>
      </p:graphicFrame>
      <p:sp>
        <p:nvSpPr>
          <p:cNvPr id="8" name="Shape 4"/>
          <p:cNvSpPr/>
          <p:nvPr/>
        </p:nvSpPr>
        <p:spPr>
          <a:xfrm flipV="1">
            <a:off x="2847990" y="2724912"/>
            <a:ext cx="4518599" cy="2304288"/>
          </a:xfrm>
          <a:prstGeom prst="line">
            <a:avLst/>
          </a:prstGeom>
          <a:noFill/>
          <a:ln w="57150">
            <a:solidFill>
              <a:srgbClr val="B8893B"/>
            </a:solidFill>
            <a:prstDash val="solid"/>
            <a:tailEnd type="triangle"/>
          </a:ln>
        </p:spPr>
      </p:sp>
      <p:sp>
        <p:nvSpPr>
          <p:cNvPr id="9" name="Shape 5"/>
          <p:cNvSpPr/>
          <p:nvPr/>
        </p:nvSpPr>
        <p:spPr>
          <a:xfrm>
            <a:off x="7808062" y="1850136"/>
            <a:ext cx="164592" cy="164592"/>
          </a:xfrm>
          <a:prstGeom prst="ellipse">
            <a:avLst/>
          </a:prstGeom>
          <a:solidFill>
            <a:srgbClr val="B8893B"/>
          </a:solidFill>
          <a:ln w="22225">
            <a:solidFill>
              <a:srgbClr val="FFFFFF"/>
            </a:solidFill>
            <a:prstDash val="solid"/>
          </a:ln>
        </p:spPr>
      </p:sp>
      <p:sp>
        <p:nvSpPr>
          <p:cNvPr id="10" name="Shape 6"/>
          <p:cNvSpPr/>
          <p:nvPr/>
        </p:nvSpPr>
        <p:spPr>
          <a:xfrm>
            <a:off x="6043270" y="2115312"/>
            <a:ext cx="1682496" cy="402336"/>
          </a:xfrm>
          <a:prstGeom prst="roundRect">
            <a:avLst>
              <a:gd name="adj" fmla="val 13636"/>
            </a:avLst>
          </a:prstGeom>
          <a:solidFill>
            <a:srgbClr val="12401A"/>
          </a:solidFill>
          <a:ln/>
        </p:spPr>
      </p:sp>
      <p:sp>
        <p:nvSpPr>
          <p:cNvPr id="11" name="Text 7"/>
          <p:cNvSpPr/>
          <p:nvPr/>
        </p:nvSpPr>
        <p:spPr>
          <a:xfrm>
            <a:off x="6043270" y="2115312"/>
            <a:ext cx="1682496" cy="402336"/>
          </a:xfrm>
          <a:prstGeom prst="rect">
            <a:avLst/>
          </a:prstGeom>
          <a:noFill/>
          <a:ln/>
        </p:spPr>
        <p:txBody>
          <a:bodyPr wrap="square" lIns="0" tIns="0" rIns="0" bIns="0" rtlCol="0" anchor="ctr"/>
          <a:lstStyle/>
          <a:p>
            <a:pPr algn="ctr" indent="0" marL="0">
              <a:buNone/>
            </a:pPr>
            <a:r>
              <a:rPr lang="en-US" sz="1000" dirty="0">
                <a:solidFill>
                  <a:srgbClr val="A9C6AC"/>
                </a:solidFill>
                <a:latin typeface="Noto Sans JP" pitchFamily="34" charset="0"/>
                <a:ea typeface="Noto Sans JP" pitchFamily="34" charset="-122"/>
                <a:cs typeface="Noto Sans JP" pitchFamily="34" charset="-120"/>
              </a:rPr>
              <a:t>現在 </a:t>
            </a:r>
            <a:pPr algn="ctr" indent="0" marL="0">
              <a:buNone/>
            </a:pPr>
            <a:r>
              <a:rPr lang="en-US" sz="1500" b="1" dirty="0">
                <a:solidFill>
                  <a:srgbClr val="FFFFFF"/>
                </a:solidFill>
                <a:latin typeface="Arial" pitchFamily="34" charset="0"/>
                <a:ea typeface="Arial" pitchFamily="34" charset="-122"/>
                <a:cs typeface="Arial" pitchFamily="34" charset="-120"/>
              </a:rPr>
              <a:t>71</a:t>
            </a:r>
            <a:pPr algn="ctr" indent="0" marL="0">
              <a:buNone/>
            </a:pPr>
            <a:r>
              <a:rPr lang="en-US" sz="1050" b="1" dirty="0">
                <a:solidFill>
                  <a:srgbClr val="FFFFFF"/>
                </a:solidFill>
                <a:latin typeface="Noto Sans JP" pitchFamily="34" charset="0"/>
                <a:ea typeface="Noto Sans JP" pitchFamily="34" charset="-122"/>
                <a:cs typeface="Noto Sans JP" pitchFamily="34" charset="-120"/>
              </a:rPr>
              <a:t> 店舗</a:t>
            </a:r>
            <a:endParaRPr lang="en-US" sz="1000" dirty="0"/>
          </a:p>
        </p:txBody>
      </p:sp>
      <p:sp>
        <p:nvSpPr>
          <p:cNvPr id="12" name="Shape 8"/>
          <p:cNvSpPr/>
          <p:nvPr/>
        </p:nvSpPr>
        <p:spPr>
          <a:xfrm>
            <a:off x="8732520" y="1645920"/>
            <a:ext cx="2792578" cy="1298448"/>
          </a:xfrm>
          <a:prstGeom prst="roundRect">
            <a:avLst>
              <a:gd name="adj" fmla="val 4930"/>
            </a:avLst>
          </a:prstGeom>
          <a:solidFill>
            <a:srgbClr val="12401A"/>
          </a:solidFill>
          <a:ln/>
          <a:effectLst>
            <a:outerShdw sx="100000" sy="100000" kx="0" ky="0" algn="bl" rotWithShape="0" blurRad="114300" dist="17780" dir="5400000">
              <a:srgbClr val="6B6250">
                <a:alpha val="14000"/>
              </a:srgbClr>
            </a:outerShdw>
          </a:effectLst>
        </p:spPr>
      </p:sp>
      <p:sp>
        <p:nvSpPr>
          <p:cNvPr id="13" name="Text 9"/>
          <p:cNvSpPr/>
          <p:nvPr/>
        </p:nvSpPr>
        <p:spPr>
          <a:xfrm>
            <a:off x="8951976" y="1773936"/>
            <a:ext cx="2353666" cy="649224"/>
          </a:xfrm>
          <a:prstGeom prst="rect">
            <a:avLst/>
          </a:prstGeom>
          <a:noFill/>
          <a:ln/>
        </p:spPr>
        <p:txBody>
          <a:bodyPr wrap="square" lIns="0" tIns="0" rIns="0" bIns="0" rtlCol="0" anchor="ctr"/>
          <a:lstStyle/>
          <a:p>
            <a:pPr algn="l" indent="0" marL="0">
              <a:buNone/>
            </a:pPr>
            <a:r>
              <a:rPr lang="en-US" sz="3400" b="1" dirty="0">
                <a:solidFill>
                  <a:srgbClr val="FFFFFF"/>
                </a:solidFill>
                <a:latin typeface="Arial" pitchFamily="34" charset="0"/>
                <a:ea typeface="Arial" pitchFamily="34" charset="-122"/>
                <a:cs typeface="Arial" pitchFamily="34" charset="-120"/>
              </a:rPr>
              <a:t>71</a:t>
            </a:r>
            <a:pPr algn="l" indent="0" marL="0">
              <a:buNone/>
            </a:pPr>
            <a:r>
              <a:rPr lang="en-US" sz="1200" b="1" dirty="0">
                <a:solidFill>
                  <a:srgbClr val="A9C6AC"/>
                </a:solidFill>
                <a:latin typeface="Noto Sans JP" pitchFamily="34" charset="0"/>
                <a:ea typeface="Noto Sans JP" pitchFamily="34" charset="-122"/>
                <a:cs typeface="Noto Sans JP" pitchFamily="34" charset="-120"/>
              </a:rPr>
              <a:t> 店舗</a:t>
            </a:r>
            <a:endParaRPr lang="en-US" sz="3400" dirty="0"/>
          </a:p>
        </p:txBody>
      </p:sp>
      <p:sp>
        <p:nvSpPr>
          <p:cNvPr id="14" name="Text 10"/>
          <p:cNvSpPr/>
          <p:nvPr/>
        </p:nvSpPr>
        <p:spPr>
          <a:xfrm>
            <a:off x="8951976" y="2360066"/>
            <a:ext cx="2353666" cy="467441"/>
          </a:xfrm>
          <a:prstGeom prst="rect">
            <a:avLst/>
          </a:prstGeom>
          <a:noFill/>
          <a:ln/>
        </p:spPr>
        <p:txBody>
          <a:bodyPr wrap="square" lIns="0" tIns="0" rIns="0" bIns="0" rtlCol="0" anchor="t"/>
          <a:lstStyle/>
          <a:p>
            <a:pPr algn="l" indent="0" marL="0">
              <a:lnSpc>
                <a:spcPct val="115000"/>
              </a:lnSpc>
              <a:buNone/>
            </a:pPr>
            <a:r>
              <a:rPr lang="en-US" sz="1050" dirty="0">
                <a:solidFill>
                  <a:srgbClr val="A9C6AC"/>
                </a:solidFill>
                <a:latin typeface="Noto Sans JP" pitchFamily="34" charset="0"/>
                <a:ea typeface="Noto Sans JP" pitchFamily="34" charset="-122"/>
                <a:cs typeface="Noto Sans JP" pitchFamily="34" charset="-120"/>
              </a:rPr>
              <a:t>2026年7月時点の営業中店舗数</a:t>
            </a:r>
            <a:endParaRPr lang="en-US" sz="1050" dirty="0"/>
          </a:p>
        </p:txBody>
      </p:sp>
      <p:sp>
        <p:nvSpPr>
          <p:cNvPr id="15" name="Shape 11"/>
          <p:cNvSpPr/>
          <p:nvPr/>
        </p:nvSpPr>
        <p:spPr>
          <a:xfrm>
            <a:off x="8732520" y="3072384"/>
            <a:ext cx="2792578" cy="1298448"/>
          </a:xfrm>
          <a:prstGeom prst="roundRect">
            <a:avLst>
              <a:gd name="adj" fmla="val 4930"/>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16" name="Text 12"/>
          <p:cNvSpPr/>
          <p:nvPr/>
        </p:nvSpPr>
        <p:spPr>
          <a:xfrm>
            <a:off x="8951976" y="3200400"/>
            <a:ext cx="2353666" cy="649224"/>
          </a:xfrm>
          <a:prstGeom prst="rect">
            <a:avLst/>
          </a:prstGeom>
          <a:noFill/>
          <a:ln/>
        </p:spPr>
        <p:txBody>
          <a:bodyPr wrap="square" lIns="0" tIns="0" rIns="0" bIns="0" rtlCol="0" anchor="ctr"/>
          <a:lstStyle/>
          <a:p>
            <a:pPr algn="l" indent="0" marL="0">
              <a:buNone/>
            </a:pPr>
            <a:r>
              <a:rPr lang="en-US" sz="3000" b="1" dirty="0">
                <a:solidFill>
                  <a:srgbClr val="1B5E20"/>
                </a:solidFill>
                <a:latin typeface="Arial" pitchFamily="34" charset="0"/>
                <a:ea typeface="Arial" pitchFamily="34" charset="-122"/>
                <a:cs typeface="Arial" pitchFamily="34" charset="-120"/>
              </a:rPr>
              <a:t>11</a:t>
            </a:r>
            <a:pPr algn="l" indent="0" marL="0">
              <a:buNone/>
            </a:pPr>
            <a:r>
              <a:rPr lang="en-US" sz="1200" b="1" dirty="0">
                <a:solidFill>
                  <a:srgbClr val="5D4037"/>
                </a:solidFill>
                <a:latin typeface="Noto Sans JP" pitchFamily="34" charset="0"/>
                <a:ea typeface="Noto Sans JP" pitchFamily="34" charset="-122"/>
                <a:cs typeface="Noto Sans JP" pitchFamily="34" charset="-120"/>
              </a:rPr>
              <a:t> 都府県</a:t>
            </a:r>
            <a:endParaRPr lang="en-US" sz="3000" dirty="0"/>
          </a:p>
        </p:txBody>
      </p:sp>
      <p:sp>
        <p:nvSpPr>
          <p:cNvPr id="17" name="Text 13"/>
          <p:cNvSpPr/>
          <p:nvPr/>
        </p:nvSpPr>
        <p:spPr>
          <a:xfrm>
            <a:off x="8951976" y="3786530"/>
            <a:ext cx="2353666" cy="467441"/>
          </a:xfrm>
          <a:prstGeom prst="rect">
            <a:avLst/>
          </a:prstGeom>
          <a:noFill/>
          <a:ln/>
        </p:spPr>
        <p:txBody>
          <a:bodyPr wrap="square" lIns="0" tIns="0" rIns="0" bIns="0" rtlCol="0" anchor="t"/>
          <a:lstStyle/>
          <a:p>
            <a:pPr algn="l" indent="0" marL="0">
              <a:lnSpc>
                <a:spcPct val="115000"/>
              </a:lnSpc>
              <a:buNone/>
            </a:pPr>
            <a:r>
              <a:rPr lang="en-US" sz="1050" dirty="0">
                <a:solidFill>
                  <a:srgbClr val="6E6A61"/>
                </a:solidFill>
                <a:latin typeface="Noto Sans JP" pitchFamily="34" charset="0"/>
                <a:ea typeface="Noto Sans JP" pitchFamily="34" charset="-122"/>
                <a:cs typeface="Noto Sans JP" pitchFamily="34" charset="-120"/>
              </a:rPr>
              <a:t>東北〜中国地方に広がる展開エリア</a:t>
            </a:r>
            <a:endParaRPr lang="en-US" sz="1050" dirty="0"/>
          </a:p>
        </p:txBody>
      </p:sp>
      <p:sp>
        <p:nvSpPr>
          <p:cNvPr id="18" name="Shape 14"/>
          <p:cNvSpPr/>
          <p:nvPr/>
        </p:nvSpPr>
        <p:spPr>
          <a:xfrm>
            <a:off x="8732520" y="4498848"/>
            <a:ext cx="2792578" cy="1298448"/>
          </a:xfrm>
          <a:prstGeom prst="roundRect">
            <a:avLst>
              <a:gd name="adj" fmla="val 4930"/>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19" name="Text 15"/>
          <p:cNvSpPr/>
          <p:nvPr/>
        </p:nvSpPr>
        <p:spPr>
          <a:xfrm>
            <a:off x="8951976" y="4626864"/>
            <a:ext cx="2353666" cy="649224"/>
          </a:xfrm>
          <a:prstGeom prst="rect">
            <a:avLst/>
          </a:prstGeom>
          <a:noFill/>
          <a:ln/>
        </p:spPr>
        <p:txBody>
          <a:bodyPr wrap="square" lIns="0" tIns="0" rIns="0" bIns="0" rtlCol="0" anchor="ctr"/>
          <a:lstStyle/>
          <a:p>
            <a:pPr algn="l" indent="0" marL="0">
              <a:buNone/>
            </a:pPr>
            <a:r>
              <a:rPr lang="en-US" sz="3000" b="1" dirty="0">
                <a:solidFill>
                  <a:srgbClr val="1B5E20"/>
                </a:solidFill>
                <a:latin typeface="Arial" pitchFamily="34" charset="0"/>
                <a:ea typeface="Arial" pitchFamily="34" charset="-122"/>
                <a:cs typeface="Arial" pitchFamily="34" charset="-120"/>
              </a:rPr>
              <a:t>47</a:t>
            </a:r>
            <a:pPr algn="l" indent="0" marL="0">
              <a:buNone/>
            </a:pPr>
            <a:r>
              <a:rPr lang="en-US" sz="1200" b="1" dirty="0">
                <a:solidFill>
                  <a:srgbClr val="5D4037"/>
                </a:solidFill>
                <a:latin typeface="Noto Sans JP" pitchFamily="34" charset="0"/>
                <a:ea typeface="Noto Sans JP" pitchFamily="34" charset="-122"/>
                <a:cs typeface="Noto Sans JP" pitchFamily="34" charset="-120"/>
              </a:rPr>
              <a:t> ヶ月</a:t>
            </a:r>
            <a:endParaRPr lang="en-US" sz="3000" dirty="0"/>
          </a:p>
        </p:txBody>
      </p:sp>
      <p:sp>
        <p:nvSpPr>
          <p:cNvPr id="20" name="Text 16"/>
          <p:cNvSpPr/>
          <p:nvPr/>
        </p:nvSpPr>
        <p:spPr>
          <a:xfrm>
            <a:off x="8951976" y="5212994"/>
            <a:ext cx="2353666" cy="467441"/>
          </a:xfrm>
          <a:prstGeom prst="rect">
            <a:avLst/>
          </a:prstGeom>
          <a:noFill/>
          <a:ln/>
        </p:spPr>
        <p:txBody>
          <a:bodyPr wrap="square" lIns="0" tIns="0" rIns="0" bIns="0" rtlCol="0" anchor="t"/>
          <a:lstStyle/>
          <a:p>
            <a:pPr algn="l" indent="0" marL="0">
              <a:lnSpc>
                <a:spcPct val="115000"/>
              </a:lnSpc>
              <a:buNone/>
            </a:pPr>
            <a:r>
              <a:rPr lang="en-US" sz="1050" dirty="0">
                <a:solidFill>
                  <a:srgbClr val="6E6A61"/>
                </a:solidFill>
                <a:latin typeface="Noto Sans JP" pitchFamily="34" charset="0"/>
                <a:ea typeface="Noto Sans JP" pitchFamily="34" charset="-122"/>
                <a:cs typeface="Noto Sans JP" pitchFamily="34" charset="-120"/>
              </a:rPr>
              <a:t>サービス開始からの営業月数</a:t>
            </a:r>
            <a:endParaRPr lang="en-US" sz="1050" dirty="0"/>
          </a:p>
        </p:txBody>
      </p:sp>
      <p:sp>
        <p:nvSpPr>
          <p:cNvPr id="21" name="Text 17"/>
          <p:cNvSpPr/>
          <p:nvPr/>
        </p:nvSpPr>
        <p:spPr>
          <a:xfrm>
            <a:off x="666598" y="5870448"/>
            <a:ext cx="7790688" cy="420624"/>
          </a:xfrm>
          <a:prstGeom prst="rect">
            <a:avLst/>
          </a:prstGeom>
          <a:noFill/>
          <a:ln/>
        </p:spPr>
        <p:txBody>
          <a:bodyPr wrap="square" lIns="0" tIns="0" rIns="0" bIns="0" rtlCol="0" anchor="ctr"/>
          <a:lstStyle/>
          <a:p>
            <a:pPr indent="0" marL="0">
              <a:lnSpc>
                <a:spcPct val="125000"/>
              </a:lnSpc>
              <a:buNone/>
            </a:pPr>
            <a:r>
              <a:rPr lang="en-US" sz="1150" dirty="0">
                <a:solidFill>
                  <a:srgbClr val="3B3833"/>
                </a:solidFill>
                <a:latin typeface="Noto Sans JP" pitchFamily="34" charset="0"/>
                <a:ea typeface="Noto Sans JP" pitchFamily="34" charset="-122"/>
                <a:cs typeface="Noto Sans JP" pitchFamily="34" charset="-120"/>
              </a:rPr>
              <a:t>2022年9月の1号店OPENから、驚異的なスピードで出店エリアを拡大。店舗ネットワークは着実に成長を続けています。</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CF5"/>
        </a:solidFill>
      </p:bgPr>
    </p:bg>
    <p:spTree>
      <p:nvGrpSpPr>
        <p:cNvPr id="1" name=""/>
        <p:cNvGrpSpPr/>
        <p:nvPr/>
      </p:nvGrpSpPr>
      <p:grpSpPr>
        <a:xfrm>
          <a:off x="0" y="0"/>
          <a:ext cx="0" cy="0"/>
          <a:chOff x="0" y="0"/>
          <a:chExt cx="0" cy="0"/>
        </a:xfrm>
      </p:grpSpPr>
      <p:sp>
        <p:nvSpPr>
          <p:cNvPr id="2" name="Text 0"/>
          <p:cNvSpPr/>
          <p:nvPr/>
        </p:nvSpPr>
        <p:spPr>
          <a:xfrm>
            <a:off x="666598" y="506578"/>
            <a:ext cx="8503920" cy="384048"/>
          </a:xfrm>
          <a:prstGeom prst="rect">
            <a:avLst/>
          </a:prstGeom>
          <a:noFill/>
          <a:ln/>
        </p:spPr>
        <p:txBody>
          <a:bodyPr wrap="square" lIns="0" tIns="0" rIns="0" bIns="0" rtlCol="0" anchor="ctr"/>
          <a:lstStyle/>
          <a:p>
            <a:pPr algn="l" indent="0" marL="0">
              <a:buNone/>
            </a:pPr>
            <a:r>
              <a:rPr lang="en-US" sz="3000" dirty="0">
                <a:solidFill>
                  <a:srgbClr val="1B5E20"/>
                </a:solidFill>
                <a:latin typeface="Noto Sans JP" pitchFamily="34" charset="0"/>
                <a:ea typeface="Noto Sans JP" pitchFamily="34" charset="-122"/>
                <a:cs typeface="Noto Sans JP" pitchFamily="34" charset="-120"/>
              </a:rPr>
              <a:t>実績データ：月間利用者数の推移</a:t>
            </a:r>
            <a:endParaRPr lang="en-US" sz="3000" dirty="0"/>
          </a:p>
        </p:txBody>
      </p:sp>
      <p:sp>
        <p:nvSpPr>
          <p:cNvPr id="3" name="Shape 1"/>
          <p:cNvSpPr/>
          <p:nvPr/>
        </p:nvSpPr>
        <p:spPr>
          <a:xfrm>
            <a:off x="666598" y="1114654"/>
            <a:ext cx="10858500" cy="19202"/>
          </a:xfrm>
          <a:prstGeom prst="rect">
            <a:avLst/>
          </a:prstGeom>
          <a:solidFill>
            <a:srgbClr val="8D6E63"/>
          </a:solidFill>
          <a:ln/>
        </p:spPr>
      </p:sp>
      <p:pic>
        <p:nvPicPr>
          <p:cNvPr id="4" name="Image 0" descr="/home/user/suzuki-ceo/selfcafe-fc-deck/assets/logo_gray.png">    </p:cNvPr>
          <p:cNvPicPr>
            <a:picLocks noChangeAspect="1"/>
          </p:cNvPicPr>
          <p:nvPr/>
        </p:nvPicPr>
        <p:blipFill>
          <a:blip r:embed="rId1"/>
          <a:stretch>
            <a:fillRect/>
          </a:stretch>
        </p:blipFill>
        <p:spPr>
          <a:xfrm>
            <a:off x="9415577" y="802843"/>
            <a:ext cx="2024482" cy="288036"/>
          </a:xfrm>
          <a:prstGeom prst="rect">
            <a:avLst/>
          </a:prstGeom>
        </p:spPr>
      </p:pic>
      <p:sp>
        <p:nvSpPr>
          <p:cNvPr id="5" name="Text 2"/>
          <p:cNvSpPr/>
          <p:nvPr/>
        </p:nvSpPr>
        <p:spPr>
          <a:xfrm>
            <a:off x="10610698" y="6345936"/>
            <a:ext cx="914400" cy="219456"/>
          </a:xfrm>
          <a:prstGeom prst="rect">
            <a:avLst/>
          </a:prstGeom>
          <a:noFill/>
          <a:ln/>
        </p:spPr>
        <p:txBody>
          <a:bodyPr wrap="square" lIns="0" tIns="0" rIns="0" bIns="0" rtlCol="0" anchor="ctr"/>
          <a:lstStyle/>
          <a:p>
            <a:pPr algn="r" indent="0" marL="0">
              <a:buNone/>
            </a:pPr>
            <a:r>
              <a:rPr lang="en-US" sz="1300" dirty="0">
                <a:solidFill>
                  <a:srgbClr val="000000"/>
                </a:solidFill>
                <a:latin typeface="Cambria" pitchFamily="34" charset="0"/>
                <a:ea typeface="Cambria" pitchFamily="34" charset="-122"/>
                <a:cs typeface="Cambria" pitchFamily="34" charset="-120"/>
              </a:rPr>
              <a:t>10</a:t>
            </a:r>
            <a:endParaRPr lang="en-US" sz="1300" dirty="0"/>
          </a:p>
        </p:txBody>
      </p:sp>
      <p:sp>
        <p:nvSpPr>
          <p:cNvPr id="6" name="Text 3"/>
          <p:cNvSpPr/>
          <p:nvPr/>
        </p:nvSpPr>
        <p:spPr>
          <a:xfrm>
            <a:off x="666598" y="1243584"/>
            <a:ext cx="10858500" cy="256032"/>
          </a:xfrm>
          <a:prstGeom prst="rect">
            <a:avLst/>
          </a:prstGeom>
          <a:noFill/>
          <a:ln/>
        </p:spPr>
        <p:txBody>
          <a:bodyPr wrap="square" lIns="0" tIns="0" rIns="0" bIns="0" rtlCol="0" anchor="ctr"/>
          <a:lstStyle/>
          <a:p>
            <a:pPr indent="0" marL="0">
              <a:buNone/>
            </a:pPr>
            <a:r>
              <a:rPr lang="en-US" sz="1150" b="1" dirty="0">
                <a:solidFill>
                  <a:srgbClr val="5D4037"/>
                </a:solidFill>
                <a:latin typeface="Noto Sans JP" pitchFamily="34" charset="0"/>
                <a:ea typeface="Noto Sans JP" pitchFamily="34" charset="-122"/>
                <a:cs typeface="Noto Sans JP" pitchFamily="34" charset="-120"/>
              </a:rPr>
              <a:t>全社月間利用者数（各月の合計）／店舗数の拡大に比例して拡大（2023.01〜2026.07）</a:t>
            </a:r>
            <a:endParaRPr lang="en-US" sz="1150" dirty="0"/>
          </a:p>
        </p:txBody>
      </p:sp>
      <p:graphicFrame>
        <p:nvGraphicFramePr>
          <p:cNvPr id="7" name="Chart 0" descr=""/>
          <p:cNvGraphicFramePr/>
          <p:nvPr/>
        </p:nvGraphicFramePr>
        <p:xfrm>
          <a:off x="666598" y="1645920"/>
          <a:ext cx="7790688" cy="4133088"/>
        </p:xfrm>
        <a:graphic xmlns:a="http://schemas.openxmlformats.org/drawingml/2006/main">
          <a:graphicData uri="http://schemas.openxmlformats.org/drawingml/2006/chart">
            <c:chart xmlns:c="http://schemas.openxmlformats.org/drawingml/2006/chart" r:id="rId2"/>
          </a:graphicData>
        </a:graphic>
      </p:graphicFrame>
      <p:sp>
        <p:nvSpPr>
          <p:cNvPr id="8" name="Shape 4"/>
          <p:cNvSpPr/>
          <p:nvPr/>
        </p:nvSpPr>
        <p:spPr>
          <a:xfrm flipV="1">
            <a:off x="2536363" y="3017520"/>
            <a:ext cx="4674413" cy="2103120"/>
          </a:xfrm>
          <a:prstGeom prst="line">
            <a:avLst/>
          </a:prstGeom>
          <a:noFill/>
          <a:ln w="57150">
            <a:solidFill>
              <a:srgbClr val="B8893B"/>
            </a:solidFill>
            <a:prstDash val="solid"/>
            <a:tailEnd type="triangle"/>
          </a:ln>
        </p:spPr>
      </p:sp>
      <p:sp>
        <p:nvSpPr>
          <p:cNvPr id="9" name="Shape 5"/>
          <p:cNvSpPr/>
          <p:nvPr/>
        </p:nvSpPr>
        <p:spPr>
          <a:xfrm>
            <a:off x="7180555" y="1755648"/>
            <a:ext cx="950976" cy="292608"/>
          </a:xfrm>
          <a:prstGeom prst="roundRect">
            <a:avLst>
              <a:gd name="adj" fmla="val 50000"/>
            </a:avLst>
          </a:prstGeom>
          <a:solidFill>
            <a:srgbClr val="B8893B"/>
          </a:solidFill>
          <a:ln/>
        </p:spPr>
      </p:sp>
      <p:sp>
        <p:nvSpPr>
          <p:cNvPr id="10" name="Text 6"/>
          <p:cNvSpPr/>
          <p:nvPr/>
        </p:nvSpPr>
        <p:spPr>
          <a:xfrm>
            <a:off x="7180555" y="1755648"/>
            <a:ext cx="950976"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Noto Sans JP" pitchFamily="34" charset="0"/>
                <a:ea typeface="Noto Sans JP" pitchFamily="34" charset="-122"/>
                <a:cs typeface="Noto Sans JP" pitchFamily="34" charset="-120"/>
              </a:rPr>
              <a:t>現在</a:t>
            </a:r>
            <a:endParaRPr lang="en-US" sz="1050" dirty="0"/>
          </a:p>
        </p:txBody>
      </p:sp>
      <p:sp>
        <p:nvSpPr>
          <p:cNvPr id="11" name="Shape 7"/>
          <p:cNvSpPr/>
          <p:nvPr/>
        </p:nvSpPr>
        <p:spPr>
          <a:xfrm>
            <a:off x="8732520" y="1645920"/>
            <a:ext cx="2792578" cy="1298448"/>
          </a:xfrm>
          <a:prstGeom prst="roundRect">
            <a:avLst>
              <a:gd name="adj" fmla="val 4930"/>
            </a:avLst>
          </a:prstGeom>
          <a:solidFill>
            <a:srgbClr val="12401A"/>
          </a:solidFill>
          <a:ln/>
          <a:effectLst>
            <a:outerShdw sx="100000" sy="100000" kx="0" ky="0" algn="bl" rotWithShape="0" blurRad="114300" dist="17780" dir="5400000">
              <a:srgbClr val="6B6250">
                <a:alpha val="14000"/>
              </a:srgbClr>
            </a:outerShdw>
          </a:effectLst>
        </p:spPr>
      </p:sp>
      <p:sp>
        <p:nvSpPr>
          <p:cNvPr id="12" name="Text 8"/>
          <p:cNvSpPr/>
          <p:nvPr/>
        </p:nvSpPr>
        <p:spPr>
          <a:xfrm>
            <a:off x="8951976" y="1773936"/>
            <a:ext cx="2353666" cy="649224"/>
          </a:xfrm>
          <a:prstGeom prst="rect">
            <a:avLst/>
          </a:prstGeom>
          <a:noFill/>
          <a:ln/>
        </p:spPr>
        <p:txBody>
          <a:bodyPr wrap="square" lIns="0" tIns="0" rIns="0" bIns="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101,343</a:t>
            </a:r>
            <a:pPr algn="l" indent="0" marL="0">
              <a:buNone/>
            </a:pPr>
            <a:r>
              <a:rPr lang="en-US" sz="1200" b="1" dirty="0">
                <a:solidFill>
                  <a:srgbClr val="A9C6AC"/>
                </a:solidFill>
                <a:latin typeface="Noto Sans JP" pitchFamily="34" charset="0"/>
                <a:ea typeface="Noto Sans JP" pitchFamily="34" charset="-122"/>
                <a:cs typeface="Noto Sans JP" pitchFamily="34" charset="-120"/>
              </a:rPr>
              <a:t> 人</a:t>
            </a:r>
            <a:endParaRPr lang="en-US" sz="2600" dirty="0"/>
          </a:p>
        </p:txBody>
      </p:sp>
      <p:sp>
        <p:nvSpPr>
          <p:cNvPr id="13" name="Text 9"/>
          <p:cNvSpPr/>
          <p:nvPr/>
        </p:nvSpPr>
        <p:spPr>
          <a:xfrm>
            <a:off x="8951976" y="2360066"/>
            <a:ext cx="2353666" cy="467441"/>
          </a:xfrm>
          <a:prstGeom prst="rect">
            <a:avLst/>
          </a:prstGeom>
          <a:noFill/>
          <a:ln/>
        </p:spPr>
        <p:txBody>
          <a:bodyPr wrap="square" lIns="0" tIns="0" rIns="0" bIns="0" rtlCol="0" anchor="t"/>
          <a:lstStyle/>
          <a:p>
            <a:pPr algn="l" indent="0" marL="0">
              <a:lnSpc>
                <a:spcPct val="115000"/>
              </a:lnSpc>
              <a:buNone/>
            </a:pPr>
            <a:r>
              <a:rPr lang="en-US" sz="1050" dirty="0">
                <a:solidFill>
                  <a:srgbClr val="A9C6AC"/>
                </a:solidFill>
                <a:latin typeface="Noto Sans JP" pitchFamily="34" charset="0"/>
                <a:ea typeface="Noto Sans JP" pitchFamily="34" charset="-122"/>
                <a:cs typeface="Noto Sans JP" pitchFamily="34" charset="-120"/>
              </a:rPr>
              <a:t>2026年7月の月間利用者数</a:t>
            </a:r>
            <a:endParaRPr lang="en-US" sz="1050" dirty="0"/>
          </a:p>
        </p:txBody>
      </p:sp>
      <p:sp>
        <p:nvSpPr>
          <p:cNvPr id="14" name="Shape 10"/>
          <p:cNvSpPr/>
          <p:nvPr/>
        </p:nvSpPr>
        <p:spPr>
          <a:xfrm>
            <a:off x="8732520" y="3072384"/>
            <a:ext cx="2792578" cy="1298448"/>
          </a:xfrm>
          <a:prstGeom prst="roundRect">
            <a:avLst>
              <a:gd name="adj" fmla="val 4930"/>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15" name="Text 11"/>
          <p:cNvSpPr/>
          <p:nvPr/>
        </p:nvSpPr>
        <p:spPr>
          <a:xfrm>
            <a:off x="8951976" y="3200400"/>
            <a:ext cx="2353666" cy="649224"/>
          </a:xfrm>
          <a:prstGeom prst="rect">
            <a:avLst/>
          </a:prstGeom>
          <a:noFill/>
          <a:ln/>
        </p:spPr>
        <p:txBody>
          <a:bodyPr wrap="square" lIns="0" tIns="0" rIns="0" bIns="0" rtlCol="0" anchor="ctr"/>
          <a:lstStyle/>
          <a:p>
            <a:pPr algn="l" indent="0" marL="0">
              <a:buNone/>
            </a:pPr>
            <a:r>
              <a:rPr lang="en-US" sz="3000" b="1" dirty="0">
                <a:solidFill>
                  <a:srgbClr val="1B5E20"/>
                </a:solidFill>
                <a:latin typeface="Arial" pitchFamily="34" charset="0"/>
                <a:ea typeface="Arial" pitchFamily="34" charset="-122"/>
                <a:cs typeface="Arial" pitchFamily="34" charset="-120"/>
              </a:rPr>
              <a:t>104</a:t>
            </a:r>
            <a:pPr algn="l" indent="0" marL="0">
              <a:buNone/>
            </a:pPr>
            <a:r>
              <a:rPr lang="en-US" sz="1200" b="1" dirty="0">
                <a:solidFill>
                  <a:srgbClr val="5D4037"/>
                </a:solidFill>
                <a:latin typeface="Noto Sans JP" pitchFamily="34" charset="0"/>
                <a:ea typeface="Noto Sans JP" pitchFamily="34" charset="-122"/>
                <a:cs typeface="Noto Sans JP" pitchFamily="34" charset="-120"/>
              </a:rPr>
              <a:t> 倍</a:t>
            </a:r>
            <a:endParaRPr lang="en-US" sz="3000" dirty="0"/>
          </a:p>
        </p:txBody>
      </p:sp>
      <p:sp>
        <p:nvSpPr>
          <p:cNvPr id="16" name="Text 12"/>
          <p:cNvSpPr/>
          <p:nvPr/>
        </p:nvSpPr>
        <p:spPr>
          <a:xfrm>
            <a:off x="8951976" y="3786530"/>
            <a:ext cx="2353666" cy="467441"/>
          </a:xfrm>
          <a:prstGeom prst="rect">
            <a:avLst/>
          </a:prstGeom>
          <a:noFill/>
          <a:ln/>
        </p:spPr>
        <p:txBody>
          <a:bodyPr wrap="square" lIns="0" tIns="0" rIns="0" bIns="0" rtlCol="0" anchor="t"/>
          <a:lstStyle/>
          <a:p>
            <a:pPr algn="l" indent="0" marL="0">
              <a:lnSpc>
                <a:spcPct val="115000"/>
              </a:lnSpc>
              <a:buNone/>
            </a:pPr>
            <a:r>
              <a:rPr lang="en-US" sz="1050" dirty="0">
                <a:solidFill>
                  <a:srgbClr val="6E6A61"/>
                </a:solidFill>
                <a:latin typeface="Noto Sans JP" pitchFamily="34" charset="0"/>
                <a:ea typeface="Noto Sans JP" pitchFamily="34" charset="-122"/>
                <a:cs typeface="Noto Sans JP" pitchFamily="34" charset="-120"/>
              </a:rPr>
              <a:t>立ち上げ当初比の月間利用者数</a:t>
            </a:r>
            <a:endParaRPr lang="en-US" sz="1050" dirty="0"/>
          </a:p>
        </p:txBody>
      </p:sp>
      <p:sp>
        <p:nvSpPr>
          <p:cNvPr id="17" name="Shape 13"/>
          <p:cNvSpPr/>
          <p:nvPr/>
        </p:nvSpPr>
        <p:spPr>
          <a:xfrm>
            <a:off x="8732520" y="4498848"/>
            <a:ext cx="2792578" cy="1298448"/>
          </a:xfrm>
          <a:prstGeom prst="roundRect">
            <a:avLst>
              <a:gd name="adj" fmla="val 4930"/>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18" name="Text 14"/>
          <p:cNvSpPr/>
          <p:nvPr/>
        </p:nvSpPr>
        <p:spPr>
          <a:xfrm>
            <a:off x="8951976" y="4626864"/>
            <a:ext cx="2353666" cy="649224"/>
          </a:xfrm>
          <a:prstGeom prst="rect">
            <a:avLst/>
          </a:prstGeom>
          <a:noFill/>
          <a:ln/>
        </p:spPr>
        <p:txBody>
          <a:bodyPr wrap="square" lIns="0" tIns="0" rIns="0" bIns="0" rtlCol="0" anchor="ctr"/>
          <a:lstStyle/>
          <a:p>
            <a:pPr algn="l" indent="0" marL="0">
              <a:buNone/>
            </a:pPr>
            <a:r>
              <a:rPr lang="en-US" sz="2600" b="1" dirty="0">
                <a:solidFill>
                  <a:srgbClr val="1B5E20"/>
                </a:solidFill>
                <a:latin typeface="Arial" pitchFamily="34" charset="0"/>
                <a:ea typeface="Arial" pitchFamily="34" charset="-122"/>
                <a:cs typeface="Arial" pitchFamily="34" charset="-120"/>
              </a:rPr>
              <a:t>100,000</a:t>
            </a:r>
            <a:pPr algn="l" indent="0" marL="0">
              <a:buNone/>
            </a:pPr>
            <a:r>
              <a:rPr lang="en-US" sz="1200" b="1" dirty="0">
                <a:solidFill>
                  <a:srgbClr val="5D4037"/>
                </a:solidFill>
                <a:latin typeface="Noto Sans JP" pitchFamily="34" charset="0"/>
                <a:ea typeface="Noto Sans JP" pitchFamily="34" charset="-122"/>
                <a:cs typeface="Noto Sans JP" pitchFamily="34" charset="-120"/>
              </a:rPr>
              <a:t> 杯</a:t>
            </a:r>
            <a:endParaRPr lang="en-US" sz="2600" dirty="0"/>
          </a:p>
        </p:txBody>
      </p:sp>
      <p:sp>
        <p:nvSpPr>
          <p:cNvPr id="19" name="Text 15"/>
          <p:cNvSpPr/>
          <p:nvPr/>
        </p:nvSpPr>
        <p:spPr>
          <a:xfrm>
            <a:off x="8951976" y="5212994"/>
            <a:ext cx="2353666" cy="467441"/>
          </a:xfrm>
          <a:prstGeom prst="rect">
            <a:avLst/>
          </a:prstGeom>
          <a:noFill/>
          <a:ln/>
        </p:spPr>
        <p:txBody>
          <a:bodyPr wrap="square" lIns="0" tIns="0" rIns="0" bIns="0" rtlCol="0" anchor="t"/>
          <a:lstStyle/>
          <a:p>
            <a:pPr algn="l" indent="0" marL="0">
              <a:lnSpc>
                <a:spcPct val="115000"/>
              </a:lnSpc>
              <a:buNone/>
            </a:pPr>
            <a:r>
              <a:rPr lang="en-US" sz="1050" dirty="0">
                <a:solidFill>
                  <a:srgbClr val="6E6A61"/>
                </a:solidFill>
                <a:latin typeface="Noto Sans JP" pitchFamily="34" charset="0"/>
                <a:ea typeface="Noto Sans JP" pitchFamily="34" charset="-122"/>
                <a:cs typeface="Noto Sans JP" pitchFamily="34" charset="-120"/>
              </a:rPr>
              <a:t>月間販売数を突破</a:t>
            </a:r>
            <a:endParaRPr lang="en-US" sz="1050" dirty="0"/>
          </a:p>
        </p:txBody>
      </p:sp>
      <p:sp>
        <p:nvSpPr>
          <p:cNvPr id="20" name="Text 16"/>
          <p:cNvSpPr/>
          <p:nvPr/>
        </p:nvSpPr>
        <p:spPr>
          <a:xfrm>
            <a:off x="666598" y="5870448"/>
            <a:ext cx="7790688" cy="420624"/>
          </a:xfrm>
          <a:prstGeom prst="rect">
            <a:avLst/>
          </a:prstGeom>
          <a:noFill/>
          <a:ln/>
        </p:spPr>
        <p:txBody>
          <a:bodyPr wrap="square" lIns="0" tIns="0" rIns="0" bIns="0" rtlCol="0" anchor="ctr"/>
          <a:lstStyle/>
          <a:p>
            <a:pPr indent="0" marL="0">
              <a:lnSpc>
                <a:spcPct val="125000"/>
              </a:lnSpc>
              <a:buNone/>
            </a:pPr>
            <a:r>
              <a:rPr lang="en-US" sz="1150" dirty="0">
                <a:solidFill>
                  <a:srgbClr val="3B3833"/>
                </a:solidFill>
                <a:latin typeface="Noto Sans JP" pitchFamily="34" charset="0"/>
                <a:ea typeface="Noto Sans JP" pitchFamily="34" charset="-122"/>
                <a:cs typeface="Noto Sans JP" pitchFamily="34" charset="-120"/>
              </a:rPr>
              <a:t>立ち上げ当初から、月間利用者数の規模は着実に拡大を続けています。新規出店直後の一時的な希薄化を挟みながらも、ほぼ店舗数に比例するペースで成長しています。</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CF5"/>
        </a:solidFill>
      </p:bgPr>
    </p:bg>
    <p:spTree>
      <p:nvGrpSpPr>
        <p:cNvPr id="1" name=""/>
        <p:cNvGrpSpPr/>
        <p:nvPr/>
      </p:nvGrpSpPr>
      <p:grpSpPr>
        <a:xfrm>
          <a:off x="0" y="0"/>
          <a:ext cx="0" cy="0"/>
          <a:chOff x="0" y="0"/>
          <a:chExt cx="0" cy="0"/>
        </a:xfrm>
      </p:grpSpPr>
      <p:sp>
        <p:nvSpPr>
          <p:cNvPr id="2" name="Text 0"/>
          <p:cNvSpPr/>
          <p:nvPr/>
        </p:nvSpPr>
        <p:spPr>
          <a:xfrm>
            <a:off x="666598" y="506578"/>
            <a:ext cx="8503920" cy="384048"/>
          </a:xfrm>
          <a:prstGeom prst="rect">
            <a:avLst/>
          </a:prstGeom>
          <a:noFill/>
          <a:ln/>
        </p:spPr>
        <p:txBody>
          <a:bodyPr wrap="square" lIns="0" tIns="0" rIns="0" bIns="0" rtlCol="0" anchor="ctr"/>
          <a:lstStyle/>
          <a:p>
            <a:pPr algn="l" indent="0" marL="0">
              <a:buNone/>
            </a:pPr>
            <a:r>
              <a:rPr lang="en-US" sz="3000" dirty="0">
                <a:solidFill>
                  <a:srgbClr val="1B5E20"/>
                </a:solidFill>
                <a:latin typeface="Noto Sans JP" pitchFamily="34" charset="0"/>
                <a:ea typeface="Noto Sans JP" pitchFamily="34" charset="-122"/>
                <a:cs typeface="Noto Sans JP" pitchFamily="34" charset="-120"/>
              </a:rPr>
              <a:t>利用システム：究極の利便性と価格</a:t>
            </a:r>
            <a:endParaRPr lang="en-US" sz="3000" dirty="0"/>
          </a:p>
        </p:txBody>
      </p:sp>
      <p:sp>
        <p:nvSpPr>
          <p:cNvPr id="3" name="Shape 1"/>
          <p:cNvSpPr/>
          <p:nvPr/>
        </p:nvSpPr>
        <p:spPr>
          <a:xfrm>
            <a:off x="666598" y="1114654"/>
            <a:ext cx="10858500" cy="19202"/>
          </a:xfrm>
          <a:prstGeom prst="rect">
            <a:avLst/>
          </a:prstGeom>
          <a:solidFill>
            <a:srgbClr val="8D6E63"/>
          </a:solidFill>
          <a:ln/>
        </p:spPr>
      </p:sp>
      <p:pic>
        <p:nvPicPr>
          <p:cNvPr id="4" name="Image 0" descr="/home/user/suzuki-ceo/selfcafe-fc-deck/assets/logo_gray.png">    </p:cNvPr>
          <p:cNvPicPr>
            <a:picLocks noChangeAspect="1"/>
          </p:cNvPicPr>
          <p:nvPr/>
        </p:nvPicPr>
        <p:blipFill>
          <a:blip r:embed="rId1"/>
          <a:stretch>
            <a:fillRect/>
          </a:stretch>
        </p:blipFill>
        <p:spPr>
          <a:xfrm>
            <a:off x="9415577" y="802843"/>
            <a:ext cx="2024482" cy="288036"/>
          </a:xfrm>
          <a:prstGeom prst="rect">
            <a:avLst/>
          </a:prstGeom>
        </p:spPr>
      </p:pic>
      <p:sp>
        <p:nvSpPr>
          <p:cNvPr id="5" name="Text 2"/>
          <p:cNvSpPr/>
          <p:nvPr/>
        </p:nvSpPr>
        <p:spPr>
          <a:xfrm>
            <a:off x="10610698" y="6345936"/>
            <a:ext cx="914400" cy="219456"/>
          </a:xfrm>
          <a:prstGeom prst="rect">
            <a:avLst/>
          </a:prstGeom>
          <a:noFill/>
          <a:ln/>
        </p:spPr>
        <p:txBody>
          <a:bodyPr wrap="square" lIns="0" tIns="0" rIns="0" bIns="0" rtlCol="0" anchor="ctr"/>
          <a:lstStyle/>
          <a:p>
            <a:pPr algn="r" indent="0" marL="0">
              <a:buNone/>
            </a:pPr>
            <a:r>
              <a:rPr lang="en-US" sz="1300" dirty="0">
                <a:solidFill>
                  <a:srgbClr val="000000"/>
                </a:solidFill>
                <a:latin typeface="Cambria" pitchFamily="34" charset="0"/>
                <a:ea typeface="Cambria" pitchFamily="34" charset="-122"/>
                <a:cs typeface="Cambria" pitchFamily="34" charset="-120"/>
              </a:rPr>
              <a:t>11</a:t>
            </a:r>
            <a:endParaRPr lang="en-US" sz="1300" dirty="0"/>
          </a:p>
        </p:txBody>
      </p:sp>
      <p:sp>
        <p:nvSpPr>
          <p:cNvPr id="6" name="Shape 3"/>
          <p:cNvSpPr/>
          <p:nvPr/>
        </p:nvSpPr>
        <p:spPr>
          <a:xfrm>
            <a:off x="666598" y="1417320"/>
            <a:ext cx="5577840" cy="1481328"/>
          </a:xfrm>
          <a:prstGeom prst="roundRect">
            <a:avLst>
              <a:gd name="adj" fmla="val 4321"/>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7" name="Shape 4"/>
          <p:cNvSpPr/>
          <p:nvPr/>
        </p:nvSpPr>
        <p:spPr>
          <a:xfrm>
            <a:off x="959206" y="1709928"/>
            <a:ext cx="603504" cy="603504"/>
          </a:xfrm>
          <a:prstGeom prst="ellipse">
            <a:avLst/>
          </a:prstGeom>
          <a:solidFill>
            <a:srgbClr val="F0F5EF"/>
          </a:solidFill>
          <a:ln/>
        </p:spPr>
      </p:sp>
      <p:pic>
        <p:nvPicPr>
          <p:cNvPr id="8" name="Image 1" descr="/home/user/suzuki-ceo/selfcafe-fc-deck/assets/icons/LuCoffee-green.png">    </p:cNvPr>
          <p:cNvPicPr>
            <a:picLocks noChangeAspect="1"/>
          </p:cNvPicPr>
          <p:nvPr/>
        </p:nvPicPr>
        <p:blipFill>
          <a:blip r:embed="rId2"/>
          <a:stretch>
            <a:fillRect/>
          </a:stretch>
        </p:blipFill>
        <p:spPr>
          <a:xfrm>
            <a:off x="1091976" y="1842699"/>
            <a:ext cx="337962" cy="337962"/>
          </a:xfrm>
          <a:prstGeom prst="rect">
            <a:avLst/>
          </a:prstGeom>
        </p:spPr>
      </p:pic>
      <p:sp>
        <p:nvSpPr>
          <p:cNvPr id="9" name="Text 5"/>
          <p:cNvSpPr/>
          <p:nvPr/>
        </p:nvSpPr>
        <p:spPr>
          <a:xfrm>
            <a:off x="1709014" y="1673352"/>
            <a:ext cx="4242816" cy="365760"/>
          </a:xfrm>
          <a:prstGeom prst="rect">
            <a:avLst/>
          </a:prstGeom>
          <a:noFill/>
          <a:ln/>
        </p:spPr>
        <p:txBody>
          <a:bodyPr wrap="square" lIns="0" tIns="0" rIns="0" bIns="0" rtlCol="0" anchor="ctr"/>
          <a:lstStyle/>
          <a:p>
            <a:pPr indent="0" marL="0">
              <a:buNone/>
            </a:pPr>
            <a:r>
              <a:rPr lang="en-US" sz="1600" b="1" dirty="0">
                <a:solidFill>
                  <a:srgbClr val="1B5E20"/>
                </a:solidFill>
                <a:latin typeface="Noto Sans JP" pitchFamily="34" charset="0"/>
                <a:ea typeface="Noto Sans JP" pitchFamily="34" charset="-122"/>
                <a:cs typeface="Noto Sans JP" pitchFamily="34" charset="-120"/>
              </a:rPr>
              <a:t>ドリンク一杯（390円〜）</a:t>
            </a:r>
            <a:endParaRPr lang="en-US" sz="1600" dirty="0"/>
          </a:p>
        </p:txBody>
      </p:sp>
      <p:sp>
        <p:nvSpPr>
          <p:cNvPr id="10" name="Text 6"/>
          <p:cNvSpPr/>
          <p:nvPr/>
        </p:nvSpPr>
        <p:spPr>
          <a:xfrm>
            <a:off x="1709014" y="2093976"/>
            <a:ext cx="4242816" cy="585216"/>
          </a:xfrm>
          <a:prstGeom prst="rect">
            <a:avLst/>
          </a:prstGeom>
          <a:noFill/>
          <a:ln/>
        </p:spPr>
        <p:txBody>
          <a:bodyPr wrap="square" lIns="0" tIns="0" rIns="0" bIns="0" rtlCol="0" anchor="t"/>
          <a:lstStyle/>
          <a:p>
            <a:pPr indent="0" marL="0">
              <a:lnSpc>
                <a:spcPct val="130000"/>
              </a:lnSpc>
              <a:buNone/>
            </a:pPr>
            <a:r>
              <a:rPr lang="en-US" sz="1150" dirty="0">
                <a:solidFill>
                  <a:srgbClr val="3B3833"/>
                </a:solidFill>
                <a:latin typeface="Noto Sans JP" pitchFamily="34" charset="0"/>
                <a:ea typeface="Noto Sans JP" pitchFamily="34" charset="-122"/>
                <a:cs typeface="Noto Sans JP" pitchFamily="34" charset="-120"/>
              </a:rPr>
              <a:t>ドリンク購入だけで、Wi-Fi・電源が完備された空間を自由にご利用いただけます。</a:t>
            </a:r>
            <a:endParaRPr lang="en-US" sz="1150" dirty="0"/>
          </a:p>
        </p:txBody>
      </p:sp>
      <p:sp>
        <p:nvSpPr>
          <p:cNvPr id="11" name="Shape 7"/>
          <p:cNvSpPr/>
          <p:nvPr/>
        </p:nvSpPr>
        <p:spPr>
          <a:xfrm>
            <a:off x="666598" y="3063240"/>
            <a:ext cx="5577840" cy="1481328"/>
          </a:xfrm>
          <a:prstGeom prst="roundRect">
            <a:avLst>
              <a:gd name="adj" fmla="val 4321"/>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12" name="Shape 8"/>
          <p:cNvSpPr/>
          <p:nvPr/>
        </p:nvSpPr>
        <p:spPr>
          <a:xfrm>
            <a:off x="959206" y="3355848"/>
            <a:ext cx="603504" cy="603504"/>
          </a:xfrm>
          <a:prstGeom prst="ellipse">
            <a:avLst/>
          </a:prstGeom>
          <a:solidFill>
            <a:srgbClr val="F0F5EF"/>
          </a:solidFill>
          <a:ln/>
        </p:spPr>
      </p:sp>
      <p:pic>
        <p:nvPicPr>
          <p:cNvPr id="13" name="Image 2" descr="/home/user/suzuki-ceo/selfcafe-fc-deck/assets/icons/LuClock-green.png">    </p:cNvPr>
          <p:cNvPicPr>
            <a:picLocks noChangeAspect="1"/>
          </p:cNvPicPr>
          <p:nvPr/>
        </p:nvPicPr>
        <p:blipFill>
          <a:blip r:embed="rId3"/>
          <a:stretch>
            <a:fillRect/>
          </a:stretch>
        </p:blipFill>
        <p:spPr>
          <a:xfrm>
            <a:off x="1091976" y="3488619"/>
            <a:ext cx="337962" cy="337962"/>
          </a:xfrm>
          <a:prstGeom prst="rect">
            <a:avLst/>
          </a:prstGeom>
        </p:spPr>
      </p:pic>
      <p:sp>
        <p:nvSpPr>
          <p:cNvPr id="14" name="Text 9"/>
          <p:cNvSpPr/>
          <p:nvPr/>
        </p:nvSpPr>
        <p:spPr>
          <a:xfrm>
            <a:off x="1709014" y="3319272"/>
            <a:ext cx="4242816" cy="365760"/>
          </a:xfrm>
          <a:prstGeom prst="rect">
            <a:avLst/>
          </a:prstGeom>
          <a:noFill/>
          <a:ln/>
        </p:spPr>
        <p:txBody>
          <a:bodyPr wrap="square" lIns="0" tIns="0" rIns="0" bIns="0" rtlCol="0" anchor="ctr"/>
          <a:lstStyle/>
          <a:p>
            <a:pPr indent="0" marL="0">
              <a:buNone/>
            </a:pPr>
            <a:r>
              <a:rPr lang="en-US" sz="1600" b="1" dirty="0">
                <a:solidFill>
                  <a:srgbClr val="1B5E20"/>
                </a:solidFill>
                <a:latin typeface="Noto Sans JP" pitchFamily="34" charset="0"/>
                <a:ea typeface="Noto Sans JP" pitchFamily="34" charset="-122"/>
                <a:cs typeface="Noto Sans JP" pitchFamily="34" charset="-120"/>
              </a:rPr>
              <a:t>滞在時間無制限</a:t>
            </a:r>
            <a:endParaRPr lang="en-US" sz="1600" dirty="0"/>
          </a:p>
        </p:txBody>
      </p:sp>
      <p:sp>
        <p:nvSpPr>
          <p:cNvPr id="15" name="Text 10"/>
          <p:cNvSpPr/>
          <p:nvPr/>
        </p:nvSpPr>
        <p:spPr>
          <a:xfrm>
            <a:off x="1709014" y="3739896"/>
            <a:ext cx="4242816" cy="585216"/>
          </a:xfrm>
          <a:prstGeom prst="rect">
            <a:avLst/>
          </a:prstGeom>
          <a:noFill/>
          <a:ln/>
        </p:spPr>
        <p:txBody>
          <a:bodyPr wrap="square" lIns="0" tIns="0" rIns="0" bIns="0" rtlCol="0" anchor="t"/>
          <a:lstStyle/>
          <a:p>
            <a:pPr indent="0" marL="0">
              <a:lnSpc>
                <a:spcPct val="130000"/>
              </a:lnSpc>
              <a:buNone/>
            </a:pPr>
            <a:r>
              <a:rPr lang="en-US" sz="1150" dirty="0">
                <a:solidFill>
                  <a:srgbClr val="3B3833"/>
                </a:solidFill>
                <a:latin typeface="Noto Sans JP" pitchFamily="34" charset="0"/>
                <a:ea typeface="Noto Sans JP" pitchFamily="34" charset="-122"/>
                <a:cs typeface="Noto Sans JP" pitchFamily="34" charset="-120"/>
              </a:rPr>
              <a:t>追加料金や延長料金を気にせず、仕事や勉強に没頭できる環境を提供します。</a:t>
            </a:r>
            <a:endParaRPr lang="en-US" sz="1150" dirty="0"/>
          </a:p>
        </p:txBody>
      </p:sp>
      <p:sp>
        <p:nvSpPr>
          <p:cNvPr id="16" name="Shape 11"/>
          <p:cNvSpPr/>
          <p:nvPr/>
        </p:nvSpPr>
        <p:spPr>
          <a:xfrm>
            <a:off x="666598" y="4709160"/>
            <a:ext cx="5577840" cy="1481328"/>
          </a:xfrm>
          <a:prstGeom prst="roundRect">
            <a:avLst>
              <a:gd name="adj" fmla="val 4321"/>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17" name="Shape 12"/>
          <p:cNvSpPr/>
          <p:nvPr/>
        </p:nvSpPr>
        <p:spPr>
          <a:xfrm>
            <a:off x="959206" y="5001768"/>
            <a:ext cx="603504" cy="603504"/>
          </a:xfrm>
          <a:prstGeom prst="ellipse">
            <a:avLst/>
          </a:prstGeom>
          <a:solidFill>
            <a:srgbClr val="F0F5EF"/>
          </a:solidFill>
          <a:ln/>
        </p:spPr>
      </p:sp>
      <p:pic>
        <p:nvPicPr>
          <p:cNvPr id="18" name="Image 3" descr="/home/user/suzuki-ceo/selfcafe-fc-deck/assets/icons/LuSmartphone-green.png">    </p:cNvPr>
          <p:cNvPicPr>
            <a:picLocks noChangeAspect="1"/>
          </p:cNvPicPr>
          <p:nvPr/>
        </p:nvPicPr>
        <p:blipFill>
          <a:blip r:embed="rId4"/>
          <a:stretch>
            <a:fillRect/>
          </a:stretch>
        </p:blipFill>
        <p:spPr>
          <a:xfrm>
            <a:off x="1091976" y="5134539"/>
            <a:ext cx="337962" cy="337962"/>
          </a:xfrm>
          <a:prstGeom prst="rect">
            <a:avLst/>
          </a:prstGeom>
        </p:spPr>
      </p:pic>
      <p:sp>
        <p:nvSpPr>
          <p:cNvPr id="19" name="Text 13"/>
          <p:cNvSpPr/>
          <p:nvPr/>
        </p:nvSpPr>
        <p:spPr>
          <a:xfrm>
            <a:off x="1709014" y="4965192"/>
            <a:ext cx="4242816" cy="365760"/>
          </a:xfrm>
          <a:prstGeom prst="rect">
            <a:avLst/>
          </a:prstGeom>
          <a:noFill/>
          <a:ln/>
        </p:spPr>
        <p:txBody>
          <a:bodyPr wrap="square" lIns="0" tIns="0" rIns="0" bIns="0" rtlCol="0" anchor="ctr"/>
          <a:lstStyle/>
          <a:p>
            <a:pPr indent="0" marL="0">
              <a:buNone/>
            </a:pPr>
            <a:r>
              <a:rPr lang="en-US" sz="1600" b="1" dirty="0">
                <a:solidFill>
                  <a:srgbClr val="1B5E20"/>
                </a:solidFill>
                <a:latin typeface="Noto Sans JP" pitchFamily="34" charset="0"/>
                <a:ea typeface="Noto Sans JP" pitchFamily="34" charset="-122"/>
                <a:cs typeface="Noto Sans JP" pitchFamily="34" charset="-120"/>
              </a:rPr>
              <a:t>サブスクプラン</a:t>
            </a:r>
            <a:endParaRPr lang="en-US" sz="1600" dirty="0"/>
          </a:p>
        </p:txBody>
      </p:sp>
      <p:sp>
        <p:nvSpPr>
          <p:cNvPr id="20" name="Text 14"/>
          <p:cNvSpPr/>
          <p:nvPr/>
        </p:nvSpPr>
        <p:spPr>
          <a:xfrm>
            <a:off x="1709014" y="5385816"/>
            <a:ext cx="4242816" cy="585216"/>
          </a:xfrm>
          <a:prstGeom prst="rect">
            <a:avLst/>
          </a:prstGeom>
          <a:noFill/>
          <a:ln/>
        </p:spPr>
        <p:txBody>
          <a:bodyPr wrap="square" lIns="0" tIns="0" rIns="0" bIns="0" rtlCol="0" anchor="t"/>
          <a:lstStyle/>
          <a:p>
            <a:pPr indent="0" marL="0">
              <a:lnSpc>
                <a:spcPct val="130000"/>
              </a:lnSpc>
              <a:buNone/>
            </a:pPr>
            <a:r>
              <a:rPr lang="en-US" sz="1150" dirty="0">
                <a:solidFill>
                  <a:srgbClr val="3B3833"/>
                </a:solidFill>
                <a:latin typeface="Noto Sans JP" pitchFamily="34" charset="0"/>
                <a:ea typeface="Noto Sans JP" pitchFamily="34" charset="-122"/>
                <a:cs typeface="Noto Sans JP" pitchFamily="34" charset="-120"/>
              </a:rPr>
              <a:t>ヘビーユーザー向けに、月額定額で通い放題のプランも用意。最低1杯147円〜で継続利用を促せます。</a:t>
            </a:r>
            <a:endParaRPr lang="en-US" sz="1150" dirty="0"/>
          </a:p>
        </p:txBody>
      </p:sp>
      <p:sp>
        <p:nvSpPr>
          <p:cNvPr id="21" name="Shape 15"/>
          <p:cNvSpPr/>
          <p:nvPr/>
        </p:nvSpPr>
        <p:spPr>
          <a:xfrm>
            <a:off x="6675120" y="1417320"/>
            <a:ext cx="4849978" cy="4956048"/>
          </a:xfrm>
          <a:prstGeom prst="roundRect">
            <a:avLst>
              <a:gd name="adj" fmla="val 1320"/>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22" name="Text 16"/>
          <p:cNvSpPr/>
          <p:nvPr/>
        </p:nvSpPr>
        <p:spPr>
          <a:xfrm>
            <a:off x="6967728" y="1627632"/>
            <a:ext cx="4264762" cy="274320"/>
          </a:xfrm>
          <a:prstGeom prst="rect">
            <a:avLst/>
          </a:prstGeom>
          <a:noFill/>
          <a:ln/>
        </p:spPr>
        <p:txBody>
          <a:bodyPr wrap="square" lIns="0" tIns="0" rIns="0" bIns="0" rtlCol="0" anchor="ctr"/>
          <a:lstStyle/>
          <a:p>
            <a:pPr indent="0" marL="0">
              <a:buNone/>
            </a:pPr>
            <a:r>
              <a:rPr lang="en-US" sz="1050" b="1" dirty="0">
                <a:solidFill>
                  <a:srgbClr val="5D4037"/>
                </a:solidFill>
                <a:latin typeface="Noto Sans JP" pitchFamily="34" charset="0"/>
                <a:ea typeface="Noto Sans JP" pitchFamily="34" charset="-122"/>
                <a:cs typeface="Noto Sans JP" pitchFamily="34" charset="-120"/>
              </a:rPr>
              <a:t>すべての店舗に共通する設備・ルール</a:t>
            </a:r>
            <a:endParaRPr lang="en-US" sz="1050" dirty="0"/>
          </a:p>
        </p:txBody>
      </p:sp>
      <p:sp>
        <p:nvSpPr>
          <p:cNvPr id="23" name="Shape 17"/>
          <p:cNvSpPr/>
          <p:nvPr/>
        </p:nvSpPr>
        <p:spPr>
          <a:xfrm>
            <a:off x="6967728" y="2029968"/>
            <a:ext cx="1287475" cy="1298448"/>
          </a:xfrm>
          <a:prstGeom prst="roundRect">
            <a:avLst>
              <a:gd name="adj" fmla="val 4972"/>
            </a:avLst>
          </a:prstGeom>
          <a:solidFill>
            <a:srgbClr val="F0F5EF"/>
          </a:solidFill>
          <a:ln w="9525">
            <a:solidFill>
              <a:srgbClr val="D7E4D7"/>
            </a:solidFill>
            <a:prstDash val="solid"/>
          </a:ln>
        </p:spPr>
      </p:sp>
      <p:pic>
        <p:nvPicPr>
          <p:cNvPr id="24" name="Image 4" descr="/home/user/suzuki-ceo/selfcafe-fc-deck/assets/icons/LuCalendarCheck-green.png">    </p:cNvPr>
          <p:cNvPicPr>
            <a:picLocks noChangeAspect="1"/>
          </p:cNvPicPr>
          <p:nvPr/>
        </p:nvPicPr>
        <p:blipFill>
          <a:blip r:embed="rId5"/>
          <a:stretch>
            <a:fillRect/>
          </a:stretch>
        </p:blipFill>
        <p:spPr>
          <a:xfrm>
            <a:off x="7392010" y="2267712"/>
            <a:ext cx="438912" cy="438912"/>
          </a:xfrm>
          <a:prstGeom prst="rect">
            <a:avLst/>
          </a:prstGeom>
        </p:spPr>
      </p:pic>
      <p:sp>
        <p:nvSpPr>
          <p:cNvPr id="25" name="Text 18"/>
          <p:cNvSpPr/>
          <p:nvPr/>
        </p:nvSpPr>
        <p:spPr>
          <a:xfrm>
            <a:off x="7022592" y="2816352"/>
            <a:ext cx="1177747" cy="365760"/>
          </a:xfrm>
          <a:prstGeom prst="rect">
            <a:avLst/>
          </a:prstGeom>
          <a:noFill/>
          <a:ln/>
        </p:spPr>
        <p:txBody>
          <a:bodyPr wrap="square" lIns="0" tIns="0" rIns="0" bIns="0" rtlCol="0" anchor="ctr"/>
          <a:lstStyle/>
          <a:p>
            <a:pPr algn="ctr" indent="0" marL="0">
              <a:buNone/>
            </a:pPr>
            <a:r>
              <a:rPr lang="en-US" sz="1150" b="1" dirty="0">
                <a:solidFill>
                  <a:srgbClr val="1B5E20"/>
                </a:solidFill>
                <a:latin typeface="Noto Sans JP" pitchFamily="34" charset="0"/>
                <a:ea typeface="Noto Sans JP" pitchFamily="34" charset="-122"/>
                <a:cs typeface="Noto Sans JP" pitchFamily="34" charset="-120"/>
              </a:rPr>
              <a:t>無人・年中無休</a:t>
            </a:r>
            <a:endParaRPr lang="en-US" sz="1150" dirty="0"/>
          </a:p>
        </p:txBody>
      </p:sp>
      <p:sp>
        <p:nvSpPr>
          <p:cNvPr id="26" name="Shape 19"/>
          <p:cNvSpPr/>
          <p:nvPr/>
        </p:nvSpPr>
        <p:spPr>
          <a:xfrm>
            <a:off x="8456371" y="2029968"/>
            <a:ext cx="1287475" cy="1298448"/>
          </a:xfrm>
          <a:prstGeom prst="roundRect">
            <a:avLst>
              <a:gd name="adj" fmla="val 4972"/>
            </a:avLst>
          </a:prstGeom>
          <a:solidFill>
            <a:srgbClr val="F0F5EF"/>
          </a:solidFill>
          <a:ln w="9525">
            <a:solidFill>
              <a:srgbClr val="D7E4D7"/>
            </a:solidFill>
            <a:prstDash val="solid"/>
          </a:ln>
        </p:spPr>
      </p:sp>
      <p:pic>
        <p:nvPicPr>
          <p:cNvPr id="27" name="Image 5" descr="/home/user/suzuki-ceo/selfcafe-fc-deck/assets/icons/LuWifi-green.png">    </p:cNvPr>
          <p:cNvPicPr>
            <a:picLocks noChangeAspect="1"/>
          </p:cNvPicPr>
          <p:nvPr/>
        </p:nvPicPr>
        <p:blipFill>
          <a:blip r:embed="rId6"/>
          <a:stretch>
            <a:fillRect/>
          </a:stretch>
        </p:blipFill>
        <p:spPr>
          <a:xfrm>
            <a:off x="8880653" y="2267712"/>
            <a:ext cx="438912" cy="438912"/>
          </a:xfrm>
          <a:prstGeom prst="rect">
            <a:avLst/>
          </a:prstGeom>
        </p:spPr>
      </p:pic>
      <p:sp>
        <p:nvSpPr>
          <p:cNvPr id="28" name="Text 20"/>
          <p:cNvSpPr/>
          <p:nvPr/>
        </p:nvSpPr>
        <p:spPr>
          <a:xfrm>
            <a:off x="8511235" y="2816352"/>
            <a:ext cx="1177747" cy="365760"/>
          </a:xfrm>
          <a:prstGeom prst="rect">
            <a:avLst/>
          </a:prstGeom>
          <a:noFill/>
          <a:ln/>
        </p:spPr>
        <p:txBody>
          <a:bodyPr wrap="square" lIns="0" tIns="0" rIns="0" bIns="0" rtlCol="0" anchor="ctr"/>
          <a:lstStyle/>
          <a:p>
            <a:pPr algn="ctr" indent="0" marL="0">
              <a:buNone/>
            </a:pPr>
            <a:r>
              <a:rPr lang="en-US" sz="1150" b="1" dirty="0">
                <a:solidFill>
                  <a:srgbClr val="1B5E20"/>
                </a:solidFill>
                <a:latin typeface="Noto Sans JP" pitchFamily="34" charset="0"/>
                <a:ea typeface="Noto Sans JP" pitchFamily="34" charset="-122"/>
                <a:cs typeface="Noto Sans JP" pitchFamily="34" charset="-120"/>
              </a:rPr>
              <a:t>高速Wi-Fi</a:t>
            </a:r>
            <a:endParaRPr lang="en-US" sz="1150" dirty="0"/>
          </a:p>
        </p:txBody>
      </p:sp>
      <p:sp>
        <p:nvSpPr>
          <p:cNvPr id="29" name="Shape 21"/>
          <p:cNvSpPr/>
          <p:nvPr/>
        </p:nvSpPr>
        <p:spPr>
          <a:xfrm>
            <a:off x="9945014" y="2029968"/>
            <a:ext cx="1287475" cy="1298448"/>
          </a:xfrm>
          <a:prstGeom prst="roundRect">
            <a:avLst>
              <a:gd name="adj" fmla="val 4972"/>
            </a:avLst>
          </a:prstGeom>
          <a:solidFill>
            <a:srgbClr val="F0F5EF"/>
          </a:solidFill>
          <a:ln w="9525">
            <a:solidFill>
              <a:srgbClr val="D7E4D7"/>
            </a:solidFill>
            <a:prstDash val="solid"/>
          </a:ln>
        </p:spPr>
      </p:sp>
      <p:pic>
        <p:nvPicPr>
          <p:cNvPr id="30" name="Image 6" descr="/home/user/suzuki-ceo/selfcafe-fc-deck/assets/icons/LuPlug-green.png">    </p:cNvPr>
          <p:cNvPicPr>
            <a:picLocks noChangeAspect="1"/>
          </p:cNvPicPr>
          <p:nvPr/>
        </p:nvPicPr>
        <p:blipFill>
          <a:blip r:embed="rId7"/>
          <a:stretch>
            <a:fillRect/>
          </a:stretch>
        </p:blipFill>
        <p:spPr>
          <a:xfrm>
            <a:off x="10369296" y="2267712"/>
            <a:ext cx="438912" cy="438912"/>
          </a:xfrm>
          <a:prstGeom prst="rect">
            <a:avLst/>
          </a:prstGeom>
        </p:spPr>
      </p:pic>
      <p:sp>
        <p:nvSpPr>
          <p:cNvPr id="31" name="Text 22"/>
          <p:cNvSpPr/>
          <p:nvPr/>
        </p:nvSpPr>
        <p:spPr>
          <a:xfrm>
            <a:off x="9999878" y="2816352"/>
            <a:ext cx="1177747" cy="365760"/>
          </a:xfrm>
          <a:prstGeom prst="rect">
            <a:avLst/>
          </a:prstGeom>
          <a:noFill/>
          <a:ln/>
        </p:spPr>
        <p:txBody>
          <a:bodyPr wrap="square" lIns="0" tIns="0" rIns="0" bIns="0" rtlCol="0" anchor="ctr"/>
          <a:lstStyle/>
          <a:p>
            <a:pPr algn="ctr" indent="0" marL="0">
              <a:buNone/>
            </a:pPr>
            <a:r>
              <a:rPr lang="en-US" sz="1150" b="1" dirty="0">
                <a:solidFill>
                  <a:srgbClr val="1B5E20"/>
                </a:solidFill>
                <a:latin typeface="Noto Sans JP" pitchFamily="34" charset="0"/>
                <a:ea typeface="Noto Sans JP" pitchFamily="34" charset="-122"/>
                <a:cs typeface="Noto Sans JP" pitchFamily="34" charset="-120"/>
              </a:rPr>
              <a:t>電源完備</a:t>
            </a:r>
            <a:endParaRPr lang="en-US" sz="1150" dirty="0"/>
          </a:p>
        </p:txBody>
      </p:sp>
      <p:sp>
        <p:nvSpPr>
          <p:cNvPr id="32" name="Shape 23"/>
          <p:cNvSpPr/>
          <p:nvPr/>
        </p:nvSpPr>
        <p:spPr>
          <a:xfrm>
            <a:off x="6967728" y="3529584"/>
            <a:ext cx="1287475" cy="1298448"/>
          </a:xfrm>
          <a:prstGeom prst="roundRect">
            <a:avLst>
              <a:gd name="adj" fmla="val 4972"/>
            </a:avLst>
          </a:prstGeom>
          <a:solidFill>
            <a:srgbClr val="F0F5EF"/>
          </a:solidFill>
          <a:ln w="9525">
            <a:solidFill>
              <a:srgbClr val="D7E4D7"/>
            </a:solidFill>
            <a:prstDash val="solid"/>
          </a:ln>
        </p:spPr>
      </p:sp>
      <p:pic>
        <p:nvPicPr>
          <p:cNvPr id="33" name="Image 7" descr="/home/user/suzuki-ceo/selfcafe-fc-deck/assets/icons/LuClock-green.png">    </p:cNvPr>
          <p:cNvPicPr>
            <a:picLocks noChangeAspect="1"/>
          </p:cNvPicPr>
          <p:nvPr/>
        </p:nvPicPr>
        <p:blipFill>
          <a:blip r:embed="rId8"/>
          <a:stretch>
            <a:fillRect/>
          </a:stretch>
        </p:blipFill>
        <p:spPr>
          <a:xfrm>
            <a:off x="7392010" y="3767328"/>
            <a:ext cx="438912" cy="438912"/>
          </a:xfrm>
          <a:prstGeom prst="rect">
            <a:avLst/>
          </a:prstGeom>
        </p:spPr>
      </p:pic>
      <p:sp>
        <p:nvSpPr>
          <p:cNvPr id="34" name="Text 24"/>
          <p:cNvSpPr/>
          <p:nvPr/>
        </p:nvSpPr>
        <p:spPr>
          <a:xfrm>
            <a:off x="7022592" y="4315968"/>
            <a:ext cx="1177747" cy="365760"/>
          </a:xfrm>
          <a:prstGeom prst="rect">
            <a:avLst/>
          </a:prstGeom>
          <a:noFill/>
          <a:ln/>
        </p:spPr>
        <p:txBody>
          <a:bodyPr wrap="square" lIns="0" tIns="0" rIns="0" bIns="0" rtlCol="0" anchor="ctr"/>
          <a:lstStyle/>
          <a:p>
            <a:pPr algn="ctr" indent="0" marL="0">
              <a:buNone/>
            </a:pPr>
            <a:r>
              <a:rPr lang="en-US" sz="1150" b="1" dirty="0">
                <a:solidFill>
                  <a:srgbClr val="1B5E20"/>
                </a:solidFill>
                <a:latin typeface="Noto Sans JP" pitchFamily="34" charset="0"/>
                <a:ea typeface="Noto Sans JP" pitchFamily="34" charset="-122"/>
                <a:cs typeface="Noto Sans JP" pitchFamily="34" charset="-120"/>
              </a:rPr>
              <a:t>席時間無制限</a:t>
            </a:r>
            <a:endParaRPr lang="en-US" sz="1150" dirty="0"/>
          </a:p>
        </p:txBody>
      </p:sp>
      <p:sp>
        <p:nvSpPr>
          <p:cNvPr id="35" name="Shape 25"/>
          <p:cNvSpPr/>
          <p:nvPr/>
        </p:nvSpPr>
        <p:spPr>
          <a:xfrm>
            <a:off x="8456371" y="3529584"/>
            <a:ext cx="1287475" cy="1298448"/>
          </a:xfrm>
          <a:prstGeom prst="roundRect">
            <a:avLst>
              <a:gd name="adj" fmla="val 4972"/>
            </a:avLst>
          </a:prstGeom>
          <a:solidFill>
            <a:srgbClr val="F0F5EF"/>
          </a:solidFill>
          <a:ln w="9525">
            <a:solidFill>
              <a:srgbClr val="D7E4D7"/>
            </a:solidFill>
            <a:prstDash val="solid"/>
          </a:ln>
        </p:spPr>
      </p:sp>
      <p:pic>
        <p:nvPicPr>
          <p:cNvPr id="36" name="Image 8" descr="/home/user/suzuki-ceo/selfcafe-fc-deck/assets/icons/LuBookOpen-green.png">    </p:cNvPr>
          <p:cNvPicPr>
            <a:picLocks noChangeAspect="1"/>
          </p:cNvPicPr>
          <p:nvPr/>
        </p:nvPicPr>
        <p:blipFill>
          <a:blip r:embed="rId9"/>
          <a:stretch>
            <a:fillRect/>
          </a:stretch>
        </p:blipFill>
        <p:spPr>
          <a:xfrm>
            <a:off x="8880653" y="3767328"/>
            <a:ext cx="438912" cy="438912"/>
          </a:xfrm>
          <a:prstGeom prst="rect">
            <a:avLst/>
          </a:prstGeom>
        </p:spPr>
      </p:pic>
      <p:sp>
        <p:nvSpPr>
          <p:cNvPr id="37" name="Text 26"/>
          <p:cNvSpPr/>
          <p:nvPr/>
        </p:nvSpPr>
        <p:spPr>
          <a:xfrm>
            <a:off x="8511235" y="4315968"/>
            <a:ext cx="1177747" cy="365760"/>
          </a:xfrm>
          <a:prstGeom prst="rect">
            <a:avLst/>
          </a:prstGeom>
          <a:noFill/>
          <a:ln/>
        </p:spPr>
        <p:txBody>
          <a:bodyPr wrap="square" lIns="0" tIns="0" rIns="0" bIns="0" rtlCol="0" anchor="ctr"/>
          <a:lstStyle/>
          <a:p>
            <a:pPr algn="ctr" indent="0" marL="0">
              <a:buNone/>
            </a:pPr>
            <a:r>
              <a:rPr lang="en-US" sz="1150" b="1" dirty="0">
                <a:solidFill>
                  <a:srgbClr val="1B5E20"/>
                </a:solidFill>
                <a:latin typeface="Noto Sans JP" pitchFamily="34" charset="0"/>
                <a:ea typeface="Noto Sans JP" pitchFamily="34" charset="-122"/>
                <a:cs typeface="Noto Sans JP" pitchFamily="34" charset="-120"/>
              </a:rPr>
              <a:t>仕事・勉強</a:t>
            </a:r>
            <a:endParaRPr lang="en-US" sz="1150" dirty="0"/>
          </a:p>
        </p:txBody>
      </p:sp>
      <p:sp>
        <p:nvSpPr>
          <p:cNvPr id="38" name="Shape 27"/>
          <p:cNvSpPr/>
          <p:nvPr/>
        </p:nvSpPr>
        <p:spPr>
          <a:xfrm>
            <a:off x="9945014" y="3529584"/>
            <a:ext cx="1287475" cy="1298448"/>
          </a:xfrm>
          <a:prstGeom prst="roundRect">
            <a:avLst>
              <a:gd name="adj" fmla="val 4972"/>
            </a:avLst>
          </a:prstGeom>
          <a:solidFill>
            <a:srgbClr val="F0F5EF"/>
          </a:solidFill>
          <a:ln w="9525">
            <a:solidFill>
              <a:srgbClr val="D7E4D7"/>
            </a:solidFill>
            <a:prstDash val="solid"/>
          </a:ln>
        </p:spPr>
      </p:sp>
      <p:pic>
        <p:nvPicPr>
          <p:cNvPr id="39" name="Image 9" descr="/home/user/suzuki-ceo/selfcafe-fc-deck/assets/icons/LuMessagesSquare-green.png">    </p:cNvPr>
          <p:cNvPicPr>
            <a:picLocks noChangeAspect="1"/>
          </p:cNvPicPr>
          <p:nvPr/>
        </p:nvPicPr>
        <p:blipFill>
          <a:blip r:embed="rId10"/>
          <a:stretch>
            <a:fillRect/>
          </a:stretch>
        </p:blipFill>
        <p:spPr>
          <a:xfrm>
            <a:off x="10369296" y="3767328"/>
            <a:ext cx="438912" cy="438912"/>
          </a:xfrm>
          <a:prstGeom prst="rect">
            <a:avLst/>
          </a:prstGeom>
        </p:spPr>
      </p:pic>
      <p:sp>
        <p:nvSpPr>
          <p:cNvPr id="40" name="Text 28"/>
          <p:cNvSpPr/>
          <p:nvPr/>
        </p:nvSpPr>
        <p:spPr>
          <a:xfrm>
            <a:off x="9999878" y="4315968"/>
            <a:ext cx="1177747" cy="365760"/>
          </a:xfrm>
          <a:prstGeom prst="rect">
            <a:avLst/>
          </a:prstGeom>
          <a:noFill/>
          <a:ln/>
        </p:spPr>
        <p:txBody>
          <a:bodyPr wrap="square" lIns="0" tIns="0" rIns="0" bIns="0" rtlCol="0" anchor="ctr"/>
          <a:lstStyle/>
          <a:p>
            <a:pPr algn="ctr" indent="0" marL="0">
              <a:buNone/>
            </a:pPr>
            <a:r>
              <a:rPr lang="en-US" sz="1150" b="1" dirty="0">
                <a:solidFill>
                  <a:srgbClr val="1B5E20"/>
                </a:solidFill>
                <a:latin typeface="Noto Sans JP" pitchFamily="34" charset="0"/>
                <a:ea typeface="Noto Sans JP" pitchFamily="34" charset="-122"/>
                <a:cs typeface="Noto Sans JP" pitchFamily="34" charset="-120"/>
              </a:rPr>
              <a:t>会話OK</a:t>
            </a:r>
            <a:endParaRPr lang="en-US" sz="1150" dirty="0"/>
          </a:p>
        </p:txBody>
      </p:sp>
      <p:sp>
        <p:nvSpPr>
          <p:cNvPr id="41" name="Shape 29"/>
          <p:cNvSpPr/>
          <p:nvPr/>
        </p:nvSpPr>
        <p:spPr>
          <a:xfrm>
            <a:off x="6967728" y="5138928"/>
            <a:ext cx="4264762" cy="969264"/>
          </a:xfrm>
          <a:prstGeom prst="roundRect">
            <a:avLst>
              <a:gd name="adj" fmla="val 5660"/>
            </a:avLst>
          </a:prstGeom>
          <a:solidFill>
            <a:srgbClr val="FAF3E3"/>
          </a:solidFill>
          <a:ln/>
        </p:spPr>
      </p:sp>
      <p:sp>
        <p:nvSpPr>
          <p:cNvPr id="42" name="Text 30"/>
          <p:cNvSpPr/>
          <p:nvPr/>
        </p:nvSpPr>
        <p:spPr>
          <a:xfrm>
            <a:off x="7150608" y="5138928"/>
            <a:ext cx="3899002" cy="969264"/>
          </a:xfrm>
          <a:prstGeom prst="rect">
            <a:avLst/>
          </a:prstGeom>
          <a:noFill/>
          <a:ln/>
        </p:spPr>
        <p:txBody>
          <a:bodyPr wrap="square" lIns="0" tIns="0" rIns="0" bIns="0" rtlCol="0" anchor="ctr"/>
          <a:lstStyle/>
          <a:p>
            <a:pPr indent="0" marL="0">
              <a:lnSpc>
                <a:spcPct val="130000"/>
              </a:lnSpc>
              <a:buNone/>
            </a:pPr>
            <a:r>
              <a:rPr lang="en-US" sz="1100" dirty="0">
                <a:solidFill>
                  <a:srgbClr val="5D4037"/>
                </a:solidFill>
                <a:latin typeface="Noto Sans JP" pitchFamily="34" charset="0"/>
                <a:ea typeface="Noto Sans JP" pitchFamily="34" charset="-122"/>
                <a:cs typeface="Noto Sans JP" pitchFamily="34" charset="-120"/>
              </a:rPr>
              <a:t>予約不要・登録不要。ドリンク1杯から、いつでも気軽に使える価格設計にしています。</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CF5"/>
        </a:solidFill>
      </p:bgPr>
    </p:bg>
    <p:spTree>
      <p:nvGrpSpPr>
        <p:cNvPr id="1" name=""/>
        <p:cNvGrpSpPr/>
        <p:nvPr/>
      </p:nvGrpSpPr>
      <p:grpSpPr>
        <a:xfrm>
          <a:off x="0" y="0"/>
          <a:ext cx="0" cy="0"/>
          <a:chOff x="0" y="0"/>
          <a:chExt cx="0" cy="0"/>
        </a:xfrm>
      </p:grpSpPr>
      <p:sp>
        <p:nvSpPr>
          <p:cNvPr id="2" name="Text 0"/>
          <p:cNvSpPr/>
          <p:nvPr/>
        </p:nvSpPr>
        <p:spPr>
          <a:xfrm>
            <a:off x="666598" y="506578"/>
            <a:ext cx="8503920" cy="384048"/>
          </a:xfrm>
          <a:prstGeom prst="rect">
            <a:avLst/>
          </a:prstGeom>
          <a:noFill/>
          <a:ln/>
        </p:spPr>
        <p:txBody>
          <a:bodyPr wrap="square" lIns="0" tIns="0" rIns="0" bIns="0" rtlCol="0" anchor="ctr"/>
          <a:lstStyle/>
          <a:p>
            <a:pPr algn="l" indent="0" marL="0">
              <a:buNone/>
            </a:pPr>
            <a:r>
              <a:rPr lang="en-US" sz="3000" dirty="0">
                <a:solidFill>
                  <a:srgbClr val="1B5E20"/>
                </a:solidFill>
                <a:latin typeface="Noto Sans JP" pitchFamily="34" charset="0"/>
                <a:ea typeface="Noto Sans JP" pitchFamily="34" charset="-122"/>
                <a:cs typeface="Noto Sans JP" pitchFamily="34" charset="-120"/>
              </a:rPr>
              <a:t>セルフカフェ_ユーザー層</a:t>
            </a:r>
            <a:endParaRPr lang="en-US" sz="3000" dirty="0"/>
          </a:p>
        </p:txBody>
      </p:sp>
      <p:sp>
        <p:nvSpPr>
          <p:cNvPr id="3" name="Shape 1"/>
          <p:cNvSpPr/>
          <p:nvPr/>
        </p:nvSpPr>
        <p:spPr>
          <a:xfrm>
            <a:off x="666598" y="1114654"/>
            <a:ext cx="10858500" cy="19202"/>
          </a:xfrm>
          <a:prstGeom prst="rect">
            <a:avLst/>
          </a:prstGeom>
          <a:solidFill>
            <a:srgbClr val="8D6E63"/>
          </a:solidFill>
          <a:ln/>
        </p:spPr>
      </p:sp>
      <p:pic>
        <p:nvPicPr>
          <p:cNvPr id="4" name="Image 0" descr="/home/user/suzuki-ceo/selfcafe-fc-deck/assets/logo_gray.png">    </p:cNvPr>
          <p:cNvPicPr>
            <a:picLocks noChangeAspect="1"/>
          </p:cNvPicPr>
          <p:nvPr/>
        </p:nvPicPr>
        <p:blipFill>
          <a:blip r:embed="rId1"/>
          <a:stretch>
            <a:fillRect/>
          </a:stretch>
        </p:blipFill>
        <p:spPr>
          <a:xfrm>
            <a:off x="9415577" y="802843"/>
            <a:ext cx="2024482" cy="288036"/>
          </a:xfrm>
          <a:prstGeom prst="rect">
            <a:avLst/>
          </a:prstGeom>
        </p:spPr>
      </p:pic>
      <p:sp>
        <p:nvSpPr>
          <p:cNvPr id="5" name="Text 2"/>
          <p:cNvSpPr/>
          <p:nvPr/>
        </p:nvSpPr>
        <p:spPr>
          <a:xfrm>
            <a:off x="10610698" y="6345936"/>
            <a:ext cx="914400" cy="219456"/>
          </a:xfrm>
          <a:prstGeom prst="rect">
            <a:avLst/>
          </a:prstGeom>
          <a:noFill/>
          <a:ln/>
        </p:spPr>
        <p:txBody>
          <a:bodyPr wrap="square" lIns="0" tIns="0" rIns="0" bIns="0" rtlCol="0" anchor="ctr"/>
          <a:lstStyle/>
          <a:p>
            <a:pPr algn="r" indent="0" marL="0">
              <a:buNone/>
            </a:pPr>
            <a:r>
              <a:rPr lang="en-US" sz="1300" dirty="0">
                <a:solidFill>
                  <a:srgbClr val="000000"/>
                </a:solidFill>
                <a:latin typeface="Cambria" pitchFamily="34" charset="0"/>
                <a:ea typeface="Cambria" pitchFamily="34" charset="-122"/>
                <a:cs typeface="Cambria" pitchFamily="34" charset="-120"/>
              </a:rPr>
              <a:t>12</a:t>
            </a:r>
            <a:endParaRPr lang="en-US" sz="1300" dirty="0"/>
          </a:p>
        </p:txBody>
      </p:sp>
      <p:sp>
        <p:nvSpPr>
          <p:cNvPr id="6" name="Shape 3"/>
          <p:cNvSpPr/>
          <p:nvPr/>
        </p:nvSpPr>
        <p:spPr>
          <a:xfrm>
            <a:off x="666598" y="1298448"/>
            <a:ext cx="5282946" cy="4956048"/>
          </a:xfrm>
          <a:prstGeom prst="roundRect">
            <a:avLst>
              <a:gd name="adj" fmla="val 1292"/>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7" name="Shape 4"/>
          <p:cNvSpPr/>
          <p:nvPr/>
        </p:nvSpPr>
        <p:spPr>
          <a:xfrm>
            <a:off x="959206" y="1517904"/>
            <a:ext cx="566928" cy="566928"/>
          </a:xfrm>
          <a:prstGeom prst="ellipse">
            <a:avLst/>
          </a:prstGeom>
          <a:solidFill>
            <a:srgbClr val="F0F5EF"/>
          </a:solidFill>
          <a:ln/>
        </p:spPr>
      </p:sp>
      <p:pic>
        <p:nvPicPr>
          <p:cNvPr id="8" name="Image 1" descr="/home/user/suzuki-ceo/selfcafe-fc-deck/assets/icons/LuUsers-green.png">    </p:cNvPr>
          <p:cNvPicPr>
            <a:picLocks noChangeAspect="1"/>
          </p:cNvPicPr>
          <p:nvPr/>
        </p:nvPicPr>
        <p:blipFill>
          <a:blip r:embed="rId2"/>
          <a:stretch>
            <a:fillRect/>
          </a:stretch>
        </p:blipFill>
        <p:spPr>
          <a:xfrm>
            <a:off x="1083930" y="1642628"/>
            <a:ext cx="317480" cy="317480"/>
          </a:xfrm>
          <a:prstGeom prst="rect">
            <a:avLst/>
          </a:prstGeom>
        </p:spPr>
      </p:pic>
      <p:sp>
        <p:nvSpPr>
          <p:cNvPr id="9" name="Text 5"/>
          <p:cNvSpPr/>
          <p:nvPr/>
        </p:nvSpPr>
        <p:spPr>
          <a:xfrm>
            <a:off x="1672438" y="1517904"/>
            <a:ext cx="3984498" cy="566928"/>
          </a:xfrm>
          <a:prstGeom prst="rect">
            <a:avLst/>
          </a:prstGeom>
          <a:noFill/>
          <a:ln/>
        </p:spPr>
        <p:txBody>
          <a:bodyPr wrap="square" lIns="0" tIns="0" rIns="0" bIns="0" rtlCol="0" anchor="ctr"/>
          <a:lstStyle/>
          <a:p>
            <a:pPr indent="0" marL="0">
              <a:buNone/>
            </a:pPr>
            <a:r>
              <a:rPr lang="en-US" sz="1700" b="1" dirty="0">
                <a:solidFill>
                  <a:srgbClr val="1B5E20"/>
                </a:solidFill>
                <a:latin typeface="Noto Sans JP" pitchFamily="34" charset="0"/>
                <a:ea typeface="Noto Sans JP" pitchFamily="34" charset="-122"/>
                <a:cs typeface="Noto Sans JP" pitchFamily="34" charset="-120"/>
              </a:rPr>
              <a:t>若年層から絶大な支持</a:t>
            </a:r>
            <a:endParaRPr lang="en-US" sz="1700" dirty="0"/>
          </a:p>
        </p:txBody>
      </p:sp>
      <p:sp>
        <p:nvSpPr>
          <p:cNvPr id="10" name="Text 6"/>
          <p:cNvSpPr/>
          <p:nvPr/>
        </p:nvSpPr>
        <p:spPr>
          <a:xfrm>
            <a:off x="959206" y="2212848"/>
            <a:ext cx="4697730" cy="603504"/>
          </a:xfrm>
          <a:prstGeom prst="rect">
            <a:avLst/>
          </a:prstGeom>
          <a:noFill/>
          <a:ln/>
        </p:spPr>
        <p:txBody>
          <a:bodyPr wrap="square" lIns="0" tIns="0" rIns="0" bIns="0" rtlCol="0" anchor="t"/>
          <a:lstStyle/>
          <a:p>
            <a:pPr indent="0" marL="0">
              <a:lnSpc>
                <a:spcPct val="132000"/>
              </a:lnSpc>
              <a:buNone/>
            </a:pPr>
            <a:r>
              <a:rPr lang="en-US" sz="1150" dirty="0">
                <a:solidFill>
                  <a:srgbClr val="3B3833"/>
                </a:solidFill>
                <a:latin typeface="Noto Sans JP" pitchFamily="34" charset="0"/>
                <a:ea typeface="Noto Sans JP" pitchFamily="34" charset="-122"/>
                <a:cs typeface="Noto Sans JP" pitchFamily="34" charset="-120"/>
              </a:rPr>
              <a:t>29歳までのユーザーが</a:t>
            </a:r>
            <a:pPr indent="0" marL="0">
              <a:lnSpc>
                <a:spcPct val="132000"/>
              </a:lnSpc>
              <a:buNone/>
            </a:pPr>
            <a:r>
              <a:rPr lang="en-US" sz="1150" b="1" dirty="0">
                <a:solidFill>
                  <a:srgbClr val="1B5E20"/>
                </a:solidFill>
                <a:latin typeface="Noto Sans JP" pitchFamily="34" charset="0"/>
                <a:ea typeface="Noto Sans JP" pitchFamily="34" charset="-122"/>
                <a:cs typeface="Noto Sans JP" pitchFamily="34" charset="-120"/>
              </a:rPr>
              <a:t>約50%</a:t>
            </a:r>
            <a:pPr indent="0" marL="0">
              <a:lnSpc>
                <a:spcPct val="132000"/>
              </a:lnSpc>
              <a:buNone/>
            </a:pPr>
            <a:r>
              <a:rPr lang="en-US" sz="1150" dirty="0">
                <a:solidFill>
                  <a:srgbClr val="3B3833"/>
                </a:solidFill>
                <a:latin typeface="Noto Sans JP" pitchFamily="34" charset="0"/>
                <a:ea typeface="Noto Sans JP" pitchFamily="34" charset="-122"/>
                <a:cs typeface="Noto Sans JP" pitchFamily="34" charset="-120"/>
              </a:rPr>
              <a:t>。デジタルネイティブ世代にとって「無人」は心理的ハードルが低く、快適な空間です。</a:t>
            </a:r>
            <a:endParaRPr lang="en-US" sz="1150" dirty="0"/>
          </a:p>
        </p:txBody>
      </p:sp>
      <p:sp>
        <p:nvSpPr>
          <p:cNvPr id="11" name="Text 7"/>
          <p:cNvSpPr/>
          <p:nvPr/>
        </p:nvSpPr>
        <p:spPr>
          <a:xfrm>
            <a:off x="5035144" y="5888736"/>
            <a:ext cx="640080" cy="201168"/>
          </a:xfrm>
          <a:prstGeom prst="rect">
            <a:avLst/>
          </a:prstGeom>
          <a:noFill/>
          <a:ln/>
        </p:spPr>
        <p:txBody>
          <a:bodyPr wrap="square" lIns="0" tIns="0" rIns="0" bIns="0" rtlCol="0" anchor="ctr"/>
          <a:lstStyle/>
          <a:p>
            <a:pPr algn="r" indent="0" marL="0">
              <a:buNone/>
            </a:pPr>
            <a:r>
              <a:rPr lang="en-US" sz="900" dirty="0">
                <a:solidFill>
                  <a:srgbClr val="9A948A"/>
                </a:solidFill>
                <a:latin typeface="Noto Sans JP" pitchFamily="34" charset="0"/>
                <a:ea typeface="Noto Sans JP" pitchFamily="34" charset="-122"/>
                <a:cs typeface="Noto Sans JP" pitchFamily="34" charset="-120"/>
              </a:rPr>
              <a:t>（歳）</a:t>
            </a:r>
            <a:endParaRPr lang="en-US" sz="900" dirty="0"/>
          </a:p>
        </p:txBody>
      </p:sp>
      <p:graphicFrame>
        <p:nvGraphicFramePr>
          <p:cNvPr id="12" name="Chart 0" descr=""/>
          <p:cNvGraphicFramePr/>
          <p:nvPr/>
        </p:nvGraphicFramePr>
        <p:xfrm>
          <a:off x="904342" y="2944368"/>
          <a:ext cx="4807458" cy="3035808"/>
        </p:xfrm>
        <a:graphic xmlns:a="http://schemas.openxmlformats.org/drawingml/2006/main">
          <a:graphicData uri="http://schemas.openxmlformats.org/drawingml/2006/chart">
            <c:chart xmlns:c="http://schemas.openxmlformats.org/drawingml/2006/chart" r:id="rId3"/>
          </a:graphicData>
        </a:graphic>
      </p:graphicFrame>
      <p:sp>
        <p:nvSpPr>
          <p:cNvPr id="13" name="Shape 8"/>
          <p:cNvSpPr/>
          <p:nvPr/>
        </p:nvSpPr>
        <p:spPr>
          <a:xfrm>
            <a:off x="6242152" y="1298448"/>
            <a:ext cx="5282946" cy="4956048"/>
          </a:xfrm>
          <a:prstGeom prst="roundRect">
            <a:avLst>
              <a:gd name="adj" fmla="val 1292"/>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14" name="Shape 9"/>
          <p:cNvSpPr/>
          <p:nvPr/>
        </p:nvSpPr>
        <p:spPr>
          <a:xfrm>
            <a:off x="6534760" y="1517904"/>
            <a:ext cx="566928" cy="566928"/>
          </a:xfrm>
          <a:prstGeom prst="ellipse">
            <a:avLst/>
          </a:prstGeom>
          <a:solidFill>
            <a:srgbClr val="F0F5EF"/>
          </a:solidFill>
          <a:ln/>
        </p:spPr>
      </p:sp>
      <p:pic>
        <p:nvPicPr>
          <p:cNvPr id="15" name="Image 2" descr="/home/user/suzuki-ceo/selfcafe-fc-deck/assets/icons/LuGraduationCap-green.png">    </p:cNvPr>
          <p:cNvPicPr>
            <a:picLocks noChangeAspect="1"/>
          </p:cNvPicPr>
          <p:nvPr/>
        </p:nvPicPr>
        <p:blipFill>
          <a:blip r:embed="rId4"/>
          <a:stretch>
            <a:fillRect/>
          </a:stretch>
        </p:blipFill>
        <p:spPr>
          <a:xfrm>
            <a:off x="6659484" y="1642628"/>
            <a:ext cx="317480" cy="317480"/>
          </a:xfrm>
          <a:prstGeom prst="rect">
            <a:avLst/>
          </a:prstGeom>
        </p:spPr>
      </p:pic>
      <p:sp>
        <p:nvSpPr>
          <p:cNvPr id="16" name="Text 10"/>
          <p:cNvSpPr/>
          <p:nvPr/>
        </p:nvSpPr>
        <p:spPr>
          <a:xfrm>
            <a:off x="7247992" y="1517904"/>
            <a:ext cx="3984498" cy="566928"/>
          </a:xfrm>
          <a:prstGeom prst="rect">
            <a:avLst/>
          </a:prstGeom>
          <a:noFill/>
          <a:ln/>
        </p:spPr>
        <p:txBody>
          <a:bodyPr wrap="square" lIns="0" tIns="0" rIns="0" bIns="0" rtlCol="0" anchor="ctr"/>
          <a:lstStyle/>
          <a:p>
            <a:pPr indent="0" marL="0">
              <a:buNone/>
            </a:pPr>
            <a:r>
              <a:rPr lang="en-US" sz="1700" b="1" dirty="0">
                <a:solidFill>
                  <a:srgbClr val="1B5E20"/>
                </a:solidFill>
                <a:latin typeface="Noto Sans JP" pitchFamily="34" charset="0"/>
                <a:ea typeface="Noto Sans JP" pitchFamily="34" charset="-122"/>
                <a:cs typeface="Noto Sans JP" pitchFamily="34" charset="-120"/>
              </a:rPr>
              <a:t>「勉強」が主目的</a:t>
            </a:r>
            <a:endParaRPr lang="en-US" sz="1700" dirty="0"/>
          </a:p>
        </p:txBody>
      </p:sp>
      <p:sp>
        <p:nvSpPr>
          <p:cNvPr id="17" name="Text 11"/>
          <p:cNvSpPr/>
          <p:nvPr/>
        </p:nvSpPr>
        <p:spPr>
          <a:xfrm>
            <a:off x="6534760" y="2212848"/>
            <a:ext cx="4697730" cy="603504"/>
          </a:xfrm>
          <a:prstGeom prst="rect">
            <a:avLst/>
          </a:prstGeom>
          <a:noFill/>
          <a:ln/>
        </p:spPr>
        <p:txBody>
          <a:bodyPr wrap="square" lIns="0" tIns="0" rIns="0" bIns="0" rtlCol="0" anchor="t"/>
          <a:lstStyle/>
          <a:p>
            <a:pPr indent="0" marL="0">
              <a:lnSpc>
                <a:spcPct val="132000"/>
              </a:lnSpc>
              <a:buNone/>
            </a:pPr>
            <a:r>
              <a:rPr lang="en-US" sz="1150" dirty="0">
                <a:solidFill>
                  <a:srgbClr val="3B3833"/>
                </a:solidFill>
                <a:latin typeface="Noto Sans JP" pitchFamily="34" charset="0"/>
                <a:ea typeface="Noto Sans JP" pitchFamily="34" charset="-122"/>
                <a:cs typeface="Noto Sans JP" pitchFamily="34" charset="-120"/>
              </a:rPr>
              <a:t>利用目的の</a:t>
            </a:r>
            <a:pPr indent="0" marL="0">
              <a:lnSpc>
                <a:spcPct val="132000"/>
              </a:lnSpc>
              <a:buNone/>
            </a:pPr>
            <a:r>
              <a:rPr lang="en-US" sz="1150" b="1" dirty="0">
                <a:solidFill>
                  <a:srgbClr val="1B5E20"/>
                </a:solidFill>
                <a:latin typeface="Noto Sans JP" pitchFamily="34" charset="0"/>
                <a:ea typeface="Noto Sans JP" pitchFamily="34" charset="-122"/>
                <a:cs typeface="Noto Sans JP" pitchFamily="34" charset="-120"/>
              </a:rPr>
              <a:t>62.6%が「勉強」</a:t>
            </a:r>
            <a:pPr indent="0" marL="0">
              <a:lnSpc>
                <a:spcPct val="132000"/>
              </a:lnSpc>
              <a:buNone/>
            </a:pPr>
            <a:r>
              <a:rPr lang="en-US" sz="1150" dirty="0">
                <a:solidFill>
                  <a:srgbClr val="3B3833"/>
                </a:solidFill>
                <a:latin typeface="Noto Sans JP" pitchFamily="34" charset="0"/>
                <a:ea typeface="Noto Sans JP" pitchFamily="34" charset="-122"/>
                <a:cs typeface="Noto Sans JP" pitchFamily="34" charset="-120"/>
              </a:rPr>
              <a:t>。一般的なカフェが「休憩」を主目的とするのに対し、高い生産性を求める層が集まります。</a:t>
            </a:r>
            <a:endParaRPr lang="en-US" sz="1150" dirty="0"/>
          </a:p>
        </p:txBody>
      </p:sp>
      <p:graphicFrame>
        <p:nvGraphicFramePr>
          <p:cNvPr id="18" name="Chart 1" descr=""/>
          <p:cNvGraphicFramePr/>
          <p:nvPr/>
        </p:nvGraphicFramePr>
        <p:xfrm>
          <a:off x="6516472" y="2926080"/>
          <a:ext cx="4734306" cy="3054096"/>
        </p:xfrm>
        <a:graphic xmlns:a="http://schemas.openxmlformats.org/drawingml/2006/main">
          <a:graphicData uri="http://schemas.openxmlformats.org/drawingml/2006/chart">
            <c:chart xmlns:c="http://schemas.openxmlformats.org/drawingml/2006/chart" r:id="rId5"/>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CF5"/>
        </a:solidFill>
      </p:bgPr>
    </p:bg>
    <p:spTree>
      <p:nvGrpSpPr>
        <p:cNvPr id="1" name=""/>
        <p:cNvGrpSpPr/>
        <p:nvPr/>
      </p:nvGrpSpPr>
      <p:grpSpPr>
        <a:xfrm>
          <a:off x="0" y="0"/>
          <a:ext cx="0" cy="0"/>
          <a:chOff x="0" y="0"/>
          <a:chExt cx="0" cy="0"/>
        </a:xfrm>
      </p:grpSpPr>
      <p:sp>
        <p:nvSpPr>
          <p:cNvPr id="2" name="Text 0"/>
          <p:cNvSpPr/>
          <p:nvPr/>
        </p:nvSpPr>
        <p:spPr>
          <a:xfrm>
            <a:off x="666598" y="506578"/>
            <a:ext cx="8503920" cy="384048"/>
          </a:xfrm>
          <a:prstGeom prst="rect">
            <a:avLst/>
          </a:prstGeom>
          <a:noFill/>
          <a:ln/>
        </p:spPr>
        <p:txBody>
          <a:bodyPr wrap="square" lIns="0" tIns="0" rIns="0" bIns="0" rtlCol="0" anchor="ctr"/>
          <a:lstStyle/>
          <a:p>
            <a:pPr algn="l" indent="0" marL="0">
              <a:buNone/>
            </a:pPr>
            <a:r>
              <a:rPr lang="en-US" sz="3000" dirty="0">
                <a:solidFill>
                  <a:srgbClr val="1B5E20"/>
                </a:solidFill>
                <a:latin typeface="Noto Sans JP" pitchFamily="34" charset="0"/>
                <a:ea typeface="Noto Sans JP" pitchFamily="34" charset="-122"/>
                <a:cs typeface="Noto Sans JP" pitchFamily="34" charset="-120"/>
              </a:rPr>
              <a:t>店舗毎の利用状況 ①</a:t>
            </a:r>
            <a:endParaRPr lang="en-US" sz="3000" dirty="0"/>
          </a:p>
        </p:txBody>
      </p:sp>
      <p:sp>
        <p:nvSpPr>
          <p:cNvPr id="3" name="Shape 1"/>
          <p:cNvSpPr/>
          <p:nvPr/>
        </p:nvSpPr>
        <p:spPr>
          <a:xfrm>
            <a:off x="666598" y="1114654"/>
            <a:ext cx="10858500" cy="19202"/>
          </a:xfrm>
          <a:prstGeom prst="rect">
            <a:avLst/>
          </a:prstGeom>
          <a:solidFill>
            <a:srgbClr val="8D6E63"/>
          </a:solidFill>
          <a:ln/>
        </p:spPr>
      </p:sp>
      <p:pic>
        <p:nvPicPr>
          <p:cNvPr id="4" name="Image 0" descr="/home/user/suzuki-ceo/selfcafe-fc-deck/assets/logo_gray.png">    </p:cNvPr>
          <p:cNvPicPr>
            <a:picLocks noChangeAspect="1"/>
          </p:cNvPicPr>
          <p:nvPr/>
        </p:nvPicPr>
        <p:blipFill>
          <a:blip r:embed="rId1"/>
          <a:stretch>
            <a:fillRect/>
          </a:stretch>
        </p:blipFill>
        <p:spPr>
          <a:xfrm>
            <a:off x="9415577" y="802843"/>
            <a:ext cx="2024482" cy="288036"/>
          </a:xfrm>
          <a:prstGeom prst="rect">
            <a:avLst/>
          </a:prstGeom>
        </p:spPr>
      </p:pic>
      <p:sp>
        <p:nvSpPr>
          <p:cNvPr id="5" name="Text 2"/>
          <p:cNvSpPr/>
          <p:nvPr/>
        </p:nvSpPr>
        <p:spPr>
          <a:xfrm>
            <a:off x="10610698" y="6345936"/>
            <a:ext cx="914400" cy="219456"/>
          </a:xfrm>
          <a:prstGeom prst="rect">
            <a:avLst/>
          </a:prstGeom>
          <a:noFill/>
          <a:ln/>
        </p:spPr>
        <p:txBody>
          <a:bodyPr wrap="square" lIns="0" tIns="0" rIns="0" bIns="0" rtlCol="0" anchor="ctr"/>
          <a:lstStyle/>
          <a:p>
            <a:pPr algn="r" indent="0" marL="0">
              <a:buNone/>
            </a:pPr>
            <a:r>
              <a:rPr lang="en-US" sz="1300" dirty="0">
                <a:solidFill>
                  <a:srgbClr val="000000"/>
                </a:solidFill>
                <a:latin typeface="Cambria" pitchFamily="34" charset="0"/>
                <a:ea typeface="Cambria" pitchFamily="34" charset="-122"/>
                <a:cs typeface="Cambria" pitchFamily="34" charset="-120"/>
              </a:rPr>
              <a:t>13</a:t>
            </a:r>
            <a:endParaRPr lang="en-US" sz="1300" dirty="0"/>
          </a:p>
        </p:txBody>
      </p:sp>
      <p:sp>
        <p:nvSpPr>
          <p:cNvPr id="6" name="Text 3"/>
          <p:cNvSpPr/>
          <p:nvPr/>
        </p:nvSpPr>
        <p:spPr>
          <a:xfrm>
            <a:off x="666598" y="1243584"/>
            <a:ext cx="10858500" cy="256032"/>
          </a:xfrm>
          <a:prstGeom prst="rect">
            <a:avLst/>
          </a:prstGeom>
          <a:noFill/>
          <a:ln/>
        </p:spPr>
        <p:txBody>
          <a:bodyPr wrap="square" lIns="0" tIns="0" rIns="0" bIns="0" rtlCol="0" anchor="ctr"/>
          <a:lstStyle/>
          <a:p>
            <a:pPr indent="0" marL="0">
              <a:buNone/>
            </a:pPr>
            <a:r>
              <a:rPr lang="en-US" sz="1150" b="1" dirty="0">
                <a:solidFill>
                  <a:srgbClr val="5D4037"/>
                </a:solidFill>
                <a:latin typeface="Noto Sans JP" pitchFamily="34" charset="0"/>
                <a:ea typeface="Noto Sans JP" pitchFamily="34" charset="-122"/>
                <a:cs typeface="Noto Sans JP" pitchFamily="34" charset="-120"/>
              </a:rPr>
              <a:t>店内カメラで見た実際の様子。平日日中でも席が埋まる店舗が多数あります。</a:t>
            </a:r>
            <a:endParaRPr lang="en-US" sz="1150" dirty="0"/>
          </a:p>
        </p:txBody>
      </p:sp>
      <p:pic>
        <p:nvPicPr>
          <p:cNvPr id="7" name="Image 1" descr="/home/user/suzuki-ceo/selfcafe-fc-deck/assets/photos/store-sasashima.jpg">    </p:cNvPr>
          <p:cNvPicPr>
            <a:picLocks noChangeAspect="1"/>
          </p:cNvPicPr>
          <p:nvPr/>
        </p:nvPicPr>
        <p:blipFill>
          <a:blip r:embed="rId2"/>
          <a:srcRect l="0" r="0" t="0" b="0"/>
          <a:stretch/>
        </p:blipFill>
        <p:spPr>
          <a:xfrm>
            <a:off x="666598" y="1664208"/>
            <a:ext cx="3461004" cy="2194560"/>
          </a:xfrm>
          <a:prstGeom prst="rect">
            <a:avLst/>
          </a:prstGeom>
        </p:spPr>
      </p:pic>
      <p:sp>
        <p:nvSpPr>
          <p:cNvPr id="8" name="Shape 4"/>
          <p:cNvSpPr/>
          <p:nvPr/>
        </p:nvSpPr>
        <p:spPr>
          <a:xfrm>
            <a:off x="666598" y="1664208"/>
            <a:ext cx="3461004" cy="2194560"/>
          </a:xfrm>
          <a:prstGeom prst="rect">
            <a:avLst/>
          </a:prstGeom>
          <a:ln w="12700">
            <a:solidFill>
              <a:srgbClr val="D8CFBB"/>
            </a:solidFill>
            <a:prstDash val="solid"/>
          </a:ln>
        </p:spPr>
      </p:sp>
      <p:sp>
        <p:nvSpPr>
          <p:cNvPr id="9" name="Shape 5"/>
          <p:cNvSpPr/>
          <p:nvPr/>
        </p:nvSpPr>
        <p:spPr>
          <a:xfrm>
            <a:off x="776326" y="3419856"/>
            <a:ext cx="2654300" cy="329184"/>
          </a:xfrm>
          <a:prstGeom prst="roundRect">
            <a:avLst>
              <a:gd name="adj" fmla="val 13889"/>
            </a:avLst>
          </a:prstGeom>
          <a:solidFill>
            <a:srgbClr val="FFFFFF">
              <a:alpha val="90000"/>
            </a:srgbClr>
          </a:solidFill>
          <a:ln/>
        </p:spPr>
      </p:sp>
      <p:sp>
        <p:nvSpPr>
          <p:cNvPr id="10" name="Text 6"/>
          <p:cNvSpPr/>
          <p:nvPr/>
        </p:nvSpPr>
        <p:spPr>
          <a:xfrm>
            <a:off x="922630" y="3419856"/>
            <a:ext cx="2398268" cy="329184"/>
          </a:xfrm>
          <a:prstGeom prst="rect">
            <a:avLst/>
          </a:prstGeom>
          <a:noFill/>
          <a:ln/>
        </p:spPr>
        <p:txBody>
          <a:bodyPr wrap="square" lIns="0" tIns="0" rIns="0" bIns="0" rtlCol="0" anchor="ctr"/>
          <a:lstStyle/>
          <a:p>
            <a:pPr indent="0" marL="0">
              <a:buNone/>
            </a:pPr>
            <a:r>
              <a:rPr lang="en-US" sz="1000" b="1" dirty="0">
                <a:solidFill>
                  <a:srgbClr val="3B3833"/>
                </a:solidFill>
                <a:latin typeface="Noto Sans JP" pitchFamily="34" charset="0"/>
                <a:ea typeface="Noto Sans JP" pitchFamily="34" charset="-122"/>
                <a:cs typeface="Noto Sans JP" pitchFamily="34" charset="-120"/>
              </a:rPr>
              <a:t>ささしまライブ店（愛知県名古屋市）</a:t>
            </a:r>
            <a:endParaRPr lang="en-US" sz="1000" dirty="0"/>
          </a:p>
        </p:txBody>
      </p:sp>
      <p:pic>
        <p:nvPicPr>
          <p:cNvPr id="11" name="Image 2" descr="/home/user/suzuki-ceo/selfcafe-fc-deck/assets/photos/store-aratama.jpg">    </p:cNvPr>
          <p:cNvPicPr>
            <a:picLocks noChangeAspect="1"/>
          </p:cNvPicPr>
          <p:nvPr/>
        </p:nvPicPr>
        <p:blipFill>
          <a:blip r:embed="rId3"/>
          <a:srcRect l="0" r="0" t="0" b="0"/>
          <a:stretch/>
        </p:blipFill>
        <p:spPr>
          <a:xfrm>
            <a:off x="4365346" y="1664208"/>
            <a:ext cx="3461004" cy="2194560"/>
          </a:xfrm>
          <a:prstGeom prst="rect">
            <a:avLst/>
          </a:prstGeom>
        </p:spPr>
      </p:pic>
      <p:sp>
        <p:nvSpPr>
          <p:cNvPr id="12" name="Shape 7"/>
          <p:cNvSpPr/>
          <p:nvPr/>
        </p:nvSpPr>
        <p:spPr>
          <a:xfrm>
            <a:off x="4365346" y="1664208"/>
            <a:ext cx="3461004" cy="2194560"/>
          </a:xfrm>
          <a:prstGeom prst="rect">
            <a:avLst/>
          </a:prstGeom>
          <a:ln w="12700">
            <a:solidFill>
              <a:srgbClr val="D8CFBB"/>
            </a:solidFill>
            <a:prstDash val="solid"/>
          </a:ln>
        </p:spPr>
      </p:sp>
      <p:sp>
        <p:nvSpPr>
          <p:cNvPr id="13" name="Shape 8"/>
          <p:cNvSpPr/>
          <p:nvPr/>
        </p:nvSpPr>
        <p:spPr>
          <a:xfrm>
            <a:off x="4475074" y="3419856"/>
            <a:ext cx="2115820" cy="329184"/>
          </a:xfrm>
          <a:prstGeom prst="roundRect">
            <a:avLst>
              <a:gd name="adj" fmla="val 13889"/>
            </a:avLst>
          </a:prstGeom>
          <a:solidFill>
            <a:srgbClr val="FFFFFF">
              <a:alpha val="90000"/>
            </a:srgbClr>
          </a:solidFill>
          <a:ln/>
        </p:spPr>
      </p:sp>
      <p:sp>
        <p:nvSpPr>
          <p:cNvPr id="14" name="Text 9"/>
          <p:cNvSpPr/>
          <p:nvPr/>
        </p:nvSpPr>
        <p:spPr>
          <a:xfrm>
            <a:off x="4621378" y="3419856"/>
            <a:ext cx="1859788" cy="329184"/>
          </a:xfrm>
          <a:prstGeom prst="rect">
            <a:avLst/>
          </a:prstGeom>
          <a:noFill/>
          <a:ln/>
        </p:spPr>
        <p:txBody>
          <a:bodyPr wrap="square" lIns="0" tIns="0" rIns="0" bIns="0" rtlCol="0" anchor="ctr"/>
          <a:lstStyle/>
          <a:p>
            <a:pPr indent="0" marL="0">
              <a:buNone/>
            </a:pPr>
            <a:r>
              <a:rPr lang="en-US" sz="1000" b="1" dirty="0">
                <a:solidFill>
                  <a:srgbClr val="3B3833"/>
                </a:solidFill>
                <a:latin typeface="Noto Sans JP" pitchFamily="34" charset="0"/>
                <a:ea typeface="Noto Sans JP" pitchFamily="34" charset="-122"/>
                <a:cs typeface="Noto Sans JP" pitchFamily="34" charset="-120"/>
              </a:rPr>
              <a:t>新瑞橋店（愛知県名古屋市）</a:t>
            </a:r>
            <a:endParaRPr lang="en-US" sz="1000" dirty="0"/>
          </a:p>
        </p:txBody>
      </p:sp>
      <p:pic>
        <p:nvPicPr>
          <p:cNvPr id="15" name="Image 3" descr="/home/user/suzuki-ceo/selfcafe-fc-deck/assets/photos/store-meieki.jpg">    </p:cNvPr>
          <p:cNvPicPr>
            <a:picLocks noChangeAspect="1"/>
          </p:cNvPicPr>
          <p:nvPr/>
        </p:nvPicPr>
        <p:blipFill>
          <a:blip r:embed="rId4"/>
          <a:srcRect l="0" r="0" t="0" b="0"/>
          <a:stretch/>
        </p:blipFill>
        <p:spPr>
          <a:xfrm>
            <a:off x="8064094" y="1664208"/>
            <a:ext cx="3461004" cy="2194560"/>
          </a:xfrm>
          <a:prstGeom prst="rect">
            <a:avLst/>
          </a:prstGeom>
        </p:spPr>
      </p:pic>
      <p:sp>
        <p:nvSpPr>
          <p:cNvPr id="16" name="Shape 10"/>
          <p:cNvSpPr/>
          <p:nvPr/>
        </p:nvSpPr>
        <p:spPr>
          <a:xfrm>
            <a:off x="8064094" y="1664208"/>
            <a:ext cx="3461004" cy="2194560"/>
          </a:xfrm>
          <a:prstGeom prst="rect">
            <a:avLst/>
          </a:prstGeom>
          <a:ln w="12700">
            <a:solidFill>
              <a:srgbClr val="D8CFBB"/>
            </a:solidFill>
            <a:prstDash val="solid"/>
          </a:ln>
        </p:spPr>
      </p:sp>
      <p:sp>
        <p:nvSpPr>
          <p:cNvPr id="17" name="Shape 11"/>
          <p:cNvSpPr/>
          <p:nvPr/>
        </p:nvSpPr>
        <p:spPr>
          <a:xfrm>
            <a:off x="8173822" y="3419856"/>
            <a:ext cx="2250440" cy="329184"/>
          </a:xfrm>
          <a:prstGeom prst="roundRect">
            <a:avLst>
              <a:gd name="adj" fmla="val 13889"/>
            </a:avLst>
          </a:prstGeom>
          <a:solidFill>
            <a:srgbClr val="FFFFFF">
              <a:alpha val="90000"/>
            </a:srgbClr>
          </a:solidFill>
          <a:ln/>
        </p:spPr>
      </p:sp>
      <p:sp>
        <p:nvSpPr>
          <p:cNvPr id="18" name="Text 12"/>
          <p:cNvSpPr/>
          <p:nvPr/>
        </p:nvSpPr>
        <p:spPr>
          <a:xfrm>
            <a:off x="8320126" y="3419856"/>
            <a:ext cx="1994408" cy="329184"/>
          </a:xfrm>
          <a:prstGeom prst="rect">
            <a:avLst/>
          </a:prstGeom>
          <a:noFill/>
          <a:ln/>
        </p:spPr>
        <p:txBody>
          <a:bodyPr wrap="square" lIns="0" tIns="0" rIns="0" bIns="0" rtlCol="0" anchor="ctr"/>
          <a:lstStyle/>
          <a:p>
            <a:pPr indent="0" marL="0">
              <a:buNone/>
            </a:pPr>
            <a:r>
              <a:rPr lang="en-US" sz="1000" b="1" dirty="0">
                <a:solidFill>
                  <a:srgbClr val="3B3833"/>
                </a:solidFill>
                <a:latin typeface="Noto Sans JP" pitchFamily="34" charset="0"/>
                <a:ea typeface="Noto Sans JP" pitchFamily="34" charset="-122"/>
                <a:cs typeface="Noto Sans JP" pitchFamily="34" charset="-120"/>
              </a:rPr>
              <a:t>名駅西口店（愛知県名古屋市）</a:t>
            </a:r>
            <a:endParaRPr lang="en-US" sz="1000" dirty="0"/>
          </a:p>
        </p:txBody>
      </p:sp>
      <p:pic>
        <p:nvPicPr>
          <p:cNvPr id="19" name="Image 4" descr="/home/user/suzuki-ceo/selfcafe-fc-deck/assets/photos/store-inzai.jpg">    </p:cNvPr>
          <p:cNvPicPr>
            <a:picLocks noChangeAspect="1"/>
          </p:cNvPicPr>
          <p:nvPr/>
        </p:nvPicPr>
        <p:blipFill>
          <a:blip r:embed="rId5"/>
          <a:srcRect l="0" r="0" t="0" b="0"/>
          <a:stretch/>
        </p:blipFill>
        <p:spPr>
          <a:xfrm>
            <a:off x="666598" y="4078224"/>
            <a:ext cx="3461004" cy="2194560"/>
          </a:xfrm>
          <a:prstGeom prst="rect">
            <a:avLst/>
          </a:prstGeom>
        </p:spPr>
      </p:pic>
      <p:sp>
        <p:nvSpPr>
          <p:cNvPr id="20" name="Shape 13"/>
          <p:cNvSpPr/>
          <p:nvPr/>
        </p:nvSpPr>
        <p:spPr>
          <a:xfrm>
            <a:off x="666598" y="4078224"/>
            <a:ext cx="3461004" cy="2194560"/>
          </a:xfrm>
          <a:prstGeom prst="rect">
            <a:avLst/>
          </a:prstGeom>
          <a:ln w="12700">
            <a:solidFill>
              <a:srgbClr val="D8CFBB"/>
            </a:solidFill>
            <a:prstDash val="solid"/>
          </a:ln>
        </p:spPr>
      </p:sp>
      <p:sp>
        <p:nvSpPr>
          <p:cNvPr id="21" name="Shape 14"/>
          <p:cNvSpPr/>
          <p:nvPr/>
        </p:nvSpPr>
        <p:spPr>
          <a:xfrm>
            <a:off x="776326" y="5833872"/>
            <a:ext cx="2250440" cy="329184"/>
          </a:xfrm>
          <a:prstGeom prst="roundRect">
            <a:avLst>
              <a:gd name="adj" fmla="val 13889"/>
            </a:avLst>
          </a:prstGeom>
          <a:solidFill>
            <a:srgbClr val="FFFFFF">
              <a:alpha val="90000"/>
            </a:srgbClr>
          </a:solidFill>
          <a:ln/>
        </p:spPr>
      </p:sp>
      <p:sp>
        <p:nvSpPr>
          <p:cNvPr id="22" name="Text 15"/>
          <p:cNvSpPr/>
          <p:nvPr/>
        </p:nvSpPr>
        <p:spPr>
          <a:xfrm>
            <a:off x="922630" y="5833872"/>
            <a:ext cx="1994408" cy="329184"/>
          </a:xfrm>
          <a:prstGeom prst="rect">
            <a:avLst/>
          </a:prstGeom>
          <a:noFill/>
          <a:ln/>
        </p:spPr>
        <p:txBody>
          <a:bodyPr wrap="square" lIns="0" tIns="0" rIns="0" bIns="0" rtlCol="0" anchor="ctr"/>
          <a:lstStyle/>
          <a:p>
            <a:pPr indent="0" marL="0">
              <a:buNone/>
            </a:pPr>
            <a:r>
              <a:rPr lang="en-US" sz="1000" b="1" dirty="0">
                <a:solidFill>
                  <a:srgbClr val="3B3833"/>
                </a:solidFill>
                <a:latin typeface="Noto Sans JP" pitchFamily="34" charset="0"/>
                <a:ea typeface="Noto Sans JP" pitchFamily="34" charset="-122"/>
                <a:cs typeface="Noto Sans JP" pitchFamily="34" charset="-120"/>
              </a:rPr>
              <a:t>印西牧の原店（千葉県印西市）</a:t>
            </a:r>
            <a:endParaRPr lang="en-US" sz="1000" dirty="0"/>
          </a:p>
        </p:txBody>
      </p:sp>
      <p:pic>
        <p:nvPicPr>
          <p:cNvPr id="23" name="Image 5" descr="/home/user/suzuki-ceo/selfcafe-fc-deck/assets/photos/store-sakae.jpg">    </p:cNvPr>
          <p:cNvPicPr>
            <a:picLocks noChangeAspect="1"/>
          </p:cNvPicPr>
          <p:nvPr/>
        </p:nvPicPr>
        <p:blipFill>
          <a:blip r:embed="rId6"/>
          <a:srcRect l="0" r="0" t="0" b="0"/>
          <a:stretch/>
        </p:blipFill>
        <p:spPr>
          <a:xfrm>
            <a:off x="4365346" y="4078224"/>
            <a:ext cx="3461004" cy="2194560"/>
          </a:xfrm>
          <a:prstGeom prst="rect">
            <a:avLst/>
          </a:prstGeom>
        </p:spPr>
      </p:pic>
      <p:sp>
        <p:nvSpPr>
          <p:cNvPr id="24" name="Shape 16"/>
          <p:cNvSpPr/>
          <p:nvPr/>
        </p:nvSpPr>
        <p:spPr>
          <a:xfrm>
            <a:off x="4365346" y="4078224"/>
            <a:ext cx="3461004" cy="2194560"/>
          </a:xfrm>
          <a:prstGeom prst="rect">
            <a:avLst/>
          </a:prstGeom>
          <a:ln w="12700">
            <a:solidFill>
              <a:srgbClr val="D8CFBB"/>
            </a:solidFill>
            <a:prstDash val="solid"/>
          </a:ln>
        </p:spPr>
      </p:sp>
      <p:sp>
        <p:nvSpPr>
          <p:cNvPr id="25" name="Shape 17"/>
          <p:cNvSpPr/>
          <p:nvPr/>
        </p:nvSpPr>
        <p:spPr>
          <a:xfrm>
            <a:off x="4475074" y="5833872"/>
            <a:ext cx="1846580" cy="329184"/>
          </a:xfrm>
          <a:prstGeom prst="roundRect">
            <a:avLst>
              <a:gd name="adj" fmla="val 13889"/>
            </a:avLst>
          </a:prstGeom>
          <a:solidFill>
            <a:srgbClr val="FFFFFF">
              <a:alpha val="90000"/>
            </a:srgbClr>
          </a:solidFill>
          <a:ln/>
        </p:spPr>
      </p:sp>
      <p:sp>
        <p:nvSpPr>
          <p:cNvPr id="26" name="Text 18"/>
          <p:cNvSpPr/>
          <p:nvPr/>
        </p:nvSpPr>
        <p:spPr>
          <a:xfrm>
            <a:off x="4621378" y="5833872"/>
            <a:ext cx="1590548" cy="329184"/>
          </a:xfrm>
          <a:prstGeom prst="rect">
            <a:avLst/>
          </a:prstGeom>
          <a:noFill/>
          <a:ln/>
        </p:spPr>
        <p:txBody>
          <a:bodyPr wrap="square" lIns="0" tIns="0" rIns="0" bIns="0" rtlCol="0" anchor="ctr"/>
          <a:lstStyle/>
          <a:p>
            <a:pPr indent="0" marL="0">
              <a:buNone/>
            </a:pPr>
            <a:r>
              <a:rPr lang="en-US" sz="1000" b="1" dirty="0">
                <a:solidFill>
                  <a:srgbClr val="3B3833"/>
                </a:solidFill>
                <a:latin typeface="Noto Sans JP" pitchFamily="34" charset="0"/>
                <a:ea typeface="Noto Sans JP" pitchFamily="34" charset="-122"/>
                <a:cs typeface="Noto Sans JP" pitchFamily="34" charset="-120"/>
              </a:rPr>
              <a:t>栄店（愛知県名古屋市）</a:t>
            </a:r>
            <a:endParaRPr lang="en-US" sz="1000" dirty="0"/>
          </a:p>
        </p:txBody>
      </p:sp>
      <p:pic>
        <p:nvPicPr>
          <p:cNvPr id="27" name="Image 6" descr="/home/user/suzuki-ceo/selfcafe-fc-deck/assets/photos/store-gokiso.jpg">    </p:cNvPr>
          <p:cNvPicPr>
            <a:picLocks noChangeAspect="1"/>
          </p:cNvPicPr>
          <p:nvPr/>
        </p:nvPicPr>
        <p:blipFill>
          <a:blip r:embed="rId7"/>
          <a:srcRect l="0" r="0" t="0" b="0"/>
          <a:stretch/>
        </p:blipFill>
        <p:spPr>
          <a:xfrm>
            <a:off x="8064094" y="4078224"/>
            <a:ext cx="3461004" cy="2194560"/>
          </a:xfrm>
          <a:prstGeom prst="rect">
            <a:avLst/>
          </a:prstGeom>
        </p:spPr>
      </p:pic>
      <p:sp>
        <p:nvSpPr>
          <p:cNvPr id="28" name="Shape 19"/>
          <p:cNvSpPr/>
          <p:nvPr/>
        </p:nvSpPr>
        <p:spPr>
          <a:xfrm>
            <a:off x="8064094" y="4078224"/>
            <a:ext cx="3461004" cy="2194560"/>
          </a:xfrm>
          <a:prstGeom prst="rect">
            <a:avLst/>
          </a:prstGeom>
          <a:ln w="12700">
            <a:solidFill>
              <a:srgbClr val="D8CFBB"/>
            </a:solidFill>
            <a:prstDash val="solid"/>
          </a:ln>
        </p:spPr>
      </p:sp>
      <p:sp>
        <p:nvSpPr>
          <p:cNvPr id="29" name="Shape 20"/>
          <p:cNvSpPr/>
          <p:nvPr/>
        </p:nvSpPr>
        <p:spPr>
          <a:xfrm>
            <a:off x="8173822" y="5833872"/>
            <a:ext cx="2115820" cy="329184"/>
          </a:xfrm>
          <a:prstGeom prst="roundRect">
            <a:avLst>
              <a:gd name="adj" fmla="val 13889"/>
            </a:avLst>
          </a:prstGeom>
          <a:solidFill>
            <a:srgbClr val="FFFFFF">
              <a:alpha val="90000"/>
            </a:srgbClr>
          </a:solidFill>
          <a:ln/>
        </p:spPr>
      </p:sp>
      <p:sp>
        <p:nvSpPr>
          <p:cNvPr id="30" name="Text 21"/>
          <p:cNvSpPr/>
          <p:nvPr/>
        </p:nvSpPr>
        <p:spPr>
          <a:xfrm>
            <a:off x="8320126" y="5833872"/>
            <a:ext cx="1859788" cy="329184"/>
          </a:xfrm>
          <a:prstGeom prst="rect">
            <a:avLst/>
          </a:prstGeom>
          <a:noFill/>
          <a:ln/>
        </p:spPr>
        <p:txBody>
          <a:bodyPr wrap="square" lIns="0" tIns="0" rIns="0" bIns="0" rtlCol="0" anchor="ctr"/>
          <a:lstStyle/>
          <a:p>
            <a:pPr indent="0" marL="0">
              <a:buNone/>
            </a:pPr>
            <a:r>
              <a:rPr lang="en-US" sz="1000" b="1" dirty="0">
                <a:solidFill>
                  <a:srgbClr val="3B3833"/>
                </a:solidFill>
                <a:latin typeface="Noto Sans JP" pitchFamily="34" charset="0"/>
                <a:ea typeface="Noto Sans JP" pitchFamily="34" charset="-122"/>
                <a:cs typeface="Noto Sans JP" pitchFamily="34" charset="-120"/>
              </a:rPr>
              <a:t>御器所店（愛知県名古屋市）</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CF5"/>
        </a:solidFill>
      </p:bgPr>
    </p:bg>
    <p:spTree>
      <p:nvGrpSpPr>
        <p:cNvPr id="1" name=""/>
        <p:cNvGrpSpPr/>
        <p:nvPr/>
      </p:nvGrpSpPr>
      <p:grpSpPr>
        <a:xfrm>
          <a:off x="0" y="0"/>
          <a:ext cx="0" cy="0"/>
          <a:chOff x="0" y="0"/>
          <a:chExt cx="0" cy="0"/>
        </a:xfrm>
      </p:grpSpPr>
      <p:sp>
        <p:nvSpPr>
          <p:cNvPr id="2" name="Text 0"/>
          <p:cNvSpPr/>
          <p:nvPr/>
        </p:nvSpPr>
        <p:spPr>
          <a:xfrm>
            <a:off x="666598" y="506578"/>
            <a:ext cx="8503920" cy="384048"/>
          </a:xfrm>
          <a:prstGeom prst="rect">
            <a:avLst/>
          </a:prstGeom>
          <a:noFill/>
          <a:ln/>
        </p:spPr>
        <p:txBody>
          <a:bodyPr wrap="square" lIns="0" tIns="0" rIns="0" bIns="0" rtlCol="0" anchor="ctr"/>
          <a:lstStyle/>
          <a:p>
            <a:pPr algn="l" indent="0" marL="0">
              <a:buNone/>
            </a:pPr>
            <a:r>
              <a:rPr lang="en-US" sz="3000" dirty="0">
                <a:solidFill>
                  <a:srgbClr val="1B5E20"/>
                </a:solidFill>
                <a:latin typeface="Noto Sans JP" pitchFamily="34" charset="0"/>
                <a:ea typeface="Noto Sans JP" pitchFamily="34" charset="-122"/>
                <a:cs typeface="Noto Sans JP" pitchFamily="34" charset="-120"/>
              </a:rPr>
              <a:t>店舗毎の利用状況 ②</a:t>
            </a:r>
            <a:endParaRPr lang="en-US" sz="3000" dirty="0"/>
          </a:p>
        </p:txBody>
      </p:sp>
      <p:sp>
        <p:nvSpPr>
          <p:cNvPr id="3" name="Shape 1"/>
          <p:cNvSpPr/>
          <p:nvPr/>
        </p:nvSpPr>
        <p:spPr>
          <a:xfrm>
            <a:off x="666598" y="1114654"/>
            <a:ext cx="10858500" cy="19202"/>
          </a:xfrm>
          <a:prstGeom prst="rect">
            <a:avLst/>
          </a:prstGeom>
          <a:solidFill>
            <a:srgbClr val="8D6E63"/>
          </a:solidFill>
          <a:ln/>
        </p:spPr>
      </p:sp>
      <p:pic>
        <p:nvPicPr>
          <p:cNvPr id="4" name="Image 0" descr="/home/user/suzuki-ceo/selfcafe-fc-deck/assets/logo_gray.png">    </p:cNvPr>
          <p:cNvPicPr>
            <a:picLocks noChangeAspect="1"/>
          </p:cNvPicPr>
          <p:nvPr/>
        </p:nvPicPr>
        <p:blipFill>
          <a:blip r:embed="rId1"/>
          <a:stretch>
            <a:fillRect/>
          </a:stretch>
        </p:blipFill>
        <p:spPr>
          <a:xfrm>
            <a:off x="9415577" y="802843"/>
            <a:ext cx="2024482" cy="288036"/>
          </a:xfrm>
          <a:prstGeom prst="rect">
            <a:avLst/>
          </a:prstGeom>
        </p:spPr>
      </p:pic>
      <p:sp>
        <p:nvSpPr>
          <p:cNvPr id="5" name="Text 2"/>
          <p:cNvSpPr/>
          <p:nvPr/>
        </p:nvSpPr>
        <p:spPr>
          <a:xfrm>
            <a:off x="10610698" y="6345936"/>
            <a:ext cx="914400" cy="219456"/>
          </a:xfrm>
          <a:prstGeom prst="rect">
            <a:avLst/>
          </a:prstGeom>
          <a:noFill/>
          <a:ln/>
        </p:spPr>
        <p:txBody>
          <a:bodyPr wrap="square" lIns="0" tIns="0" rIns="0" bIns="0" rtlCol="0" anchor="ctr"/>
          <a:lstStyle/>
          <a:p>
            <a:pPr algn="r" indent="0" marL="0">
              <a:buNone/>
            </a:pPr>
            <a:r>
              <a:rPr lang="en-US" sz="1300" dirty="0">
                <a:solidFill>
                  <a:srgbClr val="000000"/>
                </a:solidFill>
                <a:latin typeface="Cambria" pitchFamily="34" charset="0"/>
                <a:ea typeface="Cambria" pitchFamily="34" charset="-122"/>
                <a:cs typeface="Cambria" pitchFamily="34" charset="-120"/>
              </a:rPr>
              <a:t>14</a:t>
            </a:r>
            <a:endParaRPr lang="en-US" sz="1300" dirty="0"/>
          </a:p>
        </p:txBody>
      </p:sp>
      <p:sp>
        <p:nvSpPr>
          <p:cNvPr id="6" name="Text 3"/>
          <p:cNvSpPr/>
          <p:nvPr/>
        </p:nvSpPr>
        <p:spPr>
          <a:xfrm>
            <a:off x="666598" y="1243584"/>
            <a:ext cx="10858500" cy="256032"/>
          </a:xfrm>
          <a:prstGeom prst="rect">
            <a:avLst/>
          </a:prstGeom>
          <a:noFill/>
          <a:ln/>
        </p:spPr>
        <p:txBody>
          <a:bodyPr wrap="square" lIns="0" tIns="0" rIns="0" bIns="0" rtlCol="0" anchor="ctr"/>
          <a:lstStyle/>
          <a:p>
            <a:pPr indent="0" marL="0">
              <a:buNone/>
            </a:pPr>
            <a:r>
              <a:rPr lang="en-US" sz="1150" b="1" dirty="0">
                <a:solidFill>
                  <a:srgbClr val="5D4037"/>
                </a:solidFill>
                <a:latin typeface="Noto Sans JP" pitchFamily="34" charset="0"/>
                <a:ea typeface="Noto Sans JP" pitchFamily="34" charset="-122"/>
                <a:cs typeface="Noto Sans JP" pitchFamily="34" charset="-120"/>
              </a:rPr>
              <a:t>店内カメラで見た実際の様子。平日日中でも席が埋まる店舗が多数あります。</a:t>
            </a:r>
            <a:endParaRPr lang="en-US" sz="1150" dirty="0"/>
          </a:p>
        </p:txBody>
      </p:sp>
      <p:pic>
        <p:nvPicPr>
          <p:cNvPr id="7" name="Image 1" descr="/home/user/suzuki-ceo/selfcafe-fc-deck/assets/photos/store-morioka.jpg">    </p:cNvPr>
          <p:cNvPicPr>
            <a:picLocks noChangeAspect="1"/>
          </p:cNvPicPr>
          <p:nvPr/>
        </p:nvPicPr>
        <p:blipFill>
          <a:blip r:embed="rId2"/>
          <a:srcRect l="0" r="0" t="0" b="0"/>
          <a:stretch/>
        </p:blipFill>
        <p:spPr>
          <a:xfrm>
            <a:off x="666598" y="1664208"/>
            <a:ext cx="3461004" cy="2194560"/>
          </a:xfrm>
          <a:prstGeom prst="rect">
            <a:avLst/>
          </a:prstGeom>
        </p:spPr>
      </p:pic>
      <p:sp>
        <p:nvSpPr>
          <p:cNvPr id="8" name="Shape 4"/>
          <p:cNvSpPr/>
          <p:nvPr/>
        </p:nvSpPr>
        <p:spPr>
          <a:xfrm>
            <a:off x="666598" y="1664208"/>
            <a:ext cx="3461004" cy="2194560"/>
          </a:xfrm>
          <a:prstGeom prst="rect">
            <a:avLst/>
          </a:prstGeom>
          <a:ln w="12700">
            <a:solidFill>
              <a:srgbClr val="D8CFBB"/>
            </a:solidFill>
            <a:prstDash val="solid"/>
          </a:ln>
        </p:spPr>
      </p:sp>
      <p:sp>
        <p:nvSpPr>
          <p:cNvPr id="9" name="Shape 5"/>
          <p:cNvSpPr/>
          <p:nvPr/>
        </p:nvSpPr>
        <p:spPr>
          <a:xfrm>
            <a:off x="776326" y="3419856"/>
            <a:ext cx="2115820" cy="329184"/>
          </a:xfrm>
          <a:prstGeom prst="roundRect">
            <a:avLst>
              <a:gd name="adj" fmla="val 13889"/>
            </a:avLst>
          </a:prstGeom>
          <a:solidFill>
            <a:srgbClr val="FFFFFF">
              <a:alpha val="90000"/>
            </a:srgbClr>
          </a:solidFill>
          <a:ln/>
        </p:spPr>
      </p:sp>
      <p:sp>
        <p:nvSpPr>
          <p:cNvPr id="10" name="Text 6"/>
          <p:cNvSpPr/>
          <p:nvPr/>
        </p:nvSpPr>
        <p:spPr>
          <a:xfrm>
            <a:off x="922630" y="3419856"/>
            <a:ext cx="1859788" cy="329184"/>
          </a:xfrm>
          <a:prstGeom prst="rect">
            <a:avLst/>
          </a:prstGeom>
          <a:noFill/>
          <a:ln/>
        </p:spPr>
        <p:txBody>
          <a:bodyPr wrap="square" lIns="0" tIns="0" rIns="0" bIns="0" rtlCol="0" anchor="ctr"/>
          <a:lstStyle/>
          <a:p>
            <a:pPr indent="0" marL="0">
              <a:buNone/>
            </a:pPr>
            <a:r>
              <a:rPr lang="en-US" sz="1000" b="1" dirty="0">
                <a:solidFill>
                  <a:srgbClr val="3B3833"/>
                </a:solidFill>
                <a:latin typeface="Noto Sans JP" pitchFamily="34" charset="0"/>
                <a:ea typeface="Noto Sans JP" pitchFamily="34" charset="-122"/>
                <a:cs typeface="Noto Sans JP" pitchFamily="34" charset="-120"/>
              </a:rPr>
              <a:t>盛岡駅前店（岩手県盛岡市）</a:t>
            </a:r>
            <a:endParaRPr lang="en-US" sz="1000" dirty="0"/>
          </a:p>
        </p:txBody>
      </p:sp>
      <p:pic>
        <p:nvPicPr>
          <p:cNvPr id="11" name="Image 2" descr="/home/user/suzuki-ceo/selfcafe-fc-deck/assets/photos/store-tenma.jpg">    </p:cNvPr>
          <p:cNvPicPr>
            <a:picLocks noChangeAspect="1"/>
          </p:cNvPicPr>
          <p:nvPr/>
        </p:nvPicPr>
        <p:blipFill>
          <a:blip r:embed="rId3"/>
          <a:srcRect l="0" r="0" t="0" b="0"/>
          <a:stretch/>
        </p:blipFill>
        <p:spPr>
          <a:xfrm>
            <a:off x="4365346" y="1664208"/>
            <a:ext cx="3461004" cy="2194560"/>
          </a:xfrm>
          <a:prstGeom prst="rect">
            <a:avLst/>
          </a:prstGeom>
        </p:spPr>
      </p:pic>
      <p:sp>
        <p:nvSpPr>
          <p:cNvPr id="12" name="Shape 7"/>
          <p:cNvSpPr/>
          <p:nvPr/>
        </p:nvSpPr>
        <p:spPr>
          <a:xfrm>
            <a:off x="4365346" y="1664208"/>
            <a:ext cx="3461004" cy="2194560"/>
          </a:xfrm>
          <a:prstGeom prst="rect">
            <a:avLst/>
          </a:prstGeom>
          <a:ln w="12700">
            <a:solidFill>
              <a:srgbClr val="D8CFBB"/>
            </a:solidFill>
            <a:prstDash val="solid"/>
          </a:ln>
        </p:spPr>
      </p:sp>
      <p:sp>
        <p:nvSpPr>
          <p:cNvPr id="13" name="Shape 8"/>
          <p:cNvSpPr/>
          <p:nvPr/>
        </p:nvSpPr>
        <p:spPr>
          <a:xfrm>
            <a:off x="4475074" y="3419856"/>
            <a:ext cx="1846580" cy="329184"/>
          </a:xfrm>
          <a:prstGeom prst="roundRect">
            <a:avLst>
              <a:gd name="adj" fmla="val 13889"/>
            </a:avLst>
          </a:prstGeom>
          <a:solidFill>
            <a:srgbClr val="FFFFFF">
              <a:alpha val="90000"/>
            </a:srgbClr>
          </a:solidFill>
          <a:ln/>
        </p:spPr>
      </p:sp>
      <p:sp>
        <p:nvSpPr>
          <p:cNvPr id="14" name="Text 9"/>
          <p:cNvSpPr/>
          <p:nvPr/>
        </p:nvSpPr>
        <p:spPr>
          <a:xfrm>
            <a:off x="4621378" y="3419856"/>
            <a:ext cx="1590548" cy="329184"/>
          </a:xfrm>
          <a:prstGeom prst="rect">
            <a:avLst/>
          </a:prstGeom>
          <a:noFill/>
          <a:ln/>
        </p:spPr>
        <p:txBody>
          <a:bodyPr wrap="square" lIns="0" tIns="0" rIns="0" bIns="0" rtlCol="0" anchor="ctr"/>
          <a:lstStyle/>
          <a:p>
            <a:pPr indent="0" marL="0">
              <a:buNone/>
            </a:pPr>
            <a:r>
              <a:rPr lang="en-US" sz="1000" b="1" dirty="0">
                <a:solidFill>
                  <a:srgbClr val="3B3833"/>
                </a:solidFill>
                <a:latin typeface="Noto Sans JP" pitchFamily="34" charset="0"/>
                <a:ea typeface="Noto Sans JP" pitchFamily="34" charset="-122"/>
                <a:cs typeface="Noto Sans JP" pitchFamily="34" charset="-120"/>
              </a:rPr>
              <a:t>天満店（大阪府大阪市）</a:t>
            </a:r>
            <a:endParaRPr lang="en-US" sz="1000" dirty="0"/>
          </a:p>
        </p:txBody>
      </p:sp>
      <p:pic>
        <p:nvPicPr>
          <p:cNvPr id="15" name="Image 3" descr="/home/user/suzuki-ceo/selfcafe-fc-deck/assets/photos/store-hamamatsu.jpg">    </p:cNvPr>
          <p:cNvPicPr>
            <a:picLocks noChangeAspect="1"/>
          </p:cNvPicPr>
          <p:nvPr/>
        </p:nvPicPr>
        <p:blipFill>
          <a:blip r:embed="rId4"/>
          <a:srcRect l="0" r="0" t="0" b="0"/>
          <a:stretch/>
        </p:blipFill>
        <p:spPr>
          <a:xfrm>
            <a:off x="8064094" y="1664208"/>
            <a:ext cx="3461004" cy="2194560"/>
          </a:xfrm>
          <a:prstGeom prst="rect">
            <a:avLst/>
          </a:prstGeom>
        </p:spPr>
      </p:pic>
      <p:sp>
        <p:nvSpPr>
          <p:cNvPr id="16" name="Shape 10"/>
          <p:cNvSpPr/>
          <p:nvPr/>
        </p:nvSpPr>
        <p:spPr>
          <a:xfrm>
            <a:off x="8064094" y="1664208"/>
            <a:ext cx="3461004" cy="2194560"/>
          </a:xfrm>
          <a:prstGeom prst="rect">
            <a:avLst/>
          </a:prstGeom>
          <a:ln w="12700">
            <a:solidFill>
              <a:srgbClr val="D8CFBB"/>
            </a:solidFill>
            <a:prstDash val="solid"/>
          </a:ln>
        </p:spPr>
      </p:sp>
      <p:sp>
        <p:nvSpPr>
          <p:cNvPr id="17" name="Shape 11"/>
          <p:cNvSpPr/>
          <p:nvPr/>
        </p:nvSpPr>
        <p:spPr>
          <a:xfrm>
            <a:off x="8173822" y="3419856"/>
            <a:ext cx="2115820" cy="329184"/>
          </a:xfrm>
          <a:prstGeom prst="roundRect">
            <a:avLst>
              <a:gd name="adj" fmla="val 13889"/>
            </a:avLst>
          </a:prstGeom>
          <a:solidFill>
            <a:srgbClr val="FFFFFF">
              <a:alpha val="90000"/>
            </a:srgbClr>
          </a:solidFill>
          <a:ln/>
        </p:spPr>
      </p:sp>
      <p:sp>
        <p:nvSpPr>
          <p:cNvPr id="18" name="Text 12"/>
          <p:cNvSpPr/>
          <p:nvPr/>
        </p:nvSpPr>
        <p:spPr>
          <a:xfrm>
            <a:off x="8320126" y="3419856"/>
            <a:ext cx="1859788" cy="329184"/>
          </a:xfrm>
          <a:prstGeom prst="rect">
            <a:avLst/>
          </a:prstGeom>
          <a:noFill/>
          <a:ln/>
        </p:spPr>
        <p:txBody>
          <a:bodyPr wrap="square" lIns="0" tIns="0" rIns="0" bIns="0" rtlCol="0" anchor="ctr"/>
          <a:lstStyle/>
          <a:p>
            <a:pPr indent="0" marL="0">
              <a:buNone/>
            </a:pPr>
            <a:r>
              <a:rPr lang="en-US" sz="1000" b="1" dirty="0">
                <a:solidFill>
                  <a:srgbClr val="3B3833"/>
                </a:solidFill>
                <a:latin typeface="Noto Sans JP" pitchFamily="34" charset="0"/>
                <a:ea typeface="Noto Sans JP" pitchFamily="34" charset="-122"/>
                <a:cs typeface="Noto Sans JP" pitchFamily="34" charset="-120"/>
              </a:rPr>
              <a:t>浜松新橋店（静岡県浜松市）</a:t>
            </a:r>
            <a:endParaRPr lang="en-US" sz="1000" dirty="0"/>
          </a:p>
        </p:txBody>
      </p:sp>
      <p:pic>
        <p:nvPicPr>
          <p:cNvPr id="19" name="Image 4" descr="/home/user/suzuki-ceo/selfcafe-fc-deck/assets/photos/store-tanimachi.jpg">    </p:cNvPr>
          <p:cNvPicPr>
            <a:picLocks noChangeAspect="1"/>
          </p:cNvPicPr>
          <p:nvPr/>
        </p:nvPicPr>
        <p:blipFill>
          <a:blip r:embed="rId5"/>
          <a:srcRect l="0" r="0" t="0" b="0"/>
          <a:stretch/>
        </p:blipFill>
        <p:spPr>
          <a:xfrm>
            <a:off x="666598" y="4078224"/>
            <a:ext cx="3461004" cy="2194560"/>
          </a:xfrm>
          <a:prstGeom prst="rect">
            <a:avLst/>
          </a:prstGeom>
        </p:spPr>
      </p:pic>
      <p:sp>
        <p:nvSpPr>
          <p:cNvPr id="20" name="Shape 13"/>
          <p:cNvSpPr/>
          <p:nvPr/>
        </p:nvSpPr>
        <p:spPr>
          <a:xfrm>
            <a:off x="666598" y="4078224"/>
            <a:ext cx="3461004" cy="2194560"/>
          </a:xfrm>
          <a:prstGeom prst="rect">
            <a:avLst/>
          </a:prstGeom>
          <a:ln w="12700">
            <a:solidFill>
              <a:srgbClr val="D8CFBB"/>
            </a:solidFill>
            <a:prstDash val="solid"/>
          </a:ln>
        </p:spPr>
      </p:sp>
      <p:sp>
        <p:nvSpPr>
          <p:cNvPr id="21" name="Shape 14"/>
          <p:cNvSpPr/>
          <p:nvPr/>
        </p:nvSpPr>
        <p:spPr>
          <a:xfrm>
            <a:off x="776326" y="5833872"/>
            <a:ext cx="2250440" cy="329184"/>
          </a:xfrm>
          <a:prstGeom prst="roundRect">
            <a:avLst>
              <a:gd name="adj" fmla="val 13889"/>
            </a:avLst>
          </a:prstGeom>
          <a:solidFill>
            <a:srgbClr val="FFFFFF">
              <a:alpha val="90000"/>
            </a:srgbClr>
          </a:solidFill>
          <a:ln/>
        </p:spPr>
      </p:sp>
      <p:sp>
        <p:nvSpPr>
          <p:cNvPr id="22" name="Text 15"/>
          <p:cNvSpPr/>
          <p:nvPr/>
        </p:nvSpPr>
        <p:spPr>
          <a:xfrm>
            <a:off x="922630" y="5833872"/>
            <a:ext cx="1994408" cy="329184"/>
          </a:xfrm>
          <a:prstGeom prst="rect">
            <a:avLst/>
          </a:prstGeom>
          <a:noFill/>
          <a:ln/>
        </p:spPr>
        <p:txBody>
          <a:bodyPr wrap="square" lIns="0" tIns="0" rIns="0" bIns="0" rtlCol="0" anchor="ctr"/>
          <a:lstStyle/>
          <a:p>
            <a:pPr indent="0" marL="0">
              <a:buNone/>
            </a:pPr>
            <a:r>
              <a:rPr lang="en-US" sz="1000" b="1" dirty="0">
                <a:solidFill>
                  <a:srgbClr val="3B3833"/>
                </a:solidFill>
                <a:latin typeface="Noto Sans JP" pitchFamily="34" charset="0"/>
                <a:ea typeface="Noto Sans JP" pitchFamily="34" charset="-122"/>
                <a:cs typeface="Noto Sans JP" pitchFamily="34" charset="-120"/>
              </a:rPr>
              <a:t>谷町九丁目店（大阪府大阪市）</a:t>
            </a:r>
            <a:endParaRPr lang="en-US" sz="1000" dirty="0"/>
          </a:p>
        </p:txBody>
      </p:sp>
      <p:pic>
        <p:nvPicPr>
          <p:cNvPr id="23" name="Image 5" descr="/home/user/suzuki-ceo/selfcafe-fc-deck/assets/photos/store-aikawa.jpg">    </p:cNvPr>
          <p:cNvPicPr>
            <a:picLocks noChangeAspect="1"/>
          </p:cNvPicPr>
          <p:nvPr/>
        </p:nvPicPr>
        <p:blipFill>
          <a:blip r:embed="rId6"/>
          <a:srcRect l="0" r="0" t="0" b="0"/>
          <a:stretch/>
        </p:blipFill>
        <p:spPr>
          <a:xfrm>
            <a:off x="4365346" y="4078224"/>
            <a:ext cx="3461004" cy="2194560"/>
          </a:xfrm>
          <a:prstGeom prst="rect">
            <a:avLst/>
          </a:prstGeom>
        </p:spPr>
      </p:pic>
      <p:sp>
        <p:nvSpPr>
          <p:cNvPr id="24" name="Shape 16"/>
          <p:cNvSpPr/>
          <p:nvPr/>
        </p:nvSpPr>
        <p:spPr>
          <a:xfrm>
            <a:off x="4365346" y="4078224"/>
            <a:ext cx="3461004" cy="2194560"/>
          </a:xfrm>
          <a:prstGeom prst="rect">
            <a:avLst/>
          </a:prstGeom>
          <a:ln w="12700">
            <a:solidFill>
              <a:srgbClr val="D8CFBB"/>
            </a:solidFill>
            <a:prstDash val="solid"/>
          </a:ln>
        </p:spPr>
      </p:sp>
      <p:sp>
        <p:nvSpPr>
          <p:cNvPr id="25" name="Shape 17"/>
          <p:cNvSpPr/>
          <p:nvPr/>
        </p:nvSpPr>
        <p:spPr>
          <a:xfrm>
            <a:off x="4475074" y="5833872"/>
            <a:ext cx="2115820" cy="329184"/>
          </a:xfrm>
          <a:prstGeom prst="roundRect">
            <a:avLst>
              <a:gd name="adj" fmla="val 13889"/>
            </a:avLst>
          </a:prstGeom>
          <a:solidFill>
            <a:srgbClr val="FFFFFF">
              <a:alpha val="90000"/>
            </a:srgbClr>
          </a:solidFill>
          <a:ln/>
        </p:spPr>
      </p:sp>
      <p:sp>
        <p:nvSpPr>
          <p:cNvPr id="26" name="Text 18"/>
          <p:cNvSpPr/>
          <p:nvPr/>
        </p:nvSpPr>
        <p:spPr>
          <a:xfrm>
            <a:off x="4621378" y="5833872"/>
            <a:ext cx="1859788" cy="329184"/>
          </a:xfrm>
          <a:prstGeom prst="rect">
            <a:avLst/>
          </a:prstGeom>
          <a:noFill/>
          <a:ln/>
        </p:spPr>
        <p:txBody>
          <a:bodyPr wrap="square" lIns="0" tIns="0" rIns="0" bIns="0" rtlCol="0" anchor="ctr"/>
          <a:lstStyle/>
          <a:p>
            <a:pPr indent="0" marL="0">
              <a:buNone/>
            </a:pPr>
            <a:r>
              <a:rPr lang="en-US" sz="1000" b="1" dirty="0">
                <a:solidFill>
                  <a:srgbClr val="3B3833"/>
                </a:solidFill>
                <a:latin typeface="Noto Sans JP" pitchFamily="34" charset="0"/>
                <a:ea typeface="Noto Sans JP" pitchFamily="34" charset="-122"/>
                <a:cs typeface="Noto Sans JP" pitchFamily="34" charset="-120"/>
              </a:rPr>
              <a:t>相川駅前店（大阪府大阪市）</a:t>
            </a:r>
            <a:endParaRPr lang="en-US" sz="1000" dirty="0"/>
          </a:p>
        </p:txBody>
      </p:sp>
      <p:pic>
        <p:nvPicPr>
          <p:cNvPr id="27" name="Image 6" descr="/home/user/suzuki-ceo/selfcafe-fc-deck/assets/photos/store-abeno.jpg">    </p:cNvPr>
          <p:cNvPicPr>
            <a:picLocks noChangeAspect="1"/>
          </p:cNvPicPr>
          <p:nvPr/>
        </p:nvPicPr>
        <p:blipFill>
          <a:blip r:embed="rId7"/>
          <a:srcRect l="0" r="0" t="0" b="0"/>
          <a:stretch/>
        </p:blipFill>
        <p:spPr>
          <a:xfrm>
            <a:off x="8064094" y="4078224"/>
            <a:ext cx="3461004" cy="2194560"/>
          </a:xfrm>
          <a:prstGeom prst="rect">
            <a:avLst/>
          </a:prstGeom>
        </p:spPr>
      </p:pic>
      <p:sp>
        <p:nvSpPr>
          <p:cNvPr id="28" name="Shape 19"/>
          <p:cNvSpPr/>
          <p:nvPr/>
        </p:nvSpPr>
        <p:spPr>
          <a:xfrm>
            <a:off x="8064094" y="4078224"/>
            <a:ext cx="3461004" cy="2194560"/>
          </a:xfrm>
          <a:prstGeom prst="rect">
            <a:avLst/>
          </a:prstGeom>
          <a:ln w="12700">
            <a:solidFill>
              <a:srgbClr val="D8CFBB"/>
            </a:solidFill>
            <a:prstDash val="solid"/>
          </a:ln>
        </p:spPr>
      </p:sp>
      <p:sp>
        <p:nvSpPr>
          <p:cNvPr id="29" name="Shape 20"/>
          <p:cNvSpPr/>
          <p:nvPr/>
        </p:nvSpPr>
        <p:spPr>
          <a:xfrm>
            <a:off x="8173822" y="5833872"/>
            <a:ext cx="2115820" cy="329184"/>
          </a:xfrm>
          <a:prstGeom prst="roundRect">
            <a:avLst>
              <a:gd name="adj" fmla="val 13889"/>
            </a:avLst>
          </a:prstGeom>
          <a:solidFill>
            <a:srgbClr val="FFFFFF">
              <a:alpha val="90000"/>
            </a:srgbClr>
          </a:solidFill>
          <a:ln/>
        </p:spPr>
      </p:sp>
      <p:sp>
        <p:nvSpPr>
          <p:cNvPr id="30" name="Text 21"/>
          <p:cNvSpPr/>
          <p:nvPr/>
        </p:nvSpPr>
        <p:spPr>
          <a:xfrm>
            <a:off x="8320126" y="5833872"/>
            <a:ext cx="1859788" cy="329184"/>
          </a:xfrm>
          <a:prstGeom prst="rect">
            <a:avLst/>
          </a:prstGeom>
          <a:noFill/>
          <a:ln/>
        </p:spPr>
        <p:txBody>
          <a:bodyPr wrap="square" lIns="0" tIns="0" rIns="0" bIns="0" rtlCol="0" anchor="ctr"/>
          <a:lstStyle/>
          <a:p>
            <a:pPr indent="0" marL="0">
              <a:buNone/>
            </a:pPr>
            <a:r>
              <a:rPr lang="en-US" sz="1000" b="1" dirty="0">
                <a:solidFill>
                  <a:srgbClr val="3B3833"/>
                </a:solidFill>
                <a:latin typeface="Noto Sans JP" pitchFamily="34" charset="0"/>
                <a:ea typeface="Noto Sans JP" pitchFamily="34" charset="-122"/>
                <a:cs typeface="Noto Sans JP" pitchFamily="34" charset="-120"/>
              </a:rPr>
              <a:t>あべの南店（大阪府大阪市）</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CF5"/>
        </a:solidFill>
      </p:bgPr>
    </p:bg>
    <p:spTree>
      <p:nvGrpSpPr>
        <p:cNvPr id="1" name=""/>
        <p:cNvGrpSpPr/>
        <p:nvPr/>
      </p:nvGrpSpPr>
      <p:grpSpPr>
        <a:xfrm>
          <a:off x="0" y="0"/>
          <a:ext cx="0" cy="0"/>
          <a:chOff x="0" y="0"/>
          <a:chExt cx="0" cy="0"/>
        </a:xfrm>
      </p:grpSpPr>
      <p:sp>
        <p:nvSpPr>
          <p:cNvPr id="2" name="Text 0"/>
          <p:cNvSpPr/>
          <p:nvPr/>
        </p:nvSpPr>
        <p:spPr>
          <a:xfrm>
            <a:off x="666598" y="506578"/>
            <a:ext cx="8503920" cy="384048"/>
          </a:xfrm>
          <a:prstGeom prst="rect">
            <a:avLst/>
          </a:prstGeom>
          <a:noFill/>
          <a:ln/>
        </p:spPr>
        <p:txBody>
          <a:bodyPr wrap="square" lIns="0" tIns="0" rIns="0" bIns="0" rtlCol="0" anchor="ctr"/>
          <a:lstStyle/>
          <a:p>
            <a:pPr algn="l" indent="0" marL="0">
              <a:buNone/>
            </a:pPr>
            <a:r>
              <a:rPr lang="en-US" sz="3000" dirty="0">
                <a:solidFill>
                  <a:srgbClr val="1B5E20"/>
                </a:solidFill>
                <a:latin typeface="Noto Sans JP" pitchFamily="34" charset="0"/>
                <a:ea typeface="Noto Sans JP" pitchFamily="34" charset="-122"/>
                <a:cs typeface="Noto Sans JP" pitchFamily="34" charset="-120"/>
              </a:rPr>
              <a:t>比較表：いいところ取りのビジネスモデル</a:t>
            </a:r>
            <a:endParaRPr lang="en-US" sz="3000" dirty="0"/>
          </a:p>
        </p:txBody>
      </p:sp>
      <p:sp>
        <p:nvSpPr>
          <p:cNvPr id="3" name="Shape 1"/>
          <p:cNvSpPr/>
          <p:nvPr/>
        </p:nvSpPr>
        <p:spPr>
          <a:xfrm>
            <a:off x="666598" y="1114654"/>
            <a:ext cx="10858500" cy="19202"/>
          </a:xfrm>
          <a:prstGeom prst="rect">
            <a:avLst/>
          </a:prstGeom>
          <a:solidFill>
            <a:srgbClr val="8D6E63"/>
          </a:solidFill>
          <a:ln/>
        </p:spPr>
      </p:sp>
      <p:pic>
        <p:nvPicPr>
          <p:cNvPr id="4" name="Image 0" descr="/home/user/suzuki-ceo/selfcafe-fc-deck/assets/logo_gray.png">    </p:cNvPr>
          <p:cNvPicPr>
            <a:picLocks noChangeAspect="1"/>
          </p:cNvPicPr>
          <p:nvPr/>
        </p:nvPicPr>
        <p:blipFill>
          <a:blip r:embed="rId1"/>
          <a:stretch>
            <a:fillRect/>
          </a:stretch>
        </p:blipFill>
        <p:spPr>
          <a:xfrm>
            <a:off x="9415577" y="802843"/>
            <a:ext cx="2024482" cy="288036"/>
          </a:xfrm>
          <a:prstGeom prst="rect">
            <a:avLst/>
          </a:prstGeom>
        </p:spPr>
      </p:pic>
      <p:sp>
        <p:nvSpPr>
          <p:cNvPr id="5" name="Text 2"/>
          <p:cNvSpPr/>
          <p:nvPr/>
        </p:nvSpPr>
        <p:spPr>
          <a:xfrm>
            <a:off x="10610698" y="6345936"/>
            <a:ext cx="914400" cy="219456"/>
          </a:xfrm>
          <a:prstGeom prst="rect">
            <a:avLst/>
          </a:prstGeom>
          <a:noFill/>
          <a:ln/>
        </p:spPr>
        <p:txBody>
          <a:bodyPr wrap="square" lIns="0" tIns="0" rIns="0" bIns="0" rtlCol="0" anchor="ctr"/>
          <a:lstStyle/>
          <a:p>
            <a:pPr algn="r" indent="0" marL="0">
              <a:buNone/>
            </a:pPr>
            <a:r>
              <a:rPr lang="en-US" sz="1300" dirty="0">
                <a:solidFill>
                  <a:srgbClr val="000000"/>
                </a:solidFill>
                <a:latin typeface="Cambria" pitchFamily="34" charset="0"/>
                <a:ea typeface="Cambria" pitchFamily="34" charset="-122"/>
                <a:cs typeface="Cambria" pitchFamily="34" charset="-120"/>
              </a:rPr>
              <a:t>15</a:t>
            </a:r>
            <a:endParaRPr lang="en-US" sz="1300" dirty="0"/>
          </a:p>
        </p:txBody>
      </p:sp>
      <p:sp>
        <p:nvSpPr>
          <p:cNvPr id="6" name="Text 3"/>
          <p:cNvSpPr/>
          <p:nvPr/>
        </p:nvSpPr>
        <p:spPr>
          <a:xfrm>
            <a:off x="666598" y="1243584"/>
            <a:ext cx="10858500" cy="256032"/>
          </a:xfrm>
          <a:prstGeom prst="rect">
            <a:avLst/>
          </a:prstGeom>
          <a:noFill/>
          <a:ln/>
        </p:spPr>
        <p:txBody>
          <a:bodyPr wrap="square" lIns="0" tIns="0" rIns="0" bIns="0" rtlCol="0" anchor="ctr"/>
          <a:lstStyle/>
          <a:p>
            <a:pPr indent="0" marL="0">
              <a:buNone/>
            </a:pPr>
            <a:r>
              <a:rPr lang="en-US" sz="1150" b="1" dirty="0">
                <a:solidFill>
                  <a:srgbClr val="5D4037"/>
                </a:solidFill>
                <a:latin typeface="Noto Sans JP" pitchFamily="34" charset="0"/>
                <a:ea typeface="Noto Sans JP" pitchFamily="34" charset="-122"/>
                <a:cs typeface="Noto Sans JP" pitchFamily="34" charset="-120"/>
              </a:rPr>
              <a:t>カフェの「気軽さ」とオフィスの「機能」を融合させた唯一無二のポジション</a:t>
            </a:r>
            <a:endParaRPr lang="en-US" sz="1150" dirty="0"/>
          </a:p>
        </p:txBody>
      </p:sp>
      <p:sp>
        <p:nvSpPr>
          <p:cNvPr id="7" name="Shape 4"/>
          <p:cNvSpPr/>
          <p:nvPr/>
        </p:nvSpPr>
        <p:spPr>
          <a:xfrm>
            <a:off x="2797150" y="1554480"/>
            <a:ext cx="3282696" cy="4151376"/>
          </a:xfrm>
          <a:prstGeom prst="roundRect">
            <a:avLst>
              <a:gd name="adj" fmla="val 1950"/>
            </a:avLst>
          </a:prstGeom>
          <a:solidFill>
            <a:srgbClr val="F0F5EF"/>
          </a:solidFill>
          <a:ln/>
        </p:spPr>
      </p:sp>
      <p:pic>
        <p:nvPicPr>
          <p:cNvPr id="8" name="Image 1" descr="/home/user/suzuki-ceo/selfcafe-fc-deck/assets/icons/LuBadgeCheck-green.png">    </p:cNvPr>
          <p:cNvPicPr>
            <a:picLocks noChangeAspect="1"/>
          </p:cNvPicPr>
          <p:nvPr/>
        </p:nvPicPr>
        <p:blipFill>
          <a:blip r:embed="rId2"/>
          <a:stretch>
            <a:fillRect/>
          </a:stretch>
        </p:blipFill>
        <p:spPr>
          <a:xfrm>
            <a:off x="2961742" y="1572768"/>
            <a:ext cx="219456" cy="219456"/>
          </a:xfrm>
          <a:prstGeom prst="rect">
            <a:avLst/>
          </a:prstGeom>
        </p:spPr>
      </p:pic>
      <p:sp>
        <p:nvSpPr>
          <p:cNvPr id="9" name="Text 5"/>
          <p:cNvSpPr/>
          <p:nvPr/>
        </p:nvSpPr>
        <p:spPr>
          <a:xfrm>
            <a:off x="3236062" y="1554480"/>
            <a:ext cx="2697480" cy="256032"/>
          </a:xfrm>
          <a:prstGeom prst="rect">
            <a:avLst/>
          </a:prstGeom>
          <a:noFill/>
          <a:ln/>
        </p:spPr>
        <p:txBody>
          <a:bodyPr wrap="square" lIns="0" tIns="0" rIns="0" bIns="0" rtlCol="0" anchor="ctr"/>
          <a:lstStyle/>
          <a:p>
            <a:pPr indent="0" marL="0">
              <a:buNone/>
            </a:pPr>
            <a:r>
              <a:rPr lang="en-US" sz="1050" b="1" dirty="0">
                <a:solidFill>
                  <a:srgbClr val="2E7D32"/>
                </a:solidFill>
                <a:latin typeface="Noto Sans JP" pitchFamily="34" charset="0"/>
                <a:ea typeface="Noto Sans JP" pitchFamily="34" charset="-122"/>
                <a:cs typeface="Noto Sans JP" pitchFamily="34" charset="-120"/>
              </a:rPr>
              <a:t>いいところ取りのポジション</a:t>
            </a:r>
            <a:endParaRPr lang="en-US" sz="10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66598" y="1847088"/>
          <a:ext cx="10858500" cy="914400"/>
        </p:xfrm>
        <a:graphic>
          <a:graphicData uri="http://schemas.openxmlformats.org/drawingml/2006/table">
            <a:tbl>
              <a:tblPr/>
              <a:tblGrid>
                <a:gridCol w="2148840"/>
                <a:gridCol w="3246120"/>
                <a:gridCol w="2724912"/>
                <a:gridCol w="2715768"/>
              </a:tblGrid>
              <a:tr h="475488">
                <a:tc>
                  <a:txBody>
                    <a:bodyPr/>
                    <a:lstStyle/>
                    <a:p>
                      <a:pPr algn="l" indent="0" marL="0">
                        <a:buNone/>
                      </a:pPr>
                      <a:r>
                        <a:rPr lang="en-US" sz="1200" b="1" dirty="0">
                          <a:solidFill>
                            <a:srgbClr val="5D4037"/>
                          </a:solidFill>
                          <a:latin typeface="Noto Sans JP" pitchFamily="34" charset="0"/>
                          <a:ea typeface="Noto Sans JP" pitchFamily="34" charset="-122"/>
                          <a:cs typeface="Noto Sans JP" pitchFamily="34" charset="-120"/>
                        </a:rPr>
                        <a:t>比較項目</a:t>
                      </a:r>
                      <a:endParaRPr lang="en-US" sz="1200" dirty="0">
                        <a:latin typeface="Noto Sans JP" charset="0"/>
                        <a:ea typeface="Noto Sans JP" charset="0"/>
                        <a:cs typeface="Noto Sans JP" charset="0"/>
                      </a:endParaRPr>
                    </a:p>
                  </a:txBody>
                  <a:tcPr marL="128016" marR="128016" marT="54864" marB="54864"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E9DEC4"/>
                    </a:solidFill>
                  </a:tcPr>
                </a:tc>
                <a:tc>
                  <a:txBody>
                    <a:bodyPr/>
                    <a:lstStyle/>
                    <a:p>
                      <a:pPr algn="l" indent="0" marL="0">
                        <a:buNone/>
                      </a:pPr>
                      <a:r>
                        <a:rPr lang="en-US" sz="1200" b="1" dirty="0">
                          <a:solidFill>
                            <a:srgbClr val="FFFFFF"/>
                          </a:solidFill>
                          <a:latin typeface="Noto Sans JP" pitchFamily="34" charset="0"/>
                          <a:ea typeface="Noto Sans JP" pitchFamily="34" charset="-122"/>
                          <a:cs typeface="Noto Sans JP" pitchFamily="34" charset="-120"/>
                        </a:rPr>
                        <a:t>セルフカフェ</a:t>
                      </a:r>
                      <a:endParaRPr lang="en-US" sz="1200" dirty="0">
                        <a:latin typeface="Noto Sans JP" charset="0"/>
                        <a:ea typeface="Noto Sans JP" charset="0"/>
                        <a:cs typeface="Noto Sans JP" charset="0"/>
                      </a:endParaRPr>
                    </a:p>
                  </a:txBody>
                  <a:tcPr marL="128016" marR="128016" marT="54864" marB="54864"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1B5E20"/>
                    </a:solidFill>
                  </a:tcPr>
                </a:tc>
                <a:tc>
                  <a:txBody>
                    <a:bodyPr/>
                    <a:lstStyle/>
                    <a:p>
                      <a:pPr algn="l" indent="0" marL="0">
                        <a:buNone/>
                      </a:pPr>
                      <a:r>
                        <a:rPr lang="en-US" sz="1200" b="1" dirty="0">
                          <a:solidFill>
                            <a:srgbClr val="FFFFFF"/>
                          </a:solidFill>
                          <a:latin typeface="Noto Sans JP" pitchFamily="34" charset="0"/>
                          <a:ea typeface="Noto Sans JP" pitchFamily="34" charset="-122"/>
                          <a:cs typeface="Noto Sans JP" pitchFamily="34" charset="-120"/>
                        </a:rPr>
                        <a:t>コワーキング</a:t>
                      </a:r>
                      <a:endParaRPr lang="en-US" sz="1200" dirty="0">
                        <a:latin typeface="Noto Sans JP" charset="0"/>
                        <a:ea typeface="Noto Sans JP" charset="0"/>
                        <a:cs typeface="Noto Sans JP" charset="0"/>
                      </a:endParaRPr>
                    </a:p>
                  </a:txBody>
                  <a:tcPr marL="128016" marR="128016" marT="54864" marB="54864"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8A8272"/>
                    </a:solidFill>
                  </a:tcPr>
                </a:tc>
                <a:tc>
                  <a:txBody>
                    <a:bodyPr/>
                    <a:lstStyle/>
                    <a:p>
                      <a:pPr algn="l" indent="0" marL="0">
                        <a:buNone/>
                      </a:pPr>
                      <a:r>
                        <a:rPr lang="en-US" sz="1200" b="1" dirty="0">
                          <a:solidFill>
                            <a:srgbClr val="FFFFFF"/>
                          </a:solidFill>
                          <a:latin typeface="Noto Sans JP" pitchFamily="34" charset="0"/>
                          <a:ea typeface="Noto Sans JP" pitchFamily="34" charset="-122"/>
                          <a:cs typeface="Noto Sans JP" pitchFamily="34" charset="-120"/>
                        </a:rPr>
                        <a:t>シェアオフィス</a:t>
                      </a:r>
                      <a:endParaRPr lang="en-US" sz="1200" dirty="0">
                        <a:latin typeface="Noto Sans JP" charset="0"/>
                        <a:ea typeface="Noto Sans JP" charset="0"/>
                        <a:cs typeface="Noto Sans JP" charset="0"/>
                      </a:endParaRPr>
                    </a:p>
                  </a:txBody>
                  <a:tcPr marL="128016" marR="128016" marT="54864" marB="54864"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8A8272"/>
                    </a:solidFill>
                  </a:tcPr>
                </a:tc>
              </a:tr>
              <a:tr h="676656">
                <a:tc>
                  <a:txBody>
                    <a:bodyPr/>
                    <a:lstStyle/>
                    <a:p>
                      <a:pPr indent="0" marL="0">
                        <a:buNone/>
                      </a:pPr>
                      <a:r>
                        <a:rPr lang="en-US" sz="1150" b="1" dirty="0">
                          <a:solidFill>
                            <a:srgbClr val="5D4037"/>
                          </a:solidFill>
                          <a:latin typeface="Noto Sans JP" pitchFamily="34" charset="0"/>
                          <a:ea typeface="Noto Sans JP" pitchFamily="34" charset="-122"/>
                          <a:cs typeface="Noto Sans JP" pitchFamily="34" charset="-120"/>
                        </a:rPr>
                        <a:t>利用の手軽さ</a:t>
                      </a:r>
                      <a:endParaRPr lang="en-US" sz="1150" dirty="0">
                        <a:latin typeface="Noto Sans JP" charset="0"/>
                        <a:ea typeface="Noto Sans JP" charset="0"/>
                        <a:cs typeface="Noto Sans JP" charset="0"/>
                      </a:endParaRPr>
                    </a:p>
                  </a:txBody>
                  <a:tcPr marL="128016" marR="128016" marT="54864" marB="54864"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6F2E6"/>
                    </a:solidFill>
                  </a:tcPr>
                </a:tc>
                <a:tc>
                  <a:txBody>
                    <a:bodyPr/>
                    <a:lstStyle/>
                    <a:p>
                      <a:pPr indent="0" marL="0">
                        <a:buNone/>
                      </a:pPr>
                      <a:r>
                        <a:rPr lang="en-US" sz="1300" b="1" dirty="0">
                          <a:solidFill>
                            <a:srgbClr val="1B5E20"/>
                          </a:solidFill>
                          <a:latin typeface="Noto Sans JP" pitchFamily="34" charset="0"/>
                          <a:ea typeface="Noto Sans JP" pitchFamily="34" charset="-122"/>
                          <a:cs typeface="Noto Sans JP" pitchFamily="34" charset="-120"/>
                        </a:rPr>
                        <a:t>◎ </a:t>
                      </a:r>
                      <a:pPr indent="0" marL="0">
                        <a:buNone/>
                      </a:pPr>
                      <a:r>
                        <a:rPr lang="en-US" sz="1100" b="1" dirty="0">
                          <a:solidFill>
                            <a:srgbClr val="1B5E20"/>
                          </a:solidFill>
                          <a:latin typeface="Noto Sans JP" pitchFamily="34" charset="0"/>
                          <a:ea typeface="Noto Sans JP" pitchFamily="34" charset="-122"/>
                          <a:cs typeface="Noto Sans JP" pitchFamily="34" charset="-120"/>
                        </a:rPr>
                        <a:t>予約不要・1杯〜</a:t>
                      </a:r>
                      <a:endParaRPr lang="en-US" sz="1200" dirty="0">
                        <a:latin typeface="Noto Sans JP" charset="0"/>
                        <a:ea typeface="Noto Sans JP" charset="0"/>
                        <a:cs typeface="Noto Sans JP" charset="0"/>
                      </a:endParaRPr>
                    </a:p>
                  </a:txBody>
                  <a:tcPr marL="146304" marR="146304" marT="73152" marB="73152"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2F7F2"/>
                    </a:solidFill>
                  </a:tcPr>
                </a:tc>
                <a:tc>
                  <a:txBody>
                    <a:bodyPr/>
                    <a:lstStyle/>
                    <a:p>
                      <a:pPr indent="0" marL="0">
                        <a:buNone/>
                      </a:pPr>
                      <a:r>
                        <a:rPr lang="en-US" sz="1300" b="1" dirty="0">
                          <a:solidFill>
                            <a:srgbClr val="B8893B"/>
                          </a:solidFill>
                          <a:latin typeface="Noto Sans JP" pitchFamily="34" charset="0"/>
                          <a:ea typeface="Noto Sans JP" pitchFamily="34" charset="-122"/>
                          <a:cs typeface="Noto Sans JP" pitchFamily="34" charset="-120"/>
                        </a:rPr>
                        <a:t>△ </a:t>
                      </a:r>
                      <a:pPr indent="0" marL="0">
                        <a:buNone/>
                      </a:pPr>
                      <a:r>
                        <a:rPr lang="en-US" sz="1050" dirty="0">
                          <a:solidFill>
                            <a:srgbClr val="6E6A61"/>
                          </a:solidFill>
                          <a:latin typeface="Noto Sans JP" pitchFamily="34" charset="0"/>
                          <a:ea typeface="Noto Sans JP" pitchFamily="34" charset="-122"/>
                          <a:cs typeface="Noto Sans JP" pitchFamily="34" charset="-120"/>
                        </a:rPr>
                        <a:t>登録や予約が必要</a:t>
                      </a:r>
                      <a:endParaRPr lang="en-US" sz="1200" dirty="0">
                        <a:latin typeface="Noto Sans JP" charset="0"/>
                        <a:ea typeface="Noto Sans JP" charset="0"/>
                        <a:cs typeface="Noto Sans JP" charset="0"/>
                      </a:endParaRPr>
                    </a:p>
                  </a:txBody>
                  <a:tcPr marL="146304" marR="146304" marT="73152" marB="73152"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FFFFF"/>
                    </a:solidFill>
                  </a:tcPr>
                </a:tc>
                <a:tc>
                  <a:txBody>
                    <a:bodyPr/>
                    <a:lstStyle/>
                    <a:p>
                      <a:pPr indent="0" marL="0">
                        <a:buNone/>
                      </a:pPr>
                      <a:r>
                        <a:rPr lang="en-US" sz="1300" b="1" dirty="0">
                          <a:solidFill>
                            <a:srgbClr val="B0553F"/>
                          </a:solidFill>
                          <a:latin typeface="Noto Sans JP" pitchFamily="34" charset="0"/>
                          <a:ea typeface="Noto Sans JP" pitchFamily="34" charset="-122"/>
                          <a:cs typeface="Noto Sans JP" pitchFamily="34" charset="-120"/>
                        </a:rPr>
                        <a:t>× </a:t>
                      </a:r>
                      <a:pPr indent="0" marL="0">
                        <a:buNone/>
                      </a:pPr>
                      <a:r>
                        <a:rPr lang="en-US" sz="1050" dirty="0">
                          <a:solidFill>
                            <a:srgbClr val="6E6A61"/>
                          </a:solidFill>
                          <a:latin typeface="Noto Sans JP" pitchFamily="34" charset="0"/>
                          <a:ea typeface="Noto Sans JP" pitchFamily="34" charset="-122"/>
                          <a:cs typeface="Noto Sans JP" pitchFamily="34" charset="-120"/>
                        </a:rPr>
                        <a:t>法人契約がメイン</a:t>
                      </a:r>
                      <a:endParaRPr lang="en-US" sz="1200" dirty="0">
                        <a:latin typeface="Noto Sans JP" charset="0"/>
                        <a:ea typeface="Noto Sans JP" charset="0"/>
                        <a:cs typeface="Noto Sans JP" charset="0"/>
                      </a:endParaRPr>
                    </a:p>
                  </a:txBody>
                  <a:tcPr marL="146304" marR="146304" marT="73152" marB="73152"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FFFFF"/>
                    </a:solidFill>
                  </a:tcPr>
                </a:tc>
              </a:tr>
              <a:tr h="676656">
                <a:tc>
                  <a:txBody>
                    <a:bodyPr/>
                    <a:lstStyle/>
                    <a:p>
                      <a:pPr indent="0" marL="0">
                        <a:buNone/>
                      </a:pPr>
                      <a:r>
                        <a:rPr lang="en-US" sz="1150" b="1" dirty="0">
                          <a:solidFill>
                            <a:srgbClr val="5D4037"/>
                          </a:solidFill>
                          <a:latin typeface="Noto Sans JP" pitchFamily="34" charset="0"/>
                          <a:ea typeface="Noto Sans JP" pitchFamily="34" charset="-122"/>
                          <a:cs typeface="Noto Sans JP" pitchFamily="34" charset="-120"/>
                        </a:rPr>
                        <a:t>空間の雰囲気</a:t>
                      </a:r>
                      <a:endParaRPr lang="en-US" sz="1150" dirty="0">
                        <a:latin typeface="Noto Sans JP" charset="0"/>
                        <a:ea typeface="Noto Sans JP" charset="0"/>
                        <a:cs typeface="Noto Sans JP" charset="0"/>
                      </a:endParaRPr>
                    </a:p>
                  </a:txBody>
                  <a:tcPr marL="128016" marR="128016" marT="54864" marB="54864"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6F2E6"/>
                    </a:solidFill>
                  </a:tcPr>
                </a:tc>
                <a:tc>
                  <a:txBody>
                    <a:bodyPr/>
                    <a:lstStyle/>
                    <a:p>
                      <a:pPr indent="0" marL="0">
                        <a:buNone/>
                      </a:pPr>
                      <a:r>
                        <a:rPr lang="en-US" sz="1300" b="1" dirty="0">
                          <a:solidFill>
                            <a:srgbClr val="1B5E20"/>
                          </a:solidFill>
                          <a:latin typeface="Noto Sans JP" pitchFamily="34" charset="0"/>
                          <a:ea typeface="Noto Sans JP" pitchFamily="34" charset="-122"/>
                          <a:cs typeface="Noto Sans JP" pitchFamily="34" charset="-120"/>
                        </a:rPr>
                        <a:t>◎ </a:t>
                      </a:r>
                      <a:pPr indent="0" marL="0">
                        <a:buNone/>
                      </a:pPr>
                      <a:r>
                        <a:rPr lang="en-US" sz="1100" b="1" dirty="0">
                          <a:solidFill>
                            <a:srgbClr val="1B5E20"/>
                          </a:solidFill>
                          <a:latin typeface="Noto Sans JP" pitchFamily="34" charset="0"/>
                          <a:ea typeface="Noto Sans JP" pitchFamily="34" charset="-122"/>
                          <a:cs typeface="Noto Sans JP" pitchFamily="34" charset="-120"/>
                        </a:rPr>
                        <a:t>適度な賑わい</a:t>
                      </a:r>
                      <a:endParaRPr lang="en-US" sz="1200" dirty="0">
                        <a:latin typeface="Noto Sans JP" charset="0"/>
                        <a:ea typeface="Noto Sans JP" charset="0"/>
                        <a:cs typeface="Noto Sans JP" charset="0"/>
                      </a:endParaRPr>
                    </a:p>
                  </a:txBody>
                  <a:tcPr marL="146304" marR="146304" marT="73152" marB="73152"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2F7F2"/>
                    </a:solidFill>
                  </a:tcPr>
                </a:tc>
                <a:tc>
                  <a:txBody>
                    <a:bodyPr/>
                    <a:lstStyle/>
                    <a:p>
                      <a:pPr indent="0" marL="0">
                        <a:buNone/>
                      </a:pPr>
                      <a:r>
                        <a:rPr lang="en-US" sz="1300" b="1" dirty="0">
                          <a:solidFill>
                            <a:srgbClr val="B8893B"/>
                          </a:solidFill>
                          <a:latin typeface="Noto Sans JP" pitchFamily="34" charset="0"/>
                          <a:ea typeface="Noto Sans JP" pitchFamily="34" charset="-122"/>
                          <a:cs typeface="Noto Sans JP" pitchFamily="34" charset="-120"/>
                        </a:rPr>
                        <a:t>△ </a:t>
                      </a:r>
                      <a:pPr indent="0" marL="0">
                        <a:buNone/>
                      </a:pPr>
                      <a:r>
                        <a:rPr lang="en-US" sz="1050" dirty="0">
                          <a:solidFill>
                            <a:srgbClr val="6E6A61"/>
                          </a:solidFill>
                          <a:latin typeface="Noto Sans JP" pitchFamily="34" charset="0"/>
                          <a:ea typeface="Noto Sans JP" pitchFamily="34" charset="-122"/>
                          <a:cs typeface="Noto Sans JP" pitchFamily="34" charset="-120"/>
                        </a:rPr>
                        <a:t>静かすぎて緊張する</a:t>
                      </a:r>
                      <a:endParaRPr lang="en-US" sz="1200" dirty="0">
                        <a:latin typeface="Noto Sans JP" charset="0"/>
                        <a:ea typeface="Noto Sans JP" charset="0"/>
                        <a:cs typeface="Noto Sans JP" charset="0"/>
                      </a:endParaRPr>
                    </a:p>
                  </a:txBody>
                  <a:tcPr marL="146304" marR="146304" marT="73152" marB="73152"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FFFFF"/>
                    </a:solidFill>
                  </a:tcPr>
                </a:tc>
                <a:tc>
                  <a:txBody>
                    <a:bodyPr/>
                    <a:lstStyle/>
                    <a:p>
                      <a:pPr indent="0" marL="0">
                        <a:buNone/>
                      </a:pPr>
                      <a:r>
                        <a:rPr lang="en-US" sz="1300" b="1" dirty="0">
                          <a:solidFill>
                            <a:srgbClr val="B0553F"/>
                          </a:solidFill>
                          <a:latin typeface="Noto Sans JP" pitchFamily="34" charset="0"/>
                          <a:ea typeface="Noto Sans JP" pitchFamily="34" charset="-122"/>
                          <a:cs typeface="Noto Sans JP" pitchFamily="34" charset="-120"/>
                        </a:rPr>
                        <a:t>× </a:t>
                      </a:r>
                      <a:pPr indent="0" marL="0">
                        <a:buNone/>
                      </a:pPr>
                      <a:r>
                        <a:rPr lang="en-US" sz="1050" dirty="0">
                          <a:solidFill>
                            <a:srgbClr val="6E6A61"/>
                          </a:solidFill>
                          <a:latin typeface="Noto Sans JP" pitchFamily="34" charset="0"/>
                          <a:ea typeface="Noto Sans JP" pitchFamily="34" charset="-122"/>
                          <a:cs typeface="Noto Sans JP" pitchFamily="34" charset="-120"/>
                        </a:rPr>
                        <a:t>閉鎖的な個室中心</a:t>
                      </a:r>
                      <a:endParaRPr lang="en-US" sz="1200" dirty="0">
                        <a:latin typeface="Noto Sans JP" charset="0"/>
                        <a:ea typeface="Noto Sans JP" charset="0"/>
                        <a:cs typeface="Noto Sans JP" charset="0"/>
                      </a:endParaRPr>
                    </a:p>
                  </a:txBody>
                  <a:tcPr marL="146304" marR="146304" marT="73152" marB="73152"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FFFFF"/>
                    </a:solidFill>
                  </a:tcPr>
                </a:tc>
              </a:tr>
              <a:tr h="676656">
                <a:tc>
                  <a:txBody>
                    <a:bodyPr/>
                    <a:lstStyle/>
                    <a:p>
                      <a:pPr indent="0" marL="0">
                        <a:buNone/>
                      </a:pPr>
                      <a:r>
                        <a:rPr lang="en-US" sz="1150" b="1" dirty="0">
                          <a:solidFill>
                            <a:srgbClr val="5D4037"/>
                          </a:solidFill>
                          <a:latin typeface="Noto Sans JP" pitchFamily="34" charset="0"/>
                          <a:ea typeface="Noto Sans JP" pitchFamily="34" charset="-122"/>
                          <a:cs typeface="Noto Sans JP" pitchFamily="34" charset="-120"/>
                        </a:rPr>
                        <a:t>ドリンクの質</a:t>
                      </a:r>
                      <a:endParaRPr lang="en-US" sz="1150" dirty="0">
                        <a:latin typeface="Noto Sans JP" charset="0"/>
                        <a:ea typeface="Noto Sans JP" charset="0"/>
                        <a:cs typeface="Noto Sans JP" charset="0"/>
                      </a:endParaRPr>
                    </a:p>
                  </a:txBody>
                  <a:tcPr marL="128016" marR="128016" marT="54864" marB="54864"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6F2E6"/>
                    </a:solidFill>
                  </a:tcPr>
                </a:tc>
                <a:tc>
                  <a:txBody>
                    <a:bodyPr/>
                    <a:lstStyle/>
                    <a:p>
                      <a:pPr indent="0" marL="0">
                        <a:buNone/>
                      </a:pPr>
                      <a:r>
                        <a:rPr lang="en-US" sz="1300" b="1" dirty="0">
                          <a:solidFill>
                            <a:srgbClr val="1B5E20"/>
                          </a:solidFill>
                          <a:latin typeface="Noto Sans JP" pitchFamily="34" charset="0"/>
                          <a:ea typeface="Noto Sans JP" pitchFamily="34" charset="-122"/>
                          <a:cs typeface="Noto Sans JP" pitchFamily="34" charset="-120"/>
                        </a:rPr>
                        <a:t>◎ </a:t>
                      </a:r>
                      <a:pPr indent="0" marL="0">
                        <a:buNone/>
                      </a:pPr>
                      <a:r>
                        <a:rPr lang="en-US" sz="1100" b="1" dirty="0">
                          <a:solidFill>
                            <a:srgbClr val="1B5E20"/>
                          </a:solidFill>
                          <a:latin typeface="Noto Sans JP" pitchFamily="34" charset="0"/>
                          <a:ea typeface="Noto Sans JP" pitchFamily="34" charset="-122"/>
                          <a:cs typeface="Noto Sans JP" pitchFamily="34" charset="-120"/>
                        </a:rPr>
                        <a:t>本格コーヒー</a:t>
                      </a:r>
                      <a:endParaRPr lang="en-US" sz="1200" dirty="0">
                        <a:latin typeface="Noto Sans JP" charset="0"/>
                        <a:ea typeface="Noto Sans JP" charset="0"/>
                        <a:cs typeface="Noto Sans JP" charset="0"/>
                      </a:endParaRPr>
                    </a:p>
                  </a:txBody>
                  <a:tcPr marL="146304" marR="146304" marT="73152" marB="73152"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2F7F2"/>
                    </a:solidFill>
                  </a:tcPr>
                </a:tc>
                <a:tc>
                  <a:txBody>
                    <a:bodyPr/>
                    <a:lstStyle/>
                    <a:p>
                      <a:pPr indent="0" marL="0">
                        <a:buNone/>
                      </a:pPr>
                      <a:r>
                        <a:rPr lang="en-US" sz="1300" b="1" dirty="0">
                          <a:solidFill>
                            <a:srgbClr val="B8893B"/>
                          </a:solidFill>
                          <a:latin typeface="Noto Sans JP" pitchFamily="34" charset="0"/>
                          <a:ea typeface="Noto Sans JP" pitchFamily="34" charset="-122"/>
                          <a:cs typeface="Noto Sans JP" pitchFamily="34" charset="-120"/>
                        </a:rPr>
                        <a:t>△ </a:t>
                      </a:r>
                      <a:pPr indent="0" marL="0">
                        <a:buNone/>
                      </a:pPr>
                      <a:r>
                        <a:rPr lang="en-US" sz="1050" dirty="0">
                          <a:solidFill>
                            <a:srgbClr val="6E6A61"/>
                          </a:solidFill>
                          <a:latin typeface="Noto Sans JP" pitchFamily="34" charset="0"/>
                          <a:ea typeface="Noto Sans JP" pitchFamily="34" charset="-122"/>
                          <a:cs typeface="Noto Sans JP" pitchFamily="34" charset="-120"/>
                        </a:rPr>
                        <a:t>サーバーが中心</a:t>
                      </a:r>
                      <a:endParaRPr lang="en-US" sz="1200" dirty="0">
                        <a:latin typeface="Noto Sans JP" charset="0"/>
                        <a:ea typeface="Noto Sans JP" charset="0"/>
                        <a:cs typeface="Noto Sans JP" charset="0"/>
                      </a:endParaRPr>
                    </a:p>
                  </a:txBody>
                  <a:tcPr marL="146304" marR="146304" marT="73152" marB="73152"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FFFFF"/>
                    </a:solidFill>
                  </a:tcPr>
                </a:tc>
                <a:tc>
                  <a:txBody>
                    <a:bodyPr/>
                    <a:lstStyle/>
                    <a:p>
                      <a:pPr indent="0" marL="0">
                        <a:buNone/>
                      </a:pPr>
                      <a:r>
                        <a:rPr lang="en-US" sz="1300" b="1" dirty="0">
                          <a:solidFill>
                            <a:srgbClr val="B0553F"/>
                          </a:solidFill>
                          <a:latin typeface="Noto Sans JP" pitchFamily="34" charset="0"/>
                          <a:ea typeface="Noto Sans JP" pitchFamily="34" charset="-122"/>
                          <a:cs typeface="Noto Sans JP" pitchFamily="34" charset="-120"/>
                        </a:rPr>
                        <a:t>× </a:t>
                      </a:r>
                      <a:pPr indent="0" marL="0">
                        <a:buNone/>
                      </a:pPr>
                      <a:r>
                        <a:rPr lang="en-US" sz="1050" dirty="0">
                          <a:solidFill>
                            <a:srgbClr val="6E6A61"/>
                          </a:solidFill>
                          <a:latin typeface="Noto Sans JP" pitchFamily="34" charset="0"/>
                          <a:ea typeface="Noto Sans JP" pitchFamily="34" charset="-122"/>
                          <a:cs typeface="Noto Sans JP" pitchFamily="34" charset="-120"/>
                        </a:rPr>
                        <a:t>持ち込みが基本</a:t>
                      </a:r>
                      <a:endParaRPr lang="en-US" sz="1200" dirty="0">
                        <a:latin typeface="Noto Sans JP" charset="0"/>
                        <a:ea typeface="Noto Sans JP" charset="0"/>
                        <a:cs typeface="Noto Sans JP" charset="0"/>
                      </a:endParaRPr>
                    </a:p>
                  </a:txBody>
                  <a:tcPr marL="146304" marR="146304" marT="73152" marB="73152"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FFFFF"/>
                    </a:solidFill>
                  </a:tcPr>
                </a:tc>
              </a:tr>
              <a:tr h="676656">
                <a:tc>
                  <a:txBody>
                    <a:bodyPr/>
                    <a:lstStyle/>
                    <a:p>
                      <a:pPr indent="0" marL="0">
                        <a:buNone/>
                      </a:pPr>
                      <a:r>
                        <a:rPr lang="en-US" sz="1150" b="1" dirty="0">
                          <a:solidFill>
                            <a:srgbClr val="5D4037"/>
                          </a:solidFill>
                          <a:latin typeface="Noto Sans JP" pitchFamily="34" charset="0"/>
                          <a:ea typeface="Noto Sans JP" pitchFamily="34" charset="-122"/>
                          <a:cs typeface="Noto Sans JP" pitchFamily="34" charset="-120"/>
                        </a:rPr>
                        <a:t>運営人員</a:t>
                      </a:r>
                      <a:endParaRPr lang="en-US" sz="1150" dirty="0">
                        <a:latin typeface="Noto Sans JP" charset="0"/>
                        <a:ea typeface="Noto Sans JP" charset="0"/>
                        <a:cs typeface="Noto Sans JP" charset="0"/>
                      </a:endParaRPr>
                    </a:p>
                  </a:txBody>
                  <a:tcPr marL="128016" marR="128016" marT="54864" marB="54864"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6F2E6"/>
                    </a:solidFill>
                  </a:tcPr>
                </a:tc>
                <a:tc>
                  <a:txBody>
                    <a:bodyPr/>
                    <a:lstStyle/>
                    <a:p>
                      <a:pPr indent="0" marL="0">
                        <a:buNone/>
                      </a:pPr>
                      <a:r>
                        <a:rPr lang="en-US" sz="1300" b="1" dirty="0">
                          <a:solidFill>
                            <a:srgbClr val="1B5E20"/>
                          </a:solidFill>
                          <a:latin typeface="Noto Sans JP" pitchFamily="34" charset="0"/>
                          <a:ea typeface="Noto Sans JP" pitchFamily="34" charset="-122"/>
                          <a:cs typeface="Noto Sans JP" pitchFamily="34" charset="-120"/>
                        </a:rPr>
                        <a:t>◎ </a:t>
                      </a:r>
                      <a:pPr indent="0" marL="0">
                        <a:buNone/>
                      </a:pPr>
                      <a:r>
                        <a:rPr lang="en-US" sz="1100" b="1" dirty="0">
                          <a:solidFill>
                            <a:srgbClr val="1B5E20"/>
                          </a:solidFill>
                          <a:latin typeface="Noto Sans JP" pitchFamily="34" charset="0"/>
                          <a:ea typeface="Noto Sans JP" pitchFamily="34" charset="-122"/>
                          <a:cs typeface="Noto Sans JP" pitchFamily="34" charset="-120"/>
                        </a:rPr>
                        <a:t>完全無人</a:t>
                      </a:r>
                      <a:endParaRPr lang="en-US" sz="1200" dirty="0">
                        <a:latin typeface="Noto Sans JP" charset="0"/>
                        <a:ea typeface="Noto Sans JP" charset="0"/>
                        <a:cs typeface="Noto Sans JP" charset="0"/>
                      </a:endParaRPr>
                    </a:p>
                  </a:txBody>
                  <a:tcPr marL="146304" marR="146304" marT="73152" marB="73152"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2F7F2"/>
                    </a:solidFill>
                  </a:tcPr>
                </a:tc>
                <a:tc>
                  <a:txBody>
                    <a:bodyPr/>
                    <a:lstStyle/>
                    <a:p>
                      <a:pPr indent="0" marL="0">
                        <a:buNone/>
                      </a:pPr>
                      <a:r>
                        <a:rPr lang="en-US" sz="1300" b="1" dirty="0">
                          <a:solidFill>
                            <a:srgbClr val="B8893B"/>
                          </a:solidFill>
                          <a:latin typeface="Noto Sans JP" pitchFamily="34" charset="0"/>
                          <a:ea typeface="Noto Sans JP" pitchFamily="34" charset="-122"/>
                          <a:cs typeface="Noto Sans JP" pitchFamily="34" charset="-120"/>
                        </a:rPr>
                        <a:t>△ </a:t>
                      </a:r>
                      <a:pPr indent="0" marL="0">
                        <a:buNone/>
                      </a:pPr>
                      <a:r>
                        <a:rPr lang="en-US" sz="1050" dirty="0">
                          <a:solidFill>
                            <a:srgbClr val="6E6A61"/>
                          </a:solidFill>
                          <a:latin typeface="Noto Sans JP" pitchFamily="34" charset="0"/>
                          <a:ea typeface="Noto Sans JP" pitchFamily="34" charset="-122"/>
                          <a:cs typeface="Noto Sans JP" pitchFamily="34" charset="-120"/>
                        </a:rPr>
                        <a:t>スタッフ常駐</a:t>
                      </a:r>
                      <a:endParaRPr lang="en-US" sz="1200" dirty="0">
                        <a:latin typeface="Noto Sans JP" charset="0"/>
                        <a:ea typeface="Noto Sans JP" charset="0"/>
                        <a:cs typeface="Noto Sans JP" charset="0"/>
                      </a:endParaRPr>
                    </a:p>
                  </a:txBody>
                  <a:tcPr marL="146304" marR="146304" marT="73152" marB="73152"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FFFFF"/>
                    </a:solidFill>
                  </a:tcPr>
                </a:tc>
                <a:tc>
                  <a:txBody>
                    <a:bodyPr/>
                    <a:lstStyle/>
                    <a:p>
                      <a:pPr indent="0" marL="0">
                        <a:buNone/>
                      </a:pPr>
                      <a:r>
                        <a:rPr lang="en-US" sz="1300" b="1" dirty="0">
                          <a:solidFill>
                            <a:srgbClr val="B8893B"/>
                          </a:solidFill>
                          <a:latin typeface="Noto Sans JP" pitchFamily="34" charset="0"/>
                          <a:ea typeface="Noto Sans JP" pitchFamily="34" charset="-122"/>
                          <a:cs typeface="Noto Sans JP" pitchFamily="34" charset="-120"/>
                        </a:rPr>
                        <a:t>△ </a:t>
                      </a:r>
                      <a:pPr indent="0" marL="0">
                        <a:buNone/>
                      </a:pPr>
                      <a:r>
                        <a:rPr lang="en-US" sz="1050" dirty="0">
                          <a:solidFill>
                            <a:srgbClr val="6E6A61"/>
                          </a:solidFill>
                          <a:latin typeface="Noto Sans JP" pitchFamily="34" charset="0"/>
                          <a:ea typeface="Noto Sans JP" pitchFamily="34" charset="-122"/>
                          <a:cs typeface="Noto Sans JP" pitchFamily="34" charset="-120"/>
                        </a:rPr>
                        <a:t>管理人が必要</a:t>
                      </a:r>
                      <a:endParaRPr lang="en-US" sz="1200" dirty="0">
                        <a:latin typeface="Noto Sans JP" charset="0"/>
                        <a:ea typeface="Noto Sans JP" charset="0"/>
                        <a:cs typeface="Noto Sans JP" charset="0"/>
                      </a:endParaRPr>
                    </a:p>
                  </a:txBody>
                  <a:tcPr marL="146304" marR="146304" marT="73152" marB="73152"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FFFFF"/>
                    </a:solidFill>
                  </a:tcPr>
                </a:tc>
              </a:tr>
              <a:tr h="676656">
                <a:tc>
                  <a:txBody>
                    <a:bodyPr/>
                    <a:lstStyle/>
                    <a:p>
                      <a:pPr indent="0" marL="0">
                        <a:buNone/>
                      </a:pPr>
                      <a:r>
                        <a:rPr lang="en-US" sz="1150" b="1" dirty="0">
                          <a:solidFill>
                            <a:srgbClr val="5D4037"/>
                          </a:solidFill>
                          <a:latin typeface="Noto Sans JP" pitchFamily="34" charset="0"/>
                          <a:ea typeface="Noto Sans JP" pitchFamily="34" charset="-122"/>
                          <a:cs typeface="Noto Sans JP" pitchFamily="34" charset="-120"/>
                        </a:rPr>
                        <a:t>導入コスト</a:t>
                      </a:r>
                      <a:endParaRPr lang="en-US" sz="1150" dirty="0">
                        <a:latin typeface="Noto Sans JP" charset="0"/>
                        <a:ea typeface="Noto Sans JP" charset="0"/>
                        <a:cs typeface="Noto Sans JP" charset="0"/>
                      </a:endParaRPr>
                    </a:p>
                  </a:txBody>
                  <a:tcPr marL="128016" marR="128016" marT="54864" marB="54864"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6F2E6"/>
                    </a:solidFill>
                  </a:tcPr>
                </a:tc>
                <a:tc>
                  <a:txBody>
                    <a:bodyPr/>
                    <a:lstStyle/>
                    <a:p>
                      <a:pPr indent="0" marL="0">
                        <a:buNone/>
                      </a:pPr>
                      <a:r>
                        <a:rPr lang="en-US" sz="1300" b="1" dirty="0">
                          <a:solidFill>
                            <a:srgbClr val="1B5E20"/>
                          </a:solidFill>
                          <a:latin typeface="Noto Sans JP" pitchFamily="34" charset="0"/>
                          <a:ea typeface="Noto Sans JP" pitchFamily="34" charset="-122"/>
                          <a:cs typeface="Noto Sans JP" pitchFamily="34" charset="-120"/>
                        </a:rPr>
                        <a:t>◎ </a:t>
                      </a:r>
                      <a:pPr indent="0" marL="0">
                        <a:buNone/>
                      </a:pPr>
                      <a:r>
                        <a:rPr lang="en-US" sz="1100" b="1" dirty="0">
                          <a:solidFill>
                            <a:srgbClr val="1B5E20"/>
                          </a:solidFill>
                          <a:latin typeface="Noto Sans JP" pitchFamily="34" charset="0"/>
                          <a:ea typeface="Noto Sans JP" pitchFamily="34" charset="-122"/>
                          <a:cs typeface="Noto Sans JP" pitchFamily="34" charset="-120"/>
                        </a:rPr>
                        <a:t>低投資パッケージ</a:t>
                      </a:r>
                      <a:endParaRPr lang="en-US" sz="1200" dirty="0">
                        <a:latin typeface="Noto Sans JP" charset="0"/>
                        <a:ea typeface="Noto Sans JP" charset="0"/>
                        <a:cs typeface="Noto Sans JP" charset="0"/>
                      </a:endParaRPr>
                    </a:p>
                  </a:txBody>
                  <a:tcPr marL="146304" marR="146304" marT="73152" marB="73152"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2F7F2"/>
                    </a:solidFill>
                  </a:tcPr>
                </a:tc>
                <a:tc>
                  <a:txBody>
                    <a:bodyPr/>
                    <a:lstStyle/>
                    <a:p>
                      <a:pPr indent="0" marL="0">
                        <a:buNone/>
                      </a:pPr>
                      <a:r>
                        <a:rPr lang="en-US" sz="1300" b="1" dirty="0">
                          <a:solidFill>
                            <a:srgbClr val="B0553F"/>
                          </a:solidFill>
                          <a:latin typeface="Noto Sans JP" pitchFamily="34" charset="0"/>
                          <a:ea typeface="Noto Sans JP" pitchFamily="34" charset="-122"/>
                          <a:cs typeface="Noto Sans JP" pitchFamily="34" charset="-120"/>
                        </a:rPr>
                        <a:t>× </a:t>
                      </a:r>
                      <a:pPr indent="0" marL="0">
                        <a:buNone/>
                      </a:pPr>
                      <a:r>
                        <a:rPr lang="en-US" sz="1050" dirty="0">
                          <a:solidFill>
                            <a:srgbClr val="6E6A61"/>
                          </a:solidFill>
                          <a:latin typeface="Noto Sans JP" pitchFamily="34" charset="0"/>
                          <a:ea typeface="Noto Sans JP" pitchFamily="34" charset="-122"/>
                          <a:cs typeface="Noto Sans JP" pitchFamily="34" charset="-120"/>
                        </a:rPr>
                        <a:t>高額な内装・設備</a:t>
                      </a:r>
                      <a:endParaRPr lang="en-US" sz="1200" dirty="0">
                        <a:latin typeface="Noto Sans JP" charset="0"/>
                        <a:ea typeface="Noto Sans JP" charset="0"/>
                        <a:cs typeface="Noto Sans JP" charset="0"/>
                      </a:endParaRPr>
                    </a:p>
                  </a:txBody>
                  <a:tcPr marL="146304" marR="146304" marT="73152" marB="73152"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FFFFF"/>
                    </a:solidFill>
                  </a:tcPr>
                </a:tc>
                <a:tc>
                  <a:txBody>
                    <a:bodyPr/>
                    <a:lstStyle/>
                    <a:p>
                      <a:pPr indent="0" marL="0">
                        <a:buNone/>
                      </a:pPr>
                      <a:r>
                        <a:rPr lang="en-US" sz="1300" b="1" dirty="0">
                          <a:solidFill>
                            <a:srgbClr val="B0553F"/>
                          </a:solidFill>
                          <a:latin typeface="Noto Sans JP" pitchFamily="34" charset="0"/>
                          <a:ea typeface="Noto Sans JP" pitchFamily="34" charset="-122"/>
                          <a:cs typeface="Noto Sans JP" pitchFamily="34" charset="-120"/>
                        </a:rPr>
                        <a:t>× </a:t>
                      </a:r>
                      <a:pPr indent="0" marL="0">
                        <a:buNone/>
                      </a:pPr>
                      <a:r>
                        <a:rPr lang="en-US" sz="1050" dirty="0">
                          <a:solidFill>
                            <a:srgbClr val="6E6A61"/>
                          </a:solidFill>
                          <a:latin typeface="Noto Sans JP" pitchFamily="34" charset="0"/>
                          <a:ea typeface="Noto Sans JP" pitchFamily="34" charset="-122"/>
                          <a:cs typeface="Noto Sans JP" pitchFamily="34" charset="-120"/>
                        </a:rPr>
                        <a:t>莫大な建築コスト</a:t>
                      </a:r>
                      <a:endParaRPr lang="en-US" sz="1200" dirty="0">
                        <a:latin typeface="Noto Sans JP" charset="0"/>
                        <a:ea typeface="Noto Sans JP" charset="0"/>
                        <a:cs typeface="Noto Sans JP" charset="0"/>
                      </a:endParaRPr>
                    </a:p>
                  </a:txBody>
                  <a:tcPr marL="146304" marR="146304" marT="73152" marB="73152"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FFFFF"/>
                    </a:solidFill>
                  </a:tcPr>
                </a:tc>
              </a:tr>
            </a:tbl>
          </a:graphicData>
        </a:graphic>
      </p:graphicFrame>
      <p:sp>
        <p:nvSpPr>
          <p:cNvPr id="11" name="Text 6"/>
          <p:cNvSpPr/>
          <p:nvPr/>
        </p:nvSpPr>
        <p:spPr>
          <a:xfrm>
            <a:off x="666598" y="6016752"/>
            <a:ext cx="10858500" cy="219456"/>
          </a:xfrm>
          <a:prstGeom prst="rect">
            <a:avLst/>
          </a:prstGeom>
          <a:noFill/>
          <a:ln/>
        </p:spPr>
        <p:txBody>
          <a:bodyPr wrap="square" lIns="0" tIns="0" rIns="0" bIns="0" rtlCol="0" anchor="ctr"/>
          <a:lstStyle/>
          <a:p>
            <a:pPr indent="0" marL="0">
              <a:buNone/>
            </a:pPr>
            <a:r>
              <a:rPr lang="en-US" sz="950" dirty="0">
                <a:solidFill>
                  <a:srgbClr val="9A948A"/>
                </a:solidFill>
                <a:latin typeface="Noto Sans JP" pitchFamily="34" charset="0"/>
                <a:ea typeface="Noto Sans JP" pitchFamily="34" charset="-122"/>
                <a:cs typeface="Noto Sans JP" pitchFamily="34" charset="-120"/>
              </a:rPr>
              <a:t>※コワーキング／シェアオフィスの評価は、一般的なサービス形態を想定した当社比較です。</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CF5"/>
        </a:solidFill>
      </p:bgPr>
    </p:bg>
    <p:spTree>
      <p:nvGrpSpPr>
        <p:cNvPr id="1" name=""/>
        <p:cNvGrpSpPr/>
        <p:nvPr/>
      </p:nvGrpSpPr>
      <p:grpSpPr>
        <a:xfrm>
          <a:off x="0" y="0"/>
          <a:ext cx="0" cy="0"/>
          <a:chOff x="0" y="0"/>
          <a:chExt cx="0" cy="0"/>
        </a:xfrm>
      </p:grpSpPr>
      <p:sp>
        <p:nvSpPr>
          <p:cNvPr id="2" name="Text 0"/>
          <p:cNvSpPr/>
          <p:nvPr/>
        </p:nvSpPr>
        <p:spPr>
          <a:xfrm>
            <a:off x="666598" y="506578"/>
            <a:ext cx="8503920" cy="384048"/>
          </a:xfrm>
          <a:prstGeom prst="rect">
            <a:avLst/>
          </a:prstGeom>
          <a:noFill/>
          <a:ln/>
        </p:spPr>
        <p:txBody>
          <a:bodyPr wrap="square" lIns="0" tIns="0" rIns="0" bIns="0" rtlCol="0" anchor="ctr"/>
          <a:lstStyle/>
          <a:p>
            <a:pPr algn="l" indent="0" marL="0">
              <a:buNone/>
            </a:pPr>
            <a:r>
              <a:rPr lang="en-US" sz="3000" dirty="0">
                <a:solidFill>
                  <a:srgbClr val="1B5E20"/>
                </a:solidFill>
                <a:latin typeface="Noto Sans JP" pitchFamily="34" charset="0"/>
                <a:ea typeface="Noto Sans JP" pitchFamily="34" charset="-122"/>
                <a:cs typeface="Noto Sans JP" pitchFamily="34" charset="-120"/>
              </a:rPr>
              <a:t>独自の無人開閉店システム</a:t>
            </a:r>
            <a:endParaRPr lang="en-US" sz="3000" dirty="0"/>
          </a:p>
        </p:txBody>
      </p:sp>
      <p:sp>
        <p:nvSpPr>
          <p:cNvPr id="3" name="Shape 1"/>
          <p:cNvSpPr/>
          <p:nvPr/>
        </p:nvSpPr>
        <p:spPr>
          <a:xfrm>
            <a:off x="666598" y="1114654"/>
            <a:ext cx="10858500" cy="19202"/>
          </a:xfrm>
          <a:prstGeom prst="rect">
            <a:avLst/>
          </a:prstGeom>
          <a:solidFill>
            <a:srgbClr val="8D6E63"/>
          </a:solidFill>
          <a:ln/>
        </p:spPr>
      </p:sp>
      <p:pic>
        <p:nvPicPr>
          <p:cNvPr id="4" name="Image 0" descr="/home/user/suzuki-ceo/selfcafe-fc-deck/assets/logo_gray.png">    </p:cNvPr>
          <p:cNvPicPr>
            <a:picLocks noChangeAspect="1"/>
          </p:cNvPicPr>
          <p:nvPr/>
        </p:nvPicPr>
        <p:blipFill>
          <a:blip r:embed="rId1"/>
          <a:stretch>
            <a:fillRect/>
          </a:stretch>
        </p:blipFill>
        <p:spPr>
          <a:xfrm>
            <a:off x="9415577" y="802843"/>
            <a:ext cx="2024482" cy="288036"/>
          </a:xfrm>
          <a:prstGeom prst="rect">
            <a:avLst/>
          </a:prstGeom>
        </p:spPr>
      </p:pic>
      <p:sp>
        <p:nvSpPr>
          <p:cNvPr id="5" name="Text 2"/>
          <p:cNvSpPr/>
          <p:nvPr/>
        </p:nvSpPr>
        <p:spPr>
          <a:xfrm>
            <a:off x="10610698" y="6345936"/>
            <a:ext cx="914400" cy="219456"/>
          </a:xfrm>
          <a:prstGeom prst="rect">
            <a:avLst/>
          </a:prstGeom>
          <a:noFill/>
          <a:ln/>
        </p:spPr>
        <p:txBody>
          <a:bodyPr wrap="square" lIns="0" tIns="0" rIns="0" bIns="0" rtlCol="0" anchor="ctr"/>
          <a:lstStyle/>
          <a:p>
            <a:pPr algn="r" indent="0" marL="0">
              <a:buNone/>
            </a:pPr>
            <a:r>
              <a:rPr lang="en-US" sz="1300" dirty="0">
                <a:solidFill>
                  <a:srgbClr val="000000"/>
                </a:solidFill>
                <a:latin typeface="Cambria" pitchFamily="34" charset="0"/>
                <a:ea typeface="Cambria" pitchFamily="34" charset="-122"/>
                <a:cs typeface="Cambria" pitchFamily="34" charset="-120"/>
              </a:rPr>
              <a:t>16</a:t>
            </a:r>
            <a:endParaRPr lang="en-US" sz="1300" dirty="0"/>
          </a:p>
        </p:txBody>
      </p:sp>
      <p:sp>
        <p:nvSpPr>
          <p:cNvPr id="6" name="Shape 3"/>
          <p:cNvSpPr/>
          <p:nvPr/>
        </p:nvSpPr>
        <p:spPr>
          <a:xfrm>
            <a:off x="666598" y="1371600"/>
            <a:ext cx="5074920" cy="4846320"/>
          </a:xfrm>
          <a:prstGeom prst="roundRect">
            <a:avLst>
              <a:gd name="adj" fmla="val 1698"/>
            </a:avLst>
          </a:prstGeom>
          <a:solidFill>
            <a:srgbClr val="12401A"/>
          </a:solidFill>
          <a:ln/>
          <a:effectLst>
            <a:outerShdw sx="100000" sy="100000" kx="0" ky="0" algn="bl" rotWithShape="0" blurRad="114300" dist="17780" dir="5400000">
              <a:srgbClr val="6B6250">
                <a:alpha val="14000"/>
              </a:srgbClr>
            </a:outerShdw>
          </a:effectLst>
        </p:spPr>
      </p:sp>
      <p:pic>
        <p:nvPicPr>
          <p:cNvPr id="7" name="Image 1" descr="/home/user/suzuki-ceo/selfcafe-fc-deck/assets/icons/LuKeyRound-white.png">    </p:cNvPr>
          <p:cNvPicPr>
            <a:picLocks noChangeAspect="1"/>
          </p:cNvPicPr>
          <p:nvPr/>
        </p:nvPicPr>
        <p:blipFill>
          <a:blip r:embed="rId2"/>
          <a:stretch>
            <a:fillRect/>
          </a:stretch>
        </p:blipFill>
        <p:spPr>
          <a:xfrm>
            <a:off x="1087222" y="1682496"/>
            <a:ext cx="384048" cy="384048"/>
          </a:xfrm>
          <a:prstGeom prst="rect">
            <a:avLst/>
          </a:prstGeom>
        </p:spPr>
      </p:pic>
      <p:sp>
        <p:nvSpPr>
          <p:cNvPr id="8" name="Text 4"/>
          <p:cNvSpPr/>
          <p:nvPr/>
        </p:nvSpPr>
        <p:spPr>
          <a:xfrm>
            <a:off x="1087222" y="2194560"/>
            <a:ext cx="4233672" cy="914400"/>
          </a:xfrm>
          <a:prstGeom prst="rect">
            <a:avLst/>
          </a:prstGeom>
          <a:noFill/>
          <a:ln/>
        </p:spPr>
        <p:txBody>
          <a:bodyPr wrap="square" lIns="0" tIns="0" rIns="0" bIns="0" rtlCol="0" anchor="t"/>
          <a:lstStyle/>
          <a:p>
            <a:pPr indent="0" marL="0">
              <a:lnSpc>
                <a:spcPct val="124000"/>
              </a:lnSpc>
              <a:buNone/>
            </a:pPr>
            <a:r>
              <a:rPr lang="en-US" sz="2400" b="1" dirty="0">
                <a:solidFill>
                  <a:srgbClr val="FFFFFF"/>
                </a:solidFill>
                <a:latin typeface="Noto Sans JP" pitchFamily="34" charset="0"/>
                <a:ea typeface="Noto Sans JP" pitchFamily="34" charset="-122"/>
                <a:cs typeface="Noto Sans JP" pitchFamily="34" charset="-120"/>
              </a:rPr>
              <a:t>警備会社と連携した</a:t>
            </a:r>
            <a:endParaRPr lang="en-US" sz="2400" dirty="0"/>
          </a:p>
          <a:p>
            <a:pPr indent="0" marL="0">
              <a:lnSpc>
                <a:spcPct val="124000"/>
              </a:lnSpc>
              <a:buNone/>
            </a:pPr>
            <a:r>
              <a:rPr lang="en-US" sz="2400" b="1" dirty="0">
                <a:solidFill>
                  <a:srgbClr val="FFFFFF"/>
                </a:solidFill>
                <a:latin typeface="Noto Sans JP" pitchFamily="34" charset="0"/>
                <a:ea typeface="Noto Sans JP" pitchFamily="34" charset="-122"/>
                <a:cs typeface="Noto Sans JP" pitchFamily="34" charset="-120"/>
              </a:rPr>
              <a:t>安心の自動化</a:t>
            </a:r>
            <a:endParaRPr lang="en-US" sz="2400" dirty="0"/>
          </a:p>
        </p:txBody>
      </p:sp>
      <p:sp>
        <p:nvSpPr>
          <p:cNvPr id="9" name="Text 5"/>
          <p:cNvSpPr/>
          <p:nvPr/>
        </p:nvSpPr>
        <p:spPr>
          <a:xfrm>
            <a:off x="1087222" y="3255264"/>
            <a:ext cx="4233672" cy="932688"/>
          </a:xfrm>
          <a:prstGeom prst="rect">
            <a:avLst/>
          </a:prstGeom>
          <a:noFill/>
          <a:ln/>
        </p:spPr>
        <p:txBody>
          <a:bodyPr wrap="square" lIns="0" tIns="0" rIns="0" bIns="0" rtlCol="0" anchor="t"/>
          <a:lstStyle/>
          <a:p>
            <a:pPr indent="0" marL="0">
              <a:lnSpc>
                <a:spcPct val="140000"/>
              </a:lnSpc>
              <a:buNone/>
            </a:pPr>
            <a:r>
              <a:rPr lang="en-US" sz="1150" dirty="0">
                <a:solidFill>
                  <a:srgbClr val="A9C6AC"/>
                </a:solidFill>
                <a:latin typeface="Noto Sans JP" pitchFamily="34" charset="0"/>
                <a:ea typeface="Noto Sans JP" pitchFamily="34" charset="-122"/>
                <a:cs typeface="Noto Sans JP" pitchFamily="34" charset="-120"/>
              </a:rPr>
              <a:t>独自のスマートロックシステムにより、店舗開錠／施錠を遠隔で完全自動化。オーナー様は現地に足を運ぶこと無く、営業時間を管理できます。</a:t>
            </a:r>
            <a:endParaRPr lang="en-US" sz="1150" dirty="0"/>
          </a:p>
        </p:txBody>
      </p:sp>
      <p:pic>
        <p:nvPicPr>
          <p:cNvPr id="10" name="Image 2" descr="/home/user/suzuki-ceo/selfcafe-fc-deck/assets/icons/LuCheck-white.png">    </p:cNvPr>
          <p:cNvPicPr>
            <a:picLocks noChangeAspect="1"/>
          </p:cNvPicPr>
          <p:nvPr/>
        </p:nvPicPr>
        <p:blipFill>
          <a:blip r:embed="rId3"/>
          <a:stretch>
            <a:fillRect/>
          </a:stretch>
        </p:blipFill>
        <p:spPr>
          <a:xfrm>
            <a:off x="1087222" y="4407408"/>
            <a:ext cx="201168" cy="201168"/>
          </a:xfrm>
          <a:prstGeom prst="rect">
            <a:avLst/>
          </a:prstGeom>
        </p:spPr>
      </p:pic>
      <p:sp>
        <p:nvSpPr>
          <p:cNvPr id="11" name="Text 6"/>
          <p:cNvSpPr/>
          <p:nvPr/>
        </p:nvSpPr>
        <p:spPr>
          <a:xfrm>
            <a:off x="1398118" y="4352544"/>
            <a:ext cx="3922776" cy="310896"/>
          </a:xfrm>
          <a:prstGeom prst="rect">
            <a:avLst/>
          </a:prstGeom>
          <a:noFill/>
          <a:ln/>
        </p:spPr>
        <p:txBody>
          <a:bodyPr wrap="square" lIns="0" tIns="0" rIns="0" bIns="0" rtlCol="0" anchor="ctr"/>
          <a:lstStyle/>
          <a:p>
            <a:pPr indent="0" marL="0">
              <a:buNone/>
            </a:pPr>
            <a:r>
              <a:rPr lang="en-US" sz="1200" b="1" dirty="0">
                <a:solidFill>
                  <a:srgbClr val="FFFFFF"/>
                </a:solidFill>
                <a:latin typeface="Noto Sans JP" pitchFamily="34" charset="0"/>
                <a:ea typeface="Noto Sans JP" pitchFamily="34" charset="-122"/>
                <a:cs typeface="Noto Sans JP" pitchFamily="34" charset="-120"/>
              </a:rPr>
              <a:t>任意の営業時間を分単位でコントロール</a:t>
            </a:r>
            <a:endParaRPr lang="en-US" sz="1200" dirty="0"/>
          </a:p>
        </p:txBody>
      </p:sp>
      <p:pic>
        <p:nvPicPr>
          <p:cNvPr id="12" name="Image 3" descr="/home/user/suzuki-ceo/selfcafe-fc-deck/assets/icons/LuCheck-white.png">    </p:cNvPr>
          <p:cNvPicPr>
            <a:picLocks noChangeAspect="1"/>
          </p:cNvPicPr>
          <p:nvPr/>
        </p:nvPicPr>
        <p:blipFill>
          <a:blip r:embed="rId4"/>
          <a:stretch>
            <a:fillRect/>
          </a:stretch>
        </p:blipFill>
        <p:spPr>
          <a:xfrm>
            <a:off x="1087222" y="4882896"/>
            <a:ext cx="201168" cy="201168"/>
          </a:xfrm>
          <a:prstGeom prst="rect">
            <a:avLst/>
          </a:prstGeom>
        </p:spPr>
      </p:pic>
      <p:sp>
        <p:nvSpPr>
          <p:cNvPr id="13" name="Text 7"/>
          <p:cNvSpPr/>
          <p:nvPr/>
        </p:nvSpPr>
        <p:spPr>
          <a:xfrm>
            <a:off x="1398118" y="4828032"/>
            <a:ext cx="3922776" cy="310896"/>
          </a:xfrm>
          <a:prstGeom prst="rect">
            <a:avLst/>
          </a:prstGeom>
          <a:noFill/>
          <a:ln/>
        </p:spPr>
        <p:txBody>
          <a:bodyPr wrap="square" lIns="0" tIns="0" rIns="0" bIns="0" rtlCol="0" anchor="ctr"/>
          <a:lstStyle/>
          <a:p>
            <a:pPr indent="0" marL="0">
              <a:buNone/>
            </a:pPr>
            <a:r>
              <a:rPr lang="en-US" sz="1200" b="1" dirty="0">
                <a:solidFill>
                  <a:srgbClr val="FFFFFF"/>
                </a:solidFill>
                <a:latin typeface="Noto Sans JP" pitchFamily="34" charset="0"/>
                <a:ea typeface="Noto Sans JP" pitchFamily="34" charset="-122"/>
                <a:cs typeface="Noto Sans JP" pitchFamily="34" charset="-120"/>
              </a:rPr>
              <a:t>不審者の侵入を防ぐセキュリティと連携</a:t>
            </a:r>
            <a:endParaRPr lang="en-US" sz="1200" dirty="0"/>
          </a:p>
        </p:txBody>
      </p:sp>
      <p:pic>
        <p:nvPicPr>
          <p:cNvPr id="14" name="Image 4" descr="/home/user/suzuki-ceo/selfcafe-fc-deck/assets/icons/LuCheck-white.png">    </p:cNvPr>
          <p:cNvPicPr>
            <a:picLocks noChangeAspect="1"/>
          </p:cNvPicPr>
          <p:nvPr/>
        </p:nvPicPr>
        <p:blipFill>
          <a:blip r:embed="rId5"/>
          <a:stretch>
            <a:fillRect/>
          </a:stretch>
        </p:blipFill>
        <p:spPr>
          <a:xfrm>
            <a:off x="1087222" y="5358384"/>
            <a:ext cx="201168" cy="201168"/>
          </a:xfrm>
          <a:prstGeom prst="rect">
            <a:avLst/>
          </a:prstGeom>
        </p:spPr>
      </p:pic>
      <p:sp>
        <p:nvSpPr>
          <p:cNvPr id="15" name="Text 8"/>
          <p:cNvSpPr/>
          <p:nvPr/>
        </p:nvSpPr>
        <p:spPr>
          <a:xfrm>
            <a:off x="1398118" y="5303520"/>
            <a:ext cx="3922776" cy="310896"/>
          </a:xfrm>
          <a:prstGeom prst="rect">
            <a:avLst/>
          </a:prstGeom>
          <a:noFill/>
          <a:ln/>
        </p:spPr>
        <p:txBody>
          <a:bodyPr wrap="square" lIns="0" tIns="0" rIns="0" bIns="0" rtlCol="0" anchor="ctr"/>
          <a:lstStyle/>
          <a:p>
            <a:pPr indent="0" marL="0">
              <a:buNone/>
            </a:pPr>
            <a:r>
              <a:rPr lang="en-US" sz="1200" b="1" dirty="0">
                <a:solidFill>
                  <a:srgbClr val="FFFFFF"/>
                </a:solidFill>
                <a:latin typeface="Noto Sans JP" pitchFamily="34" charset="0"/>
                <a:ea typeface="Noto Sans JP" pitchFamily="34" charset="-122"/>
                <a:cs typeface="Noto Sans JP" pitchFamily="34" charset="-120"/>
              </a:rPr>
              <a:t>無人ならではの24時間営業も容易</a:t>
            </a:r>
            <a:endParaRPr lang="en-US" sz="1200" dirty="0"/>
          </a:p>
        </p:txBody>
      </p:sp>
      <p:sp>
        <p:nvSpPr>
          <p:cNvPr id="16" name="Shape 9"/>
          <p:cNvSpPr/>
          <p:nvPr/>
        </p:nvSpPr>
        <p:spPr>
          <a:xfrm>
            <a:off x="6034126" y="1371600"/>
            <a:ext cx="2626614" cy="2313432"/>
          </a:xfrm>
          <a:prstGeom prst="roundRect">
            <a:avLst>
              <a:gd name="adj" fmla="val 2767"/>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17" name="Shape 10"/>
          <p:cNvSpPr/>
          <p:nvPr/>
        </p:nvSpPr>
        <p:spPr>
          <a:xfrm>
            <a:off x="6271870" y="1609344"/>
            <a:ext cx="548640" cy="548640"/>
          </a:xfrm>
          <a:prstGeom prst="ellipse">
            <a:avLst/>
          </a:prstGeom>
          <a:solidFill>
            <a:srgbClr val="F0F5EF"/>
          </a:solidFill>
          <a:ln/>
        </p:spPr>
      </p:sp>
      <p:pic>
        <p:nvPicPr>
          <p:cNvPr id="18" name="Image 5" descr="/home/user/suzuki-ceo/selfcafe-fc-deck/assets/icons/LuBellRing-green.png">    </p:cNvPr>
          <p:cNvPicPr>
            <a:picLocks noChangeAspect="1"/>
          </p:cNvPicPr>
          <p:nvPr/>
        </p:nvPicPr>
        <p:blipFill>
          <a:blip r:embed="rId6"/>
          <a:stretch>
            <a:fillRect/>
          </a:stretch>
        </p:blipFill>
        <p:spPr>
          <a:xfrm>
            <a:off x="6392570" y="1730045"/>
            <a:ext cx="307238" cy="307238"/>
          </a:xfrm>
          <a:prstGeom prst="rect">
            <a:avLst/>
          </a:prstGeom>
        </p:spPr>
      </p:pic>
      <p:sp>
        <p:nvSpPr>
          <p:cNvPr id="19" name="Text 11"/>
          <p:cNvSpPr/>
          <p:nvPr/>
        </p:nvSpPr>
        <p:spPr>
          <a:xfrm>
            <a:off x="6271870" y="2231136"/>
            <a:ext cx="2151126" cy="310896"/>
          </a:xfrm>
          <a:prstGeom prst="rect">
            <a:avLst/>
          </a:prstGeom>
          <a:noFill/>
          <a:ln/>
        </p:spPr>
        <p:txBody>
          <a:bodyPr wrap="square" lIns="0" tIns="0" rIns="0" bIns="0" rtlCol="0" anchor="ctr"/>
          <a:lstStyle/>
          <a:p>
            <a:pPr indent="0" marL="0">
              <a:buNone/>
            </a:pPr>
            <a:r>
              <a:rPr lang="en-US" sz="1400" b="1" dirty="0">
                <a:solidFill>
                  <a:srgbClr val="1B5E20"/>
                </a:solidFill>
                <a:latin typeface="Noto Sans JP" pitchFamily="34" charset="0"/>
                <a:ea typeface="Noto Sans JP" pitchFamily="34" charset="-122"/>
                <a:cs typeface="Noto Sans JP" pitchFamily="34" charset="-120"/>
              </a:rPr>
              <a:t>非常ボタン</a:t>
            </a:r>
            <a:endParaRPr lang="en-US" sz="1400" dirty="0"/>
          </a:p>
        </p:txBody>
      </p:sp>
      <p:sp>
        <p:nvSpPr>
          <p:cNvPr id="20" name="Text 12"/>
          <p:cNvSpPr/>
          <p:nvPr/>
        </p:nvSpPr>
        <p:spPr>
          <a:xfrm>
            <a:off x="6271870" y="2578608"/>
            <a:ext cx="2151126" cy="932688"/>
          </a:xfrm>
          <a:prstGeom prst="rect">
            <a:avLst/>
          </a:prstGeom>
          <a:noFill/>
          <a:ln/>
        </p:spPr>
        <p:txBody>
          <a:bodyPr wrap="square" lIns="0" tIns="0" rIns="0" bIns="0" rtlCol="0" anchor="t"/>
          <a:lstStyle/>
          <a:p>
            <a:pPr indent="0" marL="0">
              <a:lnSpc>
                <a:spcPct val="130000"/>
              </a:lnSpc>
              <a:buNone/>
            </a:pPr>
            <a:r>
              <a:rPr lang="en-US" sz="1050" dirty="0">
                <a:solidFill>
                  <a:srgbClr val="3B3833"/>
                </a:solidFill>
                <a:latin typeface="Noto Sans JP" pitchFamily="34" charset="0"/>
                <a:ea typeface="Noto Sans JP" pitchFamily="34" charset="-122"/>
                <a:cs typeface="Noto Sans JP" pitchFamily="34" charset="-120"/>
              </a:rPr>
              <a:t>非常・緊急時に押すと、警備員が駆け付けます。</a:t>
            </a:r>
            <a:endParaRPr lang="en-US" sz="1050" dirty="0"/>
          </a:p>
        </p:txBody>
      </p:sp>
      <p:sp>
        <p:nvSpPr>
          <p:cNvPr id="21" name="Shape 13"/>
          <p:cNvSpPr/>
          <p:nvPr/>
        </p:nvSpPr>
        <p:spPr>
          <a:xfrm>
            <a:off x="8898484" y="1371600"/>
            <a:ext cx="2626614" cy="2313432"/>
          </a:xfrm>
          <a:prstGeom prst="roundRect">
            <a:avLst>
              <a:gd name="adj" fmla="val 2767"/>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22" name="Shape 14"/>
          <p:cNvSpPr/>
          <p:nvPr/>
        </p:nvSpPr>
        <p:spPr>
          <a:xfrm>
            <a:off x="9136228" y="1609344"/>
            <a:ext cx="548640" cy="548640"/>
          </a:xfrm>
          <a:prstGeom prst="ellipse">
            <a:avLst/>
          </a:prstGeom>
          <a:solidFill>
            <a:srgbClr val="F0F5EF"/>
          </a:solidFill>
          <a:ln/>
        </p:spPr>
      </p:sp>
      <p:pic>
        <p:nvPicPr>
          <p:cNvPr id="23" name="Image 6" descr="/home/user/suzuki-ceo/selfcafe-fc-deck/assets/icons/LuCctv-green.png">    </p:cNvPr>
          <p:cNvPicPr>
            <a:picLocks noChangeAspect="1"/>
          </p:cNvPicPr>
          <p:nvPr/>
        </p:nvPicPr>
        <p:blipFill>
          <a:blip r:embed="rId7"/>
          <a:stretch>
            <a:fillRect/>
          </a:stretch>
        </p:blipFill>
        <p:spPr>
          <a:xfrm>
            <a:off x="9256928" y="1730045"/>
            <a:ext cx="307238" cy="307238"/>
          </a:xfrm>
          <a:prstGeom prst="rect">
            <a:avLst/>
          </a:prstGeom>
        </p:spPr>
      </p:pic>
      <p:sp>
        <p:nvSpPr>
          <p:cNvPr id="24" name="Text 15"/>
          <p:cNvSpPr/>
          <p:nvPr/>
        </p:nvSpPr>
        <p:spPr>
          <a:xfrm>
            <a:off x="9136228" y="2231136"/>
            <a:ext cx="2151126" cy="310896"/>
          </a:xfrm>
          <a:prstGeom prst="rect">
            <a:avLst/>
          </a:prstGeom>
          <a:noFill/>
          <a:ln/>
        </p:spPr>
        <p:txBody>
          <a:bodyPr wrap="square" lIns="0" tIns="0" rIns="0" bIns="0" rtlCol="0" anchor="ctr"/>
          <a:lstStyle/>
          <a:p>
            <a:pPr indent="0" marL="0">
              <a:buNone/>
            </a:pPr>
            <a:r>
              <a:rPr lang="en-US" sz="1400" b="1" dirty="0">
                <a:solidFill>
                  <a:srgbClr val="1B5E20"/>
                </a:solidFill>
                <a:latin typeface="Noto Sans JP" pitchFamily="34" charset="0"/>
                <a:ea typeface="Noto Sans JP" pitchFamily="34" charset="-122"/>
                <a:cs typeface="Noto Sans JP" pitchFamily="34" charset="-120"/>
              </a:rPr>
              <a:t>画像センサー</a:t>
            </a:r>
            <a:endParaRPr lang="en-US" sz="1400" dirty="0"/>
          </a:p>
        </p:txBody>
      </p:sp>
      <p:sp>
        <p:nvSpPr>
          <p:cNvPr id="25" name="Text 16"/>
          <p:cNvSpPr/>
          <p:nvPr/>
        </p:nvSpPr>
        <p:spPr>
          <a:xfrm>
            <a:off x="9136228" y="2578608"/>
            <a:ext cx="2151126" cy="932688"/>
          </a:xfrm>
          <a:prstGeom prst="rect">
            <a:avLst/>
          </a:prstGeom>
          <a:noFill/>
          <a:ln/>
        </p:spPr>
        <p:txBody>
          <a:bodyPr wrap="square" lIns="0" tIns="0" rIns="0" bIns="0" rtlCol="0" anchor="t"/>
          <a:lstStyle/>
          <a:p>
            <a:pPr indent="0" marL="0">
              <a:lnSpc>
                <a:spcPct val="130000"/>
              </a:lnSpc>
              <a:buNone/>
            </a:pPr>
            <a:r>
              <a:rPr lang="en-US" sz="1050" dirty="0">
                <a:solidFill>
                  <a:srgbClr val="3B3833"/>
                </a:solidFill>
                <a:latin typeface="Noto Sans JP" pitchFamily="34" charset="0"/>
                <a:ea typeface="Noto Sans JP" pitchFamily="34" charset="-122"/>
                <a:cs typeface="Noto Sans JP" pitchFamily="34" charset="-120"/>
              </a:rPr>
              <a:t>非常時の映像を監視センターへ送信。スピーカーで威嚇可能。閉店後は侵入者を感知して通報します。</a:t>
            </a:r>
            <a:endParaRPr lang="en-US" sz="1050" dirty="0"/>
          </a:p>
        </p:txBody>
      </p:sp>
      <p:sp>
        <p:nvSpPr>
          <p:cNvPr id="26" name="Shape 17"/>
          <p:cNvSpPr/>
          <p:nvPr/>
        </p:nvSpPr>
        <p:spPr>
          <a:xfrm>
            <a:off x="6034126" y="3904488"/>
            <a:ext cx="2626614" cy="2313432"/>
          </a:xfrm>
          <a:prstGeom prst="roundRect">
            <a:avLst>
              <a:gd name="adj" fmla="val 2767"/>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27" name="Shape 18"/>
          <p:cNvSpPr/>
          <p:nvPr/>
        </p:nvSpPr>
        <p:spPr>
          <a:xfrm>
            <a:off x="6271870" y="4142232"/>
            <a:ext cx="548640" cy="548640"/>
          </a:xfrm>
          <a:prstGeom prst="ellipse">
            <a:avLst/>
          </a:prstGeom>
          <a:solidFill>
            <a:srgbClr val="F0F5EF"/>
          </a:solidFill>
          <a:ln/>
        </p:spPr>
      </p:sp>
      <p:pic>
        <p:nvPicPr>
          <p:cNvPr id="28" name="Image 7" descr="/home/user/suzuki-ceo/selfcafe-fc-deck/assets/icons/LuFlame-green.png">    </p:cNvPr>
          <p:cNvPicPr>
            <a:picLocks noChangeAspect="1"/>
          </p:cNvPicPr>
          <p:nvPr/>
        </p:nvPicPr>
        <p:blipFill>
          <a:blip r:embed="rId8"/>
          <a:stretch>
            <a:fillRect/>
          </a:stretch>
        </p:blipFill>
        <p:spPr>
          <a:xfrm>
            <a:off x="6392570" y="4262933"/>
            <a:ext cx="307238" cy="307238"/>
          </a:xfrm>
          <a:prstGeom prst="rect">
            <a:avLst/>
          </a:prstGeom>
        </p:spPr>
      </p:pic>
      <p:sp>
        <p:nvSpPr>
          <p:cNvPr id="29" name="Text 19"/>
          <p:cNvSpPr/>
          <p:nvPr/>
        </p:nvSpPr>
        <p:spPr>
          <a:xfrm>
            <a:off x="6271870" y="4764024"/>
            <a:ext cx="2151126" cy="310896"/>
          </a:xfrm>
          <a:prstGeom prst="rect">
            <a:avLst/>
          </a:prstGeom>
          <a:noFill/>
          <a:ln/>
        </p:spPr>
        <p:txBody>
          <a:bodyPr wrap="square" lIns="0" tIns="0" rIns="0" bIns="0" rtlCol="0" anchor="ctr"/>
          <a:lstStyle/>
          <a:p>
            <a:pPr indent="0" marL="0">
              <a:buNone/>
            </a:pPr>
            <a:r>
              <a:rPr lang="en-US" sz="1400" b="1" dirty="0">
                <a:solidFill>
                  <a:srgbClr val="1B5E20"/>
                </a:solidFill>
                <a:latin typeface="Noto Sans JP" pitchFamily="34" charset="0"/>
                <a:ea typeface="Noto Sans JP" pitchFamily="34" charset="-122"/>
                <a:cs typeface="Noto Sans JP" pitchFamily="34" charset="-120"/>
              </a:rPr>
              <a:t>火災センサー</a:t>
            </a:r>
            <a:endParaRPr lang="en-US" sz="1400" dirty="0"/>
          </a:p>
        </p:txBody>
      </p:sp>
      <p:sp>
        <p:nvSpPr>
          <p:cNvPr id="30" name="Text 20"/>
          <p:cNvSpPr/>
          <p:nvPr/>
        </p:nvSpPr>
        <p:spPr>
          <a:xfrm>
            <a:off x="6271870" y="5111496"/>
            <a:ext cx="2151126" cy="932688"/>
          </a:xfrm>
          <a:prstGeom prst="rect">
            <a:avLst/>
          </a:prstGeom>
          <a:noFill/>
          <a:ln/>
        </p:spPr>
        <p:txBody>
          <a:bodyPr wrap="square" lIns="0" tIns="0" rIns="0" bIns="0" rtlCol="0" anchor="t"/>
          <a:lstStyle/>
          <a:p>
            <a:pPr indent="0" marL="0">
              <a:lnSpc>
                <a:spcPct val="130000"/>
              </a:lnSpc>
              <a:buNone/>
            </a:pPr>
            <a:r>
              <a:rPr lang="en-US" sz="1050" dirty="0">
                <a:solidFill>
                  <a:srgbClr val="3B3833"/>
                </a:solidFill>
                <a:latin typeface="Noto Sans JP" pitchFamily="34" charset="0"/>
                <a:ea typeface="Noto Sans JP" pitchFamily="34" charset="-122"/>
                <a:cs typeface="Noto Sans JP" pitchFamily="34" charset="-120"/>
              </a:rPr>
              <a:t>火災の発生を感知して、警備員が駆け付けます。</a:t>
            </a:r>
            <a:endParaRPr lang="en-US" sz="1050" dirty="0"/>
          </a:p>
        </p:txBody>
      </p:sp>
      <p:sp>
        <p:nvSpPr>
          <p:cNvPr id="31" name="Shape 21"/>
          <p:cNvSpPr/>
          <p:nvPr/>
        </p:nvSpPr>
        <p:spPr>
          <a:xfrm>
            <a:off x="8898484" y="3904488"/>
            <a:ext cx="2626614" cy="2313432"/>
          </a:xfrm>
          <a:prstGeom prst="roundRect">
            <a:avLst>
              <a:gd name="adj" fmla="val 2767"/>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32" name="Shape 22"/>
          <p:cNvSpPr/>
          <p:nvPr/>
        </p:nvSpPr>
        <p:spPr>
          <a:xfrm>
            <a:off x="9136228" y="4142232"/>
            <a:ext cx="548640" cy="548640"/>
          </a:xfrm>
          <a:prstGeom prst="ellipse">
            <a:avLst/>
          </a:prstGeom>
          <a:solidFill>
            <a:srgbClr val="F0F5EF"/>
          </a:solidFill>
          <a:ln/>
        </p:spPr>
      </p:sp>
      <p:pic>
        <p:nvPicPr>
          <p:cNvPr id="33" name="Image 8" descr="/home/user/suzuki-ceo/selfcafe-fc-deck/assets/icons/LuKeyRound-green.png">    </p:cNvPr>
          <p:cNvPicPr>
            <a:picLocks noChangeAspect="1"/>
          </p:cNvPicPr>
          <p:nvPr/>
        </p:nvPicPr>
        <p:blipFill>
          <a:blip r:embed="rId9"/>
          <a:stretch>
            <a:fillRect/>
          </a:stretch>
        </p:blipFill>
        <p:spPr>
          <a:xfrm>
            <a:off x="9256928" y="4262933"/>
            <a:ext cx="307238" cy="307238"/>
          </a:xfrm>
          <a:prstGeom prst="rect">
            <a:avLst/>
          </a:prstGeom>
        </p:spPr>
      </p:pic>
      <p:sp>
        <p:nvSpPr>
          <p:cNvPr id="34" name="Text 23"/>
          <p:cNvSpPr/>
          <p:nvPr/>
        </p:nvSpPr>
        <p:spPr>
          <a:xfrm>
            <a:off x="9136228" y="4764024"/>
            <a:ext cx="2151126" cy="310896"/>
          </a:xfrm>
          <a:prstGeom prst="rect">
            <a:avLst/>
          </a:prstGeom>
          <a:noFill/>
          <a:ln/>
        </p:spPr>
        <p:txBody>
          <a:bodyPr wrap="square" lIns="0" tIns="0" rIns="0" bIns="0" rtlCol="0" anchor="ctr"/>
          <a:lstStyle/>
          <a:p>
            <a:pPr indent="0" marL="0">
              <a:buNone/>
            </a:pPr>
            <a:r>
              <a:rPr lang="en-US" sz="1400" b="1" dirty="0">
                <a:solidFill>
                  <a:srgbClr val="1B5E20"/>
                </a:solidFill>
                <a:latin typeface="Noto Sans JP" pitchFamily="34" charset="0"/>
                <a:ea typeface="Noto Sans JP" pitchFamily="34" charset="-122"/>
                <a:cs typeface="Noto Sans JP" pitchFamily="34" charset="-120"/>
              </a:rPr>
              <a:t>出入口の管理</a:t>
            </a:r>
            <a:endParaRPr lang="en-US" sz="1400" dirty="0"/>
          </a:p>
        </p:txBody>
      </p:sp>
      <p:sp>
        <p:nvSpPr>
          <p:cNvPr id="35" name="Text 24"/>
          <p:cNvSpPr/>
          <p:nvPr/>
        </p:nvSpPr>
        <p:spPr>
          <a:xfrm>
            <a:off x="9136228" y="5111496"/>
            <a:ext cx="2151126" cy="932688"/>
          </a:xfrm>
          <a:prstGeom prst="rect">
            <a:avLst/>
          </a:prstGeom>
          <a:noFill/>
          <a:ln/>
        </p:spPr>
        <p:txBody>
          <a:bodyPr wrap="square" lIns="0" tIns="0" rIns="0" bIns="0" rtlCol="0" anchor="t"/>
          <a:lstStyle/>
          <a:p>
            <a:pPr indent="0" marL="0">
              <a:lnSpc>
                <a:spcPct val="130000"/>
              </a:lnSpc>
              <a:buNone/>
            </a:pPr>
            <a:r>
              <a:rPr lang="en-US" sz="1050" dirty="0">
                <a:solidFill>
                  <a:srgbClr val="3B3833"/>
                </a:solidFill>
                <a:latin typeface="Noto Sans JP" pitchFamily="34" charset="0"/>
                <a:ea typeface="Noto Sans JP" pitchFamily="34" charset="-122"/>
                <a:cs typeface="Noto Sans JP" pitchFamily="34" charset="-120"/>
              </a:rPr>
              <a:t>電気錠・電磁錠や自動ドアと連携し、閉店／開店時間に自動施錠・開錠。閉店時は自動で侵入警戒をセットします。</a:t>
            </a:r>
            <a:endParaRPr lang="en-US" sz="1050" dirty="0"/>
          </a:p>
        </p:txBody>
      </p:sp>
      <p:sp>
        <p:nvSpPr>
          <p:cNvPr id="36" name="Text 25"/>
          <p:cNvSpPr/>
          <p:nvPr/>
        </p:nvSpPr>
        <p:spPr>
          <a:xfrm>
            <a:off x="666598" y="6327648"/>
            <a:ext cx="7315200" cy="219456"/>
          </a:xfrm>
          <a:prstGeom prst="rect">
            <a:avLst/>
          </a:prstGeom>
          <a:noFill/>
          <a:ln/>
        </p:spPr>
        <p:txBody>
          <a:bodyPr wrap="square" lIns="0" tIns="0" rIns="0" bIns="0" rtlCol="0" anchor="ctr"/>
          <a:lstStyle/>
          <a:p>
            <a:pPr indent="0" marL="0">
              <a:buNone/>
            </a:pPr>
            <a:r>
              <a:rPr lang="en-US" sz="950" dirty="0">
                <a:solidFill>
                  <a:srgbClr val="9A948A"/>
                </a:solidFill>
                <a:latin typeface="Noto Sans JP" pitchFamily="34" charset="0"/>
                <a:ea typeface="Noto Sans JP" pitchFamily="34" charset="-122"/>
                <a:cs typeface="Noto Sans JP" pitchFamily="34" charset="-120"/>
              </a:rPr>
              <a:t>※警備会社は環境により異なる場合がございます。</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CF5"/>
        </a:solidFill>
      </p:bgPr>
    </p:bg>
    <p:spTree>
      <p:nvGrpSpPr>
        <p:cNvPr id="1" name=""/>
        <p:cNvGrpSpPr/>
        <p:nvPr/>
      </p:nvGrpSpPr>
      <p:grpSpPr>
        <a:xfrm>
          <a:off x="0" y="0"/>
          <a:ext cx="0" cy="0"/>
          <a:chOff x="0" y="0"/>
          <a:chExt cx="0" cy="0"/>
        </a:xfrm>
      </p:grpSpPr>
      <p:sp>
        <p:nvSpPr>
          <p:cNvPr id="2" name="Text 0"/>
          <p:cNvSpPr/>
          <p:nvPr/>
        </p:nvSpPr>
        <p:spPr>
          <a:xfrm>
            <a:off x="666598" y="506578"/>
            <a:ext cx="8503920" cy="384048"/>
          </a:xfrm>
          <a:prstGeom prst="rect">
            <a:avLst/>
          </a:prstGeom>
          <a:noFill/>
          <a:ln/>
        </p:spPr>
        <p:txBody>
          <a:bodyPr wrap="square" lIns="0" tIns="0" rIns="0" bIns="0" rtlCol="0" anchor="ctr"/>
          <a:lstStyle/>
          <a:p>
            <a:pPr algn="l" indent="0" marL="0">
              <a:buNone/>
            </a:pPr>
            <a:r>
              <a:rPr lang="en-US" sz="3000" dirty="0">
                <a:solidFill>
                  <a:srgbClr val="1B5E20"/>
                </a:solidFill>
                <a:latin typeface="Noto Sans JP" pitchFamily="34" charset="0"/>
                <a:ea typeface="Noto Sans JP" pitchFamily="34" charset="-122"/>
                <a:cs typeface="Noto Sans JP" pitchFamily="34" charset="-120"/>
              </a:rPr>
              <a:t>店内モニタリング＆サポート基盤</a:t>
            </a:r>
            <a:endParaRPr lang="en-US" sz="3000" dirty="0"/>
          </a:p>
        </p:txBody>
      </p:sp>
      <p:sp>
        <p:nvSpPr>
          <p:cNvPr id="3" name="Shape 1"/>
          <p:cNvSpPr/>
          <p:nvPr/>
        </p:nvSpPr>
        <p:spPr>
          <a:xfrm>
            <a:off x="666598" y="1114654"/>
            <a:ext cx="10858500" cy="19202"/>
          </a:xfrm>
          <a:prstGeom prst="rect">
            <a:avLst/>
          </a:prstGeom>
          <a:solidFill>
            <a:srgbClr val="8D6E63"/>
          </a:solidFill>
          <a:ln/>
        </p:spPr>
      </p:sp>
      <p:pic>
        <p:nvPicPr>
          <p:cNvPr id="4" name="Image 0" descr="/home/user/suzuki-ceo/selfcafe-fc-deck/assets/logo_gray.png">    </p:cNvPr>
          <p:cNvPicPr>
            <a:picLocks noChangeAspect="1"/>
          </p:cNvPicPr>
          <p:nvPr/>
        </p:nvPicPr>
        <p:blipFill>
          <a:blip r:embed="rId1"/>
          <a:stretch>
            <a:fillRect/>
          </a:stretch>
        </p:blipFill>
        <p:spPr>
          <a:xfrm>
            <a:off x="9415577" y="802843"/>
            <a:ext cx="2024482" cy="288036"/>
          </a:xfrm>
          <a:prstGeom prst="rect">
            <a:avLst/>
          </a:prstGeom>
        </p:spPr>
      </p:pic>
      <p:sp>
        <p:nvSpPr>
          <p:cNvPr id="5" name="Text 2"/>
          <p:cNvSpPr/>
          <p:nvPr/>
        </p:nvSpPr>
        <p:spPr>
          <a:xfrm>
            <a:off x="10610698" y="6345936"/>
            <a:ext cx="914400" cy="219456"/>
          </a:xfrm>
          <a:prstGeom prst="rect">
            <a:avLst/>
          </a:prstGeom>
          <a:noFill/>
          <a:ln/>
        </p:spPr>
        <p:txBody>
          <a:bodyPr wrap="square" lIns="0" tIns="0" rIns="0" bIns="0" rtlCol="0" anchor="ctr"/>
          <a:lstStyle/>
          <a:p>
            <a:pPr algn="r" indent="0" marL="0">
              <a:buNone/>
            </a:pPr>
            <a:r>
              <a:rPr lang="en-US" sz="1300" dirty="0">
                <a:solidFill>
                  <a:srgbClr val="000000"/>
                </a:solidFill>
                <a:latin typeface="Cambria" pitchFamily="34" charset="0"/>
                <a:ea typeface="Cambria" pitchFamily="34" charset="-122"/>
                <a:cs typeface="Cambria" pitchFamily="34" charset="-120"/>
              </a:rPr>
              <a:t>17</a:t>
            </a:r>
            <a:endParaRPr lang="en-US" sz="1300" dirty="0"/>
          </a:p>
        </p:txBody>
      </p:sp>
      <p:sp>
        <p:nvSpPr>
          <p:cNvPr id="6" name="Text 3"/>
          <p:cNvSpPr/>
          <p:nvPr/>
        </p:nvSpPr>
        <p:spPr>
          <a:xfrm>
            <a:off x="666598" y="1243584"/>
            <a:ext cx="10858500" cy="256032"/>
          </a:xfrm>
          <a:prstGeom prst="rect">
            <a:avLst/>
          </a:prstGeom>
          <a:noFill/>
          <a:ln/>
        </p:spPr>
        <p:txBody>
          <a:bodyPr wrap="square" lIns="0" tIns="0" rIns="0" bIns="0" rtlCol="0" anchor="ctr"/>
          <a:lstStyle/>
          <a:p>
            <a:pPr indent="0" marL="0">
              <a:buNone/>
            </a:pPr>
            <a:r>
              <a:rPr lang="en-US" sz="1150" b="1" dirty="0">
                <a:solidFill>
                  <a:srgbClr val="5D4037"/>
                </a:solidFill>
                <a:latin typeface="Noto Sans JP" pitchFamily="34" charset="0"/>
                <a:ea typeface="Noto Sans JP" pitchFamily="34" charset="-122"/>
                <a:cs typeface="Noto Sans JP" pitchFamily="34" charset="-120"/>
              </a:rPr>
              <a:t>緊急時に強い、安心のサポート</a:t>
            </a:r>
            <a:endParaRPr lang="en-US" sz="1150" dirty="0"/>
          </a:p>
        </p:txBody>
      </p:sp>
      <p:sp>
        <p:nvSpPr>
          <p:cNvPr id="7" name="Shape 4"/>
          <p:cNvSpPr/>
          <p:nvPr/>
        </p:nvSpPr>
        <p:spPr>
          <a:xfrm>
            <a:off x="666598" y="1627632"/>
            <a:ext cx="2536317" cy="2487168"/>
          </a:xfrm>
          <a:prstGeom prst="roundRect">
            <a:avLst>
              <a:gd name="adj" fmla="val 2574"/>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8" name="Shape 5"/>
          <p:cNvSpPr/>
          <p:nvPr/>
        </p:nvSpPr>
        <p:spPr>
          <a:xfrm>
            <a:off x="904342" y="1865376"/>
            <a:ext cx="566928" cy="566928"/>
          </a:xfrm>
          <a:prstGeom prst="ellipse">
            <a:avLst/>
          </a:prstGeom>
          <a:solidFill>
            <a:srgbClr val="F0F5EF"/>
          </a:solidFill>
          <a:ln/>
        </p:spPr>
      </p:sp>
      <p:pic>
        <p:nvPicPr>
          <p:cNvPr id="9" name="Image 1" descr="/home/user/suzuki-ceo/selfcafe-fc-deck/assets/icons/LuBellRing-green.png">    </p:cNvPr>
          <p:cNvPicPr>
            <a:picLocks noChangeAspect="1"/>
          </p:cNvPicPr>
          <p:nvPr/>
        </p:nvPicPr>
        <p:blipFill>
          <a:blip r:embed="rId2"/>
          <a:stretch>
            <a:fillRect/>
          </a:stretch>
        </p:blipFill>
        <p:spPr>
          <a:xfrm>
            <a:off x="1029066" y="1990100"/>
            <a:ext cx="317480" cy="317480"/>
          </a:xfrm>
          <a:prstGeom prst="rect">
            <a:avLst/>
          </a:prstGeom>
        </p:spPr>
      </p:pic>
      <p:sp>
        <p:nvSpPr>
          <p:cNvPr id="10" name="Text 6"/>
          <p:cNvSpPr/>
          <p:nvPr/>
        </p:nvSpPr>
        <p:spPr>
          <a:xfrm>
            <a:off x="904342" y="2523744"/>
            <a:ext cx="2060829" cy="384048"/>
          </a:xfrm>
          <a:prstGeom prst="rect">
            <a:avLst/>
          </a:prstGeom>
          <a:noFill/>
          <a:ln/>
        </p:spPr>
        <p:txBody>
          <a:bodyPr wrap="square" lIns="0" tIns="0" rIns="0" bIns="0" rtlCol="0" anchor="ctr"/>
          <a:lstStyle/>
          <a:p>
            <a:pPr indent="0" marL="0">
              <a:buNone/>
            </a:pPr>
            <a:r>
              <a:rPr lang="en-US" sz="1350" b="1" dirty="0">
                <a:solidFill>
                  <a:srgbClr val="1B5E20"/>
                </a:solidFill>
                <a:latin typeface="Noto Sans JP" pitchFamily="34" charset="0"/>
                <a:ea typeface="Noto Sans JP" pitchFamily="34" charset="-122"/>
                <a:cs typeface="Noto Sans JP" pitchFamily="34" charset="-120"/>
              </a:rPr>
              <a:t>非常ボタンを店内各所に</a:t>
            </a:r>
            <a:endParaRPr lang="en-US" sz="1350" dirty="0"/>
          </a:p>
        </p:txBody>
      </p:sp>
      <p:sp>
        <p:nvSpPr>
          <p:cNvPr id="11" name="Text 7"/>
          <p:cNvSpPr/>
          <p:nvPr/>
        </p:nvSpPr>
        <p:spPr>
          <a:xfrm>
            <a:off x="904342" y="2999232"/>
            <a:ext cx="2060829" cy="969264"/>
          </a:xfrm>
          <a:prstGeom prst="rect">
            <a:avLst/>
          </a:prstGeom>
          <a:noFill/>
          <a:ln/>
        </p:spPr>
        <p:txBody>
          <a:bodyPr wrap="square" lIns="0" tIns="0" rIns="0" bIns="0" rtlCol="0" anchor="t"/>
          <a:lstStyle/>
          <a:p>
            <a:pPr indent="0" marL="0">
              <a:lnSpc>
                <a:spcPct val="130000"/>
              </a:lnSpc>
              <a:buNone/>
            </a:pPr>
            <a:r>
              <a:rPr lang="en-US" sz="1050" dirty="0">
                <a:solidFill>
                  <a:srgbClr val="3B3833"/>
                </a:solidFill>
                <a:latin typeface="Noto Sans JP" pitchFamily="34" charset="0"/>
                <a:ea typeface="Noto Sans JP" pitchFamily="34" charset="-122"/>
                <a:cs typeface="Noto Sans JP" pitchFamily="34" charset="-120"/>
              </a:rPr>
              <a:t>災害・体調不良・不審者・お客様同士のトラブルなど、あらゆる緊急事態に備えています。</a:t>
            </a:r>
            <a:endParaRPr lang="en-US" sz="1050" dirty="0"/>
          </a:p>
        </p:txBody>
      </p:sp>
      <p:sp>
        <p:nvSpPr>
          <p:cNvPr id="12" name="Shape 8"/>
          <p:cNvSpPr/>
          <p:nvPr/>
        </p:nvSpPr>
        <p:spPr>
          <a:xfrm>
            <a:off x="3440659" y="1627632"/>
            <a:ext cx="2536317" cy="2487168"/>
          </a:xfrm>
          <a:prstGeom prst="roundRect">
            <a:avLst>
              <a:gd name="adj" fmla="val 2574"/>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13" name="Shape 9"/>
          <p:cNvSpPr/>
          <p:nvPr/>
        </p:nvSpPr>
        <p:spPr>
          <a:xfrm>
            <a:off x="3678403" y="1865376"/>
            <a:ext cx="566928" cy="566928"/>
          </a:xfrm>
          <a:prstGeom prst="ellipse">
            <a:avLst/>
          </a:prstGeom>
          <a:solidFill>
            <a:srgbClr val="F0F5EF"/>
          </a:solidFill>
          <a:ln/>
        </p:spPr>
      </p:sp>
      <p:pic>
        <p:nvPicPr>
          <p:cNvPr id="14" name="Image 2" descr="/home/user/suzuki-ceo/selfcafe-fc-deck/assets/icons/LuVideo-green.png">    </p:cNvPr>
          <p:cNvPicPr>
            <a:picLocks noChangeAspect="1"/>
          </p:cNvPicPr>
          <p:nvPr/>
        </p:nvPicPr>
        <p:blipFill>
          <a:blip r:embed="rId3"/>
          <a:stretch>
            <a:fillRect/>
          </a:stretch>
        </p:blipFill>
        <p:spPr>
          <a:xfrm>
            <a:off x="3803127" y="1990100"/>
            <a:ext cx="317480" cy="317480"/>
          </a:xfrm>
          <a:prstGeom prst="rect">
            <a:avLst/>
          </a:prstGeom>
        </p:spPr>
      </p:pic>
      <p:sp>
        <p:nvSpPr>
          <p:cNvPr id="15" name="Text 10"/>
          <p:cNvSpPr/>
          <p:nvPr/>
        </p:nvSpPr>
        <p:spPr>
          <a:xfrm>
            <a:off x="3678403" y="2523744"/>
            <a:ext cx="2060829" cy="384048"/>
          </a:xfrm>
          <a:prstGeom prst="rect">
            <a:avLst/>
          </a:prstGeom>
          <a:noFill/>
          <a:ln/>
        </p:spPr>
        <p:txBody>
          <a:bodyPr wrap="square" lIns="0" tIns="0" rIns="0" bIns="0" rtlCol="0" anchor="ctr"/>
          <a:lstStyle/>
          <a:p>
            <a:pPr indent="0" marL="0">
              <a:buNone/>
            </a:pPr>
            <a:r>
              <a:rPr lang="en-US" sz="1350" b="1" dirty="0">
                <a:solidFill>
                  <a:srgbClr val="1B5E20"/>
                </a:solidFill>
                <a:latin typeface="Noto Sans JP" pitchFamily="34" charset="0"/>
                <a:ea typeface="Noto Sans JP" pitchFamily="34" charset="-122"/>
                <a:cs typeface="Noto Sans JP" pitchFamily="34" charset="-120"/>
              </a:rPr>
              <a:t>6台のカメラで常時監視</a:t>
            </a:r>
            <a:endParaRPr lang="en-US" sz="1350" dirty="0"/>
          </a:p>
        </p:txBody>
      </p:sp>
      <p:sp>
        <p:nvSpPr>
          <p:cNvPr id="16" name="Text 11"/>
          <p:cNvSpPr/>
          <p:nvPr/>
        </p:nvSpPr>
        <p:spPr>
          <a:xfrm>
            <a:off x="3678403" y="2999232"/>
            <a:ext cx="2060829" cy="969264"/>
          </a:xfrm>
          <a:prstGeom prst="rect">
            <a:avLst/>
          </a:prstGeom>
          <a:noFill/>
          <a:ln/>
        </p:spPr>
        <p:txBody>
          <a:bodyPr wrap="square" lIns="0" tIns="0" rIns="0" bIns="0" rtlCol="0" anchor="t"/>
          <a:lstStyle/>
          <a:p>
            <a:pPr indent="0" marL="0">
              <a:lnSpc>
                <a:spcPct val="130000"/>
              </a:lnSpc>
              <a:buNone/>
            </a:pPr>
            <a:r>
              <a:rPr lang="en-US" sz="1050" dirty="0">
                <a:solidFill>
                  <a:srgbClr val="3B3833"/>
                </a:solidFill>
                <a:latin typeface="Noto Sans JP" pitchFamily="34" charset="0"/>
                <a:ea typeface="Noto Sans JP" pitchFamily="34" charset="-122"/>
                <a:cs typeface="Noto Sans JP" pitchFamily="34" charset="-120"/>
              </a:rPr>
              <a:t>店内の状況を常時把握。異常があれば即座に確認・対応できる体制を整えています。</a:t>
            </a:r>
            <a:endParaRPr lang="en-US" sz="1050" dirty="0"/>
          </a:p>
        </p:txBody>
      </p:sp>
      <p:sp>
        <p:nvSpPr>
          <p:cNvPr id="17" name="Shape 12"/>
          <p:cNvSpPr/>
          <p:nvPr/>
        </p:nvSpPr>
        <p:spPr>
          <a:xfrm>
            <a:off x="6214720" y="1627632"/>
            <a:ext cx="2536317" cy="2487168"/>
          </a:xfrm>
          <a:prstGeom prst="roundRect">
            <a:avLst>
              <a:gd name="adj" fmla="val 2574"/>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18" name="Shape 13"/>
          <p:cNvSpPr/>
          <p:nvPr/>
        </p:nvSpPr>
        <p:spPr>
          <a:xfrm>
            <a:off x="6452464" y="1865376"/>
            <a:ext cx="566928" cy="566928"/>
          </a:xfrm>
          <a:prstGeom prst="ellipse">
            <a:avLst/>
          </a:prstGeom>
          <a:solidFill>
            <a:srgbClr val="F0F5EF"/>
          </a:solidFill>
          <a:ln/>
        </p:spPr>
      </p:sp>
      <p:pic>
        <p:nvPicPr>
          <p:cNvPr id="19" name="Image 3" descr="/home/user/suzuki-ceo/selfcafe-fc-deck/assets/icons/LuMic-green.png">    </p:cNvPr>
          <p:cNvPicPr>
            <a:picLocks noChangeAspect="1"/>
          </p:cNvPicPr>
          <p:nvPr/>
        </p:nvPicPr>
        <p:blipFill>
          <a:blip r:embed="rId4"/>
          <a:stretch>
            <a:fillRect/>
          </a:stretch>
        </p:blipFill>
        <p:spPr>
          <a:xfrm>
            <a:off x="6577188" y="1990100"/>
            <a:ext cx="317480" cy="317480"/>
          </a:xfrm>
          <a:prstGeom prst="rect">
            <a:avLst/>
          </a:prstGeom>
        </p:spPr>
      </p:pic>
      <p:sp>
        <p:nvSpPr>
          <p:cNvPr id="20" name="Text 14"/>
          <p:cNvSpPr/>
          <p:nvPr/>
        </p:nvSpPr>
        <p:spPr>
          <a:xfrm>
            <a:off x="6452464" y="2523744"/>
            <a:ext cx="2060829" cy="384048"/>
          </a:xfrm>
          <a:prstGeom prst="rect">
            <a:avLst/>
          </a:prstGeom>
          <a:noFill/>
          <a:ln/>
        </p:spPr>
        <p:txBody>
          <a:bodyPr wrap="square" lIns="0" tIns="0" rIns="0" bIns="0" rtlCol="0" anchor="ctr"/>
          <a:lstStyle/>
          <a:p>
            <a:pPr indent="0" marL="0">
              <a:buNone/>
            </a:pPr>
            <a:r>
              <a:rPr lang="en-US" sz="1350" b="1" dirty="0">
                <a:solidFill>
                  <a:srgbClr val="1B5E20"/>
                </a:solidFill>
                <a:latin typeface="Noto Sans JP" pitchFamily="34" charset="0"/>
                <a:ea typeface="Noto Sans JP" pitchFamily="34" charset="-122"/>
                <a:cs typeface="Noto Sans JP" pitchFamily="34" charset="-120"/>
              </a:rPr>
              <a:t>双方向音声に対応</a:t>
            </a:r>
            <a:endParaRPr lang="en-US" sz="1350" dirty="0"/>
          </a:p>
        </p:txBody>
      </p:sp>
      <p:sp>
        <p:nvSpPr>
          <p:cNvPr id="21" name="Text 15"/>
          <p:cNvSpPr/>
          <p:nvPr/>
        </p:nvSpPr>
        <p:spPr>
          <a:xfrm>
            <a:off x="6452464" y="2999232"/>
            <a:ext cx="2060829" cy="969264"/>
          </a:xfrm>
          <a:prstGeom prst="rect">
            <a:avLst/>
          </a:prstGeom>
          <a:noFill/>
          <a:ln/>
        </p:spPr>
        <p:txBody>
          <a:bodyPr wrap="square" lIns="0" tIns="0" rIns="0" bIns="0" rtlCol="0" anchor="t"/>
          <a:lstStyle/>
          <a:p>
            <a:pPr indent="0" marL="0">
              <a:lnSpc>
                <a:spcPct val="130000"/>
              </a:lnSpc>
              <a:buNone/>
            </a:pPr>
            <a:r>
              <a:rPr lang="en-US" sz="1050" dirty="0">
                <a:solidFill>
                  <a:srgbClr val="3B3833"/>
                </a:solidFill>
                <a:latin typeface="Noto Sans JP" pitchFamily="34" charset="0"/>
                <a:ea typeface="Noto Sans JP" pitchFamily="34" charset="-122"/>
                <a:cs typeface="Noto Sans JP" pitchFamily="34" charset="-120"/>
              </a:rPr>
              <a:t>カメラはスタッフとお客様が直接やり取りできる双方向音声に対応。その場で声がけやサポートを行えます。</a:t>
            </a:r>
            <a:endParaRPr lang="en-US" sz="1050" dirty="0"/>
          </a:p>
        </p:txBody>
      </p:sp>
      <p:sp>
        <p:nvSpPr>
          <p:cNvPr id="22" name="Shape 16"/>
          <p:cNvSpPr/>
          <p:nvPr/>
        </p:nvSpPr>
        <p:spPr>
          <a:xfrm>
            <a:off x="8988781" y="1627632"/>
            <a:ext cx="2536317" cy="2487168"/>
          </a:xfrm>
          <a:prstGeom prst="roundRect">
            <a:avLst>
              <a:gd name="adj" fmla="val 2574"/>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23" name="Shape 17"/>
          <p:cNvSpPr/>
          <p:nvPr/>
        </p:nvSpPr>
        <p:spPr>
          <a:xfrm>
            <a:off x="9226525" y="1865376"/>
            <a:ext cx="566928" cy="566928"/>
          </a:xfrm>
          <a:prstGeom prst="ellipse">
            <a:avLst/>
          </a:prstGeom>
          <a:solidFill>
            <a:srgbClr val="F0F5EF"/>
          </a:solidFill>
          <a:ln/>
        </p:spPr>
      </p:sp>
      <p:pic>
        <p:nvPicPr>
          <p:cNvPr id="24" name="Image 4" descr="/home/user/suzuki-ceo/selfcafe-fc-deck/assets/icons/LuMessageCircle-green.png">    </p:cNvPr>
          <p:cNvPicPr>
            <a:picLocks noChangeAspect="1"/>
          </p:cNvPicPr>
          <p:nvPr/>
        </p:nvPicPr>
        <p:blipFill>
          <a:blip r:embed="rId5"/>
          <a:stretch>
            <a:fillRect/>
          </a:stretch>
        </p:blipFill>
        <p:spPr>
          <a:xfrm>
            <a:off x="9351249" y="1990100"/>
            <a:ext cx="317480" cy="317480"/>
          </a:xfrm>
          <a:prstGeom prst="rect">
            <a:avLst/>
          </a:prstGeom>
        </p:spPr>
      </p:pic>
      <p:sp>
        <p:nvSpPr>
          <p:cNvPr id="25" name="Text 18"/>
          <p:cNvSpPr/>
          <p:nvPr/>
        </p:nvSpPr>
        <p:spPr>
          <a:xfrm>
            <a:off x="9226525" y="2523744"/>
            <a:ext cx="2060829" cy="384048"/>
          </a:xfrm>
          <a:prstGeom prst="rect">
            <a:avLst/>
          </a:prstGeom>
          <a:noFill/>
          <a:ln/>
        </p:spPr>
        <p:txBody>
          <a:bodyPr wrap="square" lIns="0" tIns="0" rIns="0" bIns="0" rtlCol="0" anchor="ctr"/>
          <a:lstStyle/>
          <a:p>
            <a:pPr indent="0" marL="0">
              <a:buNone/>
            </a:pPr>
            <a:r>
              <a:rPr lang="en-US" sz="1350" b="1" dirty="0">
                <a:solidFill>
                  <a:srgbClr val="1B5E20"/>
                </a:solidFill>
                <a:latin typeface="Noto Sans JP" pitchFamily="34" charset="0"/>
                <a:ea typeface="Noto Sans JP" pitchFamily="34" charset="-122"/>
                <a:cs typeface="Noto Sans JP" pitchFamily="34" charset="-120"/>
              </a:rPr>
              <a:t>LINEチャットで即時対応</a:t>
            </a:r>
            <a:endParaRPr lang="en-US" sz="1350" dirty="0"/>
          </a:p>
        </p:txBody>
      </p:sp>
      <p:sp>
        <p:nvSpPr>
          <p:cNvPr id="26" name="Text 19"/>
          <p:cNvSpPr/>
          <p:nvPr/>
        </p:nvSpPr>
        <p:spPr>
          <a:xfrm>
            <a:off x="9226525" y="2999232"/>
            <a:ext cx="2060829" cy="969264"/>
          </a:xfrm>
          <a:prstGeom prst="rect">
            <a:avLst/>
          </a:prstGeom>
          <a:noFill/>
          <a:ln/>
        </p:spPr>
        <p:txBody>
          <a:bodyPr wrap="square" lIns="0" tIns="0" rIns="0" bIns="0" rtlCol="0" anchor="t"/>
          <a:lstStyle/>
          <a:p>
            <a:pPr indent="0" marL="0">
              <a:lnSpc>
                <a:spcPct val="130000"/>
              </a:lnSpc>
              <a:buNone/>
            </a:pPr>
            <a:r>
              <a:rPr lang="en-US" sz="1050" dirty="0">
                <a:solidFill>
                  <a:srgbClr val="3B3833"/>
                </a:solidFill>
                <a:latin typeface="Noto Sans JP" pitchFamily="34" charset="0"/>
                <a:ea typeface="Noto Sans JP" pitchFamily="34" charset="-122"/>
                <a:cs typeface="Noto Sans JP" pitchFamily="34" charset="-120"/>
              </a:rPr>
              <a:t>お客様からのお問い合わせにも即時対応。質問対応・意見収集の窓口としても機能します。</a:t>
            </a:r>
            <a:endParaRPr lang="en-US" sz="1050" dirty="0"/>
          </a:p>
        </p:txBody>
      </p:sp>
      <p:pic>
        <p:nvPicPr>
          <p:cNvPr id="27" name="Image 5" descr="/home/user/suzuki-ceo/selfcafe-fc-deck/assets/photos/p16-support.jpg">    </p:cNvPr>
          <p:cNvPicPr>
            <a:picLocks noChangeAspect="1"/>
          </p:cNvPicPr>
          <p:nvPr/>
        </p:nvPicPr>
        <p:blipFill>
          <a:blip r:embed="rId6"/>
          <a:srcRect l="0" r="0" t="0" b="0"/>
          <a:stretch/>
        </p:blipFill>
        <p:spPr>
          <a:xfrm>
            <a:off x="666598" y="4370832"/>
            <a:ext cx="5074920" cy="1883664"/>
          </a:xfrm>
          <a:prstGeom prst="rect">
            <a:avLst/>
          </a:prstGeom>
        </p:spPr>
      </p:pic>
      <p:sp>
        <p:nvSpPr>
          <p:cNvPr id="28" name="Shape 20"/>
          <p:cNvSpPr/>
          <p:nvPr/>
        </p:nvSpPr>
        <p:spPr>
          <a:xfrm>
            <a:off x="666598" y="4370832"/>
            <a:ext cx="5074920" cy="1883664"/>
          </a:xfrm>
          <a:prstGeom prst="rect">
            <a:avLst/>
          </a:prstGeom>
          <a:ln w="12700">
            <a:solidFill>
              <a:srgbClr val="D8CFBB"/>
            </a:solidFill>
            <a:prstDash val="solid"/>
          </a:ln>
        </p:spPr>
      </p:sp>
      <p:sp>
        <p:nvSpPr>
          <p:cNvPr id="29" name="Shape 21"/>
          <p:cNvSpPr/>
          <p:nvPr/>
        </p:nvSpPr>
        <p:spPr>
          <a:xfrm>
            <a:off x="776326" y="5815584"/>
            <a:ext cx="2768727" cy="329184"/>
          </a:xfrm>
          <a:prstGeom prst="roundRect">
            <a:avLst>
              <a:gd name="adj" fmla="val 13889"/>
            </a:avLst>
          </a:prstGeom>
          <a:solidFill>
            <a:srgbClr val="FFFFFF">
              <a:alpha val="90000"/>
            </a:srgbClr>
          </a:solidFill>
          <a:ln/>
        </p:spPr>
      </p:sp>
      <p:sp>
        <p:nvSpPr>
          <p:cNvPr id="30" name="Text 22"/>
          <p:cNvSpPr/>
          <p:nvPr/>
        </p:nvSpPr>
        <p:spPr>
          <a:xfrm>
            <a:off x="922630" y="5815584"/>
            <a:ext cx="2512695" cy="329184"/>
          </a:xfrm>
          <a:prstGeom prst="rect">
            <a:avLst/>
          </a:prstGeom>
          <a:noFill/>
          <a:ln/>
        </p:spPr>
        <p:txBody>
          <a:bodyPr wrap="square" lIns="0" tIns="0" rIns="0" bIns="0" rtlCol="0" anchor="ctr"/>
          <a:lstStyle/>
          <a:p>
            <a:pPr indent="0" marL="0">
              <a:buNone/>
            </a:pPr>
            <a:r>
              <a:rPr lang="en-US" sz="1050" b="1" dirty="0">
                <a:solidFill>
                  <a:srgbClr val="3B3833"/>
                </a:solidFill>
                <a:latin typeface="Noto Sans JP" pitchFamily="34" charset="0"/>
                <a:ea typeface="Noto Sans JP" pitchFamily="34" charset="-122"/>
                <a:cs typeface="Noto Sans JP" pitchFamily="34" charset="-120"/>
              </a:rPr>
              <a:t>モニタリング画面／店内カメラの様子</a:t>
            </a:r>
            <a:endParaRPr lang="en-US" sz="1050" dirty="0"/>
          </a:p>
        </p:txBody>
      </p:sp>
      <p:sp>
        <p:nvSpPr>
          <p:cNvPr id="31" name="Shape 23"/>
          <p:cNvSpPr/>
          <p:nvPr/>
        </p:nvSpPr>
        <p:spPr>
          <a:xfrm>
            <a:off x="6034126" y="4370832"/>
            <a:ext cx="5490972" cy="1883664"/>
          </a:xfrm>
          <a:prstGeom prst="roundRect">
            <a:avLst>
              <a:gd name="adj" fmla="val 4369"/>
            </a:avLst>
          </a:prstGeom>
          <a:solidFill>
            <a:srgbClr val="12401A"/>
          </a:solidFill>
          <a:ln/>
          <a:effectLst>
            <a:outerShdw sx="100000" sy="100000" kx="0" ky="0" algn="bl" rotWithShape="0" blurRad="114300" dist="17780" dir="5400000">
              <a:srgbClr val="6B6250">
                <a:alpha val="14000"/>
              </a:srgbClr>
            </a:outerShdw>
          </a:effectLst>
        </p:spPr>
      </p:sp>
      <p:pic>
        <p:nvPicPr>
          <p:cNvPr id="32" name="Image 6" descr="/home/user/suzuki-ceo/selfcafe-fc-deck/assets/icons/LuShieldCheck-white.png">    </p:cNvPr>
          <p:cNvPicPr>
            <a:picLocks noChangeAspect="1"/>
          </p:cNvPicPr>
          <p:nvPr/>
        </p:nvPicPr>
        <p:blipFill>
          <a:blip r:embed="rId7"/>
          <a:stretch>
            <a:fillRect/>
          </a:stretch>
        </p:blipFill>
        <p:spPr>
          <a:xfrm>
            <a:off x="6418174" y="4608576"/>
            <a:ext cx="329184" cy="329184"/>
          </a:xfrm>
          <a:prstGeom prst="rect">
            <a:avLst/>
          </a:prstGeom>
        </p:spPr>
      </p:pic>
      <p:sp>
        <p:nvSpPr>
          <p:cNvPr id="33" name="Text 24"/>
          <p:cNvSpPr/>
          <p:nvPr/>
        </p:nvSpPr>
        <p:spPr>
          <a:xfrm>
            <a:off x="6875374" y="4572000"/>
            <a:ext cx="4265676" cy="402336"/>
          </a:xfrm>
          <a:prstGeom prst="rect">
            <a:avLst/>
          </a:prstGeom>
          <a:noFill/>
          <a:ln/>
        </p:spPr>
        <p:txBody>
          <a:bodyPr wrap="square" lIns="0" tIns="0" rIns="0" bIns="0" rtlCol="0" anchor="ctr"/>
          <a:lstStyle/>
          <a:p>
            <a:pPr indent="0" marL="0">
              <a:buNone/>
            </a:pPr>
            <a:r>
              <a:rPr lang="en-US" sz="1700" b="1" dirty="0">
                <a:solidFill>
                  <a:srgbClr val="FFFFFF"/>
                </a:solidFill>
                <a:latin typeface="Noto Sans JP" pitchFamily="34" charset="0"/>
                <a:ea typeface="Noto Sans JP" pitchFamily="34" charset="-122"/>
                <a:cs typeface="Noto Sans JP" pitchFamily="34" charset="-120"/>
              </a:rPr>
              <a:t>現場に駆けつける必要は、ほぼありません。</a:t>
            </a:r>
            <a:endParaRPr lang="en-US" sz="1700" dirty="0"/>
          </a:p>
        </p:txBody>
      </p:sp>
      <p:sp>
        <p:nvSpPr>
          <p:cNvPr id="34" name="Text 25"/>
          <p:cNvSpPr/>
          <p:nvPr/>
        </p:nvSpPr>
        <p:spPr>
          <a:xfrm>
            <a:off x="6875374" y="5047488"/>
            <a:ext cx="4265676" cy="822960"/>
          </a:xfrm>
          <a:prstGeom prst="rect">
            <a:avLst/>
          </a:prstGeom>
          <a:noFill/>
          <a:ln/>
        </p:spPr>
        <p:txBody>
          <a:bodyPr wrap="square" lIns="0" tIns="0" rIns="0" bIns="0" rtlCol="0" anchor="t"/>
          <a:lstStyle/>
          <a:p>
            <a:pPr indent="0" marL="0">
              <a:lnSpc>
                <a:spcPct val="135000"/>
              </a:lnSpc>
              <a:buNone/>
            </a:pPr>
            <a:r>
              <a:rPr lang="en-US" sz="1150" dirty="0">
                <a:solidFill>
                  <a:srgbClr val="A9C6AC"/>
                </a:solidFill>
                <a:latin typeface="Noto Sans JP" pitchFamily="34" charset="0"/>
                <a:ea typeface="Noto Sans JP" pitchFamily="34" charset="-122"/>
                <a:cs typeface="Noto Sans JP" pitchFamily="34" charset="-120"/>
              </a:rPr>
              <a:t>24時間体制の警備会社と遠隔監視システム、そして本部のチャット対応が重なることで、無人でも「見守られている店舗」を実現しています。</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CF5"/>
        </a:solidFill>
      </p:bgPr>
    </p:bg>
    <p:spTree>
      <p:nvGrpSpPr>
        <p:cNvPr id="1" name=""/>
        <p:cNvGrpSpPr/>
        <p:nvPr/>
      </p:nvGrpSpPr>
      <p:grpSpPr>
        <a:xfrm>
          <a:off x="0" y="0"/>
          <a:ext cx="0" cy="0"/>
          <a:chOff x="0" y="0"/>
          <a:chExt cx="0" cy="0"/>
        </a:xfrm>
      </p:grpSpPr>
      <p:sp>
        <p:nvSpPr>
          <p:cNvPr id="2" name="Text 0"/>
          <p:cNvSpPr/>
          <p:nvPr/>
        </p:nvSpPr>
        <p:spPr>
          <a:xfrm>
            <a:off x="666598" y="506578"/>
            <a:ext cx="8503920" cy="384048"/>
          </a:xfrm>
          <a:prstGeom prst="rect">
            <a:avLst/>
          </a:prstGeom>
          <a:noFill/>
          <a:ln/>
        </p:spPr>
        <p:txBody>
          <a:bodyPr wrap="square" lIns="0" tIns="0" rIns="0" bIns="0" rtlCol="0" anchor="ctr"/>
          <a:lstStyle/>
          <a:p>
            <a:pPr algn="l" indent="0" marL="0">
              <a:buNone/>
            </a:pPr>
            <a:r>
              <a:rPr lang="en-US" sz="3000" dirty="0">
                <a:solidFill>
                  <a:srgbClr val="1B5E20"/>
                </a:solidFill>
                <a:latin typeface="Noto Sans JP" pitchFamily="34" charset="0"/>
                <a:ea typeface="Noto Sans JP" pitchFamily="34" charset="-122"/>
                <a:cs typeface="Noto Sans JP" pitchFamily="34" charset="-120"/>
              </a:rPr>
              <a:t>パートナー制度の3つの特徴</a:t>
            </a:r>
            <a:endParaRPr lang="en-US" sz="3000" dirty="0"/>
          </a:p>
        </p:txBody>
      </p:sp>
      <p:sp>
        <p:nvSpPr>
          <p:cNvPr id="3" name="Shape 1"/>
          <p:cNvSpPr/>
          <p:nvPr/>
        </p:nvSpPr>
        <p:spPr>
          <a:xfrm>
            <a:off x="666598" y="1114654"/>
            <a:ext cx="10858500" cy="19202"/>
          </a:xfrm>
          <a:prstGeom prst="rect">
            <a:avLst/>
          </a:prstGeom>
          <a:solidFill>
            <a:srgbClr val="8D6E63"/>
          </a:solidFill>
          <a:ln/>
        </p:spPr>
      </p:sp>
      <p:pic>
        <p:nvPicPr>
          <p:cNvPr id="4" name="Image 0" descr="/home/user/suzuki-ceo/selfcafe-fc-deck/assets/logo_gray.png">    </p:cNvPr>
          <p:cNvPicPr>
            <a:picLocks noChangeAspect="1"/>
          </p:cNvPicPr>
          <p:nvPr/>
        </p:nvPicPr>
        <p:blipFill>
          <a:blip r:embed="rId1"/>
          <a:stretch>
            <a:fillRect/>
          </a:stretch>
        </p:blipFill>
        <p:spPr>
          <a:xfrm>
            <a:off x="9415577" y="802843"/>
            <a:ext cx="2024482" cy="288036"/>
          </a:xfrm>
          <a:prstGeom prst="rect">
            <a:avLst/>
          </a:prstGeom>
        </p:spPr>
      </p:pic>
      <p:sp>
        <p:nvSpPr>
          <p:cNvPr id="5" name="Text 2"/>
          <p:cNvSpPr/>
          <p:nvPr/>
        </p:nvSpPr>
        <p:spPr>
          <a:xfrm>
            <a:off x="10610698" y="6345936"/>
            <a:ext cx="914400" cy="219456"/>
          </a:xfrm>
          <a:prstGeom prst="rect">
            <a:avLst/>
          </a:prstGeom>
          <a:noFill/>
          <a:ln/>
        </p:spPr>
        <p:txBody>
          <a:bodyPr wrap="square" lIns="0" tIns="0" rIns="0" bIns="0" rtlCol="0" anchor="ctr"/>
          <a:lstStyle/>
          <a:p>
            <a:pPr algn="r" indent="0" marL="0">
              <a:buNone/>
            </a:pPr>
            <a:r>
              <a:rPr lang="en-US" sz="1300" dirty="0">
                <a:solidFill>
                  <a:srgbClr val="000000"/>
                </a:solidFill>
                <a:latin typeface="Cambria" pitchFamily="34" charset="0"/>
                <a:ea typeface="Cambria" pitchFamily="34" charset="-122"/>
                <a:cs typeface="Cambria" pitchFamily="34" charset="-120"/>
              </a:rPr>
              <a:t>18</a:t>
            </a:r>
            <a:endParaRPr lang="en-US" sz="1300" dirty="0"/>
          </a:p>
        </p:txBody>
      </p:sp>
      <p:sp>
        <p:nvSpPr>
          <p:cNvPr id="6" name="Text 3"/>
          <p:cNvSpPr/>
          <p:nvPr/>
        </p:nvSpPr>
        <p:spPr>
          <a:xfrm>
            <a:off x="666598" y="1243584"/>
            <a:ext cx="10858500" cy="256032"/>
          </a:xfrm>
          <a:prstGeom prst="rect">
            <a:avLst/>
          </a:prstGeom>
          <a:noFill/>
          <a:ln/>
        </p:spPr>
        <p:txBody>
          <a:bodyPr wrap="square" lIns="0" tIns="0" rIns="0" bIns="0" rtlCol="0" anchor="ctr"/>
          <a:lstStyle/>
          <a:p>
            <a:pPr indent="0" marL="0">
              <a:buNone/>
            </a:pPr>
            <a:r>
              <a:rPr lang="en-US" sz="1150" b="1" dirty="0">
                <a:solidFill>
                  <a:srgbClr val="5D4037"/>
                </a:solidFill>
                <a:latin typeface="Noto Sans JP" pitchFamily="34" charset="0"/>
                <a:ea typeface="Noto Sans JP" pitchFamily="34" charset="-122"/>
                <a:cs typeface="Noto Sans JP" pitchFamily="34" charset="-120"/>
              </a:rPr>
              <a:t>低コスト・遊休スペース活用・省人力運営の3点が、導入判断のハードルを下げます。</a:t>
            </a:r>
            <a:endParaRPr lang="en-US" sz="1150" dirty="0"/>
          </a:p>
        </p:txBody>
      </p:sp>
      <p:sp>
        <p:nvSpPr>
          <p:cNvPr id="7" name="Shape 4"/>
          <p:cNvSpPr/>
          <p:nvPr/>
        </p:nvSpPr>
        <p:spPr>
          <a:xfrm>
            <a:off x="666598" y="1700784"/>
            <a:ext cx="3424428" cy="2798064"/>
          </a:xfrm>
          <a:prstGeom prst="roundRect">
            <a:avLst>
              <a:gd name="adj" fmla="val 2288"/>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8" name="Shape 5"/>
          <p:cNvSpPr/>
          <p:nvPr/>
        </p:nvSpPr>
        <p:spPr>
          <a:xfrm>
            <a:off x="1903324" y="2048256"/>
            <a:ext cx="950976" cy="950976"/>
          </a:xfrm>
          <a:prstGeom prst="ellipse">
            <a:avLst/>
          </a:prstGeom>
          <a:solidFill>
            <a:srgbClr val="F0F5EF"/>
          </a:solidFill>
          <a:ln/>
        </p:spPr>
      </p:sp>
      <p:pic>
        <p:nvPicPr>
          <p:cNvPr id="9" name="Image 1" descr="/home/user/suzuki-ceo/selfcafe-fc-deck/assets/icons/LuWallet-green.png">    </p:cNvPr>
          <p:cNvPicPr>
            <a:picLocks noChangeAspect="1"/>
          </p:cNvPicPr>
          <p:nvPr/>
        </p:nvPicPr>
        <p:blipFill>
          <a:blip r:embed="rId2"/>
          <a:stretch>
            <a:fillRect/>
          </a:stretch>
        </p:blipFill>
        <p:spPr>
          <a:xfrm>
            <a:off x="2113636" y="2258568"/>
            <a:ext cx="530352" cy="530352"/>
          </a:xfrm>
          <a:prstGeom prst="rect">
            <a:avLst/>
          </a:prstGeom>
        </p:spPr>
      </p:pic>
      <p:sp>
        <p:nvSpPr>
          <p:cNvPr id="10" name="Text 6"/>
          <p:cNvSpPr/>
          <p:nvPr/>
        </p:nvSpPr>
        <p:spPr>
          <a:xfrm>
            <a:off x="886054" y="3182112"/>
            <a:ext cx="2985516" cy="384048"/>
          </a:xfrm>
          <a:prstGeom prst="rect">
            <a:avLst/>
          </a:prstGeom>
          <a:noFill/>
          <a:ln/>
        </p:spPr>
        <p:txBody>
          <a:bodyPr wrap="square" lIns="0" tIns="0" rIns="0" bIns="0" rtlCol="0" anchor="ctr"/>
          <a:lstStyle/>
          <a:p>
            <a:pPr algn="ctr" indent="0" marL="0">
              <a:buNone/>
            </a:pPr>
            <a:r>
              <a:rPr lang="en-US" sz="1700" b="1" dirty="0">
                <a:solidFill>
                  <a:srgbClr val="1B5E20"/>
                </a:solidFill>
                <a:latin typeface="Noto Sans JP" pitchFamily="34" charset="0"/>
                <a:ea typeface="Noto Sans JP" pitchFamily="34" charset="-122"/>
                <a:cs typeface="Noto Sans JP" pitchFamily="34" charset="-120"/>
              </a:rPr>
              <a:t>低初期コスト</a:t>
            </a:r>
            <a:endParaRPr lang="en-US" sz="1700" dirty="0"/>
          </a:p>
        </p:txBody>
      </p:sp>
      <p:sp>
        <p:nvSpPr>
          <p:cNvPr id="11" name="Text 7"/>
          <p:cNvSpPr/>
          <p:nvPr/>
        </p:nvSpPr>
        <p:spPr>
          <a:xfrm>
            <a:off x="886054" y="3584448"/>
            <a:ext cx="2985516" cy="274320"/>
          </a:xfrm>
          <a:prstGeom prst="rect">
            <a:avLst/>
          </a:prstGeom>
          <a:noFill/>
          <a:ln/>
        </p:spPr>
        <p:txBody>
          <a:bodyPr wrap="square" lIns="0" tIns="0" rIns="0" bIns="0" rtlCol="0" anchor="ctr"/>
          <a:lstStyle/>
          <a:p>
            <a:pPr algn="ctr" indent="0" marL="0">
              <a:buNone/>
            </a:pPr>
            <a:r>
              <a:rPr lang="en-US" sz="1100" b="1" dirty="0">
                <a:solidFill>
                  <a:srgbClr val="B8893B"/>
                </a:solidFill>
                <a:latin typeface="Noto Sans JP" pitchFamily="34" charset="0"/>
                <a:ea typeface="Noto Sans JP" pitchFamily="34" charset="-122"/>
                <a:cs typeface="Noto Sans JP" pitchFamily="34" charset="-120"/>
              </a:rPr>
              <a:t>1/10以下</a:t>
            </a:r>
            <a:endParaRPr lang="en-US" sz="1100" dirty="0"/>
          </a:p>
        </p:txBody>
      </p:sp>
      <p:sp>
        <p:nvSpPr>
          <p:cNvPr id="12" name="Text 8"/>
          <p:cNvSpPr/>
          <p:nvPr/>
        </p:nvSpPr>
        <p:spPr>
          <a:xfrm>
            <a:off x="977494" y="3877056"/>
            <a:ext cx="2802636" cy="566928"/>
          </a:xfrm>
          <a:prstGeom prst="rect">
            <a:avLst/>
          </a:prstGeom>
          <a:noFill/>
          <a:ln/>
        </p:spPr>
        <p:txBody>
          <a:bodyPr wrap="square" lIns="0" tIns="0" rIns="0" bIns="0" rtlCol="0" anchor="t"/>
          <a:lstStyle/>
          <a:p>
            <a:pPr algn="ctr" indent="0" marL="0">
              <a:lnSpc>
                <a:spcPct val="130000"/>
              </a:lnSpc>
              <a:buNone/>
            </a:pPr>
            <a:r>
              <a:rPr lang="en-US" sz="1100" dirty="0">
                <a:solidFill>
                  <a:srgbClr val="3B3833"/>
                </a:solidFill>
                <a:latin typeface="Noto Sans JP" pitchFamily="34" charset="0"/>
                <a:ea typeface="Noto Sans JP" pitchFamily="34" charset="-122"/>
                <a:cs typeface="Noto Sans JP" pitchFamily="34" charset="-120"/>
              </a:rPr>
              <a:t>他社カフェと比較し、1/10以下のコストで出店が可能です。</a:t>
            </a:r>
            <a:endParaRPr lang="en-US" sz="1100" dirty="0"/>
          </a:p>
        </p:txBody>
      </p:sp>
      <p:sp>
        <p:nvSpPr>
          <p:cNvPr id="13" name="Shape 9"/>
          <p:cNvSpPr/>
          <p:nvPr/>
        </p:nvSpPr>
        <p:spPr>
          <a:xfrm>
            <a:off x="4383634" y="1700784"/>
            <a:ext cx="3424428" cy="2798064"/>
          </a:xfrm>
          <a:prstGeom prst="roundRect">
            <a:avLst>
              <a:gd name="adj" fmla="val 2288"/>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14" name="Shape 10"/>
          <p:cNvSpPr/>
          <p:nvPr/>
        </p:nvSpPr>
        <p:spPr>
          <a:xfrm>
            <a:off x="5620360" y="2048256"/>
            <a:ext cx="950976" cy="950976"/>
          </a:xfrm>
          <a:prstGeom prst="ellipse">
            <a:avLst/>
          </a:prstGeom>
          <a:solidFill>
            <a:srgbClr val="F0F5EF"/>
          </a:solidFill>
          <a:ln/>
        </p:spPr>
      </p:sp>
      <p:pic>
        <p:nvPicPr>
          <p:cNvPr id="15" name="Image 2" descr="/home/user/suzuki-ceo/selfcafe-fc-deck/assets/icons/LuBuilding2-green.png">    </p:cNvPr>
          <p:cNvPicPr>
            <a:picLocks noChangeAspect="1"/>
          </p:cNvPicPr>
          <p:nvPr/>
        </p:nvPicPr>
        <p:blipFill>
          <a:blip r:embed="rId3"/>
          <a:stretch>
            <a:fillRect/>
          </a:stretch>
        </p:blipFill>
        <p:spPr>
          <a:xfrm>
            <a:off x="5830672" y="2258568"/>
            <a:ext cx="530352" cy="530352"/>
          </a:xfrm>
          <a:prstGeom prst="rect">
            <a:avLst/>
          </a:prstGeom>
        </p:spPr>
      </p:pic>
      <p:sp>
        <p:nvSpPr>
          <p:cNvPr id="16" name="Text 11"/>
          <p:cNvSpPr/>
          <p:nvPr/>
        </p:nvSpPr>
        <p:spPr>
          <a:xfrm>
            <a:off x="4603090" y="3182112"/>
            <a:ext cx="2985516" cy="384048"/>
          </a:xfrm>
          <a:prstGeom prst="rect">
            <a:avLst/>
          </a:prstGeom>
          <a:noFill/>
          <a:ln/>
        </p:spPr>
        <p:txBody>
          <a:bodyPr wrap="square" lIns="0" tIns="0" rIns="0" bIns="0" rtlCol="0" anchor="ctr"/>
          <a:lstStyle/>
          <a:p>
            <a:pPr algn="ctr" indent="0" marL="0">
              <a:buNone/>
            </a:pPr>
            <a:r>
              <a:rPr lang="en-US" sz="1700" b="1" dirty="0">
                <a:solidFill>
                  <a:srgbClr val="1B5E20"/>
                </a:solidFill>
                <a:latin typeface="Noto Sans JP" pitchFamily="34" charset="0"/>
                <a:ea typeface="Noto Sans JP" pitchFamily="34" charset="-122"/>
                <a:cs typeface="Noto Sans JP" pitchFamily="34" charset="-120"/>
              </a:rPr>
              <a:t>遊休スペースの活用</a:t>
            </a:r>
            <a:endParaRPr lang="en-US" sz="1700" dirty="0"/>
          </a:p>
        </p:txBody>
      </p:sp>
      <p:sp>
        <p:nvSpPr>
          <p:cNvPr id="17" name="Text 12"/>
          <p:cNvSpPr/>
          <p:nvPr/>
        </p:nvSpPr>
        <p:spPr>
          <a:xfrm>
            <a:off x="4603090" y="3584448"/>
            <a:ext cx="2985516" cy="274320"/>
          </a:xfrm>
          <a:prstGeom prst="rect">
            <a:avLst/>
          </a:prstGeom>
          <a:noFill/>
          <a:ln/>
        </p:spPr>
        <p:txBody>
          <a:bodyPr wrap="square" lIns="0" tIns="0" rIns="0" bIns="0" rtlCol="0" anchor="ctr"/>
          <a:lstStyle/>
          <a:p>
            <a:pPr algn="ctr" indent="0" marL="0">
              <a:buNone/>
            </a:pPr>
            <a:r>
              <a:rPr lang="en-US" sz="1100" b="1" dirty="0">
                <a:solidFill>
                  <a:srgbClr val="B8893B"/>
                </a:solidFill>
                <a:latin typeface="Noto Sans JP" pitchFamily="34" charset="0"/>
                <a:ea typeface="Noto Sans JP" pitchFamily="34" charset="-122"/>
                <a:cs typeface="Noto Sans JP" pitchFamily="34" charset="-120"/>
              </a:rPr>
              <a:t>デッドスペース → 収益資産</a:t>
            </a:r>
            <a:endParaRPr lang="en-US" sz="1100" dirty="0"/>
          </a:p>
        </p:txBody>
      </p:sp>
      <p:sp>
        <p:nvSpPr>
          <p:cNvPr id="18" name="Text 13"/>
          <p:cNvSpPr/>
          <p:nvPr/>
        </p:nvSpPr>
        <p:spPr>
          <a:xfrm>
            <a:off x="4694530" y="3877056"/>
            <a:ext cx="2802636" cy="566928"/>
          </a:xfrm>
          <a:prstGeom prst="rect">
            <a:avLst/>
          </a:prstGeom>
          <a:noFill/>
          <a:ln/>
        </p:spPr>
        <p:txBody>
          <a:bodyPr wrap="square" lIns="0" tIns="0" rIns="0" bIns="0" rtlCol="0" anchor="t"/>
          <a:lstStyle/>
          <a:p>
            <a:pPr algn="ctr" indent="0" marL="0">
              <a:lnSpc>
                <a:spcPct val="130000"/>
              </a:lnSpc>
              <a:buNone/>
            </a:pPr>
            <a:r>
              <a:rPr lang="en-US" sz="1100" dirty="0">
                <a:solidFill>
                  <a:srgbClr val="3B3833"/>
                </a:solidFill>
                <a:latin typeface="Noto Sans JP" pitchFamily="34" charset="0"/>
                <a:ea typeface="Noto Sans JP" pitchFamily="34" charset="-122"/>
                <a:cs typeface="Noto Sans JP" pitchFamily="34" charset="-120"/>
              </a:rPr>
              <a:t>既存店の空室やデッドスペースを、収益資産へ再構築します。</a:t>
            </a:r>
            <a:endParaRPr lang="en-US" sz="1100" dirty="0"/>
          </a:p>
        </p:txBody>
      </p:sp>
      <p:sp>
        <p:nvSpPr>
          <p:cNvPr id="19" name="Shape 14"/>
          <p:cNvSpPr/>
          <p:nvPr/>
        </p:nvSpPr>
        <p:spPr>
          <a:xfrm>
            <a:off x="8100670" y="1700784"/>
            <a:ext cx="3424428" cy="2798064"/>
          </a:xfrm>
          <a:prstGeom prst="roundRect">
            <a:avLst>
              <a:gd name="adj" fmla="val 2288"/>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20" name="Shape 15"/>
          <p:cNvSpPr/>
          <p:nvPr/>
        </p:nvSpPr>
        <p:spPr>
          <a:xfrm>
            <a:off x="9337396" y="2048256"/>
            <a:ext cx="950976" cy="950976"/>
          </a:xfrm>
          <a:prstGeom prst="ellipse">
            <a:avLst/>
          </a:prstGeom>
          <a:solidFill>
            <a:srgbClr val="F0F5EF"/>
          </a:solidFill>
          <a:ln/>
        </p:spPr>
      </p:sp>
      <p:pic>
        <p:nvPicPr>
          <p:cNvPr id="21" name="Image 3" descr="/home/user/suzuki-ceo/selfcafe-fc-deck/assets/icons/LuTimer-green.png">    </p:cNvPr>
          <p:cNvPicPr>
            <a:picLocks noChangeAspect="1"/>
          </p:cNvPicPr>
          <p:nvPr/>
        </p:nvPicPr>
        <p:blipFill>
          <a:blip r:embed="rId4"/>
          <a:stretch>
            <a:fillRect/>
          </a:stretch>
        </p:blipFill>
        <p:spPr>
          <a:xfrm>
            <a:off x="9547708" y="2258568"/>
            <a:ext cx="530352" cy="530352"/>
          </a:xfrm>
          <a:prstGeom prst="rect">
            <a:avLst/>
          </a:prstGeom>
        </p:spPr>
      </p:pic>
      <p:sp>
        <p:nvSpPr>
          <p:cNvPr id="22" name="Text 16"/>
          <p:cNvSpPr/>
          <p:nvPr/>
        </p:nvSpPr>
        <p:spPr>
          <a:xfrm>
            <a:off x="8320126" y="3182112"/>
            <a:ext cx="2985516" cy="384048"/>
          </a:xfrm>
          <a:prstGeom prst="rect">
            <a:avLst/>
          </a:prstGeom>
          <a:noFill/>
          <a:ln/>
        </p:spPr>
        <p:txBody>
          <a:bodyPr wrap="square" lIns="0" tIns="0" rIns="0" bIns="0" rtlCol="0" anchor="ctr"/>
          <a:lstStyle/>
          <a:p>
            <a:pPr algn="ctr" indent="0" marL="0">
              <a:buNone/>
            </a:pPr>
            <a:r>
              <a:rPr lang="en-US" sz="1700" b="1" dirty="0">
                <a:solidFill>
                  <a:srgbClr val="1B5E20"/>
                </a:solidFill>
                <a:latin typeface="Noto Sans JP" pitchFamily="34" charset="0"/>
                <a:ea typeface="Noto Sans JP" pitchFamily="34" charset="-122"/>
                <a:cs typeface="Noto Sans JP" pitchFamily="34" charset="-120"/>
              </a:rPr>
              <a:t>1日15分程度の運営</a:t>
            </a:r>
            <a:endParaRPr lang="en-US" sz="1700" dirty="0"/>
          </a:p>
        </p:txBody>
      </p:sp>
      <p:sp>
        <p:nvSpPr>
          <p:cNvPr id="23" name="Text 17"/>
          <p:cNvSpPr/>
          <p:nvPr/>
        </p:nvSpPr>
        <p:spPr>
          <a:xfrm>
            <a:off x="8320126" y="3584448"/>
            <a:ext cx="2985516" cy="274320"/>
          </a:xfrm>
          <a:prstGeom prst="rect">
            <a:avLst/>
          </a:prstGeom>
          <a:noFill/>
          <a:ln/>
        </p:spPr>
        <p:txBody>
          <a:bodyPr wrap="square" lIns="0" tIns="0" rIns="0" bIns="0" rtlCol="0" anchor="ctr"/>
          <a:lstStyle/>
          <a:p>
            <a:pPr algn="ctr" indent="0" marL="0">
              <a:buNone/>
            </a:pPr>
            <a:r>
              <a:rPr lang="en-US" sz="1100" b="1" dirty="0">
                <a:solidFill>
                  <a:srgbClr val="B8893B"/>
                </a:solidFill>
                <a:latin typeface="Noto Sans JP" pitchFamily="34" charset="0"/>
                <a:ea typeface="Noto Sans JP" pitchFamily="34" charset="-122"/>
                <a:cs typeface="Noto Sans JP" pitchFamily="34" charset="-120"/>
              </a:rPr>
              <a:t>清掃・補充のみ</a:t>
            </a:r>
            <a:endParaRPr lang="en-US" sz="1100" dirty="0"/>
          </a:p>
        </p:txBody>
      </p:sp>
      <p:sp>
        <p:nvSpPr>
          <p:cNvPr id="24" name="Text 18"/>
          <p:cNvSpPr/>
          <p:nvPr/>
        </p:nvSpPr>
        <p:spPr>
          <a:xfrm>
            <a:off x="8411566" y="3877056"/>
            <a:ext cx="2802636" cy="566928"/>
          </a:xfrm>
          <a:prstGeom prst="rect">
            <a:avLst/>
          </a:prstGeom>
          <a:noFill/>
          <a:ln/>
        </p:spPr>
        <p:txBody>
          <a:bodyPr wrap="square" lIns="0" tIns="0" rIns="0" bIns="0" rtlCol="0" anchor="t"/>
          <a:lstStyle/>
          <a:p>
            <a:pPr algn="ctr" indent="0" marL="0">
              <a:lnSpc>
                <a:spcPct val="130000"/>
              </a:lnSpc>
              <a:buNone/>
            </a:pPr>
            <a:r>
              <a:rPr lang="en-US" sz="1100" dirty="0">
                <a:solidFill>
                  <a:srgbClr val="3B3833"/>
                </a:solidFill>
                <a:latin typeface="Noto Sans JP" pitchFamily="34" charset="0"/>
                <a:ea typeface="Noto Sans JP" pitchFamily="34" charset="-122"/>
                <a:cs typeface="Noto Sans JP" pitchFamily="34" charset="-120"/>
              </a:rPr>
              <a:t>無人化により人件費を極限までカット。日常業務は清掃・補充のみです。</a:t>
            </a:r>
            <a:endParaRPr lang="en-US" sz="1100" dirty="0"/>
          </a:p>
        </p:txBody>
      </p:sp>
      <p:sp>
        <p:nvSpPr>
          <p:cNvPr id="25" name="Shape 19"/>
          <p:cNvSpPr/>
          <p:nvPr/>
        </p:nvSpPr>
        <p:spPr>
          <a:xfrm>
            <a:off x="666598" y="4828032"/>
            <a:ext cx="10858500" cy="1426464"/>
          </a:xfrm>
          <a:prstGeom prst="roundRect">
            <a:avLst>
              <a:gd name="adj" fmla="val 5769"/>
            </a:avLst>
          </a:prstGeom>
          <a:solidFill>
            <a:srgbClr val="12401A"/>
          </a:solidFill>
          <a:ln/>
          <a:effectLst>
            <a:outerShdw sx="100000" sy="100000" kx="0" ky="0" algn="bl" rotWithShape="0" blurRad="114300" dist="17780" dir="5400000">
              <a:srgbClr val="6B6250">
                <a:alpha val="14000"/>
              </a:srgbClr>
            </a:outerShdw>
          </a:effectLst>
        </p:spPr>
      </p:sp>
      <p:pic>
        <p:nvPicPr>
          <p:cNvPr id="26" name="Image 4" descr="/home/user/suzuki-ceo/selfcafe-fc-deck/assets/icons/LuSparkles-white.png">    </p:cNvPr>
          <p:cNvPicPr>
            <a:picLocks noChangeAspect="1"/>
          </p:cNvPicPr>
          <p:nvPr/>
        </p:nvPicPr>
        <p:blipFill>
          <a:blip r:embed="rId5"/>
          <a:stretch>
            <a:fillRect/>
          </a:stretch>
        </p:blipFill>
        <p:spPr>
          <a:xfrm>
            <a:off x="1050646" y="5084064"/>
            <a:ext cx="310896" cy="310896"/>
          </a:xfrm>
          <a:prstGeom prst="rect">
            <a:avLst/>
          </a:prstGeom>
        </p:spPr>
      </p:pic>
      <p:sp>
        <p:nvSpPr>
          <p:cNvPr id="27" name="Text 20"/>
          <p:cNvSpPr/>
          <p:nvPr/>
        </p:nvSpPr>
        <p:spPr>
          <a:xfrm>
            <a:off x="1507846" y="5029200"/>
            <a:ext cx="9633204" cy="420624"/>
          </a:xfrm>
          <a:prstGeom prst="rect">
            <a:avLst/>
          </a:prstGeom>
          <a:noFill/>
          <a:ln/>
        </p:spPr>
        <p:txBody>
          <a:bodyPr wrap="square" lIns="0" tIns="0" rIns="0" bIns="0" rtlCol="0" anchor="ctr"/>
          <a:lstStyle/>
          <a:p>
            <a:pPr indent="0" marL="0">
              <a:buNone/>
            </a:pPr>
            <a:r>
              <a:rPr lang="en-US" sz="1900" b="1" dirty="0">
                <a:solidFill>
                  <a:srgbClr val="FFFFFF"/>
                </a:solidFill>
                <a:latin typeface="Noto Sans JP" pitchFamily="34" charset="0"/>
                <a:ea typeface="Noto Sans JP" pitchFamily="34" charset="-122"/>
                <a:cs typeface="Noto Sans JP" pitchFamily="34" charset="-120"/>
              </a:rPr>
              <a:t>新しく人を採用・配置する必要はありません。</a:t>
            </a:r>
            <a:endParaRPr lang="en-US" sz="1900" dirty="0"/>
          </a:p>
        </p:txBody>
      </p:sp>
      <p:sp>
        <p:nvSpPr>
          <p:cNvPr id="28" name="Text 21"/>
          <p:cNvSpPr/>
          <p:nvPr/>
        </p:nvSpPr>
        <p:spPr>
          <a:xfrm>
            <a:off x="1507846" y="5522976"/>
            <a:ext cx="9633204" cy="402336"/>
          </a:xfrm>
          <a:prstGeom prst="rect">
            <a:avLst/>
          </a:prstGeom>
          <a:noFill/>
          <a:ln/>
        </p:spPr>
        <p:txBody>
          <a:bodyPr wrap="square" lIns="0" tIns="0" rIns="0" bIns="0" rtlCol="0" anchor="ctr"/>
          <a:lstStyle/>
          <a:p>
            <a:pPr indent="0" marL="0">
              <a:buNone/>
            </a:pPr>
            <a:r>
              <a:rPr lang="en-US" sz="1150" dirty="0">
                <a:solidFill>
                  <a:srgbClr val="A9C6AC"/>
                </a:solidFill>
                <a:latin typeface="Noto Sans JP" pitchFamily="34" charset="0"/>
                <a:ea typeface="Noto Sans JP" pitchFamily="34" charset="-122"/>
                <a:cs typeface="Noto Sans JP" pitchFamily="34" charset="-120"/>
              </a:rPr>
              <a:t>既存スタッフの稼働内で、もう一つの収益源をつくれます。</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CF5"/>
        </a:solidFill>
      </p:bgPr>
    </p:bg>
    <p:spTree>
      <p:nvGrpSpPr>
        <p:cNvPr id="1" name=""/>
        <p:cNvGrpSpPr/>
        <p:nvPr/>
      </p:nvGrpSpPr>
      <p:grpSpPr>
        <a:xfrm>
          <a:off x="0" y="0"/>
          <a:ext cx="0" cy="0"/>
          <a:chOff x="0" y="0"/>
          <a:chExt cx="0" cy="0"/>
        </a:xfrm>
      </p:grpSpPr>
      <p:sp>
        <p:nvSpPr>
          <p:cNvPr id="2" name="Text 0"/>
          <p:cNvSpPr/>
          <p:nvPr/>
        </p:nvSpPr>
        <p:spPr>
          <a:xfrm>
            <a:off x="666598" y="506578"/>
            <a:ext cx="8503920" cy="384048"/>
          </a:xfrm>
          <a:prstGeom prst="rect">
            <a:avLst/>
          </a:prstGeom>
          <a:noFill/>
          <a:ln/>
        </p:spPr>
        <p:txBody>
          <a:bodyPr wrap="square" lIns="0" tIns="0" rIns="0" bIns="0" rtlCol="0" anchor="ctr"/>
          <a:lstStyle/>
          <a:p>
            <a:pPr algn="l" indent="0" marL="0">
              <a:buNone/>
            </a:pPr>
            <a:r>
              <a:rPr lang="en-US" sz="3000" dirty="0">
                <a:solidFill>
                  <a:srgbClr val="1B5E20"/>
                </a:solidFill>
                <a:latin typeface="Noto Sans JP" pitchFamily="34" charset="0"/>
                <a:ea typeface="Noto Sans JP" pitchFamily="34" charset="-122"/>
                <a:cs typeface="Noto Sans JP" pitchFamily="34" charset="-120"/>
              </a:rPr>
              <a:t>収益シミュレーション</a:t>
            </a:r>
            <a:endParaRPr lang="en-US" sz="3000" dirty="0"/>
          </a:p>
        </p:txBody>
      </p:sp>
      <p:sp>
        <p:nvSpPr>
          <p:cNvPr id="3" name="Shape 1"/>
          <p:cNvSpPr/>
          <p:nvPr/>
        </p:nvSpPr>
        <p:spPr>
          <a:xfrm>
            <a:off x="666598" y="1114654"/>
            <a:ext cx="10858500" cy="19202"/>
          </a:xfrm>
          <a:prstGeom prst="rect">
            <a:avLst/>
          </a:prstGeom>
          <a:solidFill>
            <a:srgbClr val="8D6E63"/>
          </a:solidFill>
          <a:ln/>
        </p:spPr>
      </p:sp>
      <p:pic>
        <p:nvPicPr>
          <p:cNvPr id="4" name="Image 0" descr="/home/user/suzuki-ceo/selfcafe-fc-deck/assets/logo_gray.png">    </p:cNvPr>
          <p:cNvPicPr>
            <a:picLocks noChangeAspect="1"/>
          </p:cNvPicPr>
          <p:nvPr/>
        </p:nvPicPr>
        <p:blipFill>
          <a:blip r:embed="rId1"/>
          <a:stretch>
            <a:fillRect/>
          </a:stretch>
        </p:blipFill>
        <p:spPr>
          <a:xfrm>
            <a:off x="9415577" y="802843"/>
            <a:ext cx="2024482" cy="288036"/>
          </a:xfrm>
          <a:prstGeom prst="rect">
            <a:avLst/>
          </a:prstGeom>
        </p:spPr>
      </p:pic>
      <p:sp>
        <p:nvSpPr>
          <p:cNvPr id="5" name="Text 2"/>
          <p:cNvSpPr/>
          <p:nvPr/>
        </p:nvSpPr>
        <p:spPr>
          <a:xfrm>
            <a:off x="10610698" y="6345936"/>
            <a:ext cx="914400" cy="219456"/>
          </a:xfrm>
          <a:prstGeom prst="rect">
            <a:avLst/>
          </a:prstGeom>
          <a:noFill/>
          <a:ln/>
        </p:spPr>
        <p:txBody>
          <a:bodyPr wrap="square" lIns="0" tIns="0" rIns="0" bIns="0" rtlCol="0" anchor="ctr"/>
          <a:lstStyle/>
          <a:p>
            <a:pPr algn="r" indent="0" marL="0">
              <a:buNone/>
            </a:pPr>
            <a:r>
              <a:rPr lang="en-US" sz="1300" dirty="0">
                <a:solidFill>
                  <a:srgbClr val="000000"/>
                </a:solidFill>
                <a:latin typeface="Cambria" pitchFamily="34" charset="0"/>
                <a:ea typeface="Cambria" pitchFamily="34" charset="-122"/>
                <a:cs typeface="Cambria" pitchFamily="34" charset="-120"/>
              </a:rPr>
              <a:t>19</a:t>
            </a:r>
            <a:endParaRPr lang="en-US" sz="1300" dirty="0"/>
          </a:p>
        </p:txBody>
      </p:sp>
      <p:sp>
        <p:nvSpPr>
          <p:cNvPr id="6" name="Text 3"/>
          <p:cNvSpPr/>
          <p:nvPr/>
        </p:nvSpPr>
        <p:spPr>
          <a:xfrm>
            <a:off x="666598" y="1243584"/>
            <a:ext cx="10858500" cy="256032"/>
          </a:xfrm>
          <a:prstGeom prst="rect">
            <a:avLst/>
          </a:prstGeom>
          <a:noFill/>
          <a:ln/>
        </p:spPr>
        <p:txBody>
          <a:bodyPr wrap="square" lIns="0" tIns="0" rIns="0" bIns="0" rtlCol="0" anchor="ctr"/>
          <a:lstStyle/>
          <a:p>
            <a:pPr indent="0" marL="0">
              <a:buNone/>
            </a:pPr>
            <a:r>
              <a:rPr lang="en-US" sz="1150" b="1" dirty="0">
                <a:solidFill>
                  <a:srgbClr val="5D4037"/>
                </a:solidFill>
                <a:latin typeface="Noto Sans JP" pitchFamily="34" charset="0"/>
                <a:ea typeface="Noto Sans JP" pitchFamily="34" charset="-122"/>
                <a:cs typeface="Noto Sans JP" pitchFamily="34" charset="-120"/>
              </a:rPr>
              <a:t>既存の収益シミュレーション（25坪・70坪）の営業総利益をもとにした2パターン比較</a:t>
            </a:r>
            <a:endParaRPr lang="en-US" sz="11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66598" y="1773936"/>
          <a:ext cx="7452360" cy="914400"/>
        </p:xfrm>
        <a:graphic>
          <a:graphicData uri="http://schemas.openxmlformats.org/drawingml/2006/table">
            <a:tbl>
              <a:tblPr/>
              <a:tblGrid>
                <a:gridCol w="2788920"/>
                <a:gridCol w="2331720"/>
                <a:gridCol w="2331720"/>
              </a:tblGrid>
              <a:tr h="475488">
                <a:tc>
                  <a:txBody>
                    <a:bodyPr/>
                    <a:lstStyle/>
                    <a:p>
                      <a:pPr algn="l" indent="0" marL="0">
                        <a:buNone/>
                      </a:pPr>
                      <a:r>
                        <a:rPr lang="en-US" sz="1200" b="1" dirty="0">
                          <a:solidFill>
                            <a:srgbClr val="5D4037"/>
                          </a:solidFill>
                          <a:latin typeface="Noto Sans JP" pitchFamily="34" charset="0"/>
                          <a:ea typeface="Noto Sans JP" pitchFamily="34" charset="-122"/>
                          <a:cs typeface="Noto Sans JP" pitchFamily="34" charset="-120"/>
                        </a:rPr>
                        <a:t>項目</a:t>
                      </a:r>
                      <a:endParaRPr lang="en-US" sz="1200" dirty="0">
                        <a:latin typeface="Noto Sans JP" charset="0"/>
                        <a:ea typeface="Noto Sans JP" charset="0"/>
                        <a:cs typeface="Noto Sans JP" charset="0"/>
                      </a:endParaRPr>
                    </a:p>
                  </a:txBody>
                  <a:tcPr marL="146304" marR="146304" marT="54864" marB="54864"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E9DEC4"/>
                    </a:solidFill>
                  </a:tcPr>
                </a:tc>
                <a:tc>
                  <a:txBody>
                    <a:bodyPr/>
                    <a:lstStyle/>
                    <a:p>
                      <a:pPr algn="r" indent="0" marL="0">
                        <a:buNone/>
                      </a:pPr>
                      <a:r>
                        <a:rPr lang="en-US" sz="1200" b="1" dirty="0">
                          <a:solidFill>
                            <a:srgbClr val="FFFFFF"/>
                          </a:solidFill>
                          <a:latin typeface="Noto Sans JP" pitchFamily="34" charset="0"/>
                          <a:ea typeface="Noto Sans JP" pitchFamily="34" charset="-122"/>
                          <a:cs typeface="Noto Sans JP" pitchFamily="34" charset="-120"/>
                        </a:rPr>
                        <a:t>25坪パターン</a:t>
                      </a:r>
                      <a:endParaRPr lang="en-US" sz="1200" dirty="0">
                        <a:latin typeface="Noto Sans JP" charset="0"/>
                        <a:ea typeface="Noto Sans JP" charset="0"/>
                        <a:cs typeface="Noto Sans JP" charset="0"/>
                      </a:endParaRPr>
                    </a:p>
                  </a:txBody>
                  <a:tcPr marL="146304" marR="146304" marT="54864" marB="54864"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1B5E20"/>
                    </a:solidFill>
                  </a:tcPr>
                </a:tc>
                <a:tc>
                  <a:txBody>
                    <a:bodyPr/>
                    <a:lstStyle/>
                    <a:p>
                      <a:pPr algn="r" indent="0" marL="0">
                        <a:buNone/>
                      </a:pPr>
                      <a:r>
                        <a:rPr lang="en-US" sz="1200" b="1" dirty="0">
                          <a:solidFill>
                            <a:srgbClr val="FFFFFF"/>
                          </a:solidFill>
                          <a:latin typeface="Noto Sans JP" pitchFamily="34" charset="0"/>
                          <a:ea typeface="Noto Sans JP" pitchFamily="34" charset="-122"/>
                          <a:cs typeface="Noto Sans JP" pitchFamily="34" charset="-120"/>
                        </a:rPr>
                        <a:t>70坪パターン</a:t>
                      </a:r>
                      <a:endParaRPr lang="en-US" sz="1200" dirty="0">
                        <a:latin typeface="Noto Sans JP" charset="0"/>
                        <a:ea typeface="Noto Sans JP" charset="0"/>
                        <a:cs typeface="Noto Sans JP" charset="0"/>
                      </a:endParaRPr>
                    </a:p>
                  </a:txBody>
                  <a:tcPr marL="146304" marR="146304" marT="54864" marB="54864"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1B5E20"/>
                    </a:solidFill>
                  </a:tcPr>
                </a:tc>
              </a:tr>
              <a:tr h="786384">
                <a:tc>
                  <a:txBody>
                    <a:bodyPr/>
                    <a:lstStyle/>
                    <a:p>
                      <a:pPr indent="0" marL="0">
                        <a:buNone/>
                      </a:pPr>
                      <a:r>
                        <a:rPr lang="en-US" sz="1150" b="1" dirty="0">
                          <a:solidFill>
                            <a:srgbClr val="5D4037"/>
                          </a:solidFill>
                          <a:latin typeface="Noto Sans JP" pitchFamily="34" charset="0"/>
                          <a:ea typeface="Noto Sans JP" pitchFamily="34" charset="-122"/>
                          <a:cs typeface="Noto Sans JP" pitchFamily="34" charset="-120"/>
                        </a:rPr>
                        <a:t>営業総利益（売上－原価）</a:t>
                      </a:r>
                      <a:endParaRPr lang="en-US" sz="1150" dirty="0">
                        <a:latin typeface="Noto Sans JP" charset="0"/>
                        <a:ea typeface="Noto Sans JP" charset="0"/>
                        <a:cs typeface="Noto Sans JP" charset="0"/>
                      </a:endParaRPr>
                    </a:p>
                  </a:txBody>
                  <a:tcPr marL="146304" marR="146304" marT="54864" marB="54864"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6F2E6"/>
                    </a:solidFill>
                  </a:tcPr>
                </a:tc>
                <a:tc>
                  <a:txBody>
                    <a:bodyPr/>
                    <a:lstStyle/>
                    <a:p>
                      <a:pPr algn="r" indent="0" marL="0">
                        <a:buNone/>
                      </a:pPr>
                      <a:r>
                        <a:rPr lang="en-US" sz="1300" dirty="0">
                          <a:solidFill>
                            <a:srgbClr val="3B3833"/>
                          </a:solidFill>
                          <a:latin typeface="Arial" pitchFamily="34" charset="0"/>
                          <a:ea typeface="Arial" pitchFamily="34" charset="-122"/>
                          <a:cs typeface="Arial" pitchFamily="34" charset="-120"/>
                        </a:rPr>
                        <a:t>888,100円</a:t>
                      </a:r>
                      <a:endParaRPr lang="en-US" sz="1300" dirty="0">
                        <a:latin typeface="Arial" charset="0"/>
                        <a:ea typeface="Arial" charset="0"/>
                        <a:cs typeface="Arial" charset="0"/>
                      </a:endParaRPr>
                    </a:p>
                  </a:txBody>
                  <a:tcPr marL="164592" marR="164592" marT="54864" marB="54864"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FFFFF"/>
                    </a:solidFill>
                  </a:tcPr>
                </a:tc>
                <a:tc>
                  <a:txBody>
                    <a:bodyPr/>
                    <a:lstStyle/>
                    <a:p>
                      <a:pPr algn="r" indent="0" marL="0">
                        <a:buNone/>
                      </a:pPr>
                      <a:r>
                        <a:rPr lang="en-US" sz="1300" dirty="0">
                          <a:solidFill>
                            <a:srgbClr val="3B3833"/>
                          </a:solidFill>
                          <a:latin typeface="Arial" pitchFamily="34" charset="0"/>
                          <a:ea typeface="Arial" pitchFamily="34" charset="-122"/>
                          <a:cs typeface="Arial" pitchFamily="34" charset="-120"/>
                        </a:rPr>
                        <a:t>1,387,600円</a:t>
                      </a:r>
                      <a:endParaRPr lang="en-US" sz="1300" dirty="0">
                        <a:latin typeface="Arial" charset="0"/>
                        <a:ea typeface="Arial" charset="0"/>
                        <a:cs typeface="Arial" charset="0"/>
                      </a:endParaRPr>
                    </a:p>
                  </a:txBody>
                  <a:tcPr marL="164592" marR="164592" marT="54864" marB="54864"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FFFFF"/>
                    </a:solidFill>
                  </a:tcPr>
                </a:tc>
              </a:tr>
              <a:tr h="969264">
                <a:tc>
                  <a:txBody>
                    <a:bodyPr/>
                    <a:lstStyle/>
                    <a:p>
                      <a:pPr indent="0" marL="0">
                        <a:buNone/>
                      </a:pPr>
                      <a:r>
                        <a:rPr lang="en-US" sz="1350" b="1" dirty="0">
                          <a:solidFill>
                            <a:srgbClr val="1B5E20"/>
                          </a:solidFill>
                          <a:latin typeface="Noto Sans JP" pitchFamily="34" charset="0"/>
                          <a:ea typeface="Noto Sans JP" pitchFamily="34" charset="-122"/>
                          <a:cs typeface="Noto Sans JP" pitchFamily="34" charset="-120"/>
                        </a:rPr>
                        <a:t>業務委託料（25%）</a:t>
                      </a:r>
                      <a:endParaRPr lang="en-US" sz="1350" dirty="0">
                        <a:latin typeface="Noto Sans JP" charset="0"/>
                        <a:ea typeface="Noto Sans JP" charset="0"/>
                        <a:cs typeface="Noto Sans JP" charset="0"/>
                      </a:endParaRPr>
                    </a:p>
                  </a:txBody>
                  <a:tcPr marL="146304" marR="146304" marT="54864" marB="54864"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6F2E6"/>
                    </a:solidFill>
                  </a:tcPr>
                </a:tc>
                <a:tc>
                  <a:txBody>
                    <a:bodyPr/>
                    <a:lstStyle/>
                    <a:p>
                      <a:pPr algn="r" indent="0" marL="0">
                        <a:buNone/>
                      </a:pPr>
                      <a:r>
                        <a:rPr lang="en-US" sz="1700" b="1" dirty="0">
                          <a:solidFill>
                            <a:srgbClr val="1B5E20"/>
                          </a:solidFill>
                          <a:latin typeface="Arial" pitchFamily="34" charset="0"/>
                          <a:ea typeface="Arial" pitchFamily="34" charset="-122"/>
                          <a:cs typeface="Arial" pitchFamily="34" charset="-120"/>
                        </a:rPr>
                        <a:t>222,025円</a:t>
                      </a:r>
                      <a:endParaRPr lang="en-US" sz="1700" dirty="0">
                        <a:latin typeface="Arial" charset="0"/>
                        <a:ea typeface="Arial" charset="0"/>
                        <a:cs typeface="Arial" charset="0"/>
                      </a:endParaRPr>
                    </a:p>
                  </a:txBody>
                  <a:tcPr marL="164592" marR="164592" marT="54864" marB="54864"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2F7F2"/>
                    </a:solidFill>
                  </a:tcPr>
                </a:tc>
                <a:tc>
                  <a:txBody>
                    <a:bodyPr/>
                    <a:lstStyle/>
                    <a:p>
                      <a:pPr algn="r" indent="0" marL="0">
                        <a:buNone/>
                      </a:pPr>
                      <a:r>
                        <a:rPr lang="en-US" sz="1700" b="1" dirty="0">
                          <a:solidFill>
                            <a:srgbClr val="1B5E20"/>
                          </a:solidFill>
                          <a:latin typeface="Arial" pitchFamily="34" charset="0"/>
                          <a:ea typeface="Arial" pitchFamily="34" charset="-122"/>
                          <a:cs typeface="Arial" pitchFamily="34" charset="-120"/>
                        </a:rPr>
                        <a:t>346,900円</a:t>
                      </a:r>
                      <a:endParaRPr lang="en-US" sz="1700" dirty="0">
                        <a:latin typeface="Arial" charset="0"/>
                        <a:ea typeface="Arial" charset="0"/>
                        <a:cs typeface="Arial" charset="0"/>
                      </a:endParaRPr>
                    </a:p>
                  </a:txBody>
                  <a:tcPr marL="164592" marR="164592" marT="54864" marB="54864"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2F7F2"/>
                    </a:solidFill>
                  </a:tcPr>
                </a:tc>
              </a:tr>
              <a:tr h="731520">
                <a:tc>
                  <a:txBody>
                    <a:bodyPr/>
                    <a:lstStyle/>
                    <a:p>
                      <a:pPr indent="0" marL="0">
                        <a:buNone/>
                      </a:pPr>
                      <a:r>
                        <a:rPr lang="en-US" sz="1150" b="1" dirty="0">
                          <a:solidFill>
                            <a:srgbClr val="5D4037"/>
                          </a:solidFill>
                          <a:latin typeface="Noto Sans JP" pitchFamily="34" charset="0"/>
                          <a:ea typeface="Noto Sans JP" pitchFamily="34" charset="-122"/>
                          <a:cs typeface="Noto Sans JP" pitchFamily="34" charset="-120"/>
                        </a:rPr>
                        <a:t>年間換算</a:t>
                      </a:r>
                      <a:endParaRPr lang="en-US" sz="1150" dirty="0">
                        <a:latin typeface="Noto Sans JP" charset="0"/>
                        <a:ea typeface="Noto Sans JP" charset="0"/>
                        <a:cs typeface="Noto Sans JP" charset="0"/>
                      </a:endParaRPr>
                    </a:p>
                  </a:txBody>
                  <a:tcPr marL="146304" marR="146304" marT="54864" marB="54864"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6F2E6"/>
                    </a:solidFill>
                  </a:tcPr>
                </a:tc>
                <a:tc>
                  <a:txBody>
                    <a:bodyPr/>
                    <a:lstStyle/>
                    <a:p>
                      <a:pPr algn="r" indent="0" marL="0">
                        <a:buNone/>
                      </a:pPr>
                      <a:r>
                        <a:rPr lang="en-US" sz="1200" dirty="0">
                          <a:solidFill>
                            <a:srgbClr val="6E6A61"/>
                          </a:solidFill>
                          <a:latin typeface="Arial" pitchFamily="34" charset="0"/>
                          <a:ea typeface="Arial" pitchFamily="34" charset="-122"/>
                          <a:cs typeface="Arial" pitchFamily="34" charset="-120"/>
                        </a:rPr>
                        <a:t>2,664,300円</a:t>
                      </a:r>
                      <a:endParaRPr lang="en-US" sz="1200" dirty="0">
                        <a:latin typeface="Arial" charset="0"/>
                        <a:ea typeface="Arial" charset="0"/>
                        <a:cs typeface="Arial" charset="0"/>
                      </a:endParaRPr>
                    </a:p>
                  </a:txBody>
                  <a:tcPr marL="164592" marR="164592" marT="54864" marB="54864"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FFFFF"/>
                    </a:solidFill>
                  </a:tcPr>
                </a:tc>
                <a:tc>
                  <a:txBody>
                    <a:bodyPr/>
                    <a:lstStyle/>
                    <a:p>
                      <a:pPr algn="r" indent="0" marL="0">
                        <a:buNone/>
                      </a:pPr>
                      <a:r>
                        <a:rPr lang="en-US" sz="1200" dirty="0">
                          <a:solidFill>
                            <a:srgbClr val="6E6A61"/>
                          </a:solidFill>
                          <a:latin typeface="Arial" pitchFamily="34" charset="0"/>
                          <a:ea typeface="Arial" pitchFamily="34" charset="-122"/>
                          <a:cs typeface="Arial" pitchFamily="34" charset="-120"/>
                        </a:rPr>
                        <a:t>4,162,800円</a:t>
                      </a:r>
                      <a:endParaRPr lang="en-US" sz="1200" dirty="0">
                        <a:latin typeface="Arial" charset="0"/>
                        <a:ea typeface="Arial" charset="0"/>
                        <a:cs typeface="Arial" charset="0"/>
                      </a:endParaRPr>
                    </a:p>
                  </a:txBody>
                  <a:tcPr marL="164592" marR="164592" marT="54864" marB="54864"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FFFFF"/>
                    </a:solidFill>
                  </a:tcPr>
                </a:tc>
              </a:tr>
            </a:tbl>
          </a:graphicData>
        </a:graphic>
      </p:graphicFrame>
      <p:sp>
        <p:nvSpPr>
          <p:cNvPr id="8" name="Shape 4"/>
          <p:cNvSpPr/>
          <p:nvPr/>
        </p:nvSpPr>
        <p:spPr>
          <a:xfrm>
            <a:off x="666598" y="4974336"/>
            <a:ext cx="7452360" cy="969264"/>
          </a:xfrm>
          <a:prstGeom prst="roundRect">
            <a:avLst>
              <a:gd name="adj" fmla="val 5660"/>
            </a:avLst>
          </a:prstGeom>
          <a:solidFill>
            <a:srgbClr val="FAF3E3"/>
          </a:solidFill>
          <a:ln/>
        </p:spPr>
      </p:sp>
      <p:sp>
        <p:nvSpPr>
          <p:cNvPr id="9" name="Text 5"/>
          <p:cNvSpPr/>
          <p:nvPr/>
        </p:nvSpPr>
        <p:spPr>
          <a:xfrm>
            <a:off x="886054" y="4974336"/>
            <a:ext cx="7013448" cy="969264"/>
          </a:xfrm>
          <a:prstGeom prst="rect">
            <a:avLst/>
          </a:prstGeom>
          <a:noFill/>
          <a:ln/>
        </p:spPr>
        <p:txBody>
          <a:bodyPr wrap="square" lIns="0" tIns="0" rIns="0" bIns="0" rtlCol="0" anchor="ctr"/>
          <a:lstStyle/>
          <a:p>
            <a:pPr indent="0" marL="0">
              <a:lnSpc>
                <a:spcPct val="130000"/>
              </a:lnSpc>
              <a:buNone/>
            </a:pPr>
            <a:r>
              <a:rPr lang="en-US" sz="1050" dirty="0">
                <a:solidFill>
                  <a:srgbClr val="5D4037"/>
                </a:solidFill>
                <a:latin typeface="Noto Sans JP" pitchFamily="34" charset="0"/>
                <a:ea typeface="Noto Sans JP" pitchFamily="34" charset="-122"/>
                <a:cs typeface="Noto Sans JP" pitchFamily="34" charset="-120"/>
              </a:rPr>
              <a:t>パートナー様にご負担いただく経費：水道光熱費／通信費／人件費／その他雑費</a:t>
            </a:r>
            <a:endParaRPr lang="en-US" sz="1050" dirty="0"/>
          </a:p>
          <a:p>
            <a:pPr indent="0" marL="0">
              <a:lnSpc>
                <a:spcPct val="130000"/>
              </a:lnSpc>
              <a:buNone/>
            </a:pPr>
            <a:r>
              <a:rPr lang="en-US" sz="1050" dirty="0">
                <a:solidFill>
                  <a:srgbClr val="5D4037"/>
                </a:solidFill>
                <a:latin typeface="Noto Sans JP" pitchFamily="34" charset="0"/>
                <a:ea typeface="Noto Sans JP" pitchFamily="34" charset="-122"/>
                <a:cs typeface="Noto Sans JP" pitchFamily="34" charset="-120"/>
              </a:rPr>
              <a:t>（いずれも実費精算。具体的な金額は店舗の稼働状況により変動します）</a:t>
            </a:r>
            <a:endParaRPr lang="en-US" sz="1050" dirty="0"/>
          </a:p>
        </p:txBody>
      </p:sp>
      <p:sp>
        <p:nvSpPr>
          <p:cNvPr id="10" name="Shape 6"/>
          <p:cNvSpPr/>
          <p:nvPr/>
        </p:nvSpPr>
        <p:spPr>
          <a:xfrm>
            <a:off x="8411566" y="1773936"/>
            <a:ext cx="3113532" cy="2103120"/>
          </a:xfrm>
          <a:prstGeom prst="roundRect">
            <a:avLst>
              <a:gd name="adj" fmla="val 3913"/>
            </a:avLst>
          </a:prstGeom>
          <a:solidFill>
            <a:srgbClr val="12401A"/>
          </a:solidFill>
          <a:ln/>
          <a:effectLst>
            <a:outerShdw sx="100000" sy="100000" kx="0" ky="0" algn="bl" rotWithShape="0" blurRad="114300" dist="17780" dir="5400000">
              <a:srgbClr val="6B6250">
                <a:alpha val="14000"/>
              </a:srgbClr>
            </a:outerShdw>
          </a:effectLst>
        </p:spPr>
      </p:sp>
      <p:pic>
        <p:nvPicPr>
          <p:cNvPr id="11" name="Image 1" descr="/home/user/suzuki-ceo/selfcafe-fc-deck/assets/icons/LuCalculator-white.png">    </p:cNvPr>
          <p:cNvPicPr>
            <a:picLocks noChangeAspect="1"/>
          </p:cNvPicPr>
          <p:nvPr/>
        </p:nvPicPr>
        <p:blipFill>
          <a:blip r:embed="rId2"/>
          <a:stretch>
            <a:fillRect/>
          </a:stretch>
        </p:blipFill>
        <p:spPr>
          <a:xfrm>
            <a:off x="8722462" y="2011680"/>
            <a:ext cx="310896" cy="310896"/>
          </a:xfrm>
          <a:prstGeom prst="rect">
            <a:avLst/>
          </a:prstGeom>
        </p:spPr>
      </p:pic>
      <p:sp>
        <p:nvSpPr>
          <p:cNvPr id="12" name="Text 7"/>
          <p:cNvSpPr/>
          <p:nvPr/>
        </p:nvSpPr>
        <p:spPr>
          <a:xfrm>
            <a:off x="8722462" y="2414016"/>
            <a:ext cx="2491740" cy="292608"/>
          </a:xfrm>
          <a:prstGeom prst="rect">
            <a:avLst/>
          </a:prstGeom>
          <a:noFill/>
          <a:ln/>
        </p:spPr>
        <p:txBody>
          <a:bodyPr wrap="square" lIns="0" tIns="0" rIns="0" bIns="0" rtlCol="0" anchor="ctr"/>
          <a:lstStyle/>
          <a:p>
            <a:pPr indent="0" marL="0">
              <a:buNone/>
            </a:pPr>
            <a:r>
              <a:rPr lang="en-US" sz="1200" b="1" dirty="0">
                <a:solidFill>
                  <a:srgbClr val="A9C6AC"/>
                </a:solidFill>
                <a:latin typeface="Noto Sans JP" pitchFamily="34" charset="0"/>
                <a:ea typeface="Noto Sans JP" pitchFamily="34" charset="-122"/>
                <a:cs typeface="Noto Sans JP" pitchFamily="34" charset="-120"/>
              </a:rPr>
              <a:t>貴社の受取イメージ</a:t>
            </a:r>
            <a:endParaRPr lang="en-US" sz="1200" dirty="0"/>
          </a:p>
        </p:txBody>
      </p:sp>
      <p:sp>
        <p:nvSpPr>
          <p:cNvPr id="13" name="Text 8"/>
          <p:cNvSpPr/>
          <p:nvPr/>
        </p:nvSpPr>
        <p:spPr>
          <a:xfrm>
            <a:off x="8722462" y="2743200"/>
            <a:ext cx="2491740" cy="457200"/>
          </a:xfrm>
          <a:prstGeom prst="rect">
            <a:avLst/>
          </a:prstGeom>
          <a:noFill/>
          <a:ln/>
        </p:spPr>
        <p:txBody>
          <a:bodyPr wrap="square" lIns="0" tIns="0" rIns="0" bIns="0" rtlCol="0" anchor="ctr"/>
          <a:lstStyle/>
          <a:p>
            <a:pPr indent="0" marL="0">
              <a:buNone/>
            </a:pPr>
            <a:r>
              <a:rPr lang="en-US" sz="2100" b="1" dirty="0">
                <a:solidFill>
                  <a:srgbClr val="FFFFFF"/>
                </a:solidFill>
                <a:latin typeface="Noto Sans JP" pitchFamily="34" charset="0"/>
                <a:ea typeface="Noto Sans JP" pitchFamily="34" charset="-122"/>
                <a:cs typeface="Noto Sans JP" pitchFamily="34" charset="-120"/>
              </a:rPr>
              <a:t>月 22万〜35万円</a:t>
            </a:r>
            <a:endParaRPr lang="en-US" sz="2100" dirty="0"/>
          </a:p>
        </p:txBody>
      </p:sp>
      <p:sp>
        <p:nvSpPr>
          <p:cNvPr id="14" name="Text 9"/>
          <p:cNvSpPr/>
          <p:nvPr/>
        </p:nvSpPr>
        <p:spPr>
          <a:xfrm>
            <a:off x="8722462" y="3218688"/>
            <a:ext cx="2491740" cy="329184"/>
          </a:xfrm>
          <a:prstGeom prst="rect">
            <a:avLst/>
          </a:prstGeom>
          <a:noFill/>
          <a:ln/>
        </p:spPr>
        <p:txBody>
          <a:bodyPr wrap="square" lIns="0" tIns="0" rIns="0" bIns="0" rtlCol="0" anchor="ctr"/>
          <a:lstStyle/>
          <a:p>
            <a:pPr indent="0" marL="0">
              <a:buNone/>
            </a:pPr>
            <a:r>
              <a:rPr lang="en-US" sz="1300" dirty="0">
                <a:solidFill>
                  <a:srgbClr val="A9C6AC"/>
                </a:solidFill>
                <a:latin typeface="Noto Sans JP" pitchFamily="34" charset="0"/>
                <a:ea typeface="Noto Sans JP" pitchFamily="34" charset="-122"/>
                <a:cs typeface="Noto Sans JP" pitchFamily="34" charset="-120"/>
              </a:rPr>
              <a:t>年 266万〜416万円</a:t>
            </a:r>
            <a:endParaRPr lang="en-US" sz="1300" dirty="0"/>
          </a:p>
        </p:txBody>
      </p:sp>
      <p:sp>
        <p:nvSpPr>
          <p:cNvPr id="15" name="Shape 10"/>
          <p:cNvSpPr/>
          <p:nvPr/>
        </p:nvSpPr>
        <p:spPr>
          <a:xfrm>
            <a:off x="8411566" y="4078224"/>
            <a:ext cx="3113532" cy="1865376"/>
          </a:xfrm>
          <a:prstGeom prst="roundRect">
            <a:avLst>
              <a:gd name="adj" fmla="val 3431"/>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16" name="Text 11"/>
          <p:cNvSpPr/>
          <p:nvPr/>
        </p:nvSpPr>
        <p:spPr>
          <a:xfrm>
            <a:off x="8685886" y="4261104"/>
            <a:ext cx="2564892" cy="256032"/>
          </a:xfrm>
          <a:prstGeom prst="rect">
            <a:avLst/>
          </a:prstGeom>
          <a:noFill/>
          <a:ln/>
        </p:spPr>
        <p:txBody>
          <a:bodyPr wrap="square" lIns="0" tIns="0" rIns="0" bIns="0" rtlCol="0" anchor="ctr"/>
          <a:lstStyle/>
          <a:p>
            <a:pPr indent="0" marL="0">
              <a:buNone/>
            </a:pPr>
            <a:r>
              <a:rPr lang="en-US" sz="1050" b="1" dirty="0">
                <a:solidFill>
                  <a:srgbClr val="5D4037"/>
                </a:solidFill>
                <a:latin typeface="Noto Sans JP" pitchFamily="34" charset="0"/>
                <a:ea typeface="Noto Sans JP" pitchFamily="34" charset="-122"/>
                <a:cs typeface="Noto Sans JP" pitchFamily="34" charset="-120"/>
              </a:rPr>
              <a:t>計算の前提</a:t>
            </a:r>
            <a:endParaRPr lang="en-US" sz="1050" dirty="0"/>
          </a:p>
        </p:txBody>
      </p:sp>
      <p:sp>
        <p:nvSpPr>
          <p:cNvPr id="17" name="Text 12"/>
          <p:cNvSpPr/>
          <p:nvPr/>
        </p:nvSpPr>
        <p:spPr>
          <a:xfrm>
            <a:off x="8685886" y="4553712"/>
            <a:ext cx="2564892" cy="1225296"/>
          </a:xfrm>
          <a:prstGeom prst="rect">
            <a:avLst/>
          </a:prstGeom>
          <a:noFill/>
          <a:ln/>
        </p:spPr>
        <p:txBody>
          <a:bodyPr wrap="square" lIns="0" tIns="0" rIns="0" bIns="0" rtlCol="0" anchor="t"/>
          <a:lstStyle/>
          <a:p>
            <a:pPr marL="139700" indent="-139700">
              <a:spcAft>
                <a:spcPts val="500"/>
              </a:spcAft>
              <a:buSzPct val="100000"/>
              <a:buChar char="▪"/>
            </a:pPr>
            <a:r>
              <a:rPr lang="en-US" sz="1050" dirty="0">
                <a:solidFill>
                  <a:srgbClr val="3B3833"/>
                </a:solidFill>
                <a:latin typeface="Noto Sans JP" pitchFamily="34" charset="0"/>
                <a:ea typeface="Noto Sans JP" pitchFamily="34" charset="-122"/>
                <a:cs typeface="Noto Sans JP" pitchFamily="34" charset="-120"/>
              </a:rPr>
              <a:t>営業総利益（売上－原価）の25%を業務委託料としてお支払い</a:t>
            </a:r>
            <a:endParaRPr lang="en-US" sz="1050" dirty="0"/>
          </a:p>
          <a:p>
            <a:pPr marL="139700" indent="-139700">
              <a:spcAft>
                <a:spcPts val="500"/>
              </a:spcAft>
              <a:buSzPct val="100000"/>
              <a:buChar char="▪"/>
            </a:pPr>
            <a:r>
              <a:rPr lang="en-US" sz="1050" dirty="0">
                <a:solidFill>
                  <a:srgbClr val="3B3833"/>
                </a:solidFill>
                <a:latin typeface="Noto Sans JP" pitchFamily="34" charset="0"/>
                <a:ea typeface="Noto Sans JP" pitchFamily="34" charset="-122"/>
                <a:cs typeface="Noto Sans JP" pitchFamily="34" charset="-120"/>
              </a:rPr>
              <a:t>売上金の管理は本部が実施</a:t>
            </a:r>
            <a:endParaRPr lang="en-US" sz="1050" dirty="0"/>
          </a:p>
          <a:p>
            <a:pPr marL="139700" indent="-139700">
              <a:spcAft>
                <a:spcPts val="500"/>
              </a:spcAft>
              <a:buSzPct val="100000"/>
              <a:buChar char="▪"/>
            </a:pPr>
            <a:r>
              <a:rPr lang="en-US" sz="1050" dirty="0">
                <a:solidFill>
                  <a:srgbClr val="3B3833"/>
                </a:solidFill>
                <a:latin typeface="Noto Sans JP" pitchFamily="34" charset="0"/>
                <a:ea typeface="Noto Sans JP" pitchFamily="34" charset="-122"/>
                <a:cs typeface="Noto Sans JP" pitchFamily="34" charset="-120"/>
              </a:rPr>
              <a:t>上記は既存店の実績をもとにした試算値</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CF5"/>
        </a:solidFill>
      </p:bgPr>
    </p:bg>
    <p:spTree>
      <p:nvGrpSpPr>
        <p:cNvPr id="1" name=""/>
        <p:cNvGrpSpPr/>
        <p:nvPr/>
      </p:nvGrpSpPr>
      <p:grpSpPr>
        <a:xfrm>
          <a:off x="0" y="0"/>
          <a:ext cx="0" cy="0"/>
          <a:chOff x="0" y="0"/>
          <a:chExt cx="0" cy="0"/>
        </a:xfrm>
      </p:grpSpPr>
      <p:sp>
        <p:nvSpPr>
          <p:cNvPr id="2" name="Text 0"/>
          <p:cNvSpPr/>
          <p:nvPr/>
        </p:nvSpPr>
        <p:spPr>
          <a:xfrm>
            <a:off x="666598" y="506578"/>
            <a:ext cx="8503920" cy="384048"/>
          </a:xfrm>
          <a:prstGeom prst="rect">
            <a:avLst/>
          </a:prstGeom>
          <a:noFill/>
          <a:ln/>
        </p:spPr>
        <p:txBody>
          <a:bodyPr wrap="square" lIns="0" tIns="0" rIns="0" bIns="0" rtlCol="0" anchor="ctr"/>
          <a:lstStyle/>
          <a:p>
            <a:pPr algn="l" indent="0" marL="0">
              <a:buNone/>
            </a:pPr>
            <a:r>
              <a:rPr lang="en-US" sz="3000" dirty="0">
                <a:solidFill>
                  <a:srgbClr val="1B5E20"/>
                </a:solidFill>
                <a:latin typeface="Noto Sans JP" pitchFamily="34" charset="0"/>
                <a:ea typeface="Noto Sans JP" pitchFamily="34" charset="-122"/>
                <a:cs typeface="Noto Sans JP" pitchFamily="34" charset="-120"/>
              </a:rPr>
              <a:t>有料オプション一覧</a:t>
            </a:r>
            <a:endParaRPr lang="en-US" sz="3000" dirty="0"/>
          </a:p>
        </p:txBody>
      </p:sp>
      <p:sp>
        <p:nvSpPr>
          <p:cNvPr id="3" name="Shape 1"/>
          <p:cNvSpPr/>
          <p:nvPr/>
        </p:nvSpPr>
        <p:spPr>
          <a:xfrm>
            <a:off x="666598" y="1114654"/>
            <a:ext cx="10858500" cy="19202"/>
          </a:xfrm>
          <a:prstGeom prst="rect">
            <a:avLst/>
          </a:prstGeom>
          <a:solidFill>
            <a:srgbClr val="8D6E63"/>
          </a:solidFill>
          <a:ln/>
        </p:spPr>
      </p:sp>
      <p:pic>
        <p:nvPicPr>
          <p:cNvPr id="4" name="Image 0" descr="/home/user/suzuki-ceo/selfcafe-fc-deck/assets/logo_gray.png">    </p:cNvPr>
          <p:cNvPicPr>
            <a:picLocks noChangeAspect="1"/>
          </p:cNvPicPr>
          <p:nvPr/>
        </p:nvPicPr>
        <p:blipFill>
          <a:blip r:embed="rId1"/>
          <a:stretch>
            <a:fillRect/>
          </a:stretch>
        </p:blipFill>
        <p:spPr>
          <a:xfrm>
            <a:off x="9415577" y="802843"/>
            <a:ext cx="2024482" cy="288036"/>
          </a:xfrm>
          <a:prstGeom prst="rect">
            <a:avLst/>
          </a:prstGeom>
        </p:spPr>
      </p:pic>
      <p:sp>
        <p:nvSpPr>
          <p:cNvPr id="5" name="Text 2"/>
          <p:cNvSpPr/>
          <p:nvPr/>
        </p:nvSpPr>
        <p:spPr>
          <a:xfrm>
            <a:off x="10610698" y="6345936"/>
            <a:ext cx="914400" cy="219456"/>
          </a:xfrm>
          <a:prstGeom prst="rect">
            <a:avLst/>
          </a:prstGeom>
          <a:noFill/>
          <a:ln/>
        </p:spPr>
        <p:txBody>
          <a:bodyPr wrap="square" lIns="0" tIns="0" rIns="0" bIns="0" rtlCol="0" anchor="ctr"/>
          <a:lstStyle/>
          <a:p>
            <a:pPr algn="r" indent="0" marL="0">
              <a:buNone/>
            </a:pPr>
            <a:r>
              <a:rPr lang="en-US" sz="1300" dirty="0">
                <a:solidFill>
                  <a:srgbClr val="000000"/>
                </a:solidFill>
                <a:latin typeface="Cambria" pitchFamily="34" charset="0"/>
                <a:ea typeface="Cambria" pitchFamily="34" charset="-122"/>
                <a:cs typeface="Cambria" pitchFamily="34" charset="-120"/>
              </a:rPr>
              <a:t>20</a:t>
            </a:r>
            <a:endParaRPr lang="en-US" sz="1300" dirty="0"/>
          </a:p>
        </p:txBody>
      </p:sp>
      <p:sp>
        <p:nvSpPr>
          <p:cNvPr id="6" name="Text 3"/>
          <p:cNvSpPr/>
          <p:nvPr/>
        </p:nvSpPr>
        <p:spPr>
          <a:xfrm>
            <a:off x="666598" y="1243584"/>
            <a:ext cx="10858500" cy="256032"/>
          </a:xfrm>
          <a:prstGeom prst="rect">
            <a:avLst/>
          </a:prstGeom>
          <a:noFill/>
          <a:ln/>
        </p:spPr>
        <p:txBody>
          <a:bodyPr wrap="square" lIns="0" tIns="0" rIns="0" bIns="0" rtlCol="0" anchor="ctr"/>
          <a:lstStyle/>
          <a:p>
            <a:pPr indent="0" marL="0">
              <a:buNone/>
            </a:pPr>
            <a:r>
              <a:rPr lang="en-US" sz="1150" b="1" dirty="0">
                <a:solidFill>
                  <a:srgbClr val="5D4037"/>
                </a:solidFill>
                <a:latin typeface="Noto Sans JP" pitchFamily="34" charset="0"/>
                <a:ea typeface="Noto Sans JP" pitchFamily="34" charset="-122"/>
                <a:cs typeface="Noto Sans JP" pitchFamily="34" charset="-120"/>
              </a:rPr>
              <a:t>すべて任意でお選びいただけます（金額は税抜き表示）</a:t>
            </a:r>
            <a:endParaRPr lang="en-US" sz="11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66598" y="1773936"/>
          <a:ext cx="10858500" cy="914400"/>
        </p:xfrm>
        <a:graphic>
          <a:graphicData uri="http://schemas.openxmlformats.org/drawingml/2006/table">
            <a:tbl>
              <a:tblPr/>
              <a:tblGrid>
                <a:gridCol w="2148840"/>
                <a:gridCol w="1325880"/>
                <a:gridCol w="1325880"/>
                <a:gridCol w="6057900"/>
              </a:tblGrid>
              <a:tr h="457200">
                <a:tc>
                  <a:txBody>
                    <a:bodyPr/>
                    <a:lstStyle/>
                    <a:p>
                      <a:pPr algn="l" indent="0" marL="0">
                        <a:buNone/>
                      </a:pPr>
                      <a:r>
                        <a:rPr lang="en-US" sz="1200" b="1" dirty="0">
                          <a:solidFill>
                            <a:srgbClr val="FFFFFF"/>
                          </a:solidFill>
                          <a:latin typeface="Noto Sans JP" pitchFamily="34" charset="0"/>
                          <a:ea typeface="Noto Sans JP" pitchFamily="34" charset="-122"/>
                          <a:cs typeface="Noto Sans JP" pitchFamily="34" charset="-120"/>
                        </a:rPr>
                        <a:t>項目</a:t>
                      </a:r>
                      <a:endParaRPr lang="en-US" sz="1200" dirty="0">
                        <a:latin typeface="Noto Sans JP" charset="0"/>
                        <a:ea typeface="Noto Sans JP" charset="0"/>
                        <a:cs typeface="Noto Sans JP" charset="0"/>
                      </a:endParaRPr>
                    </a:p>
                  </a:txBody>
                  <a:tcPr marL="128016" marR="128016" marT="54864" marB="54864"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1B5E20"/>
                    </a:solidFill>
                  </a:tcPr>
                </a:tc>
                <a:tc>
                  <a:txBody>
                    <a:bodyPr/>
                    <a:lstStyle/>
                    <a:p>
                      <a:pPr algn="r" indent="0" marL="0">
                        <a:buNone/>
                      </a:pPr>
                      <a:r>
                        <a:rPr lang="en-US" sz="1200" b="1" dirty="0">
                          <a:solidFill>
                            <a:srgbClr val="FFFFFF"/>
                          </a:solidFill>
                          <a:latin typeface="Noto Sans JP" pitchFamily="34" charset="0"/>
                          <a:ea typeface="Noto Sans JP" pitchFamily="34" charset="-122"/>
                          <a:cs typeface="Noto Sans JP" pitchFamily="34" charset="-120"/>
                        </a:rPr>
                        <a:t>初期費用</a:t>
                      </a:r>
                      <a:endParaRPr lang="en-US" sz="1200" dirty="0">
                        <a:latin typeface="Noto Sans JP" charset="0"/>
                        <a:ea typeface="Noto Sans JP" charset="0"/>
                        <a:cs typeface="Noto Sans JP" charset="0"/>
                      </a:endParaRPr>
                    </a:p>
                  </a:txBody>
                  <a:tcPr marL="128016" marR="128016" marT="54864" marB="54864"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1B5E20"/>
                    </a:solidFill>
                  </a:tcPr>
                </a:tc>
                <a:tc>
                  <a:txBody>
                    <a:bodyPr/>
                    <a:lstStyle/>
                    <a:p>
                      <a:pPr algn="r" indent="0" marL="0">
                        <a:buNone/>
                      </a:pPr>
                      <a:r>
                        <a:rPr lang="en-US" sz="1200" b="1" dirty="0">
                          <a:solidFill>
                            <a:srgbClr val="FFFFFF"/>
                          </a:solidFill>
                          <a:latin typeface="Noto Sans JP" pitchFamily="34" charset="0"/>
                          <a:ea typeface="Noto Sans JP" pitchFamily="34" charset="-122"/>
                          <a:cs typeface="Noto Sans JP" pitchFamily="34" charset="-120"/>
                        </a:rPr>
                        <a:t>月額費用</a:t>
                      </a:r>
                      <a:endParaRPr lang="en-US" sz="1200" dirty="0">
                        <a:latin typeface="Noto Sans JP" charset="0"/>
                        <a:ea typeface="Noto Sans JP" charset="0"/>
                        <a:cs typeface="Noto Sans JP" charset="0"/>
                      </a:endParaRPr>
                    </a:p>
                  </a:txBody>
                  <a:tcPr marL="128016" marR="128016" marT="54864" marB="54864"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1B5E20"/>
                    </a:solidFill>
                  </a:tcPr>
                </a:tc>
                <a:tc>
                  <a:txBody>
                    <a:bodyPr/>
                    <a:lstStyle/>
                    <a:p>
                      <a:pPr algn="l" indent="0" marL="0">
                        <a:buNone/>
                      </a:pPr>
                      <a:r>
                        <a:rPr lang="en-US" sz="1200" b="1" dirty="0">
                          <a:solidFill>
                            <a:srgbClr val="FFFFFF"/>
                          </a:solidFill>
                          <a:latin typeface="Noto Sans JP" pitchFamily="34" charset="0"/>
                          <a:ea typeface="Noto Sans JP" pitchFamily="34" charset="-122"/>
                          <a:cs typeface="Noto Sans JP" pitchFamily="34" charset="-120"/>
                        </a:rPr>
                        <a:t>備考</a:t>
                      </a:r>
                      <a:endParaRPr lang="en-US" sz="1200" dirty="0">
                        <a:latin typeface="Noto Sans JP" charset="0"/>
                        <a:ea typeface="Noto Sans JP" charset="0"/>
                        <a:cs typeface="Noto Sans JP" charset="0"/>
                      </a:endParaRPr>
                    </a:p>
                  </a:txBody>
                  <a:tcPr marL="128016" marR="128016" marT="54864" marB="54864"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1B5E20"/>
                    </a:solidFill>
                  </a:tcPr>
                </a:tc>
              </a:tr>
              <a:tr h="1225296">
                <a:tc>
                  <a:txBody>
                    <a:bodyPr/>
                    <a:lstStyle/>
                    <a:p>
                      <a:pPr indent="0" marL="0">
                        <a:buNone/>
                      </a:pPr>
                      <a:r>
                        <a:rPr lang="en-US" sz="1150" b="1" dirty="0">
                          <a:solidFill>
                            <a:srgbClr val="5D4037"/>
                          </a:solidFill>
                          <a:latin typeface="Noto Sans JP" pitchFamily="34" charset="0"/>
                          <a:ea typeface="Noto Sans JP" pitchFamily="34" charset="-122"/>
                          <a:cs typeface="Noto Sans JP" pitchFamily="34" charset="-120"/>
                        </a:rPr>
                        <a:t>公式LINE作成</a:t>
                      </a:r>
                      <a:endParaRPr lang="en-US" sz="1150" dirty="0">
                        <a:latin typeface="Noto Sans JP" charset="0"/>
                        <a:ea typeface="Noto Sans JP" charset="0"/>
                        <a:cs typeface="Noto Sans JP" charset="0"/>
                      </a:endParaRPr>
                    </a:p>
                  </a:txBody>
                  <a:tcPr marL="128016" marR="128016" marT="54864" marB="54864"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6F2E6"/>
                    </a:solidFill>
                  </a:tcPr>
                </a:tc>
                <a:tc>
                  <a:txBody>
                    <a:bodyPr/>
                    <a:lstStyle/>
                    <a:p>
                      <a:pPr algn="r" indent="0" marL="0">
                        <a:buNone/>
                      </a:pPr>
                      <a:r>
                        <a:rPr lang="en-US" sz="1250" b="1" dirty="0">
                          <a:solidFill>
                            <a:srgbClr val="1B5E20"/>
                          </a:solidFill>
                          <a:latin typeface="Arial" pitchFamily="34" charset="0"/>
                          <a:ea typeface="Arial" pitchFamily="34" charset="-122"/>
                          <a:cs typeface="Arial" pitchFamily="34" charset="-120"/>
                        </a:rPr>
                        <a:t>15,000円</a:t>
                      </a:r>
                      <a:endParaRPr lang="en-US" sz="1250" dirty="0">
                        <a:latin typeface="Arial" charset="0"/>
                        <a:ea typeface="Arial" charset="0"/>
                        <a:cs typeface="Arial" charset="0"/>
                      </a:endParaRPr>
                    </a:p>
                  </a:txBody>
                  <a:tcPr marL="146304" marR="146304" marT="54864" marB="54864"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FFFFF"/>
                    </a:solidFill>
                  </a:tcPr>
                </a:tc>
                <a:tc>
                  <a:txBody>
                    <a:bodyPr/>
                    <a:lstStyle/>
                    <a:p>
                      <a:pPr algn="r" indent="0" marL="0">
                        <a:buNone/>
                      </a:pPr>
                      <a:r>
                        <a:rPr lang="en-US" sz="1250" b="1" dirty="0">
                          <a:solidFill>
                            <a:srgbClr val="1B5E20"/>
                          </a:solidFill>
                          <a:latin typeface="Arial" pitchFamily="34" charset="0"/>
                          <a:ea typeface="Arial" pitchFamily="34" charset="-122"/>
                          <a:cs typeface="Arial" pitchFamily="34" charset="-120"/>
                        </a:rPr>
                        <a:t>0円</a:t>
                      </a:r>
                      <a:endParaRPr lang="en-US" sz="1250" dirty="0">
                        <a:latin typeface="Arial" charset="0"/>
                        <a:ea typeface="Arial" charset="0"/>
                        <a:cs typeface="Arial" charset="0"/>
                      </a:endParaRPr>
                    </a:p>
                  </a:txBody>
                  <a:tcPr marL="146304" marR="146304" marT="54864" marB="54864"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FFFFF"/>
                    </a:solidFill>
                  </a:tcPr>
                </a:tc>
                <a:tc>
                  <a:txBody>
                    <a:bodyPr/>
                    <a:lstStyle/>
                    <a:p>
                      <a:pPr indent="0" marL="0">
                        <a:buNone/>
                      </a:pPr>
                      <a:r>
                        <a:rPr lang="en-US" sz="1000" b="1" dirty="0">
                          <a:solidFill>
                            <a:srgbClr val="1B5E20"/>
                          </a:solidFill>
                          <a:latin typeface="Noto Sans JP" pitchFamily="34" charset="0"/>
                          <a:ea typeface="Noto Sans JP" pitchFamily="34" charset="-122"/>
                          <a:cs typeface="Noto Sans JP" pitchFamily="34" charset="-120"/>
                        </a:rPr>
                        <a:t>FC店の公式LINEを新規作成できます。</a:t>
                      </a:r>
                      <a:endParaRPr lang="en-US" sz="1200" dirty="0">
                        <a:latin typeface="Noto Sans JP" charset="0"/>
                        <a:ea typeface="Noto Sans JP" charset="0"/>
                        <a:cs typeface="Noto Sans JP" charset="0"/>
                      </a:endParaRPr>
                    </a:p>
                    <a:p>
                      <a:pPr indent="0" marL="0">
                        <a:buNone/>
                      </a:pPr>
                      <a:r>
                        <a:rPr lang="en-US" sz="950" dirty="0">
                          <a:solidFill>
                            <a:srgbClr val="3B3833"/>
                          </a:solidFill>
                          <a:latin typeface="Noto Sans JP" pitchFamily="34" charset="0"/>
                          <a:ea typeface="Noto Sans JP" pitchFamily="34" charset="-122"/>
                          <a:cs typeface="Noto Sans JP" pitchFamily="34" charset="-120"/>
                        </a:rPr>
                        <a:t>メリット：独自の発信や告知、広告が打てます。</a:t>
                      </a:r>
                      <a:endParaRPr lang="en-US" sz="1200" dirty="0">
                        <a:latin typeface="Noto Sans JP" charset="0"/>
                        <a:ea typeface="Noto Sans JP" charset="0"/>
                        <a:cs typeface="Noto Sans JP" charset="0"/>
                      </a:endParaRPr>
                    </a:p>
                    <a:p>
                      <a:pPr indent="0" marL="0">
                        <a:buNone/>
                      </a:pPr>
                      <a:r>
                        <a:rPr lang="en-US" sz="950" dirty="0">
                          <a:solidFill>
                            <a:srgbClr val="3B3833"/>
                          </a:solidFill>
                          <a:latin typeface="Noto Sans JP" pitchFamily="34" charset="0"/>
                          <a:ea typeface="Noto Sans JP" pitchFamily="34" charset="-122"/>
                          <a:cs typeface="Noto Sans JP" pitchFamily="34" charset="-120"/>
                        </a:rPr>
                        <a:t>デメリット：セルフカフェ公式LINEから切り離されるため、本来手放しでよいLINE問い合わせが直接届きます。</a:t>
                      </a:r>
                      <a:endParaRPr lang="en-US" sz="1200" dirty="0">
                        <a:latin typeface="Noto Sans JP" charset="0"/>
                        <a:ea typeface="Noto Sans JP" charset="0"/>
                        <a:cs typeface="Noto Sans JP" charset="0"/>
                      </a:endParaRPr>
                    </a:p>
                    <a:p>
                      <a:pPr indent="0" marL="0">
                        <a:buNone/>
                      </a:pPr>
                      <a:r>
                        <a:rPr lang="en-US" sz="950" dirty="0">
                          <a:solidFill>
                            <a:srgbClr val="3B3833"/>
                          </a:solidFill>
                          <a:latin typeface="Noto Sans JP" pitchFamily="34" charset="0"/>
                          <a:ea typeface="Noto Sans JP" pitchFamily="34" charset="-122"/>
                          <a:cs typeface="Noto Sans JP" pitchFamily="34" charset="-120"/>
                        </a:rPr>
                        <a:t>本部の発信と連携できないため、本部情報はパートナー様側で都度発信いただく必要があります。</a:t>
                      </a:r>
                      <a:endParaRPr lang="en-US" sz="1200" dirty="0">
                        <a:latin typeface="Noto Sans JP" charset="0"/>
                        <a:ea typeface="Noto Sans JP" charset="0"/>
                        <a:cs typeface="Noto Sans JP" charset="0"/>
                      </a:endParaRPr>
                    </a:p>
                  </a:txBody>
                  <a:tcPr marL="146304" marR="146304" marT="73152" marB="73152"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FFFFF"/>
                    </a:solidFill>
                  </a:tcPr>
                </a:tc>
              </a:tr>
              <a:tr h="841248">
                <a:tc>
                  <a:txBody>
                    <a:bodyPr/>
                    <a:lstStyle/>
                    <a:p>
                      <a:pPr indent="0" marL="0">
                        <a:buNone/>
                      </a:pPr>
                      <a:r>
                        <a:rPr lang="en-US" sz="1150" b="1" dirty="0">
                          <a:solidFill>
                            <a:srgbClr val="5D4037"/>
                          </a:solidFill>
                          <a:latin typeface="Noto Sans JP" pitchFamily="34" charset="0"/>
                          <a:ea typeface="Noto Sans JP" pitchFamily="34" charset="-122"/>
                          <a:cs typeface="Noto Sans JP" pitchFamily="34" charset="-120"/>
                        </a:rPr>
                        <a:t>顧客用コピー機</a:t>
                      </a:r>
                      <a:endParaRPr lang="en-US" sz="1150" dirty="0">
                        <a:latin typeface="Noto Sans JP" charset="0"/>
                        <a:ea typeface="Noto Sans JP" charset="0"/>
                        <a:cs typeface="Noto Sans JP" charset="0"/>
                      </a:endParaRPr>
                    </a:p>
                  </a:txBody>
                  <a:tcPr marL="128016" marR="128016" marT="54864" marB="54864"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6F2E6"/>
                    </a:solidFill>
                  </a:tcPr>
                </a:tc>
                <a:tc>
                  <a:txBody>
                    <a:bodyPr/>
                    <a:lstStyle/>
                    <a:p>
                      <a:pPr algn="r" indent="0" marL="0">
                        <a:buNone/>
                      </a:pPr>
                      <a:r>
                        <a:rPr lang="en-US" sz="1250" b="1" dirty="0">
                          <a:solidFill>
                            <a:srgbClr val="1B5E20"/>
                          </a:solidFill>
                          <a:latin typeface="Arial" pitchFamily="34" charset="0"/>
                          <a:ea typeface="Arial" pitchFamily="34" charset="-122"/>
                          <a:cs typeface="Arial" pitchFamily="34" charset="-120"/>
                        </a:rPr>
                        <a:t>50,000円</a:t>
                      </a:r>
                      <a:endParaRPr lang="en-US" sz="1250" dirty="0">
                        <a:latin typeface="Arial" charset="0"/>
                        <a:ea typeface="Arial" charset="0"/>
                        <a:cs typeface="Arial" charset="0"/>
                      </a:endParaRPr>
                    </a:p>
                  </a:txBody>
                  <a:tcPr marL="146304" marR="146304" marT="54864" marB="54864"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FFFFF"/>
                    </a:solidFill>
                  </a:tcPr>
                </a:tc>
                <a:tc>
                  <a:txBody>
                    <a:bodyPr/>
                    <a:lstStyle/>
                    <a:p>
                      <a:pPr algn="r" indent="0" marL="0">
                        <a:buNone/>
                      </a:pPr>
                      <a:r>
                        <a:rPr lang="en-US" sz="1250" b="1" dirty="0">
                          <a:solidFill>
                            <a:srgbClr val="1B5E20"/>
                          </a:solidFill>
                          <a:latin typeface="Arial" pitchFamily="34" charset="0"/>
                          <a:ea typeface="Arial" pitchFamily="34" charset="-122"/>
                          <a:cs typeface="Arial" pitchFamily="34" charset="-120"/>
                        </a:rPr>
                        <a:t>20,000円</a:t>
                      </a:r>
                      <a:endParaRPr lang="en-US" sz="1250" dirty="0">
                        <a:latin typeface="Arial" charset="0"/>
                        <a:ea typeface="Arial" charset="0"/>
                        <a:cs typeface="Arial" charset="0"/>
                      </a:endParaRPr>
                    </a:p>
                  </a:txBody>
                  <a:tcPr marL="146304" marR="146304" marT="54864" marB="54864"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FFFFF"/>
                    </a:solidFill>
                  </a:tcPr>
                </a:tc>
                <a:tc>
                  <a:txBody>
                    <a:bodyPr/>
                    <a:lstStyle/>
                    <a:p>
                      <a:pPr indent="0" marL="0">
                        <a:buNone/>
                      </a:pPr>
                      <a:r>
                        <a:rPr lang="en-US" sz="1000" b="1" dirty="0">
                          <a:solidFill>
                            <a:srgbClr val="1B5E20"/>
                          </a:solidFill>
                          <a:latin typeface="Noto Sans JP" pitchFamily="34" charset="0"/>
                          <a:ea typeface="Noto Sans JP" pitchFamily="34" charset="-122"/>
                          <a:cs typeface="Noto Sans JP" pitchFamily="34" charset="-120"/>
                        </a:rPr>
                        <a:t>PayPay決済のみ</a:t>
                      </a:r>
                      <a:endParaRPr lang="en-US" sz="1200" dirty="0">
                        <a:latin typeface="Noto Sans JP" charset="0"/>
                        <a:ea typeface="Noto Sans JP" charset="0"/>
                        <a:cs typeface="Noto Sans JP" charset="0"/>
                      </a:endParaRPr>
                    </a:p>
                    <a:p>
                      <a:pPr indent="0" marL="0">
                        <a:buNone/>
                      </a:pPr>
                      <a:r>
                        <a:rPr lang="en-US" sz="950" dirty="0">
                          <a:solidFill>
                            <a:srgbClr val="3B3833"/>
                          </a:solidFill>
                          <a:latin typeface="Noto Sans JP" pitchFamily="34" charset="0"/>
                          <a:ea typeface="Noto Sans JP" pitchFamily="34" charset="-122"/>
                          <a:cs typeface="Noto Sans JP" pitchFamily="34" charset="-120"/>
                        </a:rPr>
                        <a:t>※本体代は別途</a:t>
                      </a:r>
                      <a:endParaRPr lang="en-US" sz="1200" dirty="0">
                        <a:latin typeface="Noto Sans JP" charset="0"/>
                        <a:ea typeface="Noto Sans JP" charset="0"/>
                        <a:cs typeface="Noto Sans JP" charset="0"/>
                      </a:endParaRPr>
                    </a:p>
                    <a:p>
                      <a:pPr indent="0" marL="0">
                        <a:buNone/>
                      </a:pPr>
                      <a:r>
                        <a:rPr lang="en-US" sz="950" dirty="0">
                          <a:solidFill>
                            <a:srgbClr val="3B3833"/>
                          </a:solidFill>
                          <a:latin typeface="Noto Sans JP" pitchFamily="34" charset="0"/>
                          <a:ea typeface="Noto Sans JP" pitchFamily="34" charset="-122"/>
                          <a:cs typeface="Noto Sans JP" pitchFamily="34" charset="-120"/>
                        </a:rPr>
                        <a:t>※グローバルIPの取得が必要です</a:t>
                      </a:r>
                      <a:endParaRPr lang="en-US" sz="1200" dirty="0">
                        <a:latin typeface="Noto Sans JP" charset="0"/>
                        <a:ea typeface="Noto Sans JP" charset="0"/>
                        <a:cs typeface="Noto Sans JP" charset="0"/>
                      </a:endParaRPr>
                    </a:p>
                  </a:txBody>
                  <a:tcPr marL="146304" marR="146304" marT="73152" marB="73152"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FFFFF"/>
                    </a:solidFill>
                  </a:tcPr>
                </a:tc>
              </a:tr>
              <a:tr h="1024128">
                <a:tc>
                  <a:txBody>
                    <a:bodyPr/>
                    <a:lstStyle/>
                    <a:p>
                      <a:pPr indent="0" marL="0">
                        <a:buNone/>
                      </a:pPr>
                      <a:r>
                        <a:rPr lang="en-US" sz="1150" b="1" dirty="0">
                          <a:solidFill>
                            <a:srgbClr val="5D4037"/>
                          </a:solidFill>
                          <a:latin typeface="Noto Sans JP" pitchFamily="34" charset="0"/>
                          <a:ea typeface="Noto Sans JP" pitchFamily="34" charset="-122"/>
                          <a:cs typeface="Noto Sans JP" pitchFamily="34" charset="-120"/>
                        </a:rPr>
                        <a:t>営業サポートプラン</a:t>
                      </a:r>
                      <a:endParaRPr lang="en-US" sz="1150" dirty="0">
                        <a:latin typeface="Noto Sans JP" charset="0"/>
                        <a:ea typeface="Noto Sans JP" charset="0"/>
                        <a:cs typeface="Noto Sans JP" charset="0"/>
                      </a:endParaRPr>
                    </a:p>
                    <a:p>
                      <a:pPr indent="0" marL="0">
                        <a:buNone/>
                      </a:pPr>
                      <a:r>
                        <a:rPr lang="en-US" sz="1150" b="1" dirty="0">
                          <a:solidFill>
                            <a:srgbClr val="5D4037"/>
                          </a:solidFill>
                          <a:latin typeface="Noto Sans JP" pitchFamily="34" charset="0"/>
                          <a:ea typeface="Noto Sans JP" pitchFamily="34" charset="-122"/>
                          <a:cs typeface="Noto Sans JP" pitchFamily="34" charset="-120"/>
                        </a:rPr>
                        <a:t>（フルサポート）</a:t>
                      </a:r>
                      <a:endParaRPr lang="en-US" sz="1150" dirty="0">
                        <a:latin typeface="Noto Sans JP" charset="0"/>
                        <a:ea typeface="Noto Sans JP" charset="0"/>
                        <a:cs typeface="Noto Sans JP" charset="0"/>
                      </a:endParaRPr>
                    </a:p>
                  </a:txBody>
                  <a:tcPr marL="128016" marR="128016" marT="54864" marB="54864"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6F2E6"/>
                    </a:solidFill>
                  </a:tcPr>
                </a:tc>
                <a:tc>
                  <a:txBody>
                    <a:bodyPr/>
                    <a:lstStyle/>
                    <a:p>
                      <a:pPr algn="r" indent="0" marL="0">
                        <a:buNone/>
                      </a:pPr>
                      <a:r>
                        <a:rPr lang="en-US" sz="1250" b="1" dirty="0">
                          <a:solidFill>
                            <a:srgbClr val="1B5E20"/>
                          </a:solidFill>
                          <a:latin typeface="Arial" pitchFamily="34" charset="0"/>
                          <a:ea typeface="Arial" pitchFamily="34" charset="-122"/>
                          <a:cs typeface="Arial" pitchFamily="34" charset="-120"/>
                        </a:rPr>
                        <a:t>0円</a:t>
                      </a:r>
                      <a:endParaRPr lang="en-US" sz="1250" dirty="0">
                        <a:latin typeface="Arial" charset="0"/>
                        <a:ea typeface="Arial" charset="0"/>
                        <a:cs typeface="Arial" charset="0"/>
                      </a:endParaRPr>
                    </a:p>
                  </a:txBody>
                  <a:tcPr marL="146304" marR="146304" marT="54864" marB="54864"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FFFFF"/>
                    </a:solidFill>
                  </a:tcPr>
                </a:tc>
                <a:tc>
                  <a:txBody>
                    <a:bodyPr/>
                    <a:lstStyle/>
                    <a:p>
                      <a:pPr algn="r" indent="0" marL="0">
                        <a:buNone/>
                      </a:pPr>
                      <a:r>
                        <a:rPr lang="en-US" sz="1250" b="1" dirty="0">
                          <a:solidFill>
                            <a:srgbClr val="1B5E20"/>
                          </a:solidFill>
                          <a:latin typeface="Arial" pitchFamily="34" charset="0"/>
                          <a:ea typeface="Arial" pitchFamily="34" charset="-122"/>
                          <a:cs typeface="Arial" pitchFamily="34" charset="-120"/>
                        </a:rPr>
                        <a:t>55,000円</a:t>
                      </a:r>
                      <a:endParaRPr lang="en-US" sz="1250" dirty="0">
                        <a:latin typeface="Arial" charset="0"/>
                        <a:ea typeface="Arial" charset="0"/>
                        <a:cs typeface="Arial" charset="0"/>
                      </a:endParaRPr>
                    </a:p>
                  </a:txBody>
                  <a:tcPr marL="146304" marR="146304" marT="54864" marB="54864"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FFFFF"/>
                    </a:solidFill>
                  </a:tcPr>
                </a:tc>
                <a:tc>
                  <a:txBody>
                    <a:bodyPr/>
                    <a:lstStyle/>
                    <a:p>
                      <a:pPr indent="0" marL="0">
                        <a:buNone/>
                      </a:pPr>
                      <a:r>
                        <a:rPr lang="en-US" sz="1000" b="1" dirty="0">
                          <a:solidFill>
                            <a:srgbClr val="1B5E20"/>
                          </a:solidFill>
                          <a:latin typeface="Noto Sans JP" pitchFamily="34" charset="0"/>
                          <a:ea typeface="Noto Sans JP" pitchFamily="34" charset="-122"/>
                          <a:cs typeface="Noto Sans JP" pitchFamily="34" charset="-120"/>
                        </a:rPr>
                        <a:t>顧客チャット対応</a:t>
                      </a:r>
                      <a:endParaRPr lang="en-US" sz="1200" dirty="0">
                        <a:latin typeface="Noto Sans JP" charset="0"/>
                        <a:ea typeface="Noto Sans JP" charset="0"/>
                        <a:cs typeface="Noto Sans JP" charset="0"/>
                      </a:endParaRPr>
                    </a:p>
                    <a:p>
                      <a:pPr indent="0" marL="0">
                        <a:buNone/>
                      </a:pPr>
                      <a:r>
                        <a:rPr lang="en-US" sz="950" dirty="0">
                          <a:solidFill>
                            <a:srgbClr val="3B3833"/>
                          </a:solidFill>
                          <a:latin typeface="Noto Sans JP" pitchFamily="34" charset="0"/>
                          <a:ea typeface="Noto Sans JP" pitchFamily="34" charset="-122"/>
                          <a:cs typeface="Noto Sans JP" pitchFamily="34" charset="-120"/>
                        </a:rPr>
                        <a:t>セルフカフェ公式LINEやHPからの問い合わせに対応</a:t>
                      </a:r>
                      <a:endParaRPr lang="en-US" sz="1200" dirty="0">
                        <a:latin typeface="Noto Sans JP" charset="0"/>
                        <a:ea typeface="Noto Sans JP" charset="0"/>
                        <a:cs typeface="Noto Sans JP" charset="0"/>
                      </a:endParaRPr>
                    </a:p>
                    <a:p>
                      <a:pPr indent="0" marL="0">
                        <a:buNone/>
                      </a:pPr>
                      <a:r>
                        <a:rPr lang="en-US" sz="1000" b="1" dirty="0">
                          <a:solidFill>
                            <a:srgbClr val="1B5E20"/>
                          </a:solidFill>
                          <a:latin typeface="Noto Sans JP" pitchFamily="34" charset="0"/>
                          <a:ea typeface="Noto Sans JP" pitchFamily="34" charset="-122"/>
                          <a:cs typeface="Noto Sans JP" pitchFamily="34" charset="-120"/>
                        </a:rPr>
                        <a:t>ドリンクマシン管理・補充</a:t>
                      </a:r>
                      <a:endParaRPr lang="en-US" sz="1200" dirty="0">
                        <a:latin typeface="Noto Sans JP" charset="0"/>
                        <a:ea typeface="Noto Sans JP" charset="0"/>
                        <a:cs typeface="Noto Sans JP" charset="0"/>
                      </a:endParaRPr>
                    </a:p>
                    <a:p>
                      <a:pPr indent="0" marL="0">
                        <a:buNone/>
                      </a:pPr>
                      <a:r>
                        <a:rPr lang="en-US" sz="950" dirty="0">
                          <a:solidFill>
                            <a:srgbClr val="3B3833"/>
                          </a:solidFill>
                          <a:latin typeface="Noto Sans JP" pitchFamily="34" charset="0"/>
                          <a:ea typeface="Noto Sans JP" pitchFamily="34" charset="-122"/>
                          <a:cs typeface="Noto Sans JP" pitchFamily="34" charset="-120"/>
                        </a:rPr>
                        <a:t>メーカー対応（エリア限定）</a:t>
                      </a:r>
                      <a:endParaRPr lang="en-US" sz="1200" dirty="0">
                        <a:latin typeface="Noto Sans JP" charset="0"/>
                        <a:ea typeface="Noto Sans JP" charset="0"/>
                        <a:cs typeface="Noto Sans JP" charset="0"/>
                      </a:endParaRPr>
                    </a:p>
                  </a:txBody>
                  <a:tcPr marL="146304" marR="146304" marT="73152" marB="73152"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FFFFF"/>
                    </a:solidFill>
                  </a:tcPr>
                </a:tc>
              </a:tr>
              <a:tr h="786384">
                <a:tc>
                  <a:txBody>
                    <a:bodyPr/>
                    <a:lstStyle/>
                    <a:p>
                      <a:pPr indent="0" marL="0">
                        <a:buNone/>
                      </a:pPr>
                      <a:r>
                        <a:rPr lang="en-US" sz="1150" b="1" dirty="0">
                          <a:solidFill>
                            <a:srgbClr val="5D4037"/>
                          </a:solidFill>
                          <a:latin typeface="Noto Sans JP" pitchFamily="34" charset="0"/>
                          <a:ea typeface="Noto Sans JP" pitchFamily="34" charset="-122"/>
                          <a:cs typeface="Noto Sans JP" pitchFamily="34" charset="-120"/>
                        </a:rPr>
                        <a:t>営業サポートプラン</a:t>
                      </a:r>
                      <a:endParaRPr lang="en-US" sz="1150" dirty="0">
                        <a:latin typeface="Noto Sans JP" charset="0"/>
                        <a:ea typeface="Noto Sans JP" charset="0"/>
                        <a:cs typeface="Noto Sans JP" charset="0"/>
                      </a:endParaRPr>
                    </a:p>
                    <a:p>
                      <a:pPr indent="0" marL="0">
                        <a:buNone/>
                      </a:pPr>
                      <a:r>
                        <a:rPr lang="en-US" sz="1150" b="1" dirty="0">
                          <a:solidFill>
                            <a:srgbClr val="5D4037"/>
                          </a:solidFill>
                          <a:latin typeface="Noto Sans JP" pitchFamily="34" charset="0"/>
                          <a:ea typeface="Noto Sans JP" pitchFamily="34" charset="-122"/>
                          <a:cs typeface="Noto Sans JP" pitchFamily="34" charset="-120"/>
                        </a:rPr>
                        <a:t>（ミニマムサポート）</a:t>
                      </a:r>
                      <a:endParaRPr lang="en-US" sz="1150" dirty="0">
                        <a:latin typeface="Noto Sans JP" charset="0"/>
                        <a:ea typeface="Noto Sans JP" charset="0"/>
                        <a:cs typeface="Noto Sans JP" charset="0"/>
                      </a:endParaRPr>
                    </a:p>
                  </a:txBody>
                  <a:tcPr marL="128016" marR="128016" marT="54864" marB="54864"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6F2E6"/>
                    </a:solidFill>
                  </a:tcPr>
                </a:tc>
                <a:tc>
                  <a:txBody>
                    <a:bodyPr/>
                    <a:lstStyle/>
                    <a:p>
                      <a:pPr algn="r" indent="0" marL="0">
                        <a:buNone/>
                      </a:pPr>
                      <a:r>
                        <a:rPr lang="en-US" sz="1250" b="1" dirty="0">
                          <a:solidFill>
                            <a:srgbClr val="1B5E20"/>
                          </a:solidFill>
                          <a:latin typeface="Arial" pitchFamily="34" charset="0"/>
                          <a:ea typeface="Arial" pitchFamily="34" charset="-122"/>
                          <a:cs typeface="Arial" pitchFamily="34" charset="-120"/>
                        </a:rPr>
                        <a:t>0円</a:t>
                      </a:r>
                      <a:endParaRPr lang="en-US" sz="1250" dirty="0">
                        <a:latin typeface="Arial" charset="0"/>
                        <a:ea typeface="Arial" charset="0"/>
                        <a:cs typeface="Arial" charset="0"/>
                      </a:endParaRPr>
                    </a:p>
                  </a:txBody>
                  <a:tcPr marL="146304" marR="146304" marT="54864" marB="54864"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FFFFF"/>
                    </a:solidFill>
                  </a:tcPr>
                </a:tc>
                <a:tc>
                  <a:txBody>
                    <a:bodyPr/>
                    <a:lstStyle/>
                    <a:p>
                      <a:pPr algn="r" indent="0" marL="0">
                        <a:buNone/>
                      </a:pPr>
                      <a:r>
                        <a:rPr lang="en-US" sz="1250" b="1" dirty="0">
                          <a:solidFill>
                            <a:srgbClr val="1B5E20"/>
                          </a:solidFill>
                          <a:latin typeface="Arial" pitchFamily="34" charset="0"/>
                          <a:ea typeface="Arial" pitchFamily="34" charset="-122"/>
                          <a:cs typeface="Arial" pitchFamily="34" charset="-120"/>
                        </a:rPr>
                        <a:t>15,000円</a:t>
                      </a:r>
                      <a:endParaRPr lang="en-US" sz="1250" dirty="0">
                        <a:latin typeface="Arial" charset="0"/>
                        <a:ea typeface="Arial" charset="0"/>
                        <a:cs typeface="Arial" charset="0"/>
                      </a:endParaRPr>
                    </a:p>
                  </a:txBody>
                  <a:tcPr marL="146304" marR="146304" marT="54864" marB="54864"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FFFFF"/>
                    </a:solidFill>
                  </a:tcPr>
                </a:tc>
                <a:tc>
                  <a:txBody>
                    <a:bodyPr/>
                    <a:lstStyle/>
                    <a:p>
                      <a:pPr indent="0" marL="0">
                        <a:buNone/>
                      </a:pPr>
                      <a:r>
                        <a:rPr lang="en-US" sz="1000" b="1" dirty="0">
                          <a:solidFill>
                            <a:srgbClr val="1B5E20"/>
                          </a:solidFill>
                          <a:latin typeface="Noto Sans JP" pitchFamily="34" charset="0"/>
                          <a:ea typeface="Noto Sans JP" pitchFamily="34" charset="-122"/>
                          <a:cs typeface="Noto Sans JP" pitchFamily="34" charset="-120"/>
                        </a:rPr>
                        <a:t>顧客チャット対応</a:t>
                      </a:r>
                      <a:endParaRPr lang="en-US" sz="1200" dirty="0">
                        <a:latin typeface="Noto Sans JP" charset="0"/>
                        <a:ea typeface="Noto Sans JP" charset="0"/>
                        <a:cs typeface="Noto Sans JP" charset="0"/>
                      </a:endParaRPr>
                    </a:p>
                    <a:p>
                      <a:pPr indent="0" marL="0">
                        <a:buNone/>
                      </a:pPr>
                      <a:r>
                        <a:rPr lang="en-US" sz="950" dirty="0">
                          <a:solidFill>
                            <a:srgbClr val="3B3833"/>
                          </a:solidFill>
                          <a:latin typeface="Noto Sans JP" pitchFamily="34" charset="0"/>
                          <a:ea typeface="Noto Sans JP" pitchFamily="34" charset="-122"/>
                          <a:cs typeface="Noto Sans JP" pitchFamily="34" charset="-120"/>
                        </a:rPr>
                        <a:t>セルフカフェ公式LINEやHPからの問い合わせに対応</a:t>
                      </a:r>
                      <a:endParaRPr lang="en-US" sz="1200" dirty="0">
                        <a:latin typeface="Noto Sans JP" charset="0"/>
                        <a:ea typeface="Noto Sans JP" charset="0"/>
                        <a:cs typeface="Noto Sans JP" charset="0"/>
                      </a:endParaRPr>
                    </a:p>
                  </a:txBody>
                  <a:tcPr marL="146304" marR="146304" marT="73152" marB="73152"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CF5"/>
        </a:solidFill>
      </p:bgPr>
    </p:bg>
    <p:spTree>
      <p:nvGrpSpPr>
        <p:cNvPr id="1" name=""/>
        <p:cNvGrpSpPr/>
        <p:nvPr/>
      </p:nvGrpSpPr>
      <p:grpSpPr>
        <a:xfrm>
          <a:off x="0" y="0"/>
          <a:ext cx="0" cy="0"/>
          <a:chOff x="0" y="0"/>
          <a:chExt cx="0" cy="0"/>
        </a:xfrm>
      </p:grpSpPr>
      <p:sp>
        <p:nvSpPr>
          <p:cNvPr id="2" name="Text 0"/>
          <p:cNvSpPr/>
          <p:nvPr/>
        </p:nvSpPr>
        <p:spPr>
          <a:xfrm>
            <a:off x="666598" y="506578"/>
            <a:ext cx="8503920" cy="384048"/>
          </a:xfrm>
          <a:prstGeom prst="rect">
            <a:avLst/>
          </a:prstGeom>
          <a:noFill/>
          <a:ln/>
        </p:spPr>
        <p:txBody>
          <a:bodyPr wrap="square" lIns="0" tIns="0" rIns="0" bIns="0" rtlCol="0" anchor="ctr"/>
          <a:lstStyle/>
          <a:p>
            <a:pPr algn="l" indent="0" marL="0">
              <a:buNone/>
            </a:pPr>
            <a:r>
              <a:rPr lang="en-US" sz="3000" dirty="0">
                <a:solidFill>
                  <a:srgbClr val="1B5E20"/>
                </a:solidFill>
                <a:latin typeface="Noto Sans JP" pitchFamily="34" charset="0"/>
                <a:ea typeface="Noto Sans JP" pitchFamily="34" charset="-122"/>
                <a:cs typeface="Noto Sans JP" pitchFamily="34" charset="-120"/>
              </a:rPr>
              <a:t>ドリンクマシンに関して</a:t>
            </a:r>
            <a:endParaRPr lang="en-US" sz="3000" dirty="0"/>
          </a:p>
        </p:txBody>
      </p:sp>
      <p:sp>
        <p:nvSpPr>
          <p:cNvPr id="3" name="Shape 1"/>
          <p:cNvSpPr/>
          <p:nvPr/>
        </p:nvSpPr>
        <p:spPr>
          <a:xfrm>
            <a:off x="666598" y="1114654"/>
            <a:ext cx="10858500" cy="19202"/>
          </a:xfrm>
          <a:prstGeom prst="rect">
            <a:avLst/>
          </a:prstGeom>
          <a:solidFill>
            <a:srgbClr val="8D6E63"/>
          </a:solidFill>
          <a:ln/>
        </p:spPr>
      </p:sp>
      <p:pic>
        <p:nvPicPr>
          <p:cNvPr id="4" name="Image 0" descr="/home/user/suzuki-ceo/selfcafe-fc-deck/assets/logo_gray.png">    </p:cNvPr>
          <p:cNvPicPr>
            <a:picLocks noChangeAspect="1"/>
          </p:cNvPicPr>
          <p:nvPr/>
        </p:nvPicPr>
        <p:blipFill>
          <a:blip r:embed="rId1"/>
          <a:stretch>
            <a:fillRect/>
          </a:stretch>
        </p:blipFill>
        <p:spPr>
          <a:xfrm>
            <a:off x="9415577" y="802843"/>
            <a:ext cx="2024482" cy="288036"/>
          </a:xfrm>
          <a:prstGeom prst="rect">
            <a:avLst/>
          </a:prstGeom>
        </p:spPr>
      </p:pic>
      <p:sp>
        <p:nvSpPr>
          <p:cNvPr id="5" name="Text 2"/>
          <p:cNvSpPr/>
          <p:nvPr/>
        </p:nvSpPr>
        <p:spPr>
          <a:xfrm>
            <a:off x="10610698" y="6345936"/>
            <a:ext cx="914400" cy="219456"/>
          </a:xfrm>
          <a:prstGeom prst="rect">
            <a:avLst/>
          </a:prstGeom>
          <a:noFill/>
          <a:ln/>
        </p:spPr>
        <p:txBody>
          <a:bodyPr wrap="square" lIns="0" tIns="0" rIns="0" bIns="0" rtlCol="0" anchor="ctr"/>
          <a:lstStyle/>
          <a:p>
            <a:pPr algn="r" indent="0" marL="0">
              <a:buNone/>
            </a:pPr>
            <a:r>
              <a:rPr lang="en-US" sz="1300" dirty="0">
                <a:solidFill>
                  <a:srgbClr val="000000"/>
                </a:solidFill>
                <a:latin typeface="Cambria" pitchFamily="34" charset="0"/>
                <a:ea typeface="Cambria" pitchFamily="34" charset="-122"/>
                <a:cs typeface="Cambria" pitchFamily="34" charset="-120"/>
              </a:rPr>
              <a:t>21</a:t>
            </a:r>
            <a:endParaRPr lang="en-US" sz="1300" dirty="0"/>
          </a:p>
        </p:txBody>
      </p:sp>
      <p:sp>
        <p:nvSpPr>
          <p:cNvPr id="6" name="Shape 3"/>
          <p:cNvSpPr/>
          <p:nvPr/>
        </p:nvSpPr>
        <p:spPr>
          <a:xfrm>
            <a:off x="666598" y="1371600"/>
            <a:ext cx="3977640" cy="4892040"/>
          </a:xfrm>
          <a:prstGeom prst="roundRect">
            <a:avLst>
              <a:gd name="adj" fmla="val 1609"/>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7" name="Shape 4"/>
          <p:cNvSpPr/>
          <p:nvPr/>
        </p:nvSpPr>
        <p:spPr>
          <a:xfrm>
            <a:off x="940918" y="1609344"/>
            <a:ext cx="3429000" cy="475488"/>
          </a:xfrm>
          <a:prstGeom prst="roundRect">
            <a:avLst>
              <a:gd name="adj" fmla="val 50000"/>
            </a:avLst>
          </a:prstGeom>
          <a:solidFill>
            <a:srgbClr val="1B5E20"/>
          </a:solidFill>
          <a:ln/>
        </p:spPr>
      </p:sp>
      <p:pic>
        <p:nvPicPr>
          <p:cNvPr id="8" name="Image 1" descr="/home/user/suzuki-ceo/selfcafe-fc-deck/assets/icons/LuCoffee-white.png">    </p:cNvPr>
          <p:cNvPicPr>
            <a:picLocks noChangeAspect="1"/>
          </p:cNvPicPr>
          <p:nvPr/>
        </p:nvPicPr>
        <p:blipFill>
          <a:blip r:embed="rId2"/>
          <a:stretch>
            <a:fillRect/>
          </a:stretch>
        </p:blipFill>
        <p:spPr>
          <a:xfrm>
            <a:off x="1142086" y="1700784"/>
            <a:ext cx="292608" cy="292608"/>
          </a:xfrm>
          <a:prstGeom prst="rect">
            <a:avLst/>
          </a:prstGeom>
        </p:spPr>
      </p:pic>
      <p:sp>
        <p:nvSpPr>
          <p:cNvPr id="9" name="Text 5"/>
          <p:cNvSpPr/>
          <p:nvPr/>
        </p:nvSpPr>
        <p:spPr>
          <a:xfrm>
            <a:off x="1507846" y="1609344"/>
            <a:ext cx="2862072" cy="475488"/>
          </a:xfrm>
          <a:prstGeom prst="rect">
            <a:avLst/>
          </a:prstGeom>
          <a:noFill/>
          <a:ln/>
        </p:spPr>
        <p:txBody>
          <a:bodyPr wrap="square" lIns="0" tIns="0" rIns="0" bIns="0" rtlCol="0" anchor="ctr"/>
          <a:lstStyle/>
          <a:p>
            <a:pPr indent="0" marL="0">
              <a:buNone/>
            </a:pPr>
            <a:r>
              <a:rPr lang="en-US" sz="1350" b="1" dirty="0">
                <a:solidFill>
                  <a:srgbClr val="FFFFFF"/>
                </a:solidFill>
                <a:latin typeface="Noto Sans JP" pitchFamily="34" charset="0"/>
                <a:ea typeface="Noto Sans JP" pitchFamily="34" charset="-122"/>
                <a:cs typeface="Noto Sans JP" pitchFamily="34" charset="-120"/>
              </a:rPr>
              <a:t>トータルサポートパック</a:t>
            </a:r>
            <a:endParaRPr lang="en-US" sz="1350" dirty="0"/>
          </a:p>
        </p:txBody>
      </p:sp>
      <p:sp>
        <p:nvSpPr>
          <p:cNvPr id="10" name="Text 6"/>
          <p:cNvSpPr/>
          <p:nvPr/>
        </p:nvSpPr>
        <p:spPr>
          <a:xfrm>
            <a:off x="940918" y="2267712"/>
            <a:ext cx="1152144" cy="310896"/>
          </a:xfrm>
          <a:prstGeom prst="rect">
            <a:avLst/>
          </a:prstGeom>
          <a:noFill/>
          <a:ln/>
        </p:spPr>
        <p:txBody>
          <a:bodyPr wrap="square" lIns="0" tIns="0" rIns="0" bIns="0" rtlCol="0" anchor="ctr"/>
          <a:lstStyle/>
          <a:p>
            <a:pPr indent="0" marL="0">
              <a:buNone/>
            </a:pPr>
            <a:r>
              <a:rPr lang="en-US" sz="1050" b="1" dirty="0">
                <a:solidFill>
                  <a:srgbClr val="5D4037"/>
                </a:solidFill>
                <a:latin typeface="Noto Sans JP" pitchFamily="34" charset="0"/>
                <a:ea typeface="Noto Sans JP" pitchFamily="34" charset="-122"/>
                <a:cs typeface="Noto Sans JP" pitchFamily="34" charset="-120"/>
              </a:rPr>
              <a:t>付属</a:t>
            </a:r>
            <a:endParaRPr lang="en-US" sz="1050" dirty="0"/>
          </a:p>
        </p:txBody>
      </p:sp>
      <p:sp>
        <p:nvSpPr>
          <p:cNvPr id="11" name="Text 7"/>
          <p:cNvSpPr/>
          <p:nvPr/>
        </p:nvSpPr>
        <p:spPr>
          <a:xfrm>
            <a:off x="2093062" y="2267712"/>
            <a:ext cx="2276856" cy="310896"/>
          </a:xfrm>
          <a:prstGeom prst="rect">
            <a:avLst/>
          </a:prstGeom>
          <a:noFill/>
          <a:ln/>
        </p:spPr>
        <p:txBody>
          <a:bodyPr wrap="square" lIns="0" tIns="0" rIns="0" bIns="0" rtlCol="0" anchor="ctr"/>
          <a:lstStyle/>
          <a:p>
            <a:pPr indent="0" marL="0">
              <a:buNone/>
            </a:pPr>
            <a:r>
              <a:rPr lang="en-US" sz="1150" dirty="0">
                <a:solidFill>
                  <a:srgbClr val="3B3833"/>
                </a:solidFill>
                <a:latin typeface="Noto Sans JP" pitchFamily="34" charset="0"/>
                <a:ea typeface="Noto Sans JP" pitchFamily="34" charset="-122"/>
                <a:cs typeface="Noto Sans JP" pitchFamily="34" charset="-120"/>
              </a:rPr>
              <a:t>コーヒーサーバー、備品ラック</a:t>
            </a:r>
            <a:endParaRPr lang="en-US" sz="1150" dirty="0"/>
          </a:p>
        </p:txBody>
      </p:sp>
      <p:sp>
        <p:nvSpPr>
          <p:cNvPr id="12" name="Shape 8"/>
          <p:cNvSpPr/>
          <p:nvPr/>
        </p:nvSpPr>
        <p:spPr>
          <a:xfrm>
            <a:off x="940918" y="2633472"/>
            <a:ext cx="3429000" cy="10058"/>
          </a:xfrm>
          <a:prstGeom prst="rect">
            <a:avLst/>
          </a:prstGeom>
          <a:solidFill>
            <a:srgbClr val="E6DFCD"/>
          </a:solidFill>
          <a:ln/>
        </p:spPr>
      </p:sp>
      <p:sp>
        <p:nvSpPr>
          <p:cNvPr id="13" name="Text 9"/>
          <p:cNvSpPr/>
          <p:nvPr/>
        </p:nvSpPr>
        <p:spPr>
          <a:xfrm>
            <a:off x="940918" y="2834640"/>
            <a:ext cx="1152144" cy="310896"/>
          </a:xfrm>
          <a:prstGeom prst="rect">
            <a:avLst/>
          </a:prstGeom>
          <a:noFill/>
          <a:ln/>
        </p:spPr>
        <p:txBody>
          <a:bodyPr wrap="square" lIns="0" tIns="0" rIns="0" bIns="0" rtlCol="0" anchor="ctr"/>
          <a:lstStyle/>
          <a:p>
            <a:pPr indent="0" marL="0">
              <a:buNone/>
            </a:pPr>
            <a:r>
              <a:rPr lang="en-US" sz="1050" b="1" dirty="0">
                <a:solidFill>
                  <a:srgbClr val="5D4037"/>
                </a:solidFill>
                <a:latin typeface="Noto Sans JP" pitchFamily="34" charset="0"/>
                <a:ea typeface="Noto Sans JP" pitchFamily="34" charset="-122"/>
                <a:cs typeface="Noto Sans JP" pitchFamily="34" charset="-120"/>
              </a:rPr>
              <a:t>メンテナンス</a:t>
            </a:r>
            <a:endParaRPr lang="en-US" sz="1050" dirty="0"/>
          </a:p>
        </p:txBody>
      </p:sp>
      <p:sp>
        <p:nvSpPr>
          <p:cNvPr id="14" name="Text 10"/>
          <p:cNvSpPr/>
          <p:nvPr/>
        </p:nvSpPr>
        <p:spPr>
          <a:xfrm>
            <a:off x="2093062" y="2834640"/>
            <a:ext cx="2276856" cy="310896"/>
          </a:xfrm>
          <a:prstGeom prst="rect">
            <a:avLst/>
          </a:prstGeom>
          <a:noFill/>
          <a:ln/>
        </p:spPr>
        <p:txBody>
          <a:bodyPr wrap="square" lIns="0" tIns="0" rIns="0" bIns="0" rtlCol="0" anchor="ctr"/>
          <a:lstStyle/>
          <a:p>
            <a:pPr indent="0" marL="0">
              <a:buNone/>
            </a:pPr>
            <a:r>
              <a:rPr lang="en-US" sz="1150" dirty="0">
                <a:solidFill>
                  <a:srgbClr val="3B3833"/>
                </a:solidFill>
                <a:latin typeface="Noto Sans JP" pitchFamily="34" charset="0"/>
                <a:ea typeface="Noto Sans JP" pitchFamily="34" charset="-122"/>
                <a:cs typeface="Noto Sans JP" pitchFamily="34" charset="-120"/>
              </a:rPr>
              <a:t>月1回</a:t>
            </a:r>
            <a:endParaRPr lang="en-US" sz="1150" dirty="0"/>
          </a:p>
        </p:txBody>
      </p:sp>
      <p:sp>
        <p:nvSpPr>
          <p:cNvPr id="15" name="Shape 11"/>
          <p:cNvSpPr/>
          <p:nvPr/>
        </p:nvSpPr>
        <p:spPr>
          <a:xfrm>
            <a:off x="940918" y="3200400"/>
            <a:ext cx="3429000" cy="10058"/>
          </a:xfrm>
          <a:prstGeom prst="rect">
            <a:avLst/>
          </a:prstGeom>
          <a:solidFill>
            <a:srgbClr val="E6DFCD"/>
          </a:solidFill>
          <a:ln/>
        </p:spPr>
      </p:sp>
      <p:sp>
        <p:nvSpPr>
          <p:cNvPr id="16" name="Text 12"/>
          <p:cNvSpPr/>
          <p:nvPr/>
        </p:nvSpPr>
        <p:spPr>
          <a:xfrm>
            <a:off x="940918" y="3401568"/>
            <a:ext cx="1152144" cy="310896"/>
          </a:xfrm>
          <a:prstGeom prst="rect">
            <a:avLst/>
          </a:prstGeom>
          <a:noFill/>
          <a:ln/>
        </p:spPr>
        <p:txBody>
          <a:bodyPr wrap="square" lIns="0" tIns="0" rIns="0" bIns="0" rtlCol="0" anchor="ctr"/>
          <a:lstStyle/>
          <a:p>
            <a:pPr indent="0" marL="0">
              <a:buNone/>
            </a:pPr>
            <a:r>
              <a:rPr lang="en-US" sz="1050" b="1" dirty="0">
                <a:solidFill>
                  <a:srgbClr val="5D4037"/>
                </a:solidFill>
                <a:latin typeface="Noto Sans JP" pitchFamily="34" charset="0"/>
                <a:ea typeface="Noto Sans JP" pitchFamily="34" charset="-122"/>
                <a:cs typeface="Noto Sans JP" pitchFamily="34" charset="-120"/>
              </a:rPr>
              <a:t>機種</a:t>
            </a:r>
            <a:endParaRPr lang="en-US" sz="1050" dirty="0"/>
          </a:p>
        </p:txBody>
      </p:sp>
      <p:sp>
        <p:nvSpPr>
          <p:cNvPr id="17" name="Text 13"/>
          <p:cNvSpPr/>
          <p:nvPr/>
        </p:nvSpPr>
        <p:spPr>
          <a:xfrm>
            <a:off x="2093062" y="3401568"/>
            <a:ext cx="2276856" cy="310896"/>
          </a:xfrm>
          <a:prstGeom prst="rect">
            <a:avLst/>
          </a:prstGeom>
          <a:noFill/>
          <a:ln/>
        </p:spPr>
        <p:txBody>
          <a:bodyPr wrap="square" lIns="0" tIns="0" rIns="0" bIns="0" rtlCol="0" anchor="ctr"/>
          <a:lstStyle/>
          <a:p>
            <a:pPr indent="0" marL="0">
              <a:buNone/>
            </a:pPr>
            <a:r>
              <a:rPr lang="en-US" sz="1150" dirty="0">
                <a:solidFill>
                  <a:srgbClr val="3B3833"/>
                </a:solidFill>
                <a:latin typeface="Noto Sans JP" pitchFamily="34" charset="0"/>
                <a:ea typeface="Noto Sans JP" pitchFamily="34" charset="-122"/>
                <a:cs typeface="Noto Sans JP" pitchFamily="34" charset="-120"/>
              </a:rPr>
              <a:t>100RS</a:t>
            </a:r>
            <a:endParaRPr lang="en-US" sz="1150" dirty="0"/>
          </a:p>
        </p:txBody>
      </p:sp>
      <p:sp>
        <p:nvSpPr>
          <p:cNvPr id="18" name="Shape 14"/>
          <p:cNvSpPr/>
          <p:nvPr/>
        </p:nvSpPr>
        <p:spPr>
          <a:xfrm>
            <a:off x="940918" y="3767328"/>
            <a:ext cx="3429000" cy="10058"/>
          </a:xfrm>
          <a:prstGeom prst="rect">
            <a:avLst/>
          </a:prstGeom>
          <a:solidFill>
            <a:srgbClr val="E6DFCD"/>
          </a:solidFill>
          <a:ln/>
        </p:spPr>
      </p:sp>
      <p:pic>
        <p:nvPicPr>
          <p:cNvPr id="19" name="Image 2" descr="/home/user/suzuki-ceo/selfcafe-fc-deck/assets/photos/p24-machine.jpg">    </p:cNvPr>
          <p:cNvPicPr>
            <a:picLocks noChangeAspect="1"/>
          </p:cNvPicPr>
          <p:nvPr/>
        </p:nvPicPr>
        <p:blipFill>
          <a:blip r:embed="rId3"/>
          <a:srcRect l="0" r="0" t="0" b="0"/>
          <a:stretch/>
        </p:blipFill>
        <p:spPr>
          <a:xfrm>
            <a:off x="940918" y="4041648"/>
            <a:ext cx="3429000" cy="1975104"/>
          </a:xfrm>
          <a:prstGeom prst="rect">
            <a:avLst/>
          </a:prstGeom>
        </p:spPr>
      </p:pic>
      <p:sp>
        <p:nvSpPr>
          <p:cNvPr id="20" name="Shape 15"/>
          <p:cNvSpPr/>
          <p:nvPr/>
        </p:nvSpPr>
        <p:spPr>
          <a:xfrm>
            <a:off x="940918" y="4041648"/>
            <a:ext cx="3429000" cy="1975104"/>
          </a:xfrm>
          <a:prstGeom prst="rect">
            <a:avLst/>
          </a:prstGeom>
          <a:ln w="12700">
            <a:solidFill>
              <a:srgbClr val="D8CFBB"/>
            </a:solidFill>
            <a:prstDash val="solid"/>
          </a:ln>
        </p:spPr>
      </p:sp>
      <p:sp>
        <p:nvSpPr>
          <p:cNvPr id="21" name="Shape 16"/>
          <p:cNvSpPr/>
          <p:nvPr/>
        </p:nvSpPr>
        <p:spPr>
          <a:xfrm>
            <a:off x="1050646" y="5577840"/>
            <a:ext cx="2627376" cy="329184"/>
          </a:xfrm>
          <a:prstGeom prst="roundRect">
            <a:avLst>
              <a:gd name="adj" fmla="val 13889"/>
            </a:avLst>
          </a:prstGeom>
          <a:solidFill>
            <a:srgbClr val="FFFFFF">
              <a:alpha val="90000"/>
            </a:srgbClr>
          </a:solidFill>
          <a:ln/>
        </p:spPr>
      </p:sp>
      <p:sp>
        <p:nvSpPr>
          <p:cNvPr id="22" name="Text 17"/>
          <p:cNvSpPr/>
          <p:nvPr/>
        </p:nvSpPr>
        <p:spPr>
          <a:xfrm>
            <a:off x="1196950" y="5577840"/>
            <a:ext cx="2371344" cy="329184"/>
          </a:xfrm>
          <a:prstGeom prst="rect">
            <a:avLst/>
          </a:prstGeom>
          <a:noFill/>
          <a:ln/>
        </p:spPr>
        <p:txBody>
          <a:bodyPr wrap="square" lIns="0" tIns="0" rIns="0" bIns="0" rtlCol="0" anchor="ctr"/>
          <a:lstStyle/>
          <a:p>
            <a:pPr indent="0" marL="0">
              <a:buNone/>
            </a:pPr>
            <a:r>
              <a:rPr lang="en-US" sz="1050" b="1" dirty="0">
                <a:solidFill>
                  <a:srgbClr val="3B3833"/>
                </a:solidFill>
                <a:latin typeface="Noto Sans JP" pitchFamily="34" charset="0"/>
                <a:ea typeface="Noto Sans JP" pitchFamily="34" charset="-122"/>
                <a:cs typeface="Noto Sans JP" pitchFamily="34" charset="-120"/>
              </a:rPr>
              <a:t>ドリンクマシン本体（100RS）</a:t>
            </a:r>
            <a:endParaRPr lang="en-US" sz="1050" dirty="0"/>
          </a:p>
        </p:txBody>
      </p:sp>
      <p:sp>
        <p:nvSpPr>
          <p:cNvPr id="23" name="Text 18"/>
          <p:cNvSpPr/>
          <p:nvPr/>
        </p:nvSpPr>
        <p:spPr>
          <a:xfrm>
            <a:off x="4936846" y="1371600"/>
            <a:ext cx="6588252" cy="310896"/>
          </a:xfrm>
          <a:prstGeom prst="rect">
            <a:avLst/>
          </a:prstGeom>
          <a:noFill/>
          <a:ln/>
        </p:spPr>
        <p:txBody>
          <a:bodyPr wrap="square" lIns="0" tIns="0" rIns="0" bIns="0" rtlCol="0" anchor="ctr"/>
          <a:lstStyle/>
          <a:p>
            <a:pPr indent="0" marL="0">
              <a:buNone/>
            </a:pPr>
            <a:r>
              <a:rPr lang="en-US" sz="1300" b="1" dirty="0">
                <a:solidFill>
                  <a:srgbClr val="5D4037"/>
                </a:solidFill>
                <a:latin typeface="Noto Sans JP" pitchFamily="34" charset="0"/>
                <a:ea typeface="Noto Sans JP" pitchFamily="34" charset="-122"/>
                <a:cs typeface="Noto Sans JP" pitchFamily="34" charset="-120"/>
              </a:rPr>
              <a:t>＜設置イメージ＞</a:t>
            </a:r>
            <a:endParaRPr lang="en-US" sz="1300" dirty="0"/>
          </a:p>
        </p:txBody>
      </p:sp>
      <p:pic>
        <p:nvPicPr>
          <p:cNvPr id="24" name="Image 3" descr="/home/user/suzuki-ceo/selfcafe-fc-deck/assets/photos/p24-install.jpg">    </p:cNvPr>
          <p:cNvPicPr>
            <a:picLocks noChangeAspect="1"/>
          </p:cNvPicPr>
          <p:nvPr/>
        </p:nvPicPr>
        <p:blipFill>
          <a:blip r:embed="rId4"/>
          <a:srcRect l="0" r="0" t="0" b="0"/>
          <a:stretch/>
        </p:blipFill>
        <p:spPr>
          <a:xfrm>
            <a:off x="4936846" y="1773936"/>
            <a:ext cx="6588252" cy="4489704"/>
          </a:xfrm>
          <a:prstGeom prst="rect">
            <a:avLst/>
          </a:prstGeom>
        </p:spPr>
      </p:pic>
      <p:sp>
        <p:nvSpPr>
          <p:cNvPr id="25" name="Shape 19"/>
          <p:cNvSpPr/>
          <p:nvPr/>
        </p:nvSpPr>
        <p:spPr>
          <a:xfrm>
            <a:off x="4936846" y="1773936"/>
            <a:ext cx="6588252" cy="4489704"/>
          </a:xfrm>
          <a:prstGeom prst="rect">
            <a:avLst/>
          </a:prstGeom>
          <a:ln w="12700">
            <a:solidFill>
              <a:srgbClr val="D8CFBB"/>
            </a:solidFill>
            <a:prstDash val="solid"/>
          </a:ln>
        </p:spPr>
      </p:sp>
      <p:sp>
        <p:nvSpPr>
          <p:cNvPr id="26" name="Shape 20"/>
          <p:cNvSpPr/>
          <p:nvPr/>
        </p:nvSpPr>
        <p:spPr>
          <a:xfrm>
            <a:off x="5046574" y="5824728"/>
            <a:ext cx="2438908" cy="329184"/>
          </a:xfrm>
          <a:prstGeom prst="roundRect">
            <a:avLst>
              <a:gd name="adj" fmla="val 13889"/>
            </a:avLst>
          </a:prstGeom>
          <a:solidFill>
            <a:srgbClr val="FFFFFF">
              <a:alpha val="90000"/>
            </a:srgbClr>
          </a:solidFill>
          <a:ln/>
        </p:spPr>
      </p:sp>
      <p:sp>
        <p:nvSpPr>
          <p:cNvPr id="27" name="Text 21"/>
          <p:cNvSpPr/>
          <p:nvPr/>
        </p:nvSpPr>
        <p:spPr>
          <a:xfrm>
            <a:off x="5192878" y="5824728"/>
            <a:ext cx="2182876" cy="329184"/>
          </a:xfrm>
          <a:prstGeom prst="rect">
            <a:avLst/>
          </a:prstGeom>
          <a:noFill/>
          <a:ln/>
        </p:spPr>
        <p:txBody>
          <a:bodyPr wrap="square" lIns="0" tIns="0" rIns="0" bIns="0" rtlCol="0" anchor="ctr"/>
          <a:lstStyle/>
          <a:p>
            <a:pPr indent="0" marL="0">
              <a:buNone/>
            </a:pPr>
            <a:r>
              <a:rPr lang="en-US" sz="1100" b="1" dirty="0">
                <a:solidFill>
                  <a:srgbClr val="3B3833"/>
                </a:solidFill>
                <a:latin typeface="Noto Sans JP" pitchFamily="34" charset="0"/>
                <a:ea typeface="Noto Sans JP" pitchFamily="34" charset="-122"/>
                <a:cs typeface="Noto Sans JP" pitchFamily="34" charset="-120"/>
              </a:rPr>
              <a:t>店内に設置したドリンクマシン</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CF5"/>
        </a:solidFill>
      </p:bgPr>
    </p:bg>
    <p:spTree>
      <p:nvGrpSpPr>
        <p:cNvPr id="1" name=""/>
        <p:cNvGrpSpPr/>
        <p:nvPr/>
      </p:nvGrpSpPr>
      <p:grpSpPr>
        <a:xfrm>
          <a:off x="0" y="0"/>
          <a:ext cx="0" cy="0"/>
          <a:chOff x="0" y="0"/>
          <a:chExt cx="0" cy="0"/>
        </a:xfrm>
      </p:grpSpPr>
      <p:sp>
        <p:nvSpPr>
          <p:cNvPr id="2" name="Text 0"/>
          <p:cNvSpPr/>
          <p:nvPr/>
        </p:nvSpPr>
        <p:spPr>
          <a:xfrm>
            <a:off x="666598" y="506578"/>
            <a:ext cx="8503920" cy="384048"/>
          </a:xfrm>
          <a:prstGeom prst="rect">
            <a:avLst/>
          </a:prstGeom>
          <a:noFill/>
          <a:ln/>
        </p:spPr>
        <p:txBody>
          <a:bodyPr wrap="square" lIns="0" tIns="0" rIns="0" bIns="0" rtlCol="0" anchor="ctr"/>
          <a:lstStyle/>
          <a:p>
            <a:pPr algn="l" indent="0" marL="0">
              <a:buNone/>
            </a:pPr>
            <a:r>
              <a:rPr lang="en-US" sz="3000" dirty="0">
                <a:solidFill>
                  <a:srgbClr val="1B5E20"/>
                </a:solidFill>
                <a:latin typeface="Noto Sans JP" pitchFamily="34" charset="0"/>
                <a:ea typeface="Noto Sans JP" pitchFamily="34" charset="-122"/>
                <a:cs typeface="Noto Sans JP" pitchFamily="34" charset="-120"/>
              </a:rPr>
              <a:t>よくある質問 (FAQ)</a:t>
            </a:r>
            <a:endParaRPr lang="en-US" sz="3000" dirty="0"/>
          </a:p>
        </p:txBody>
      </p:sp>
      <p:sp>
        <p:nvSpPr>
          <p:cNvPr id="3" name="Shape 1"/>
          <p:cNvSpPr/>
          <p:nvPr/>
        </p:nvSpPr>
        <p:spPr>
          <a:xfrm>
            <a:off x="666598" y="1114654"/>
            <a:ext cx="10858500" cy="19202"/>
          </a:xfrm>
          <a:prstGeom prst="rect">
            <a:avLst/>
          </a:prstGeom>
          <a:solidFill>
            <a:srgbClr val="8D6E63"/>
          </a:solidFill>
          <a:ln/>
        </p:spPr>
      </p:sp>
      <p:pic>
        <p:nvPicPr>
          <p:cNvPr id="4" name="Image 0" descr="/home/user/suzuki-ceo/selfcafe-fc-deck/assets/logo_gray.png">    </p:cNvPr>
          <p:cNvPicPr>
            <a:picLocks noChangeAspect="1"/>
          </p:cNvPicPr>
          <p:nvPr/>
        </p:nvPicPr>
        <p:blipFill>
          <a:blip r:embed="rId1"/>
          <a:stretch>
            <a:fillRect/>
          </a:stretch>
        </p:blipFill>
        <p:spPr>
          <a:xfrm>
            <a:off x="9415577" y="802843"/>
            <a:ext cx="2024482" cy="288036"/>
          </a:xfrm>
          <a:prstGeom prst="rect">
            <a:avLst/>
          </a:prstGeom>
        </p:spPr>
      </p:pic>
      <p:sp>
        <p:nvSpPr>
          <p:cNvPr id="5" name="Text 2"/>
          <p:cNvSpPr/>
          <p:nvPr/>
        </p:nvSpPr>
        <p:spPr>
          <a:xfrm>
            <a:off x="10610698" y="6345936"/>
            <a:ext cx="914400" cy="219456"/>
          </a:xfrm>
          <a:prstGeom prst="rect">
            <a:avLst/>
          </a:prstGeom>
          <a:noFill/>
          <a:ln/>
        </p:spPr>
        <p:txBody>
          <a:bodyPr wrap="square" lIns="0" tIns="0" rIns="0" bIns="0" rtlCol="0" anchor="ctr"/>
          <a:lstStyle/>
          <a:p>
            <a:pPr algn="r" indent="0" marL="0">
              <a:buNone/>
            </a:pPr>
            <a:r>
              <a:rPr lang="en-US" sz="1300" dirty="0">
                <a:solidFill>
                  <a:srgbClr val="000000"/>
                </a:solidFill>
                <a:latin typeface="Cambria" pitchFamily="34" charset="0"/>
                <a:ea typeface="Cambria" pitchFamily="34" charset="-122"/>
                <a:cs typeface="Cambria" pitchFamily="34" charset="-120"/>
              </a:rPr>
              <a:t>22</a:t>
            </a:r>
            <a:endParaRPr lang="en-US" sz="1300" dirty="0"/>
          </a:p>
        </p:txBody>
      </p:sp>
      <p:sp>
        <p:nvSpPr>
          <p:cNvPr id="6" name="Shape 3"/>
          <p:cNvSpPr/>
          <p:nvPr/>
        </p:nvSpPr>
        <p:spPr>
          <a:xfrm>
            <a:off x="666598" y="1371600"/>
            <a:ext cx="5276088" cy="2212848"/>
          </a:xfrm>
          <a:prstGeom prst="roundRect">
            <a:avLst>
              <a:gd name="adj" fmla="val 2893"/>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7" name="Shape 4"/>
          <p:cNvSpPr/>
          <p:nvPr/>
        </p:nvSpPr>
        <p:spPr>
          <a:xfrm>
            <a:off x="940918" y="1627632"/>
            <a:ext cx="402336" cy="402336"/>
          </a:xfrm>
          <a:prstGeom prst="roundRect">
            <a:avLst>
              <a:gd name="adj" fmla="val 20455"/>
            </a:avLst>
          </a:prstGeom>
          <a:solidFill>
            <a:srgbClr val="1B5E20"/>
          </a:solidFill>
          <a:ln/>
        </p:spPr>
      </p:sp>
      <p:sp>
        <p:nvSpPr>
          <p:cNvPr id="8" name="Text 5"/>
          <p:cNvSpPr/>
          <p:nvPr/>
        </p:nvSpPr>
        <p:spPr>
          <a:xfrm>
            <a:off x="940918" y="162763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Q</a:t>
            </a:r>
            <a:endParaRPr lang="en-US" sz="1500" dirty="0"/>
          </a:p>
        </p:txBody>
      </p:sp>
      <p:sp>
        <p:nvSpPr>
          <p:cNvPr id="9" name="Text 6"/>
          <p:cNvSpPr/>
          <p:nvPr/>
        </p:nvSpPr>
        <p:spPr>
          <a:xfrm>
            <a:off x="1489558" y="1627632"/>
            <a:ext cx="4178808" cy="402336"/>
          </a:xfrm>
          <a:prstGeom prst="rect">
            <a:avLst/>
          </a:prstGeom>
          <a:noFill/>
          <a:ln/>
        </p:spPr>
        <p:txBody>
          <a:bodyPr wrap="square" lIns="0" tIns="0" rIns="0" bIns="0" rtlCol="0" anchor="ctr"/>
          <a:lstStyle/>
          <a:p>
            <a:pPr indent="0" marL="0">
              <a:buNone/>
            </a:pPr>
            <a:r>
              <a:rPr lang="en-US" sz="1500" b="1" dirty="0">
                <a:solidFill>
                  <a:srgbClr val="1B5E20"/>
                </a:solidFill>
                <a:latin typeface="Noto Sans JP" pitchFamily="34" charset="0"/>
                <a:ea typeface="Noto Sans JP" pitchFamily="34" charset="-122"/>
                <a:cs typeface="Noto Sans JP" pitchFamily="34" charset="-120"/>
              </a:rPr>
              <a:t>準備は難しいですか？</a:t>
            </a:r>
            <a:endParaRPr lang="en-US" sz="1500" dirty="0"/>
          </a:p>
        </p:txBody>
      </p:sp>
      <p:sp>
        <p:nvSpPr>
          <p:cNvPr id="10" name="Shape 7"/>
          <p:cNvSpPr/>
          <p:nvPr/>
        </p:nvSpPr>
        <p:spPr>
          <a:xfrm>
            <a:off x="940918" y="2212848"/>
            <a:ext cx="4727448" cy="10058"/>
          </a:xfrm>
          <a:prstGeom prst="rect">
            <a:avLst/>
          </a:prstGeom>
          <a:solidFill>
            <a:srgbClr val="E6DFCD"/>
          </a:solidFill>
          <a:ln/>
        </p:spPr>
      </p:sp>
      <p:sp>
        <p:nvSpPr>
          <p:cNvPr id="11" name="Shape 8"/>
          <p:cNvSpPr/>
          <p:nvPr/>
        </p:nvSpPr>
        <p:spPr>
          <a:xfrm>
            <a:off x="940918" y="2359152"/>
            <a:ext cx="402336" cy="402336"/>
          </a:xfrm>
          <a:prstGeom prst="roundRect">
            <a:avLst>
              <a:gd name="adj" fmla="val 20455"/>
            </a:avLst>
          </a:prstGeom>
          <a:solidFill>
            <a:srgbClr val="E9DEC4"/>
          </a:solidFill>
          <a:ln/>
        </p:spPr>
      </p:sp>
      <p:sp>
        <p:nvSpPr>
          <p:cNvPr id="12" name="Text 9"/>
          <p:cNvSpPr/>
          <p:nvPr/>
        </p:nvSpPr>
        <p:spPr>
          <a:xfrm>
            <a:off x="940918" y="2359152"/>
            <a:ext cx="402336" cy="402336"/>
          </a:xfrm>
          <a:prstGeom prst="rect">
            <a:avLst/>
          </a:prstGeom>
          <a:noFill/>
          <a:ln/>
        </p:spPr>
        <p:txBody>
          <a:bodyPr wrap="square" lIns="0" tIns="0" rIns="0" bIns="0" rtlCol="0" anchor="ctr"/>
          <a:lstStyle/>
          <a:p>
            <a:pPr algn="ctr" indent="0" marL="0">
              <a:buNone/>
            </a:pPr>
            <a:r>
              <a:rPr lang="en-US" sz="1500" b="1" dirty="0">
                <a:solidFill>
                  <a:srgbClr val="5D4037"/>
                </a:solidFill>
                <a:latin typeface="Arial" pitchFamily="34" charset="0"/>
                <a:ea typeface="Arial" pitchFamily="34" charset="-122"/>
                <a:cs typeface="Arial" pitchFamily="34" charset="-120"/>
              </a:rPr>
              <a:t>A</a:t>
            </a:r>
            <a:endParaRPr lang="en-US" sz="1500" dirty="0"/>
          </a:p>
        </p:txBody>
      </p:sp>
      <p:sp>
        <p:nvSpPr>
          <p:cNvPr id="13" name="Text 10"/>
          <p:cNvSpPr/>
          <p:nvPr/>
        </p:nvSpPr>
        <p:spPr>
          <a:xfrm>
            <a:off x="1489558" y="2340864"/>
            <a:ext cx="4178808" cy="1005840"/>
          </a:xfrm>
          <a:prstGeom prst="rect">
            <a:avLst/>
          </a:prstGeom>
          <a:noFill/>
          <a:ln/>
        </p:spPr>
        <p:txBody>
          <a:bodyPr wrap="square" lIns="0" tIns="0" rIns="0" bIns="0" rtlCol="0" anchor="t"/>
          <a:lstStyle/>
          <a:p>
            <a:pPr indent="0" marL="0">
              <a:lnSpc>
                <a:spcPct val="132000"/>
              </a:lnSpc>
              <a:buNone/>
            </a:pPr>
            <a:r>
              <a:rPr lang="en-US" sz="1100" dirty="0">
                <a:solidFill>
                  <a:srgbClr val="3B3833"/>
                </a:solidFill>
                <a:latin typeface="Noto Sans JP" pitchFamily="34" charset="0"/>
                <a:ea typeface="Noto Sans JP" pitchFamily="34" charset="-122"/>
                <a:cs typeface="Noto Sans JP" pitchFamily="34" charset="-120"/>
              </a:rPr>
              <a:t>内装、システム導入まで本部がフルサポートするため、初めての方でも安心です。</a:t>
            </a:r>
            <a:endParaRPr lang="en-US" sz="1100" dirty="0"/>
          </a:p>
        </p:txBody>
      </p:sp>
      <p:sp>
        <p:nvSpPr>
          <p:cNvPr id="14" name="Shape 11"/>
          <p:cNvSpPr/>
          <p:nvPr/>
        </p:nvSpPr>
        <p:spPr>
          <a:xfrm>
            <a:off x="6239866" y="1371600"/>
            <a:ext cx="5276088" cy="2212848"/>
          </a:xfrm>
          <a:prstGeom prst="roundRect">
            <a:avLst>
              <a:gd name="adj" fmla="val 2893"/>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15" name="Shape 12"/>
          <p:cNvSpPr/>
          <p:nvPr/>
        </p:nvSpPr>
        <p:spPr>
          <a:xfrm>
            <a:off x="6514186" y="1627632"/>
            <a:ext cx="402336" cy="402336"/>
          </a:xfrm>
          <a:prstGeom prst="roundRect">
            <a:avLst>
              <a:gd name="adj" fmla="val 20455"/>
            </a:avLst>
          </a:prstGeom>
          <a:solidFill>
            <a:srgbClr val="1B5E20"/>
          </a:solidFill>
          <a:ln/>
        </p:spPr>
      </p:sp>
      <p:sp>
        <p:nvSpPr>
          <p:cNvPr id="16" name="Text 13"/>
          <p:cNvSpPr/>
          <p:nvPr/>
        </p:nvSpPr>
        <p:spPr>
          <a:xfrm>
            <a:off x="6514186" y="162763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Q</a:t>
            </a:r>
            <a:endParaRPr lang="en-US" sz="1500" dirty="0"/>
          </a:p>
        </p:txBody>
      </p:sp>
      <p:sp>
        <p:nvSpPr>
          <p:cNvPr id="17" name="Text 14"/>
          <p:cNvSpPr/>
          <p:nvPr/>
        </p:nvSpPr>
        <p:spPr>
          <a:xfrm>
            <a:off x="7062826" y="1627632"/>
            <a:ext cx="4178808" cy="402336"/>
          </a:xfrm>
          <a:prstGeom prst="rect">
            <a:avLst/>
          </a:prstGeom>
          <a:noFill/>
          <a:ln/>
        </p:spPr>
        <p:txBody>
          <a:bodyPr wrap="square" lIns="0" tIns="0" rIns="0" bIns="0" rtlCol="0" anchor="ctr"/>
          <a:lstStyle/>
          <a:p>
            <a:pPr indent="0" marL="0">
              <a:buNone/>
            </a:pPr>
            <a:r>
              <a:rPr lang="en-US" sz="1500" b="1" dirty="0">
                <a:solidFill>
                  <a:srgbClr val="1B5E20"/>
                </a:solidFill>
                <a:latin typeface="Noto Sans JP" pitchFamily="34" charset="0"/>
                <a:ea typeface="Noto Sans JP" pitchFamily="34" charset="-122"/>
                <a:cs typeface="Noto Sans JP" pitchFamily="34" charset="-120"/>
              </a:rPr>
              <a:t>トラブル時の対応は？</a:t>
            </a:r>
            <a:endParaRPr lang="en-US" sz="1500" dirty="0"/>
          </a:p>
        </p:txBody>
      </p:sp>
      <p:sp>
        <p:nvSpPr>
          <p:cNvPr id="18" name="Shape 15"/>
          <p:cNvSpPr/>
          <p:nvPr/>
        </p:nvSpPr>
        <p:spPr>
          <a:xfrm>
            <a:off x="6514186" y="2212848"/>
            <a:ext cx="4727448" cy="10058"/>
          </a:xfrm>
          <a:prstGeom prst="rect">
            <a:avLst/>
          </a:prstGeom>
          <a:solidFill>
            <a:srgbClr val="E6DFCD"/>
          </a:solidFill>
          <a:ln/>
        </p:spPr>
      </p:sp>
      <p:sp>
        <p:nvSpPr>
          <p:cNvPr id="19" name="Shape 16"/>
          <p:cNvSpPr/>
          <p:nvPr/>
        </p:nvSpPr>
        <p:spPr>
          <a:xfrm>
            <a:off x="6514186" y="2359152"/>
            <a:ext cx="402336" cy="402336"/>
          </a:xfrm>
          <a:prstGeom prst="roundRect">
            <a:avLst>
              <a:gd name="adj" fmla="val 20455"/>
            </a:avLst>
          </a:prstGeom>
          <a:solidFill>
            <a:srgbClr val="E9DEC4"/>
          </a:solidFill>
          <a:ln/>
        </p:spPr>
      </p:sp>
      <p:sp>
        <p:nvSpPr>
          <p:cNvPr id="20" name="Text 17"/>
          <p:cNvSpPr/>
          <p:nvPr/>
        </p:nvSpPr>
        <p:spPr>
          <a:xfrm>
            <a:off x="6514186" y="2359152"/>
            <a:ext cx="402336" cy="402336"/>
          </a:xfrm>
          <a:prstGeom prst="rect">
            <a:avLst/>
          </a:prstGeom>
          <a:noFill/>
          <a:ln/>
        </p:spPr>
        <p:txBody>
          <a:bodyPr wrap="square" lIns="0" tIns="0" rIns="0" bIns="0" rtlCol="0" anchor="ctr"/>
          <a:lstStyle/>
          <a:p>
            <a:pPr algn="ctr" indent="0" marL="0">
              <a:buNone/>
            </a:pPr>
            <a:r>
              <a:rPr lang="en-US" sz="1500" b="1" dirty="0">
                <a:solidFill>
                  <a:srgbClr val="5D4037"/>
                </a:solidFill>
                <a:latin typeface="Arial" pitchFamily="34" charset="0"/>
                <a:ea typeface="Arial" pitchFamily="34" charset="-122"/>
                <a:cs typeface="Arial" pitchFamily="34" charset="-120"/>
              </a:rPr>
              <a:t>A</a:t>
            </a:r>
            <a:endParaRPr lang="en-US" sz="1500" dirty="0"/>
          </a:p>
        </p:txBody>
      </p:sp>
      <p:sp>
        <p:nvSpPr>
          <p:cNvPr id="21" name="Text 18"/>
          <p:cNvSpPr/>
          <p:nvPr/>
        </p:nvSpPr>
        <p:spPr>
          <a:xfrm>
            <a:off x="7062826" y="2340864"/>
            <a:ext cx="4178808" cy="1005840"/>
          </a:xfrm>
          <a:prstGeom prst="rect">
            <a:avLst/>
          </a:prstGeom>
          <a:noFill/>
          <a:ln/>
        </p:spPr>
        <p:txBody>
          <a:bodyPr wrap="square" lIns="0" tIns="0" rIns="0" bIns="0" rtlCol="0" anchor="t"/>
          <a:lstStyle/>
          <a:p>
            <a:pPr indent="0" marL="0">
              <a:lnSpc>
                <a:spcPct val="132000"/>
              </a:lnSpc>
              <a:buNone/>
            </a:pPr>
            <a:r>
              <a:rPr lang="en-US" sz="1100" dirty="0">
                <a:solidFill>
                  <a:srgbClr val="3B3833"/>
                </a:solidFill>
                <a:latin typeface="Noto Sans JP" pitchFamily="34" charset="0"/>
                <a:ea typeface="Noto Sans JP" pitchFamily="34" charset="-122"/>
                <a:cs typeface="Noto Sans JP" pitchFamily="34" charset="-120"/>
              </a:rPr>
              <a:t>24時間体制の警備会社と遠隔監視システムにより、オーナー様が現場に駆けつける必要はほぼありません。また顧客とのLINEチャットを設けており、そこで質問対応・意見収集を行っています。</a:t>
            </a:r>
            <a:endParaRPr lang="en-US" sz="1100" dirty="0"/>
          </a:p>
        </p:txBody>
      </p:sp>
      <p:sp>
        <p:nvSpPr>
          <p:cNvPr id="22" name="Shape 19"/>
          <p:cNvSpPr/>
          <p:nvPr/>
        </p:nvSpPr>
        <p:spPr>
          <a:xfrm>
            <a:off x="666598" y="3822192"/>
            <a:ext cx="5276088" cy="2212848"/>
          </a:xfrm>
          <a:prstGeom prst="roundRect">
            <a:avLst>
              <a:gd name="adj" fmla="val 2893"/>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23" name="Shape 20"/>
          <p:cNvSpPr/>
          <p:nvPr/>
        </p:nvSpPr>
        <p:spPr>
          <a:xfrm>
            <a:off x="940918" y="4078224"/>
            <a:ext cx="402336" cy="402336"/>
          </a:xfrm>
          <a:prstGeom prst="roundRect">
            <a:avLst>
              <a:gd name="adj" fmla="val 20455"/>
            </a:avLst>
          </a:prstGeom>
          <a:solidFill>
            <a:srgbClr val="1B5E20"/>
          </a:solidFill>
          <a:ln/>
        </p:spPr>
      </p:sp>
      <p:sp>
        <p:nvSpPr>
          <p:cNvPr id="24" name="Text 21"/>
          <p:cNvSpPr/>
          <p:nvPr/>
        </p:nvSpPr>
        <p:spPr>
          <a:xfrm>
            <a:off x="940918" y="407822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Q</a:t>
            </a:r>
            <a:endParaRPr lang="en-US" sz="1500" dirty="0"/>
          </a:p>
        </p:txBody>
      </p:sp>
      <p:sp>
        <p:nvSpPr>
          <p:cNvPr id="25" name="Text 22"/>
          <p:cNvSpPr/>
          <p:nvPr/>
        </p:nvSpPr>
        <p:spPr>
          <a:xfrm>
            <a:off x="1489558" y="4078224"/>
            <a:ext cx="4178808" cy="402336"/>
          </a:xfrm>
          <a:prstGeom prst="rect">
            <a:avLst/>
          </a:prstGeom>
          <a:noFill/>
          <a:ln/>
        </p:spPr>
        <p:txBody>
          <a:bodyPr wrap="square" lIns="0" tIns="0" rIns="0" bIns="0" rtlCol="0" anchor="ctr"/>
          <a:lstStyle/>
          <a:p>
            <a:pPr indent="0" marL="0">
              <a:buNone/>
            </a:pPr>
            <a:r>
              <a:rPr lang="en-US" sz="1500" b="1" dirty="0">
                <a:solidFill>
                  <a:srgbClr val="1B5E20"/>
                </a:solidFill>
                <a:latin typeface="Noto Sans JP" pitchFamily="34" charset="0"/>
                <a:ea typeface="Noto Sans JP" pitchFamily="34" charset="-122"/>
                <a:cs typeface="Noto Sans JP" pitchFamily="34" charset="-120"/>
              </a:rPr>
              <a:t>人材採用については？</a:t>
            </a:r>
            <a:endParaRPr lang="en-US" sz="1500" dirty="0"/>
          </a:p>
        </p:txBody>
      </p:sp>
      <p:sp>
        <p:nvSpPr>
          <p:cNvPr id="26" name="Shape 23"/>
          <p:cNvSpPr/>
          <p:nvPr/>
        </p:nvSpPr>
        <p:spPr>
          <a:xfrm>
            <a:off x="940918" y="4663440"/>
            <a:ext cx="4727448" cy="10058"/>
          </a:xfrm>
          <a:prstGeom prst="rect">
            <a:avLst/>
          </a:prstGeom>
          <a:solidFill>
            <a:srgbClr val="E6DFCD"/>
          </a:solidFill>
          <a:ln/>
        </p:spPr>
      </p:sp>
      <p:sp>
        <p:nvSpPr>
          <p:cNvPr id="27" name="Shape 24"/>
          <p:cNvSpPr/>
          <p:nvPr/>
        </p:nvSpPr>
        <p:spPr>
          <a:xfrm>
            <a:off x="940918" y="4809744"/>
            <a:ext cx="402336" cy="402336"/>
          </a:xfrm>
          <a:prstGeom prst="roundRect">
            <a:avLst>
              <a:gd name="adj" fmla="val 20455"/>
            </a:avLst>
          </a:prstGeom>
          <a:solidFill>
            <a:srgbClr val="E9DEC4"/>
          </a:solidFill>
          <a:ln/>
        </p:spPr>
      </p:sp>
      <p:sp>
        <p:nvSpPr>
          <p:cNvPr id="28" name="Text 25"/>
          <p:cNvSpPr/>
          <p:nvPr/>
        </p:nvSpPr>
        <p:spPr>
          <a:xfrm>
            <a:off x="940918" y="4809744"/>
            <a:ext cx="402336" cy="402336"/>
          </a:xfrm>
          <a:prstGeom prst="rect">
            <a:avLst/>
          </a:prstGeom>
          <a:noFill/>
          <a:ln/>
        </p:spPr>
        <p:txBody>
          <a:bodyPr wrap="square" lIns="0" tIns="0" rIns="0" bIns="0" rtlCol="0" anchor="ctr"/>
          <a:lstStyle/>
          <a:p>
            <a:pPr algn="ctr" indent="0" marL="0">
              <a:buNone/>
            </a:pPr>
            <a:r>
              <a:rPr lang="en-US" sz="1500" b="1" dirty="0">
                <a:solidFill>
                  <a:srgbClr val="5D4037"/>
                </a:solidFill>
                <a:latin typeface="Arial" pitchFamily="34" charset="0"/>
                <a:ea typeface="Arial" pitchFamily="34" charset="-122"/>
                <a:cs typeface="Arial" pitchFamily="34" charset="-120"/>
              </a:rPr>
              <a:t>A</a:t>
            </a:r>
            <a:endParaRPr lang="en-US" sz="1500" dirty="0"/>
          </a:p>
        </p:txBody>
      </p:sp>
      <p:sp>
        <p:nvSpPr>
          <p:cNvPr id="29" name="Text 26"/>
          <p:cNvSpPr/>
          <p:nvPr/>
        </p:nvSpPr>
        <p:spPr>
          <a:xfrm>
            <a:off x="1489558" y="4791456"/>
            <a:ext cx="4178808" cy="1005840"/>
          </a:xfrm>
          <a:prstGeom prst="rect">
            <a:avLst/>
          </a:prstGeom>
          <a:noFill/>
          <a:ln/>
        </p:spPr>
        <p:txBody>
          <a:bodyPr wrap="square" lIns="0" tIns="0" rIns="0" bIns="0" rtlCol="0" anchor="t"/>
          <a:lstStyle/>
          <a:p>
            <a:pPr indent="0" marL="0">
              <a:lnSpc>
                <a:spcPct val="132000"/>
              </a:lnSpc>
              <a:buNone/>
            </a:pPr>
            <a:r>
              <a:rPr lang="en-US" sz="1100" dirty="0">
                <a:solidFill>
                  <a:srgbClr val="3B3833"/>
                </a:solidFill>
                <a:latin typeface="Noto Sans JP" pitchFamily="34" charset="0"/>
                <a:ea typeface="Noto Sans JP" pitchFamily="34" charset="-122"/>
                <a:cs typeface="Noto Sans JP" pitchFamily="34" charset="-120"/>
              </a:rPr>
              <a:t>新しく人材を採用する必要はありません。清掃管理・原料補充はご自身でもご対応可能ですが、業務委託として委託することも可能です。</a:t>
            </a:r>
            <a:endParaRPr lang="en-US" sz="1100" dirty="0"/>
          </a:p>
        </p:txBody>
      </p:sp>
      <p:sp>
        <p:nvSpPr>
          <p:cNvPr id="30" name="Shape 27"/>
          <p:cNvSpPr/>
          <p:nvPr/>
        </p:nvSpPr>
        <p:spPr>
          <a:xfrm>
            <a:off x="6239866" y="3822192"/>
            <a:ext cx="5276088" cy="2212848"/>
          </a:xfrm>
          <a:prstGeom prst="roundRect">
            <a:avLst>
              <a:gd name="adj" fmla="val 2893"/>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31" name="Shape 28"/>
          <p:cNvSpPr/>
          <p:nvPr/>
        </p:nvSpPr>
        <p:spPr>
          <a:xfrm>
            <a:off x="6514186" y="4078224"/>
            <a:ext cx="402336" cy="402336"/>
          </a:xfrm>
          <a:prstGeom prst="roundRect">
            <a:avLst>
              <a:gd name="adj" fmla="val 20455"/>
            </a:avLst>
          </a:prstGeom>
          <a:solidFill>
            <a:srgbClr val="1B5E20"/>
          </a:solidFill>
          <a:ln/>
        </p:spPr>
      </p:sp>
      <p:sp>
        <p:nvSpPr>
          <p:cNvPr id="32" name="Text 29"/>
          <p:cNvSpPr/>
          <p:nvPr/>
        </p:nvSpPr>
        <p:spPr>
          <a:xfrm>
            <a:off x="6514186" y="407822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Q</a:t>
            </a:r>
            <a:endParaRPr lang="en-US" sz="1500" dirty="0"/>
          </a:p>
        </p:txBody>
      </p:sp>
      <p:sp>
        <p:nvSpPr>
          <p:cNvPr id="33" name="Text 30"/>
          <p:cNvSpPr/>
          <p:nvPr/>
        </p:nvSpPr>
        <p:spPr>
          <a:xfrm>
            <a:off x="7062826" y="4078224"/>
            <a:ext cx="4178808" cy="402336"/>
          </a:xfrm>
          <a:prstGeom prst="rect">
            <a:avLst/>
          </a:prstGeom>
          <a:noFill/>
          <a:ln/>
        </p:spPr>
        <p:txBody>
          <a:bodyPr wrap="square" lIns="0" tIns="0" rIns="0" bIns="0" rtlCol="0" anchor="ctr"/>
          <a:lstStyle/>
          <a:p>
            <a:pPr indent="0" marL="0">
              <a:buNone/>
            </a:pPr>
            <a:r>
              <a:rPr lang="en-US" sz="1500" b="1" dirty="0">
                <a:solidFill>
                  <a:srgbClr val="1B5E20"/>
                </a:solidFill>
                <a:latin typeface="Noto Sans JP" pitchFamily="34" charset="0"/>
                <a:ea typeface="Noto Sans JP" pitchFamily="34" charset="-122"/>
                <a:cs typeface="Noto Sans JP" pitchFamily="34" charset="-120"/>
              </a:rPr>
              <a:t>集客はどうすれば？</a:t>
            </a:r>
            <a:endParaRPr lang="en-US" sz="1500" dirty="0"/>
          </a:p>
        </p:txBody>
      </p:sp>
      <p:sp>
        <p:nvSpPr>
          <p:cNvPr id="34" name="Shape 31"/>
          <p:cNvSpPr/>
          <p:nvPr/>
        </p:nvSpPr>
        <p:spPr>
          <a:xfrm>
            <a:off x="6514186" y="4663440"/>
            <a:ext cx="4727448" cy="10058"/>
          </a:xfrm>
          <a:prstGeom prst="rect">
            <a:avLst/>
          </a:prstGeom>
          <a:solidFill>
            <a:srgbClr val="E6DFCD"/>
          </a:solidFill>
          <a:ln/>
        </p:spPr>
      </p:sp>
      <p:sp>
        <p:nvSpPr>
          <p:cNvPr id="35" name="Shape 32"/>
          <p:cNvSpPr/>
          <p:nvPr/>
        </p:nvSpPr>
        <p:spPr>
          <a:xfrm>
            <a:off x="6514186" y="4809744"/>
            <a:ext cx="402336" cy="402336"/>
          </a:xfrm>
          <a:prstGeom prst="roundRect">
            <a:avLst>
              <a:gd name="adj" fmla="val 20455"/>
            </a:avLst>
          </a:prstGeom>
          <a:solidFill>
            <a:srgbClr val="E9DEC4"/>
          </a:solidFill>
          <a:ln/>
        </p:spPr>
      </p:sp>
      <p:sp>
        <p:nvSpPr>
          <p:cNvPr id="36" name="Text 33"/>
          <p:cNvSpPr/>
          <p:nvPr/>
        </p:nvSpPr>
        <p:spPr>
          <a:xfrm>
            <a:off x="6514186" y="4809744"/>
            <a:ext cx="402336" cy="402336"/>
          </a:xfrm>
          <a:prstGeom prst="rect">
            <a:avLst/>
          </a:prstGeom>
          <a:noFill/>
          <a:ln/>
        </p:spPr>
        <p:txBody>
          <a:bodyPr wrap="square" lIns="0" tIns="0" rIns="0" bIns="0" rtlCol="0" anchor="ctr"/>
          <a:lstStyle/>
          <a:p>
            <a:pPr algn="ctr" indent="0" marL="0">
              <a:buNone/>
            </a:pPr>
            <a:r>
              <a:rPr lang="en-US" sz="1500" b="1" dirty="0">
                <a:solidFill>
                  <a:srgbClr val="5D4037"/>
                </a:solidFill>
                <a:latin typeface="Arial" pitchFamily="34" charset="0"/>
                <a:ea typeface="Arial" pitchFamily="34" charset="-122"/>
                <a:cs typeface="Arial" pitchFamily="34" charset="-120"/>
              </a:rPr>
              <a:t>A</a:t>
            </a:r>
            <a:endParaRPr lang="en-US" sz="1500" dirty="0"/>
          </a:p>
        </p:txBody>
      </p:sp>
      <p:sp>
        <p:nvSpPr>
          <p:cNvPr id="37" name="Text 34"/>
          <p:cNvSpPr/>
          <p:nvPr/>
        </p:nvSpPr>
        <p:spPr>
          <a:xfrm>
            <a:off x="7062826" y="4791456"/>
            <a:ext cx="4178808" cy="1005840"/>
          </a:xfrm>
          <a:prstGeom prst="rect">
            <a:avLst/>
          </a:prstGeom>
          <a:noFill/>
          <a:ln/>
        </p:spPr>
        <p:txBody>
          <a:bodyPr wrap="square" lIns="0" tIns="0" rIns="0" bIns="0" rtlCol="0" anchor="t"/>
          <a:lstStyle/>
          <a:p>
            <a:pPr indent="0" marL="0">
              <a:lnSpc>
                <a:spcPct val="132000"/>
              </a:lnSpc>
              <a:buNone/>
            </a:pPr>
            <a:r>
              <a:rPr lang="en-US" sz="1100" dirty="0">
                <a:solidFill>
                  <a:srgbClr val="3B3833"/>
                </a:solidFill>
                <a:latin typeface="Noto Sans JP" pitchFamily="34" charset="0"/>
                <a:ea typeface="Noto Sans JP" pitchFamily="34" charset="-122"/>
                <a:cs typeface="Noto Sans JP" pitchFamily="34" charset="-120"/>
              </a:rPr>
              <a:t>数々のメディア取材や、本部によるSEO/MEO対策をはじめとしたWebマーケティングによって集客を支援します。</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CF5"/>
        </a:solidFill>
      </p:bgPr>
    </p:bg>
    <p:spTree>
      <p:nvGrpSpPr>
        <p:cNvPr id="1" name=""/>
        <p:cNvGrpSpPr/>
        <p:nvPr/>
      </p:nvGrpSpPr>
      <p:grpSpPr>
        <a:xfrm>
          <a:off x="0" y="0"/>
          <a:ext cx="0" cy="0"/>
          <a:chOff x="0" y="0"/>
          <a:chExt cx="0" cy="0"/>
        </a:xfrm>
      </p:grpSpPr>
      <p:sp>
        <p:nvSpPr>
          <p:cNvPr id="2" name="Text 0"/>
          <p:cNvSpPr/>
          <p:nvPr/>
        </p:nvSpPr>
        <p:spPr>
          <a:xfrm>
            <a:off x="666598" y="506578"/>
            <a:ext cx="8503920" cy="384048"/>
          </a:xfrm>
          <a:prstGeom prst="rect">
            <a:avLst/>
          </a:prstGeom>
          <a:noFill/>
          <a:ln/>
        </p:spPr>
        <p:txBody>
          <a:bodyPr wrap="square" lIns="0" tIns="0" rIns="0" bIns="0" rtlCol="0" anchor="ctr"/>
          <a:lstStyle/>
          <a:p>
            <a:pPr algn="l" indent="0" marL="0">
              <a:buNone/>
            </a:pPr>
            <a:r>
              <a:rPr lang="en-US" sz="3000" dirty="0">
                <a:solidFill>
                  <a:srgbClr val="1B5E20"/>
                </a:solidFill>
                <a:latin typeface="Noto Sans JP" pitchFamily="34" charset="0"/>
                <a:ea typeface="Noto Sans JP" pitchFamily="34" charset="-122"/>
                <a:cs typeface="Noto Sans JP" pitchFamily="34" charset="-120"/>
              </a:rPr>
              <a:t>万全のサポート体制</a:t>
            </a:r>
            <a:endParaRPr lang="en-US" sz="3000" dirty="0"/>
          </a:p>
        </p:txBody>
      </p:sp>
      <p:sp>
        <p:nvSpPr>
          <p:cNvPr id="3" name="Shape 1"/>
          <p:cNvSpPr/>
          <p:nvPr/>
        </p:nvSpPr>
        <p:spPr>
          <a:xfrm>
            <a:off x="666598" y="1114654"/>
            <a:ext cx="10858500" cy="19202"/>
          </a:xfrm>
          <a:prstGeom prst="rect">
            <a:avLst/>
          </a:prstGeom>
          <a:solidFill>
            <a:srgbClr val="8D6E63"/>
          </a:solidFill>
          <a:ln/>
        </p:spPr>
      </p:sp>
      <p:pic>
        <p:nvPicPr>
          <p:cNvPr id="4" name="Image 0" descr="/home/user/suzuki-ceo/selfcafe-fc-deck/assets/logo_gray.png">    </p:cNvPr>
          <p:cNvPicPr>
            <a:picLocks noChangeAspect="1"/>
          </p:cNvPicPr>
          <p:nvPr/>
        </p:nvPicPr>
        <p:blipFill>
          <a:blip r:embed="rId1"/>
          <a:stretch>
            <a:fillRect/>
          </a:stretch>
        </p:blipFill>
        <p:spPr>
          <a:xfrm>
            <a:off x="9415577" y="802843"/>
            <a:ext cx="2024482" cy="288036"/>
          </a:xfrm>
          <a:prstGeom prst="rect">
            <a:avLst/>
          </a:prstGeom>
        </p:spPr>
      </p:pic>
      <p:sp>
        <p:nvSpPr>
          <p:cNvPr id="5" name="Text 2"/>
          <p:cNvSpPr/>
          <p:nvPr/>
        </p:nvSpPr>
        <p:spPr>
          <a:xfrm>
            <a:off x="10610698" y="6345936"/>
            <a:ext cx="914400" cy="219456"/>
          </a:xfrm>
          <a:prstGeom prst="rect">
            <a:avLst/>
          </a:prstGeom>
          <a:noFill/>
          <a:ln/>
        </p:spPr>
        <p:txBody>
          <a:bodyPr wrap="square" lIns="0" tIns="0" rIns="0" bIns="0" rtlCol="0" anchor="ctr"/>
          <a:lstStyle/>
          <a:p>
            <a:pPr algn="r" indent="0" marL="0">
              <a:buNone/>
            </a:pPr>
            <a:r>
              <a:rPr lang="en-US" sz="1300" dirty="0">
                <a:solidFill>
                  <a:srgbClr val="000000"/>
                </a:solidFill>
                <a:latin typeface="Cambria" pitchFamily="34" charset="0"/>
                <a:ea typeface="Cambria" pitchFamily="34" charset="-122"/>
                <a:cs typeface="Cambria" pitchFamily="34" charset="-120"/>
              </a:rPr>
              <a:t>23</a:t>
            </a:r>
            <a:endParaRPr lang="en-US" sz="1300" dirty="0"/>
          </a:p>
        </p:txBody>
      </p:sp>
      <p:sp>
        <p:nvSpPr>
          <p:cNvPr id="6" name="Text 3"/>
          <p:cNvSpPr/>
          <p:nvPr/>
        </p:nvSpPr>
        <p:spPr>
          <a:xfrm>
            <a:off x="666598" y="1243584"/>
            <a:ext cx="10858500" cy="256032"/>
          </a:xfrm>
          <a:prstGeom prst="rect">
            <a:avLst/>
          </a:prstGeom>
          <a:noFill/>
          <a:ln/>
        </p:spPr>
        <p:txBody>
          <a:bodyPr wrap="square" lIns="0" tIns="0" rIns="0" bIns="0" rtlCol="0" anchor="ctr"/>
          <a:lstStyle/>
          <a:p>
            <a:pPr indent="0" marL="0">
              <a:buNone/>
            </a:pPr>
            <a:r>
              <a:rPr lang="en-US" sz="1150" b="1" dirty="0">
                <a:solidFill>
                  <a:srgbClr val="5D4037"/>
                </a:solidFill>
                <a:latin typeface="Noto Sans JP" pitchFamily="34" charset="0"/>
                <a:ea typeface="Noto Sans JP" pitchFamily="34" charset="-122"/>
                <a:cs typeface="Noto Sans JP" pitchFamily="34" charset="-120"/>
              </a:rPr>
              <a:t>開業前から開業後まで、本部が一貫して伴走します。</a:t>
            </a:r>
            <a:endParaRPr lang="en-US" sz="1150" dirty="0"/>
          </a:p>
        </p:txBody>
      </p:sp>
      <p:sp>
        <p:nvSpPr>
          <p:cNvPr id="7" name="Shape 4"/>
          <p:cNvSpPr/>
          <p:nvPr/>
        </p:nvSpPr>
        <p:spPr>
          <a:xfrm>
            <a:off x="666598" y="1645920"/>
            <a:ext cx="5264658" cy="3529584"/>
          </a:xfrm>
          <a:prstGeom prst="roundRect">
            <a:avLst>
              <a:gd name="adj" fmla="val 1813"/>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8" name="Shape 5"/>
          <p:cNvSpPr/>
          <p:nvPr/>
        </p:nvSpPr>
        <p:spPr>
          <a:xfrm>
            <a:off x="977494" y="1920240"/>
            <a:ext cx="603504" cy="603504"/>
          </a:xfrm>
          <a:prstGeom prst="ellipse">
            <a:avLst/>
          </a:prstGeom>
          <a:solidFill>
            <a:srgbClr val="F0F5EF"/>
          </a:solidFill>
          <a:ln/>
        </p:spPr>
      </p:sp>
      <p:pic>
        <p:nvPicPr>
          <p:cNvPr id="9" name="Image 1" descr="/home/user/suzuki-ceo/selfcafe-fc-deck/assets/icons/LuFileCheck-green.png">    </p:cNvPr>
          <p:cNvPicPr>
            <a:picLocks noChangeAspect="1"/>
          </p:cNvPicPr>
          <p:nvPr/>
        </p:nvPicPr>
        <p:blipFill>
          <a:blip r:embed="rId2"/>
          <a:stretch>
            <a:fillRect/>
          </a:stretch>
        </p:blipFill>
        <p:spPr>
          <a:xfrm>
            <a:off x="1110264" y="2053011"/>
            <a:ext cx="337962" cy="337962"/>
          </a:xfrm>
          <a:prstGeom prst="rect">
            <a:avLst/>
          </a:prstGeom>
        </p:spPr>
      </p:pic>
      <p:sp>
        <p:nvSpPr>
          <p:cNvPr id="10" name="Text 6"/>
          <p:cNvSpPr/>
          <p:nvPr/>
        </p:nvSpPr>
        <p:spPr>
          <a:xfrm>
            <a:off x="1727302" y="1920240"/>
            <a:ext cx="3893058" cy="603504"/>
          </a:xfrm>
          <a:prstGeom prst="rect">
            <a:avLst/>
          </a:prstGeom>
          <a:noFill/>
          <a:ln/>
        </p:spPr>
        <p:txBody>
          <a:bodyPr wrap="square" lIns="0" tIns="0" rIns="0" bIns="0" rtlCol="0" anchor="ctr"/>
          <a:lstStyle/>
          <a:p>
            <a:pPr indent="0" marL="0">
              <a:buNone/>
            </a:pPr>
            <a:r>
              <a:rPr lang="en-US" sz="1900" b="1" dirty="0">
                <a:solidFill>
                  <a:srgbClr val="1B5E20"/>
                </a:solidFill>
                <a:latin typeface="Noto Sans JP" pitchFamily="34" charset="0"/>
                <a:ea typeface="Noto Sans JP" pitchFamily="34" charset="-122"/>
                <a:cs typeface="Noto Sans JP" pitchFamily="34" charset="-120"/>
              </a:rPr>
              <a:t>開業前サポート</a:t>
            </a:r>
            <a:endParaRPr lang="en-US" sz="1900" dirty="0"/>
          </a:p>
        </p:txBody>
      </p:sp>
      <p:sp>
        <p:nvSpPr>
          <p:cNvPr id="11" name="Shape 7"/>
          <p:cNvSpPr/>
          <p:nvPr/>
        </p:nvSpPr>
        <p:spPr>
          <a:xfrm>
            <a:off x="977494" y="2651760"/>
            <a:ext cx="4642866" cy="10058"/>
          </a:xfrm>
          <a:prstGeom prst="rect">
            <a:avLst/>
          </a:prstGeom>
          <a:solidFill>
            <a:srgbClr val="E6DFCD"/>
          </a:solidFill>
          <a:ln/>
        </p:spPr>
      </p:sp>
      <p:pic>
        <p:nvPicPr>
          <p:cNvPr id="12" name="Image 2" descr="/home/user/suzuki-ceo/selfcafe-fc-deck/assets/icons/LuCheck-green.png">    </p:cNvPr>
          <p:cNvPicPr>
            <a:picLocks noChangeAspect="1"/>
          </p:cNvPicPr>
          <p:nvPr/>
        </p:nvPicPr>
        <p:blipFill>
          <a:blip r:embed="rId3"/>
          <a:stretch>
            <a:fillRect/>
          </a:stretch>
        </p:blipFill>
        <p:spPr>
          <a:xfrm>
            <a:off x="995782" y="2871216"/>
            <a:ext cx="182880" cy="182880"/>
          </a:xfrm>
          <a:prstGeom prst="rect">
            <a:avLst/>
          </a:prstGeom>
        </p:spPr>
      </p:pic>
      <p:sp>
        <p:nvSpPr>
          <p:cNvPr id="13" name="Text 8"/>
          <p:cNvSpPr/>
          <p:nvPr/>
        </p:nvSpPr>
        <p:spPr>
          <a:xfrm>
            <a:off x="1306678" y="2816352"/>
            <a:ext cx="4313682" cy="310896"/>
          </a:xfrm>
          <a:prstGeom prst="rect">
            <a:avLst/>
          </a:prstGeom>
          <a:noFill/>
          <a:ln/>
        </p:spPr>
        <p:txBody>
          <a:bodyPr wrap="square" lIns="0" tIns="0" rIns="0" bIns="0" rtlCol="0" anchor="ctr"/>
          <a:lstStyle/>
          <a:p>
            <a:pPr indent="0" marL="0">
              <a:buNone/>
            </a:pPr>
            <a:r>
              <a:rPr lang="en-US" sz="1150" dirty="0">
                <a:solidFill>
                  <a:srgbClr val="3B3833"/>
                </a:solidFill>
                <a:latin typeface="Noto Sans JP" pitchFamily="34" charset="0"/>
                <a:ea typeface="Noto Sans JP" pitchFamily="34" charset="-122"/>
                <a:cs typeface="Noto Sans JP" pitchFamily="34" charset="-120"/>
              </a:rPr>
              <a:t>パートナー制度のご説明</a:t>
            </a:r>
            <a:endParaRPr lang="en-US" sz="1150" dirty="0"/>
          </a:p>
        </p:txBody>
      </p:sp>
      <p:pic>
        <p:nvPicPr>
          <p:cNvPr id="14" name="Image 3" descr="/home/user/suzuki-ceo/selfcafe-fc-deck/assets/icons/LuCheck-green.png">    </p:cNvPr>
          <p:cNvPicPr>
            <a:picLocks noChangeAspect="1"/>
          </p:cNvPicPr>
          <p:nvPr/>
        </p:nvPicPr>
        <p:blipFill>
          <a:blip r:embed="rId4"/>
          <a:stretch>
            <a:fillRect/>
          </a:stretch>
        </p:blipFill>
        <p:spPr>
          <a:xfrm>
            <a:off x="995782" y="3255264"/>
            <a:ext cx="182880" cy="182880"/>
          </a:xfrm>
          <a:prstGeom prst="rect">
            <a:avLst/>
          </a:prstGeom>
        </p:spPr>
      </p:pic>
      <p:sp>
        <p:nvSpPr>
          <p:cNvPr id="15" name="Text 9"/>
          <p:cNvSpPr/>
          <p:nvPr/>
        </p:nvSpPr>
        <p:spPr>
          <a:xfrm>
            <a:off x="1306678" y="3200400"/>
            <a:ext cx="4313682" cy="310896"/>
          </a:xfrm>
          <a:prstGeom prst="rect">
            <a:avLst/>
          </a:prstGeom>
          <a:noFill/>
          <a:ln/>
        </p:spPr>
        <p:txBody>
          <a:bodyPr wrap="square" lIns="0" tIns="0" rIns="0" bIns="0" rtlCol="0" anchor="ctr"/>
          <a:lstStyle/>
          <a:p>
            <a:pPr indent="0" marL="0">
              <a:buNone/>
            </a:pPr>
            <a:r>
              <a:rPr lang="en-US" sz="1150" dirty="0">
                <a:solidFill>
                  <a:srgbClr val="3B3833"/>
                </a:solidFill>
                <a:latin typeface="Noto Sans JP" pitchFamily="34" charset="0"/>
                <a:ea typeface="Noto Sans JP" pitchFamily="34" charset="-122"/>
                <a:cs typeface="Noto Sans JP" pitchFamily="34" charset="-120"/>
              </a:rPr>
              <a:t>収益試算表の作成</a:t>
            </a:r>
            <a:endParaRPr lang="en-US" sz="1150" dirty="0"/>
          </a:p>
        </p:txBody>
      </p:sp>
      <p:pic>
        <p:nvPicPr>
          <p:cNvPr id="16" name="Image 4" descr="/home/user/suzuki-ceo/selfcafe-fc-deck/assets/icons/LuCheck-green.png">    </p:cNvPr>
          <p:cNvPicPr>
            <a:picLocks noChangeAspect="1"/>
          </p:cNvPicPr>
          <p:nvPr/>
        </p:nvPicPr>
        <p:blipFill>
          <a:blip r:embed="rId5"/>
          <a:stretch>
            <a:fillRect/>
          </a:stretch>
        </p:blipFill>
        <p:spPr>
          <a:xfrm>
            <a:off x="995782" y="3639312"/>
            <a:ext cx="182880" cy="182880"/>
          </a:xfrm>
          <a:prstGeom prst="rect">
            <a:avLst/>
          </a:prstGeom>
        </p:spPr>
      </p:pic>
      <p:sp>
        <p:nvSpPr>
          <p:cNvPr id="17" name="Text 10"/>
          <p:cNvSpPr/>
          <p:nvPr/>
        </p:nvSpPr>
        <p:spPr>
          <a:xfrm>
            <a:off x="1306678" y="3584448"/>
            <a:ext cx="4313682" cy="310896"/>
          </a:xfrm>
          <a:prstGeom prst="rect">
            <a:avLst/>
          </a:prstGeom>
          <a:noFill/>
          <a:ln/>
        </p:spPr>
        <p:txBody>
          <a:bodyPr wrap="square" lIns="0" tIns="0" rIns="0" bIns="0" rtlCol="0" anchor="ctr"/>
          <a:lstStyle/>
          <a:p>
            <a:pPr indent="0" marL="0">
              <a:buNone/>
            </a:pPr>
            <a:r>
              <a:rPr lang="en-US" sz="1150" dirty="0">
                <a:solidFill>
                  <a:srgbClr val="3B3833"/>
                </a:solidFill>
                <a:latin typeface="Noto Sans JP" pitchFamily="34" charset="0"/>
                <a:ea typeface="Noto Sans JP" pitchFamily="34" charset="-122"/>
                <a:cs typeface="Noto Sans JP" pitchFamily="34" charset="-120"/>
              </a:rPr>
              <a:t>現地調査／店舗デザイン／設計</a:t>
            </a:r>
            <a:endParaRPr lang="en-US" sz="1150" dirty="0"/>
          </a:p>
        </p:txBody>
      </p:sp>
      <p:pic>
        <p:nvPicPr>
          <p:cNvPr id="18" name="Image 5" descr="/home/user/suzuki-ceo/selfcafe-fc-deck/assets/icons/LuCheck-green.png">    </p:cNvPr>
          <p:cNvPicPr>
            <a:picLocks noChangeAspect="1"/>
          </p:cNvPicPr>
          <p:nvPr/>
        </p:nvPicPr>
        <p:blipFill>
          <a:blip r:embed="rId6"/>
          <a:stretch>
            <a:fillRect/>
          </a:stretch>
        </p:blipFill>
        <p:spPr>
          <a:xfrm>
            <a:off x="995782" y="4023360"/>
            <a:ext cx="182880" cy="182880"/>
          </a:xfrm>
          <a:prstGeom prst="rect">
            <a:avLst/>
          </a:prstGeom>
        </p:spPr>
      </p:pic>
      <p:sp>
        <p:nvSpPr>
          <p:cNvPr id="19" name="Text 11"/>
          <p:cNvSpPr/>
          <p:nvPr/>
        </p:nvSpPr>
        <p:spPr>
          <a:xfrm>
            <a:off x="1306678" y="3968496"/>
            <a:ext cx="4313682" cy="310896"/>
          </a:xfrm>
          <a:prstGeom prst="rect">
            <a:avLst/>
          </a:prstGeom>
          <a:noFill/>
          <a:ln/>
        </p:spPr>
        <p:txBody>
          <a:bodyPr wrap="square" lIns="0" tIns="0" rIns="0" bIns="0" rtlCol="0" anchor="ctr"/>
          <a:lstStyle/>
          <a:p>
            <a:pPr indent="0" marL="0">
              <a:buNone/>
            </a:pPr>
            <a:r>
              <a:rPr lang="en-US" sz="1150" dirty="0">
                <a:solidFill>
                  <a:srgbClr val="3B3833"/>
                </a:solidFill>
                <a:latin typeface="Noto Sans JP" pitchFamily="34" charset="0"/>
                <a:ea typeface="Noto Sans JP" pitchFamily="34" charset="-122"/>
                <a:cs typeface="Noto Sans JP" pitchFamily="34" charset="-120"/>
              </a:rPr>
              <a:t>工事業者手配</a:t>
            </a:r>
            <a:endParaRPr lang="en-US" sz="1150" dirty="0"/>
          </a:p>
        </p:txBody>
      </p:sp>
      <p:pic>
        <p:nvPicPr>
          <p:cNvPr id="20" name="Image 6" descr="/home/user/suzuki-ceo/selfcafe-fc-deck/assets/icons/LuCheck-green.png">    </p:cNvPr>
          <p:cNvPicPr>
            <a:picLocks noChangeAspect="1"/>
          </p:cNvPicPr>
          <p:nvPr/>
        </p:nvPicPr>
        <p:blipFill>
          <a:blip r:embed="rId7"/>
          <a:stretch>
            <a:fillRect/>
          </a:stretch>
        </p:blipFill>
        <p:spPr>
          <a:xfrm>
            <a:off x="995782" y="4407408"/>
            <a:ext cx="182880" cy="182880"/>
          </a:xfrm>
          <a:prstGeom prst="rect">
            <a:avLst/>
          </a:prstGeom>
        </p:spPr>
      </p:pic>
      <p:sp>
        <p:nvSpPr>
          <p:cNvPr id="21" name="Text 12"/>
          <p:cNvSpPr/>
          <p:nvPr/>
        </p:nvSpPr>
        <p:spPr>
          <a:xfrm>
            <a:off x="1306678" y="4352544"/>
            <a:ext cx="4313682" cy="310896"/>
          </a:xfrm>
          <a:prstGeom prst="rect">
            <a:avLst/>
          </a:prstGeom>
          <a:noFill/>
          <a:ln/>
        </p:spPr>
        <p:txBody>
          <a:bodyPr wrap="square" lIns="0" tIns="0" rIns="0" bIns="0" rtlCol="0" anchor="ctr"/>
          <a:lstStyle/>
          <a:p>
            <a:pPr indent="0" marL="0">
              <a:buNone/>
            </a:pPr>
            <a:r>
              <a:rPr lang="en-US" sz="1150" dirty="0">
                <a:solidFill>
                  <a:srgbClr val="3B3833"/>
                </a:solidFill>
                <a:latin typeface="Noto Sans JP" pitchFamily="34" charset="0"/>
                <a:ea typeface="Noto Sans JP" pitchFamily="34" charset="-122"/>
                <a:cs typeface="Noto Sans JP" pitchFamily="34" charset="-120"/>
              </a:rPr>
              <a:t>運営研修</a:t>
            </a:r>
            <a:endParaRPr lang="en-US" sz="1150" dirty="0"/>
          </a:p>
        </p:txBody>
      </p:sp>
      <p:sp>
        <p:nvSpPr>
          <p:cNvPr id="22" name="Shape 13"/>
          <p:cNvSpPr/>
          <p:nvPr/>
        </p:nvSpPr>
        <p:spPr>
          <a:xfrm>
            <a:off x="6260440" y="1645920"/>
            <a:ext cx="5264658" cy="3529584"/>
          </a:xfrm>
          <a:prstGeom prst="roundRect">
            <a:avLst>
              <a:gd name="adj" fmla="val 1813"/>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23" name="Shape 14"/>
          <p:cNvSpPr/>
          <p:nvPr/>
        </p:nvSpPr>
        <p:spPr>
          <a:xfrm>
            <a:off x="6571336" y="1920240"/>
            <a:ext cx="603504" cy="603504"/>
          </a:xfrm>
          <a:prstGeom prst="ellipse">
            <a:avLst/>
          </a:prstGeom>
          <a:solidFill>
            <a:srgbClr val="F0F5EF"/>
          </a:solidFill>
          <a:ln/>
        </p:spPr>
      </p:sp>
      <p:pic>
        <p:nvPicPr>
          <p:cNvPr id="24" name="Image 7" descr="/home/user/suzuki-ceo/selfcafe-fc-deck/assets/icons/LuLifeBuoy-green.png">    </p:cNvPr>
          <p:cNvPicPr>
            <a:picLocks noChangeAspect="1"/>
          </p:cNvPicPr>
          <p:nvPr/>
        </p:nvPicPr>
        <p:blipFill>
          <a:blip r:embed="rId8"/>
          <a:stretch>
            <a:fillRect/>
          </a:stretch>
        </p:blipFill>
        <p:spPr>
          <a:xfrm>
            <a:off x="6704106" y="2053011"/>
            <a:ext cx="337962" cy="337962"/>
          </a:xfrm>
          <a:prstGeom prst="rect">
            <a:avLst/>
          </a:prstGeom>
        </p:spPr>
      </p:pic>
      <p:sp>
        <p:nvSpPr>
          <p:cNvPr id="25" name="Text 15"/>
          <p:cNvSpPr/>
          <p:nvPr/>
        </p:nvSpPr>
        <p:spPr>
          <a:xfrm>
            <a:off x="7321144" y="1920240"/>
            <a:ext cx="3893058" cy="603504"/>
          </a:xfrm>
          <a:prstGeom prst="rect">
            <a:avLst/>
          </a:prstGeom>
          <a:noFill/>
          <a:ln/>
        </p:spPr>
        <p:txBody>
          <a:bodyPr wrap="square" lIns="0" tIns="0" rIns="0" bIns="0" rtlCol="0" anchor="ctr"/>
          <a:lstStyle/>
          <a:p>
            <a:pPr indent="0" marL="0">
              <a:buNone/>
            </a:pPr>
            <a:r>
              <a:rPr lang="en-US" sz="1900" b="1" dirty="0">
                <a:solidFill>
                  <a:srgbClr val="1B5E20"/>
                </a:solidFill>
                <a:latin typeface="Noto Sans JP" pitchFamily="34" charset="0"/>
                <a:ea typeface="Noto Sans JP" pitchFamily="34" charset="-122"/>
                <a:cs typeface="Noto Sans JP" pitchFamily="34" charset="-120"/>
              </a:rPr>
              <a:t>開業後サポート</a:t>
            </a:r>
            <a:endParaRPr lang="en-US" sz="1900" dirty="0"/>
          </a:p>
        </p:txBody>
      </p:sp>
      <p:sp>
        <p:nvSpPr>
          <p:cNvPr id="26" name="Shape 16"/>
          <p:cNvSpPr/>
          <p:nvPr/>
        </p:nvSpPr>
        <p:spPr>
          <a:xfrm>
            <a:off x="6571336" y="2651760"/>
            <a:ext cx="4642866" cy="10058"/>
          </a:xfrm>
          <a:prstGeom prst="rect">
            <a:avLst/>
          </a:prstGeom>
          <a:solidFill>
            <a:srgbClr val="E6DFCD"/>
          </a:solidFill>
          <a:ln/>
        </p:spPr>
      </p:sp>
      <p:pic>
        <p:nvPicPr>
          <p:cNvPr id="27" name="Image 8" descr="/home/user/suzuki-ceo/selfcafe-fc-deck/assets/icons/LuCheck-green.png">    </p:cNvPr>
          <p:cNvPicPr>
            <a:picLocks noChangeAspect="1"/>
          </p:cNvPicPr>
          <p:nvPr/>
        </p:nvPicPr>
        <p:blipFill>
          <a:blip r:embed="rId9"/>
          <a:stretch>
            <a:fillRect/>
          </a:stretch>
        </p:blipFill>
        <p:spPr>
          <a:xfrm>
            <a:off x="6589624" y="2871216"/>
            <a:ext cx="182880" cy="182880"/>
          </a:xfrm>
          <a:prstGeom prst="rect">
            <a:avLst/>
          </a:prstGeom>
        </p:spPr>
      </p:pic>
      <p:sp>
        <p:nvSpPr>
          <p:cNvPr id="28" name="Text 17"/>
          <p:cNvSpPr/>
          <p:nvPr/>
        </p:nvSpPr>
        <p:spPr>
          <a:xfrm>
            <a:off x="6900520" y="2816352"/>
            <a:ext cx="4313682" cy="310896"/>
          </a:xfrm>
          <a:prstGeom prst="rect">
            <a:avLst/>
          </a:prstGeom>
          <a:noFill/>
          <a:ln/>
        </p:spPr>
        <p:txBody>
          <a:bodyPr wrap="square" lIns="0" tIns="0" rIns="0" bIns="0" rtlCol="0" anchor="ctr"/>
          <a:lstStyle/>
          <a:p>
            <a:pPr indent="0" marL="0">
              <a:buNone/>
            </a:pPr>
            <a:r>
              <a:rPr lang="en-US" sz="1150" dirty="0">
                <a:solidFill>
                  <a:srgbClr val="3B3833"/>
                </a:solidFill>
                <a:latin typeface="Noto Sans JP" pitchFamily="34" charset="0"/>
                <a:ea typeface="Noto Sans JP" pitchFamily="34" charset="-122"/>
                <a:cs typeface="Noto Sans JP" pitchFamily="34" charset="-120"/>
              </a:rPr>
              <a:t>店舗運営相談</a:t>
            </a:r>
            <a:endParaRPr lang="en-US" sz="1150" dirty="0"/>
          </a:p>
        </p:txBody>
      </p:sp>
      <p:pic>
        <p:nvPicPr>
          <p:cNvPr id="29" name="Image 9" descr="/home/user/suzuki-ceo/selfcafe-fc-deck/assets/icons/LuCheck-green.png">    </p:cNvPr>
          <p:cNvPicPr>
            <a:picLocks noChangeAspect="1"/>
          </p:cNvPicPr>
          <p:nvPr/>
        </p:nvPicPr>
        <p:blipFill>
          <a:blip r:embed="rId10"/>
          <a:stretch>
            <a:fillRect/>
          </a:stretch>
        </p:blipFill>
        <p:spPr>
          <a:xfrm>
            <a:off x="6589624" y="3255264"/>
            <a:ext cx="182880" cy="182880"/>
          </a:xfrm>
          <a:prstGeom prst="rect">
            <a:avLst/>
          </a:prstGeom>
        </p:spPr>
      </p:pic>
      <p:sp>
        <p:nvSpPr>
          <p:cNvPr id="30" name="Text 18"/>
          <p:cNvSpPr/>
          <p:nvPr/>
        </p:nvSpPr>
        <p:spPr>
          <a:xfrm>
            <a:off x="6900520" y="3200400"/>
            <a:ext cx="4313682" cy="310896"/>
          </a:xfrm>
          <a:prstGeom prst="rect">
            <a:avLst/>
          </a:prstGeom>
          <a:noFill/>
          <a:ln/>
        </p:spPr>
        <p:txBody>
          <a:bodyPr wrap="square" lIns="0" tIns="0" rIns="0" bIns="0" rtlCol="0" anchor="ctr"/>
          <a:lstStyle/>
          <a:p>
            <a:pPr indent="0" marL="0">
              <a:buNone/>
            </a:pPr>
            <a:r>
              <a:rPr lang="en-US" sz="1150" dirty="0">
                <a:solidFill>
                  <a:srgbClr val="3B3833"/>
                </a:solidFill>
                <a:latin typeface="Noto Sans JP" pitchFamily="34" charset="0"/>
                <a:ea typeface="Noto Sans JP" pitchFamily="34" charset="-122"/>
                <a:cs typeface="Noto Sans JP" pitchFamily="34" charset="-120"/>
              </a:rPr>
              <a:t>マシンの定期メンテナンス</a:t>
            </a:r>
            <a:endParaRPr lang="en-US" sz="1150" dirty="0"/>
          </a:p>
        </p:txBody>
      </p:sp>
      <p:pic>
        <p:nvPicPr>
          <p:cNvPr id="31" name="Image 10" descr="/home/user/suzuki-ceo/selfcafe-fc-deck/assets/icons/LuCheck-green.png">    </p:cNvPr>
          <p:cNvPicPr>
            <a:picLocks noChangeAspect="1"/>
          </p:cNvPicPr>
          <p:nvPr/>
        </p:nvPicPr>
        <p:blipFill>
          <a:blip r:embed="rId11"/>
          <a:stretch>
            <a:fillRect/>
          </a:stretch>
        </p:blipFill>
        <p:spPr>
          <a:xfrm>
            <a:off x="6589624" y="3639312"/>
            <a:ext cx="182880" cy="182880"/>
          </a:xfrm>
          <a:prstGeom prst="rect">
            <a:avLst/>
          </a:prstGeom>
        </p:spPr>
      </p:pic>
      <p:sp>
        <p:nvSpPr>
          <p:cNvPr id="32" name="Text 19"/>
          <p:cNvSpPr/>
          <p:nvPr/>
        </p:nvSpPr>
        <p:spPr>
          <a:xfrm>
            <a:off x="6900520" y="3584448"/>
            <a:ext cx="4313682" cy="310896"/>
          </a:xfrm>
          <a:prstGeom prst="rect">
            <a:avLst/>
          </a:prstGeom>
          <a:noFill/>
          <a:ln/>
        </p:spPr>
        <p:txBody>
          <a:bodyPr wrap="square" lIns="0" tIns="0" rIns="0" bIns="0" rtlCol="0" anchor="ctr"/>
          <a:lstStyle/>
          <a:p>
            <a:pPr indent="0" marL="0">
              <a:buNone/>
            </a:pPr>
            <a:r>
              <a:rPr lang="en-US" sz="1150" dirty="0">
                <a:solidFill>
                  <a:srgbClr val="3B3833"/>
                </a:solidFill>
                <a:latin typeface="Noto Sans JP" pitchFamily="34" charset="0"/>
                <a:ea typeface="Noto Sans JP" pitchFamily="34" charset="-122"/>
                <a:cs typeface="Noto Sans JP" pitchFamily="34" charset="-120"/>
              </a:rPr>
              <a:t>WEBサイト作成／更新</a:t>
            </a:r>
            <a:endParaRPr lang="en-US" sz="1150" dirty="0"/>
          </a:p>
        </p:txBody>
      </p:sp>
      <p:pic>
        <p:nvPicPr>
          <p:cNvPr id="33" name="Image 11" descr="/home/user/suzuki-ceo/selfcafe-fc-deck/assets/icons/LuCheck-green.png">    </p:cNvPr>
          <p:cNvPicPr>
            <a:picLocks noChangeAspect="1"/>
          </p:cNvPicPr>
          <p:nvPr/>
        </p:nvPicPr>
        <p:blipFill>
          <a:blip r:embed="rId12"/>
          <a:stretch>
            <a:fillRect/>
          </a:stretch>
        </p:blipFill>
        <p:spPr>
          <a:xfrm>
            <a:off x="6589624" y="4023360"/>
            <a:ext cx="182880" cy="182880"/>
          </a:xfrm>
          <a:prstGeom prst="rect">
            <a:avLst/>
          </a:prstGeom>
        </p:spPr>
      </p:pic>
      <p:sp>
        <p:nvSpPr>
          <p:cNvPr id="34" name="Text 20"/>
          <p:cNvSpPr/>
          <p:nvPr/>
        </p:nvSpPr>
        <p:spPr>
          <a:xfrm>
            <a:off x="6900520" y="3968496"/>
            <a:ext cx="4313682" cy="310896"/>
          </a:xfrm>
          <a:prstGeom prst="rect">
            <a:avLst/>
          </a:prstGeom>
          <a:noFill/>
          <a:ln/>
        </p:spPr>
        <p:txBody>
          <a:bodyPr wrap="square" lIns="0" tIns="0" rIns="0" bIns="0" rtlCol="0" anchor="ctr"/>
          <a:lstStyle/>
          <a:p>
            <a:pPr indent="0" marL="0">
              <a:buNone/>
            </a:pPr>
            <a:r>
              <a:rPr lang="en-US" sz="1150" dirty="0">
                <a:solidFill>
                  <a:srgbClr val="3B3833"/>
                </a:solidFill>
                <a:latin typeface="Noto Sans JP" pitchFamily="34" charset="0"/>
                <a:ea typeface="Noto Sans JP" pitchFamily="34" charset="-122"/>
                <a:cs typeface="Noto Sans JP" pitchFamily="34" charset="-120"/>
              </a:rPr>
              <a:t>SEO対策（HP作成・定期更新／プレスリリース等）</a:t>
            </a:r>
            <a:endParaRPr lang="en-US" sz="1150" dirty="0"/>
          </a:p>
        </p:txBody>
      </p:sp>
      <p:pic>
        <p:nvPicPr>
          <p:cNvPr id="35" name="Image 12" descr="/home/user/suzuki-ceo/selfcafe-fc-deck/assets/icons/LuCheck-green.png">    </p:cNvPr>
          <p:cNvPicPr>
            <a:picLocks noChangeAspect="1"/>
          </p:cNvPicPr>
          <p:nvPr/>
        </p:nvPicPr>
        <p:blipFill>
          <a:blip r:embed="rId13"/>
          <a:stretch>
            <a:fillRect/>
          </a:stretch>
        </p:blipFill>
        <p:spPr>
          <a:xfrm>
            <a:off x="6589624" y="4407408"/>
            <a:ext cx="182880" cy="182880"/>
          </a:xfrm>
          <a:prstGeom prst="rect">
            <a:avLst/>
          </a:prstGeom>
        </p:spPr>
      </p:pic>
      <p:sp>
        <p:nvSpPr>
          <p:cNvPr id="36" name="Text 21"/>
          <p:cNvSpPr/>
          <p:nvPr/>
        </p:nvSpPr>
        <p:spPr>
          <a:xfrm>
            <a:off x="6900520" y="4352544"/>
            <a:ext cx="4313682" cy="310896"/>
          </a:xfrm>
          <a:prstGeom prst="rect">
            <a:avLst/>
          </a:prstGeom>
          <a:noFill/>
          <a:ln/>
        </p:spPr>
        <p:txBody>
          <a:bodyPr wrap="square" lIns="0" tIns="0" rIns="0" bIns="0" rtlCol="0" anchor="ctr"/>
          <a:lstStyle/>
          <a:p>
            <a:pPr indent="0" marL="0">
              <a:buNone/>
            </a:pPr>
            <a:r>
              <a:rPr lang="en-US" sz="1150" dirty="0">
                <a:solidFill>
                  <a:srgbClr val="3B3833"/>
                </a:solidFill>
                <a:latin typeface="Noto Sans JP" pitchFamily="34" charset="0"/>
                <a:ea typeface="Noto Sans JP" pitchFamily="34" charset="-122"/>
                <a:cs typeface="Noto Sans JP" pitchFamily="34" charset="-120"/>
              </a:rPr>
              <a:t>MEO対策（Google MAP設置・定期投稿／更新等）</a:t>
            </a:r>
            <a:endParaRPr lang="en-US" sz="1150" dirty="0"/>
          </a:p>
        </p:txBody>
      </p:sp>
      <p:pic>
        <p:nvPicPr>
          <p:cNvPr id="37" name="Image 13" descr="/home/user/suzuki-ceo/selfcafe-fc-deck/assets/icons/LuCheck-green.png">    </p:cNvPr>
          <p:cNvPicPr>
            <a:picLocks noChangeAspect="1"/>
          </p:cNvPicPr>
          <p:nvPr/>
        </p:nvPicPr>
        <p:blipFill>
          <a:blip r:embed="rId14"/>
          <a:stretch>
            <a:fillRect/>
          </a:stretch>
        </p:blipFill>
        <p:spPr>
          <a:xfrm>
            <a:off x="6589624" y="4791456"/>
            <a:ext cx="182880" cy="182880"/>
          </a:xfrm>
          <a:prstGeom prst="rect">
            <a:avLst/>
          </a:prstGeom>
        </p:spPr>
      </p:pic>
      <p:sp>
        <p:nvSpPr>
          <p:cNvPr id="38" name="Text 22"/>
          <p:cNvSpPr/>
          <p:nvPr/>
        </p:nvSpPr>
        <p:spPr>
          <a:xfrm>
            <a:off x="6900520" y="4736592"/>
            <a:ext cx="4313682" cy="310896"/>
          </a:xfrm>
          <a:prstGeom prst="rect">
            <a:avLst/>
          </a:prstGeom>
          <a:noFill/>
          <a:ln/>
        </p:spPr>
        <p:txBody>
          <a:bodyPr wrap="square" lIns="0" tIns="0" rIns="0" bIns="0" rtlCol="0" anchor="ctr"/>
          <a:lstStyle/>
          <a:p>
            <a:pPr indent="0" marL="0">
              <a:buNone/>
            </a:pPr>
            <a:r>
              <a:rPr lang="en-US" sz="1150" dirty="0">
                <a:solidFill>
                  <a:srgbClr val="3B3833"/>
                </a:solidFill>
                <a:latin typeface="Noto Sans JP" pitchFamily="34" charset="0"/>
                <a:ea typeface="Noto Sans JP" pitchFamily="34" charset="-122"/>
                <a:cs typeface="Noto Sans JP" pitchFamily="34" charset="-120"/>
              </a:rPr>
              <a:t>改修工事サポート</a:t>
            </a:r>
            <a:endParaRPr lang="en-US" sz="1150" dirty="0"/>
          </a:p>
        </p:txBody>
      </p:sp>
      <p:sp>
        <p:nvSpPr>
          <p:cNvPr id="39" name="Shape 23"/>
          <p:cNvSpPr/>
          <p:nvPr/>
        </p:nvSpPr>
        <p:spPr>
          <a:xfrm>
            <a:off x="666598" y="5394960"/>
            <a:ext cx="10858500" cy="859536"/>
          </a:xfrm>
          <a:prstGeom prst="roundRect">
            <a:avLst>
              <a:gd name="adj" fmla="val 9574"/>
            </a:avLst>
          </a:prstGeom>
          <a:solidFill>
            <a:srgbClr val="12401A"/>
          </a:solidFill>
          <a:ln/>
          <a:effectLst>
            <a:outerShdw sx="100000" sy="100000" kx="0" ky="0" algn="bl" rotWithShape="0" blurRad="114300" dist="17780" dir="5400000">
              <a:srgbClr val="6B6250">
                <a:alpha val="14000"/>
              </a:srgbClr>
            </a:outerShdw>
          </a:effectLst>
        </p:spPr>
      </p:sp>
      <p:pic>
        <p:nvPicPr>
          <p:cNvPr id="40" name="Image 14" descr="/home/user/suzuki-ceo/selfcafe-fc-deck/assets/icons/LuUsers-white.png">    </p:cNvPr>
          <p:cNvPicPr>
            <a:picLocks noChangeAspect="1"/>
          </p:cNvPicPr>
          <p:nvPr/>
        </p:nvPicPr>
        <p:blipFill>
          <a:blip r:embed="rId15"/>
          <a:stretch>
            <a:fillRect/>
          </a:stretch>
        </p:blipFill>
        <p:spPr>
          <a:xfrm>
            <a:off x="1050646" y="5678424"/>
            <a:ext cx="292608" cy="292608"/>
          </a:xfrm>
          <a:prstGeom prst="rect">
            <a:avLst/>
          </a:prstGeom>
        </p:spPr>
      </p:pic>
      <p:sp>
        <p:nvSpPr>
          <p:cNvPr id="41" name="Text 24"/>
          <p:cNvSpPr/>
          <p:nvPr/>
        </p:nvSpPr>
        <p:spPr>
          <a:xfrm>
            <a:off x="1489558" y="5394960"/>
            <a:ext cx="9651492" cy="859536"/>
          </a:xfrm>
          <a:prstGeom prst="rect">
            <a:avLst/>
          </a:prstGeom>
          <a:noFill/>
          <a:ln/>
        </p:spPr>
        <p:txBody>
          <a:bodyPr wrap="square" lIns="0" tIns="0" rIns="0" bIns="0" rtlCol="0" anchor="ctr"/>
          <a:lstStyle/>
          <a:p>
            <a:pPr indent="0" marL="0">
              <a:buNone/>
            </a:pPr>
            <a:r>
              <a:rPr lang="en-US" sz="1800" b="1" dirty="0">
                <a:solidFill>
                  <a:srgbClr val="FFFFFF"/>
                </a:solidFill>
                <a:latin typeface="Noto Sans JP" pitchFamily="34" charset="0"/>
                <a:ea typeface="Noto Sans JP" pitchFamily="34" charset="-122"/>
                <a:cs typeface="Noto Sans JP" pitchFamily="34" charset="-120"/>
              </a:rPr>
              <a:t>新たに人を採用・配置する必要はありません。</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CF5"/>
        </a:solidFill>
      </p:bgPr>
    </p:bg>
    <p:spTree>
      <p:nvGrpSpPr>
        <p:cNvPr id="1" name=""/>
        <p:cNvGrpSpPr/>
        <p:nvPr/>
      </p:nvGrpSpPr>
      <p:grpSpPr>
        <a:xfrm>
          <a:off x="0" y="0"/>
          <a:ext cx="0" cy="0"/>
          <a:chOff x="0" y="0"/>
          <a:chExt cx="0" cy="0"/>
        </a:xfrm>
      </p:grpSpPr>
      <p:sp>
        <p:nvSpPr>
          <p:cNvPr id="2" name="Text 0"/>
          <p:cNvSpPr/>
          <p:nvPr/>
        </p:nvSpPr>
        <p:spPr>
          <a:xfrm>
            <a:off x="666598" y="506578"/>
            <a:ext cx="8503920" cy="384048"/>
          </a:xfrm>
          <a:prstGeom prst="rect">
            <a:avLst/>
          </a:prstGeom>
          <a:noFill/>
          <a:ln/>
        </p:spPr>
        <p:txBody>
          <a:bodyPr wrap="square" lIns="0" tIns="0" rIns="0" bIns="0" rtlCol="0" anchor="ctr"/>
          <a:lstStyle/>
          <a:p>
            <a:pPr algn="l" indent="0" marL="0">
              <a:buNone/>
            </a:pPr>
            <a:r>
              <a:rPr lang="en-US" sz="3000" dirty="0">
                <a:solidFill>
                  <a:srgbClr val="1B5E20"/>
                </a:solidFill>
                <a:latin typeface="Noto Sans JP" pitchFamily="34" charset="0"/>
                <a:ea typeface="Noto Sans JP" pitchFamily="34" charset="-122"/>
                <a:cs typeface="Noto Sans JP" pitchFamily="34" charset="-120"/>
              </a:rPr>
              <a:t>開業までの流れ</a:t>
            </a:r>
            <a:endParaRPr lang="en-US" sz="3000" dirty="0"/>
          </a:p>
        </p:txBody>
      </p:sp>
      <p:sp>
        <p:nvSpPr>
          <p:cNvPr id="3" name="Shape 1"/>
          <p:cNvSpPr/>
          <p:nvPr/>
        </p:nvSpPr>
        <p:spPr>
          <a:xfrm>
            <a:off x="666598" y="1114654"/>
            <a:ext cx="10858500" cy="19202"/>
          </a:xfrm>
          <a:prstGeom prst="rect">
            <a:avLst/>
          </a:prstGeom>
          <a:solidFill>
            <a:srgbClr val="8D6E63"/>
          </a:solidFill>
          <a:ln/>
        </p:spPr>
      </p:sp>
      <p:pic>
        <p:nvPicPr>
          <p:cNvPr id="4" name="Image 0" descr="/home/user/suzuki-ceo/selfcafe-fc-deck/assets/logo_gray.png">    </p:cNvPr>
          <p:cNvPicPr>
            <a:picLocks noChangeAspect="1"/>
          </p:cNvPicPr>
          <p:nvPr/>
        </p:nvPicPr>
        <p:blipFill>
          <a:blip r:embed="rId1"/>
          <a:stretch>
            <a:fillRect/>
          </a:stretch>
        </p:blipFill>
        <p:spPr>
          <a:xfrm>
            <a:off x="9415577" y="802843"/>
            <a:ext cx="2024482" cy="288036"/>
          </a:xfrm>
          <a:prstGeom prst="rect">
            <a:avLst/>
          </a:prstGeom>
        </p:spPr>
      </p:pic>
      <p:sp>
        <p:nvSpPr>
          <p:cNvPr id="5" name="Text 2"/>
          <p:cNvSpPr/>
          <p:nvPr/>
        </p:nvSpPr>
        <p:spPr>
          <a:xfrm>
            <a:off x="10610698" y="6345936"/>
            <a:ext cx="914400" cy="219456"/>
          </a:xfrm>
          <a:prstGeom prst="rect">
            <a:avLst/>
          </a:prstGeom>
          <a:noFill/>
          <a:ln/>
        </p:spPr>
        <p:txBody>
          <a:bodyPr wrap="square" lIns="0" tIns="0" rIns="0" bIns="0" rtlCol="0" anchor="ctr"/>
          <a:lstStyle/>
          <a:p>
            <a:pPr algn="r" indent="0" marL="0">
              <a:buNone/>
            </a:pPr>
            <a:r>
              <a:rPr lang="en-US" sz="1300" dirty="0">
                <a:solidFill>
                  <a:srgbClr val="000000"/>
                </a:solidFill>
                <a:latin typeface="Cambria" pitchFamily="34" charset="0"/>
                <a:ea typeface="Cambria" pitchFamily="34" charset="-122"/>
                <a:cs typeface="Cambria" pitchFamily="34" charset="-120"/>
              </a:rPr>
              <a:t>24</a:t>
            </a:r>
            <a:endParaRPr lang="en-US" sz="1300" dirty="0"/>
          </a:p>
        </p:txBody>
      </p:sp>
      <p:sp>
        <p:nvSpPr>
          <p:cNvPr id="6" name="Shape 3"/>
          <p:cNvSpPr/>
          <p:nvPr/>
        </p:nvSpPr>
        <p:spPr>
          <a:xfrm>
            <a:off x="7338517" y="1975104"/>
            <a:ext cx="2011680" cy="475488"/>
          </a:xfrm>
          <a:prstGeom prst="roundRect">
            <a:avLst>
              <a:gd name="adj" fmla="val 50000"/>
            </a:avLst>
          </a:prstGeom>
          <a:solidFill>
            <a:srgbClr val="F0F5EF"/>
          </a:solidFill>
          <a:ln w="9525">
            <a:solidFill>
              <a:srgbClr val="CBDCCB"/>
            </a:solidFill>
            <a:prstDash val="solid"/>
          </a:ln>
        </p:spPr>
      </p:sp>
      <p:pic>
        <p:nvPicPr>
          <p:cNvPr id="7" name="Image 1" descr="/home/user/suzuki-ceo/selfcafe-fc-deck/assets/icons/LuClock-green.png">    </p:cNvPr>
          <p:cNvPicPr>
            <a:picLocks noChangeAspect="1"/>
          </p:cNvPicPr>
          <p:nvPr/>
        </p:nvPicPr>
        <p:blipFill>
          <a:blip r:embed="rId2"/>
          <a:stretch>
            <a:fillRect/>
          </a:stretch>
        </p:blipFill>
        <p:spPr>
          <a:xfrm>
            <a:off x="7557973" y="2093976"/>
            <a:ext cx="237744" cy="237744"/>
          </a:xfrm>
          <a:prstGeom prst="rect">
            <a:avLst/>
          </a:prstGeom>
        </p:spPr>
      </p:pic>
      <p:sp>
        <p:nvSpPr>
          <p:cNvPr id="8" name="Text 4"/>
          <p:cNvSpPr/>
          <p:nvPr/>
        </p:nvSpPr>
        <p:spPr>
          <a:xfrm>
            <a:off x="7850581" y="1975104"/>
            <a:ext cx="1463040" cy="475488"/>
          </a:xfrm>
          <a:prstGeom prst="rect">
            <a:avLst/>
          </a:prstGeom>
          <a:noFill/>
          <a:ln/>
        </p:spPr>
        <p:txBody>
          <a:bodyPr wrap="square" lIns="0" tIns="0" rIns="0" bIns="0" rtlCol="0" anchor="ctr"/>
          <a:lstStyle/>
          <a:p>
            <a:pPr indent="0" marL="0">
              <a:buNone/>
            </a:pPr>
            <a:r>
              <a:rPr lang="en-US" sz="1250" b="1" dirty="0">
                <a:solidFill>
                  <a:srgbClr val="1B5E20"/>
                </a:solidFill>
                <a:latin typeface="Noto Sans JP" pitchFamily="34" charset="0"/>
                <a:ea typeface="Noto Sans JP" pitchFamily="34" charset="-122"/>
                <a:cs typeface="Noto Sans JP" pitchFamily="34" charset="-120"/>
              </a:rPr>
              <a:t>2〜3か月程度</a:t>
            </a:r>
            <a:endParaRPr lang="en-US" sz="1250" dirty="0"/>
          </a:p>
        </p:txBody>
      </p:sp>
      <p:sp>
        <p:nvSpPr>
          <p:cNvPr id="9" name="Shape 5"/>
          <p:cNvSpPr/>
          <p:nvPr/>
        </p:nvSpPr>
        <p:spPr>
          <a:xfrm>
            <a:off x="5181905" y="2450592"/>
            <a:ext cx="12802" cy="310896"/>
          </a:xfrm>
          <a:prstGeom prst="rect">
            <a:avLst/>
          </a:prstGeom>
          <a:solidFill>
            <a:srgbClr val="9DBBA0"/>
          </a:solidFill>
          <a:ln/>
        </p:spPr>
      </p:sp>
      <p:sp>
        <p:nvSpPr>
          <p:cNvPr id="10" name="Shape 6"/>
          <p:cNvSpPr/>
          <p:nvPr/>
        </p:nvSpPr>
        <p:spPr>
          <a:xfrm>
            <a:off x="11497666" y="2450592"/>
            <a:ext cx="12802" cy="310896"/>
          </a:xfrm>
          <a:prstGeom prst="rect">
            <a:avLst/>
          </a:prstGeom>
          <a:solidFill>
            <a:srgbClr val="9DBBA0"/>
          </a:solidFill>
          <a:ln/>
        </p:spPr>
      </p:sp>
      <p:sp>
        <p:nvSpPr>
          <p:cNvPr id="11" name="Shape 7"/>
          <p:cNvSpPr/>
          <p:nvPr/>
        </p:nvSpPr>
        <p:spPr>
          <a:xfrm>
            <a:off x="5181905" y="2743200"/>
            <a:ext cx="6324905" cy="12802"/>
          </a:xfrm>
          <a:prstGeom prst="rect">
            <a:avLst/>
          </a:prstGeom>
          <a:solidFill>
            <a:srgbClr val="9DBBA0"/>
          </a:solidFill>
          <a:ln/>
        </p:spPr>
      </p:sp>
      <p:sp>
        <p:nvSpPr>
          <p:cNvPr id="12" name="Shape 8"/>
          <p:cNvSpPr/>
          <p:nvPr/>
        </p:nvSpPr>
        <p:spPr>
          <a:xfrm>
            <a:off x="666598" y="2871216"/>
            <a:ext cx="1864462" cy="2889504"/>
          </a:xfrm>
          <a:prstGeom prst="roundRect">
            <a:avLst>
              <a:gd name="adj" fmla="val 3433"/>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13" name="Shape 9"/>
          <p:cNvSpPr/>
          <p:nvPr/>
        </p:nvSpPr>
        <p:spPr>
          <a:xfrm>
            <a:off x="1406804" y="3108960"/>
            <a:ext cx="384048" cy="384048"/>
          </a:xfrm>
          <a:prstGeom prst="roundRect">
            <a:avLst>
              <a:gd name="adj" fmla="val 21429"/>
            </a:avLst>
          </a:prstGeom>
          <a:solidFill>
            <a:srgbClr val="1B5E20"/>
          </a:solidFill>
          <a:ln/>
        </p:spPr>
      </p:sp>
      <p:sp>
        <p:nvSpPr>
          <p:cNvPr id="14" name="Text 10"/>
          <p:cNvSpPr/>
          <p:nvPr/>
        </p:nvSpPr>
        <p:spPr>
          <a:xfrm>
            <a:off x="1406804" y="31089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01</a:t>
            </a:r>
            <a:endParaRPr lang="en-US" sz="1200" dirty="0"/>
          </a:p>
        </p:txBody>
      </p:sp>
      <p:sp>
        <p:nvSpPr>
          <p:cNvPr id="15" name="Shape 11"/>
          <p:cNvSpPr/>
          <p:nvPr/>
        </p:nvSpPr>
        <p:spPr>
          <a:xfrm>
            <a:off x="1214780" y="3639312"/>
            <a:ext cx="768096" cy="768096"/>
          </a:xfrm>
          <a:prstGeom prst="ellipse">
            <a:avLst/>
          </a:prstGeom>
          <a:solidFill>
            <a:srgbClr val="F0F5EF"/>
          </a:solidFill>
          <a:ln/>
        </p:spPr>
      </p:sp>
      <p:pic>
        <p:nvPicPr>
          <p:cNvPr id="16" name="Image 2" descr="/home/user/suzuki-ceo/selfcafe-fc-deck/assets/icons/LuUsers-green.png">    </p:cNvPr>
          <p:cNvPicPr>
            <a:picLocks noChangeAspect="1"/>
          </p:cNvPicPr>
          <p:nvPr/>
        </p:nvPicPr>
        <p:blipFill>
          <a:blip r:embed="rId3"/>
          <a:stretch>
            <a:fillRect/>
          </a:stretch>
        </p:blipFill>
        <p:spPr>
          <a:xfrm>
            <a:off x="1388516" y="3813048"/>
            <a:ext cx="420624" cy="420624"/>
          </a:xfrm>
          <a:prstGeom prst="rect">
            <a:avLst/>
          </a:prstGeom>
        </p:spPr>
      </p:pic>
      <p:sp>
        <p:nvSpPr>
          <p:cNvPr id="17" name="Text 12"/>
          <p:cNvSpPr/>
          <p:nvPr/>
        </p:nvSpPr>
        <p:spPr>
          <a:xfrm>
            <a:off x="776326" y="4718304"/>
            <a:ext cx="1645006" cy="365760"/>
          </a:xfrm>
          <a:prstGeom prst="rect">
            <a:avLst/>
          </a:prstGeom>
          <a:noFill/>
          <a:ln/>
        </p:spPr>
        <p:txBody>
          <a:bodyPr wrap="square" lIns="0" tIns="0" rIns="0" bIns="0" rtlCol="0" anchor="ctr"/>
          <a:lstStyle/>
          <a:p>
            <a:pPr algn="ctr" indent="0" marL="0">
              <a:buNone/>
            </a:pPr>
            <a:r>
              <a:rPr lang="en-US" sz="1550" b="1" dirty="0">
                <a:solidFill>
                  <a:srgbClr val="1B5E20"/>
                </a:solidFill>
                <a:latin typeface="Noto Sans JP" pitchFamily="34" charset="0"/>
                <a:ea typeface="Noto Sans JP" pitchFamily="34" charset="-122"/>
                <a:cs typeface="Noto Sans JP" pitchFamily="34" charset="-120"/>
              </a:rPr>
              <a:t>面談</a:t>
            </a:r>
            <a:endParaRPr lang="en-US" sz="1550" dirty="0"/>
          </a:p>
        </p:txBody>
      </p:sp>
      <p:sp>
        <p:nvSpPr>
          <p:cNvPr id="18" name="Text 13"/>
          <p:cNvSpPr/>
          <p:nvPr/>
        </p:nvSpPr>
        <p:spPr>
          <a:xfrm>
            <a:off x="758038" y="5102352"/>
            <a:ext cx="1681582" cy="530352"/>
          </a:xfrm>
          <a:prstGeom prst="rect">
            <a:avLst/>
          </a:prstGeom>
          <a:noFill/>
          <a:ln/>
        </p:spPr>
        <p:txBody>
          <a:bodyPr wrap="square" lIns="0" tIns="0" rIns="0" bIns="0" rtlCol="0" anchor="t"/>
          <a:lstStyle/>
          <a:p>
            <a:pPr algn="ctr" indent="0" marL="0">
              <a:lnSpc>
                <a:spcPct val="125000"/>
              </a:lnSpc>
              <a:buNone/>
            </a:pPr>
            <a:r>
              <a:rPr lang="en-US" sz="1000" dirty="0">
                <a:solidFill>
                  <a:srgbClr val="6E6A61"/>
                </a:solidFill>
                <a:latin typeface="Noto Sans JP" pitchFamily="34" charset="0"/>
                <a:ea typeface="Noto Sans JP" pitchFamily="34" charset="-122"/>
                <a:cs typeface="Noto Sans JP" pitchFamily="34" charset="-120"/>
              </a:rPr>
              <a:t>制度のご説明と</a:t>
            </a:r>
            <a:endParaRPr lang="en-US" sz="1000" dirty="0"/>
          </a:p>
          <a:p>
            <a:pPr algn="ctr" indent="0" marL="0">
              <a:lnSpc>
                <a:spcPct val="125000"/>
              </a:lnSpc>
              <a:buNone/>
            </a:pPr>
            <a:r>
              <a:rPr lang="en-US" sz="1000" dirty="0">
                <a:solidFill>
                  <a:srgbClr val="6E6A61"/>
                </a:solidFill>
                <a:latin typeface="Noto Sans JP" pitchFamily="34" charset="0"/>
                <a:ea typeface="Noto Sans JP" pitchFamily="34" charset="-122"/>
                <a:cs typeface="Noto Sans JP" pitchFamily="34" charset="-120"/>
              </a:rPr>
              <a:t>ご要望のヒアリング</a:t>
            </a:r>
            <a:endParaRPr lang="en-US" sz="1000" dirty="0"/>
          </a:p>
        </p:txBody>
      </p:sp>
      <p:sp>
        <p:nvSpPr>
          <p:cNvPr id="19" name="Shape 14"/>
          <p:cNvSpPr/>
          <p:nvPr/>
        </p:nvSpPr>
        <p:spPr>
          <a:xfrm rot="5400000">
            <a:off x="2622499" y="4215384"/>
            <a:ext cx="201168" cy="201168"/>
          </a:xfrm>
          <a:prstGeom prst="triangle">
            <a:avLst/>
          </a:prstGeom>
          <a:solidFill>
            <a:srgbClr val="C9BFA6"/>
          </a:solidFill>
          <a:ln/>
        </p:spPr>
      </p:sp>
      <p:sp>
        <p:nvSpPr>
          <p:cNvPr id="20" name="Shape 15"/>
          <p:cNvSpPr/>
          <p:nvPr/>
        </p:nvSpPr>
        <p:spPr>
          <a:xfrm>
            <a:off x="2915107" y="2871216"/>
            <a:ext cx="1864462" cy="2889504"/>
          </a:xfrm>
          <a:prstGeom prst="roundRect">
            <a:avLst>
              <a:gd name="adj" fmla="val 3433"/>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21" name="Shape 16"/>
          <p:cNvSpPr/>
          <p:nvPr/>
        </p:nvSpPr>
        <p:spPr>
          <a:xfrm>
            <a:off x="3655314" y="3108960"/>
            <a:ext cx="384048" cy="384048"/>
          </a:xfrm>
          <a:prstGeom prst="roundRect">
            <a:avLst>
              <a:gd name="adj" fmla="val 21429"/>
            </a:avLst>
          </a:prstGeom>
          <a:solidFill>
            <a:srgbClr val="1B5E20"/>
          </a:solidFill>
          <a:ln/>
        </p:spPr>
      </p:sp>
      <p:sp>
        <p:nvSpPr>
          <p:cNvPr id="22" name="Text 17"/>
          <p:cNvSpPr/>
          <p:nvPr/>
        </p:nvSpPr>
        <p:spPr>
          <a:xfrm>
            <a:off x="3655314" y="31089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02</a:t>
            </a:r>
            <a:endParaRPr lang="en-US" sz="1200" dirty="0"/>
          </a:p>
        </p:txBody>
      </p:sp>
      <p:sp>
        <p:nvSpPr>
          <p:cNvPr id="23" name="Shape 18"/>
          <p:cNvSpPr/>
          <p:nvPr/>
        </p:nvSpPr>
        <p:spPr>
          <a:xfrm>
            <a:off x="3463290" y="3639312"/>
            <a:ext cx="768096" cy="768096"/>
          </a:xfrm>
          <a:prstGeom prst="ellipse">
            <a:avLst/>
          </a:prstGeom>
          <a:solidFill>
            <a:srgbClr val="F0F5EF"/>
          </a:solidFill>
          <a:ln/>
        </p:spPr>
      </p:sp>
      <p:pic>
        <p:nvPicPr>
          <p:cNvPr id="24" name="Image 3" descr="/home/user/suzuki-ceo/selfcafe-fc-deck/assets/icons/LuFileSearch-green.png">    </p:cNvPr>
          <p:cNvPicPr>
            <a:picLocks noChangeAspect="1"/>
          </p:cNvPicPr>
          <p:nvPr/>
        </p:nvPicPr>
        <p:blipFill>
          <a:blip r:embed="rId4"/>
          <a:stretch>
            <a:fillRect/>
          </a:stretch>
        </p:blipFill>
        <p:spPr>
          <a:xfrm>
            <a:off x="3637026" y="3813048"/>
            <a:ext cx="420624" cy="420624"/>
          </a:xfrm>
          <a:prstGeom prst="rect">
            <a:avLst/>
          </a:prstGeom>
        </p:spPr>
      </p:pic>
      <p:sp>
        <p:nvSpPr>
          <p:cNvPr id="25" name="Text 19"/>
          <p:cNvSpPr/>
          <p:nvPr/>
        </p:nvSpPr>
        <p:spPr>
          <a:xfrm>
            <a:off x="3024835" y="4718304"/>
            <a:ext cx="1645006" cy="365760"/>
          </a:xfrm>
          <a:prstGeom prst="rect">
            <a:avLst/>
          </a:prstGeom>
          <a:noFill/>
          <a:ln/>
        </p:spPr>
        <p:txBody>
          <a:bodyPr wrap="square" lIns="0" tIns="0" rIns="0" bIns="0" rtlCol="0" anchor="ctr"/>
          <a:lstStyle/>
          <a:p>
            <a:pPr algn="ctr" indent="0" marL="0">
              <a:buNone/>
            </a:pPr>
            <a:r>
              <a:rPr lang="en-US" sz="1550" b="1" dirty="0">
                <a:solidFill>
                  <a:srgbClr val="1B5E20"/>
                </a:solidFill>
                <a:latin typeface="Noto Sans JP" pitchFamily="34" charset="0"/>
                <a:ea typeface="Noto Sans JP" pitchFamily="34" charset="-122"/>
                <a:cs typeface="Noto Sans JP" pitchFamily="34" charset="-120"/>
              </a:rPr>
              <a:t>加盟審査</a:t>
            </a:r>
            <a:endParaRPr lang="en-US" sz="1550" dirty="0"/>
          </a:p>
        </p:txBody>
      </p:sp>
      <p:sp>
        <p:nvSpPr>
          <p:cNvPr id="26" name="Text 20"/>
          <p:cNvSpPr/>
          <p:nvPr/>
        </p:nvSpPr>
        <p:spPr>
          <a:xfrm>
            <a:off x="3006547" y="5102352"/>
            <a:ext cx="1681582" cy="530352"/>
          </a:xfrm>
          <a:prstGeom prst="rect">
            <a:avLst/>
          </a:prstGeom>
          <a:noFill/>
          <a:ln/>
        </p:spPr>
        <p:txBody>
          <a:bodyPr wrap="square" lIns="0" tIns="0" rIns="0" bIns="0" rtlCol="0" anchor="t"/>
          <a:lstStyle/>
          <a:p>
            <a:pPr algn="ctr" indent="0" marL="0">
              <a:lnSpc>
                <a:spcPct val="125000"/>
              </a:lnSpc>
              <a:buNone/>
            </a:pPr>
            <a:r>
              <a:rPr lang="en-US" sz="1000" dirty="0">
                <a:solidFill>
                  <a:srgbClr val="6E6A61"/>
                </a:solidFill>
                <a:latin typeface="Noto Sans JP" pitchFamily="34" charset="0"/>
                <a:ea typeface="Noto Sans JP" pitchFamily="34" charset="-122"/>
                <a:cs typeface="Noto Sans JP" pitchFamily="34" charset="-120"/>
              </a:rPr>
              <a:t>立地・条件を</a:t>
            </a:r>
            <a:endParaRPr lang="en-US" sz="1000" dirty="0"/>
          </a:p>
          <a:p>
            <a:pPr algn="ctr" indent="0" marL="0">
              <a:lnSpc>
                <a:spcPct val="125000"/>
              </a:lnSpc>
              <a:buNone/>
            </a:pPr>
            <a:r>
              <a:rPr lang="en-US" sz="1000" dirty="0">
                <a:solidFill>
                  <a:srgbClr val="6E6A61"/>
                </a:solidFill>
                <a:latin typeface="Noto Sans JP" pitchFamily="34" charset="0"/>
                <a:ea typeface="Noto Sans JP" pitchFamily="34" charset="-122"/>
                <a:cs typeface="Noto Sans JP" pitchFamily="34" charset="-120"/>
              </a:rPr>
              <a:t>本部で審査</a:t>
            </a:r>
            <a:endParaRPr lang="en-US" sz="1000" dirty="0"/>
          </a:p>
        </p:txBody>
      </p:sp>
      <p:sp>
        <p:nvSpPr>
          <p:cNvPr id="27" name="Shape 21"/>
          <p:cNvSpPr/>
          <p:nvPr/>
        </p:nvSpPr>
        <p:spPr>
          <a:xfrm rot="5400000">
            <a:off x="4871009" y="4215384"/>
            <a:ext cx="201168" cy="201168"/>
          </a:xfrm>
          <a:prstGeom prst="triangle">
            <a:avLst/>
          </a:prstGeom>
          <a:solidFill>
            <a:srgbClr val="C9BFA6"/>
          </a:solidFill>
          <a:ln/>
        </p:spPr>
      </p:sp>
      <p:sp>
        <p:nvSpPr>
          <p:cNvPr id="28" name="Shape 22"/>
          <p:cNvSpPr/>
          <p:nvPr/>
        </p:nvSpPr>
        <p:spPr>
          <a:xfrm>
            <a:off x="5163617" y="2871216"/>
            <a:ext cx="1864462" cy="2889504"/>
          </a:xfrm>
          <a:prstGeom prst="roundRect">
            <a:avLst>
              <a:gd name="adj" fmla="val 3433"/>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29" name="Shape 23"/>
          <p:cNvSpPr/>
          <p:nvPr/>
        </p:nvSpPr>
        <p:spPr>
          <a:xfrm>
            <a:off x="5903824" y="3108960"/>
            <a:ext cx="384048" cy="384048"/>
          </a:xfrm>
          <a:prstGeom prst="roundRect">
            <a:avLst>
              <a:gd name="adj" fmla="val 21429"/>
            </a:avLst>
          </a:prstGeom>
          <a:solidFill>
            <a:srgbClr val="1B5E20"/>
          </a:solidFill>
          <a:ln/>
        </p:spPr>
      </p:sp>
      <p:sp>
        <p:nvSpPr>
          <p:cNvPr id="30" name="Text 24"/>
          <p:cNvSpPr/>
          <p:nvPr/>
        </p:nvSpPr>
        <p:spPr>
          <a:xfrm>
            <a:off x="5903824" y="31089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03</a:t>
            </a:r>
            <a:endParaRPr lang="en-US" sz="1200" dirty="0"/>
          </a:p>
        </p:txBody>
      </p:sp>
      <p:sp>
        <p:nvSpPr>
          <p:cNvPr id="31" name="Shape 25"/>
          <p:cNvSpPr/>
          <p:nvPr/>
        </p:nvSpPr>
        <p:spPr>
          <a:xfrm>
            <a:off x="5711800" y="3639312"/>
            <a:ext cx="768096" cy="768096"/>
          </a:xfrm>
          <a:prstGeom prst="ellipse">
            <a:avLst/>
          </a:prstGeom>
          <a:solidFill>
            <a:srgbClr val="F0F5EF"/>
          </a:solidFill>
          <a:ln/>
        </p:spPr>
      </p:sp>
      <p:pic>
        <p:nvPicPr>
          <p:cNvPr id="32" name="Image 4" descr="/home/user/suzuki-ceo/selfcafe-fc-deck/assets/icons/LuPenLine-green.png">    </p:cNvPr>
          <p:cNvPicPr>
            <a:picLocks noChangeAspect="1"/>
          </p:cNvPicPr>
          <p:nvPr/>
        </p:nvPicPr>
        <p:blipFill>
          <a:blip r:embed="rId5"/>
          <a:stretch>
            <a:fillRect/>
          </a:stretch>
        </p:blipFill>
        <p:spPr>
          <a:xfrm>
            <a:off x="5885536" y="3813048"/>
            <a:ext cx="420624" cy="420624"/>
          </a:xfrm>
          <a:prstGeom prst="rect">
            <a:avLst/>
          </a:prstGeom>
        </p:spPr>
      </p:pic>
      <p:sp>
        <p:nvSpPr>
          <p:cNvPr id="33" name="Text 26"/>
          <p:cNvSpPr/>
          <p:nvPr/>
        </p:nvSpPr>
        <p:spPr>
          <a:xfrm>
            <a:off x="5273345" y="4718304"/>
            <a:ext cx="1645006" cy="365760"/>
          </a:xfrm>
          <a:prstGeom prst="rect">
            <a:avLst/>
          </a:prstGeom>
          <a:noFill/>
          <a:ln/>
        </p:spPr>
        <p:txBody>
          <a:bodyPr wrap="square" lIns="0" tIns="0" rIns="0" bIns="0" rtlCol="0" anchor="ctr"/>
          <a:lstStyle/>
          <a:p>
            <a:pPr algn="ctr" indent="0" marL="0">
              <a:buNone/>
            </a:pPr>
            <a:r>
              <a:rPr lang="en-US" sz="1550" b="1" dirty="0">
                <a:solidFill>
                  <a:srgbClr val="1B5E20"/>
                </a:solidFill>
                <a:latin typeface="Noto Sans JP" pitchFamily="34" charset="0"/>
                <a:ea typeface="Noto Sans JP" pitchFamily="34" charset="-122"/>
                <a:cs typeface="Noto Sans JP" pitchFamily="34" charset="-120"/>
              </a:rPr>
              <a:t>加盟申込み</a:t>
            </a:r>
            <a:endParaRPr lang="en-US" sz="1550" dirty="0"/>
          </a:p>
        </p:txBody>
      </p:sp>
      <p:sp>
        <p:nvSpPr>
          <p:cNvPr id="34" name="Text 27"/>
          <p:cNvSpPr/>
          <p:nvPr/>
        </p:nvSpPr>
        <p:spPr>
          <a:xfrm>
            <a:off x="5255057" y="5102352"/>
            <a:ext cx="1681582" cy="530352"/>
          </a:xfrm>
          <a:prstGeom prst="rect">
            <a:avLst/>
          </a:prstGeom>
          <a:noFill/>
          <a:ln/>
        </p:spPr>
        <p:txBody>
          <a:bodyPr wrap="square" lIns="0" tIns="0" rIns="0" bIns="0" rtlCol="0" anchor="t"/>
          <a:lstStyle/>
          <a:p>
            <a:pPr algn="ctr" indent="0" marL="0">
              <a:lnSpc>
                <a:spcPct val="125000"/>
              </a:lnSpc>
              <a:buNone/>
            </a:pPr>
            <a:r>
              <a:rPr lang="en-US" sz="1000" dirty="0">
                <a:solidFill>
                  <a:srgbClr val="6E6A61"/>
                </a:solidFill>
                <a:latin typeface="Noto Sans JP" pitchFamily="34" charset="0"/>
                <a:ea typeface="Noto Sans JP" pitchFamily="34" charset="-122"/>
                <a:cs typeface="Noto Sans JP" pitchFamily="34" charset="-120"/>
              </a:rPr>
              <a:t>契約締結と</a:t>
            </a:r>
            <a:endParaRPr lang="en-US" sz="1000" dirty="0"/>
          </a:p>
          <a:p>
            <a:pPr algn="ctr" indent="0" marL="0">
              <a:lnSpc>
                <a:spcPct val="125000"/>
              </a:lnSpc>
              <a:buNone/>
            </a:pPr>
            <a:r>
              <a:rPr lang="en-US" sz="1000" dirty="0">
                <a:solidFill>
                  <a:srgbClr val="6E6A61"/>
                </a:solidFill>
                <a:latin typeface="Noto Sans JP" pitchFamily="34" charset="0"/>
                <a:ea typeface="Noto Sans JP" pitchFamily="34" charset="-122"/>
                <a:cs typeface="Noto Sans JP" pitchFamily="34" charset="-120"/>
              </a:rPr>
              <a:t>設置場所の確定</a:t>
            </a:r>
            <a:endParaRPr lang="en-US" sz="1000" dirty="0"/>
          </a:p>
        </p:txBody>
      </p:sp>
      <p:sp>
        <p:nvSpPr>
          <p:cNvPr id="35" name="Shape 28"/>
          <p:cNvSpPr/>
          <p:nvPr/>
        </p:nvSpPr>
        <p:spPr>
          <a:xfrm rot="5400000">
            <a:off x="7119518" y="4215384"/>
            <a:ext cx="201168" cy="201168"/>
          </a:xfrm>
          <a:prstGeom prst="triangle">
            <a:avLst/>
          </a:prstGeom>
          <a:solidFill>
            <a:srgbClr val="C9BFA6"/>
          </a:solidFill>
          <a:ln/>
        </p:spPr>
      </p:sp>
      <p:sp>
        <p:nvSpPr>
          <p:cNvPr id="36" name="Shape 29"/>
          <p:cNvSpPr/>
          <p:nvPr/>
        </p:nvSpPr>
        <p:spPr>
          <a:xfrm>
            <a:off x="7412126" y="2871216"/>
            <a:ext cx="1864462" cy="2889504"/>
          </a:xfrm>
          <a:prstGeom prst="roundRect">
            <a:avLst>
              <a:gd name="adj" fmla="val 3433"/>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37" name="Shape 30"/>
          <p:cNvSpPr/>
          <p:nvPr/>
        </p:nvSpPr>
        <p:spPr>
          <a:xfrm>
            <a:off x="8152333" y="3108960"/>
            <a:ext cx="384048" cy="384048"/>
          </a:xfrm>
          <a:prstGeom prst="roundRect">
            <a:avLst>
              <a:gd name="adj" fmla="val 21429"/>
            </a:avLst>
          </a:prstGeom>
          <a:solidFill>
            <a:srgbClr val="1B5E20"/>
          </a:solidFill>
          <a:ln/>
        </p:spPr>
      </p:sp>
      <p:sp>
        <p:nvSpPr>
          <p:cNvPr id="38" name="Text 31"/>
          <p:cNvSpPr/>
          <p:nvPr/>
        </p:nvSpPr>
        <p:spPr>
          <a:xfrm>
            <a:off x="8152333" y="31089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04</a:t>
            </a:r>
            <a:endParaRPr lang="en-US" sz="1200" dirty="0"/>
          </a:p>
        </p:txBody>
      </p:sp>
      <p:sp>
        <p:nvSpPr>
          <p:cNvPr id="39" name="Shape 32"/>
          <p:cNvSpPr/>
          <p:nvPr/>
        </p:nvSpPr>
        <p:spPr>
          <a:xfrm>
            <a:off x="7960309" y="3639312"/>
            <a:ext cx="768096" cy="768096"/>
          </a:xfrm>
          <a:prstGeom prst="ellipse">
            <a:avLst/>
          </a:prstGeom>
          <a:solidFill>
            <a:srgbClr val="F0F5EF"/>
          </a:solidFill>
          <a:ln/>
        </p:spPr>
      </p:sp>
      <p:pic>
        <p:nvPicPr>
          <p:cNvPr id="40" name="Image 5" descr="/home/user/suzuki-ceo/selfcafe-fc-deck/assets/icons/LuHammer-green.png">    </p:cNvPr>
          <p:cNvPicPr>
            <a:picLocks noChangeAspect="1"/>
          </p:cNvPicPr>
          <p:nvPr/>
        </p:nvPicPr>
        <p:blipFill>
          <a:blip r:embed="rId6"/>
          <a:stretch>
            <a:fillRect/>
          </a:stretch>
        </p:blipFill>
        <p:spPr>
          <a:xfrm>
            <a:off x="8134045" y="3813048"/>
            <a:ext cx="420624" cy="420624"/>
          </a:xfrm>
          <a:prstGeom prst="rect">
            <a:avLst/>
          </a:prstGeom>
        </p:spPr>
      </p:pic>
      <p:sp>
        <p:nvSpPr>
          <p:cNvPr id="41" name="Text 33"/>
          <p:cNvSpPr/>
          <p:nvPr/>
        </p:nvSpPr>
        <p:spPr>
          <a:xfrm>
            <a:off x="7521854" y="4718304"/>
            <a:ext cx="1645006" cy="365760"/>
          </a:xfrm>
          <a:prstGeom prst="rect">
            <a:avLst/>
          </a:prstGeom>
          <a:noFill/>
          <a:ln/>
        </p:spPr>
        <p:txBody>
          <a:bodyPr wrap="square" lIns="0" tIns="0" rIns="0" bIns="0" rtlCol="0" anchor="ctr"/>
          <a:lstStyle/>
          <a:p>
            <a:pPr algn="ctr" indent="0" marL="0">
              <a:buNone/>
            </a:pPr>
            <a:r>
              <a:rPr lang="en-US" sz="1550" b="1" dirty="0">
                <a:solidFill>
                  <a:srgbClr val="1B5E20"/>
                </a:solidFill>
                <a:latin typeface="Noto Sans JP" pitchFamily="34" charset="0"/>
                <a:ea typeface="Noto Sans JP" pitchFamily="34" charset="-122"/>
                <a:cs typeface="Noto Sans JP" pitchFamily="34" charset="-120"/>
              </a:rPr>
              <a:t>工事</a:t>
            </a:r>
            <a:endParaRPr lang="en-US" sz="1550" dirty="0"/>
          </a:p>
        </p:txBody>
      </p:sp>
      <p:sp>
        <p:nvSpPr>
          <p:cNvPr id="42" name="Text 34"/>
          <p:cNvSpPr/>
          <p:nvPr/>
        </p:nvSpPr>
        <p:spPr>
          <a:xfrm>
            <a:off x="7503566" y="5102352"/>
            <a:ext cx="1681582" cy="530352"/>
          </a:xfrm>
          <a:prstGeom prst="rect">
            <a:avLst/>
          </a:prstGeom>
          <a:noFill/>
          <a:ln/>
        </p:spPr>
        <p:txBody>
          <a:bodyPr wrap="square" lIns="0" tIns="0" rIns="0" bIns="0" rtlCol="0" anchor="t"/>
          <a:lstStyle/>
          <a:p>
            <a:pPr algn="ctr" indent="0" marL="0">
              <a:lnSpc>
                <a:spcPct val="125000"/>
              </a:lnSpc>
              <a:buNone/>
            </a:pPr>
            <a:r>
              <a:rPr lang="en-US" sz="1000" dirty="0">
                <a:solidFill>
                  <a:srgbClr val="6E6A61"/>
                </a:solidFill>
                <a:latin typeface="Noto Sans JP" pitchFamily="34" charset="0"/>
                <a:ea typeface="Noto Sans JP" pitchFamily="34" charset="-122"/>
                <a:cs typeface="Noto Sans JP" pitchFamily="34" charset="-120"/>
              </a:rPr>
              <a:t>機器設置と</a:t>
            </a:r>
            <a:endParaRPr lang="en-US" sz="1000" dirty="0"/>
          </a:p>
          <a:p>
            <a:pPr algn="ctr" indent="0" marL="0">
              <a:lnSpc>
                <a:spcPct val="125000"/>
              </a:lnSpc>
              <a:buNone/>
            </a:pPr>
            <a:r>
              <a:rPr lang="en-US" sz="1000" dirty="0">
                <a:solidFill>
                  <a:srgbClr val="6E6A61"/>
                </a:solidFill>
                <a:latin typeface="Noto Sans JP" pitchFamily="34" charset="0"/>
                <a:ea typeface="Noto Sans JP" pitchFamily="34" charset="-122"/>
                <a:cs typeface="Noto Sans JP" pitchFamily="34" charset="-120"/>
              </a:rPr>
              <a:t>システム導入</a:t>
            </a:r>
            <a:endParaRPr lang="en-US" sz="1000" dirty="0"/>
          </a:p>
        </p:txBody>
      </p:sp>
      <p:sp>
        <p:nvSpPr>
          <p:cNvPr id="43" name="Shape 35"/>
          <p:cNvSpPr/>
          <p:nvPr/>
        </p:nvSpPr>
        <p:spPr>
          <a:xfrm rot="5400000">
            <a:off x="9368028" y="4215384"/>
            <a:ext cx="201168" cy="201168"/>
          </a:xfrm>
          <a:prstGeom prst="triangle">
            <a:avLst/>
          </a:prstGeom>
          <a:solidFill>
            <a:srgbClr val="C9BFA6"/>
          </a:solidFill>
          <a:ln/>
        </p:spPr>
      </p:sp>
      <p:sp>
        <p:nvSpPr>
          <p:cNvPr id="44" name="Shape 36"/>
          <p:cNvSpPr/>
          <p:nvPr/>
        </p:nvSpPr>
        <p:spPr>
          <a:xfrm>
            <a:off x="9660636" y="2871216"/>
            <a:ext cx="1864462" cy="2889504"/>
          </a:xfrm>
          <a:prstGeom prst="roundRect">
            <a:avLst>
              <a:gd name="adj" fmla="val 4414"/>
            </a:avLst>
          </a:prstGeom>
          <a:solidFill>
            <a:srgbClr val="12401A"/>
          </a:solidFill>
          <a:ln/>
          <a:effectLst>
            <a:outerShdw sx="100000" sy="100000" kx="0" ky="0" algn="bl" rotWithShape="0" blurRad="114300" dist="17780" dir="5400000">
              <a:srgbClr val="6B6250">
                <a:alpha val="14000"/>
              </a:srgbClr>
            </a:outerShdw>
          </a:effectLst>
        </p:spPr>
      </p:sp>
      <p:sp>
        <p:nvSpPr>
          <p:cNvPr id="45" name="Shape 37"/>
          <p:cNvSpPr/>
          <p:nvPr/>
        </p:nvSpPr>
        <p:spPr>
          <a:xfrm>
            <a:off x="10400843" y="3108960"/>
            <a:ext cx="384048" cy="384048"/>
          </a:xfrm>
          <a:prstGeom prst="roundRect">
            <a:avLst>
              <a:gd name="adj" fmla="val 21429"/>
            </a:avLst>
          </a:prstGeom>
          <a:solidFill>
            <a:srgbClr val="2C6B34"/>
          </a:solidFill>
          <a:ln/>
        </p:spPr>
      </p:sp>
      <p:sp>
        <p:nvSpPr>
          <p:cNvPr id="46" name="Text 38"/>
          <p:cNvSpPr/>
          <p:nvPr/>
        </p:nvSpPr>
        <p:spPr>
          <a:xfrm>
            <a:off x="10400843" y="31089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05</a:t>
            </a:r>
            <a:endParaRPr lang="en-US" sz="1200" dirty="0"/>
          </a:p>
        </p:txBody>
      </p:sp>
      <p:sp>
        <p:nvSpPr>
          <p:cNvPr id="47" name="Shape 39"/>
          <p:cNvSpPr/>
          <p:nvPr/>
        </p:nvSpPr>
        <p:spPr>
          <a:xfrm>
            <a:off x="10208819" y="3639312"/>
            <a:ext cx="768096" cy="768096"/>
          </a:xfrm>
          <a:prstGeom prst="ellipse">
            <a:avLst/>
          </a:prstGeom>
          <a:solidFill>
            <a:srgbClr val="1D5624"/>
          </a:solidFill>
          <a:ln/>
        </p:spPr>
      </p:sp>
      <p:pic>
        <p:nvPicPr>
          <p:cNvPr id="48" name="Image 6" descr="/home/user/suzuki-ceo/selfcafe-fc-deck/assets/icons/LuStore-white.png">    </p:cNvPr>
          <p:cNvPicPr>
            <a:picLocks noChangeAspect="1"/>
          </p:cNvPicPr>
          <p:nvPr/>
        </p:nvPicPr>
        <p:blipFill>
          <a:blip r:embed="rId7"/>
          <a:stretch>
            <a:fillRect/>
          </a:stretch>
        </p:blipFill>
        <p:spPr>
          <a:xfrm>
            <a:off x="10382555" y="3813048"/>
            <a:ext cx="420624" cy="420624"/>
          </a:xfrm>
          <a:prstGeom prst="rect">
            <a:avLst/>
          </a:prstGeom>
        </p:spPr>
      </p:pic>
      <p:sp>
        <p:nvSpPr>
          <p:cNvPr id="49" name="Text 40"/>
          <p:cNvSpPr/>
          <p:nvPr/>
        </p:nvSpPr>
        <p:spPr>
          <a:xfrm>
            <a:off x="9770364" y="4718304"/>
            <a:ext cx="1645006" cy="365760"/>
          </a:xfrm>
          <a:prstGeom prst="rect">
            <a:avLst/>
          </a:prstGeom>
          <a:noFill/>
          <a:ln/>
        </p:spPr>
        <p:txBody>
          <a:bodyPr wrap="square" lIns="0" tIns="0" rIns="0" bIns="0" rtlCol="0" anchor="ctr"/>
          <a:lstStyle/>
          <a:p>
            <a:pPr algn="ctr" indent="0" marL="0">
              <a:buNone/>
            </a:pPr>
            <a:r>
              <a:rPr lang="en-US" sz="1550" b="1" dirty="0">
                <a:solidFill>
                  <a:srgbClr val="FFFFFF"/>
                </a:solidFill>
                <a:latin typeface="Noto Sans JP" pitchFamily="34" charset="0"/>
                <a:ea typeface="Noto Sans JP" pitchFamily="34" charset="-122"/>
                <a:cs typeface="Noto Sans JP" pitchFamily="34" charset="-120"/>
              </a:rPr>
              <a:t>運営開始</a:t>
            </a:r>
            <a:endParaRPr lang="en-US" sz="1550" dirty="0"/>
          </a:p>
        </p:txBody>
      </p:sp>
      <p:sp>
        <p:nvSpPr>
          <p:cNvPr id="50" name="Text 41"/>
          <p:cNvSpPr/>
          <p:nvPr/>
        </p:nvSpPr>
        <p:spPr>
          <a:xfrm>
            <a:off x="9752076" y="5102352"/>
            <a:ext cx="1681582" cy="530352"/>
          </a:xfrm>
          <a:prstGeom prst="rect">
            <a:avLst/>
          </a:prstGeom>
          <a:noFill/>
          <a:ln/>
        </p:spPr>
        <p:txBody>
          <a:bodyPr wrap="square" lIns="0" tIns="0" rIns="0" bIns="0" rtlCol="0" anchor="t"/>
          <a:lstStyle/>
          <a:p>
            <a:pPr algn="ctr" indent="0" marL="0">
              <a:lnSpc>
                <a:spcPct val="125000"/>
              </a:lnSpc>
              <a:buNone/>
            </a:pPr>
            <a:r>
              <a:rPr lang="en-US" sz="1000" dirty="0">
                <a:solidFill>
                  <a:srgbClr val="A9C6AC"/>
                </a:solidFill>
                <a:latin typeface="Noto Sans JP" pitchFamily="34" charset="0"/>
                <a:ea typeface="Noto Sans JP" pitchFamily="34" charset="-122"/>
                <a:cs typeface="Noto Sans JP" pitchFamily="34" charset="-120"/>
              </a:rPr>
              <a:t>研修を経て</a:t>
            </a:r>
            <a:endParaRPr lang="en-US" sz="1000" dirty="0"/>
          </a:p>
          <a:p>
            <a:pPr algn="ctr" indent="0" marL="0">
              <a:lnSpc>
                <a:spcPct val="125000"/>
              </a:lnSpc>
              <a:buNone/>
            </a:pPr>
            <a:r>
              <a:rPr lang="en-US" sz="1000" dirty="0">
                <a:solidFill>
                  <a:srgbClr val="A9C6AC"/>
                </a:solidFill>
                <a:latin typeface="Noto Sans JP" pitchFamily="34" charset="0"/>
                <a:ea typeface="Noto Sans JP" pitchFamily="34" charset="-122"/>
                <a:cs typeface="Noto Sans JP" pitchFamily="34" charset="-120"/>
              </a:rPr>
              <a:t>オープン</a:t>
            </a:r>
            <a:endParaRPr lang="en-US" sz="1000" dirty="0"/>
          </a:p>
        </p:txBody>
      </p:sp>
      <p:sp>
        <p:nvSpPr>
          <p:cNvPr id="51" name="Text 42"/>
          <p:cNvSpPr/>
          <p:nvPr/>
        </p:nvSpPr>
        <p:spPr>
          <a:xfrm>
            <a:off x="666598" y="5961888"/>
            <a:ext cx="10858500" cy="219456"/>
          </a:xfrm>
          <a:prstGeom prst="rect">
            <a:avLst/>
          </a:prstGeom>
          <a:noFill/>
          <a:ln/>
        </p:spPr>
        <p:txBody>
          <a:bodyPr wrap="square" lIns="0" tIns="0" rIns="0" bIns="0" rtlCol="0" anchor="ctr"/>
          <a:lstStyle/>
          <a:p>
            <a:pPr indent="0" marL="0">
              <a:buNone/>
            </a:pPr>
            <a:r>
              <a:rPr lang="en-US" sz="950" dirty="0">
                <a:solidFill>
                  <a:srgbClr val="9A948A"/>
                </a:solidFill>
                <a:latin typeface="Noto Sans JP" pitchFamily="34" charset="0"/>
                <a:ea typeface="Noto Sans JP" pitchFamily="34" charset="-122"/>
                <a:cs typeface="Noto Sans JP" pitchFamily="34" charset="-120"/>
              </a:rPr>
              <a:t>※工事内容・立地条件により期間は変動します。</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CF5"/>
        </a:solidFill>
      </p:bgPr>
    </p:bg>
    <p:spTree>
      <p:nvGrpSpPr>
        <p:cNvPr id="1" name=""/>
        <p:cNvGrpSpPr/>
        <p:nvPr/>
      </p:nvGrpSpPr>
      <p:grpSpPr>
        <a:xfrm>
          <a:off x="0" y="0"/>
          <a:ext cx="0" cy="0"/>
          <a:chOff x="0" y="0"/>
          <a:chExt cx="0" cy="0"/>
        </a:xfrm>
      </p:grpSpPr>
      <p:sp>
        <p:nvSpPr>
          <p:cNvPr id="2" name="Text 0"/>
          <p:cNvSpPr/>
          <p:nvPr/>
        </p:nvSpPr>
        <p:spPr>
          <a:xfrm>
            <a:off x="10610698" y="6345936"/>
            <a:ext cx="914400" cy="219456"/>
          </a:xfrm>
          <a:prstGeom prst="rect">
            <a:avLst/>
          </a:prstGeom>
          <a:noFill/>
          <a:ln/>
        </p:spPr>
        <p:txBody>
          <a:bodyPr wrap="square" lIns="0" tIns="0" rIns="0" bIns="0" rtlCol="0" anchor="ctr"/>
          <a:lstStyle/>
          <a:p>
            <a:pPr algn="r" indent="0" marL="0">
              <a:buNone/>
            </a:pPr>
            <a:r>
              <a:rPr lang="en-US" sz="1300" dirty="0">
                <a:solidFill>
                  <a:srgbClr val="000000"/>
                </a:solidFill>
                <a:latin typeface="Cambria" pitchFamily="34" charset="0"/>
                <a:ea typeface="Cambria" pitchFamily="34" charset="-122"/>
                <a:cs typeface="Cambria" pitchFamily="34" charset="-120"/>
              </a:rPr>
              <a:t>25</a:t>
            </a:r>
            <a:endParaRPr lang="en-US" sz="1300" dirty="0"/>
          </a:p>
        </p:txBody>
      </p:sp>
      <p:sp>
        <p:nvSpPr>
          <p:cNvPr id="3" name="Shape 1"/>
          <p:cNvSpPr/>
          <p:nvPr/>
        </p:nvSpPr>
        <p:spPr>
          <a:xfrm>
            <a:off x="666598" y="548640"/>
            <a:ext cx="10858500" cy="5577840"/>
          </a:xfrm>
          <a:prstGeom prst="roundRect">
            <a:avLst>
              <a:gd name="adj" fmla="val 1475"/>
            </a:avLst>
          </a:prstGeom>
          <a:solidFill>
            <a:srgbClr val="12401A"/>
          </a:solidFill>
          <a:ln/>
          <a:effectLst>
            <a:outerShdw sx="100000" sy="100000" kx="0" ky="0" algn="bl" rotWithShape="0" blurRad="114300" dist="17780" dir="5400000">
              <a:srgbClr val="6B6250">
                <a:alpha val="14000"/>
              </a:srgbClr>
            </a:outerShdw>
          </a:effectLst>
        </p:spPr>
      </p:sp>
      <p:pic>
        <p:nvPicPr>
          <p:cNvPr id="4" name="Image 0" descr="/home/user/suzuki-ceo/selfcafe-fc-deck/assets/logo_white.png">    </p:cNvPr>
          <p:cNvPicPr>
            <a:picLocks noChangeAspect="1"/>
          </p:cNvPicPr>
          <p:nvPr/>
        </p:nvPicPr>
        <p:blipFill>
          <a:blip r:embed="rId1"/>
          <a:stretch>
            <a:fillRect/>
          </a:stretch>
        </p:blipFill>
        <p:spPr>
          <a:xfrm>
            <a:off x="1398118" y="1042416"/>
            <a:ext cx="2432304" cy="345643"/>
          </a:xfrm>
          <a:prstGeom prst="rect">
            <a:avLst/>
          </a:prstGeom>
        </p:spPr>
      </p:pic>
      <p:sp>
        <p:nvSpPr>
          <p:cNvPr id="5" name="Text 2"/>
          <p:cNvSpPr/>
          <p:nvPr/>
        </p:nvSpPr>
        <p:spPr>
          <a:xfrm>
            <a:off x="1398118" y="1664208"/>
            <a:ext cx="6400800" cy="658368"/>
          </a:xfrm>
          <a:prstGeom prst="rect">
            <a:avLst/>
          </a:prstGeom>
          <a:noFill/>
          <a:ln/>
        </p:spPr>
        <p:txBody>
          <a:bodyPr wrap="square" lIns="0" tIns="0" rIns="0" bIns="0" rtlCol="0" anchor="ctr"/>
          <a:lstStyle/>
          <a:p>
            <a:pPr indent="0" marL="0">
              <a:buNone/>
            </a:pPr>
            <a:r>
              <a:rPr lang="en-US" sz="4000" b="1" dirty="0">
                <a:solidFill>
                  <a:srgbClr val="FFFFFF"/>
                </a:solidFill>
                <a:latin typeface="Noto Sans JP" pitchFamily="34" charset="0"/>
                <a:ea typeface="Noto Sans JP" pitchFamily="34" charset="-122"/>
                <a:cs typeface="Noto Sans JP" pitchFamily="34" charset="-120"/>
              </a:rPr>
              <a:t>お問い合わせ</a:t>
            </a:r>
            <a:endParaRPr lang="en-US" sz="4000" dirty="0"/>
          </a:p>
        </p:txBody>
      </p:sp>
      <p:sp>
        <p:nvSpPr>
          <p:cNvPr id="6" name="Text 3"/>
          <p:cNvSpPr/>
          <p:nvPr/>
        </p:nvSpPr>
        <p:spPr>
          <a:xfrm>
            <a:off x="1398118" y="2377440"/>
            <a:ext cx="6492240" cy="329184"/>
          </a:xfrm>
          <a:prstGeom prst="rect">
            <a:avLst/>
          </a:prstGeom>
          <a:noFill/>
          <a:ln/>
        </p:spPr>
        <p:txBody>
          <a:bodyPr wrap="square" lIns="0" tIns="0" rIns="0" bIns="0" rtlCol="0" anchor="ctr"/>
          <a:lstStyle/>
          <a:p>
            <a:pPr indent="0" marL="0">
              <a:buNone/>
            </a:pPr>
            <a:r>
              <a:rPr lang="en-US" sz="1400" dirty="0">
                <a:solidFill>
                  <a:srgbClr val="A9C6AC"/>
                </a:solidFill>
                <a:latin typeface="Noto Sans JP" pitchFamily="34" charset="0"/>
                <a:ea typeface="Noto Sans JP" pitchFamily="34" charset="-122"/>
                <a:cs typeface="Noto Sans JP" pitchFamily="34" charset="-120"/>
              </a:rPr>
              <a:t>会社名・ご氏名・ご連絡先をご記入の上、下記までご連絡ください。</a:t>
            </a:r>
            <a:endParaRPr lang="en-US" sz="1400" dirty="0"/>
          </a:p>
        </p:txBody>
      </p:sp>
      <p:sp>
        <p:nvSpPr>
          <p:cNvPr id="7" name="Shape 4"/>
          <p:cNvSpPr/>
          <p:nvPr/>
        </p:nvSpPr>
        <p:spPr>
          <a:xfrm>
            <a:off x="1398118" y="2926080"/>
            <a:ext cx="1280160" cy="19202"/>
          </a:xfrm>
          <a:prstGeom prst="rect">
            <a:avLst/>
          </a:prstGeom>
          <a:solidFill>
            <a:srgbClr val="A9C6AC"/>
          </a:solidFill>
          <a:ln/>
        </p:spPr>
      </p:sp>
      <p:sp>
        <p:nvSpPr>
          <p:cNvPr id="8" name="Shape 5"/>
          <p:cNvSpPr/>
          <p:nvPr/>
        </p:nvSpPr>
        <p:spPr>
          <a:xfrm>
            <a:off x="1398118" y="3291840"/>
            <a:ext cx="512064" cy="512064"/>
          </a:xfrm>
          <a:prstGeom prst="ellipse">
            <a:avLst/>
          </a:prstGeom>
          <a:solidFill>
            <a:srgbClr val="1D5624"/>
          </a:solidFill>
          <a:ln/>
        </p:spPr>
      </p:sp>
      <p:pic>
        <p:nvPicPr>
          <p:cNvPr id="9" name="Image 1" descr="/home/user/suzuki-ceo/selfcafe-fc-deck/assets/icons/LuPhone-white.png">    </p:cNvPr>
          <p:cNvPicPr>
            <a:picLocks noChangeAspect="1"/>
          </p:cNvPicPr>
          <p:nvPr/>
        </p:nvPicPr>
        <p:blipFill>
          <a:blip r:embed="rId2"/>
          <a:stretch>
            <a:fillRect/>
          </a:stretch>
        </p:blipFill>
        <p:spPr>
          <a:xfrm>
            <a:off x="1544422" y="3438144"/>
            <a:ext cx="219456" cy="219456"/>
          </a:xfrm>
          <a:prstGeom prst="rect">
            <a:avLst/>
          </a:prstGeom>
        </p:spPr>
      </p:pic>
      <p:sp>
        <p:nvSpPr>
          <p:cNvPr id="10" name="Text 6"/>
          <p:cNvSpPr/>
          <p:nvPr/>
        </p:nvSpPr>
        <p:spPr>
          <a:xfrm>
            <a:off x="2074774" y="3291840"/>
            <a:ext cx="1060704" cy="512064"/>
          </a:xfrm>
          <a:prstGeom prst="rect">
            <a:avLst/>
          </a:prstGeom>
          <a:noFill/>
          <a:ln/>
        </p:spPr>
        <p:txBody>
          <a:bodyPr wrap="square" lIns="0" tIns="0" rIns="0" bIns="0" rtlCol="0" anchor="ctr"/>
          <a:lstStyle/>
          <a:p>
            <a:pPr indent="0" marL="0">
              <a:buNone/>
            </a:pPr>
            <a:r>
              <a:rPr lang="en-US" sz="1100" dirty="0">
                <a:solidFill>
                  <a:srgbClr val="A9C6AC"/>
                </a:solidFill>
                <a:latin typeface="Noto Sans JP" pitchFamily="34" charset="0"/>
                <a:ea typeface="Noto Sans JP" pitchFamily="34" charset="-122"/>
                <a:cs typeface="Noto Sans JP" pitchFamily="34" charset="-120"/>
              </a:rPr>
              <a:t>お電話</a:t>
            </a:r>
            <a:endParaRPr lang="en-US" sz="1100" dirty="0"/>
          </a:p>
        </p:txBody>
      </p:sp>
      <p:sp>
        <p:nvSpPr>
          <p:cNvPr id="11" name="Text 7"/>
          <p:cNvSpPr/>
          <p:nvPr/>
        </p:nvSpPr>
        <p:spPr>
          <a:xfrm>
            <a:off x="3135478" y="3291840"/>
            <a:ext cx="4846320" cy="512064"/>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XXX-XXXX-XXXX（担当：XXX）</a:t>
            </a:r>
            <a:endParaRPr lang="en-US" sz="1700" dirty="0"/>
          </a:p>
        </p:txBody>
      </p:sp>
      <p:sp>
        <p:nvSpPr>
          <p:cNvPr id="12" name="Shape 8"/>
          <p:cNvSpPr/>
          <p:nvPr/>
        </p:nvSpPr>
        <p:spPr>
          <a:xfrm>
            <a:off x="1398118" y="4078224"/>
            <a:ext cx="512064" cy="512064"/>
          </a:xfrm>
          <a:prstGeom prst="ellipse">
            <a:avLst/>
          </a:prstGeom>
          <a:solidFill>
            <a:srgbClr val="1D5624"/>
          </a:solidFill>
          <a:ln/>
        </p:spPr>
      </p:sp>
      <p:pic>
        <p:nvPicPr>
          <p:cNvPr id="13" name="Image 2" descr="/home/user/suzuki-ceo/selfcafe-fc-deck/assets/icons/LuMail-white.png">    </p:cNvPr>
          <p:cNvPicPr>
            <a:picLocks noChangeAspect="1"/>
          </p:cNvPicPr>
          <p:nvPr/>
        </p:nvPicPr>
        <p:blipFill>
          <a:blip r:embed="rId3"/>
          <a:stretch>
            <a:fillRect/>
          </a:stretch>
        </p:blipFill>
        <p:spPr>
          <a:xfrm>
            <a:off x="1544422" y="4224528"/>
            <a:ext cx="219456" cy="219456"/>
          </a:xfrm>
          <a:prstGeom prst="rect">
            <a:avLst/>
          </a:prstGeom>
        </p:spPr>
      </p:pic>
      <p:sp>
        <p:nvSpPr>
          <p:cNvPr id="14" name="Text 9"/>
          <p:cNvSpPr/>
          <p:nvPr/>
        </p:nvSpPr>
        <p:spPr>
          <a:xfrm>
            <a:off x="2074774" y="4078224"/>
            <a:ext cx="1060704" cy="512064"/>
          </a:xfrm>
          <a:prstGeom prst="rect">
            <a:avLst/>
          </a:prstGeom>
          <a:noFill/>
          <a:ln/>
        </p:spPr>
        <p:txBody>
          <a:bodyPr wrap="square" lIns="0" tIns="0" rIns="0" bIns="0" rtlCol="0" anchor="ctr"/>
          <a:lstStyle/>
          <a:p>
            <a:pPr indent="0" marL="0">
              <a:buNone/>
            </a:pPr>
            <a:r>
              <a:rPr lang="en-US" sz="1100" dirty="0">
                <a:solidFill>
                  <a:srgbClr val="A9C6AC"/>
                </a:solidFill>
                <a:latin typeface="Noto Sans JP" pitchFamily="34" charset="0"/>
                <a:ea typeface="Noto Sans JP" pitchFamily="34" charset="-122"/>
                <a:cs typeface="Noto Sans JP" pitchFamily="34" charset="-120"/>
              </a:rPr>
              <a:t>メール</a:t>
            </a:r>
            <a:endParaRPr lang="en-US" sz="1100" dirty="0"/>
          </a:p>
        </p:txBody>
      </p:sp>
      <p:sp>
        <p:nvSpPr>
          <p:cNvPr id="15" name="Text 10"/>
          <p:cNvSpPr/>
          <p:nvPr/>
        </p:nvSpPr>
        <p:spPr>
          <a:xfrm>
            <a:off x="3135478" y="4078224"/>
            <a:ext cx="4846320" cy="512064"/>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aaaaa@aaaa.aaa</a:t>
            </a:r>
            <a:endParaRPr lang="en-US" sz="1700" dirty="0"/>
          </a:p>
        </p:txBody>
      </p:sp>
      <p:sp>
        <p:nvSpPr>
          <p:cNvPr id="16" name="Shape 11"/>
          <p:cNvSpPr/>
          <p:nvPr/>
        </p:nvSpPr>
        <p:spPr>
          <a:xfrm>
            <a:off x="1398118" y="4864608"/>
            <a:ext cx="512064" cy="512064"/>
          </a:xfrm>
          <a:prstGeom prst="ellipse">
            <a:avLst/>
          </a:prstGeom>
          <a:solidFill>
            <a:srgbClr val="1D5624"/>
          </a:solidFill>
          <a:ln/>
        </p:spPr>
      </p:sp>
      <p:pic>
        <p:nvPicPr>
          <p:cNvPr id="17" name="Image 3" descr="/home/user/suzuki-ceo/selfcafe-fc-deck/assets/icons/LuGlobe-white.png">    </p:cNvPr>
          <p:cNvPicPr>
            <a:picLocks noChangeAspect="1"/>
          </p:cNvPicPr>
          <p:nvPr/>
        </p:nvPicPr>
        <p:blipFill>
          <a:blip r:embed="rId4"/>
          <a:stretch>
            <a:fillRect/>
          </a:stretch>
        </p:blipFill>
        <p:spPr>
          <a:xfrm>
            <a:off x="1544422" y="5010912"/>
            <a:ext cx="219456" cy="219456"/>
          </a:xfrm>
          <a:prstGeom prst="rect">
            <a:avLst/>
          </a:prstGeom>
        </p:spPr>
      </p:pic>
      <p:sp>
        <p:nvSpPr>
          <p:cNvPr id="18" name="Text 12"/>
          <p:cNvSpPr/>
          <p:nvPr/>
        </p:nvSpPr>
        <p:spPr>
          <a:xfrm>
            <a:off x="2074774" y="4864608"/>
            <a:ext cx="1060704" cy="512064"/>
          </a:xfrm>
          <a:prstGeom prst="rect">
            <a:avLst/>
          </a:prstGeom>
          <a:noFill/>
          <a:ln/>
        </p:spPr>
        <p:txBody>
          <a:bodyPr wrap="square" lIns="0" tIns="0" rIns="0" bIns="0" rtlCol="0" anchor="ctr"/>
          <a:lstStyle/>
          <a:p>
            <a:pPr indent="0" marL="0">
              <a:buNone/>
            </a:pPr>
            <a:r>
              <a:rPr lang="en-US" sz="1100" dirty="0">
                <a:solidFill>
                  <a:srgbClr val="A9C6AC"/>
                </a:solidFill>
                <a:latin typeface="Noto Sans JP" pitchFamily="34" charset="0"/>
                <a:ea typeface="Noto Sans JP" pitchFamily="34" charset="-122"/>
                <a:cs typeface="Noto Sans JP" pitchFamily="34" charset="-120"/>
              </a:rPr>
              <a:t>公式HP</a:t>
            </a:r>
            <a:endParaRPr lang="en-US" sz="1100" dirty="0"/>
          </a:p>
        </p:txBody>
      </p:sp>
      <p:sp>
        <p:nvSpPr>
          <p:cNvPr id="19" name="Text 13"/>
          <p:cNvSpPr/>
          <p:nvPr/>
        </p:nvSpPr>
        <p:spPr>
          <a:xfrm>
            <a:off x="3135478" y="4864608"/>
            <a:ext cx="4846320" cy="512064"/>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https://selfcafe.jp/</a:t>
            </a:r>
            <a:endParaRPr lang="en-US" sz="1700" dirty="0"/>
          </a:p>
        </p:txBody>
      </p:sp>
      <p:pic>
        <p:nvPicPr>
          <p:cNvPr id="20" name="Image 4" descr="/home/user/suzuki-ceo/selfcafe-fc-deck/assets/photos/store-morioka.jpg">    </p:cNvPr>
          <p:cNvPicPr>
            <a:picLocks noChangeAspect="1"/>
          </p:cNvPicPr>
          <p:nvPr/>
        </p:nvPicPr>
        <p:blipFill>
          <a:blip r:embed="rId5"/>
          <a:srcRect l="0" r="0" t="0" b="0"/>
          <a:stretch/>
        </p:blipFill>
        <p:spPr>
          <a:xfrm>
            <a:off x="8256118" y="1042416"/>
            <a:ext cx="2560320" cy="4590288"/>
          </a:xfrm>
          <a:prstGeom prst="rect">
            <a:avLst/>
          </a:prstGeom>
        </p:spPr>
      </p:pic>
      <p:sp>
        <p:nvSpPr>
          <p:cNvPr id="21" name="Shape 14"/>
          <p:cNvSpPr/>
          <p:nvPr/>
        </p:nvSpPr>
        <p:spPr>
          <a:xfrm>
            <a:off x="8256118" y="1042416"/>
            <a:ext cx="2560320" cy="4590288"/>
          </a:xfrm>
          <a:prstGeom prst="rect">
            <a:avLst/>
          </a:prstGeom>
          <a:ln w="12700">
            <a:solidFill>
              <a:srgbClr val="D8CFBB"/>
            </a:solidFill>
            <a:prstDash val="solid"/>
          </a:ln>
        </p:spPr>
      </p:sp>
      <p:sp>
        <p:nvSpPr>
          <p:cNvPr id="22" name="Shape 15"/>
          <p:cNvSpPr/>
          <p:nvPr/>
        </p:nvSpPr>
        <p:spPr>
          <a:xfrm>
            <a:off x="8365846" y="5193792"/>
            <a:ext cx="1577340" cy="329184"/>
          </a:xfrm>
          <a:prstGeom prst="roundRect">
            <a:avLst>
              <a:gd name="adj" fmla="val 13889"/>
            </a:avLst>
          </a:prstGeom>
          <a:solidFill>
            <a:srgbClr val="FFFFFF">
              <a:alpha val="90000"/>
            </a:srgbClr>
          </a:solidFill>
          <a:ln/>
        </p:spPr>
      </p:sp>
      <p:sp>
        <p:nvSpPr>
          <p:cNvPr id="23" name="Text 16"/>
          <p:cNvSpPr/>
          <p:nvPr/>
        </p:nvSpPr>
        <p:spPr>
          <a:xfrm>
            <a:off x="8512150" y="5193792"/>
            <a:ext cx="1321308" cy="329184"/>
          </a:xfrm>
          <a:prstGeom prst="rect">
            <a:avLst/>
          </a:prstGeom>
          <a:noFill/>
          <a:ln/>
        </p:spPr>
        <p:txBody>
          <a:bodyPr wrap="square" lIns="0" tIns="0" rIns="0" bIns="0" rtlCol="0" anchor="ctr"/>
          <a:lstStyle/>
          <a:p>
            <a:pPr indent="0" marL="0">
              <a:buNone/>
            </a:pPr>
            <a:r>
              <a:rPr lang="en-US" sz="1000" b="1" dirty="0">
                <a:solidFill>
                  <a:srgbClr val="3B3833"/>
                </a:solidFill>
                <a:latin typeface="Noto Sans JP" pitchFamily="34" charset="0"/>
                <a:ea typeface="Noto Sans JP" pitchFamily="34" charset="-122"/>
                <a:cs typeface="Noto Sans JP" pitchFamily="34" charset="-120"/>
              </a:rPr>
              <a:t>セルフカフェ 店内</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セルフカフェ 業務委託型制度</dc:title>
  <dc:subject>PptxGenJS Presentation</dc:subject>
  <dc:creator>セルフカフェ株式会社</dc:creator>
  <cp:lastModifiedBy>セルフカフェ株式会社</cp:lastModifiedBy>
  <cp:revision>1</cp:revision>
  <dcterms:created xsi:type="dcterms:W3CDTF">2026-08-25T02:50:04Z</dcterms:created>
  <dcterms:modified xsi:type="dcterms:W3CDTF">2026-08-25T02:50:04Z</dcterms:modified>
</cp:coreProperties>
</file>