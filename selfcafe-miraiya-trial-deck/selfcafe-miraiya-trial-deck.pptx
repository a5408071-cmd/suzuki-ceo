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3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7.png"/><Relationship Id="rId9" Type="http://schemas.openxmlformats.org/officeDocument/2006/relationships/image" Target="../media/image-5-7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trial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PROGRAM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トライアル導入のご提案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内装工事は当社が負担し、原状回復義務もいただきません。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まずは実際の数字をご確認いただいたうえで、その先をご判断ください。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トライアル期間中のお受取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トライアル条件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トライアル導入の条件をご提案します。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メールにてご提示した内容を、あらためて整理したものです。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Sparkle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179771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3429" y="170627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内装仕様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373429" y="196230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スタンダード仕様（既存の書店併設店と同じ設え）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60197" y="2364638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4" name="Image 2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251094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3429" y="2419502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373429" y="2675534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セルフカフェが負担します（御社のご負担なし）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60197" y="3077870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8" name="Image 3" descr="/home/user/suzuki-ceo/selfcafe-miraiya-trial-deck/assets/icons/LuLandPlot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3224174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3429" y="3132734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373429" y="3388766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御社にてご手配いただきます（御社の所有となります）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60197" y="3791102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2" name="Image 4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393740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3429" y="3845966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1373429" y="4101998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トライアル中は売上の25％／2年目以降は＋月額5万円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60197" y="4504334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5" descr="/home/user/suzuki-ceo/selfcafe-miraiya-trial-deck/assets/icons/LuCalendar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9" y="465063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373429" y="4559198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1373429" y="481523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基本3年〜（トライアル1年を含む）／特約で最低2年〜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60197" y="521756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0" name="Image 6" descr="/home/user/suzuki-ceo/selfcafe-miraiya-trial-deck/assets/icons/LuKeyRoun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9" y="5363870"/>
            <a:ext cx="329184" cy="32918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373429" y="527243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1373429" y="552846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なし（当社のマシン・カメラ等のみ撤去します）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7902245" y="1651406"/>
            <a:ext cx="3629254" cy="2103120"/>
          </a:xfrm>
          <a:prstGeom prst="roundRect">
            <a:avLst>
              <a:gd name="adj" fmla="val 2609"/>
            </a:avLst>
          </a:prstGeom>
          <a:solidFill>
            <a:srgbClr val="0C5230"/>
          </a:solidFill>
          <a:ln/>
        </p:spPr>
      </p:sp>
      <p:sp>
        <p:nvSpPr>
          <p:cNvPr id="34" name="Text 25"/>
          <p:cNvSpPr/>
          <p:nvPr/>
        </p:nvSpPr>
        <p:spPr>
          <a:xfrm>
            <a:off x="8158277" y="183428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SHARE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8158277" y="2053742"/>
            <a:ext cx="31171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トライアル期間（1年目）</a:t>
            </a:r>
            <a:endParaRPr lang="en-US" sz="950" dirty="0"/>
          </a:p>
        </p:txBody>
      </p:sp>
      <p:sp>
        <p:nvSpPr>
          <p:cNvPr id="36" name="Text 27"/>
          <p:cNvSpPr/>
          <p:nvPr/>
        </p:nvSpPr>
        <p:spPr>
          <a:xfrm>
            <a:off x="8158277" y="2273198"/>
            <a:ext cx="31171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 </a:t>
            </a: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8158277" y="2876702"/>
            <a:ext cx="311719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8" name="Text 29"/>
          <p:cNvSpPr/>
          <p:nvPr/>
        </p:nvSpPr>
        <p:spPr>
          <a:xfrm>
            <a:off x="8158277" y="2968142"/>
            <a:ext cx="31171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8158277" y="3205886"/>
            <a:ext cx="31171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 </a:t>
            </a:r>
            <a:r>
              <a:rPr lang="en-US" sz="125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 月額固定 5万円</a:t>
            </a:r>
            <a:endParaRPr lang="en-US" sz="1200" dirty="0"/>
          </a:p>
        </p:txBody>
      </p:sp>
      <p:sp>
        <p:nvSpPr>
          <p:cNvPr id="40" name="Shape 31"/>
          <p:cNvSpPr/>
          <p:nvPr/>
        </p:nvSpPr>
        <p:spPr>
          <a:xfrm>
            <a:off x="7902245" y="3882542"/>
            <a:ext cx="3629254" cy="1060704"/>
          </a:xfrm>
          <a:prstGeom prst="roundRect">
            <a:avLst>
              <a:gd name="adj" fmla="val 5172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158277" y="4010558"/>
            <a:ext cx="3117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御社のご負担</a:t>
            </a:r>
            <a:endParaRPr lang="en-US" sz="1050" dirty="0"/>
          </a:p>
        </p:txBody>
      </p:sp>
      <p:sp>
        <p:nvSpPr>
          <p:cNvPr id="42" name="Text 33"/>
          <p:cNvSpPr/>
          <p:nvPr/>
        </p:nvSpPr>
        <p:spPr>
          <a:xfrm>
            <a:off x="8158277" y="4266590"/>
            <a:ext cx="311719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家具・什器のご手配のみです。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内装工事費のご負担はありません。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902245" y="5071262"/>
            <a:ext cx="362925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44" name="Image 7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9989" y="5217566"/>
            <a:ext cx="292608" cy="29260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524037" y="5144414"/>
            <a:ext cx="2769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原状回復義務なし</a:t>
            </a:r>
            <a:endParaRPr lang="en-US" sz="1100" dirty="0"/>
          </a:p>
        </p:txBody>
      </p:sp>
      <p:sp>
        <p:nvSpPr>
          <p:cNvPr id="46" name="Text 36"/>
          <p:cNvSpPr/>
          <p:nvPr/>
        </p:nvSpPr>
        <p:spPr>
          <a:xfrm>
            <a:off x="8524037" y="5382158"/>
            <a:ext cx="27697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終了時も内装を元に戻す必要はありません。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金額はすべて税抜。トライアル期間（1年）は契約期間に含みます。対象店舗はご相談のうえ決定させていただきます。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契約期間の考え方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トライアルの1年も、契約期間に含みます。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内装工事費を当社が負担するため、基本契約は3年以上とさせていただいています。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60197" y="1651406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0197" y="1925726"/>
            <a:ext cx="3550615" cy="786384"/>
          </a:xfrm>
          <a:prstGeom prst="roundRect">
            <a:avLst>
              <a:gd name="adj" fmla="val 6977"/>
            </a:avLst>
          </a:prstGeom>
          <a:solidFill>
            <a:srgbClr val="A8761F"/>
          </a:solidFill>
          <a:ln/>
        </p:spPr>
      </p:sp>
      <p:sp>
        <p:nvSpPr>
          <p:cNvPr id="11" name="Text 8"/>
          <p:cNvSpPr/>
          <p:nvPr/>
        </p:nvSpPr>
        <p:spPr>
          <a:xfrm>
            <a:off x="879653" y="1998878"/>
            <a:ext cx="3111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79653" y="2254910"/>
            <a:ext cx="3111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320540" y="1651406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2年目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5726"/>
            <a:ext cx="3550615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15" name="Text 12"/>
          <p:cNvSpPr/>
          <p:nvPr/>
        </p:nvSpPr>
        <p:spPr>
          <a:xfrm>
            <a:off x="4539996" y="1998878"/>
            <a:ext cx="3111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本格運用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39996" y="2254910"/>
            <a:ext cx="3111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 ＋ 月額5万円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980883" y="1651406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3年目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980883" y="1925726"/>
            <a:ext cx="3550615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19" name="Text 16"/>
          <p:cNvSpPr/>
          <p:nvPr/>
        </p:nvSpPr>
        <p:spPr>
          <a:xfrm>
            <a:off x="8200339" y="1998878"/>
            <a:ext cx="3111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本格運用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00339" y="2254910"/>
            <a:ext cx="3111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 ＋ 月額5万円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60197" y="2840126"/>
            <a:ext cx="7210958" cy="384048"/>
          </a:xfrm>
          <a:prstGeom prst="roundRect">
            <a:avLst>
              <a:gd name="adj" fmla="val 11905"/>
            </a:avLst>
          </a:prstGeom>
          <a:solidFill>
            <a:srgbClr val="FBF4E4"/>
          </a:solidFill>
          <a:ln w="12700">
            <a:solidFill>
              <a:srgbClr val="E7D3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79653" y="2840126"/>
            <a:ext cx="67720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今回の特約：最低2年〜　3年以上と同じ条件でお受けします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60197" y="3333902"/>
            <a:ext cx="10871302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12700">
            <a:solidFill>
              <a:srgbClr val="D2E7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9653" y="3333902"/>
            <a:ext cx="104323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基本契約：3年〜　トライアルの1年を含めて通算します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3877056"/>
            <a:ext cx="3440887" cy="1847088"/>
          </a:xfrm>
          <a:prstGeom prst="roundRect">
            <a:avLst>
              <a:gd name="adj" fmla="val 297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trial-deck/assets/icons/LuTimer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4078224"/>
            <a:ext cx="329184" cy="3291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16229" y="4517136"/>
            <a:ext cx="29288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1年目はトライアル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916229" y="5029200"/>
            <a:ext cx="29288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実際の販売杯数と、清掃・補充の運営負荷をご確認いただく期間です。お支払いは売上の25％のみとなります。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4375404" y="3877056"/>
            <a:ext cx="3440887" cy="1847088"/>
          </a:xfrm>
          <a:prstGeom prst="roundRect">
            <a:avLst>
              <a:gd name="adj" fmla="val 297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0" name="Image 2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6" y="4078224"/>
            <a:ext cx="329184" cy="32918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631436" y="4517136"/>
            <a:ext cx="29288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2年目から月額5万円が加算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4631436" y="5029200"/>
            <a:ext cx="29288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トライアル期間を終えたあとは、売上の25％に月額固定5万円を上乗せしてお支払いします。</a:t>
            </a:r>
            <a:endParaRPr lang="en-US" sz="950" dirty="0"/>
          </a:p>
        </p:txBody>
      </p:sp>
      <p:sp>
        <p:nvSpPr>
          <p:cNvPr id="33" name="Shape 28"/>
          <p:cNvSpPr/>
          <p:nvPr/>
        </p:nvSpPr>
        <p:spPr>
          <a:xfrm>
            <a:off x="8090611" y="3877056"/>
            <a:ext cx="3440887" cy="1847088"/>
          </a:xfrm>
          <a:prstGeom prst="roundRect">
            <a:avLst>
              <a:gd name="adj" fmla="val 297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4" name="Image 3" descr="/home/user/suzuki-ceo/selfcafe-miraiya-trial-deck/assets/icons/LuFile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6643" y="4078224"/>
            <a:ext cx="329184" cy="329184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8346643" y="4517136"/>
            <a:ext cx="29288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3年を基本とする理由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8346643" y="5029200"/>
            <a:ext cx="29288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内装工事費は当社が負担するため、回収に一定の期間が必要です。今回は特約として2年からお受けします。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トライアル期間（1年）は契約期間に含みます。特約を適用した場合、最低契約期間はトライアル1年＋本格運用1年の計2年となります。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費用と所有の区分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どちらが何を用意し、終了後どうなるか。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トライアル期間中の費用負担と、終了後にそれがどう扱われるかを整理しました。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73898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ご手配・ご負担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トライアル終了後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内装工事（造作・床・サイン）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家具・什器（テーブル・椅子・植栽 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御社の資産として残ります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ドリンクマシン・決済端末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防犯カメラ・通信機器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原料・機器メンテナンス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水道光熱費・通信費・消耗品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未来屋書店様（実費）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不要（義務なし）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303520"/>
            <a:ext cx="10871302" cy="804672"/>
          </a:xfrm>
          <a:prstGeom prst="roundRect">
            <a:avLst>
              <a:gd name="adj" fmla="val 6818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303520"/>
            <a:ext cx="1024951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御社にご手配いただくのは、家具・什器だけです。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内装工事費のご負担はなく、終了時の原状回復も発生しません。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21792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工事範囲・什器の仕様は現地確認のうえ確定します。金額はすべて税抜。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終了時の扱い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原状回復は不要。撤去するのは当社の機器だけです。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ご契約を終了される場合も、内装を元に戻していただく必要はありません。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Hous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88915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91717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そのまま残るもの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34517" y="2364638"/>
            <a:ext cx="4694987" cy="10058"/>
          </a:xfrm>
          <a:prstGeom prst="rect">
            <a:avLst/>
          </a:prstGeom>
          <a:solidFill>
            <a:srgbClr val="D2E7DA"/>
          </a:solidFill>
          <a:ln/>
        </p:spPr>
      </p:sp>
      <p:pic>
        <p:nvPicPr>
          <p:cNvPr id="13" name="Image 2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259323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1989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内装工事（造作・床・サイン）</a:t>
            </a:r>
            <a:endParaRPr lang="en-US" sz="1100" dirty="0"/>
          </a:p>
        </p:txBody>
      </p:sp>
      <p:pic>
        <p:nvPicPr>
          <p:cNvPr id="15" name="Image 3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3013862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1989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家具・什器（テーブル・椅子・植栽 等）</a:t>
            </a:r>
            <a:endParaRPr lang="en-US" sz="1100" dirty="0"/>
          </a:p>
        </p:txBody>
      </p:sp>
      <p:pic>
        <p:nvPicPr>
          <p:cNvPr id="17" name="Image 4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3448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1989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書店側の売場・動線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934517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工事部分は当社負担で施工しますが、撤去はいたしません。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6287872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1" name="Image 5" descr="/home/user/suzuki-ceo/selfcafe-miraiya-trial-deck/assets/icons/LuMinu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1889150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19392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当社が撤去するもの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562192" y="2364638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pic>
        <p:nvPicPr>
          <p:cNvPr id="24" name="Image 6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480" y="259323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9664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ドリンクマシン</a:t>
            </a:r>
            <a:endParaRPr lang="en-US" sz="1100" dirty="0"/>
          </a:p>
        </p:txBody>
      </p:sp>
      <p:pic>
        <p:nvPicPr>
          <p:cNvPr id="26" name="Image 7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480" y="3013862"/>
            <a:ext cx="182880" cy="182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09664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決済端末</a:t>
            </a:r>
            <a:endParaRPr lang="en-US" sz="1100" dirty="0"/>
          </a:p>
        </p:txBody>
      </p:sp>
      <p:pic>
        <p:nvPicPr>
          <p:cNvPr id="28" name="Image 8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0480" y="3434486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09664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防犯カメラ・通信機器</a:t>
            </a:r>
            <a:endParaRPr lang="en-US" sz="1100" dirty="0"/>
          </a:p>
        </p:txBody>
      </p:sp>
      <p:sp>
        <p:nvSpPr>
          <p:cNvPr id="30" name="Text 19"/>
          <p:cNvSpPr/>
          <p:nvPr/>
        </p:nvSpPr>
        <p:spPr>
          <a:xfrm>
            <a:off x="6562192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撤去費用は当社が負担します。跡の補修も当社で対応します。</a:t>
            </a:r>
            <a:endParaRPr lang="en-US" sz="950" dirty="0"/>
          </a:p>
        </p:txBody>
      </p:sp>
      <p:sp>
        <p:nvSpPr>
          <p:cNvPr id="31" name="Shape 20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32" name="Image 9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トライアル後は、基本そのまま残す形を想定しています。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内装も什器も残るため、継続いただく場合は追加の工事なくそのまま運営を続けられます。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撤去の範囲・時期は事前にお打ち合わせのうえ決定します。什器の再利用可否は現地確認時にご相談させてください。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家具・什器の考え方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家具は御社ご所有のほうがよい、と判断しました。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トライアル後もそのまま残す前提で考えると、御社の資産にしておくのが最も無駄がありません。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92572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4517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そのまま使い続けられる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34517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3" name="Text 9"/>
          <p:cNvSpPr/>
          <p:nvPr/>
        </p:nvSpPr>
        <p:spPr>
          <a:xfrm>
            <a:off x="934517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トライアル後に継続される場合、什器の入れ替えも買い直しも発生しません。設えを変えずに運営を続けられます。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375404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5" name="Image 2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1925726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49724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御社の資産として残る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649724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3"/>
          <p:cNvSpPr/>
          <p:nvPr/>
        </p:nvSpPr>
        <p:spPr>
          <a:xfrm>
            <a:off x="4649724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当社所有にすると、契約が終わる際に引き上げか買取かの整理が必要になります。はじめから御社ご所有であれば、その論点自体がなくなります。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90611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0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931" y="1925726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64931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仕様を御社で選べる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64931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17"/>
          <p:cNvSpPr/>
          <p:nvPr/>
        </p:nvSpPr>
        <p:spPr>
          <a:xfrm>
            <a:off x="8364931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テーブル・椅子・植栽は店舗の雰囲気を大きく左右します。書店の売場に合わせて御社側でお選びいただけます。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0197" y="4809744"/>
            <a:ext cx="10871302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5" name="Image 4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84064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1445" y="4809744"/>
            <a:ext cx="96825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当社側で家具・什器を手配することも可能です。その場合は当社の資産となるため、トライアル終了時に引き上げ・買取のご相談が必要になります。ご希望があればその形でもお受けします。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什器の概算費用は、レイアウト確定後にお見積りをお出しします。既存什器を再利用できる場合は、その分ご負担が減ります。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現地確認から、最短2〜3ヶ月で開始できます。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まずは対象店舗と期間のすり合わせ、現地確認からお願いできればと存じます。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条件のすり合わせ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対象店舗・トライアル期間・開始時期を決めます。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trial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区画・電源・動線を確認し、レイアウトと什器の仕様を設計。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トライアル条件を明記した契約を締結します。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工事・設置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内装工事は当社が施工。家具・什器は御社にてご手配。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トライアル開始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運営・集客・お問い合わせ対応は当社が担当します。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trial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trial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trial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トライアル導入のご提案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2026-09-20T03:21:22Z</dcterms:created>
  <dcterms:modified xsi:type="dcterms:W3CDTF">2026-09-20T03:21:22Z</dcterms:modified>
</cp:coreProperties>
</file>