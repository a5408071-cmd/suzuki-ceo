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5.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grouping val="standard"/>
        <c:varyColors val="0"/>
        <c:ser>
          <c:idx val="0"/>
          <c:order val="0"/>
          <c:tx>
            <c:strRef>
              <c:f>Sheet1!$B$1</c:f>
              <c:strCache>
                <c:ptCount val="1"/>
                <c:pt idx="0">
                  <c:v>店舗数</c:v>
                </c:pt>
              </c:strCache>
            </c:strRef>
          </c:tx>
          <c:spPr>
            <a:solidFill>
              <a:srgbClr val="106838">
                <a:alpha val="32000"/>
              </a:srgbClr>
            </a:solidFill>
            <a:effectLst/>
          </c:spP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Sheet1!$A$2:$A$48</c:f>
              <c:multiLvlStrCache>
                <c:ptCount val="47"/>
                <c:lvl>
                  <c:pt idx="0">
                    <c:v>2022.09</c:v>
                  </c:pt>
                  <c:pt idx="1">
                    <c:v/>
                  </c:pt>
                  <c:pt idx="2">
                    <c:v/>
                  </c:pt>
                  <c:pt idx="3">
                    <c:v/>
                  </c:pt>
                  <c:pt idx="4">
                    <c:v/>
                  </c:pt>
                  <c:pt idx="5">
                    <c:v/>
                  </c:pt>
                  <c:pt idx="6">
                    <c:v/>
                  </c:pt>
                  <c:pt idx="7">
                    <c:v/>
                  </c:pt>
                  <c:pt idx="8">
                    <c:v/>
                  </c:pt>
                  <c:pt idx="9">
                    <c:v/>
                  </c:pt>
                  <c:pt idx="10">
                    <c:v/>
                  </c:pt>
                  <c:pt idx="11">
                    <c:v/>
                  </c:pt>
                  <c:pt idx="12">
                    <c:v>2023.09</c:v>
                  </c:pt>
                  <c:pt idx="13">
                    <c:v/>
                  </c:pt>
                  <c:pt idx="14">
                    <c:v/>
                  </c:pt>
                  <c:pt idx="15">
                    <c:v/>
                  </c:pt>
                  <c:pt idx="16">
                    <c:v/>
                  </c:pt>
                  <c:pt idx="17">
                    <c:v/>
                  </c:pt>
                  <c:pt idx="18">
                    <c:v/>
                  </c:pt>
                  <c:pt idx="19">
                    <c:v/>
                  </c:pt>
                  <c:pt idx="20">
                    <c:v/>
                  </c:pt>
                  <c:pt idx="21">
                    <c:v/>
                  </c:pt>
                  <c:pt idx="22">
                    <c:v/>
                  </c:pt>
                  <c:pt idx="23">
                    <c:v/>
                  </c:pt>
                  <c:pt idx="24">
                    <c:v>2024.09</c:v>
                  </c:pt>
                  <c:pt idx="25">
                    <c:v/>
                  </c:pt>
                  <c:pt idx="26">
                    <c:v/>
                  </c:pt>
                  <c:pt idx="27">
                    <c:v/>
                  </c:pt>
                  <c:pt idx="28">
                    <c:v/>
                  </c:pt>
                  <c:pt idx="29">
                    <c:v/>
                  </c:pt>
                  <c:pt idx="30">
                    <c:v/>
                  </c:pt>
                  <c:pt idx="31">
                    <c:v/>
                  </c:pt>
                  <c:pt idx="32">
                    <c:v/>
                  </c:pt>
                  <c:pt idx="33">
                    <c:v/>
                  </c:pt>
                  <c:pt idx="34">
                    <c:v/>
                  </c:pt>
                  <c:pt idx="35">
                    <c:v/>
                  </c:pt>
                  <c:pt idx="36">
                    <c:v>2025.09</c:v>
                  </c:pt>
                  <c:pt idx="37">
                    <c:v/>
                  </c:pt>
                  <c:pt idx="38">
                    <c:v/>
                  </c:pt>
                  <c:pt idx="39">
                    <c:v/>
                  </c:pt>
                  <c:pt idx="40">
                    <c:v/>
                  </c:pt>
                  <c:pt idx="41">
                    <c:v/>
                  </c:pt>
                  <c:pt idx="42">
                    <c:v/>
                  </c:pt>
                  <c:pt idx="43">
                    <c:v/>
                  </c:pt>
                  <c:pt idx="44">
                    <c:v/>
                  </c:pt>
                  <c:pt idx="45">
                    <c:v/>
                  </c:pt>
                  <c:pt idx="46">
                    <c:v>2026.07</c:v>
                  </c:pt>
                </c:lvl>
              </c:multiLvlStrCache>
            </c:multiLvlStrRef>
          </c:cat>
          <c:val>
            <c:numRef>
              <c:f>Sheet1!$B$2:$B$48</c:f>
              <c:numCache>
                <c:formatCode>General</c:formatCode>
                <c:ptCount val="47"/>
                <c:pt idx="0">
                  <c:v>1</c:v>
                </c:pt>
                <c:pt idx="1">
                  <c:v>1</c:v>
                </c:pt>
                <c:pt idx="2">
                  <c:v>1</c:v>
                </c:pt>
                <c:pt idx="3">
                  <c:v>1</c:v>
                </c:pt>
                <c:pt idx="4">
                  <c:v>1</c:v>
                </c:pt>
                <c:pt idx="5">
                  <c:v>1</c:v>
                </c:pt>
                <c:pt idx="6">
                  <c:v>1</c:v>
                </c:pt>
                <c:pt idx="7">
                  <c:v>1</c:v>
                </c:pt>
                <c:pt idx="8">
                  <c:v>1</c:v>
                </c:pt>
                <c:pt idx="9">
                  <c:v>1</c:v>
                </c:pt>
                <c:pt idx="10">
                  <c:v>1</c:v>
                </c:pt>
                <c:pt idx="11">
                  <c:v>1</c:v>
                </c:pt>
                <c:pt idx="12">
                  <c:v>2</c:v>
                </c:pt>
                <c:pt idx="13">
                  <c:v>4</c:v>
                </c:pt>
                <c:pt idx="14">
                  <c:v>8</c:v>
                </c:pt>
                <c:pt idx="15">
                  <c:v>8</c:v>
                </c:pt>
                <c:pt idx="16">
                  <c:v>9</c:v>
                </c:pt>
                <c:pt idx="17">
                  <c:v>9</c:v>
                </c:pt>
                <c:pt idx="18">
                  <c:v>12</c:v>
                </c:pt>
                <c:pt idx="19">
                  <c:v>17</c:v>
                </c:pt>
                <c:pt idx="20">
                  <c:v>19</c:v>
                </c:pt>
                <c:pt idx="21">
                  <c:v>21</c:v>
                </c:pt>
                <c:pt idx="22">
                  <c:v>22</c:v>
                </c:pt>
                <c:pt idx="23">
                  <c:v>23</c:v>
                </c:pt>
                <c:pt idx="24">
                  <c:v>23</c:v>
                </c:pt>
                <c:pt idx="25">
                  <c:v>25</c:v>
                </c:pt>
                <c:pt idx="26">
                  <c:v>28</c:v>
                </c:pt>
                <c:pt idx="27">
                  <c:v>31</c:v>
                </c:pt>
                <c:pt idx="28">
                  <c:v>32</c:v>
                </c:pt>
                <c:pt idx="29">
                  <c:v>34</c:v>
                </c:pt>
                <c:pt idx="30">
                  <c:v>39</c:v>
                </c:pt>
                <c:pt idx="31">
                  <c:v>42</c:v>
                </c:pt>
                <c:pt idx="32">
                  <c:v>44</c:v>
                </c:pt>
                <c:pt idx="33">
                  <c:v>44</c:v>
                </c:pt>
                <c:pt idx="34">
                  <c:v>46</c:v>
                </c:pt>
                <c:pt idx="35">
                  <c:v>47</c:v>
                </c:pt>
                <c:pt idx="36">
                  <c:v>48</c:v>
                </c:pt>
                <c:pt idx="37">
                  <c:v>48</c:v>
                </c:pt>
                <c:pt idx="38">
                  <c:v>50</c:v>
                </c:pt>
                <c:pt idx="39">
                  <c:v>50</c:v>
                </c:pt>
                <c:pt idx="40">
                  <c:v>51</c:v>
                </c:pt>
                <c:pt idx="41">
                  <c:v>55</c:v>
                </c:pt>
                <c:pt idx="42">
                  <c:v>58</c:v>
                </c:pt>
                <c:pt idx="43">
                  <c:v>61</c:v>
                </c:pt>
                <c:pt idx="44">
                  <c:v>64</c:v>
                </c:pt>
                <c:pt idx="45">
                  <c:v>67</c:v>
                </c:pt>
                <c:pt idx="46">
                  <c:v>71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tickLblSkip val="1"/>
        <c:noMultiLvlLbl val="1"/>
      </c:catAx>
      <c:valAx>
        <c:axId val="2094734552"/>
        <c:scaling>
          <c:orientation val="minMax"/>
          <c:max val="75"/>
          <c:min val="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E8882"/>
                </a:solidFill>
                <a:latin typeface="Arial"/>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構成比</c:v>
                </c:pt>
              </c:strCache>
            </c:strRef>
          </c:tx>
          <c:spPr>
            <a:solidFill>
              <a:srgbClr val="A9C6B5"/>
            </a:solidFill>
            <a:effectLst/>
          </c:spPr>
          <c:invertIfNegative val="0"/>
          <c:dPt>
            <c:idx val="0"/>
            <c:invertIfNegative val="0"/>
            <c:bubble3D val="0"/>
            <c:spPr>
              <a:solidFill>
                <a:srgbClr val="A9C6B5"/>
              </a:solidFill>
              <a:effectLst/>
            </c:spPr>
          </c:dPt>
          <c:dPt>
            <c:idx val="1"/>
            <c:invertIfNegative val="0"/>
            <c:bubble3D val="0"/>
            <c:spPr>
              <a:solidFill>
                <a:srgbClr val="106838"/>
              </a:solidFill>
              <a:effectLst/>
            </c:spPr>
          </c:dPt>
          <c:dPt>
            <c:idx val="2"/>
            <c:invertIfNegative val="0"/>
            <c:bubble3D val="0"/>
            <c:spPr>
              <a:solidFill>
                <a:srgbClr val="106838"/>
              </a:solidFill>
              <a:effectLst/>
            </c:spPr>
          </c:dPt>
          <c:dPt>
            <c:idx val="3"/>
            <c:invertIfNegative val="0"/>
            <c:bubble3D val="0"/>
            <c:spPr>
              <a:solidFill>
                <a:srgbClr val="106838"/>
              </a:solidFill>
              <a:effectLst/>
            </c:spPr>
          </c:dPt>
          <c:dPt>
            <c:idx val="4"/>
            <c:invertIfNegative val="0"/>
            <c:bubble3D val="0"/>
            <c:spPr>
              <a:solidFill>
                <a:srgbClr val="106838"/>
              </a:solidFill>
              <a:effectLst/>
            </c:spPr>
          </c:dPt>
          <c:dPt>
            <c:idx val="5"/>
            <c:invertIfNegative val="0"/>
            <c:bubble3D val="0"/>
            <c:spPr>
              <a:solidFill>
                <a:srgbClr val="D2E7DA"/>
              </a:solidFill>
              <a:effectLst/>
            </c:spPr>
          </c:dPt>
          <c:dPt>
            <c:idx val="6"/>
            <c:invertIfNegative val="0"/>
            <c:bubble3D val="0"/>
            <c:spPr>
              <a:solidFill>
                <a:srgbClr val="D2E7DA"/>
              </a:solidFill>
              <a:effectLst/>
            </c:spPr>
          </c:dPt>
          <c:dPt>
            <c:idx val="7"/>
            <c:invertIfNegative val="0"/>
            <c:bubble3D val="0"/>
            <c:spPr>
              <a:solidFill>
                <a:srgbClr val="D8D2C6"/>
              </a:solidFill>
              <a:effectLst/>
            </c:spPr>
          </c:dPt>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cat>
            <c:multiLvlStrRef>
              <c:f>Sheet1!$A$2:$A$9</c:f>
              <c:multiLvlStrCache>
                <c:ptCount val="8"/>
                <c:lvl>
                  <c:pt idx="0">
                    <c:v>〜14</c:v>
                  </c:pt>
                  <c:pt idx="1">
                    <c:v>15〜19</c:v>
                  </c:pt>
                  <c:pt idx="2">
                    <c:v>20〜29</c:v>
                  </c:pt>
                  <c:pt idx="3">
                    <c:v>30〜39</c:v>
                  </c:pt>
                  <c:pt idx="4">
                    <c:v>40〜49</c:v>
                  </c:pt>
                  <c:pt idx="5">
                    <c:v>50〜59</c:v>
                  </c:pt>
                  <c:pt idx="6">
                    <c:v>60〜</c:v>
                  </c:pt>
                  <c:pt idx="7">
                    <c:v>未回答</c:v>
                  </c:pt>
                </c:lvl>
              </c:multiLvlStrCache>
            </c:multiLvlStrRef>
          </c:cat>
          <c:val>
            <c:numRef>
              <c:f>Sheet1!$B$2:$B$9</c:f>
              <c:numCache>
                <c:formatCode>General</c:formatCode>
                <c:ptCount val="8"/>
                <c:pt idx="0">
                  <c:v>3</c:v>
                </c:pt>
                <c:pt idx="1">
                  <c:v>24</c:v>
                </c:pt>
                <c:pt idx="2">
                  <c:v>29</c:v>
                </c:pt>
                <c:pt idx="3">
                  <c:v>16</c:v>
                </c:pt>
                <c:pt idx="4">
                  <c:v>13</c:v>
                </c:pt>
                <c:pt idx="5">
                  <c:v>4</c:v>
                </c:pt>
                <c:pt idx="6">
                  <c:v>1</c:v>
                </c:pt>
                <c:pt idx="7">
                  <c:v>10</c:v>
                </c:pt>
              </c:numCache>
            </c:numRef>
          </c:val>
        </c:ser>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gapWidth val="45"/>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3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利用目的</c:v>
                </c:pt>
              </c:strCache>
            </c:strRef>
          </c:tx>
          <c:spPr>
            <a:solidFill>
              <a:schemeClr val="accent1"/>
            </a:solidFill>
            <a:ln w="9525" cap="flat">
              <a:solidFill>
                <a:srgbClr val="F9F9F9"/>
              </a:solidFill>
              <a:prstDash val="solid"/>
              <a:round/>
            </a:ln>
            <a:effectLst/>
          </c:spPr>
          <c:dPt>
            <c:idx val="0"/>
            <c:bubble3D val="0"/>
            <c:spPr>
              <a:solidFill>
                <a:srgbClr val="106838"/>
              </a:solidFill>
              <a:effectLst/>
            </c:spPr>
          </c:dPt>
          <c:dPt>
            <c:idx val="1"/>
            <c:bubble3D val="0"/>
            <c:spPr>
              <a:solidFill>
                <a:srgbClr val="A8761F"/>
              </a:solidFill>
              <a:effectLst/>
            </c:spPr>
          </c:dPt>
          <c:dPt>
            <c:idx val="2"/>
            <c:bubble3D val="0"/>
            <c:spPr>
              <a:solidFill>
                <a:srgbClr val="A9C6B5"/>
              </a:solidFill>
              <a:effectLst/>
            </c:spPr>
          </c:dPt>
          <c:dPt>
            <c:idx val="3"/>
            <c:bubble3D val="0"/>
            <c:spPr>
              <a:solidFill>
                <a:srgbClr val="EFEAE0"/>
              </a:solidFill>
              <a:effectLst/>
            </c:spPr>
          </c:dPt>
          <c:dPt>
            <c:idx val="4"/>
            <c:bubble3D val="0"/>
            <c:spPr>
              <a:solidFill>
                <a:srgbClr val="D2E7DA"/>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勉強 62.6%</c:v>
                </c:pt>
                <c:pt idx="1">
                  <c:v>休憩・雑談 22.8%</c:v>
                </c:pt>
                <c:pt idx="2">
                  <c:v>仕事・打ち合わせ 13.0%</c:v>
                </c:pt>
                <c:pt idx="3">
                  <c:v>作業 0.2%</c:v>
                </c:pt>
                <c:pt idx="4">
                  <c:v>その他 1.4%</c:v>
                </c:pt>
              </c:strCache>
            </c:strRef>
          </c:cat>
          <c:val>
            <c:numRef>
              <c:f>Sheet1!$B$2:$B$6</c:f>
              <c:numCache>
                <c:ptCount val="5"/>
                <c:pt idx="0">
                  <c:v>62.6</c:v>
                </c:pt>
                <c:pt idx="1">
                  <c:v>22.8</c:v>
                </c:pt>
                <c:pt idx="2">
                  <c:v>13</c:v>
                </c:pt>
                <c:pt idx="3">
                  <c:v>0.2</c:v>
                </c:pt>
                <c:pt idx="4">
                  <c:v>1.4</c:v>
                </c:pt>
              </c:numCache>
            </c:numRef>
          </c:val>
        </c:ser>
        <c:firstSliceAng val="0"/>
        <c:holeSize val="58"/>
      </c:doughnutChart>
      <c:spPr>
        <a:noFill/>
        <a:ln>
          <a:noFill/>
        </a:ln>
        <a:effectLst/>
      </c:spPr>
    </c:plotArea>
    <c:legend>
      <c:legendPos val="b"/>
      <c:overlay val="0"/>
      <c:txPr>
        <a:bodyPr/>
        <a:lstStyle/>
        <a:p>
          <a:pPr>
            <a:defRPr sz="95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grouping val="standard"/>
        <c:varyColors val="0"/>
        <c:ser>
          <c:idx val="0"/>
          <c:order val="0"/>
          <c:tx>
            <c:strRef>
              <c:f>Sheet1!$B$1</c:f>
              <c:strCache>
                <c:ptCount val="1"/>
                <c:pt idx="0">
                  <c:v>自社物件（家賃0円）</c:v>
                </c:pt>
              </c:strCache>
            </c:strRef>
          </c:tx>
          <c:spPr>
            <a:solidFill>
              <a:srgbClr val="106838"/>
            </a:solidFill>
            <a:ln w="34925" cap="flat">
              <a:solidFill>
                <a:srgbClr val="106838"/>
              </a:solidFill>
              <a:prstDash val="solid"/>
              <a:round/>
            </a:ln>
            <a:effectLst/>
          </c:spPr>
          <c:marker>
            <c:symbol val="circle"/>
            <c:size val="6"/>
            <c:spPr>
              <a:solidFill>
                <a:srgbClr val="106838"/>
              </a:solidFill>
              <a:ln w="9525" cap="flat">
                <a:solidFill>
                  <a:srgbClr val="106838"/>
                </a:solidFill>
                <a:prstDash val="solid"/>
                <a:round/>
              </a:ln>
              <a:effectLst/>
            </c:spPr>
          </c:mark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10</c:v>
                  </c:pt>
                  <c:pt idx="1">
                    <c:v>20</c:v>
                  </c:pt>
                  <c:pt idx="2">
                    <c:v>30</c:v>
                  </c:pt>
                  <c:pt idx="3">
                    <c:v>40</c:v>
                  </c:pt>
                  <c:pt idx="4">
                    <c:v>50</c:v>
                  </c:pt>
                  <c:pt idx="5">
                    <c:v>60</c:v>
                  </c:pt>
                  <c:pt idx="6">
                    <c:v>70</c:v>
                  </c:pt>
                  <c:pt idx="7">
                    <c:v>80</c:v>
                  </c:pt>
                  <c:pt idx="8">
                    <c:v>90</c:v>
                  </c:pt>
                  <c:pt idx="9">
                    <c:v>100</c:v>
                  </c:pt>
                </c:lvl>
              </c:multiLvlStrCache>
            </c:multiLvlStrRef>
          </c:cat>
          <c:val>
            <c:numRef>
              <c:f>Sheet1!$B$2:$B$11</c:f>
              <c:numCache>
                <c:formatCode>General</c:formatCode>
                <c:ptCount val="10"/>
                <c:pt idx="0">
                  <c:v>-18.5</c:v>
                </c:pt>
                <c:pt idx="1">
                  <c:v>-8.4</c:v>
                </c:pt>
                <c:pt idx="2">
                  <c:v>1.6</c:v>
                </c:pt>
                <c:pt idx="3">
                  <c:v>11.7</c:v>
                </c:pt>
                <c:pt idx="4">
                  <c:v>21.8</c:v>
                </c:pt>
                <c:pt idx="5">
                  <c:v>31.9</c:v>
                </c:pt>
                <c:pt idx="6">
                  <c:v>42</c:v>
                </c:pt>
                <c:pt idx="7">
                  <c:v>52</c:v>
                </c:pt>
                <c:pt idx="8">
                  <c:v>62.1</c:v>
                </c:pt>
                <c:pt idx="9">
                  <c:v>72.2</c:v>
                </c:pt>
              </c:numCache>
            </c:numRef>
          </c:val>
          <c:smooth val="0"/>
        </c:ser>
        <c:ser>
          <c:idx val="1"/>
          <c:order val="1"/>
          <c:tx>
            <c:strRef>
              <c:f>Sheet1!$C$1</c:f>
              <c:strCache>
                <c:ptCount val="1"/>
                <c:pt idx="0">
                  <c:v>賃貸（家賃20万円）</c:v>
                </c:pt>
              </c:strCache>
            </c:strRef>
          </c:tx>
          <c:spPr>
            <a:solidFill>
              <a:srgbClr val="A8761F"/>
            </a:solidFill>
            <a:ln w="34925" cap="flat">
              <a:solidFill>
                <a:srgbClr val="A8761F"/>
              </a:solidFill>
              <a:prstDash val="solid"/>
              <a:round/>
            </a:ln>
            <a:effectLst/>
          </c:spPr>
          <c:marker>
            <c:symbol val="circle"/>
            <c:size val="6"/>
            <c:spPr>
              <a:solidFill>
                <a:srgbClr val="A8761F"/>
              </a:solidFill>
              <a:ln w="9525" cap="flat">
                <a:solidFill>
                  <a:srgbClr val="A8761F"/>
                </a:solidFill>
                <a:prstDash val="solid"/>
                <a:round/>
              </a:ln>
              <a:effectLst/>
            </c:spPr>
          </c:mark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10</c:v>
                  </c:pt>
                  <c:pt idx="1">
                    <c:v>20</c:v>
                  </c:pt>
                  <c:pt idx="2">
                    <c:v>30</c:v>
                  </c:pt>
                  <c:pt idx="3">
                    <c:v>40</c:v>
                  </c:pt>
                  <c:pt idx="4">
                    <c:v>50</c:v>
                  </c:pt>
                  <c:pt idx="5">
                    <c:v>60</c:v>
                  </c:pt>
                  <c:pt idx="6">
                    <c:v>70</c:v>
                  </c:pt>
                  <c:pt idx="7">
                    <c:v>80</c:v>
                  </c:pt>
                  <c:pt idx="8">
                    <c:v>90</c:v>
                  </c:pt>
                  <c:pt idx="9">
                    <c:v>100</c:v>
                  </c:pt>
                </c:lvl>
              </c:multiLvlStrCache>
            </c:multiLvlStrRef>
          </c:cat>
          <c:val>
            <c:numRef>
              <c:f>Sheet1!$C$2:$C$11</c:f>
              <c:numCache>
                <c:formatCode>General</c:formatCode>
                <c:ptCount val="10"/>
                <c:pt idx="0">
                  <c:v>-38.5</c:v>
                </c:pt>
                <c:pt idx="1">
                  <c:v>-28.4</c:v>
                </c:pt>
                <c:pt idx="2">
                  <c:v>-18.4</c:v>
                </c:pt>
                <c:pt idx="3">
                  <c:v>-8.3</c:v>
                </c:pt>
                <c:pt idx="4">
                  <c:v>1.8</c:v>
                </c:pt>
                <c:pt idx="5">
                  <c:v>11.9</c:v>
                </c:pt>
                <c:pt idx="6">
                  <c:v>22</c:v>
                </c:pt>
                <c:pt idx="7">
                  <c:v>32</c:v>
                </c:pt>
                <c:pt idx="8">
                  <c:v>42.1</c:v>
                </c:pt>
                <c:pt idx="9">
                  <c:v>52.2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80"/>
          <c:min val="-6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7E8882"/>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100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grouping val="standard"/>
        <c:varyColors val="0"/>
        <c:ser>
          <c:idx val="0"/>
          <c:order val="0"/>
          <c:tx>
            <c:strRef>
              <c:f>Sheet1!$B$1</c:f>
              <c:strCache>
                <c:ptCount val="1"/>
                <c:pt idx="0">
                  <c:v>自社物件（月47万円）</c:v>
                </c:pt>
              </c:strCache>
            </c:strRef>
          </c:tx>
          <c:spPr>
            <a:solidFill>
              <a:srgbClr val="106838"/>
            </a:solidFill>
            <a:ln w="34925" cap="flat">
              <a:solidFill>
                <a:srgbClr val="106838"/>
              </a:solidFill>
              <a:prstDash val="solid"/>
              <a:round/>
            </a:ln>
            <a:effectLst/>
          </c:spPr>
          <c:marker>
            <c:symbol val="circle"/>
            <c:size val="6"/>
            <c:spPr>
              <a:solidFill>
                <a:srgbClr val="106838"/>
              </a:solidFill>
              <a:ln w="9525" cap="flat">
                <a:solidFill>
                  <a:srgbClr val="106838"/>
                </a:solidFill>
                <a:prstDash val="solid"/>
                <a:round/>
              </a:ln>
              <a:effectLst/>
            </c:spPr>
          </c:mark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Sheet1!$A$2:$A$14</c:f>
              <c:multiLvlStrCache>
                <c:ptCount val="13"/>
                <c:lvl>
                  <c:pt idx="0">
                    <c:v>0</c:v>
                  </c:pt>
                  <c:pt idx="1">
                    <c:v>3</c:v>
                  </c:pt>
                  <c:pt idx="2">
                    <c:v>6</c:v>
                  </c:pt>
                  <c:pt idx="3">
                    <c:v>9</c:v>
                  </c:pt>
                  <c:pt idx="4">
                    <c:v>12</c:v>
                  </c:pt>
                  <c:pt idx="5">
                    <c:v>15</c:v>
                  </c:pt>
                  <c:pt idx="6">
                    <c:v>18</c:v>
                  </c:pt>
                  <c:pt idx="7">
                    <c:v>21</c:v>
                  </c:pt>
                  <c:pt idx="8">
                    <c:v>24</c:v>
                  </c:pt>
                  <c:pt idx="9">
                    <c:v>27</c:v>
                  </c:pt>
                  <c:pt idx="10">
                    <c:v>30</c:v>
                  </c:pt>
                  <c:pt idx="11">
                    <c:v>33</c:v>
                  </c:pt>
                  <c:pt idx="12">
                    <c:v>36</c:v>
                  </c:pt>
                </c:lvl>
              </c:multiLvlStrCache>
            </c:multiLvlStrRef>
          </c:cat>
          <c:val>
            <c:numRef>
              <c:f>Sheet1!$B$2:$B$14</c:f>
              <c:numCache>
                <c:formatCode>General</c:formatCode>
                <c:ptCount val="13"/>
                <c:pt idx="0">
                  <c:v>-800</c:v>
                </c:pt>
                <c:pt idx="1">
                  <c:v>-659</c:v>
                </c:pt>
                <c:pt idx="2">
                  <c:v>-518</c:v>
                </c:pt>
                <c:pt idx="3">
                  <c:v>-377</c:v>
                </c:pt>
                <c:pt idx="4">
                  <c:v>-236</c:v>
                </c:pt>
                <c:pt idx="5">
                  <c:v>-95</c:v>
                </c:pt>
                <c:pt idx="6">
                  <c:v>46</c:v>
                </c:pt>
                <c:pt idx="7">
                  <c:v>187</c:v>
                </c:pt>
                <c:pt idx="8">
                  <c:v>328</c:v>
                </c:pt>
                <c:pt idx="9">
                  <c:v>469</c:v>
                </c:pt>
                <c:pt idx="10">
                  <c:v>610</c:v>
                </c:pt>
                <c:pt idx="11">
                  <c:v>751</c:v>
                </c:pt>
                <c:pt idx="12">
                  <c:v>892</c:v>
                </c:pt>
              </c:numCache>
            </c:numRef>
          </c:val>
          <c:smooth val="0"/>
        </c:ser>
        <c:ser>
          <c:idx val="1"/>
          <c:order val="1"/>
          <c:tx>
            <c:strRef>
              <c:f>Sheet1!$C$1</c:f>
              <c:strCache>
                <c:ptCount val="1"/>
                <c:pt idx="0">
                  <c:v>賃貸（月27万円）</c:v>
                </c:pt>
              </c:strCache>
            </c:strRef>
          </c:tx>
          <c:spPr>
            <a:solidFill>
              <a:srgbClr val="A8761F"/>
            </a:solidFill>
            <a:ln w="34925" cap="flat">
              <a:solidFill>
                <a:srgbClr val="A8761F"/>
              </a:solidFill>
              <a:prstDash val="solid"/>
              <a:round/>
            </a:ln>
            <a:effectLst/>
          </c:spPr>
          <c:marker>
            <c:symbol val="circle"/>
            <c:size val="6"/>
            <c:spPr>
              <a:solidFill>
                <a:srgbClr val="A8761F"/>
              </a:solidFill>
              <a:ln w="9525" cap="flat">
                <a:solidFill>
                  <a:srgbClr val="A8761F"/>
                </a:solidFill>
                <a:prstDash val="solid"/>
                <a:round/>
              </a:ln>
              <a:effectLst/>
            </c:spPr>
          </c:mark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Sheet1!$A$2:$A$14</c:f>
              <c:multiLvlStrCache>
                <c:ptCount val="13"/>
                <c:lvl>
                  <c:pt idx="0">
                    <c:v>0</c:v>
                  </c:pt>
                  <c:pt idx="1">
                    <c:v>3</c:v>
                  </c:pt>
                  <c:pt idx="2">
                    <c:v>6</c:v>
                  </c:pt>
                  <c:pt idx="3">
                    <c:v>9</c:v>
                  </c:pt>
                  <c:pt idx="4">
                    <c:v>12</c:v>
                  </c:pt>
                  <c:pt idx="5">
                    <c:v>15</c:v>
                  </c:pt>
                  <c:pt idx="6">
                    <c:v>18</c:v>
                  </c:pt>
                  <c:pt idx="7">
                    <c:v>21</c:v>
                  </c:pt>
                  <c:pt idx="8">
                    <c:v>24</c:v>
                  </c:pt>
                  <c:pt idx="9">
                    <c:v>27</c:v>
                  </c:pt>
                  <c:pt idx="10">
                    <c:v>30</c:v>
                  </c:pt>
                  <c:pt idx="11">
                    <c:v>33</c:v>
                  </c:pt>
                  <c:pt idx="12">
                    <c:v>36</c:v>
                  </c:pt>
                </c:lvl>
              </c:multiLvlStrCache>
            </c:multiLvlStrRef>
          </c:cat>
          <c:val>
            <c:numRef>
              <c:f>Sheet1!$C$2:$C$14</c:f>
              <c:numCache>
                <c:formatCode>General</c:formatCode>
                <c:ptCount val="13"/>
                <c:pt idx="0">
                  <c:v>-800</c:v>
                </c:pt>
                <c:pt idx="1">
                  <c:v>-719</c:v>
                </c:pt>
                <c:pt idx="2">
                  <c:v>-638</c:v>
                </c:pt>
                <c:pt idx="3">
                  <c:v>-557</c:v>
                </c:pt>
                <c:pt idx="4">
                  <c:v>-476</c:v>
                </c:pt>
                <c:pt idx="5">
                  <c:v>-395</c:v>
                </c:pt>
                <c:pt idx="6">
                  <c:v>-314</c:v>
                </c:pt>
                <c:pt idx="7">
                  <c:v>-233</c:v>
                </c:pt>
                <c:pt idx="8">
                  <c:v>-152</c:v>
                </c:pt>
                <c:pt idx="9">
                  <c:v>-71</c:v>
                </c:pt>
                <c:pt idx="10">
                  <c:v>10</c:v>
                </c:pt>
                <c:pt idx="11">
                  <c:v>91</c:v>
                </c:pt>
                <c:pt idx="12">
                  <c:v>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1000"/>
          <c:min val="-100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7E8882"/>
                </a:solidFill>
                <a:latin typeface="Arial"/>
              </a:defRPr>
            </a:pPr>
            <a:endParaRPr lang="en-US"/>
          </a:p>
        </c:txPr>
        <c:crossAx val="2094734554"/>
        <c:crosses val="autoZero"/>
        <c:crossBetween val="between"/>
        <c:majorUnit val="200"/>
      </c:valAx>
      <c:spPr>
        <a:noFill/>
        <a:ln>
          <a:noFill/>
        </a:ln>
        <a:effectLst/>
      </c:spPr>
    </c:plotArea>
    <c:legend>
      <c:legendPos val="b"/>
      <c:overlay val="0"/>
      <c:txPr>
        <a:bodyPr/>
        <a:lstStyle/>
        <a:p>
          <a:pPr>
            <a:defRPr sz="100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3.png"/><Relationship Id="rId5" Type="http://schemas.openxmlformats.org/officeDocument/2006/relationships/image" Target="../media/image-6-5.png"/><Relationship Id="rId6" Type="http://schemas.openxmlformats.org/officeDocument/2006/relationships/image" Target="../media/image-6-3.png"/><Relationship Id="rId7" Type="http://schemas.openxmlformats.org/officeDocument/2006/relationships/image" Target="../media/image-6-3.png"/><Relationship Id="rId8" Type="http://schemas.openxmlformats.org/officeDocument/2006/relationships/image" Target="../media/image-6-8.png"/><Relationship Id="rId9" Type="http://schemas.openxmlformats.org/officeDocument/2006/relationships/image" Target="../media/image-6-3.png"/><Relationship Id="rId10" Type="http://schemas.openxmlformats.org/officeDocument/2006/relationships/image" Target="../media/image-6-3.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4.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2.xml"/><Relationship Id="rId3" Type="http://schemas.openxmlformats.org/officeDocument/2006/relationships/chart" Target="/ppt/charts/chart3.xml"/><Relationship Id="rId1" Type="http://schemas.openxmlformats.org/officeDocument/2006/relationships/image" Target="../media/image-12-1.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image" Target="../media/image-14-5.jpg"/><Relationship Id="rId6" Type="http://schemas.openxmlformats.org/officeDocument/2006/relationships/image" Target="../media/image-14-6.jpg"/><Relationship Id="rId7" Type="http://schemas.openxmlformats.org/officeDocument/2006/relationships/image" Target="../media/image-14-7.jp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jp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chart" Target="/ppt/charts/chart5.xml"/><Relationship Id="rId1" Type="http://schemas.openxmlformats.org/officeDocument/2006/relationships/image" Target="../media/image-26-1.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jp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jpg"/><Relationship Id="rId7" Type="http://schemas.openxmlformats.org/officeDocument/2006/relationships/slideLayout" Target="../slideLayouts/slideLayout1.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3.png"/><Relationship Id="rId5" Type="http://schemas.openxmlformats.org/officeDocument/2006/relationships/image" Target="../media/image-31-3.png"/><Relationship Id="rId6" Type="http://schemas.openxmlformats.org/officeDocument/2006/relationships/image" Target="../media/image-31-3.png"/><Relationship Id="rId7" Type="http://schemas.openxmlformats.org/officeDocument/2006/relationships/image" Target="../media/image-31-3.png"/><Relationship Id="rId8" Type="http://schemas.openxmlformats.org/officeDocument/2006/relationships/image" Target="../media/image-31-8.png"/><Relationship Id="rId9" Type="http://schemas.openxmlformats.org/officeDocument/2006/relationships/image" Target="../media/image-31-3.png"/><Relationship Id="rId10" Type="http://schemas.openxmlformats.org/officeDocument/2006/relationships/image" Target="../media/image-31-3.png"/><Relationship Id="rId11" Type="http://schemas.openxmlformats.org/officeDocument/2006/relationships/image" Target="../media/image-31-3.png"/><Relationship Id="rId12" Type="http://schemas.openxmlformats.org/officeDocument/2006/relationships/image" Target="../media/image-31-3.png"/><Relationship Id="rId13" Type="http://schemas.openxmlformats.org/officeDocument/2006/relationships/image" Target="../media/image-31-3.png"/><Relationship Id="rId14" Type="http://schemas.openxmlformats.org/officeDocument/2006/relationships/image" Target="../media/image-31-14.png"/><Relationship Id="rId15" Type="http://schemas.openxmlformats.org/officeDocument/2006/relationships/slideLayout" Target="../slideLayouts/slideLayout1.xml"/><Relationship Id="rId1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slideLayout" Target="../slideLayouts/slideLayout1.xml"/><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904695"/>
            <a:ext cx="2616098" cy="372161"/>
          </a:xfrm>
          <a:prstGeom prst="rect">
            <a:avLst/>
          </a:prstGeom>
        </p:spPr>
      </p:pic>
      <p:sp>
        <p:nvSpPr>
          <p:cNvPr id="4" name="Shape 0"/>
          <p:cNvSpPr/>
          <p:nvPr/>
        </p:nvSpPr>
        <p:spPr>
          <a:xfrm>
            <a:off x="812902" y="2819095"/>
            <a:ext cx="254203" cy="25603"/>
          </a:xfrm>
          <a:prstGeom prst="rect">
            <a:avLst/>
          </a:prstGeom>
          <a:solidFill>
            <a:srgbClr val="C79A44"/>
          </a:solidFill>
          <a:ln/>
        </p:spPr>
      </p:sp>
      <p:sp>
        <p:nvSpPr>
          <p:cNvPr id="5" name="Text 1"/>
          <p:cNvSpPr/>
          <p:nvPr/>
        </p:nvSpPr>
        <p:spPr>
          <a:xfrm>
            <a:off x="1194206" y="2730398"/>
            <a:ext cx="3810305" cy="177394"/>
          </a:xfrm>
          <a:prstGeom prst="rect">
            <a:avLst/>
          </a:prstGeom>
          <a:noFill/>
          <a:ln/>
        </p:spPr>
        <p:txBody>
          <a:bodyPr wrap="square" lIns="0" tIns="0" rIns="0" bIns="0" rtlCol="0" anchor="ctr"/>
          <a:lstStyle/>
          <a:p>
            <a:pPr indent="0" marL="0">
              <a:buNone/>
            </a:pPr>
            <a:r>
              <a:rPr lang="en-US" sz="1050" b="1" spc="200" kern="0" dirty="0">
                <a:solidFill>
                  <a:srgbClr val="8CC5A5"/>
                </a:solidFill>
                <a:latin typeface="Arial" pitchFamily="34" charset="0"/>
                <a:ea typeface="Arial" pitchFamily="34" charset="-122"/>
                <a:cs typeface="Arial" pitchFamily="34" charset="-120"/>
              </a:rPr>
              <a:t>PARTNER PROGRAM</a:t>
            </a:r>
            <a:endParaRPr lang="en-US" sz="1050" dirty="0"/>
          </a:p>
        </p:txBody>
      </p:sp>
      <p:sp>
        <p:nvSpPr>
          <p:cNvPr id="6" name="Text 2"/>
          <p:cNvSpPr/>
          <p:nvPr/>
        </p:nvSpPr>
        <p:spPr>
          <a:xfrm>
            <a:off x="812902" y="2997403"/>
            <a:ext cx="7112203" cy="279806"/>
          </a:xfrm>
          <a:prstGeom prst="rect">
            <a:avLst/>
          </a:prstGeom>
          <a:noFill/>
          <a:ln/>
        </p:spPr>
        <p:txBody>
          <a:bodyPr wrap="square" lIns="0" tIns="0" rIns="0" bIns="0" rtlCol="0" anchor="ctr"/>
          <a:lstStyle/>
          <a:p>
            <a:pPr indent="0" marL="0">
              <a:buNone/>
            </a:pPr>
            <a:r>
              <a:rPr lang="en-US" sz="1500" dirty="0">
                <a:solidFill>
                  <a:srgbClr val="D6E3DB"/>
                </a:solidFill>
                <a:latin typeface="Yu Gothic" pitchFamily="34" charset="0"/>
                <a:ea typeface="Yu Gothic" pitchFamily="34" charset="-122"/>
                <a:cs typeface="Yu Gothic" pitchFamily="34" charset="-120"/>
              </a:rPr>
              <a:t>自社物件・遊休スペースを活かす、無人カフェFC</a:t>
            </a:r>
            <a:endParaRPr lang="en-US" sz="1500" dirty="0"/>
          </a:p>
        </p:txBody>
      </p:sp>
      <p:sp>
        <p:nvSpPr>
          <p:cNvPr id="7" name="Text 3"/>
          <p:cNvSpPr/>
          <p:nvPr/>
        </p:nvSpPr>
        <p:spPr>
          <a:xfrm>
            <a:off x="812902" y="3251606"/>
            <a:ext cx="8128102" cy="940003"/>
          </a:xfrm>
          <a:prstGeom prst="rect">
            <a:avLst/>
          </a:prstGeom>
          <a:noFill/>
          <a:ln/>
        </p:spPr>
        <p:txBody>
          <a:bodyPr wrap="square" lIns="0" tIns="0" rIns="0" bIns="0" rtlCol="0" anchor="ctr"/>
          <a:lstStyle/>
          <a:p>
            <a:pPr indent="0" marL="0">
              <a:buNone/>
            </a:pPr>
            <a:r>
              <a:rPr lang="en-US" sz="5400" b="1" dirty="0">
                <a:solidFill>
                  <a:srgbClr val="FFFFFF"/>
                </a:solidFill>
                <a:latin typeface="Yu Gothic" pitchFamily="34" charset="0"/>
                <a:ea typeface="Yu Gothic" pitchFamily="34" charset="-122"/>
                <a:cs typeface="Yu Gothic" pitchFamily="34" charset="-120"/>
              </a:rPr>
              <a:t>パートナー制度</a:t>
            </a:r>
            <a:endParaRPr lang="en-US" sz="5400" dirty="0"/>
          </a:p>
        </p:txBody>
      </p:sp>
      <p:sp>
        <p:nvSpPr>
          <p:cNvPr id="8" name="Text 4"/>
          <p:cNvSpPr/>
          <p:nvPr/>
        </p:nvSpPr>
        <p:spPr>
          <a:xfrm>
            <a:off x="812902" y="4444898"/>
            <a:ext cx="6858000" cy="584302"/>
          </a:xfrm>
          <a:prstGeom prst="rect">
            <a:avLst/>
          </a:prstGeom>
          <a:noFill/>
          <a:ln/>
        </p:spPr>
        <p:txBody>
          <a:bodyPr wrap="square" lIns="0" tIns="0" rIns="0" bIns="0" rtlCol="0" anchor="t"/>
          <a:lstStyle/>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内装・システム導入から集客まで本部が伴走。</a:t>
            </a:r>
            <a:endParaRPr lang="en-US" sz="1250" dirty="0"/>
          </a:p>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低投資で始められる、無人カフェのフランチャイズ制度です。</a:t>
            </a:r>
            <a:endParaRPr lang="en-US" sz="1250" dirty="0"/>
          </a:p>
        </p:txBody>
      </p:sp>
      <p:sp>
        <p:nvSpPr>
          <p:cNvPr id="9" name="Shape 5"/>
          <p:cNvSpPr/>
          <p:nvPr/>
        </p:nvSpPr>
        <p:spPr>
          <a:xfrm>
            <a:off x="812902" y="5537606"/>
            <a:ext cx="711403" cy="25603"/>
          </a:xfrm>
          <a:prstGeom prst="rect">
            <a:avLst/>
          </a:prstGeom>
          <a:solidFill>
            <a:srgbClr val="C79A44"/>
          </a:solidFill>
          <a:ln/>
        </p:spPr>
      </p:sp>
      <p:sp>
        <p:nvSpPr>
          <p:cNvPr id="10" name="Text 6"/>
          <p:cNvSpPr/>
          <p:nvPr/>
        </p:nvSpPr>
        <p:spPr>
          <a:xfrm>
            <a:off x="812902" y="5816498"/>
            <a:ext cx="3174797"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71</a:t>
            </a:r>
            <a:r>
              <a:rPr lang="en-US" sz="1200" b="1" dirty="0">
                <a:solidFill>
                  <a:srgbClr val="FFFFFF"/>
                </a:solidFill>
                <a:latin typeface="Yu Gothic" pitchFamily="34" charset="0"/>
                <a:ea typeface="Yu Gothic" pitchFamily="34" charset="-122"/>
                <a:cs typeface="Yu Gothic" pitchFamily="34" charset="-120"/>
              </a:rPr>
              <a:t> 店舗</a:t>
            </a:r>
            <a:endParaRPr lang="en-US" sz="2600" dirty="0"/>
          </a:p>
        </p:txBody>
      </p:sp>
      <p:sp>
        <p:nvSpPr>
          <p:cNvPr id="11" name="Text 7"/>
          <p:cNvSpPr/>
          <p:nvPr/>
        </p:nvSpPr>
        <p:spPr>
          <a:xfrm>
            <a:off x="812902" y="6223406"/>
            <a:ext cx="3723437"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全国展開（年内10店舗以上 出店予定）</a:t>
            </a:r>
            <a:endParaRPr lang="en-US" sz="950" dirty="0"/>
          </a:p>
        </p:txBody>
      </p:sp>
      <p:sp>
        <p:nvSpPr>
          <p:cNvPr id="12" name="Text 8"/>
          <p:cNvSpPr/>
          <p:nvPr/>
        </p:nvSpPr>
        <p:spPr>
          <a:xfrm>
            <a:off x="4419295" y="5816498"/>
            <a:ext cx="1904695"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r>
              <a:rPr lang="en-US" sz="1200" b="1" dirty="0">
                <a:solidFill>
                  <a:srgbClr val="FFFFFF"/>
                </a:solidFill>
                <a:latin typeface="Yu Gothic" pitchFamily="34" charset="0"/>
                <a:ea typeface="Yu Gothic" pitchFamily="34" charset="-122"/>
                <a:cs typeface="Yu Gothic" pitchFamily="34" charset="-120"/>
              </a:rPr>
              <a:t> 万人</a:t>
            </a:r>
            <a:endParaRPr lang="en-US" sz="2600" dirty="0"/>
          </a:p>
        </p:txBody>
      </p:sp>
      <p:sp>
        <p:nvSpPr>
          <p:cNvPr id="13" name="Text 9"/>
          <p:cNvSpPr/>
          <p:nvPr/>
        </p:nvSpPr>
        <p:spPr>
          <a:xfrm>
            <a:off x="4419295" y="6223406"/>
            <a:ext cx="2453335"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月間利用者数</a:t>
            </a:r>
            <a:endParaRPr lang="en-US" sz="950" dirty="0"/>
          </a:p>
        </p:txBody>
      </p:sp>
      <p:sp>
        <p:nvSpPr>
          <p:cNvPr id="14" name="Text 10"/>
          <p:cNvSpPr/>
          <p:nvPr/>
        </p:nvSpPr>
        <p:spPr>
          <a:xfrm>
            <a:off x="6756502" y="5816498"/>
            <a:ext cx="2286000"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650</a:t>
            </a:r>
            <a:r>
              <a:rPr lang="en-US" sz="1200" b="1" dirty="0">
                <a:solidFill>
                  <a:srgbClr val="FFFFFF"/>
                </a:solidFill>
                <a:latin typeface="Yu Gothic" pitchFamily="34" charset="0"/>
                <a:ea typeface="Yu Gothic" pitchFamily="34" charset="-122"/>
                <a:cs typeface="Yu Gothic" pitchFamily="34" charset="-120"/>
              </a:rPr>
              <a:t> 万円〜</a:t>
            </a:r>
            <a:endParaRPr lang="en-US" sz="2600" dirty="0"/>
          </a:p>
        </p:txBody>
      </p:sp>
      <p:sp>
        <p:nvSpPr>
          <p:cNvPr id="15" name="Text 11"/>
          <p:cNvSpPr/>
          <p:nvPr/>
        </p:nvSpPr>
        <p:spPr>
          <a:xfrm>
            <a:off x="6756502" y="6223406"/>
            <a:ext cx="2834640"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初期費用（居抜き・20坪想定）</a:t>
            </a:r>
            <a:endParaRPr lang="en-US" sz="950" dirty="0"/>
          </a:p>
        </p:txBody>
      </p:sp>
      <p:sp>
        <p:nvSpPr>
          <p:cNvPr id="16" name="Shape 12"/>
          <p:cNvSpPr/>
          <p:nvPr/>
        </p:nvSpPr>
        <p:spPr>
          <a:xfrm>
            <a:off x="4013302" y="5842102"/>
            <a:ext cx="11887" cy="533095"/>
          </a:xfrm>
          <a:prstGeom prst="rect">
            <a:avLst/>
          </a:prstGeom>
          <a:solidFill>
            <a:srgbClr val="3C5F4B"/>
          </a:solidFill>
          <a:ln/>
        </p:spPr>
      </p:sp>
      <p:sp>
        <p:nvSpPr>
          <p:cNvPr id="17" name="Shape 13"/>
          <p:cNvSpPr/>
          <p:nvPr/>
        </p:nvSpPr>
        <p:spPr>
          <a:xfrm>
            <a:off x="6349594" y="5842102"/>
            <a:ext cx="11887" cy="533095"/>
          </a:xfrm>
          <a:prstGeom prst="rect">
            <a:avLst/>
          </a:prstGeom>
          <a:solidFill>
            <a:srgbClr val="3C5F4B"/>
          </a:solidFill>
          <a:ln/>
        </p:spPr>
      </p:sp>
      <p:sp>
        <p:nvSpPr>
          <p:cNvPr id="18" name="Text 14"/>
          <p:cNvSpPr/>
          <p:nvPr/>
        </p:nvSpPr>
        <p:spPr>
          <a:xfrm>
            <a:off x="8889797" y="6197803"/>
            <a:ext cx="2641702" cy="177394"/>
          </a:xfrm>
          <a:prstGeom prst="rect">
            <a:avLst/>
          </a:prstGeom>
          <a:noFill/>
          <a:ln/>
        </p:spPr>
        <p:txBody>
          <a:bodyPr wrap="square" lIns="0" tIns="0" rIns="0" bIns="0" rtlCol="0" anchor="ctr"/>
          <a:lstStyle/>
          <a:p>
            <a:pPr algn="r" indent="0" marL="0">
              <a:buNone/>
            </a:pPr>
            <a:r>
              <a:rPr lang="en-US" sz="950" dirty="0">
                <a:solidFill>
                  <a:srgbClr val="8FA398"/>
                </a:solidFill>
                <a:latin typeface="Yu Gothic" pitchFamily="34" charset="0"/>
                <a:ea typeface="Yu Gothic" pitchFamily="34" charset="-122"/>
                <a:cs typeface="Yu Gothic" pitchFamily="34" charset="-120"/>
              </a:rPr>
              <a:t>セルフカフェ株式会社</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01</a:t>
            </a:r>
            <a:r>
              <a:rPr lang="en-US" sz="1050" b="1" dirty="0">
                <a:solidFill>
                  <a:srgbClr val="1B8149"/>
                </a:solidFill>
                <a:latin typeface="Yu Gothic" pitchFamily="34" charset="0"/>
                <a:ea typeface="Yu Gothic" pitchFamily="34" charset="-122"/>
                <a:cs typeface="Yu Gothic" pitchFamily="34" charset="-120"/>
              </a:rPr>
              <a:t>   会社概要</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会社概要</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無人カフェ「セルフカフェ」の企画・開発・運営を行っています。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02</a:t>
            </a:r>
            <a:endParaRPr lang="en-US" sz="1000" dirty="0"/>
          </a:p>
        </p:txBody>
      </p:sp>
      <p:pic>
        <p:nvPicPr>
          <p:cNvPr id="9" name="Image 1" descr="/home/user/suzuki-ceo/selfcafe-partner-deck/assets/photos/.crops/p02-storefront-1189x278.jpg">    </p:cNvPr>
          <p:cNvPicPr>
            <a:picLocks noChangeAspect="1"/>
          </p:cNvPicPr>
          <p:nvPr/>
        </p:nvPicPr>
        <p:blipFill>
          <a:blip r:embed="rId2"/>
          <a:stretch>
            <a:fillRect/>
          </a:stretch>
        </p:blipFill>
        <p:spPr>
          <a:xfrm>
            <a:off x="660197" y="1651406"/>
            <a:ext cx="10871302" cy="2542032"/>
          </a:xfrm>
          <a:prstGeom prst="rect">
            <a:avLst/>
          </a:prstGeom>
        </p:spPr>
      </p:pic>
      <p:sp>
        <p:nvSpPr>
          <p:cNvPr id="10" name="Shape 6"/>
          <p:cNvSpPr/>
          <p:nvPr/>
        </p:nvSpPr>
        <p:spPr>
          <a:xfrm>
            <a:off x="660197" y="1651406"/>
            <a:ext cx="10871302" cy="2542032"/>
          </a:xfrm>
          <a:prstGeom prst="rect">
            <a:avLst/>
          </a:prstGeom>
          <a:ln w="12700">
            <a:solidFill>
              <a:srgbClr val="D8D2C6"/>
            </a:solidFill>
            <a:prstDash val="solid"/>
          </a:ln>
        </p:spPr>
      </p:sp>
      <p:sp>
        <p:nvSpPr>
          <p:cNvPr id="11" name="Shape 7"/>
          <p:cNvSpPr/>
          <p:nvPr/>
        </p:nvSpPr>
        <p:spPr>
          <a:xfrm>
            <a:off x="788213" y="3736238"/>
            <a:ext cx="3731260" cy="329184"/>
          </a:xfrm>
          <a:prstGeom prst="roundRect">
            <a:avLst>
              <a:gd name="adj" fmla="val 13889"/>
            </a:avLst>
          </a:prstGeom>
          <a:solidFill>
            <a:srgbClr val="FFFFFF">
              <a:alpha val="90000"/>
            </a:srgbClr>
          </a:solidFill>
          <a:ln/>
        </p:spPr>
      </p:sp>
      <p:sp>
        <p:nvSpPr>
          <p:cNvPr id="12" name="Text 8"/>
          <p:cNvSpPr/>
          <p:nvPr/>
        </p:nvSpPr>
        <p:spPr>
          <a:xfrm>
            <a:off x="952805" y="3736238"/>
            <a:ext cx="345694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セルフカフェ 盛岡駅前店（2025年4月オープン）</a:t>
            </a:r>
            <a:endParaRPr lang="en-US" sz="1000" dirty="0"/>
          </a:p>
        </p:txBody>
      </p:sp>
      <p:sp>
        <p:nvSpPr>
          <p:cNvPr id="13" name="Text 9"/>
          <p:cNvSpPr/>
          <p:nvPr/>
        </p:nvSpPr>
        <p:spPr>
          <a:xfrm>
            <a:off x="660197"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会社名</a:t>
            </a:r>
            <a:endParaRPr lang="en-US" sz="900" dirty="0"/>
          </a:p>
        </p:txBody>
      </p:sp>
      <p:sp>
        <p:nvSpPr>
          <p:cNvPr id="14" name="Text 10"/>
          <p:cNvSpPr/>
          <p:nvPr/>
        </p:nvSpPr>
        <p:spPr>
          <a:xfrm>
            <a:off x="660197"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セルフカフェ株式会社</a:t>
            </a:r>
            <a:endParaRPr lang="en-US" sz="1300" dirty="0"/>
          </a:p>
        </p:txBody>
      </p:sp>
      <p:sp>
        <p:nvSpPr>
          <p:cNvPr id="15" name="Shape 11"/>
          <p:cNvSpPr/>
          <p:nvPr/>
        </p:nvSpPr>
        <p:spPr>
          <a:xfrm>
            <a:off x="660197" y="4961534"/>
            <a:ext cx="3318967" cy="10058"/>
          </a:xfrm>
          <a:prstGeom prst="rect">
            <a:avLst/>
          </a:prstGeom>
          <a:solidFill>
            <a:srgbClr val="EFEAE0"/>
          </a:solidFill>
          <a:ln/>
        </p:spPr>
      </p:sp>
      <p:sp>
        <p:nvSpPr>
          <p:cNvPr id="16" name="Text 12"/>
          <p:cNvSpPr/>
          <p:nvPr/>
        </p:nvSpPr>
        <p:spPr>
          <a:xfrm>
            <a:off x="4436364"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代表取締役</a:t>
            </a:r>
            <a:endParaRPr lang="en-US" sz="900" dirty="0"/>
          </a:p>
        </p:txBody>
      </p:sp>
      <p:sp>
        <p:nvSpPr>
          <p:cNvPr id="17" name="Text 13"/>
          <p:cNvSpPr/>
          <p:nvPr/>
        </p:nvSpPr>
        <p:spPr>
          <a:xfrm>
            <a:off x="4436364"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鈴木 大基</a:t>
            </a:r>
            <a:endParaRPr lang="en-US" sz="1300" dirty="0"/>
          </a:p>
        </p:txBody>
      </p:sp>
      <p:sp>
        <p:nvSpPr>
          <p:cNvPr id="18" name="Shape 14"/>
          <p:cNvSpPr/>
          <p:nvPr/>
        </p:nvSpPr>
        <p:spPr>
          <a:xfrm>
            <a:off x="4436364" y="4961534"/>
            <a:ext cx="3318967" cy="10058"/>
          </a:xfrm>
          <a:prstGeom prst="rect">
            <a:avLst/>
          </a:prstGeom>
          <a:solidFill>
            <a:srgbClr val="EFEAE0"/>
          </a:solidFill>
          <a:ln/>
        </p:spPr>
      </p:sp>
      <p:sp>
        <p:nvSpPr>
          <p:cNvPr id="19" name="Text 15"/>
          <p:cNvSpPr/>
          <p:nvPr/>
        </p:nvSpPr>
        <p:spPr>
          <a:xfrm>
            <a:off x="8212531"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資本金</a:t>
            </a:r>
            <a:endParaRPr lang="en-US" sz="900" dirty="0"/>
          </a:p>
        </p:txBody>
      </p:sp>
      <p:sp>
        <p:nvSpPr>
          <p:cNvPr id="20" name="Text 16"/>
          <p:cNvSpPr/>
          <p:nvPr/>
        </p:nvSpPr>
        <p:spPr>
          <a:xfrm>
            <a:off x="8212531"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2,000万円</a:t>
            </a:r>
            <a:endParaRPr lang="en-US" sz="1300" dirty="0"/>
          </a:p>
        </p:txBody>
      </p:sp>
      <p:sp>
        <p:nvSpPr>
          <p:cNvPr id="21" name="Shape 17"/>
          <p:cNvSpPr/>
          <p:nvPr/>
        </p:nvSpPr>
        <p:spPr>
          <a:xfrm>
            <a:off x="8212531" y="4961534"/>
            <a:ext cx="3318967" cy="10058"/>
          </a:xfrm>
          <a:prstGeom prst="rect">
            <a:avLst/>
          </a:prstGeom>
          <a:solidFill>
            <a:srgbClr val="EFEAE0"/>
          </a:solidFill>
          <a:ln/>
        </p:spPr>
      </p:sp>
      <p:sp>
        <p:nvSpPr>
          <p:cNvPr id="22" name="Text 18"/>
          <p:cNvSpPr/>
          <p:nvPr/>
        </p:nvSpPr>
        <p:spPr>
          <a:xfrm>
            <a:off x="660197"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事業内容</a:t>
            </a:r>
            <a:endParaRPr lang="en-US" sz="900" dirty="0"/>
          </a:p>
        </p:txBody>
      </p:sp>
      <p:sp>
        <p:nvSpPr>
          <p:cNvPr id="23" name="Text 19"/>
          <p:cNvSpPr/>
          <p:nvPr/>
        </p:nvSpPr>
        <p:spPr>
          <a:xfrm>
            <a:off x="660197"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無人カフェの経営</a:t>
            </a:r>
            <a:endParaRPr lang="en-US" sz="1300" dirty="0"/>
          </a:p>
        </p:txBody>
      </p:sp>
      <p:sp>
        <p:nvSpPr>
          <p:cNvPr id="24" name="Shape 20"/>
          <p:cNvSpPr/>
          <p:nvPr/>
        </p:nvSpPr>
        <p:spPr>
          <a:xfrm>
            <a:off x="660197" y="5711342"/>
            <a:ext cx="3318967" cy="10058"/>
          </a:xfrm>
          <a:prstGeom prst="rect">
            <a:avLst/>
          </a:prstGeom>
          <a:solidFill>
            <a:srgbClr val="EFEAE0"/>
          </a:solidFill>
          <a:ln/>
        </p:spPr>
      </p:sp>
      <p:sp>
        <p:nvSpPr>
          <p:cNvPr id="25" name="Text 21"/>
          <p:cNvSpPr/>
          <p:nvPr/>
        </p:nvSpPr>
        <p:spPr>
          <a:xfrm>
            <a:off x="4436364"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設立日</a:t>
            </a:r>
            <a:endParaRPr lang="en-US" sz="900" dirty="0"/>
          </a:p>
        </p:txBody>
      </p:sp>
      <p:sp>
        <p:nvSpPr>
          <p:cNvPr id="26" name="Text 22"/>
          <p:cNvSpPr/>
          <p:nvPr/>
        </p:nvSpPr>
        <p:spPr>
          <a:xfrm>
            <a:off x="4436364"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2024年5月1日</a:t>
            </a:r>
            <a:endParaRPr lang="en-US" sz="1300" dirty="0"/>
          </a:p>
        </p:txBody>
      </p:sp>
      <p:sp>
        <p:nvSpPr>
          <p:cNvPr id="27" name="Shape 23"/>
          <p:cNvSpPr/>
          <p:nvPr/>
        </p:nvSpPr>
        <p:spPr>
          <a:xfrm>
            <a:off x="4436364" y="5711342"/>
            <a:ext cx="3318967" cy="10058"/>
          </a:xfrm>
          <a:prstGeom prst="rect">
            <a:avLst/>
          </a:prstGeom>
          <a:solidFill>
            <a:srgbClr val="EFEAE0"/>
          </a:solidFill>
          <a:ln/>
        </p:spPr>
      </p:sp>
      <p:sp>
        <p:nvSpPr>
          <p:cNvPr id="28" name="Text 24"/>
          <p:cNvSpPr/>
          <p:nvPr/>
        </p:nvSpPr>
        <p:spPr>
          <a:xfrm>
            <a:off x="8212531"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公式HP</a:t>
            </a:r>
            <a:endParaRPr lang="en-US" sz="900" dirty="0"/>
          </a:p>
        </p:txBody>
      </p:sp>
      <p:sp>
        <p:nvSpPr>
          <p:cNvPr id="29" name="Text 25"/>
          <p:cNvSpPr/>
          <p:nvPr/>
        </p:nvSpPr>
        <p:spPr>
          <a:xfrm>
            <a:off x="8212531"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https://selfcafe.jp/</a:t>
            </a:r>
            <a:endParaRPr lang="en-US" sz="1300" dirty="0"/>
          </a:p>
        </p:txBody>
      </p:sp>
      <p:sp>
        <p:nvSpPr>
          <p:cNvPr id="30" name="Shape 26"/>
          <p:cNvSpPr/>
          <p:nvPr/>
        </p:nvSpPr>
        <p:spPr>
          <a:xfrm>
            <a:off x="8212531" y="5711342"/>
            <a:ext cx="3318967" cy="10058"/>
          </a:xfrm>
          <a:prstGeom prst="rect">
            <a:avLst/>
          </a:prstGeom>
          <a:solidFill>
            <a:srgbClr val="EFEAE0"/>
          </a:solidFill>
          <a:ln/>
        </p:spPr>
      </p:sp>
      <p:sp>
        <p:nvSpPr>
          <p:cNvPr id="31" name="Shape 27"/>
          <p:cNvSpPr/>
          <p:nvPr/>
        </p:nvSpPr>
        <p:spPr>
          <a:xfrm>
            <a:off x="660197" y="6022238"/>
            <a:ext cx="10871302" cy="457200"/>
          </a:xfrm>
          <a:prstGeom prst="roundRect">
            <a:avLst>
              <a:gd name="adj" fmla="val 10000"/>
            </a:avLst>
          </a:prstGeom>
          <a:solidFill>
            <a:srgbClr val="F1F8F3"/>
          </a:solidFill>
          <a:ln/>
        </p:spPr>
      </p:sp>
      <p:sp>
        <p:nvSpPr>
          <p:cNvPr id="32" name="Text 28"/>
          <p:cNvSpPr/>
          <p:nvPr/>
        </p:nvSpPr>
        <p:spPr>
          <a:xfrm>
            <a:off x="879653" y="6022238"/>
            <a:ext cx="10432390" cy="457200"/>
          </a:xfrm>
          <a:prstGeom prst="rect">
            <a:avLst/>
          </a:prstGeom>
          <a:noFill/>
          <a:ln/>
        </p:spPr>
        <p:txBody>
          <a:bodyPr wrap="square" lIns="0" tIns="0" rIns="0" bIns="0" rtlCol="0" anchor="ctr"/>
          <a:lstStyle/>
          <a:p>
            <a:pPr indent="0" marL="0">
              <a:buNone/>
            </a:pPr>
            <a:r>
              <a:rPr lang="en-US" sz="1000" dirty="0">
                <a:solidFill>
                  <a:srgbClr val="106838"/>
                </a:solidFill>
                <a:latin typeface="Yu Gothic" pitchFamily="34" charset="0"/>
                <a:ea typeface="Yu Gothic" pitchFamily="34" charset="-122"/>
                <a:cs typeface="Yu Gothic" pitchFamily="34" charset="-120"/>
              </a:rPr>
              <a:t>※ 2024年5月1日よりウッドデザインパーク株式会社から分社化</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02</a:t>
            </a:r>
            <a:r>
              <a:rPr lang="en-US" sz="1050" b="1" dirty="0">
                <a:solidFill>
                  <a:srgbClr val="1B8149"/>
                </a:solidFill>
                <a:latin typeface="Yu Gothic" pitchFamily="34" charset="0"/>
                <a:ea typeface="Yu Gothic" pitchFamily="34" charset="-122"/>
                <a:cs typeface="Yu Gothic" pitchFamily="34" charset="-120"/>
              </a:rPr>
              <a:t>   まず、数字から</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650万円から、月47万円・回収約17ヶ月へ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詳細の前に、要点となる4つの数字です（20坪・1杯420円モデルの試算）。</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03</a:t>
            </a:r>
            <a:endParaRPr lang="en-US" sz="1000" dirty="0"/>
          </a:p>
        </p:txBody>
      </p:sp>
      <p:sp>
        <p:nvSpPr>
          <p:cNvPr id="9" name="Shape 6"/>
          <p:cNvSpPr/>
          <p:nvPr/>
        </p:nvSpPr>
        <p:spPr>
          <a:xfrm>
            <a:off x="660197" y="1651406"/>
            <a:ext cx="5243627" cy="2011680"/>
          </a:xfrm>
          <a:prstGeom prst="roundRect">
            <a:avLst>
              <a:gd name="adj" fmla="val 2727"/>
            </a:avLst>
          </a:prstGeom>
          <a:solidFill>
            <a:srgbClr val="F1F8F3"/>
          </a:solidFill>
          <a:ln w="9525">
            <a:solidFill>
              <a:srgbClr val="D2E7DA"/>
            </a:solidFill>
            <a:prstDash val="solid"/>
          </a:ln>
        </p:spPr>
      </p:sp>
      <p:sp>
        <p:nvSpPr>
          <p:cNvPr id="10" name="Text 7"/>
          <p:cNvSpPr/>
          <p:nvPr/>
        </p:nvSpPr>
        <p:spPr>
          <a:xfrm>
            <a:off x="971093" y="1870862"/>
            <a:ext cx="4621835" cy="274320"/>
          </a:xfrm>
          <a:prstGeom prst="rect">
            <a:avLst/>
          </a:prstGeom>
          <a:noFill/>
          <a:ln/>
        </p:spPr>
        <p:txBody>
          <a:bodyPr wrap="square" lIns="0" tIns="0" rIns="0" bIns="0" rtlCol="0" anchor="ctr"/>
          <a:lstStyle/>
          <a:p>
            <a:pPr indent="0" marL="0">
              <a:buNone/>
            </a:pPr>
            <a:r>
              <a:rPr lang="en-US" sz="1200" b="1" dirty="0">
                <a:solidFill>
                  <a:srgbClr val="106838"/>
                </a:solidFill>
                <a:latin typeface="Yu Gothic" pitchFamily="34" charset="0"/>
                <a:ea typeface="Yu Gothic" pitchFamily="34" charset="-122"/>
                <a:cs typeface="Yu Gothic" pitchFamily="34" charset="-120"/>
              </a:rPr>
              <a:t>初期投資</a:t>
            </a:r>
            <a:endParaRPr lang="en-US" sz="1200" dirty="0"/>
          </a:p>
        </p:txBody>
      </p:sp>
      <p:sp>
        <p:nvSpPr>
          <p:cNvPr id="11" name="Text 8"/>
          <p:cNvSpPr/>
          <p:nvPr/>
        </p:nvSpPr>
        <p:spPr>
          <a:xfrm>
            <a:off x="971093" y="2200046"/>
            <a:ext cx="4621835" cy="713232"/>
          </a:xfrm>
          <a:prstGeom prst="rect">
            <a:avLst/>
          </a:prstGeom>
          <a:noFill/>
          <a:ln/>
        </p:spPr>
        <p:txBody>
          <a:bodyPr wrap="square" lIns="0" tIns="0" rIns="0" bIns="0" rtlCol="0" anchor="ctr"/>
          <a:lstStyle/>
          <a:p>
            <a:pPr indent="0" marL="0">
              <a:buNone/>
            </a:pPr>
            <a:r>
              <a:rPr lang="en-US" sz="3400" b="1" dirty="0">
                <a:solidFill>
                  <a:srgbClr val="106838"/>
                </a:solidFill>
                <a:latin typeface="Yu Gothic" pitchFamily="34" charset="0"/>
                <a:ea typeface="Yu Gothic" pitchFamily="34" charset="-122"/>
                <a:cs typeface="Yu Gothic" pitchFamily="34" charset="-120"/>
              </a:rPr>
              <a:t>650</a:t>
            </a:r>
            <a:r>
              <a:rPr lang="en-US" sz="1700" b="1" dirty="0">
                <a:solidFill>
                  <a:srgbClr val="106838"/>
                </a:solidFill>
                <a:latin typeface="Yu Gothic" pitchFamily="34" charset="0"/>
                <a:ea typeface="Yu Gothic" pitchFamily="34" charset="-122"/>
                <a:cs typeface="Yu Gothic" pitchFamily="34" charset="-120"/>
              </a:rPr>
              <a:t> 万円〜</a:t>
            </a:r>
            <a:endParaRPr lang="en-US" sz="3400" dirty="0"/>
          </a:p>
        </p:txBody>
      </p:sp>
      <p:sp>
        <p:nvSpPr>
          <p:cNvPr id="12" name="Text 9"/>
          <p:cNvSpPr/>
          <p:nvPr/>
        </p:nvSpPr>
        <p:spPr>
          <a:xfrm>
            <a:off x="971093" y="3004718"/>
            <a:ext cx="4621835" cy="566928"/>
          </a:xfrm>
          <a:prstGeom prst="rect">
            <a:avLst/>
          </a:prstGeom>
          <a:noFill/>
          <a:ln/>
        </p:spPr>
        <p:txBody>
          <a:bodyPr wrap="square" lIns="0" tIns="0" rIns="0" bIns="0" rtlCol="0" anchor="t"/>
          <a:lstStyle/>
          <a:p>
            <a:pPr indent="0" marL="0">
              <a:lnSpc>
                <a:spcPct val="135000"/>
              </a:lnSpc>
              <a:buNone/>
            </a:pPr>
            <a:r>
              <a:rPr lang="en-US" sz="1000" dirty="0">
                <a:solidFill>
                  <a:srgbClr val="7E8882"/>
                </a:solidFill>
                <a:latin typeface="Yu Gothic" pitchFamily="34" charset="0"/>
                <a:ea typeface="Yu Gothic" pitchFamily="34" charset="-122"/>
                <a:cs typeface="Yu Gothic" pitchFamily="34" charset="-120"/>
              </a:rPr>
              <a:t>最低開業費（居抜き・20坪）</a:t>
            </a:r>
            <a:endParaRPr lang="en-US" sz="1000" dirty="0"/>
          </a:p>
          <a:p>
            <a:pPr indent="0" marL="0">
              <a:lnSpc>
                <a:spcPct val="135000"/>
              </a:lnSpc>
              <a:buNone/>
            </a:pPr>
            <a:r>
              <a:rPr lang="en-US" sz="1000" dirty="0">
                <a:solidFill>
                  <a:srgbClr val="7E8882"/>
                </a:solidFill>
                <a:latin typeface="Yu Gothic" pitchFamily="34" charset="0"/>
                <a:ea typeface="Yu Gothic" pitchFamily="34" charset="-122"/>
                <a:cs typeface="Yu Gothic" pitchFamily="34" charset="-120"/>
              </a:rPr>
              <a:t>標準総投資予算：800万円程度〜</a:t>
            </a:r>
            <a:endParaRPr lang="en-US" sz="1000" dirty="0"/>
          </a:p>
        </p:txBody>
      </p:sp>
      <p:sp>
        <p:nvSpPr>
          <p:cNvPr id="13" name="Shape 10"/>
          <p:cNvSpPr/>
          <p:nvPr/>
        </p:nvSpPr>
        <p:spPr>
          <a:xfrm>
            <a:off x="6287872" y="1651406"/>
            <a:ext cx="5243627" cy="2011680"/>
          </a:xfrm>
          <a:prstGeom prst="roundRect">
            <a:avLst>
              <a:gd name="adj" fmla="val 2727"/>
            </a:avLst>
          </a:prstGeom>
          <a:solidFill>
            <a:srgbClr val="0C5230"/>
          </a:solidFill>
          <a:ln/>
        </p:spPr>
      </p:sp>
      <p:sp>
        <p:nvSpPr>
          <p:cNvPr id="14" name="Text 11"/>
          <p:cNvSpPr/>
          <p:nvPr/>
        </p:nvSpPr>
        <p:spPr>
          <a:xfrm>
            <a:off x="6598768" y="1870862"/>
            <a:ext cx="4621835" cy="274320"/>
          </a:xfrm>
          <a:prstGeom prst="rect">
            <a:avLst/>
          </a:prstGeom>
          <a:noFill/>
          <a:ln/>
        </p:spPr>
        <p:txBody>
          <a:bodyPr wrap="square" lIns="0" tIns="0" rIns="0" bIns="0" rtlCol="0" anchor="ctr"/>
          <a:lstStyle/>
          <a:p>
            <a:pPr indent="0" marL="0">
              <a:buNone/>
            </a:pPr>
            <a:r>
              <a:rPr lang="en-US" sz="1200" b="1" dirty="0">
                <a:solidFill>
                  <a:srgbClr val="8CC5A5"/>
                </a:solidFill>
                <a:latin typeface="Yu Gothic" pitchFamily="34" charset="0"/>
                <a:ea typeface="Yu Gothic" pitchFamily="34" charset="-122"/>
                <a:cs typeface="Yu Gothic" pitchFamily="34" charset="-120"/>
              </a:rPr>
              <a:t>月間利益モデル（75杯／日）</a:t>
            </a:r>
            <a:endParaRPr lang="en-US" sz="1200" dirty="0"/>
          </a:p>
        </p:txBody>
      </p:sp>
      <p:sp>
        <p:nvSpPr>
          <p:cNvPr id="15" name="Text 12"/>
          <p:cNvSpPr/>
          <p:nvPr/>
        </p:nvSpPr>
        <p:spPr>
          <a:xfrm>
            <a:off x="6598768" y="2200046"/>
            <a:ext cx="4621835" cy="713232"/>
          </a:xfrm>
          <a:prstGeom prst="rect">
            <a:avLst/>
          </a:prstGeom>
          <a:noFill/>
          <a:ln/>
        </p:spPr>
        <p:txBody>
          <a:bodyPr wrap="square" lIns="0" tIns="0" rIns="0" bIns="0" rtlCol="0" anchor="ctr"/>
          <a:lstStyle/>
          <a:p>
            <a:pPr indent="0" marL="0">
              <a:buNone/>
            </a:pPr>
            <a:r>
              <a:rPr lang="en-US" sz="3400" b="1" dirty="0">
                <a:solidFill>
                  <a:srgbClr val="FFFFFF"/>
                </a:solidFill>
                <a:latin typeface="Yu Gothic" pitchFamily="34" charset="0"/>
                <a:ea typeface="Yu Gothic" pitchFamily="34" charset="-122"/>
                <a:cs typeface="Yu Gothic" pitchFamily="34" charset="-120"/>
              </a:rPr>
              <a:t>自社物件 47</a:t>
            </a:r>
            <a:r>
              <a:rPr lang="en-US" sz="1700" b="1" dirty="0">
                <a:solidFill>
                  <a:srgbClr val="FFFFFF"/>
                </a:solidFill>
                <a:latin typeface="Yu Gothic" pitchFamily="34" charset="0"/>
                <a:ea typeface="Yu Gothic" pitchFamily="34" charset="-122"/>
                <a:cs typeface="Yu Gothic" pitchFamily="34" charset="-120"/>
              </a:rPr>
              <a:t> 万円</a:t>
            </a:r>
            <a:endParaRPr lang="en-US" sz="3400" dirty="0"/>
          </a:p>
        </p:txBody>
      </p:sp>
      <p:sp>
        <p:nvSpPr>
          <p:cNvPr id="16" name="Text 13"/>
          <p:cNvSpPr/>
          <p:nvPr/>
        </p:nvSpPr>
        <p:spPr>
          <a:xfrm>
            <a:off x="6598768" y="3004718"/>
            <a:ext cx="4621835" cy="566928"/>
          </a:xfrm>
          <a:prstGeom prst="rect">
            <a:avLst/>
          </a:prstGeom>
          <a:noFill/>
          <a:ln/>
        </p:spPr>
        <p:txBody>
          <a:bodyPr wrap="square" lIns="0" tIns="0" rIns="0" bIns="0" rtlCol="0" anchor="t"/>
          <a:lstStyle/>
          <a:p>
            <a:pPr indent="0" marL="0">
              <a:lnSpc>
                <a:spcPct val="135000"/>
              </a:lnSpc>
              <a:buNone/>
            </a:pPr>
            <a:r>
              <a:rPr lang="en-US" sz="1000" dirty="0">
                <a:solidFill>
                  <a:srgbClr val="AFC2B8"/>
                </a:solidFill>
                <a:latin typeface="Yu Gothic" pitchFamily="34" charset="0"/>
                <a:ea typeface="Yu Gothic" pitchFamily="34" charset="-122"/>
                <a:cs typeface="Yu Gothic" pitchFamily="34" charset="-120"/>
              </a:rPr>
              <a:t>賃貸物件の場合：27万円</a:t>
            </a:r>
            <a:endParaRPr lang="en-US" sz="1000" dirty="0"/>
          </a:p>
          <a:p>
            <a:pPr indent="0" marL="0">
              <a:lnSpc>
                <a:spcPct val="135000"/>
              </a:lnSpc>
              <a:buNone/>
            </a:pPr>
            <a:r>
              <a:rPr lang="en-US" sz="1000" dirty="0">
                <a:solidFill>
                  <a:srgbClr val="AFC2B8"/>
                </a:solidFill>
                <a:latin typeface="Yu Gothic" pitchFamily="34" charset="0"/>
                <a:ea typeface="Yu Gothic" pitchFamily="34" charset="-122"/>
                <a:cs typeface="Yu Gothic" pitchFamily="34" charset="-120"/>
              </a:rPr>
              <a:t>（償却前営業利益・月）</a:t>
            </a:r>
            <a:endParaRPr lang="en-US" sz="1000" dirty="0"/>
          </a:p>
        </p:txBody>
      </p:sp>
      <p:sp>
        <p:nvSpPr>
          <p:cNvPr id="17" name="Shape 14"/>
          <p:cNvSpPr/>
          <p:nvPr/>
        </p:nvSpPr>
        <p:spPr>
          <a:xfrm>
            <a:off x="660197" y="3937406"/>
            <a:ext cx="5243627" cy="2011680"/>
          </a:xfrm>
          <a:prstGeom prst="roundRect">
            <a:avLst>
              <a:gd name="adj" fmla="val 2727"/>
            </a:avLst>
          </a:prstGeom>
          <a:solidFill>
            <a:srgbClr val="F1F8F3"/>
          </a:solidFill>
          <a:ln w="9525">
            <a:solidFill>
              <a:srgbClr val="D2E7DA"/>
            </a:solidFill>
            <a:prstDash val="solid"/>
          </a:ln>
        </p:spPr>
      </p:sp>
      <p:sp>
        <p:nvSpPr>
          <p:cNvPr id="18" name="Text 15"/>
          <p:cNvSpPr/>
          <p:nvPr/>
        </p:nvSpPr>
        <p:spPr>
          <a:xfrm>
            <a:off x="971093" y="4156862"/>
            <a:ext cx="4621835" cy="274320"/>
          </a:xfrm>
          <a:prstGeom prst="rect">
            <a:avLst/>
          </a:prstGeom>
          <a:noFill/>
          <a:ln/>
        </p:spPr>
        <p:txBody>
          <a:bodyPr wrap="square" lIns="0" tIns="0" rIns="0" bIns="0" rtlCol="0" anchor="ctr"/>
          <a:lstStyle/>
          <a:p>
            <a:pPr indent="0" marL="0">
              <a:buNone/>
            </a:pPr>
            <a:r>
              <a:rPr lang="en-US" sz="1200" b="1" dirty="0">
                <a:solidFill>
                  <a:srgbClr val="106838"/>
                </a:solidFill>
                <a:latin typeface="Yu Gothic" pitchFamily="34" charset="0"/>
                <a:ea typeface="Yu Gothic" pitchFamily="34" charset="-122"/>
                <a:cs typeface="Yu Gothic" pitchFamily="34" charset="-120"/>
              </a:rPr>
              <a:t>オーナーの運営時間</a:t>
            </a:r>
            <a:endParaRPr lang="en-US" sz="1200" dirty="0"/>
          </a:p>
        </p:txBody>
      </p:sp>
      <p:sp>
        <p:nvSpPr>
          <p:cNvPr id="19" name="Text 16"/>
          <p:cNvSpPr/>
          <p:nvPr/>
        </p:nvSpPr>
        <p:spPr>
          <a:xfrm>
            <a:off x="971093" y="4486046"/>
            <a:ext cx="4621835" cy="713232"/>
          </a:xfrm>
          <a:prstGeom prst="rect">
            <a:avLst/>
          </a:prstGeom>
          <a:noFill/>
          <a:ln/>
        </p:spPr>
        <p:txBody>
          <a:bodyPr wrap="square" lIns="0" tIns="0" rIns="0" bIns="0" rtlCol="0" anchor="ctr"/>
          <a:lstStyle/>
          <a:p>
            <a:pPr indent="0" marL="0">
              <a:buNone/>
            </a:pPr>
            <a:r>
              <a:rPr lang="en-US" sz="3400" b="1" dirty="0">
                <a:solidFill>
                  <a:srgbClr val="106838"/>
                </a:solidFill>
                <a:latin typeface="Yu Gothic" pitchFamily="34" charset="0"/>
                <a:ea typeface="Yu Gothic" pitchFamily="34" charset="-122"/>
                <a:cs typeface="Yu Gothic" pitchFamily="34" charset="-120"/>
              </a:rPr>
              <a:t>1日 約15</a:t>
            </a:r>
            <a:r>
              <a:rPr lang="en-US" sz="1700" b="1" dirty="0">
                <a:solidFill>
                  <a:srgbClr val="106838"/>
                </a:solidFill>
                <a:latin typeface="Yu Gothic" pitchFamily="34" charset="0"/>
                <a:ea typeface="Yu Gothic" pitchFamily="34" charset="-122"/>
                <a:cs typeface="Yu Gothic" pitchFamily="34" charset="-120"/>
              </a:rPr>
              <a:t> 分</a:t>
            </a:r>
            <a:endParaRPr lang="en-US" sz="3400" dirty="0"/>
          </a:p>
        </p:txBody>
      </p:sp>
      <p:sp>
        <p:nvSpPr>
          <p:cNvPr id="20" name="Text 17"/>
          <p:cNvSpPr/>
          <p:nvPr/>
        </p:nvSpPr>
        <p:spPr>
          <a:xfrm>
            <a:off x="971093" y="5290718"/>
            <a:ext cx="4621835" cy="566928"/>
          </a:xfrm>
          <a:prstGeom prst="rect">
            <a:avLst/>
          </a:prstGeom>
          <a:noFill/>
          <a:ln/>
        </p:spPr>
        <p:txBody>
          <a:bodyPr wrap="square" lIns="0" tIns="0" rIns="0" bIns="0" rtlCol="0" anchor="t"/>
          <a:lstStyle/>
          <a:p>
            <a:pPr indent="0" marL="0">
              <a:lnSpc>
                <a:spcPct val="135000"/>
              </a:lnSpc>
              <a:buNone/>
            </a:pPr>
            <a:r>
              <a:rPr lang="en-US" sz="1000" dirty="0">
                <a:solidFill>
                  <a:srgbClr val="7E8882"/>
                </a:solidFill>
                <a:latin typeface="Yu Gothic" pitchFamily="34" charset="0"/>
                <a:ea typeface="Yu Gothic" pitchFamily="34" charset="-122"/>
                <a:cs typeface="Yu Gothic" pitchFamily="34" charset="-120"/>
              </a:rPr>
              <a:t>清掃・原料補充のみ</a:t>
            </a:r>
            <a:endParaRPr lang="en-US" sz="1000" dirty="0"/>
          </a:p>
          <a:p>
            <a:pPr indent="0" marL="0">
              <a:lnSpc>
                <a:spcPct val="135000"/>
              </a:lnSpc>
              <a:buNone/>
            </a:pPr>
            <a:r>
              <a:rPr lang="en-US" sz="1000" dirty="0">
                <a:solidFill>
                  <a:srgbClr val="7E8882"/>
                </a:solidFill>
                <a:latin typeface="Yu Gothic" pitchFamily="34" charset="0"/>
                <a:ea typeface="Yu Gothic" pitchFamily="34" charset="-122"/>
                <a:cs typeface="Yu Gothic" pitchFamily="34" charset="-120"/>
              </a:rPr>
              <a:t>委託運営も可能</a:t>
            </a:r>
            <a:endParaRPr lang="en-US" sz="1000" dirty="0"/>
          </a:p>
        </p:txBody>
      </p:sp>
      <p:sp>
        <p:nvSpPr>
          <p:cNvPr id="21" name="Shape 18"/>
          <p:cNvSpPr/>
          <p:nvPr/>
        </p:nvSpPr>
        <p:spPr>
          <a:xfrm>
            <a:off x="6287872" y="3937406"/>
            <a:ext cx="5243627" cy="2011680"/>
          </a:xfrm>
          <a:prstGeom prst="roundRect">
            <a:avLst>
              <a:gd name="adj" fmla="val 2727"/>
            </a:avLst>
          </a:prstGeom>
          <a:solidFill>
            <a:srgbClr val="0C5230"/>
          </a:solidFill>
          <a:ln/>
        </p:spPr>
      </p:sp>
      <p:sp>
        <p:nvSpPr>
          <p:cNvPr id="22" name="Text 19"/>
          <p:cNvSpPr/>
          <p:nvPr/>
        </p:nvSpPr>
        <p:spPr>
          <a:xfrm>
            <a:off x="6598768" y="4156862"/>
            <a:ext cx="4621835" cy="274320"/>
          </a:xfrm>
          <a:prstGeom prst="rect">
            <a:avLst/>
          </a:prstGeom>
          <a:noFill/>
          <a:ln/>
        </p:spPr>
        <p:txBody>
          <a:bodyPr wrap="square" lIns="0" tIns="0" rIns="0" bIns="0" rtlCol="0" anchor="ctr"/>
          <a:lstStyle/>
          <a:p>
            <a:pPr indent="0" marL="0">
              <a:buNone/>
            </a:pPr>
            <a:r>
              <a:rPr lang="en-US" sz="1200" b="1" dirty="0">
                <a:solidFill>
                  <a:srgbClr val="8CC5A5"/>
                </a:solidFill>
                <a:latin typeface="Yu Gothic" pitchFamily="34" charset="0"/>
                <a:ea typeface="Yu Gothic" pitchFamily="34" charset="-122"/>
                <a:cs typeface="Yu Gothic" pitchFamily="34" charset="-120"/>
              </a:rPr>
              <a:t>投資回収期間モデル</a:t>
            </a:r>
            <a:endParaRPr lang="en-US" sz="1200" dirty="0"/>
          </a:p>
        </p:txBody>
      </p:sp>
      <p:sp>
        <p:nvSpPr>
          <p:cNvPr id="23" name="Text 20"/>
          <p:cNvSpPr/>
          <p:nvPr/>
        </p:nvSpPr>
        <p:spPr>
          <a:xfrm>
            <a:off x="6598768" y="4486046"/>
            <a:ext cx="4621835" cy="713232"/>
          </a:xfrm>
          <a:prstGeom prst="rect">
            <a:avLst/>
          </a:prstGeom>
          <a:noFill/>
          <a:ln/>
        </p:spPr>
        <p:txBody>
          <a:bodyPr wrap="square" lIns="0" tIns="0" rIns="0" bIns="0" rtlCol="0" anchor="ctr"/>
          <a:lstStyle/>
          <a:p>
            <a:pPr indent="0" marL="0">
              <a:buNone/>
            </a:pPr>
            <a:r>
              <a:rPr lang="en-US" sz="3400" b="1" dirty="0">
                <a:solidFill>
                  <a:srgbClr val="FFFFFF"/>
                </a:solidFill>
                <a:latin typeface="Yu Gothic" pitchFamily="34" charset="0"/>
                <a:ea typeface="Yu Gothic" pitchFamily="34" charset="-122"/>
                <a:cs typeface="Yu Gothic" pitchFamily="34" charset="-120"/>
              </a:rPr>
              <a:t>約17</a:t>
            </a:r>
            <a:r>
              <a:rPr lang="en-US" sz="1700" b="1" dirty="0">
                <a:solidFill>
                  <a:srgbClr val="FFFFFF"/>
                </a:solidFill>
                <a:latin typeface="Yu Gothic" pitchFamily="34" charset="0"/>
                <a:ea typeface="Yu Gothic" pitchFamily="34" charset="-122"/>
                <a:cs typeface="Yu Gothic" pitchFamily="34" charset="-120"/>
              </a:rPr>
              <a:t> ヶ月</a:t>
            </a:r>
            <a:endParaRPr lang="en-US" sz="3400" dirty="0"/>
          </a:p>
        </p:txBody>
      </p:sp>
      <p:sp>
        <p:nvSpPr>
          <p:cNvPr id="24" name="Text 21"/>
          <p:cNvSpPr/>
          <p:nvPr/>
        </p:nvSpPr>
        <p:spPr>
          <a:xfrm>
            <a:off x="6598768" y="5290718"/>
            <a:ext cx="4621835" cy="566928"/>
          </a:xfrm>
          <a:prstGeom prst="rect">
            <a:avLst/>
          </a:prstGeom>
          <a:noFill/>
          <a:ln/>
        </p:spPr>
        <p:txBody>
          <a:bodyPr wrap="square" lIns="0" tIns="0" rIns="0" bIns="0" rtlCol="0" anchor="t"/>
          <a:lstStyle/>
          <a:p>
            <a:pPr indent="0" marL="0">
              <a:lnSpc>
                <a:spcPct val="135000"/>
              </a:lnSpc>
              <a:buNone/>
            </a:pPr>
            <a:r>
              <a:rPr lang="en-US" sz="1000" dirty="0">
                <a:solidFill>
                  <a:srgbClr val="AFC2B8"/>
                </a:solidFill>
                <a:latin typeface="Yu Gothic" pitchFamily="34" charset="0"/>
                <a:ea typeface="Yu Gothic" pitchFamily="34" charset="-122"/>
                <a:cs typeface="Yu Gothic" pitchFamily="34" charset="-120"/>
              </a:rPr>
              <a:t>自社物件・75杯／日・投資800万円</a:t>
            </a:r>
            <a:endParaRPr lang="en-US" sz="1000" dirty="0"/>
          </a:p>
          <a:p>
            <a:pPr indent="0" marL="0">
              <a:lnSpc>
                <a:spcPct val="135000"/>
              </a:lnSpc>
              <a:buNone/>
            </a:pPr>
            <a:r>
              <a:rPr lang="en-US" sz="1000" dirty="0">
                <a:solidFill>
                  <a:srgbClr val="AFC2B8"/>
                </a:solidFill>
                <a:latin typeface="Yu Gothic" pitchFamily="34" charset="0"/>
                <a:ea typeface="Yu Gothic" pitchFamily="34" charset="-122"/>
                <a:cs typeface="Yu Gothic" pitchFamily="34" charset="-120"/>
              </a:rPr>
              <a:t>賃貸の場合：約30ヶ月</a:t>
            </a:r>
            <a:endParaRPr lang="en-US" sz="1000" dirty="0"/>
          </a:p>
        </p:txBody>
      </p:sp>
      <p:sp>
        <p:nvSpPr>
          <p:cNvPr id="25" name="Text 22"/>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利益・回収は1杯420円・原価20%・20坪モデルの試算（償却前・税引前）。収益・回収期間を保証するものではありません。詳細は収益シミュレーションのページ参照。</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03</a:t>
            </a:r>
            <a:r>
              <a:rPr lang="en-US" sz="1050" b="1" dirty="0">
                <a:solidFill>
                  <a:srgbClr val="1B8149"/>
                </a:solidFill>
                <a:latin typeface="Yu Gothic" pitchFamily="34" charset="0"/>
                <a:ea typeface="Yu Gothic" pitchFamily="34" charset="-122"/>
                <a:cs typeface="Yu Gothic" pitchFamily="34" charset="-120"/>
              </a:rPr>
              <a:t>   セルフカフェFCとは</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貸すのではなく、自分で持つ「省人型テナント」</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セルフカフェは、ドリンク1杯で時間制限なく使える無人のカフェ型ワークスペースです。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04</a:t>
            </a:r>
            <a:endParaRPr lang="en-US" sz="1000" dirty="0"/>
          </a:p>
        </p:txBody>
      </p:sp>
      <p:sp>
        <p:nvSpPr>
          <p:cNvPr id="9" name="Text 6"/>
          <p:cNvSpPr/>
          <p:nvPr/>
        </p:nvSpPr>
        <p:spPr>
          <a:xfrm>
            <a:off x="660197" y="1687982"/>
            <a:ext cx="6309360" cy="658368"/>
          </a:xfrm>
          <a:prstGeom prst="rect">
            <a:avLst/>
          </a:prstGeom>
          <a:noFill/>
          <a:ln/>
        </p:spPr>
        <p:txBody>
          <a:bodyPr wrap="square" lIns="0" tIns="0" rIns="0" bIns="0" rtlCol="0" anchor="t"/>
          <a:lstStyle/>
          <a:p>
            <a:pPr indent="0" marL="0">
              <a:lnSpc>
                <a:spcPct val="150000"/>
              </a:lnSpc>
              <a:buNone/>
            </a:pPr>
            <a:r>
              <a:rPr lang="en-US" sz="1200" dirty="0">
                <a:solidFill>
                  <a:srgbClr val="0A3D23"/>
                </a:solidFill>
                <a:latin typeface="Yu Gothic" pitchFamily="34" charset="0"/>
                <a:ea typeface="Yu Gothic" pitchFamily="34" charset="-122"/>
                <a:cs typeface="Yu Gothic" pitchFamily="34" charset="-120"/>
              </a:rPr>
              <a:t>空きテナントに入居者を探すのではなく、オーナー自身が低投資で運営する「収益事業」として、遊休スペースを稼働資産に変えます。</a:t>
            </a:r>
            <a:endParaRPr lang="en-US" sz="1200" dirty="0"/>
          </a:p>
        </p:txBody>
      </p:sp>
      <p:sp>
        <p:nvSpPr>
          <p:cNvPr id="10" name="Text 7"/>
          <p:cNvSpPr/>
          <p:nvPr/>
        </p:nvSpPr>
        <p:spPr>
          <a:xfrm>
            <a:off x="660197" y="2437790"/>
            <a:ext cx="6309360" cy="27432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労働力不足 ／ 手頃な作業場所の不足 ／ 遊休不動産の増加 —— 3つの社会課題が需要をつくっています。</a:t>
            </a:r>
            <a:endParaRPr lang="en-US" sz="1000" dirty="0"/>
          </a:p>
        </p:txBody>
      </p:sp>
      <p:sp>
        <p:nvSpPr>
          <p:cNvPr id="11" name="Shape 8"/>
          <p:cNvSpPr/>
          <p:nvPr/>
        </p:nvSpPr>
        <p:spPr>
          <a:xfrm>
            <a:off x="660197" y="2876702"/>
            <a:ext cx="3017520" cy="1481328"/>
          </a:xfrm>
          <a:prstGeom prst="roundRect">
            <a:avLst>
              <a:gd name="adj" fmla="val 3704"/>
            </a:avLst>
          </a:prstGeom>
          <a:solidFill>
            <a:srgbClr val="FFFFFF"/>
          </a:solidFill>
          <a:ln w="9525">
            <a:solidFill>
              <a:srgbClr val="EFEAE0"/>
            </a:solidFill>
            <a:prstDash val="solid"/>
          </a:ln>
        </p:spPr>
      </p:sp>
      <p:sp>
        <p:nvSpPr>
          <p:cNvPr id="12" name="Text 9"/>
          <p:cNvSpPr/>
          <p:nvPr/>
        </p:nvSpPr>
        <p:spPr>
          <a:xfrm>
            <a:off x="916229" y="3041294"/>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必要面積</a:t>
            </a:r>
            <a:endParaRPr lang="en-US" sz="1050" dirty="0"/>
          </a:p>
        </p:txBody>
      </p:sp>
      <p:sp>
        <p:nvSpPr>
          <p:cNvPr id="13" name="Text 10"/>
          <p:cNvSpPr/>
          <p:nvPr/>
        </p:nvSpPr>
        <p:spPr>
          <a:xfrm>
            <a:off x="916229" y="3297326"/>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20</a:t>
            </a:r>
            <a:r>
              <a:rPr lang="en-US" sz="1500" b="1" dirty="0">
                <a:solidFill>
                  <a:srgbClr val="106838"/>
                </a:solidFill>
                <a:latin typeface="Yu Gothic" pitchFamily="34" charset="0"/>
                <a:ea typeface="Yu Gothic" pitchFamily="34" charset="-122"/>
                <a:cs typeface="Yu Gothic" pitchFamily="34" charset="-120"/>
              </a:rPr>
              <a:t> 坪〜</a:t>
            </a:r>
            <a:endParaRPr lang="en-US" sz="3200" dirty="0"/>
          </a:p>
        </p:txBody>
      </p:sp>
      <p:sp>
        <p:nvSpPr>
          <p:cNvPr id="14" name="Text 11"/>
          <p:cNvSpPr/>
          <p:nvPr/>
        </p:nvSpPr>
        <p:spPr>
          <a:xfrm>
            <a:off x="916229" y="3919118"/>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既存施設の一角でも可</a:t>
            </a:r>
            <a:endParaRPr lang="en-US" sz="950" dirty="0"/>
          </a:p>
        </p:txBody>
      </p:sp>
      <p:sp>
        <p:nvSpPr>
          <p:cNvPr id="15" name="Shape 12"/>
          <p:cNvSpPr/>
          <p:nvPr/>
        </p:nvSpPr>
        <p:spPr>
          <a:xfrm>
            <a:off x="3952037" y="2876702"/>
            <a:ext cx="3017520" cy="1481328"/>
          </a:xfrm>
          <a:prstGeom prst="roundRect">
            <a:avLst>
              <a:gd name="adj" fmla="val 3704"/>
            </a:avLst>
          </a:prstGeom>
          <a:solidFill>
            <a:srgbClr val="FFFFFF"/>
          </a:solidFill>
          <a:ln w="9525">
            <a:solidFill>
              <a:srgbClr val="EFEAE0"/>
            </a:solidFill>
            <a:prstDash val="solid"/>
          </a:ln>
        </p:spPr>
      </p:sp>
      <p:sp>
        <p:nvSpPr>
          <p:cNvPr id="16" name="Text 13"/>
          <p:cNvSpPr/>
          <p:nvPr/>
        </p:nvSpPr>
        <p:spPr>
          <a:xfrm>
            <a:off x="4208069" y="3041294"/>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利用料</a:t>
            </a:r>
            <a:endParaRPr lang="en-US" sz="1050" dirty="0"/>
          </a:p>
        </p:txBody>
      </p:sp>
      <p:sp>
        <p:nvSpPr>
          <p:cNvPr id="17" name="Text 14"/>
          <p:cNvSpPr/>
          <p:nvPr/>
        </p:nvSpPr>
        <p:spPr>
          <a:xfrm>
            <a:off x="4208069" y="3297326"/>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420</a:t>
            </a:r>
            <a:r>
              <a:rPr lang="en-US" sz="1500" b="1" dirty="0">
                <a:solidFill>
                  <a:srgbClr val="106838"/>
                </a:solidFill>
                <a:latin typeface="Yu Gothic" pitchFamily="34" charset="0"/>
                <a:ea typeface="Yu Gothic" pitchFamily="34" charset="-122"/>
                <a:cs typeface="Yu Gothic" pitchFamily="34" charset="-120"/>
              </a:rPr>
              <a:t> 円〜</a:t>
            </a:r>
            <a:endParaRPr lang="en-US" sz="3200" dirty="0"/>
          </a:p>
        </p:txBody>
      </p:sp>
      <p:sp>
        <p:nvSpPr>
          <p:cNvPr id="18" name="Text 15"/>
          <p:cNvSpPr/>
          <p:nvPr/>
        </p:nvSpPr>
        <p:spPr>
          <a:xfrm>
            <a:off x="4208069" y="3919118"/>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1杯で滞在無制限・登録不要</a:t>
            </a:r>
            <a:endParaRPr lang="en-US" sz="950" dirty="0"/>
          </a:p>
        </p:txBody>
      </p:sp>
      <p:sp>
        <p:nvSpPr>
          <p:cNvPr id="19" name="Shape 16"/>
          <p:cNvSpPr/>
          <p:nvPr/>
        </p:nvSpPr>
        <p:spPr>
          <a:xfrm>
            <a:off x="660197" y="4577486"/>
            <a:ext cx="3017520" cy="1481328"/>
          </a:xfrm>
          <a:prstGeom prst="roundRect">
            <a:avLst>
              <a:gd name="adj" fmla="val 3704"/>
            </a:avLst>
          </a:prstGeom>
          <a:solidFill>
            <a:srgbClr val="FFFFFF"/>
          </a:solidFill>
          <a:ln w="9525">
            <a:solidFill>
              <a:srgbClr val="EFEAE0"/>
            </a:solidFill>
            <a:prstDash val="solid"/>
          </a:ln>
        </p:spPr>
      </p:sp>
      <p:sp>
        <p:nvSpPr>
          <p:cNvPr id="20" name="Text 17"/>
          <p:cNvSpPr/>
          <p:nvPr/>
        </p:nvSpPr>
        <p:spPr>
          <a:xfrm>
            <a:off x="916229" y="4742078"/>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営業時間</a:t>
            </a:r>
            <a:endParaRPr lang="en-US" sz="1050" dirty="0"/>
          </a:p>
        </p:txBody>
      </p:sp>
      <p:sp>
        <p:nvSpPr>
          <p:cNvPr id="21" name="Text 18"/>
          <p:cNvSpPr/>
          <p:nvPr/>
        </p:nvSpPr>
        <p:spPr>
          <a:xfrm>
            <a:off x="916229" y="4998110"/>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24</a:t>
            </a:r>
            <a:r>
              <a:rPr lang="en-US" sz="1500" b="1" dirty="0">
                <a:solidFill>
                  <a:srgbClr val="106838"/>
                </a:solidFill>
                <a:latin typeface="Yu Gothic" pitchFamily="34" charset="0"/>
                <a:ea typeface="Yu Gothic" pitchFamily="34" charset="-122"/>
                <a:cs typeface="Yu Gothic" pitchFamily="34" charset="-120"/>
              </a:rPr>
              <a:t> 時間可</a:t>
            </a:r>
            <a:endParaRPr lang="en-US" sz="3200" dirty="0"/>
          </a:p>
        </p:txBody>
      </p:sp>
      <p:sp>
        <p:nvSpPr>
          <p:cNvPr id="22" name="Text 19"/>
          <p:cNvSpPr/>
          <p:nvPr/>
        </p:nvSpPr>
        <p:spPr>
          <a:xfrm>
            <a:off x="916229" y="5619902"/>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無人・年中無休も設定可能</a:t>
            </a:r>
            <a:endParaRPr lang="en-US" sz="950" dirty="0"/>
          </a:p>
        </p:txBody>
      </p:sp>
      <p:sp>
        <p:nvSpPr>
          <p:cNvPr id="23" name="Shape 20"/>
          <p:cNvSpPr/>
          <p:nvPr/>
        </p:nvSpPr>
        <p:spPr>
          <a:xfrm>
            <a:off x="3952037" y="4577486"/>
            <a:ext cx="3017520" cy="1481328"/>
          </a:xfrm>
          <a:prstGeom prst="roundRect">
            <a:avLst>
              <a:gd name="adj" fmla="val 3704"/>
            </a:avLst>
          </a:prstGeom>
          <a:solidFill>
            <a:srgbClr val="FFFFFF"/>
          </a:solidFill>
          <a:ln w="9525">
            <a:solidFill>
              <a:srgbClr val="EFEAE0"/>
            </a:solidFill>
            <a:prstDash val="solid"/>
          </a:ln>
        </p:spPr>
      </p:sp>
      <p:sp>
        <p:nvSpPr>
          <p:cNvPr id="24" name="Text 21"/>
          <p:cNvSpPr/>
          <p:nvPr/>
        </p:nvSpPr>
        <p:spPr>
          <a:xfrm>
            <a:off x="4208069" y="4742078"/>
            <a:ext cx="250545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新規採用</a:t>
            </a:r>
            <a:endParaRPr lang="en-US" sz="1050" dirty="0"/>
          </a:p>
        </p:txBody>
      </p:sp>
      <p:sp>
        <p:nvSpPr>
          <p:cNvPr id="25" name="Text 22"/>
          <p:cNvSpPr/>
          <p:nvPr/>
        </p:nvSpPr>
        <p:spPr>
          <a:xfrm>
            <a:off x="4208069" y="4998110"/>
            <a:ext cx="2505456" cy="566928"/>
          </a:xfrm>
          <a:prstGeom prst="rect">
            <a:avLst/>
          </a:prstGeom>
          <a:noFill/>
          <a:ln/>
        </p:spPr>
        <p:txBody>
          <a:bodyPr wrap="square" lIns="0" tIns="0" rIns="0" bIns="0" rtlCol="0" anchor="ctr"/>
          <a:lstStyle/>
          <a:p>
            <a:pPr indent="0" marL="0">
              <a:buNone/>
            </a:pPr>
            <a:r>
              <a:rPr lang="en-US" sz="3200" b="1" dirty="0">
                <a:solidFill>
                  <a:srgbClr val="106838"/>
                </a:solidFill>
                <a:latin typeface="Arial" pitchFamily="34" charset="0"/>
                <a:ea typeface="Arial" pitchFamily="34" charset="-122"/>
                <a:cs typeface="Arial" pitchFamily="34" charset="-120"/>
              </a:rPr>
              <a:t>0</a:t>
            </a:r>
            <a:r>
              <a:rPr lang="en-US" sz="1500" b="1" dirty="0">
                <a:solidFill>
                  <a:srgbClr val="106838"/>
                </a:solidFill>
                <a:latin typeface="Yu Gothic" pitchFamily="34" charset="0"/>
                <a:ea typeface="Yu Gothic" pitchFamily="34" charset="-122"/>
                <a:cs typeface="Yu Gothic" pitchFamily="34" charset="-120"/>
              </a:rPr>
              <a:t> 人</a:t>
            </a:r>
            <a:endParaRPr lang="en-US" sz="3200" dirty="0"/>
          </a:p>
        </p:txBody>
      </p:sp>
      <p:sp>
        <p:nvSpPr>
          <p:cNvPr id="26" name="Text 23"/>
          <p:cNvSpPr/>
          <p:nvPr/>
        </p:nvSpPr>
        <p:spPr>
          <a:xfrm>
            <a:off x="4208069" y="5619902"/>
            <a:ext cx="2505456" cy="274320"/>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既存スタッフの稼働内で運営</a:t>
            </a:r>
            <a:endParaRPr lang="en-US" sz="950" dirty="0"/>
          </a:p>
        </p:txBody>
      </p:sp>
      <p:pic>
        <p:nvPicPr>
          <p:cNvPr id="27" name="Image 1" descr="/home/user/suzuki-ceo/selfcafe-partner-deck/assets/photos/.crops/p16-support-457x450.jpg">    </p:cNvPr>
          <p:cNvPicPr>
            <a:picLocks noChangeAspect="1"/>
          </p:cNvPicPr>
          <p:nvPr/>
        </p:nvPicPr>
        <p:blipFill>
          <a:blip r:embed="rId2"/>
          <a:stretch>
            <a:fillRect/>
          </a:stretch>
        </p:blipFill>
        <p:spPr>
          <a:xfrm>
            <a:off x="7353605" y="1651406"/>
            <a:ext cx="4177894" cy="4114800"/>
          </a:xfrm>
          <a:prstGeom prst="rect">
            <a:avLst/>
          </a:prstGeom>
        </p:spPr>
      </p:pic>
      <p:sp>
        <p:nvSpPr>
          <p:cNvPr id="28" name="Shape 24"/>
          <p:cNvSpPr/>
          <p:nvPr/>
        </p:nvSpPr>
        <p:spPr>
          <a:xfrm>
            <a:off x="7353605" y="1651406"/>
            <a:ext cx="4177894" cy="4114800"/>
          </a:xfrm>
          <a:prstGeom prst="rect">
            <a:avLst/>
          </a:prstGeom>
          <a:ln w="12700">
            <a:solidFill>
              <a:srgbClr val="D8D2C6"/>
            </a:solidFill>
            <a:prstDash val="solid"/>
          </a:ln>
        </p:spPr>
      </p:sp>
      <p:sp>
        <p:nvSpPr>
          <p:cNvPr id="29" name="Text 25"/>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予約不要・会員登録不要。二次利用（貸しスペース・物販等）の可否は立地・契約条件により異なります。</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04</a:t>
            </a:r>
            <a:r>
              <a:rPr lang="en-US" sz="1050" b="1" dirty="0">
                <a:solidFill>
                  <a:srgbClr val="1B8149"/>
                </a:solidFill>
                <a:latin typeface="Yu Gothic" pitchFamily="34" charset="0"/>
                <a:ea typeface="Yu Gothic" pitchFamily="34" charset="-122"/>
                <a:cs typeface="Yu Gothic" pitchFamily="34" charset="-120"/>
              </a:rPr>
              <a:t>   自社物件の優位性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空いている20坪を、人を増やさず収益資産へ。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最大の固定費「家賃」がゼロ。利益は1.7倍、回収期間は約半分になります。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05</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20</a:t>
            </a:r>
            <a:r>
              <a:rPr lang="en-US" sz="1100" b="1" dirty="0">
                <a:solidFill>
                  <a:srgbClr val="106838"/>
                </a:solidFill>
                <a:latin typeface="Yu Gothic" pitchFamily="34" charset="0"/>
                <a:ea typeface="Yu Gothic" pitchFamily="34" charset="-122"/>
                <a:cs typeface="Yu Gothic" pitchFamily="34" charset="-120"/>
              </a:rPr>
              <a:t> 坪〜</a:t>
            </a:r>
            <a:endParaRPr lang="en-US" sz="20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必要面積（既存事業の一角でも可）</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0</a:t>
            </a:r>
            <a:r>
              <a:rPr lang="en-US" sz="1100" b="1" dirty="0">
                <a:solidFill>
                  <a:srgbClr val="106838"/>
                </a:solidFill>
                <a:latin typeface="Yu Gothic" pitchFamily="34" charset="0"/>
                <a:ea typeface="Yu Gothic" pitchFamily="34" charset="-122"/>
                <a:cs typeface="Yu Gothic" pitchFamily="34" charset="-120"/>
              </a:rPr>
              <a:t> 人</a:t>
            </a:r>
            <a:endParaRPr lang="en-US" sz="20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新規採用（既存人員のまま）</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15</a:t>
            </a:r>
            <a:r>
              <a:rPr lang="en-US" sz="1100" b="1" dirty="0">
                <a:solidFill>
                  <a:srgbClr val="106838"/>
                </a:solidFill>
                <a:latin typeface="Yu Gothic" pitchFamily="34" charset="0"/>
                <a:ea typeface="Yu Gothic" pitchFamily="34" charset="-122"/>
                <a:cs typeface="Yu Gothic" pitchFamily="34" charset="-120"/>
              </a:rPr>
              <a:t> 分／日</a:t>
            </a:r>
            <a:endParaRPr lang="en-US" sz="20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日常のオーナー業務</a:t>
            </a:r>
            <a:endParaRPr lang="en-US" sz="900" dirty="0"/>
          </a:p>
        </p:txBody>
      </p:sp>
      <p:sp>
        <p:nvSpPr>
          <p:cNvPr id="18" name="Shape 15"/>
          <p:cNvSpPr/>
          <p:nvPr/>
        </p:nvSpPr>
        <p:spPr>
          <a:xfrm>
            <a:off x="8928202" y="1651406"/>
            <a:ext cx="2603297" cy="609905"/>
          </a:xfrm>
          <a:prstGeom prst="roundRect">
            <a:avLst>
              <a:gd name="adj" fmla="val 7496"/>
            </a:avLst>
          </a:prstGeom>
          <a:solidFill>
            <a:srgbClr val="FBF4E4"/>
          </a:solidFill>
          <a:ln w="9525">
            <a:solidFill>
              <a:srgbClr val="E7D3A8"/>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2000" b="1" dirty="0">
                <a:solidFill>
                  <a:srgbClr val="A8761F"/>
                </a:solidFill>
                <a:latin typeface="Arial" pitchFamily="34" charset="0"/>
                <a:ea typeface="Arial" pitchFamily="34" charset="-122"/>
                <a:cs typeface="Arial" pitchFamily="34" charset="-120"/>
              </a:rPr>
              <a:t>0</a:t>
            </a:r>
            <a:r>
              <a:rPr lang="en-US" sz="1100" b="1" dirty="0">
                <a:solidFill>
                  <a:srgbClr val="A8761F"/>
                </a:solidFill>
                <a:latin typeface="Yu Gothic" pitchFamily="34" charset="0"/>
                <a:ea typeface="Yu Gothic" pitchFamily="34" charset="-122"/>
                <a:cs typeface="Yu Gothic" pitchFamily="34" charset="-120"/>
              </a:rPr>
              <a:t> 円</a:t>
            </a:r>
            <a:endParaRPr lang="en-US" sz="20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空室のままの機会収益</a:t>
            </a:r>
            <a:endParaRPr lang="en-US" sz="900" dirty="0"/>
          </a:p>
        </p:txBody>
      </p:sp>
      <p:sp>
        <p:nvSpPr>
          <p:cNvPr id="21" name="Shape 18"/>
          <p:cNvSpPr/>
          <p:nvPr/>
        </p:nvSpPr>
        <p:spPr>
          <a:xfrm>
            <a:off x="660197" y="2492654"/>
            <a:ext cx="3145536" cy="3017520"/>
          </a:xfrm>
          <a:prstGeom prst="roundRect">
            <a:avLst>
              <a:gd name="adj" fmla="val 1818"/>
            </a:avLst>
          </a:prstGeom>
          <a:solidFill>
            <a:srgbClr val="F1F8F3"/>
          </a:solidFill>
          <a:ln w="9525">
            <a:solidFill>
              <a:srgbClr val="D2E7DA"/>
            </a:solidFill>
            <a:prstDash val="solid"/>
          </a:ln>
        </p:spPr>
      </p:sp>
      <p:sp>
        <p:nvSpPr>
          <p:cNvPr id="22" name="Text 19"/>
          <p:cNvSpPr/>
          <p:nvPr/>
        </p:nvSpPr>
        <p:spPr>
          <a:xfrm>
            <a:off x="934517" y="2730398"/>
            <a:ext cx="2596896" cy="274320"/>
          </a:xfrm>
          <a:prstGeom prst="rect">
            <a:avLst/>
          </a:prstGeom>
          <a:noFill/>
          <a:ln/>
        </p:spPr>
        <p:txBody>
          <a:bodyPr wrap="square" lIns="0" tIns="0" rIns="0" bIns="0" rtlCol="0" anchor="ctr"/>
          <a:lstStyle/>
          <a:p>
            <a:pPr indent="0" marL="0">
              <a:buNone/>
            </a:pPr>
            <a:r>
              <a:rPr lang="en-US" sz="1200" b="1" dirty="0">
                <a:solidFill>
                  <a:srgbClr val="7E8882"/>
                </a:solidFill>
                <a:latin typeface="Yu Gothic" pitchFamily="34" charset="0"/>
                <a:ea typeface="Yu Gothic" pitchFamily="34" charset="-122"/>
                <a:cs typeface="Yu Gothic" pitchFamily="34" charset="-120"/>
              </a:rPr>
              <a:t>賃貸物件で開業</a:t>
            </a:r>
            <a:endParaRPr lang="en-US" sz="1200" dirty="0"/>
          </a:p>
        </p:txBody>
      </p:sp>
      <p:sp>
        <p:nvSpPr>
          <p:cNvPr id="23" name="Text 20"/>
          <p:cNvSpPr/>
          <p:nvPr/>
        </p:nvSpPr>
        <p:spPr>
          <a:xfrm>
            <a:off x="934517" y="3059582"/>
            <a:ext cx="2596896" cy="676656"/>
          </a:xfrm>
          <a:prstGeom prst="rect">
            <a:avLst/>
          </a:prstGeom>
          <a:noFill/>
          <a:ln/>
        </p:spPr>
        <p:txBody>
          <a:bodyPr wrap="square" lIns="0" tIns="0" rIns="0" bIns="0" rtlCol="0" anchor="ctr"/>
          <a:lstStyle/>
          <a:p>
            <a:pPr indent="0" marL="0">
              <a:buNone/>
            </a:pPr>
            <a:r>
              <a:rPr lang="en-US" sz="3800" b="1" dirty="0">
                <a:solidFill>
                  <a:srgbClr val="106838"/>
                </a:solidFill>
                <a:latin typeface="Arial" pitchFamily="34" charset="0"/>
                <a:ea typeface="Arial" pitchFamily="34" charset="-122"/>
                <a:cs typeface="Arial" pitchFamily="34" charset="-120"/>
              </a:rPr>
              <a:t>27</a:t>
            </a:r>
            <a:r>
              <a:rPr lang="en-US" sz="1500" b="1" dirty="0">
                <a:solidFill>
                  <a:srgbClr val="106838"/>
                </a:solidFill>
                <a:latin typeface="Yu Gothic" pitchFamily="34" charset="0"/>
                <a:ea typeface="Yu Gothic" pitchFamily="34" charset="-122"/>
                <a:cs typeface="Yu Gothic" pitchFamily="34" charset="-120"/>
              </a:rPr>
              <a:t> 万円</a:t>
            </a:r>
            <a:endParaRPr lang="en-US" sz="3800" dirty="0"/>
          </a:p>
        </p:txBody>
      </p:sp>
      <p:sp>
        <p:nvSpPr>
          <p:cNvPr id="24" name="Text 21"/>
          <p:cNvSpPr/>
          <p:nvPr/>
        </p:nvSpPr>
        <p:spPr>
          <a:xfrm>
            <a:off x="934517" y="3772814"/>
            <a:ext cx="2596896" cy="237744"/>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月間利益（75杯／日・償却前）</a:t>
            </a:r>
            <a:endParaRPr lang="en-US" sz="950" dirty="0"/>
          </a:p>
        </p:txBody>
      </p:sp>
      <p:sp>
        <p:nvSpPr>
          <p:cNvPr id="25" name="Shape 22"/>
          <p:cNvSpPr/>
          <p:nvPr/>
        </p:nvSpPr>
        <p:spPr>
          <a:xfrm>
            <a:off x="934517" y="4175150"/>
            <a:ext cx="2596896" cy="10058"/>
          </a:xfrm>
          <a:prstGeom prst="rect">
            <a:avLst/>
          </a:prstGeom>
          <a:solidFill>
            <a:srgbClr val="D2E7DA"/>
          </a:solidFill>
          <a:ln/>
        </p:spPr>
      </p:sp>
      <p:sp>
        <p:nvSpPr>
          <p:cNvPr id="26" name="Text 23"/>
          <p:cNvSpPr/>
          <p:nvPr/>
        </p:nvSpPr>
        <p:spPr>
          <a:xfrm>
            <a:off x="934517" y="4321454"/>
            <a:ext cx="2596896" cy="347472"/>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回収期間 約30ヶ月</a:t>
            </a:r>
            <a:endParaRPr lang="en-US" sz="1350" dirty="0"/>
          </a:p>
        </p:txBody>
      </p:sp>
      <p:sp>
        <p:nvSpPr>
          <p:cNvPr id="27" name="Shape 24"/>
          <p:cNvSpPr/>
          <p:nvPr/>
        </p:nvSpPr>
        <p:spPr>
          <a:xfrm>
            <a:off x="4080053" y="2492654"/>
            <a:ext cx="3145536" cy="3017520"/>
          </a:xfrm>
          <a:prstGeom prst="roundRect">
            <a:avLst>
              <a:gd name="adj" fmla="val 1818"/>
            </a:avLst>
          </a:prstGeom>
          <a:solidFill>
            <a:srgbClr val="0C5230"/>
          </a:solidFill>
          <a:ln/>
        </p:spPr>
      </p:sp>
      <p:sp>
        <p:nvSpPr>
          <p:cNvPr id="28" name="Text 25"/>
          <p:cNvSpPr/>
          <p:nvPr/>
        </p:nvSpPr>
        <p:spPr>
          <a:xfrm>
            <a:off x="4354373" y="2730398"/>
            <a:ext cx="2596896" cy="274320"/>
          </a:xfrm>
          <a:prstGeom prst="rect">
            <a:avLst/>
          </a:prstGeom>
          <a:noFill/>
          <a:ln/>
        </p:spPr>
        <p:txBody>
          <a:bodyPr wrap="square" lIns="0" tIns="0" rIns="0" bIns="0" rtlCol="0" anchor="ctr"/>
          <a:lstStyle/>
          <a:p>
            <a:pPr indent="0" marL="0">
              <a:buNone/>
            </a:pPr>
            <a:r>
              <a:rPr lang="en-US" sz="1200" b="1" dirty="0">
                <a:solidFill>
                  <a:srgbClr val="8CC5A5"/>
                </a:solidFill>
                <a:latin typeface="Yu Gothic" pitchFamily="34" charset="0"/>
                <a:ea typeface="Yu Gothic" pitchFamily="34" charset="-122"/>
                <a:cs typeface="Yu Gothic" pitchFamily="34" charset="-120"/>
              </a:rPr>
              <a:t>自社物件で開業</a:t>
            </a:r>
            <a:endParaRPr lang="en-US" sz="1200" dirty="0"/>
          </a:p>
        </p:txBody>
      </p:sp>
      <p:sp>
        <p:nvSpPr>
          <p:cNvPr id="29" name="Text 26"/>
          <p:cNvSpPr/>
          <p:nvPr/>
        </p:nvSpPr>
        <p:spPr>
          <a:xfrm>
            <a:off x="4354373" y="3059582"/>
            <a:ext cx="2596896" cy="676656"/>
          </a:xfrm>
          <a:prstGeom prst="rect">
            <a:avLst/>
          </a:prstGeom>
          <a:noFill/>
          <a:ln/>
        </p:spPr>
        <p:txBody>
          <a:bodyPr wrap="square" lIns="0" tIns="0" rIns="0" bIns="0" rtlCol="0" anchor="ctr"/>
          <a:lstStyle/>
          <a:p>
            <a:pPr indent="0" marL="0">
              <a:buNone/>
            </a:pPr>
            <a:r>
              <a:rPr lang="en-US" sz="3800" b="1" dirty="0">
                <a:solidFill>
                  <a:srgbClr val="F0C05A"/>
                </a:solidFill>
                <a:latin typeface="Arial" pitchFamily="34" charset="0"/>
                <a:ea typeface="Arial" pitchFamily="34" charset="-122"/>
                <a:cs typeface="Arial" pitchFamily="34" charset="-120"/>
              </a:rPr>
              <a:t>47</a:t>
            </a:r>
            <a:r>
              <a:rPr lang="en-US" sz="1500" b="1" dirty="0">
                <a:solidFill>
                  <a:srgbClr val="F0C05A"/>
                </a:solidFill>
                <a:latin typeface="Yu Gothic" pitchFamily="34" charset="0"/>
                <a:ea typeface="Yu Gothic" pitchFamily="34" charset="-122"/>
                <a:cs typeface="Yu Gothic" pitchFamily="34" charset="-120"/>
              </a:rPr>
              <a:t> 万円</a:t>
            </a:r>
            <a:endParaRPr lang="en-US" sz="3800" dirty="0"/>
          </a:p>
        </p:txBody>
      </p:sp>
      <p:sp>
        <p:nvSpPr>
          <p:cNvPr id="30" name="Text 27"/>
          <p:cNvSpPr/>
          <p:nvPr/>
        </p:nvSpPr>
        <p:spPr>
          <a:xfrm>
            <a:off x="4354373" y="3772814"/>
            <a:ext cx="2596896" cy="237744"/>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月間利益（75杯／日・償却前）</a:t>
            </a:r>
            <a:endParaRPr lang="en-US" sz="950" dirty="0"/>
          </a:p>
        </p:txBody>
      </p:sp>
      <p:sp>
        <p:nvSpPr>
          <p:cNvPr id="31" name="Shape 28"/>
          <p:cNvSpPr/>
          <p:nvPr/>
        </p:nvSpPr>
        <p:spPr>
          <a:xfrm>
            <a:off x="4354373" y="4175150"/>
            <a:ext cx="2596896" cy="10058"/>
          </a:xfrm>
          <a:prstGeom prst="rect">
            <a:avLst/>
          </a:prstGeom>
          <a:solidFill>
            <a:srgbClr val="2A7A4E"/>
          </a:solidFill>
          <a:ln/>
        </p:spPr>
      </p:sp>
      <p:sp>
        <p:nvSpPr>
          <p:cNvPr id="32" name="Text 29"/>
          <p:cNvSpPr/>
          <p:nvPr/>
        </p:nvSpPr>
        <p:spPr>
          <a:xfrm>
            <a:off x="4354373" y="4321454"/>
            <a:ext cx="2596896" cy="347472"/>
          </a:xfrm>
          <a:prstGeom prst="rect">
            <a:avLst/>
          </a:prstGeom>
          <a:noFill/>
          <a:ln/>
        </p:spPr>
        <p:txBody>
          <a:bodyPr wrap="square" lIns="0" tIns="0" rIns="0" bIns="0" rtlCol="0" anchor="ctr"/>
          <a:lstStyle/>
          <a:p>
            <a:pPr indent="0" marL="0">
              <a:buNone/>
            </a:pPr>
            <a:r>
              <a:rPr lang="en-US" sz="1350" b="1" dirty="0">
                <a:solidFill>
                  <a:srgbClr val="FFFFFF"/>
                </a:solidFill>
                <a:latin typeface="Yu Gothic" pitchFamily="34" charset="0"/>
                <a:ea typeface="Yu Gothic" pitchFamily="34" charset="-122"/>
                <a:cs typeface="Yu Gothic" pitchFamily="34" charset="-120"/>
              </a:rPr>
              <a:t>回収期間 約17ヶ月</a:t>
            </a:r>
            <a:endParaRPr lang="en-US" sz="1350" dirty="0"/>
          </a:p>
        </p:txBody>
      </p:sp>
      <p:sp>
        <p:nvSpPr>
          <p:cNvPr id="33" name="Text 30"/>
          <p:cNvSpPr/>
          <p:nvPr/>
        </p:nvSpPr>
        <p:spPr>
          <a:xfrm>
            <a:off x="660197" y="5619902"/>
            <a:ext cx="6565392" cy="329184"/>
          </a:xfrm>
          <a:prstGeom prst="rect">
            <a:avLst/>
          </a:prstGeom>
          <a:noFill/>
          <a:ln/>
        </p:spPr>
        <p:txBody>
          <a:bodyPr wrap="square" lIns="0" tIns="0" rIns="0" bIns="0" rtlCol="0" anchor="ctr"/>
          <a:lstStyle/>
          <a:p>
            <a:pPr algn="ctr" indent="0" marL="0">
              <a:buNone/>
            </a:pPr>
            <a:r>
              <a:rPr lang="en-US" sz="1500" b="1" dirty="0">
                <a:solidFill>
                  <a:srgbClr val="106838"/>
                </a:solidFill>
                <a:latin typeface="Yu Gothic" pitchFamily="34" charset="0"/>
                <a:ea typeface="Yu Gothic" pitchFamily="34" charset="-122"/>
                <a:cs typeface="Yu Gothic" pitchFamily="34" charset="-120"/>
              </a:rPr>
              <a:t>＋20万円／月</a:t>
            </a:r>
            <a:r>
              <a:rPr lang="en-US" sz="1150" b="1" dirty="0">
                <a:solidFill>
                  <a:srgbClr val="106838"/>
                </a:solidFill>
                <a:latin typeface="Yu Gothic" pitchFamily="34" charset="0"/>
                <a:ea typeface="Yu Gothic" pitchFamily="34" charset="-122"/>
                <a:cs typeface="Yu Gothic" pitchFamily="34" charset="-120"/>
              </a:rPr>
              <a:t>（+74%）</a:t>
            </a:r>
            <a:endParaRPr lang="en-US" sz="1500" dirty="0"/>
          </a:p>
        </p:txBody>
      </p:sp>
      <p:sp>
        <p:nvSpPr>
          <p:cNvPr id="34" name="Shape 31"/>
          <p:cNvSpPr/>
          <p:nvPr/>
        </p:nvSpPr>
        <p:spPr>
          <a:xfrm>
            <a:off x="7609637" y="2510942"/>
            <a:ext cx="292608" cy="292608"/>
          </a:xfrm>
          <a:prstGeom prst="ellipse">
            <a:avLst/>
          </a:prstGeom>
          <a:solidFill>
            <a:srgbClr val="0C5230"/>
          </a:solidFill>
          <a:ln/>
        </p:spPr>
      </p:sp>
      <p:sp>
        <p:nvSpPr>
          <p:cNvPr id="35" name="Text 32"/>
          <p:cNvSpPr/>
          <p:nvPr/>
        </p:nvSpPr>
        <p:spPr>
          <a:xfrm>
            <a:off x="7609637" y="25109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1</a:t>
            </a:r>
            <a:endParaRPr lang="en-US" sz="1150" dirty="0"/>
          </a:p>
        </p:txBody>
      </p:sp>
      <p:sp>
        <p:nvSpPr>
          <p:cNvPr id="36" name="Text 33"/>
          <p:cNvSpPr/>
          <p:nvPr/>
        </p:nvSpPr>
        <p:spPr>
          <a:xfrm>
            <a:off x="8030261" y="24926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家賃という最大の固定費が不要</a:t>
            </a:r>
            <a:endParaRPr lang="en-US" sz="1250" dirty="0"/>
          </a:p>
        </p:txBody>
      </p:sp>
      <p:sp>
        <p:nvSpPr>
          <p:cNvPr id="37" name="Text 34"/>
          <p:cNvSpPr/>
          <p:nvPr/>
        </p:nvSpPr>
        <p:spPr>
          <a:xfrm>
            <a:off x="8030261" y="28218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売上がそのまま利益層に乗る構造。</a:t>
            </a:r>
            <a:endParaRPr lang="en-US" sz="950" dirty="0"/>
          </a:p>
        </p:txBody>
      </p:sp>
      <p:sp>
        <p:nvSpPr>
          <p:cNvPr id="38" name="Shape 35"/>
          <p:cNvSpPr/>
          <p:nvPr/>
        </p:nvSpPr>
        <p:spPr>
          <a:xfrm>
            <a:off x="7609637" y="3425342"/>
            <a:ext cx="292608" cy="292608"/>
          </a:xfrm>
          <a:prstGeom prst="ellipse">
            <a:avLst/>
          </a:prstGeom>
          <a:solidFill>
            <a:srgbClr val="0C5230"/>
          </a:solidFill>
          <a:ln/>
        </p:spPr>
      </p:sp>
      <p:sp>
        <p:nvSpPr>
          <p:cNvPr id="39" name="Text 36"/>
          <p:cNvSpPr/>
          <p:nvPr/>
        </p:nvSpPr>
        <p:spPr>
          <a:xfrm>
            <a:off x="7609637" y="34253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2</a:t>
            </a:r>
            <a:endParaRPr lang="en-US" sz="1150" dirty="0"/>
          </a:p>
        </p:txBody>
      </p:sp>
      <p:sp>
        <p:nvSpPr>
          <p:cNvPr id="40" name="Text 37"/>
          <p:cNvSpPr/>
          <p:nvPr/>
        </p:nvSpPr>
        <p:spPr>
          <a:xfrm>
            <a:off x="8030261" y="34070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空室の機会損失を収益に転換</a:t>
            </a:r>
            <a:endParaRPr lang="en-US" sz="1250" dirty="0"/>
          </a:p>
        </p:txBody>
      </p:sp>
      <p:sp>
        <p:nvSpPr>
          <p:cNvPr id="41" name="Text 38"/>
          <p:cNvSpPr/>
          <p:nvPr/>
        </p:nvSpPr>
        <p:spPr>
          <a:xfrm>
            <a:off x="8030261" y="37362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テナント誘致を待たず、自社で稼働させる。</a:t>
            </a:r>
            <a:endParaRPr lang="en-US" sz="950" dirty="0"/>
          </a:p>
        </p:txBody>
      </p:sp>
      <p:sp>
        <p:nvSpPr>
          <p:cNvPr id="42" name="Shape 39"/>
          <p:cNvSpPr/>
          <p:nvPr/>
        </p:nvSpPr>
        <p:spPr>
          <a:xfrm>
            <a:off x="7609637" y="4339742"/>
            <a:ext cx="292608" cy="292608"/>
          </a:xfrm>
          <a:prstGeom prst="ellipse">
            <a:avLst/>
          </a:prstGeom>
          <a:solidFill>
            <a:srgbClr val="0C5230"/>
          </a:solidFill>
          <a:ln/>
        </p:spPr>
      </p:sp>
      <p:sp>
        <p:nvSpPr>
          <p:cNvPr id="43" name="Text 40"/>
          <p:cNvSpPr/>
          <p:nvPr/>
        </p:nvSpPr>
        <p:spPr>
          <a:xfrm>
            <a:off x="7609637" y="43397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3</a:t>
            </a:r>
            <a:endParaRPr lang="en-US" sz="1150" dirty="0"/>
          </a:p>
        </p:txBody>
      </p:sp>
      <p:sp>
        <p:nvSpPr>
          <p:cNvPr id="44" name="Text 41"/>
          <p:cNvSpPr/>
          <p:nvPr/>
        </p:nvSpPr>
        <p:spPr>
          <a:xfrm>
            <a:off x="8030261" y="43214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人件費の追加もゼロ</a:t>
            </a:r>
            <a:endParaRPr lang="en-US" sz="1250" dirty="0"/>
          </a:p>
        </p:txBody>
      </p:sp>
      <p:sp>
        <p:nvSpPr>
          <p:cNvPr id="45" name="Text 42"/>
          <p:cNvSpPr/>
          <p:nvPr/>
        </p:nvSpPr>
        <p:spPr>
          <a:xfrm>
            <a:off x="8030261" y="46506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既存スタッフの稼働内で運営。新規採用不要。</a:t>
            </a:r>
            <a:endParaRPr lang="en-US" sz="950" dirty="0"/>
          </a:p>
        </p:txBody>
      </p:sp>
      <p:sp>
        <p:nvSpPr>
          <p:cNvPr id="46" name="Shape 43"/>
          <p:cNvSpPr/>
          <p:nvPr/>
        </p:nvSpPr>
        <p:spPr>
          <a:xfrm>
            <a:off x="7609637" y="5254142"/>
            <a:ext cx="292608" cy="292608"/>
          </a:xfrm>
          <a:prstGeom prst="ellipse">
            <a:avLst/>
          </a:prstGeom>
          <a:solidFill>
            <a:srgbClr val="0C5230"/>
          </a:solidFill>
          <a:ln/>
        </p:spPr>
      </p:sp>
      <p:sp>
        <p:nvSpPr>
          <p:cNvPr id="47" name="Text 44"/>
          <p:cNvSpPr/>
          <p:nvPr/>
        </p:nvSpPr>
        <p:spPr>
          <a:xfrm>
            <a:off x="7609637" y="525414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4</a:t>
            </a:r>
            <a:endParaRPr lang="en-US" sz="1150" dirty="0"/>
          </a:p>
        </p:txBody>
      </p:sp>
      <p:sp>
        <p:nvSpPr>
          <p:cNvPr id="48" name="Text 45"/>
          <p:cNvSpPr/>
          <p:nvPr/>
        </p:nvSpPr>
        <p:spPr>
          <a:xfrm>
            <a:off x="8030261" y="5235854"/>
            <a:ext cx="3501238"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実績（参考値）</a:t>
            </a:r>
            <a:endParaRPr lang="en-US" sz="1250" dirty="0"/>
          </a:p>
        </p:txBody>
      </p:sp>
      <p:sp>
        <p:nvSpPr>
          <p:cNvPr id="49" name="Text 46"/>
          <p:cNvSpPr/>
          <p:nvPr/>
        </p:nvSpPr>
        <p:spPr>
          <a:xfrm>
            <a:off x="8030261" y="5565038"/>
            <a:ext cx="3501238" cy="47548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既存店から家賃を除くと48店すべてが営業黒字・平均45.5万円。</a:t>
            </a:r>
            <a:endParaRPr lang="en-US" sz="950" dirty="0"/>
          </a:p>
        </p:txBody>
      </p:sp>
      <p:sp>
        <p:nvSpPr>
          <p:cNvPr id="50" name="Text 47"/>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利益・回収は1杯420円・20坪モデル（総投資800万円）の試算。実績参考値は2026年7月速報の家賃控除前営業利益（開業6ヶ月以上・48店）。収益を保証するものではありません。</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05</a:t>
            </a:r>
            <a:r>
              <a:rPr lang="en-US" sz="1050" b="1" dirty="0">
                <a:solidFill>
                  <a:srgbClr val="1B8149"/>
                </a:solidFill>
                <a:latin typeface="Yu Gothic" pitchFamily="34" charset="0"/>
                <a:ea typeface="Yu Gothic" pitchFamily="34" charset="-122"/>
                <a:cs typeface="Yu Gothic" pitchFamily="34" charset="-120"/>
              </a:rPr>
              <a:t>   活用可能性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カフェの先にある、場所の可能性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「集客できる」で終わらせず、その場所で何ができるかを一緒に設計します。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06</a:t>
            </a:r>
            <a:endParaRPr lang="en-US" sz="1000" dirty="0"/>
          </a:p>
        </p:txBody>
      </p:sp>
      <p:sp>
        <p:nvSpPr>
          <p:cNvPr id="9" name="Shape 6"/>
          <p:cNvSpPr/>
          <p:nvPr/>
        </p:nvSpPr>
        <p:spPr>
          <a:xfrm>
            <a:off x="660197" y="1651406"/>
            <a:ext cx="3453079" cy="2395728"/>
          </a:xfrm>
          <a:prstGeom prst="roundRect">
            <a:avLst>
              <a:gd name="adj" fmla="val 2290"/>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01</a:t>
            </a:r>
            <a:endParaRPr lang="en-US" sz="900" dirty="0"/>
          </a:p>
        </p:txBody>
      </p:sp>
      <p:pic>
        <p:nvPicPr>
          <p:cNvPr id="11" name="Image 1" descr="/home/user/suzuki-ceo/selfcafe-partner-deck/assets/icons/LuUsers-green.png">    </p:cNvPr>
          <p:cNvPicPr>
            <a:picLocks noChangeAspect="1"/>
          </p:cNvPicPr>
          <p:nvPr/>
        </p:nvPicPr>
        <p:blipFill>
          <a:blip r:embed="rId2"/>
          <a:stretch>
            <a:fillRect/>
          </a:stretch>
        </p:blipFill>
        <p:spPr>
          <a:xfrm>
            <a:off x="3345180" y="1889150"/>
            <a:ext cx="384048" cy="384048"/>
          </a:xfrm>
          <a:prstGeom prst="rect">
            <a:avLst/>
          </a:prstGeom>
        </p:spPr>
      </p:pic>
      <p:sp>
        <p:nvSpPr>
          <p:cNvPr id="12" name="Text 8"/>
          <p:cNvSpPr/>
          <p:nvPr/>
        </p:nvSpPr>
        <p:spPr>
          <a:xfrm>
            <a:off x="934517"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まちづくり・地域コミュニティ</a:t>
            </a:r>
            <a:endParaRPr lang="en-US" sz="1550" dirty="0"/>
          </a:p>
        </p:txBody>
      </p:sp>
      <p:sp>
        <p:nvSpPr>
          <p:cNvPr id="13" name="Text 9"/>
          <p:cNvSpPr/>
          <p:nvPr/>
        </p:nvSpPr>
        <p:spPr>
          <a:xfrm>
            <a:off x="934517"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「人が集まる場所」として、地域の拠点になります。</a:t>
            </a:r>
            <a:endParaRPr lang="en-US" sz="1050" dirty="0"/>
          </a:p>
        </p:txBody>
      </p:sp>
      <p:sp>
        <p:nvSpPr>
          <p:cNvPr id="14" name="Shape 10"/>
          <p:cNvSpPr/>
          <p:nvPr/>
        </p:nvSpPr>
        <p:spPr>
          <a:xfrm>
            <a:off x="934517" y="3205886"/>
            <a:ext cx="2904439" cy="10058"/>
          </a:xfrm>
          <a:prstGeom prst="rect">
            <a:avLst/>
          </a:prstGeom>
          <a:solidFill>
            <a:srgbClr val="EFEAE0"/>
          </a:solidFill>
          <a:ln/>
        </p:spPr>
      </p:sp>
      <p:pic>
        <p:nvPicPr>
          <p:cNvPr id="15" name="Image 2" descr="/home/user/suzuki-ceo/selfcafe-partner-deck/assets/icons/LuCheck-green.png">    </p:cNvPr>
          <p:cNvPicPr>
            <a:picLocks noChangeAspect="1"/>
          </p:cNvPicPr>
          <p:nvPr/>
        </p:nvPicPr>
        <p:blipFill>
          <a:blip r:embed="rId3"/>
          <a:stretch>
            <a:fillRect/>
          </a:stretch>
        </p:blipFill>
        <p:spPr>
          <a:xfrm>
            <a:off x="952805" y="3370478"/>
            <a:ext cx="173736" cy="173736"/>
          </a:xfrm>
          <a:prstGeom prst="rect">
            <a:avLst/>
          </a:prstGeom>
        </p:spPr>
      </p:pic>
      <p:sp>
        <p:nvSpPr>
          <p:cNvPr id="16" name="Text 11"/>
          <p:cNvSpPr/>
          <p:nvPr/>
        </p:nvSpPr>
        <p:spPr>
          <a:xfrm>
            <a:off x="1208837"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世代を越えて人が集まる常設スペース</a:t>
            </a:r>
            <a:endParaRPr lang="en-US" sz="1000" dirty="0"/>
          </a:p>
        </p:txBody>
      </p:sp>
      <p:pic>
        <p:nvPicPr>
          <p:cNvPr id="17" name="Image 3" descr="/home/user/suzuki-ceo/selfcafe-partner-deck/assets/icons/LuCheck-green.png">    </p:cNvPr>
          <p:cNvPicPr>
            <a:picLocks noChangeAspect="1"/>
          </p:cNvPicPr>
          <p:nvPr/>
        </p:nvPicPr>
        <p:blipFill>
          <a:blip r:embed="rId4"/>
          <a:stretch>
            <a:fillRect/>
          </a:stretch>
        </p:blipFill>
        <p:spPr>
          <a:xfrm>
            <a:off x="952805" y="3663086"/>
            <a:ext cx="173736" cy="173736"/>
          </a:xfrm>
          <a:prstGeom prst="rect">
            <a:avLst/>
          </a:prstGeom>
        </p:spPr>
      </p:pic>
      <p:sp>
        <p:nvSpPr>
          <p:cNvPr id="18" name="Text 12"/>
          <p:cNvSpPr/>
          <p:nvPr/>
        </p:nvSpPr>
        <p:spPr>
          <a:xfrm>
            <a:off x="1208837"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自治体・地域団体との連携の受け皿に</a:t>
            </a:r>
            <a:endParaRPr lang="en-US" sz="1000" dirty="0"/>
          </a:p>
        </p:txBody>
      </p:sp>
      <p:sp>
        <p:nvSpPr>
          <p:cNvPr id="19" name="Shape 13"/>
          <p:cNvSpPr/>
          <p:nvPr/>
        </p:nvSpPr>
        <p:spPr>
          <a:xfrm>
            <a:off x="4369308" y="1651406"/>
            <a:ext cx="3453079" cy="2395728"/>
          </a:xfrm>
          <a:prstGeom prst="roundRect">
            <a:avLst>
              <a:gd name="adj" fmla="val 2290"/>
            </a:avLst>
          </a:prstGeom>
          <a:solidFill>
            <a:srgbClr val="FFFFFF"/>
          </a:solidFill>
          <a:ln w="9525">
            <a:solidFill>
              <a:srgbClr val="EFEAE0"/>
            </a:solidFill>
            <a:prstDash val="solid"/>
          </a:ln>
        </p:spPr>
      </p:sp>
      <p:sp>
        <p:nvSpPr>
          <p:cNvPr id="20" name="Text 14"/>
          <p:cNvSpPr/>
          <p:nvPr/>
        </p:nvSpPr>
        <p:spPr>
          <a:xfrm>
            <a:off x="4643628"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02</a:t>
            </a:r>
            <a:endParaRPr lang="en-US" sz="900" dirty="0"/>
          </a:p>
        </p:txBody>
      </p:sp>
      <p:pic>
        <p:nvPicPr>
          <p:cNvPr id="21" name="Image 4" descr="/home/user/suzuki-ceo/selfcafe-partner-deck/assets/icons/LuGraduationCap-green.png">    </p:cNvPr>
          <p:cNvPicPr>
            <a:picLocks noChangeAspect="1"/>
          </p:cNvPicPr>
          <p:nvPr/>
        </p:nvPicPr>
        <p:blipFill>
          <a:blip r:embed="rId5"/>
          <a:stretch>
            <a:fillRect/>
          </a:stretch>
        </p:blipFill>
        <p:spPr>
          <a:xfrm>
            <a:off x="7054291" y="1889150"/>
            <a:ext cx="384048" cy="384048"/>
          </a:xfrm>
          <a:prstGeom prst="rect">
            <a:avLst/>
          </a:prstGeom>
        </p:spPr>
      </p:pic>
      <p:sp>
        <p:nvSpPr>
          <p:cNvPr id="22" name="Text 15"/>
          <p:cNvSpPr/>
          <p:nvPr/>
        </p:nvSpPr>
        <p:spPr>
          <a:xfrm>
            <a:off x="4643628"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セミナー・イベント会場</a:t>
            </a:r>
            <a:endParaRPr lang="en-US" sz="1550" dirty="0"/>
          </a:p>
        </p:txBody>
      </p:sp>
      <p:sp>
        <p:nvSpPr>
          <p:cNvPr id="23" name="Text 16"/>
          <p:cNvSpPr/>
          <p:nvPr/>
        </p:nvSpPr>
        <p:spPr>
          <a:xfrm>
            <a:off x="4643628"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営業時間外や一部区画を、貸しスペースとして二次活用できます。</a:t>
            </a:r>
            <a:endParaRPr lang="en-US" sz="1050" dirty="0"/>
          </a:p>
        </p:txBody>
      </p:sp>
      <p:sp>
        <p:nvSpPr>
          <p:cNvPr id="24" name="Shape 17"/>
          <p:cNvSpPr/>
          <p:nvPr/>
        </p:nvSpPr>
        <p:spPr>
          <a:xfrm>
            <a:off x="4643628" y="3205886"/>
            <a:ext cx="2904439" cy="10058"/>
          </a:xfrm>
          <a:prstGeom prst="rect">
            <a:avLst/>
          </a:prstGeom>
          <a:solidFill>
            <a:srgbClr val="EFEAE0"/>
          </a:solidFill>
          <a:ln/>
        </p:spPr>
      </p:sp>
      <p:pic>
        <p:nvPicPr>
          <p:cNvPr id="25" name="Image 5" descr="/home/user/suzuki-ceo/selfcafe-partner-deck/assets/icons/LuCheck-green.png">    </p:cNvPr>
          <p:cNvPicPr>
            <a:picLocks noChangeAspect="1"/>
          </p:cNvPicPr>
          <p:nvPr/>
        </p:nvPicPr>
        <p:blipFill>
          <a:blip r:embed="rId6"/>
          <a:stretch>
            <a:fillRect/>
          </a:stretch>
        </p:blipFill>
        <p:spPr>
          <a:xfrm>
            <a:off x="4661916" y="3370478"/>
            <a:ext cx="173736" cy="173736"/>
          </a:xfrm>
          <a:prstGeom prst="rect">
            <a:avLst/>
          </a:prstGeom>
        </p:spPr>
      </p:pic>
      <p:sp>
        <p:nvSpPr>
          <p:cNvPr id="26" name="Text 18"/>
          <p:cNvSpPr/>
          <p:nvPr/>
        </p:nvSpPr>
        <p:spPr>
          <a:xfrm>
            <a:off x="4917948"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勉強会・セミナー・ワークショップ</a:t>
            </a:r>
            <a:endParaRPr lang="en-US" sz="1000" dirty="0"/>
          </a:p>
        </p:txBody>
      </p:sp>
      <p:pic>
        <p:nvPicPr>
          <p:cNvPr id="27" name="Image 6" descr="/home/user/suzuki-ceo/selfcafe-partner-deck/assets/icons/LuCheck-green.png">    </p:cNvPr>
          <p:cNvPicPr>
            <a:picLocks noChangeAspect="1"/>
          </p:cNvPicPr>
          <p:nvPr/>
        </p:nvPicPr>
        <p:blipFill>
          <a:blip r:embed="rId7"/>
          <a:stretch>
            <a:fillRect/>
          </a:stretch>
        </p:blipFill>
        <p:spPr>
          <a:xfrm>
            <a:off x="4661916" y="3663086"/>
            <a:ext cx="173736" cy="173736"/>
          </a:xfrm>
          <a:prstGeom prst="rect">
            <a:avLst/>
          </a:prstGeom>
        </p:spPr>
      </p:pic>
      <p:sp>
        <p:nvSpPr>
          <p:cNvPr id="28" name="Text 19"/>
          <p:cNvSpPr/>
          <p:nvPr/>
        </p:nvSpPr>
        <p:spPr>
          <a:xfrm>
            <a:off x="4917948"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席・Wi-Fi・電源をそのまま使える</a:t>
            </a:r>
            <a:endParaRPr lang="en-US" sz="1000" dirty="0"/>
          </a:p>
        </p:txBody>
      </p:sp>
      <p:sp>
        <p:nvSpPr>
          <p:cNvPr id="29" name="Shape 20"/>
          <p:cNvSpPr/>
          <p:nvPr/>
        </p:nvSpPr>
        <p:spPr>
          <a:xfrm>
            <a:off x="8078419" y="1651406"/>
            <a:ext cx="3453079" cy="2395728"/>
          </a:xfrm>
          <a:prstGeom prst="roundRect">
            <a:avLst>
              <a:gd name="adj" fmla="val 2290"/>
            </a:avLst>
          </a:prstGeom>
          <a:solidFill>
            <a:srgbClr val="FFFFFF"/>
          </a:solidFill>
          <a:ln w="9525">
            <a:solidFill>
              <a:srgbClr val="EFEAE0"/>
            </a:solidFill>
            <a:prstDash val="solid"/>
          </a:ln>
        </p:spPr>
      </p:sp>
      <p:sp>
        <p:nvSpPr>
          <p:cNvPr id="30" name="Text 21"/>
          <p:cNvSpPr/>
          <p:nvPr/>
        </p:nvSpPr>
        <p:spPr>
          <a:xfrm>
            <a:off x="835273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03</a:t>
            </a:r>
            <a:endParaRPr lang="en-US" sz="900" dirty="0"/>
          </a:p>
        </p:txBody>
      </p:sp>
      <p:pic>
        <p:nvPicPr>
          <p:cNvPr id="31" name="Image 7" descr="/home/user/suzuki-ceo/selfcafe-partner-deck/assets/icons/LuShoppingBag-green.png">    </p:cNvPr>
          <p:cNvPicPr>
            <a:picLocks noChangeAspect="1"/>
          </p:cNvPicPr>
          <p:nvPr/>
        </p:nvPicPr>
        <p:blipFill>
          <a:blip r:embed="rId8"/>
          <a:stretch>
            <a:fillRect/>
          </a:stretch>
        </p:blipFill>
        <p:spPr>
          <a:xfrm>
            <a:off x="10763402" y="1889150"/>
            <a:ext cx="384048" cy="384048"/>
          </a:xfrm>
          <a:prstGeom prst="rect">
            <a:avLst/>
          </a:prstGeom>
        </p:spPr>
      </p:pic>
      <p:sp>
        <p:nvSpPr>
          <p:cNvPr id="32" name="Text 22"/>
          <p:cNvSpPr/>
          <p:nvPr/>
        </p:nvSpPr>
        <p:spPr>
          <a:xfrm>
            <a:off x="8352739"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物販スペース</a:t>
            </a:r>
            <a:endParaRPr lang="en-US" sz="1550" dirty="0"/>
          </a:p>
        </p:txBody>
      </p:sp>
      <p:sp>
        <p:nvSpPr>
          <p:cNvPr id="33" name="Text 23"/>
          <p:cNvSpPr/>
          <p:nvPr/>
        </p:nvSpPr>
        <p:spPr>
          <a:xfrm>
            <a:off x="8352739"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棚や壁面を使い、物販の売り場としても活用できます。</a:t>
            </a:r>
            <a:endParaRPr lang="en-US" sz="1050" dirty="0"/>
          </a:p>
        </p:txBody>
      </p:sp>
      <p:sp>
        <p:nvSpPr>
          <p:cNvPr id="34" name="Shape 24"/>
          <p:cNvSpPr/>
          <p:nvPr/>
        </p:nvSpPr>
        <p:spPr>
          <a:xfrm>
            <a:off x="8352739" y="3205886"/>
            <a:ext cx="2904439" cy="10058"/>
          </a:xfrm>
          <a:prstGeom prst="rect">
            <a:avLst/>
          </a:prstGeom>
          <a:solidFill>
            <a:srgbClr val="EFEAE0"/>
          </a:solidFill>
          <a:ln/>
        </p:spPr>
      </p:sp>
      <p:pic>
        <p:nvPicPr>
          <p:cNvPr id="35" name="Image 8" descr="/home/user/suzuki-ceo/selfcafe-partner-deck/assets/icons/LuCheck-green.png">    </p:cNvPr>
          <p:cNvPicPr>
            <a:picLocks noChangeAspect="1"/>
          </p:cNvPicPr>
          <p:nvPr/>
        </p:nvPicPr>
        <p:blipFill>
          <a:blip r:embed="rId9"/>
          <a:stretch>
            <a:fillRect/>
          </a:stretch>
        </p:blipFill>
        <p:spPr>
          <a:xfrm>
            <a:off x="8371027" y="3370478"/>
            <a:ext cx="173736" cy="173736"/>
          </a:xfrm>
          <a:prstGeom prst="rect">
            <a:avLst/>
          </a:prstGeom>
        </p:spPr>
      </p:pic>
      <p:sp>
        <p:nvSpPr>
          <p:cNvPr id="36" name="Text 25"/>
          <p:cNvSpPr/>
          <p:nvPr/>
        </p:nvSpPr>
        <p:spPr>
          <a:xfrm>
            <a:off x="8627059"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地域産品・書籍・自社商品の販売</a:t>
            </a:r>
            <a:endParaRPr lang="en-US" sz="1000" dirty="0"/>
          </a:p>
        </p:txBody>
      </p:sp>
      <p:pic>
        <p:nvPicPr>
          <p:cNvPr id="37" name="Image 9" descr="/home/user/suzuki-ceo/selfcafe-partner-deck/assets/icons/LuCheck-green.png">    </p:cNvPr>
          <p:cNvPicPr>
            <a:picLocks noChangeAspect="1"/>
          </p:cNvPicPr>
          <p:nvPr/>
        </p:nvPicPr>
        <p:blipFill>
          <a:blip r:embed="rId10"/>
          <a:stretch>
            <a:fillRect/>
          </a:stretch>
        </p:blipFill>
        <p:spPr>
          <a:xfrm>
            <a:off x="8371027" y="3663086"/>
            <a:ext cx="173736" cy="173736"/>
          </a:xfrm>
          <a:prstGeom prst="rect">
            <a:avLst/>
          </a:prstGeom>
        </p:spPr>
      </p:pic>
      <p:sp>
        <p:nvSpPr>
          <p:cNvPr id="38" name="Text 26"/>
          <p:cNvSpPr/>
          <p:nvPr/>
        </p:nvSpPr>
        <p:spPr>
          <a:xfrm>
            <a:off x="8627059"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滞在が長いぶん、商品が目に触れる</a:t>
            </a:r>
            <a:endParaRPr lang="en-US" sz="1000" dirty="0"/>
          </a:p>
        </p:txBody>
      </p:sp>
      <p:sp>
        <p:nvSpPr>
          <p:cNvPr id="39" name="Shape 27"/>
          <p:cNvSpPr/>
          <p:nvPr/>
        </p:nvSpPr>
        <p:spPr>
          <a:xfrm>
            <a:off x="660197" y="4266590"/>
            <a:ext cx="10871302" cy="1773936"/>
          </a:xfrm>
          <a:prstGeom prst="roundRect">
            <a:avLst>
              <a:gd name="adj" fmla="val 3093"/>
            </a:avLst>
          </a:prstGeom>
          <a:solidFill>
            <a:srgbClr val="0C5230"/>
          </a:solidFill>
          <a:ln/>
        </p:spPr>
      </p:sp>
      <p:sp>
        <p:nvSpPr>
          <p:cNvPr id="40" name="Text 28"/>
          <p:cNvSpPr/>
          <p:nvPr/>
        </p:nvSpPr>
        <p:spPr>
          <a:xfrm>
            <a:off x="989381" y="4504334"/>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LOCAL ADVANTAGE</a:t>
            </a:r>
            <a:endParaRPr lang="en-US" sz="900" dirty="0"/>
          </a:p>
        </p:txBody>
      </p:sp>
      <p:sp>
        <p:nvSpPr>
          <p:cNvPr id="41" name="Text 29"/>
          <p:cNvSpPr/>
          <p:nvPr/>
        </p:nvSpPr>
        <p:spPr>
          <a:xfrm>
            <a:off x="989381" y="4778654"/>
            <a:ext cx="5852160" cy="457200"/>
          </a:xfrm>
          <a:prstGeom prst="rect">
            <a:avLst/>
          </a:prstGeom>
          <a:noFill/>
          <a:ln/>
        </p:spPr>
        <p:txBody>
          <a:bodyPr wrap="square" lIns="0" tIns="0" rIns="0" bIns="0" rtlCol="0" anchor="ctr"/>
          <a:lstStyle/>
          <a:p>
            <a:pPr indent="0" marL="0">
              <a:buNone/>
            </a:pPr>
            <a:r>
              <a:rPr lang="en-US" sz="2200" b="1" dirty="0">
                <a:solidFill>
                  <a:srgbClr val="FFFFFF"/>
                </a:solidFill>
                <a:latin typeface="Yu Gothic" pitchFamily="34" charset="0"/>
                <a:ea typeface="Yu Gothic" pitchFamily="34" charset="-122"/>
                <a:cs typeface="Yu Gothic" pitchFamily="34" charset="-120"/>
              </a:rPr>
              <a:t>地方都市ほど、競合がいない。</a:t>
            </a:r>
            <a:endParaRPr lang="en-US" sz="2200" dirty="0"/>
          </a:p>
        </p:txBody>
      </p:sp>
      <p:pic>
        <p:nvPicPr>
          <p:cNvPr id="42" name="Image 10" descr="/home/user/suzuki-ceo/selfcafe-partner-deck/assets/icons/LuMapPin-pale.png">    </p:cNvPr>
          <p:cNvPicPr>
            <a:picLocks noChangeAspect="1"/>
          </p:cNvPicPr>
          <p:nvPr/>
        </p:nvPicPr>
        <p:blipFill>
          <a:blip r:embed="rId11"/>
          <a:stretch>
            <a:fillRect/>
          </a:stretch>
        </p:blipFill>
        <p:spPr>
          <a:xfrm>
            <a:off x="6695237" y="4796942"/>
            <a:ext cx="420624" cy="420624"/>
          </a:xfrm>
          <a:prstGeom prst="rect">
            <a:avLst/>
          </a:prstGeom>
        </p:spPr>
      </p:pic>
      <p:sp>
        <p:nvSpPr>
          <p:cNvPr id="43" name="Text 30"/>
          <p:cNvSpPr/>
          <p:nvPr/>
        </p:nvSpPr>
        <p:spPr>
          <a:xfrm>
            <a:off x="7426757" y="4577486"/>
            <a:ext cx="3738982" cy="1243584"/>
          </a:xfrm>
          <a:prstGeom prst="rect">
            <a:avLst/>
          </a:prstGeom>
          <a:noFill/>
          <a:ln/>
        </p:spPr>
        <p:txBody>
          <a:bodyPr wrap="square" lIns="0" tIns="0" rIns="0" bIns="0" rtlCol="0" anchor="ctr"/>
          <a:lstStyle/>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都市部に比べて同種の施設が少なく、開店直後から認知が広がりやすい傾向があります。</a:t>
            </a:r>
            <a:endParaRPr lang="en-US" sz="1100" dirty="0"/>
          </a:p>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岩手県 盛岡駅前店は1日80杯ペースで稼働しています（出店事例のページ参照）。</a:t>
            </a:r>
            <a:endParaRPr lang="en-US" sz="1100" dirty="0"/>
          </a:p>
        </p:txBody>
      </p:sp>
      <p:sp>
        <p:nvSpPr>
          <p:cNvPr id="44" name="Shape 31"/>
          <p:cNvSpPr/>
          <p:nvPr/>
        </p:nvSpPr>
        <p:spPr>
          <a:xfrm>
            <a:off x="7152437" y="4595774"/>
            <a:ext cx="11887" cy="1115568"/>
          </a:xfrm>
          <a:prstGeom prst="rect">
            <a:avLst/>
          </a:prstGeom>
          <a:solidFill>
            <a:srgbClr val="2A7A4E"/>
          </a:solidFill>
          <a:ln/>
        </p:spPr>
      </p:sp>
      <p:sp>
        <p:nvSpPr>
          <p:cNvPr id="45" name="Text 32"/>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二次利用（貸しスペース・物販）の可否は立地・契約条件により異なります。個別にご相談ください。</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06</a:t>
            </a:r>
            <a:r>
              <a:rPr lang="en-US" sz="1050" b="1" dirty="0">
                <a:solidFill>
                  <a:srgbClr val="1B8149"/>
                </a:solidFill>
                <a:latin typeface="Yu Gothic" pitchFamily="34" charset="0"/>
                <a:ea typeface="Yu Gothic" pitchFamily="34" charset="-122"/>
                <a:cs typeface="Yu Gothic" pitchFamily="34" charset="-120"/>
              </a:rPr>
              <a:t>   ブランド</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セルフカフェとは</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“誰もが気軽に使える”第三の居場所を、全国71店舗で展開中。年内にさらに10店舗以上の出店を予定しています。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07</a:t>
            </a:r>
            <a:endParaRPr lang="en-US" sz="1000" dirty="0"/>
          </a:p>
        </p:txBody>
      </p:sp>
      <p:sp>
        <p:nvSpPr>
          <p:cNvPr id="9" name="Shape 6"/>
          <p:cNvSpPr/>
          <p:nvPr/>
        </p:nvSpPr>
        <p:spPr>
          <a:xfrm>
            <a:off x="660197" y="1651406"/>
            <a:ext cx="6675120" cy="786384"/>
          </a:xfrm>
          <a:prstGeom prst="roundRect">
            <a:avLst>
              <a:gd name="adj" fmla="val 6977"/>
            </a:avLst>
          </a:prstGeom>
          <a:solidFill>
            <a:srgbClr val="FFFFFF"/>
          </a:solidFill>
          <a:ln w="9525">
            <a:solidFill>
              <a:srgbClr val="EFEAE0"/>
            </a:solidFill>
            <a:prstDash val="solid"/>
          </a:ln>
        </p:spPr>
      </p:sp>
      <p:pic>
        <p:nvPicPr>
          <p:cNvPr id="10" name="Image 1" descr="/home/user/suzuki-ceo/selfcafe-partner-deck/assets/icons/LuHouse-green.png">    </p:cNvPr>
          <p:cNvPicPr>
            <a:picLocks noChangeAspect="1"/>
          </p:cNvPicPr>
          <p:nvPr/>
        </p:nvPicPr>
        <p:blipFill>
          <a:blip r:embed="rId2"/>
          <a:stretch>
            <a:fillRect/>
          </a:stretch>
        </p:blipFill>
        <p:spPr>
          <a:xfrm>
            <a:off x="916229" y="1852574"/>
            <a:ext cx="384048" cy="384048"/>
          </a:xfrm>
          <a:prstGeom prst="rect">
            <a:avLst/>
          </a:prstGeom>
        </p:spPr>
      </p:pic>
      <p:sp>
        <p:nvSpPr>
          <p:cNvPr id="11" name="Text 7"/>
          <p:cNvSpPr/>
          <p:nvPr/>
        </p:nvSpPr>
        <p:spPr>
          <a:xfrm>
            <a:off x="1464869" y="1779422"/>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お家のような</a:t>
            </a:r>
            <a:endParaRPr lang="en-US" sz="1400" dirty="0"/>
          </a:p>
        </p:txBody>
      </p:sp>
      <p:sp>
        <p:nvSpPr>
          <p:cNvPr id="12" name="Text 8"/>
          <p:cNvSpPr/>
          <p:nvPr/>
        </p:nvSpPr>
        <p:spPr>
          <a:xfrm>
            <a:off x="1464869" y="2053742"/>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寛ぎすぎないが、設備が整った集中環境。</a:t>
            </a:r>
            <a:endParaRPr lang="en-US" sz="1050" dirty="0"/>
          </a:p>
        </p:txBody>
      </p:sp>
      <p:sp>
        <p:nvSpPr>
          <p:cNvPr id="13" name="Shape 9"/>
          <p:cNvSpPr/>
          <p:nvPr/>
        </p:nvSpPr>
        <p:spPr>
          <a:xfrm>
            <a:off x="660197" y="2547518"/>
            <a:ext cx="6675120" cy="786384"/>
          </a:xfrm>
          <a:prstGeom prst="roundRect">
            <a:avLst>
              <a:gd name="adj" fmla="val 6977"/>
            </a:avLst>
          </a:prstGeom>
          <a:solidFill>
            <a:srgbClr val="FFFFFF"/>
          </a:solidFill>
          <a:ln w="9525">
            <a:solidFill>
              <a:srgbClr val="EFEAE0"/>
            </a:solidFill>
            <a:prstDash val="solid"/>
          </a:ln>
        </p:spPr>
      </p:sp>
      <p:pic>
        <p:nvPicPr>
          <p:cNvPr id="14" name="Image 2" descr="/home/user/suzuki-ceo/selfcafe-partner-deck/assets/icons/LuCoffee-green.png">    </p:cNvPr>
          <p:cNvPicPr>
            <a:picLocks noChangeAspect="1"/>
          </p:cNvPicPr>
          <p:nvPr/>
        </p:nvPicPr>
        <p:blipFill>
          <a:blip r:embed="rId3"/>
          <a:stretch>
            <a:fillRect/>
          </a:stretch>
        </p:blipFill>
        <p:spPr>
          <a:xfrm>
            <a:off x="916229" y="2748686"/>
            <a:ext cx="384048" cy="384048"/>
          </a:xfrm>
          <a:prstGeom prst="rect">
            <a:avLst/>
          </a:prstGeom>
        </p:spPr>
      </p:pic>
      <p:sp>
        <p:nvSpPr>
          <p:cNvPr id="15" name="Text 10"/>
          <p:cNvSpPr/>
          <p:nvPr/>
        </p:nvSpPr>
        <p:spPr>
          <a:xfrm>
            <a:off x="1464869" y="2675534"/>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カフェのような</a:t>
            </a:r>
            <a:endParaRPr lang="en-US" sz="1400" dirty="0"/>
          </a:p>
        </p:txBody>
      </p:sp>
      <p:sp>
        <p:nvSpPr>
          <p:cNvPr id="16" name="Text 11"/>
          <p:cNvSpPr/>
          <p:nvPr/>
        </p:nvSpPr>
        <p:spPr>
          <a:xfrm>
            <a:off x="1464869" y="2949854"/>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食事はないが、時間を気にせず美味しいコーヒーが飲める。</a:t>
            </a:r>
            <a:endParaRPr lang="en-US" sz="1050" dirty="0"/>
          </a:p>
        </p:txBody>
      </p:sp>
      <p:sp>
        <p:nvSpPr>
          <p:cNvPr id="17" name="Shape 12"/>
          <p:cNvSpPr/>
          <p:nvPr/>
        </p:nvSpPr>
        <p:spPr>
          <a:xfrm>
            <a:off x="660197" y="3443630"/>
            <a:ext cx="6675120" cy="786384"/>
          </a:xfrm>
          <a:prstGeom prst="roundRect">
            <a:avLst>
              <a:gd name="adj" fmla="val 6977"/>
            </a:avLst>
          </a:prstGeom>
          <a:solidFill>
            <a:srgbClr val="FFFFFF"/>
          </a:solidFill>
          <a:ln w="9525">
            <a:solidFill>
              <a:srgbClr val="EFEAE0"/>
            </a:solidFill>
            <a:prstDash val="solid"/>
          </a:ln>
        </p:spPr>
      </p:sp>
      <p:pic>
        <p:nvPicPr>
          <p:cNvPr id="18" name="Image 3" descr="/home/user/suzuki-ceo/selfcafe-partner-deck/assets/icons/LuBookOpen-green.png">    </p:cNvPr>
          <p:cNvPicPr>
            <a:picLocks noChangeAspect="1"/>
          </p:cNvPicPr>
          <p:nvPr/>
        </p:nvPicPr>
        <p:blipFill>
          <a:blip r:embed="rId4"/>
          <a:stretch>
            <a:fillRect/>
          </a:stretch>
        </p:blipFill>
        <p:spPr>
          <a:xfrm>
            <a:off x="916229" y="3644798"/>
            <a:ext cx="384048" cy="384048"/>
          </a:xfrm>
          <a:prstGeom prst="rect">
            <a:avLst/>
          </a:prstGeom>
        </p:spPr>
      </p:pic>
      <p:sp>
        <p:nvSpPr>
          <p:cNvPr id="19" name="Text 13"/>
          <p:cNvSpPr/>
          <p:nvPr/>
        </p:nvSpPr>
        <p:spPr>
          <a:xfrm>
            <a:off x="1464869" y="3571646"/>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図書館のような</a:t>
            </a:r>
            <a:endParaRPr lang="en-US" sz="1400" dirty="0"/>
          </a:p>
        </p:txBody>
      </p:sp>
      <p:sp>
        <p:nvSpPr>
          <p:cNvPr id="20" name="Text 14"/>
          <p:cNvSpPr/>
          <p:nvPr/>
        </p:nvSpPr>
        <p:spPr>
          <a:xfrm>
            <a:off x="1464869" y="3845966"/>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静かすぎない、適度な賑やかさがある。</a:t>
            </a:r>
            <a:endParaRPr lang="en-US" sz="1050" dirty="0"/>
          </a:p>
        </p:txBody>
      </p:sp>
      <p:sp>
        <p:nvSpPr>
          <p:cNvPr id="21" name="Shape 15"/>
          <p:cNvSpPr/>
          <p:nvPr/>
        </p:nvSpPr>
        <p:spPr>
          <a:xfrm>
            <a:off x="660197" y="4394606"/>
            <a:ext cx="6675120" cy="969264"/>
          </a:xfrm>
          <a:prstGeom prst="roundRect">
            <a:avLst>
              <a:gd name="adj" fmla="val 5660"/>
            </a:avLst>
          </a:prstGeom>
          <a:solidFill>
            <a:srgbClr val="0C5230"/>
          </a:solidFill>
          <a:ln/>
        </p:spPr>
      </p:sp>
      <p:sp>
        <p:nvSpPr>
          <p:cNvPr id="22" name="Text 16"/>
          <p:cNvSpPr/>
          <p:nvPr/>
        </p:nvSpPr>
        <p:spPr>
          <a:xfrm>
            <a:off x="989381" y="4504334"/>
            <a:ext cx="6016752" cy="274320"/>
          </a:xfrm>
          <a:prstGeom prst="rect">
            <a:avLst/>
          </a:prstGeom>
          <a:noFill/>
          <a:ln/>
        </p:spPr>
        <p:txBody>
          <a:bodyPr wrap="square" lIns="0" tIns="0" rIns="0" bIns="0" rtlCol="0" anchor="ctr"/>
          <a:lstStyle/>
          <a:p>
            <a:pPr indent="0" marL="0">
              <a:buNone/>
            </a:pPr>
            <a:r>
              <a:rPr lang="en-US" sz="1150" dirty="0">
                <a:solidFill>
                  <a:srgbClr val="8CC5A5"/>
                </a:solidFill>
                <a:latin typeface="Yu Gothic" pitchFamily="34" charset="0"/>
                <a:ea typeface="Yu Gothic" pitchFamily="34" charset="-122"/>
                <a:cs typeface="Yu Gothic" pitchFamily="34" charset="-120"/>
              </a:rPr>
              <a:t>“誰もが気軽に使える”</a:t>
            </a:r>
            <a:endParaRPr lang="en-US" sz="1150" dirty="0"/>
          </a:p>
        </p:txBody>
      </p:sp>
      <p:sp>
        <p:nvSpPr>
          <p:cNvPr id="23" name="Text 17"/>
          <p:cNvSpPr/>
          <p:nvPr/>
        </p:nvSpPr>
        <p:spPr>
          <a:xfrm>
            <a:off x="989381" y="4796942"/>
            <a:ext cx="5577840"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第三の居場所</a:t>
            </a:r>
            <a:endParaRPr lang="en-US" sz="2400" dirty="0"/>
          </a:p>
        </p:txBody>
      </p:sp>
      <p:pic>
        <p:nvPicPr>
          <p:cNvPr id="24" name="Image 4" descr="/home/user/suzuki-ceo/selfcafe-partner-deck/assets/icons/LuCoffee-pale.png">    </p:cNvPr>
          <p:cNvPicPr>
            <a:picLocks noChangeAspect="1"/>
          </p:cNvPicPr>
          <p:nvPr/>
        </p:nvPicPr>
        <p:blipFill>
          <a:blip r:embed="rId5"/>
          <a:stretch>
            <a:fillRect/>
          </a:stretch>
        </p:blipFill>
        <p:spPr>
          <a:xfrm>
            <a:off x="6420917" y="4760366"/>
            <a:ext cx="475488" cy="475488"/>
          </a:xfrm>
          <a:prstGeom prst="rect">
            <a:avLst/>
          </a:prstGeom>
        </p:spPr>
      </p:pic>
      <p:sp>
        <p:nvSpPr>
          <p:cNvPr id="25" name="Shape 18"/>
          <p:cNvSpPr/>
          <p:nvPr/>
        </p:nvSpPr>
        <p:spPr>
          <a:xfrm>
            <a:off x="660197" y="5528462"/>
            <a:ext cx="2127504" cy="658368"/>
          </a:xfrm>
          <a:prstGeom prst="roundRect">
            <a:avLst>
              <a:gd name="adj" fmla="val 8333"/>
            </a:avLst>
          </a:prstGeom>
          <a:solidFill>
            <a:srgbClr val="F1F8F3"/>
          </a:solidFill>
          <a:ln w="9525">
            <a:solidFill>
              <a:srgbClr val="D2E7DA"/>
            </a:solidFill>
            <a:prstDash val="solid"/>
          </a:ln>
        </p:spPr>
      </p:sp>
      <p:sp>
        <p:nvSpPr>
          <p:cNvPr id="26" name="Text 19"/>
          <p:cNvSpPr/>
          <p:nvPr/>
        </p:nvSpPr>
        <p:spPr>
          <a:xfrm>
            <a:off x="824789"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2〜3時間</a:t>
            </a:r>
            <a:endParaRPr lang="en-US" sz="1500" dirty="0"/>
          </a:p>
        </p:txBody>
      </p:sp>
      <p:sp>
        <p:nvSpPr>
          <p:cNvPr id="27" name="Text 20"/>
          <p:cNvSpPr/>
          <p:nvPr/>
        </p:nvSpPr>
        <p:spPr>
          <a:xfrm>
            <a:off x="824789"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平均滞在時間</a:t>
            </a:r>
            <a:endParaRPr lang="en-US" sz="900" dirty="0"/>
          </a:p>
        </p:txBody>
      </p:sp>
      <p:sp>
        <p:nvSpPr>
          <p:cNvPr id="28" name="Shape 21"/>
          <p:cNvSpPr/>
          <p:nvPr/>
        </p:nvSpPr>
        <p:spPr>
          <a:xfrm>
            <a:off x="2934005" y="5528462"/>
            <a:ext cx="2127504" cy="658368"/>
          </a:xfrm>
          <a:prstGeom prst="roundRect">
            <a:avLst>
              <a:gd name="adj" fmla="val 8333"/>
            </a:avLst>
          </a:prstGeom>
          <a:solidFill>
            <a:srgbClr val="F1F8F3"/>
          </a:solidFill>
          <a:ln w="9525">
            <a:solidFill>
              <a:srgbClr val="D2E7DA"/>
            </a:solidFill>
            <a:prstDash val="solid"/>
          </a:ln>
        </p:spPr>
      </p:sp>
      <p:sp>
        <p:nvSpPr>
          <p:cNvPr id="29" name="Text 22"/>
          <p:cNvSpPr/>
          <p:nvPr/>
        </p:nvSpPr>
        <p:spPr>
          <a:xfrm>
            <a:off x="3098597"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2杯程度</a:t>
            </a:r>
            <a:endParaRPr lang="en-US" sz="1500" dirty="0"/>
          </a:p>
        </p:txBody>
      </p:sp>
      <p:sp>
        <p:nvSpPr>
          <p:cNvPr id="30" name="Text 23"/>
          <p:cNvSpPr/>
          <p:nvPr/>
        </p:nvSpPr>
        <p:spPr>
          <a:xfrm>
            <a:off x="3098597"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1人あたり購入数</a:t>
            </a:r>
            <a:endParaRPr lang="en-US" sz="900" dirty="0"/>
          </a:p>
        </p:txBody>
      </p:sp>
      <p:sp>
        <p:nvSpPr>
          <p:cNvPr id="31" name="Shape 24"/>
          <p:cNvSpPr/>
          <p:nvPr/>
        </p:nvSpPr>
        <p:spPr>
          <a:xfrm>
            <a:off x="5207813" y="5528462"/>
            <a:ext cx="2127504" cy="658368"/>
          </a:xfrm>
          <a:prstGeom prst="roundRect">
            <a:avLst>
              <a:gd name="adj" fmla="val 8333"/>
            </a:avLst>
          </a:prstGeom>
          <a:solidFill>
            <a:srgbClr val="F1F8F3"/>
          </a:solidFill>
          <a:ln w="9525">
            <a:solidFill>
              <a:srgbClr val="D2E7DA"/>
            </a:solidFill>
            <a:prstDash val="solid"/>
          </a:ln>
        </p:spPr>
      </p:sp>
      <p:sp>
        <p:nvSpPr>
          <p:cNvPr id="32" name="Text 25"/>
          <p:cNvSpPr/>
          <p:nvPr/>
        </p:nvSpPr>
        <p:spPr>
          <a:xfrm>
            <a:off x="5372405"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24時間</a:t>
            </a:r>
            <a:endParaRPr lang="en-US" sz="1500" dirty="0"/>
          </a:p>
        </p:txBody>
      </p:sp>
      <p:sp>
        <p:nvSpPr>
          <p:cNvPr id="33" name="Text 26"/>
          <p:cNvSpPr/>
          <p:nvPr/>
        </p:nvSpPr>
        <p:spPr>
          <a:xfrm>
            <a:off x="5372405"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営業時間も任意設定可能</a:t>
            </a:r>
            <a:endParaRPr lang="en-US" sz="900" dirty="0"/>
          </a:p>
        </p:txBody>
      </p:sp>
      <p:sp>
        <p:nvSpPr>
          <p:cNvPr id="34" name="Shape 27"/>
          <p:cNvSpPr/>
          <p:nvPr/>
        </p:nvSpPr>
        <p:spPr>
          <a:xfrm>
            <a:off x="7719365" y="1651406"/>
            <a:ext cx="3812134" cy="4535424"/>
          </a:xfrm>
          <a:prstGeom prst="roundRect">
            <a:avLst>
              <a:gd name="adj" fmla="val 1439"/>
            </a:avLst>
          </a:prstGeom>
          <a:solidFill>
            <a:srgbClr val="FFFFFF"/>
          </a:solidFill>
          <a:ln w="9525">
            <a:solidFill>
              <a:srgbClr val="EFEAE0"/>
            </a:solidFill>
            <a:prstDash val="solid"/>
          </a:ln>
        </p:spPr>
      </p:sp>
      <p:sp>
        <p:nvSpPr>
          <p:cNvPr id="35" name="Text 28"/>
          <p:cNvSpPr/>
          <p:nvPr/>
        </p:nvSpPr>
        <p:spPr>
          <a:xfrm>
            <a:off x="7993685" y="1907438"/>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NETWORK</a:t>
            </a:r>
            <a:endParaRPr lang="en-US" sz="900" dirty="0"/>
          </a:p>
        </p:txBody>
      </p:sp>
      <p:sp>
        <p:nvSpPr>
          <p:cNvPr id="36" name="Text 29"/>
          <p:cNvSpPr/>
          <p:nvPr/>
        </p:nvSpPr>
        <p:spPr>
          <a:xfrm>
            <a:off x="7993685" y="2145182"/>
            <a:ext cx="3263494" cy="548640"/>
          </a:xfrm>
          <a:prstGeom prst="rect">
            <a:avLst/>
          </a:prstGeom>
          <a:noFill/>
          <a:ln/>
        </p:spPr>
        <p:txBody>
          <a:bodyPr wrap="square" lIns="0" tIns="0" rIns="0" bIns="0" rtlCol="0" anchor="ctr"/>
          <a:lstStyle/>
          <a:p>
            <a:pPr indent="0" marL="0">
              <a:buNone/>
            </a:pPr>
            <a:r>
              <a:rPr lang="en-US" sz="3600" b="1" dirty="0">
                <a:solidFill>
                  <a:srgbClr val="106838"/>
                </a:solidFill>
                <a:latin typeface="Arial" pitchFamily="34" charset="0"/>
                <a:ea typeface="Arial" pitchFamily="34" charset="-122"/>
                <a:cs typeface="Arial" pitchFamily="34" charset="-120"/>
              </a:rPr>
              <a:t>71</a:t>
            </a:r>
            <a:r>
              <a:rPr lang="en-US" sz="1300" b="1" dirty="0">
                <a:solidFill>
                  <a:srgbClr val="106838"/>
                </a:solidFill>
                <a:latin typeface="Yu Gothic" pitchFamily="34" charset="0"/>
                <a:ea typeface="Yu Gothic" pitchFamily="34" charset="-122"/>
                <a:cs typeface="Yu Gothic" pitchFamily="34" charset="-120"/>
              </a:rPr>
              <a:t> 店舗</a:t>
            </a:r>
            <a:r>
              <a:rPr lang="en-US" sz="1400" b="1" dirty="0">
                <a:solidFill>
                  <a:srgbClr val="A8761F"/>
                </a:solidFill>
                <a:latin typeface="Arial" pitchFamily="34" charset="0"/>
                <a:ea typeface="Arial" pitchFamily="34" charset="-122"/>
                <a:cs typeface="Arial" pitchFamily="34" charset="-120"/>
              </a:rPr>
              <a:t>  ×  </a:t>
            </a:r>
            <a:r>
              <a:rPr lang="en-US" sz="3600" b="1" dirty="0">
                <a:solidFill>
                  <a:srgbClr val="106838"/>
                </a:solidFill>
                <a:latin typeface="Arial" pitchFamily="34" charset="0"/>
                <a:ea typeface="Arial" pitchFamily="34" charset="-122"/>
                <a:cs typeface="Arial" pitchFamily="34" charset="-120"/>
              </a:rPr>
              <a:t>11</a:t>
            </a:r>
            <a:r>
              <a:rPr lang="en-US" sz="1300" b="1" dirty="0">
                <a:solidFill>
                  <a:srgbClr val="106838"/>
                </a:solidFill>
                <a:latin typeface="Yu Gothic" pitchFamily="34" charset="0"/>
                <a:ea typeface="Yu Gothic" pitchFamily="34" charset="-122"/>
                <a:cs typeface="Yu Gothic" pitchFamily="34" charset="-120"/>
              </a:rPr>
              <a:t> 都府県</a:t>
            </a:r>
            <a:endParaRPr lang="en-US" sz="3600" dirty="0"/>
          </a:p>
        </p:txBody>
      </p:sp>
      <p:sp>
        <p:nvSpPr>
          <p:cNvPr id="37" name="Text 30"/>
          <p:cNvSpPr/>
          <p:nvPr/>
        </p:nvSpPr>
        <p:spPr>
          <a:xfrm>
            <a:off x="7993685" y="2712110"/>
            <a:ext cx="3263494"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2026年7月時点／東北から中国地方まで展開中</a:t>
            </a:r>
            <a:endParaRPr lang="en-US" sz="900" dirty="0"/>
          </a:p>
        </p:txBody>
      </p:sp>
      <p:sp>
        <p:nvSpPr>
          <p:cNvPr id="38" name="Shape 31"/>
          <p:cNvSpPr/>
          <p:nvPr/>
        </p:nvSpPr>
        <p:spPr>
          <a:xfrm>
            <a:off x="7993685" y="3004718"/>
            <a:ext cx="3263494" cy="10058"/>
          </a:xfrm>
          <a:prstGeom prst="rect">
            <a:avLst/>
          </a:prstGeom>
          <a:solidFill>
            <a:srgbClr val="EFEAE0"/>
          </a:solidFill>
          <a:ln/>
        </p:spPr>
      </p:sp>
      <p:sp>
        <p:nvSpPr>
          <p:cNvPr id="39" name="Text 32"/>
          <p:cNvSpPr/>
          <p:nvPr/>
        </p:nvSpPr>
        <p:spPr>
          <a:xfrm>
            <a:off x="7993685" y="3096158"/>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愛知県</a:t>
            </a:r>
            <a:endParaRPr lang="en-US" sz="950" dirty="0"/>
          </a:p>
        </p:txBody>
      </p:sp>
      <p:sp>
        <p:nvSpPr>
          <p:cNvPr id="40" name="Text 33"/>
          <p:cNvSpPr/>
          <p:nvPr/>
        </p:nvSpPr>
        <p:spPr>
          <a:xfrm>
            <a:off x="10525658" y="3096158"/>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36</a:t>
            </a:r>
            <a:endParaRPr lang="en-US" sz="1050" dirty="0"/>
          </a:p>
        </p:txBody>
      </p:sp>
      <p:sp>
        <p:nvSpPr>
          <p:cNvPr id="41" name="Text 34"/>
          <p:cNvSpPr/>
          <p:nvPr/>
        </p:nvSpPr>
        <p:spPr>
          <a:xfrm>
            <a:off x="7993685" y="3308299"/>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大阪府</a:t>
            </a:r>
            <a:endParaRPr lang="en-US" sz="950" dirty="0"/>
          </a:p>
        </p:txBody>
      </p:sp>
      <p:sp>
        <p:nvSpPr>
          <p:cNvPr id="42" name="Text 35"/>
          <p:cNvSpPr/>
          <p:nvPr/>
        </p:nvSpPr>
        <p:spPr>
          <a:xfrm>
            <a:off x="10525658" y="3308299"/>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18</a:t>
            </a:r>
            <a:endParaRPr lang="en-US" sz="1050" dirty="0"/>
          </a:p>
        </p:txBody>
      </p:sp>
      <p:sp>
        <p:nvSpPr>
          <p:cNvPr id="43" name="Text 36"/>
          <p:cNvSpPr/>
          <p:nvPr/>
        </p:nvSpPr>
        <p:spPr>
          <a:xfrm>
            <a:off x="7993685" y="3520440"/>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東京都</a:t>
            </a:r>
            <a:endParaRPr lang="en-US" sz="950" dirty="0"/>
          </a:p>
        </p:txBody>
      </p:sp>
      <p:sp>
        <p:nvSpPr>
          <p:cNvPr id="44" name="Text 37"/>
          <p:cNvSpPr/>
          <p:nvPr/>
        </p:nvSpPr>
        <p:spPr>
          <a:xfrm>
            <a:off x="10525658" y="3520440"/>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7</a:t>
            </a:r>
            <a:endParaRPr lang="en-US" sz="1050" dirty="0"/>
          </a:p>
        </p:txBody>
      </p:sp>
      <p:sp>
        <p:nvSpPr>
          <p:cNvPr id="45" name="Text 38"/>
          <p:cNvSpPr/>
          <p:nvPr/>
        </p:nvSpPr>
        <p:spPr>
          <a:xfrm>
            <a:off x="7993685" y="3732581"/>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岩手県</a:t>
            </a:r>
            <a:endParaRPr lang="en-US" sz="950" dirty="0"/>
          </a:p>
        </p:txBody>
      </p:sp>
      <p:sp>
        <p:nvSpPr>
          <p:cNvPr id="46" name="Text 39"/>
          <p:cNvSpPr/>
          <p:nvPr/>
        </p:nvSpPr>
        <p:spPr>
          <a:xfrm>
            <a:off x="10525658" y="3732581"/>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7" name="Text 40"/>
          <p:cNvSpPr/>
          <p:nvPr/>
        </p:nvSpPr>
        <p:spPr>
          <a:xfrm>
            <a:off x="7993685" y="394472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岐阜県</a:t>
            </a:r>
            <a:endParaRPr lang="en-US" sz="950" dirty="0"/>
          </a:p>
        </p:txBody>
      </p:sp>
      <p:sp>
        <p:nvSpPr>
          <p:cNvPr id="48" name="Text 41"/>
          <p:cNvSpPr/>
          <p:nvPr/>
        </p:nvSpPr>
        <p:spPr>
          <a:xfrm>
            <a:off x="10525658" y="394472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9" name="Text 42"/>
          <p:cNvSpPr/>
          <p:nvPr/>
        </p:nvSpPr>
        <p:spPr>
          <a:xfrm>
            <a:off x="7993685" y="415686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埼玉県</a:t>
            </a:r>
            <a:endParaRPr lang="en-US" sz="950" dirty="0"/>
          </a:p>
        </p:txBody>
      </p:sp>
      <p:sp>
        <p:nvSpPr>
          <p:cNvPr id="50" name="Text 43"/>
          <p:cNvSpPr/>
          <p:nvPr/>
        </p:nvSpPr>
        <p:spPr>
          <a:xfrm>
            <a:off x="10525658" y="415686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1" name="Text 44"/>
          <p:cNvSpPr/>
          <p:nvPr/>
        </p:nvSpPr>
        <p:spPr>
          <a:xfrm>
            <a:off x="7993685" y="4369003"/>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千葉県</a:t>
            </a:r>
            <a:endParaRPr lang="en-US" sz="950" dirty="0"/>
          </a:p>
        </p:txBody>
      </p:sp>
      <p:sp>
        <p:nvSpPr>
          <p:cNvPr id="52" name="Text 45"/>
          <p:cNvSpPr/>
          <p:nvPr/>
        </p:nvSpPr>
        <p:spPr>
          <a:xfrm>
            <a:off x="10525658" y="4369003"/>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3" name="Text 46"/>
          <p:cNvSpPr/>
          <p:nvPr/>
        </p:nvSpPr>
        <p:spPr>
          <a:xfrm>
            <a:off x="7993685" y="4581144"/>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静岡県</a:t>
            </a:r>
            <a:endParaRPr lang="en-US" sz="950" dirty="0"/>
          </a:p>
        </p:txBody>
      </p:sp>
      <p:sp>
        <p:nvSpPr>
          <p:cNvPr id="54" name="Text 47"/>
          <p:cNvSpPr/>
          <p:nvPr/>
        </p:nvSpPr>
        <p:spPr>
          <a:xfrm>
            <a:off x="10525658" y="4581144"/>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5" name="Text 48"/>
          <p:cNvSpPr/>
          <p:nvPr/>
        </p:nvSpPr>
        <p:spPr>
          <a:xfrm>
            <a:off x="7993685" y="4793285"/>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滋賀県</a:t>
            </a:r>
            <a:endParaRPr lang="en-US" sz="950" dirty="0"/>
          </a:p>
        </p:txBody>
      </p:sp>
      <p:sp>
        <p:nvSpPr>
          <p:cNvPr id="56" name="Text 49"/>
          <p:cNvSpPr/>
          <p:nvPr/>
        </p:nvSpPr>
        <p:spPr>
          <a:xfrm>
            <a:off x="10525658" y="4793285"/>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7" name="Text 50"/>
          <p:cNvSpPr/>
          <p:nvPr/>
        </p:nvSpPr>
        <p:spPr>
          <a:xfrm>
            <a:off x="7993685" y="500542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三重県</a:t>
            </a:r>
            <a:endParaRPr lang="en-US" sz="950" dirty="0"/>
          </a:p>
        </p:txBody>
      </p:sp>
      <p:sp>
        <p:nvSpPr>
          <p:cNvPr id="58" name="Text 51"/>
          <p:cNvSpPr/>
          <p:nvPr/>
        </p:nvSpPr>
        <p:spPr>
          <a:xfrm>
            <a:off x="10525658" y="500542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9" name="Text 52"/>
          <p:cNvSpPr/>
          <p:nvPr/>
        </p:nvSpPr>
        <p:spPr>
          <a:xfrm>
            <a:off x="7993685" y="521756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鳥取県</a:t>
            </a:r>
            <a:endParaRPr lang="en-US" sz="950" dirty="0"/>
          </a:p>
        </p:txBody>
      </p:sp>
      <p:sp>
        <p:nvSpPr>
          <p:cNvPr id="60" name="Text 53"/>
          <p:cNvSpPr/>
          <p:nvPr/>
        </p:nvSpPr>
        <p:spPr>
          <a:xfrm>
            <a:off x="10525658" y="521756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61" name="Shape 54"/>
          <p:cNvSpPr/>
          <p:nvPr/>
        </p:nvSpPr>
        <p:spPr>
          <a:xfrm>
            <a:off x="7993685" y="5491886"/>
            <a:ext cx="3263494" cy="512064"/>
          </a:xfrm>
          <a:prstGeom prst="roundRect">
            <a:avLst>
              <a:gd name="adj" fmla="val 8929"/>
            </a:avLst>
          </a:prstGeom>
          <a:solidFill>
            <a:srgbClr val="FBF4E4"/>
          </a:solidFill>
          <a:ln/>
        </p:spPr>
      </p:sp>
      <p:sp>
        <p:nvSpPr>
          <p:cNvPr id="62" name="Text 55"/>
          <p:cNvSpPr/>
          <p:nvPr/>
        </p:nvSpPr>
        <p:spPr>
          <a:xfrm>
            <a:off x="8139989" y="5491886"/>
            <a:ext cx="2989174" cy="512064"/>
          </a:xfrm>
          <a:prstGeom prst="rect">
            <a:avLst/>
          </a:prstGeom>
          <a:noFill/>
          <a:ln/>
        </p:spPr>
        <p:txBody>
          <a:bodyPr wrap="square" lIns="0" tIns="0" rIns="0" bIns="0" rtlCol="0" anchor="ctr"/>
          <a:lstStyle/>
          <a:p>
            <a:pPr indent="0" marL="0">
              <a:buNone/>
            </a:pPr>
            <a:r>
              <a:rPr lang="en-US" sz="1000" b="1" dirty="0">
                <a:solidFill>
                  <a:srgbClr val="A8761F"/>
                </a:solidFill>
                <a:latin typeface="Yu Gothic" pitchFamily="34" charset="0"/>
                <a:ea typeface="Yu Gothic" pitchFamily="34" charset="-122"/>
                <a:cs typeface="Yu Gothic" pitchFamily="34" charset="-120"/>
              </a:rPr>
              <a:t>出店予定：年内にさらに10店舗以上</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07</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店舗展開数の推移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2022年9月の1号店OPENから、驚異的なスピードで出店エリアを拡大。出店は今後も継続していきます。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08</a:t>
            </a:r>
            <a:endParaRPr lang="en-US" sz="1000" dirty="0"/>
          </a:p>
        </p:txBody>
      </p:sp>
      <p:sp>
        <p:nvSpPr>
          <p:cNvPr id="9" name="Shape 6"/>
          <p:cNvSpPr/>
          <p:nvPr/>
        </p:nvSpPr>
        <p:spPr>
          <a:xfrm>
            <a:off x="660197" y="1651406"/>
            <a:ext cx="10871302" cy="2798064"/>
          </a:xfrm>
          <a:prstGeom prst="roundRect">
            <a:avLst>
              <a:gd name="adj" fmla="val 1961"/>
            </a:avLst>
          </a:prstGeom>
          <a:solidFill>
            <a:srgbClr val="FFFFFF"/>
          </a:solidFill>
          <a:ln w="9525">
            <a:solidFill>
              <a:srgbClr val="EFEAE0"/>
            </a:solidFill>
            <a:prstDash val="solid"/>
          </a:ln>
        </p:spPr>
      </p:sp>
      <p:sp>
        <p:nvSpPr>
          <p:cNvPr id="10" name="Text 7"/>
          <p:cNvSpPr/>
          <p:nvPr/>
        </p:nvSpPr>
        <p:spPr>
          <a:xfrm>
            <a:off x="934517" y="1834286"/>
            <a:ext cx="4572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営業中店舗の開店月ベース累計</a:t>
            </a:r>
            <a:endParaRPr lang="en-US" sz="1100" dirty="0"/>
          </a:p>
        </p:txBody>
      </p:sp>
      <p:sp>
        <p:nvSpPr>
          <p:cNvPr id="11" name="Text 8"/>
          <p:cNvSpPr/>
          <p:nvPr/>
        </p:nvSpPr>
        <p:spPr>
          <a:xfrm>
            <a:off x="934517" y="2072030"/>
            <a:ext cx="457200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2022.09 〜 2026.07（単位：店舗）</a:t>
            </a:r>
            <a:endParaRPr lang="en-US" sz="900" dirty="0"/>
          </a:p>
        </p:txBody>
      </p:sp>
      <p:sp>
        <p:nvSpPr>
          <p:cNvPr id="12" name="Shape 9"/>
          <p:cNvSpPr/>
          <p:nvPr/>
        </p:nvSpPr>
        <p:spPr>
          <a:xfrm>
            <a:off x="7819034" y="1852574"/>
            <a:ext cx="3438144" cy="420624"/>
          </a:xfrm>
          <a:prstGeom prst="roundRect">
            <a:avLst>
              <a:gd name="adj" fmla="val 50000"/>
            </a:avLst>
          </a:prstGeom>
          <a:solidFill>
            <a:srgbClr val="A8761F"/>
          </a:solidFill>
          <a:ln/>
        </p:spPr>
      </p:sp>
      <p:sp>
        <p:nvSpPr>
          <p:cNvPr id="13" name="Text 10"/>
          <p:cNvSpPr/>
          <p:nvPr/>
        </p:nvSpPr>
        <p:spPr>
          <a:xfrm>
            <a:off x="7819034" y="1852574"/>
            <a:ext cx="343814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サービス開始以来、</a:t>
            </a:r>
            <a:r>
              <a:rPr lang="en-US" sz="1500" b="1" dirty="0">
                <a:solidFill>
                  <a:srgbClr val="FFFFFF"/>
                </a:solidFill>
                <a:latin typeface="Arial" pitchFamily="34" charset="0"/>
                <a:ea typeface="Arial" pitchFamily="34" charset="-122"/>
                <a:cs typeface="Arial" pitchFamily="34" charset="-120"/>
              </a:rPr>
              <a:t>47</a:t>
            </a:r>
            <a:r>
              <a:rPr lang="en-US" sz="1100" b="1" dirty="0">
                <a:solidFill>
                  <a:srgbClr val="FFFFFF"/>
                </a:solidFill>
                <a:latin typeface="Yu Gothic" pitchFamily="34" charset="0"/>
                <a:ea typeface="Yu Gothic" pitchFamily="34" charset="-122"/>
                <a:cs typeface="Yu Gothic" pitchFamily="34" charset="-120"/>
              </a:rPr>
              <a:t> ヶ月で </a:t>
            </a:r>
            <a:r>
              <a:rPr lang="en-US" sz="1500" b="1" dirty="0">
                <a:solidFill>
                  <a:srgbClr val="FFFFFF"/>
                </a:solidFill>
                <a:latin typeface="Arial" pitchFamily="34" charset="0"/>
                <a:ea typeface="Arial" pitchFamily="34" charset="-122"/>
                <a:cs typeface="Arial" pitchFamily="34" charset="-120"/>
              </a:rPr>
              <a:t>71</a:t>
            </a:r>
            <a:r>
              <a:rPr lang="en-US" sz="1100" b="1" dirty="0">
                <a:solidFill>
                  <a:srgbClr val="FFFFFF"/>
                </a:solidFill>
                <a:latin typeface="Yu Gothic" pitchFamily="34" charset="0"/>
                <a:ea typeface="Yu Gothic" pitchFamily="34" charset="-122"/>
                <a:cs typeface="Yu Gothic" pitchFamily="34" charset="-120"/>
              </a:rPr>
              <a:t> 店舗</a:t>
            </a:r>
            <a:endParaRPr lang="en-US" sz="1100" dirty="0"/>
          </a:p>
        </p:txBody>
      </p:sp>
      <p:graphicFrame>
        <p:nvGraphicFramePr>
          <p:cNvPr id="14" name="Chart 0" descr=""/>
          <p:cNvGraphicFramePr/>
          <p:nvPr/>
        </p:nvGraphicFramePr>
        <p:xfrm>
          <a:off x="806501" y="2364638"/>
          <a:ext cx="10505542" cy="1883664"/>
        </p:xfrm>
        <a:graphic xmlns:a="http://schemas.openxmlformats.org/drawingml/2006/main">
          <a:graphicData uri="http://schemas.openxmlformats.org/drawingml/2006/chart">
            <c:chart xmlns:c="http://schemas.openxmlformats.org/drawingml/2006/chart" r:id="rId2"/>
          </a:graphicData>
        </a:graphic>
      </p:graphicFrame>
      <p:sp>
        <p:nvSpPr>
          <p:cNvPr id="15" name="Shape 11"/>
          <p:cNvSpPr/>
          <p:nvPr/>
        </p:nvSpPr>
        <p:spPr>
          <a:xfrm flipV="1">
            <a:off x="3921587" y="2620670"/>
            <a:ext cx="6087929" cy="1243584"/>
          </a:xfrm>
          <a:prstGeom prst="line">
            <a:avLst/>
          </a:prstGeom>
          <a:noFill/>
          <a:ln w="57150">
            <a:solidFill>
              <a:srgbClr val="A8761F"/>
            </a:solidFill>
            <a:prstDash val="solid"/>
            <a:tailEnd type="triangle"/>
          </a:ln>
        </p:spPr>
      </p:sp>
      <p:sp>
        <p:nvSpPr>
          <p:cNvPr id="16" name="Shape 12"/>
          <p:cNvSpPr/>
          <p:nvPr/>
        </p:nvSpPr>
        <p:spPr>
          <a:xfrm>
            <a:off x="660197" y="4650638"/>
            <a:ext cx="1689964" cy="841248"/>
          </a:xfrm>
          <a:prstGeom prst="roundRect">
            <a:avLst>
              <a:gd name="adj" fmla="val 5435"/>
            </a:avLst>
          </a:prstGeom>
          <a:solidFill>
            <a:srgbClr val="F1F8F3"/>
          </a:solidFill>
          <a:ln w="9525">
            <a:solidFill>
              <a:srgbClr val="D2E7DA"/>
            </a:solidFill>
            <a:prstDash val="solid"/>
          </a:ln>
        </p:spPr>
      </p:sp>
      <p:sp>
        <p:nvSpPr>
          <p:cNvPr id="17" name="Text 13"/>
          <p:cNvSpPr/>
          <p:nvPr/>
        </p:nvSpPr>
        <p:spPr>
          <a:xfrm>
            <a:off x="66019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2022.09</a:t>
            </a:r>
            <a:endParaRPr lang="en-US" sz="900" dirty="0"/>
          </a:p>
        </p:txBody>
      </p:sp>
      <p:sp>
        <p:nvSpPr>
          <p:cNvPr id="18" name="Text 14"/>
          <p:cNvSpPr/>
          <p:nvPr/>
        </p:nvSpPr>
        <p:spPr>
          <a:xfrm>
            <a:off x="66019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19" name="Shape 15"/>
          <p:cNvSpPr/>
          <p:nvPr/>
        </p:nvSpPr>
        <p:spPr>
          <a:xfrm>
            <a:off x="2496464" y="4650638"/>
            <a:ext cx="1689964" cy="841248"/>
          </a:xfrm>
          <a:prstGeom prst="roundRect">
            <a:avLst>
              <a:gd name="adj" fmla="val 5435"/>
            </a:avLst>
          </a:prstGeom>
          <a:solidFill>
            <a:srgbClr val="F1F8F3"/>
          </a:solidFill>
          <a:ln w="9525">
            <a:solidFill>
              <a:srgbClr val="D2E7DA"/>
            </a:solidFill>
            <a:prstDash val="solid"/>
          </a:ln>
        </p:spPr>
      </p:sp>
      <p:sp>
        <p:nvSpPr>
          <p:cNvPr id="20" name="Text 16"/>
          <p:cNvSpPr/>
          <p:nvPr/>
        </p:nvSpPr>
        <p:spPr>
          <a:xfrm>
            <a:off x="2496464"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2023.09</a:t>
            </a:r>
            <a:endParaRPr lang="en-US" sz="900" dirty="0"/>
          </a:p>
        </p:txBody>
      </p:sp>
      <p:sp>
        <p:nvSpPr>
          <p:cNvPr id="21" name="Text 17"/>
          <p:cNvSpPr/>
          <p:nvPr/>
        </p:nvSpPr>
        <p:spPr>
          <a:xfrm>
            <a:off x="2496464"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2" name="Shape 18"/>
          <p:cNvSpPr/>
          <p:nvPr/>
        </p:nvSpPr>
        <p:spPr>
          <a:xfrm>
            <a:off x="4332732" y="4650638"/>
            <a:ext cx="1689964" cy="841248"/>
          </a:xfrm>
          <a:prstGeom prst="roundRect">
            <a:avLst>
              <a:gd name="adj" fmla="val 5435"/>
            </a:avLst>
          </a:prstGeom>
          <a:solidFill>
            <a:srgbClr val="F1F8F3"/>
          </a:solidFill>
          <a:ln w="9525">
            <a:solidFill>
              <a:srgbClr val="D2E7DA"/>
            </a:solidFill>
            <a:prstDash val="solid"/>
          </a:ln>
        </p:spPr>
      </p:sp>
      <p:sp>
        <p:nvSpPr>
          <p:cNvPr id="23" name="Text 19"/>
          <p:cNvSpPr/>
          <p:nvPr/>
        </p:nvSpPr>
        <p:spPr>
          <a:xfrm>
            <a:off x="4332732"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2024.09</a:t>
            </a:r>
            <a:endParaRPr lang="en-US" sz="900" dirty="0"/>
          </a:p>
        </p:txBody>
      </p:sp>
      <p:sp>
        <p:nvSpPr>
          <p:cNvPr id="24" name="Text 20"/>
          <p:cNvSpPr/>
          <p:nvPr/>
        </p:nvSpPr>
        <p:spPr>
          <a:xfrm>
            <a:off x="4332732"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23</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5" name="Shape 21"/>
          <p:cNvSpPr/>
          <p:nvPr/>
        </p:nvSpPr>
        <p:spPr>
          <a:xfrm>
            <a:off x="6169000" y="4650638"/>
            <a:ext cx="1689964" cy="841248"/>
          </a:xfrm>
          <a:prstGeom prst="roundRect">
            <a:avLst>
              <a:gd name="adj" fmla="val 5435"/>
            </a:avLst>
          </a:prstGeom>
          <a:solidFill>
            <a:srgbClr val="F1F8F3"/>
          </a:solidFill>
          <a:ln w="9525">
            <a:solidFill>
              <a:srgbClr val="D2E7DA"/>
            </a:solidFill>
            <a:prstDash val="solid"/>
          </a:ln>
        </p:spPr>
      </p:sp>
      <p:sp>
        <p:nvSpPr>
          <p:cNvPr id="26" name="Text 22"/>
          <p:cNvSpPr/>
          <p:nvPr/>
        </p:nvSpPr>
        <p:spPr>
          <a:xfrm>
            <a:off x="6169000"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2025.09</a:t>
            </a:r>
            <a:endParaRPr lang="en-US" sz="900" dirty="0"/>
          </a:p>
        </p:txBody>
      </p:sp>
      <p:sp>
        <p:nvSpPr>
          <p:cNvPr id="27" name="Text 23"/>
          <p:cNvSpPr/>
          <p:nvPr/>
        </p:nvSpPr>
        <p:spPr>
          <a:xfrm>
            <a:off x="6169000"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48</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8" name="Shape 24"/>
          <p:cNvSpPr/>
          <p:nvPr/>
        </p:nvSpPr>
        <p:spPr>
          <a:xfrm>
            <a:off x="8005267" y="4650638"/>
            <a:ext cx="1689964" cy="841248"/>
          </a:xfrm>
          <a:prstGeom prst="roundRect">
            <a:avLst>
              <a:gd name="adj" fmla="val 5435"/>
            </a:avLst>
          </a:prstGeom>
          <a:solidFill>
            <a:srgbClr val="F1F8F3"/>
          </a:solidFill>
          <a:ln w="9525">
            <a:solidFill>
              <a:srgbClr val="D2E7DA"/>
            </a:solidFill>
            <a:prstDash val="solid"/>
          </a:ln>
        </p:spPr>
      </p:sp>
      <p:sp>
        <p:nvSpPr>
          <p:cNvPr id="29" name="Text 25"/>
          <p:cNvSpPr/>
          <p:nvPr/>
        </p:nvSpPr>
        <p:spPr>
          <a:xfrm>
            <a:off x="800526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2026.07</a:t>
            </a:r>
            <a:endParaRPr lang="en-US" sz="900" dirty="0"/>
          </a:p>
        </p:txBody>
      </p:sp>
      <p:sp>
        <p:nvSpPr>
          <p:cNvPr id="30" name="Text 26"/>
          <p:cNvSpPr/>
          <p:nvPr/>
        </p:nvSpPr>
        <p:spPr>
          <a:xfrm>
            <a:off x="800526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71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31" name="Shape 27"/>
          <p:cNvSpPr/>
          <p:nvPr/>
        </p:nvSpPr>
        <p:spPr>
          <a:xfrm>
            <a:off x="9841535" y="4650638"/>
            <a:ext cx="1689964" cy="841248"/>
          </a:xfrm>
          <a:prstGeom prst="roundRect">
            <a:avLst>
              <a:gd name="adj" fmla="val 5435"/>
            </a:avLst>
          </a:prstGeom>
          <a:solidFill>
            <a:srgbClr val="FBF4E4"/>
          </a:solidFill>
          <a:ln w="9525">
            <a:solidFill>
              <a:srgbClr val="E7D3A8"/>
            </a:solidFill>
            <a:prstDash val="solid"/>
          </a:ln>
        </p:spPr>
      </p:sp>
      <p:sp>
        <p:nvSpPr>
          <p:cNvPr id="32" name="Text 28"/>
          <p:cNvSpPr/>
          <p:nvPr/>
        </p:nvSpPr>
        <p:spPr>
          <a:xfrm>
            <a:off x="9841535" y="4760366"/>
            <a:ext cx="1689964" cy="182880"/>
          </a:xfrm>
          <a:prstGeom prst="rect">
            <a:avLst/>
          </a:prstGeom>
          <a:noFill/>
          <a:ln/>
        </p:spPr>
        <p:txBody>
          <a:bodyPr wrap="square" lIns="0" tIns="0" rIns="0" bIns="0" rtlCol="0" anchor="ctr"/>
          <a:lstStyle/>
          <a:p>
            <a:pPr algn="ctr" indent="0" marL="0">
              <a:buNone/>
            </a:pPr>
            <a:r>
              <a:rPr lang="en-US" sz="900" b="1" dirty="0">
                <a:solidFill>
                  <a:srgbClr val="A8761F"/>
                </a:solidFill>
                <a:latin typeface="Yu Gothic" pitchFamily="34" charset="0"/>
                <a:ea typeface="Yu Gothic" pitchFamily="34" charset="-122"/>
                <a:cs typeface="Yu Gothic" pitchFamily="34" charset="-120"/>
              </a:rPr>
              <a:t>年内</a:t>
            </a:r>
            <a:endParaRPr lang="en-US" sz="900" dirty="0"/>
          </a:p>
        </p:txBody>
      </p:sp>
      <p:sp>
        <p:nvSpPr>
          <p:cNvPr id="33" name="Text 29"/>
          <p:cNvSpPr/>
          <p:nvPr/>
        </p:nvSpPr>
        <p:spPr>
          <a:xfrm>
            <a:off x="9841535" y="4961534"/>
            <a:ext cx="1689964" cy="384048"/>
          </a:xfrm>
          <a:prstGeom prst="rect">
            <a:avLst/>
          </a:prstGeom>
          <a:noFill/>
          <a:ln/>
        </p:spPr>
        <p:txBody>
          <a:bodyPr wrap="square" lIns="0" tIns="0" rIns="0" bIns="0" rtlCol="0" anchor="ctr"/>
          <a:lstStyle/>
          <a:p>
            <a:pPr algn="ctr" indent="0" marL="0">
              <a:buNone/>
            </a:pPr>
            <a:r>
              <a:rPr lang="en-US" sz="1900" b="1" dirty="0">
                <a:solidFill>
                  <a:srgbClr val="A8761F"/>
                </a:solidFill>
                <a:latin typeface="Arial" pitchFamily="34" charset="0"/>
                <a:ea typeface="Arial" pitchFamily="34" charset="-122"/>
                <a:cs typeface="Arial" pitchFamily="34" charset="-120"/>
              </a:rPr>
              <a:t>＋10</a:t>
            </a:r>
            <a:r>
              <a:rPr lang="en-US" sz="950" b="1" dirty="0">
                <a:solidFill>
                  <a:srgbClr val="A8761F"/>
                </a:solidFill>
                <a:latin typeface="Yu Gothic" pitchFamily="34" charset="0"/>
                <a:ea typeface="Yu Gothic" pitchFamily="34" charset="-122"/>
                <a:cs typeface="Yu Gothic" pitchFamily="34" charset="-120"/>
              </a:rPr>
              <a:t> 店舗以上</a:t>
            </a:r>
            <a:endParaRPr lang="en-US" sz="1900" dirty="0"/>
          </a:p>
        </p:txBody>
      </p:sp>
      <p:sp>
        <p:nvSpPr>
          <p:cNvPr id="34" name="Text 30"/>
          <p:cNvSpPr/>
          <p:nvPr/>
        </p:nvSpPr>
        <p:spPr>
          <a:xfrm>
            <a:off x="660197" y="5619902"/>
            <a:ext cx="10871302" cy="237744"/>
          </a:xfrm>
          <a:prstGeom prst="rect">
            <a:avLst/>
          </a:prstGeom>
          <a:noFill/>
          <a:ln/>
        </p:spPr>
        <p:txBody>
          <a:bodyPr wrap="square" lIns="0" tIns="0" rIns="0" bIns="0" rtlCol="0" anchor="ctr"/>
          <a:lstStyle/>
          <a:p>
            <a:pPr indent="0" marL="0">
              <a:buNone/>
            </a:pPr>
            <a:r>
              <a:rPr lang="en-US" sz="1200" dirty="0">
                <a:solidFill>
                  <a:srgbClr val="0A3D23"/>
                </a:solidFill>
                <a:latin typeface="Yu Gothic" pitchFamily="34" charset="0"/>
                <a:ea typeface="Yu Gothic" pitchFamily="34" charset="-122"/>
                <a:cs typeface="Yu Gothic" pitchFamily="34" charset="-120"/>
              </a:rPr>
              <a:t>現在は </a:t>
            </a:r>
            <a:r>
              <a:rPr lang="en-US" sz="1200" b="1" dirty="0">
                <a:solidFill>
                  <a:srgbClr val="106838"/>
                </a:solidFill>
                <a:latin typeface="Yu Gothic" pitchFamily="34" charset="0"/>
                <a:ea typeface="Yu Gothic" pitchFamily="34" charset="-122"/>
                <a:cs typeface="Yu Gothic" pitchFamily="34" charset="-120"/>
              </a:rPr>
              <a:t>11都府県・全国71店舗</a:t>
            </a:r>
            <a:r>
              <a:rPr lang="en-US" sz="1200" dirty="0">
                <a:solidFill>
                  <a:srgbClr val="0A3D23"/>
                </a:solidFill>
                <a:latin typeface="Yu Gothic" pitchFamily="34" charset="0"/>
                <a:ea typeface="Yu Gothic" pitchFamily="34" charset="-122"/>
                <a:cs typeface="Yu Gothic" pitchFamily="34" charset="-120"/>
              </a:rPr>
              <a:t>。年内にさらに </a:t>
            </a:r>
            <a:r>
              <a:rPr lang="en-US" sz="1200" b="1" dirty="0">
                <a:solidFill>
                  <a:srgbClr val="106838"/>
                </a:solidFill>
                <a:latin typeface="Yu Gothic" pitchFamily="34" charset="0"/>
                <a:ea typeface="Yu Gothic" pitchFamily="34" charset="-122"/>
                <a:cs typeface="Yu Gothic" pitchFamily="34" charset="-120"/>
              </a:rPr>
              <a:t>10店舗以上</a:t>
            </a:r>
            <a:r>
              <a:rPr lang="en-US" sz="1200" dirty="0">
                <a:solidFill>
                  <a:srgbClr val="0A3D23"/>
                </a:solidFill>
                <a:latin typeface="Yu Gothic" pitchFamily="34" charset="0"/>
                <a:ea typeface="Yu Gothic" pitchFamily="34" charset="-122"/>
                <a:cs typeface="Yu Gothic" pitchFamily="34" charset="-120"/>
              </a:rPr>
              <a:t> の出店を予定。</a:t>
            </a:r>
            <a:endParaRPr lang="en-US" sz="1200" dirty="0"/>
          </a:p>
        </p:txBody>
      </p:sp>
      <p:sp>
        <p:nvSpPr>
          <p:cNvPr id="35" name="Text 31"/>
          <p:cNvSpPr/>
          <p:nvPr/>
        </p:nvSpPr>
        <p:spPr>
          <a:xfrm>
            <a:off x="660197" y="58942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出典：社内管理台帳（営業中店舗の開店月ベース累計）／2026年7月時点。「年内」は今後の出店予定です。</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08</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月間利用者数の推移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ブランドの認知拡大とともに、月間の利用者数は約10万人規模まで拡大しました。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09</a:t>
            </a:r>
            <a:endParaRPr lang="en-US" sz="1000" dirty="0"/>
          </a:p>
        </p:txBody>
      </p:sp>
      <p:sp>
        <p:nvSpPr>
          <p:cNvPr id="9" name="Shape 6"/>
          <p:cNvSpPr/>
          <p:nvPr/>
        </p:nvSpPr>
        <p:spPr>
          <a:xfrm>
            <a:off x="660197" y="1651406"/>
            <a:ext cx="7680960" cy="3712464"/>
          </a:xfrm>
          <a:prstGeom prst="roundRect">
            <a:avLst>
              <a:gd name="adj" fmla="val 1478"/>
            </a:avLst>
          </a:prstGeom>
          <a:solidFill>
            <a:srgbClr val="FFFFFF"/>
          </a:solidFill>
          <a:ln w="9525">
            <a:solidFill>
              <a:srgbClr val="EFEAE0"/>
            </a:solidFill>
            <a:prstDash val="solid"/>
          </a:ln>
        </p:spPr>
      </p:sp>
      <p:sp>
        <p:nvSpPr>
          <p:cNvPr id="10" name="Text 7"/>
          <p:cNvSpPr/>
          <p:nvPr/>
        </p:nvSpPr>
        <p:spPr>
          <a:xfrm>
            <a:off x="934517" y="1834286"/>
            <a:ext cx="713232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全社月間利用者数（各月の合計）／店舗数の拡大に比例して拡大</a:t>
            </a:r>
            <a:endParaRPr lang="en-US" sz="1100" dirty="0"/>
          </a:p>
        </p:txBody>
      </p:sp>
      <p:sp>
        <p:nvSpPr>
          <p:cNvPr id="11" name="Text 8"/>
          <p:cNvSpPr/>
          <p:nvPr/>
        </p:nvSpPr>
        <p:spPr>
          <a:xfrm>
            <a:off x="934517" y="2072030"/>
            <a:ext cx="7132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2023.01 〜 2026.07（半期ごとの推移）</a:t>
            </a:r>
            <a:endParaRPr lang="en-US" sz="900" dirty="0"/>
          </a:p>
        </p:txBody>
      </p:sp>
      <p:sp>
        <p:nvSpPr>
          <p:cNvPr id="12" name="Shape 9"/>
          <p:cNvSpPr/>
          <p:nvPr/>
        </p:nvSpPr>
        <p:spPr>
          <a:xfrm>
            <a:off x="989381" y="4851806"/>
            <a:ext cx="7022592" cy="12802"/>
          </a:xfrm>
          <a:prstGeom prst="rect">
            <a:avLst/>
          </a:prstGeom>
          <a:solidFill>
            <a:srgbClr val="EFEAE0"/>
          </a:solidFill>
          <a:ln/>
        </p:spPr>
      </p:sp>
      <p:sp>
        <p:nvSpPr>
          <p:cNvPr id="13" name="Shape 10"/>
          <p:cNvSpPr/>
          <p:nvPr/>
        </p:nvSpPr>
        <p:spPr>
          <a:xfrm>
            <a:off x="1183691" y="4819802"/>
            <a:ext cx="585216" cy="32004"/>
          </a:xfrm>
          <a:prstGeom prst="rect">
            <a:avLst/>
          </a:prstGeom>
          <a:solidFill>
            <a:srgbClr val="D8E8DE"/>
          </a:solidFill>
          <a:ln/>
        </p:spPr>
      </p:sp>
      <p:sp>
        <p:nvSpPr>
          <p:cNvPr id="14" name="Text 11"/>
          <p:cNvSpPr/>
          <p:nvPr/>
        </p:nvSpPr>
        <p:spPr>
          <a:xfrm>
            <a:off x="790499"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約900人</a:t>
            </a:r>
            <a:endParaRPr lang="en-US" sz="1000" dirty="0"/>
          </a:p>
        </p:txBody>
      </p:sp>
      <p:sp>
        <p:nvSpPr>
          <p:cNvPr id="15" name="Text 12"/>
          <p:cNvSpPr/>
          <p:nvPr/>
        </p:nvSpPr>
        <p:spPr>
          <a:xfrm>
            <a:off x="104424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23.01</a:t>
            </a:r>
            <a:endParaRPr lang="en-US" sz="1050" dirty="0"/>
          </a:p>
        </p:txBody>
      </p:sp>
      <p:sp>
        <p:nvSpPr>
          <p:cNvPr id="16" name="Shape 13"/>
          <p:cNvSpPr/>
          <p:nvPr/>
        </p:nvSpPr>
        <p:spPr>
          <a:xfrm>
            <a:off x="2047799" y="4819802"/>
            <a:ext cx="585216" cy="32004"/>
          </a:xfrm>
          <a:prstGeom prst="rect">
            <a:avLst/>
          </a:prstGeom>
          <a:solidFill>
            <a:srgbClr val="CCE0D4"/>
          </a:solidFill>
          <a:ln/>
        </p:spPr>
      </p:sp>
      <p:sp>
        <p:nvSpPr>
          <p:cNvPr id="17" name="Text 14"/>
          <p:cNvSpPr/>
          <p:nvPr/>
        </p:nvSpPr>
        <p:spPr>
          <a:xfrm>
            <a:off x="1654607"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約1,400人</a:t>
            </a:r>
            <a:endParaRPr lang="en-US" sz="1000" dirty="0"/>
          </a:p>
        </p:txBody>
      </p:sp>
      <p:sp>
        <p:nvSpPr>
          <p:cNvPr id="18" name="Text 15"/>
          <p:cNvSpPr/>
          <p:nvPr/>
        </p:nvSpPr>
        <p:spPr>
          <a:xfrm>
            <a:off x="190835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23.07</a:t>
            </a:r>
            <a:endParaRPr lang="en-US" sz="1050" dirty="0"/>
          </a:p>
        </p:txBody>
      </p:sp>
      <p:sp>
        <p:nvSpPr>
          <p:cNvPr id="19" name="Shape 16"/>
          <p:cNvSpPr/>
          <p:nvPr/>
        </p:nvSpPr>
        <p:spPr>
          <a:xfrm>
            <a:off x="2911907" y="4746731"/>
            <a:ext cx="585216" cy="105076"/>
          </a:xfrm>
          <a:prstGeom prst="rect">
            <a:avLst/>
          </a:prstGeom>
          <a:solidFill>
            <a:srgbClr val="B8D4C2"/>
          </a:solidFill>
          <a:ln/>
        </p:spPr>
      </p:sp>
      <p:sp>
        <p:nvSpPr>
          <p:cNvPr id="20" name="Text 17"/>
          <p:cNvSpPr/>
          <p:nvPr/>
        </p:nvSpPr>
        <p:spPr>
          <a:xfrm>
            <a:off x="2518715" y="4472411"/>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約9,700人</a:t>
            </a:r>
            <a:endParaRPr lang="en-US" sz="1000" dirty="0"/>
          </a:p>
        </p:txBody>
      </p:sp>
      <p:sp>
        <p:nvSpPr>
          <p:cNvPr id="21" name="Text 18"/>
          <p:cNvSpPr/>
          <p:nvPr/>
        </p:nvSpPr>
        <p:spPr>
          <a:xfrm>
            <a:off x="277246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24.01</a:t>
            </a:r>
            <a:endParaRPr lang="en-US" sz="1050" dirty="0"/>
          </a:p>
        </p:txBody>
      </p:sp>
      <p:sp>
        <p:nvSpPr>
          <p:cNvPr id="22" name="Shape 19"/>
          <p:cNvSpPr/>
          <p:nvPr/>
        </p:nvSpPr>
        <p:spPr>
          <a:xfrm>
            <a:off x="3776015" y="4467090"/>
            <a:ext cx="585216" cy="384717"/>
          </a:xfrm>
          <a:prstGeom prst="rect">
            <a:avLst/>
          </a:prstGeom>
          <a:solidFill>
            <a:srgbClr val="9CC3AA"/>
          </a:solidFill>
          <a:ln/>
        </p:spPr>
      </p:sp>
      <p:sp>
        <p:nvSpPr>
          <p:cNvPr id="23" name="Text 20"/>
          <p:cNvSpPr/>
          <p:nvPr/>
        </p:nvSpPr>
        <p:spPr>
          <a:xfrm>
            <a:off x="3382823" y="4192770"/>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約2.6万人</a:t>
            </a:r>
            <a:endParaRPr lang="en-US" sz="1000" dirty="0"/>
          </a:p>
        </p:txBody>
      </p:sp>
      <p:sp>
        <p:nvSpPr>
          <p:cNvPr id="24" name="Text 21"/>
          <p:cNvSpPr/>
          <p:nvPr/>
        </p:nvSpPr>
        <p:spPr>
          <a:xfrm>
            <a:off x="3636569"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24.07</a:t>
            </a:r>
            <a:endParaRPr lang="en-US" sz="1050" dirty="0"/>
          </a:p>
        </p:txBody>
      </p:sp>
      <p:sp>
        <p:nvSpPr>
          <p:cNvPr id="25" name="Shape 22"/>
          <p:cNvSpPr/>
          <p:nvPr/>
        </p:nvSpPr>
        <p:spPr>
          <a:xfrm>
            <a:off x="4640123" y="4058915"/>
            <a:ext cx="585216" cy="792891"/>
          </a:xfrm>
          <a:prstGeom prst="rect">
            <a:avLst/>
          </a:prstGeom>
          <a:solidFill>
            <a:srgbClr val="7BAE8F"/>
          </a:solidFill>
          <a:ln/>
        </p:spPr>
      </p:sp>
      <p:sp>
        <p:nvSpPr>
          <p:cNvPr id="26" name="Text 23"/>
          <p:cNvSpPr/>
          <p:nvPr/>
        </p:nvSpPr>
        <p:spPr>
          <a:xfrm>
            <a:off x="4246931" y="3784595"/>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約4.6万人</a:t>
            </a:r>
            <a:endParaRPr lang="en-US" sz="1000" dirty="0"/>
          </a:p>
        </p:txBody>
      </p:sp>
      <p:sp>
        <p:nvSpPr>
          <p:cNvPr id="27" name="Text 24"/>
          <p:cNvSpPr/>
          <p:nvPr/>
        </p:nvSpPr>
        <p:spPr>
          <a:xfrm>
            <a:off x="4500677"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25.01</a:t>
            </a:r>
            <a:endParaRPr lang="en-US" sz="1050" dirty="0"/>
          </a:p>
        </p:txBody>
      </p:sp>
      <p:sp>
        <p:nvSpPr>
          <p:cNvPr id="28" name="Shape 25"/>
          <p:cNvSpPr/>
          <p:nvPr/>
        </p:nvSpPr>
        <p:spPr>
          <a:xfrm>
            <a:off x="5504231" y="3374736"/>
            <a:ext cx="585216" cy="1477070"/>
          </a:xfrm>
          <a:prstGeom prst="rect">
            <a:avLst/>
          </a:prstGeom>
          <a:solidFill>
            <a:srgbClr val="579970"/>
          </a:solidFill>
          <a:ln/>
        </p:spPr>
      </p:sp>
      <p:sp>
        <p:nvSpPr>
          <p:cNvPr id="29" name="Text 26"/>
          <p:cNvSpPr/>
          <p:nvPr/>
        </p:nvSpPr>
        <p:spPr>
          <a:xfrm>
            <a:off x="5111039" y="3100416"/>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約7.4万人</a:t>
            </a:r>
            <a:endParaRPr lang="en-US" sz="1000" dirty="0"/>
          </a:p>
        </p:txBody>
      </p:sp>
      <p:sp>
        <p:nvSpPr>
          <p:cNvPr id="30" name="Text 27"/>
          <p:cNvSpPr/>
          <p:nvPr/>
        </p:nvSpPr>
        <p:spPr>
          <a:xfrm>
            <a:off x="536478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25.07</a:t>
            </a:r>
            <a:endParaRPr lang="en-US" sz="1050" dirty="0"/>
          </a:p>
        </p:txBody>
      </p:sp>
      <p:sp>
        <p:nvSpPr>
          <p:cNvPr id="31" name="Shape 28"/>
          <p:cNvSpPr/>
          <p:nvPr/>
        </p:nvSpPr>
        <p:spPr>
          <a:xfrm>
            <a:off x="6368339" y="3216871"/>
            <a:ext cx="585216" cy="1634936"/>
          </a:xfrm>
          <a:prstGeom prst="rect">
            <a:avLst/>
          </a:prstGeom>
          <a:solidFill>
            <a:srgbClr val="2E824F"/>
          </a:solidFill>
          <a:ln/>
        </p:spPr>
      </p:sp>
      <p:sp>
        <p:nvSpPr>
          <p:cNvPr id="32" name="Text 29"/>
          <p:cNvSpPr/>
          <p:nvPr/>
        </p:nvSpPr>
        <p:spPr>
          <a:xfrm>
            <a:off x="5975147" y="2942551"/>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約8.0万人</a:t>
            </a:r>
            <a:endParaRPr lang="en-US" sz="1000" dirty="0"/>
          </a:p>
        </p:txBody>
      </p:sp>
      <p:sp>
        <p:nvSpPr>
          <p:cNvPr id="33" name="Text 30"/>
          <p:cNvSpPr/>
          <p:nvPr/>
        </p:nvSpPr>
        <p:spPr>
          <a:xfrm>
            <a:off x="622889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26.01</a:t>
            </a:r>
            <a:endParaRPr lang="en-US" sz="1050" dirty="0"/>
          </a:p>
        </p:txBody>
      </p:sp>
      <p:sp>
        <p:nvSpPr>
          <p:cNvPr id="34" name="Shape 31"/>
          <p:cNvSpPr/>
          <p:nvPr/>
        </p:nvSpPr>
        <p:spPr>
          <a:xfrm>
            <a:off x="7232447" y="2638958"/>
            <a:ext cx="585216" cy="2212848"/>
          </a:xfrm>
          <a:prstGeom prst="rect">
            <a:avLst/>
          </a:prstGeom>
          <a:solidFill>
            <a:srgbClr val="106838"/>
          </a:solidFill>
          <a:ln/>
        </p:spPr>
      </p:sp>
      <p:sp>
        <p:nvSpPr>
          <p:cNvPr id="35" name="Shape 32"/>
          <p:cNvSpPr/>
          <p:nvPr/>
        </p:nvSpPr>
        <p:spPr>
          <a:xfrm>
            <a:off x="6610655" y="2108606"/>
            <a:ext cx="1828800" cy="457200"/>
          </a:xfrm>
          <a:prstGeom prst="roundRect">
            <a:avLst>
              <a:gd name="adj" fmla="val 50000"/>
            </a:avLst>
          </a:prstGeom>
          <a:solidFill>
            <a:srgbClr val="A8761F"/>
          </a:solidFill>
          <a:ln/>
        </p:spPr>
      </p:sp>
      <p:sp>
        <p:nvSpPr>
          <p:cNvPr id="36" name="Text 33"/>
          <p:cNvSpPr/>
          <p:nvPr/>
        </p:nvSpPr>
        <p:spPr>
          <a:xfrm>
            <a:off x="6610655" y="2108606"/>
            <a:ext cx="1828800" cy="457200"/>
          </a:xfrm>
          <a:prstGeom prst="rect">
            <a:avLst/>
          </a:prstGeom>
          <a:noFill/>
          <a:ln/>
        </p:spPr>
        <p:txBody>
          <a:bodyPr wrap="square" lIns="0" tIns="0" rIns="0" bIns="0" rtlCol="0" anchor="ctr"/>
          <a:lstStyle/>
          <a:p>
            <a:pPr algn="ctr" indent="0" marL="0">
              <a:buNone/>
            </a:pPr>
            <a:r>
              <a:rPr lang="en-US" sz="1100" dirty="0">
                <a:solidFill>
                  <a:srgbClr val="FFFFFF"/>
                </a:solidFill>
                <a:latin typeface="Yu Gothic" pitchFamily="34" charset="0"/>
                <a:ea typeface="Yu Gothic" pitchFamily="34" charset="-122"/>
                <a:cs typeface="Yu Gothic" pitchFamily="34" charset="-120"/>
              </a:rPr>
              <a:t>現在 </a:t>
            </a:r>
            <a:r>
              <a:rPr lang="en-US" sz="1600" b="1" dirty="0">
                <a:solidFill>
                  <a:srgbClr val="FFFFFF"/>
                </a:solidFill>
                <a:latin typeface="Yu Gothic" pitchFamily="34" charset="0"/>
                <a:ea typeface="Yu Gothic" pitchFamily="34" charset="-122"/>
                <a:cs typeface="Yu Gothic" pitchFamily="34" charset="-120"/>
              </a:rPr>
              <a:t>約10万人</a:t>
            </a:r>
            <a:endParaRPr lang="en-US" sz="1100" dirty="0"/>
          </a:p>
        </p:txBody>
      </p:sp>
      <p:sp>
        <p:nvSpPr>
          <p:cNvPr id="37" name="Text 34"/>
          <p:cNvSpPr/>
          <p:nvPr/>
        </p:nvSpPr>
        <p:spPr>
          <a:xfrm>
            <a:off x="709300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26.07</a:t>
            </a:r>
            <a:endParaRPr lang="en-US" sz="1050" dirty="0"/>
          </a:p>
        </p:txBody>
      </p:sp>
      <p:sp>
        <p:nvSpPr>
          <p:cNvPr id="38" name="Text 35"/>
          <p:cNvSpPr/>
          <p:nvPr/>
        </p:nvSpPr>
        <p:spPr>
          <a:xfrm>
            <a:off x="1300277" y="3882542"/>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22.09</a:t>
            </a:r>
            <a:endParaRPr lang="en-US" sz="950" dirty="0"/>
          </a:p>
        </p:txBody>
      </p:sp>
      <p:sp>
        <p:nvSpPr>
          <p:cNvPr id="39" name="Text 36"/>
          <p:cNvSpPr/>
          <p:nvPr/>
        </p:nvSpPr>
        <p:spPr>
          <a:xfrm>
            <a:off x="1300277" y="4083710"/>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1号店・ささしまライブ店 OPEN</a:t>
            </a:r>
            <a:endParaRPr lang="en-US" sz="1050" dirty="0"/>
          </a:p>
        </p:txBody>
      </p:sp>
      <p:sp>
        <p:nvSpPr>
          <p:cNvPr id="40" name="Shape 37"/>
          <p:cNvSpPr/>
          <p:nvPr/>
        </p:nvSpPr>
        <p:spPr>
          <a:xfrm>
            <a:off x="1172261" y="4330598"/>
            <a:ext cx="0" cy="457200"/>
          </a:xfrm>
          <a:prstGeom prst="line">
            <a:avLst/>
          </a:prstGeom>
          <a:noFill/>
          <a:ln w="12700">
            <a:solidFill>
              <a:srgbClr val="A8761F"/>
            </a:solidFill>
            <a:prstDash val="dash"/>
          </a:ln>
        </p:spPr>
      </p:sp>
      <p:sp>
        <p:nvSpPr>
          <p:cNvPr id="41" name="Shape 38"/>
          <p:cNvSpPr/>
          <p:nvPr/>
        </p:nvSpPr>
        <p:spPr>
          <a:xfrm>
            <a:off x="1135685" y="4783226"/>
            <a:ext cx="73152" cy="73152"/>
          </a:xfrm>
          <a:prstGeom prst="ellipse">
            <a:avLst/>
          </a:prstGeom>
          <a:solidFill>
            <a:srgbClr val="A8761F"/>
          </a:solidFill>
          <a:ln/>
        </p:spPr>
      </p:sp>
      <p:sp>
        <p:nvSpPr>
          <p:cNvPr id="42" name="Text 39"/>
          <p:cNvSpPr/>
          <p:nvPr/>
        </p:nvSpPr>
        <p:spPr>
          <a:xfrm>
            <a:off x="2900477" y="3041294"/>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23.09</a:t>
            </a:r>
            <a:endParaRPr lang="en-US" sz="950" dirty="0"/>
          </a:p>
        </p:txBody>
      </p:sp>
      <p:sp>
        <p:nvSpPr>
          <p:cNvPr id="43" name="Text 40"/>
          <p:cNvSpPr/>
          <p:nvPr/>
        </p:nvSpPr>
        <p:spPr>
          <a:xfrm>
            <a:off x="2900477" y="3242462"/>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2店舗目・千種店 OPEN</a:t>
            </a:r>
            <a:endParaRPr lang="en-US" sz="1050" dirty="0"/>
          </a:p>
        </p:txBody>
      </p:sp>
      <p:sp>
        <p:nvSpPr>
          <p:cNvPr id="44" name="Text 41"/>
          <p:cNvSpPr/>
          <p:nvPr/>
        </p:nvSpPr>
        <p:spPr>
          <a:xfrm>
            <a:off x="2900477" y="3443630"/>
            <a:ext cx="2377440" cy="182880"/>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ここから店舗展開開始</a:t>
            </a:r>
            <a:endParaRPr lang="en-US" sz="1000" dirty="0"/>
          </a:p>
        </p:txBody>
      </p:sp>
      <p:sp>
        <p:nvSpPr>
          <p:cNvPr id="45" name="Shape 42"/>
          <p:cNvSpPr/>
          <p:nvPr/>
        </p:nvSpPr>
        <p:spPr>
          <a:xfrm>
            <a:off x="2772461" y="3690518"/>
            <a:ext cx="0" cy="1097280"/>
          </a:xfrm>
          <a:prstGeom prst="line">
            <a:avLst/>
          </a:prstGeom>
          <a:noFill/>
          <a:ln w="12700">
            <a:solidFill>
              <a:srgbClr val="A8761F"/>
            </a:solidFill>
            <a:prstDash val="dash"/>
          </a:ln>
        </p:spPr>
      </p:sp>
      <p:sp>
        <p:nvSpPr>
          <p:cNvPr id="46" name="Shape 43"/>
          <p:cNvSpPr/>
          <p:nvPr/>
        </p:nvSpPr>
        <p:spPr>
          <a:xfrm>
            <a:off x="2735885" y="4783226"/>
            <a:ext cx="73152" cy="73152"/>
          </a:xfrm>
          <a:prstGeom prst="ellipse">
            <a:avLst/>
          </a:prstGeom>
          <a:solidFill>
            <a:srgbClr val="A8761F"/>
          </a:solidFill>
          <a:ln/>
        </p:spPr>
      </p:sp>
      <p:sp>
        <p:nvSpPr>
          <p:cNvPr id="47" name="Shape 44"/>
          <p:cNvSpPr/>
          <p:nvPr/>
        </p:nvSpPr>
        <p:spPr>
          <a:xfrm flipV="1">
            <a:off x="3439973" y="3333902"/>
            <a:ext cx="1956816" cy="786384"/>
          </a:xfrm>
          <a:prstGeom prst="line">
            <a:avLst/>
          </a:prstGeom>
          <a:noFill/>
          <a:ln w="57150">
            <a:solidFill>
              <a:srgbClr val="A8761F"/>
            </a:solidFill>
            <a:prstDash val="solid"/>
            <a:tailEnd type="triangle"/>
          </a:ln>
        </p:spPr>
      </p:sp>
      <p:sp>
        <p:nvSpPr>
          <p:cNvPr id="48" name="Shape 45"/>
          <p:cNvSpPr/>
          <p:nvPr/>
        </p:nvSpPr>
        <p:spPr>
          <a:xfrm>
            <a:off x="8725205" y="1651406"/>
            <a:ext cx="2806294" cy="1133856"/>
          </a:xfrm>
          <a:prstGeom prst="roundRect">
            <a:avLst>
              <a:gd name="adj" fmla="val 4839"/>
            </a:avLst>
          </a:prstGeom>
          <a:solidFill>
            <a:srgbClr val="0C5230"/>
          </a:solidFill>
          <a:ln/>
        </p:spPr>
      </p:sp>
      <p:sp>
        <p:nvSpPr>
          <p:cNvPr id="49" name="Text 46"/>
          <p:cNvSpPr/>
          <p:nvPr/>
        </p:nvSpPr>
        <p:spPr>
          <a:xfrm>
            <a:off x="8962949" y="1834286"/>
            <a:ext cx="2330806" cy="402336"/>
          </a:xfrm>
          <a:prstGeom prst="rect">
            <a:avLst/>
          </a:prstGeom>
          <a:noFill/>
          <a:ln/>
        </p:spPr>
        <p:txBody>
          <a:bodyPr wrap="square" lIns="0" tIns="0" rIns="0" bIns="0" rtlCol="0" anchor="ctr"/>
          <a:lstStyle/>
          <a:p>
            <a:pPr indent="0" marL="0">
              <a:buNone/>
            </a:pPr>
            <a:r>
              <a:rPr lang="en-US" sz="2600" b="1" dirty="0">
                <a:solidFill>
                  <a:srgbClr val="FFFFFF"/>
                </a:solidFill>
                <a:latin typeface="Yu Gothic" pitchFamily="34" charset="0"/>
                <a:ea typeface="Yu Gothic" pitchFamily="34" charset="-122"/>
                <a:cs typeface="Yu Gothic" pitchFamily="34" charset="-120"/>
              </a:rPr>
              <a:t>約10</a:t>
            </a:r>
            <a:r>
              <a:rPr lang="en-US" sz="1200" b="1" dirty="0">
                <a:solidFill>
                  <a:srgbClr val="8CC5A5"/>
                </a:solidFill>
                <a:latin typeface="Yu Gothic" pitchFamily="34" charset="0"/>
                <a:ea typeface="Yu Gothic" pitchFamily="34" charset="-122"/>
                <a:cs typeface="Yu Gothic" pitchFamily="34" charset="-120"/>
              </a:rPr>
              <a:t> 万人</a:t>
            </a:r>
            <a:endParaRPr lang="en-US" sz="2600" dirty="0"/>
          </a:p>
        </p:txBody>
      </p:sp>
      <p:sp>
        <p:nvSpPr>
          <p:cNvPr id="50" name="Text 47"/>
          <p:cNvSpPr/>
          <p:nvPr/>
        </p:nvSpPr>
        <p:spPr>
          <a:xfrm>
            <a:off x="8962949" y="2309774"/>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AFC2B8"/>
                </a:solidFill>
                <a:latin typeface="Yu Gothic" pitchFamily="34" charset="0"/>
                <a:ea typeface="Yu Gothic" pitchFamily="34" charset="-122"/>
                <a:cs typeface="Yu Gothic" pitchFamily="34" charset="-120"/>
              </a:rPr>
              <a:t>2026年7月の月間利用者数</a:t>
            </a:r>
            <a:endParaRPr lang="en-US" sz="1000" dirty="0"/>
          </a:p>
        </p:txBody>
      </p:sp>
      <p:sp>
        <p:nvSpPr>
          <p:cNvPr id="51" name="Shape 48"/>
          <p:cNvSpPr/>
          <p:nvPr/>
        </p:nvSpPr>
        <p:spPr>
          <a:xfrm>
            <a:off x="8725205" y="2949854"/>
            <a:ext cx="2806294" cy="1133856"/>
          </a:xfrm>
          <a:prstGeom prst="roundRect">
            <a:avLst>
              <a:gd name="adj" fmla="val 4839"/>
            </a:avLst>
          </a:prstGeom>
          <a:solidFill>
            <a:srgbClr val="F1F8F3"/>
          </a:solidFill>
          <a:ln w="9525">
            <a:solidFill>
              <a:srgbClr val="D2E7DA"/>
            </a:solidFill>
            <a:prstDash val="solid"/>
          </a:ln>
        </p:spPr>
      </p:sp>
      <p:sp>
        <p:nvSpPr>
          <p:cNvPr id="52" name="Text 49"/>
          <p:cNvSpPr/>
          <p:nvPr/>
        </p:nvSpPr>
        <p:spPr>
          <a:xfrm>
            <a:off x="8962949" y="3132734"/>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Yu Gothic" pitchFamily="34" charset="0"/>
                <a:ea typeface="Yu Gothic" pitchFamily="34" charset="-122"/>
                <a:cs typeface="Yu Gothic" pitchFamily="34" charset="-120"/>
              </a:rPr>
              <a:t>約100</a:t>
            </a:r>
            <a:r>
              <a:rPr lang="en-US" sz="1200" b="1" dirty="0">
                <a:solidFill>
                  <a:srgbClr val="106838"/>
                </a:solidFill>
                <a:latin typeface="Yu Gothic" pitchFamily="34" charset="0"/>
                <a:ea typeface="Yu Gothic" pitchFamily="34" charset="-122"/>
                <a:cs typeface="Yu Gothic" pitchFamily="34" charset="-120"/>
              </a:rPr>
              <a:t> 倍</a:t>
            </a:r>
            <a:endParaRPr lang="en-US" sz="2600" dirty="0"/>
          </a:p>
        </p:txBody>
      </p:sp>
      <p:sp>
        <p:nvSpPr>
          <p:cNvPr id="53" name="Text 50"/>
          <p:cNvSpPr/>
          <p:nvPr/>
        </p:nvSpPr>
        <p:spPr>
          <a:xfrm>
            <a:off x="8962949" y="3608222"/>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3年半での月間利用者数の伸び</a:t>
            </a:r>
            <a:endParaRPr lang="en-US" sz="1000" dirty="0"/>
          </a:p>
        </p:txBody>
      </p:sp>
      <p:sp>
        <p:nvSpPr>
          <p:cNvPr id="54" name="Shape 51"/>
          <p:cNvSpPr/>
          <p:nvPr/>
        </p:nvSpPr>
        <p:spPr>
          <a:xfrm>
            <a:off x="8725205" y="4248302"/>
            <a:ext cx="2806294" cy="1133856"/>
          </a:xfrm>
          <a:prstGeom prst="roundRect">
            <a:avLst>
              <a:gd name="adj" fmla="val 4839"/>
            </a:avLst>
          </a:prstGeom>
          <a:solidFill>
            <a:srgbClr val="F1F8F3"/>
          </a:solidFill>
          <a:ln w="9525">
            <a:solidFill>
              <a:srgbClr val="D2E7DA"/>
            </a:solidFill>
            <a:prstDash val="solid"/>
          </a:ln>
        </p:spPr>
      </p:sp>
      <p:sp>
        <p:nvSpPr>
          <p:cNvPr id="55" name="Text 52"/>
          <p:cNvSpPr/>
          <p:nvPr/>
        </p:nvSpPr>
        <p:spPr>
          <a:xfrm>
            <a:off x="8962949" y="4431182"/>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1,400</a:t>
            </a:r>
            <a:r>
              <a:rPr lang="en-US" sz="1200" b="1" dirty="0">
                <a:solidFill>
                  <a:srgbClr val="106838"/>
                </a:solidFill>
                <a:latin typeface="Yu Gothic" pitchFamily="34" charset="0"/>
                <a:ea typeface="Yu Gothic" pitchFamily="34" charset="-122"/>
                <a:cs typeface="Yu Gothic" pitchFamily="34" charset="-120"/>
              </a:rPr>
              <a:t> 人前後</a:t>
            </a:r>
            <a:endParaRPr lang="en-US" sz="2600" dirty="0"/>
          </a:p>
        </p:txBody>
      </p:sp>
      <p:sp>
        <p:nvSpPr>
          <p:cNvPr id="56" name="Text 53"/>
          <p:cNvSpPr/>
          <p:nvPr/>
        </p:nvSpPr>
        <p:spPr>
          <a:xfrm>
            <a:off x="8962949" y="4906670"/>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1店舗あたりの月間利用者数</a:t>
            </a:r>
            <a:endParaRPr lang="en-US" sz="1000" dirty="0"/>
          </a:p>
        </p:txBody>
      </p:sp>
      <p:sp>
        <p:nvSpPr>
          <p:cNvPr id="57" name="Text 54"/>
          <p:cNvSpPr/>
          <p:nvPr/>
        </p:nvSpPr>
        <p:spPr>
          <a:xfrm>
            <a:off x="660197" y="603504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出典：社内管理台帳（各月の全社利用者数）／2026年7月時点。数値は概数、棒の高さは成長イメージを強調した表現です。</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09</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開業6ヶ月以上の店舗、94.1%が営業黒字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成功店1店の話ではなく、既存店全体の「再現性」をご覧ください。</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660197" y="1651406"/>
            <a:ext cx="4754880" cy="3657600"/>
          </a:xfrm>
          <a:prstGeom prst="roundRect">
            <a:avLst>
              <a:gd name="adj" fmla="val 1500"/>
            </a:avLst>
          </a:prstGeom>
          <a:solidFill>
            <a:srgbClr val="0C5230"/>
          </a:solidFill>
          <a:ln/>
        </p:spPr>
      </p:sp>
      <p:sp>
        <p:nvSpPr>
          <p:cNvPr id="10" name="Text 7"/>
          <p:cNvSpPr/>
          <p:nvPr/>
        </p:nvSpPr>
        <p:spPr>
          <a:xfrm>
            <a:off x="1025957" y="1962302"/>
            <a:ext cx="27432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PROFITABILITY</a:t>
            </a:r>
            <a:endParaRPr lang="en-US" sz="900" dirty="0"/>
          </a:p>
        </p:txBody>
      </p:sp>
      <p:sp>
        <p:nvSpPr>
          <p:cNvPr id="11" name="Text 8"/>
          <p:cNvSpPr/>
          <p:nvPr/>
        </p:nvSpPr>
        <p:spPr>
          <a:xfrm>
            <a:off x="1025957" y="2309774"/>
            <a:ext cx="402336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94.1</a:t>
            </a:r>
            <a:r>
              <a:rPr lang="en-US" sz="2600" b="1" dirty="0">
                <a:solidFill>
                  <a:srgbClr val="8CC5A5"/>
                </a:solidFill>
                <a:latin typeface="Arial" pitchFamily="34" charset="0"/>
                <a:ea typeface="Arial" pitchFamily="34" charset="-122"/>
                <a:cs typeface="Arial" pitchFamily="34" charset="-120"/>
              </a:rPr>
              <a:t> %</a:t>
            </a:r>
            <a:endParaRPr lang="en-US" sz="6000" dirty="0"/>
          </a:p>
        </p:txBody>
      </p:sp>
      <p:sp>
        <p:nvSpPr>
          <p:cNvPr id="12" name="Text 9"/>
          <p:cNvSpPr/>
          <p:nvPr/>
        </p:nvSpPr>
        <p:spPr>
          <a:xfrm>
            <a:off x="1025957" y="3425342"/>
            <a:ext cx="4023360" cy="29260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営業黒字率</a:t>
            </a:r>
            <a:endParaRPr lang="en-US" sz="1400" dirty="0"/>
          </a:p>
        </p:txBody>
      </p:sp>
      <p:sp>
        <p:nvSpPr>
          <p:cNvPr id="13" name="Text 10"/>
          <p:cNvSpPr/>
          <p:nvPr/>
        </p:nvSpPr>
        <p:spPr>
          <a:xfrm>
            <a:off x="1025957" y="3754526"/>
            <a:ext cx="4023360" cy="329184"/>
          </a:xfrm>
          <a:prstGeom prst="rect">
            <a:avLst/>
          </a:prstGeom>
          <a:noFill/>
          <a:ln/>
        </p:spPr>
        <p:txBody>
          <a:bodyPr wrap="square" lIns="0" tIns="0" rIns="0" bIns="0" rtlCol="0" anchor="ctr"/>
          <a:lstStyle/>
          <a:p>
            <a:pPr indent="0" marL="0">
              <a:buNone/>
            </a:pPr>
            <a:r>
              <a:rPr lang="en-US" sz="1700" b="1" dirty="0">
                <a:solidFill>
                  <a:srgbClr val="F0D9A8"/>
                </a:solidFill>
                <a:latin typeface="Arial" pitchFamily="34" charset="0"/>
                <a:ea typeface="Arial" pitchFamily="34" charset="-122"/>
                <a:cs typeface="Arial" pitchFamily="34" charset="-120"/>
              </a:rPr>
              <a:t>48</a:t>
            </a:r>
            <a:r>
              <a:rPr lang="en-US" sz="1200" b="1" dirty="0">
                <a:solidFill>
                  <a:srgbClr val="F0D9A8"/>
                </a:solidFill>
                <a:latin typeface="Yu Gothic" pitchFamily="34" charset="0"/>
                <a:ea typeface="Yu Gothic" pitchFamily="34" charset="-122"/>
                <a:cs typeface="Yu Gothic" pitchFamily="34" charset="-120"/>
              </a:rPr>
              <a:t> ／ 51 店舗</a:t>
            </a:r>
            <a:endParaRPr lang="en-US" sz="1700" dirty="0"/>
          </a:p>
        </p:txBody>
      </p:sp>
      <p:sp>
        <p:nvSpPr>
          <p:cNvPr id="14" name="Shape 11"/>
          <p:cNvSpPr/>
          <p:nvPr/>
        </p:nvSpPr>
        <p:spPr>
          <a:xfrm>
            <a:off x="1025957" y="4339742"/>
            <a:ext cx="4023360" cy="310896"/>
          </a:xfrm>
          <a:prstGeom prst="roundRect">
            <a:avLst>
              <a:gd name="adj" fmla="val 17647"/>
            </a:avLst>
          </a:prstGeom>
          <a:solidFill>
            <a:srgbClr val="3C5F4B"/>
          </a:solidFill>
          <a:ln/>
        </p:spPr>
      </p:sp>
      <p:sp>
        <p:nvSpPr>
          <p:cNvPr id="15" name="Shape 12"/>
          <p:cNvSpPr/>
          <p:nvPr/>
        </p:nvSpPr>
        <p:spPr>
          <a:xfrm>
            <a:off x="1025957" y="4339742"/>
            <a:ext cx="3786692" cy="310896"/>
          </a:xfrm>
          <a:prstGeom prst="roundRect">
            <a:avLst>
              <a:gd name="adj" fmla="val 17647"/>
            </a:avLst>
          </a:prstGeom>
          <a:solidFill>
            <a:srgbClr val="8CC5A5"/>
          </a:solidFill>
          <a:ln/>
        </p:spPr>
      </p:sp>
      <p:sp>
        <p:nvSpPr>
          <p:cNvPr id="16" name="Text 13"/>
          <p:cNvSpPr/>
          <p:nvPr/>
        </p:nvSpPr>
        <p:spPr>
          <a:xfrm>
            <a:off x="1172261" y="4339742"/>
            <a:ext cx="2194560" cy="310896"/>
          </a:xfrm>
          <a:prstGeom prst="rect">
            <a:avLst/>
          </a:prstGeom>
          <a:noFill/>
          <a:ln/>
        </p:spPr>
        <p:txBody>
          <a:bodyPr wrap="square" lIns="0" tIns="0" rIns="0" bIns="0" rtlCol="0" anchor="ctr"/>
          <a:lstStyle/>
          <a:p>
            <a:pPr indent="0" marL="0">
              <a:buNone/>
            </a:pPr>
            <a:r>
              <a:rPr lang="en-US" sz="1000" b="1" dirty="0">
                <a:solidFill>
                  <a:srgbClr val="0C5230"/>
                </a:solidFill>
                <a:latin typeface="Yu Gothic" pitchFamily="34" charset="0"/>
                <a:ea typeface="Yu Gothic" pitchFamily="34" charset="-122"/>
                <a:cs typeface="Yu Gothic" pitchFamily="34" charset="-120"/>
              </a:rPr>
              <a:t>黒字 48店舗</a:t>
            </a:r>
            <a:endParaRPr lang="en-US" sz="1000" dirty="0"/>
          </a:p>
        </p:txBody>
      </p:sp>
      <p:sp>
        <p:nvSpPr>
          <p:cNvPr id="17" name="Text 14"/>
          <p:cNvSpPr/>
          <p:nvPr/>
        </p:nvSpPr>
        <p:spPr>
          <a:xfrm>
            <a:off x="1025957" y="4723790"/>
            <a:ext cx="4023360" cy="219456"/>
          </a:xfrm>
          <a:prstGeom prst="rect">
            <a:avLst/>
          </a:prstGeom>
          <a:noFill/>
          <a:ln/>
        </p:spPr>
        <p:txBody>
          <a:bodyPr wrap="square" lIns="0" tIns="0" rIns="0" bIns="0" rtlCol="0" anchor="ctr"/>
          <a:lstStyle/>
          <a:p>
            <a:pPr algn="r" indent="0" marL="0">
              <a:buNone/>
            </a:pPr>
            <a:r>
              <a:rPr lang="en-US" sz="900" dirty="0">
                <a:solidFill>
                  <a:srgbClr val="AFC2B8"/>
                </a:solidFill>
                <a:latin typeface="Yu Gothic" pitchFamily="34" charset="0"/>
                <a:ea typeface="Yu Gothic" pitchFamily="34" charset="-122"/>
                <a:cs typeface="Yu Gothic" pitchFamily="34" charset="-120"/>
              </a:rPr>
              <a:t>赤字 3店舗</a:t>
            </a:r>
            <a:endParaRPr lang="en-US" sz="900" dirty="0"/>
          </a:p>
        </p:txBody>
      </p:sp>
      <p:sp>
        <p:nvSpPr>
          <p:cNvPr id="18" name="Shape 15"/>
          <p:cNvSpPr/>
          <p:nvPr/>
        </p:nvSpPr>
        <p:spPr>
          <a:xfrm>
            <a:off x="5799125" y="1651406"/>
            <a:ext cx="2756459" cy="1371600"/>
          </a:xfrm>
          <a:prstGeom prst="roundRect">
            <a:avLst>
              <a:gd name="adj" fmla="val 4000"/>
            </a:avLst>
          </a:prstGeom>
          <a:solidFill>
            <a:srgbClr val="F1F8F3"/>
          </a:solidFill>
          <a:ln w="9525">
            <a:solidFill>
              <a:srgbClr val="D2E7DA"/>
            </a:solidFill>
            <a:prstDash val="solid"/>
          </a:ln>
        </p:spPr>
      </p:sp>
      <p:sp>
        <p:nvSpPr>
          <p:cNvPr id="19" name="Text 16"/>
          <p:cNvSpPr/>
          <p:nvPr/>
        </p:nvSpPr>
        <p:spPr>
          <a:xfrm>
            <a:off x="6000293" y="1925726"/>
            <a:ext cx="2354123" cy="457200"/>
          </a:xfrm>
          <a:prstGeom prst="rect">
            <a:avLst/>
          </a:prstGeom>
          <a:noFill/>
          <a:ln/>
        </p:spPr>
        <p:txBody>
          <a:bodyPr wrap="square" lIns="0" tIns="0" rIns="0" bIns="0" rtlCol="0" anchor="ctr"/>
          <a:lstStyle/>
          <a:p>
            <a:pPr indent="0" marL="0">
              <a:buNone/>
            </a:pPr>
            <a:r>
              <a:rPr lang="en-US" sz="2500" b="1" dirty="0">
                <a:solidFill>
                  <a:srgbClr val="106838"/>
                </a:solidFill>
                <a:latin typeface="Arial" pitchFamily="34" charset="0"/>
                <a:ea typeface="Arial" pitchFamily="34" charset="-122"/>
                <a:cs typeface="Arial" pitchFamily="34" charset="-120"/>
              </a:rPr>
              <a:t>20.8</a:t>
            </a:r>
            <a:r>
              <a:rPr lang="en-US" sz="1200" b="1" dirty="0">
                <a:solidFill>
                  <a:srgbClr val="106838"/>
                </a:solidFill>
                <a:latin typeface="Yu Gothic" pitchFamily="34" charset="0"/>
                <a:ea typeface="Yu Gothic" pitchFamily="34" charset="-122"/>
                <a:cs typeface="Yu Gothic" pitchFamily="34" charset="-120"/>
              </a:rPr>
              <a:t> 万円</a:t>
            </a:r>
            <a:endParaRPr lang="en-US" sz="2500" dirty="0"/>
          </a:p>
        </p:txBody>
      </p:sp>
      <p:sp>
        <p:nvSpPr>
          <p:cNvPr id="20" name="Text 17"/>
          <p:cNvSpPr/>
          <p:nvPr/>
        </p:nvSpPr>
        <p:spPr>
          <a:xfrm>
            <a:off x="6000293" y="2437790"/>
            <a:ext cx="2354123"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平均営業利益（月）</a:t>
            </a:r>
            <a:endParaRPr lang="en-US" sz="950" dirty="0"/>
          </a:p>
        </p:txBody>
      </p:sp>
      <p:sp>
        <p:nvSpPr>
          <p:cNvPr id="21" name="Shape 18"/>
          <p:cNvSpPr/>
          <p:nvPr/>
        </p:nvSpPr>
        <p:spPr>
          <a:xfrm>
            <a:off x="8775040" y="1651406"/>
            <a:ext cx="2756459" cy="1371600"/>
          </a:xfrm>
          <a:prstGeom prst="roundRect">
            <a:avLst>
              <a:gd name="adj" fmla="val 4000"/>
            </a:avLst>
          </a:prstGeom>
          <a:solidFill>
            <a:srgbClr val="F1F8F3"/>
          </a:solidFill>
          <a:ln w="9525">
            <a:solidFill>
              <a:srgbClr val="D2E7DA"/>
            </a:solidFill>
            <a:prstDash val="solid"/>
          </a:ln>
        </p:spPr>
      </p:sp>
      <p:sp>
        <p:nvSpPr>
          <p:cNvPr id="22" name="Text 19"/>
          <p:cNvSpPr/>
          <p:nvPr/>
        </p:nvSpPr>
        <p:spPr>
          <a:xfrm>
            <a:off x="8976208" y="1925726"/>
            <a:ext cx="2354123" cy="457200"/>
          </a:xfrm>
          <a:prstGeom prst="rect">
            <a:avLst/>
          </a:prstGeom>
          <a:noFill/>
          <a:ln/>
        </p:spPr>
        <p:txBody>
          <a:bodyPr wrap="square" lIns="0" tIns="0" rIns="0" bIns="0" rtlCol="0" anchor="ctr"/>
          <a:lstStyle/>
          <a:p>
            <a:pPr indent="0" marL="0">
              <a:buNone/>
            </a:pPr>
            <a:r>
              <a:rPr lang="en-US" sz="2500" b="1" dirty="0">
                <a:solidFill>
                  <a:srgbClr val="106838"/>
                </a:solidFill>
                <a:latin typeface="Arial" pitchFamily="34" charset="0"/>
                <a:ea typeface="Arial" pitchFamily="34" charset="-122"/>
                <a:cs typeface="Arial" pitchFamily="34" charset="-120"/>
              </a:rPr>
              <a:t>3</a:t>
            </a:r>
            <a:r>
              <a:rPr lang="en-US" sz="1200" b="1" dirty="0">
                <a:solidFill>
                  <a:srgbClr val="106838"/>
                </a:solidFill>
                <a:latin typeface="Yu Gothic" pitchFamily="34" charset="0"/>
                <a:ea typeface="Yu Gothic" pitchFamily="34" charset="-122"/>
                <a:cs typeface="Yu Gothic" pitchFamily="34" charset="-120"/>
              </a:rPr>
              <a:t> 店舗</a:t>
            </a:r>
            <a:endParaRPr lang="en-US" sz="2500" dirty="0"/>
          </a:p>
        </p:txBody>
      </p:sp>
      <p:sp>
        <p:nvSpPr>
          <p:cNvPr id="23" name="Text 20"/>
          <p:cNvSpPr/>
          <p:nvPr/>
        </p:nvSpPr>
        <p:spPr>
          <a:xfrm>
            <a:off x="8976208" y="2437790"/>
            <a:ext cx="2354123"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赤字店舗</a:t>
            </a:r>
            <a:endParaRPr lang="en-US" sz="950" dirty="0"/>
          </a:p>
        </p:txBody>
      </p:sp>
      <p:sp>
        <p:nvSpPr>
          <p:cNvPr id="24" name="Shape 21"/>
          <p:cNvSpPr/>
          <p:nvPr/>
        </p:nvSpPr>
        <p:spPr>
          <a:xfrm>
            <a:off x="5799125" y="3205886"/>
            <a:ext cx="5732374" cy="2395728"/>
          </a:xfrm>
          <a:prstGeom prst="roundRect">
            <a:avLst>
              <a:gd name="adj" fmla="val 2290"/>
            </a:avLst>
          </a:prstGeom>
          <a:solidFill>
            <a:srgbClr val="FFFFFF"/>
          </a:solidFill>
          <a:ln w="9525">
            <a:solidFill>
              <a:srgbClr val="EFEAE0"/>
            </a:solidFill>
            <a:prstDash val="solid"/>
          </a:ln>
        </p:spPr>
      </p:sp>
      <p:sp>
        <p:nvSpPr>
          <p:cNvPr id="25" name="Text 22"/>
          <p:cNvSpPr/>
          <p:nvPr/>
        </p:nvSpPr>
        <p:spPr>
          <a:xfrm>
            <a:off x="6073445" y="3443630"/>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DEFINITION</a:t>
            </a:r>
            <a:endParaRPr lang="en-US" sz="900" dirty="0"/>
          </a:p>
        </p:txBody>
      </p:sp>
      <p:sp>
        <p:nvSpPr>
          <p:cNvPr id="26" name="Text 23"/>
          <p:cNvSpPr/>
          <p:nvPr/>
        </p:nvSpPr>
        <p:spPr>
          <a:xfrm>
            <a:off x="6073445" y="36996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母集団</a:t>
            </a:r>
            <a:endParaRPr lang="en-US" sz="1050" dirty="0"/>
          </a:p>
        </p:txBody>
      </p:sp>
      <p:sp>
        <p:nvSpPr>
          <p:cNvPr id="27" name="Text 24"/>
          <p:cNvSpPr/>
          <p:nvPr/>
        </p:nvSpPr>
        <p:spPr>
          <a:xfrm>
            <a:off x="7445045" y="36996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2026年7月末時点で開業6ヶ月以上・営業中の店舗（51店舗）</a:t>
            </a:r>
            <a:endParaRPr lang="en-US" sz="1000" dirty="0"/>
          </a:p>
        </p:txBody>
      </p:sp>
      <p:sp>
        <p:nvSpPr>
          <p:cNvPr id="28" name="Shape 25"/>
          <p:cNvSpPr/>
          <p:nvPr/>
        </p:nvSpPr>
        <p:spPr>
          <a:xfrm>
            <a:off x="6073445" y="4083710"/>
            <a:ext cx="5183734" cy="10058"/>
          </a:xfrm>
          <a:prstGeom prst="rect">
            <a:avLst/>
          </a:prstGeom>
          <a:solidFill>
            <a:srgbClr val="EFEAE0"/>
          </a:solidFill>
          <a:ln/>
        </p:spPr>
      </p:sp>
      <p:sp>
        <p:nvSpPr>
          <p:cNvPr id="29" name="Text 26"/>
          <p:cNvSpPr/>
          <p:nvPr/>
        </p:nvSpPr>
        <p:spPr>
          <a:xfrm>
            <a:off x="6073445" y="41568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判定</a:t>
            </a:r>
            <a:endParaRPr lang="en-US" sz="1050" dirty="0"/>
          </a:p>
        </p:txBody>
      </p:sp>
      <p:sp>
        <p:nvSpPr>
          <p:cNvPr id="30" name="Text 27"/>
          <p:cNvSpPr/>
          <p:nvPr/>
        </p:nvSpPr>
        <p:spPr>
          <a:xfrm>
            <a:off x="7445045" y="41568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2026年7月単月の償却前営業利益 ＞ 0円</a:t>
            </a:r>
            <a:endParaRPr lang="en-US" sz="1000" dirty="0"/>
          </a:p>
        </p:txBody>
      </p:sp>
      <p:sp>
        <p:nvSpPr>
          <p:cNvPr id="31" name="Shape 28"/>
          <p:cNvSpPr/>
          <p:nvPr/>
        </p:nvSpPr>
        <p:spPr>
          <a:xfrm>
            <a:off x="6073445" y="4540910"/>
            <a:ext cx="5183734" cy="10058"/>
          </a:xfrm>
          <a:prstGeom prst="rect">
            <a:avLst/>
          </a:prstGeom>
          <a:solidFill>
            <a:srgbClr val="EFEAE0"/>
          </a:solidFill>
          <a:ln/>
        </p:spPr>
      </p:sp>
      <p:sp>
        <p:nvSpPr>
          <p:cNvPr id="32" name="Text 29"/>
          <p:cNvSpPr/>
          <p:nvPr/>
        </p:nvSpPr>
        <p:spPr>
          <a:xfrm>
            <a:off x="6073445" y="46140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利益の定義</a:t>
            </a:r>
            <a:endParaRPr lang="en-US" sz="1050" dirty="0"/>
          </a:p>
        </p:txBody>
      </p:sp>
      <p:sp>
        <p:nvSpPr>
          <p:cNvPr id="33" name="Text 30"/>
          <p:cNvSpPr/>
          <p:nvPr/>
        </p:nvSpPr>
        <p:spPr>
          <a:xfrm>
            <a:off x="7445045" y="46140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売上 −（原料・家賃・清掃・光熱・機械・警備・ロイヤリティ等）</a:t>
            </a:r>
            <a:endParaRPr lang="en-US" sz="1000" dirty="0"/>
          </a:p>
        </p:txBody>
      </p:sp>
      <p:sp>
        <p:nvSpPr>
          <p:cNvPr id="34" name="Shape 31"/>
          <p:cNvSpPr/>
          <p:nvPr/>
        </p:nvSpPr>
        <p:spPr>
          <a:xfrm>
            <a:off x="6073445" y="4998110"/>
            <a:ext cx="5183734" cy="10058"/>
          </a:xfrm>
          <a:prstGeom prst="rect">
            <a:avLst/>
          </a:prstGeom>
          <a:solidFill>
            <a:srgbClr val="EFEAE0"/>
          </a:solidFill>
          <a:ln/>
        </p:spPr>
      </p:sp>
      <p:sp>
        <p:nvSpPr>
          <p:cNvPr id="35" name="Text 32"/>
          <p:cNvSpPr/>
          <p:nvPr/>
        </p:nvSpPr>
        <p:spPr>
          <a:xfrm>
            <a:off x="6073445" y="5071262"/>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人件費</a:t>
            </a:r>
            <a:endParaRPr lang="en-US" sz="1050" dirty="0"/>
          </a:p>
        </p:txBody>
      </p:sp>
      <p:sp>
        <p:nvSpPr>
          <p:cNvPr id="36" name="Text 33"/>
          <p:cNvSpPr/>
          <p:nvPr/>
        </p:nvSpPr>
        <p:spPr>
          <a:xfrm>
            <a:off x="7445045" y="5071262"/>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無人運営のため0円（未計上）。この黒字率の高さの主因です</a:t>
            </a:r>
            <a:endParaRPr lang="en-US" sz="1000" dirty="0"/>
          </a:p>
        </p:txBody>
      </p:sp>
      <p:sp>
        <p:nvSpPr>
          <p:cNvPr id="37" name="Text 34"/>
          <p:cNvSpPr/>
          <p:nvPr/>
        </p:nvSpPr>
        <p:spPr>
          <a:xfrm>
            <a:off x="660197" y="545531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2026年7月速報値（社内管理台帳）。店舗により立地・賃料・面積・運営条件は異なり、将来の収益を保証するものではありません。</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10</a:t>
            </a:r>
            <a:r>
              <a:rPr lang="en-US" sz="1050" b="1" dirty="0">
                <a:solidFill>
                  <a:srgbClr val="1B8149"/>
                </a:solidFill>
                <a:latin typeface="Yu Gothic" pitchFamily="34" charset="0"/>
                <a:ea typeface="Yu Gothic" pitchFamily="34" charset="-122"/>
                <a:cs typeface="Yu Gothic" pitchFamily="34" charset="-120"/>
              </a:rPr>
              <a:t>   利用システム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利用システム：究極の利便性と価格</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ドリンク1杯で、時間制限なし。だから毎日使われ、リピートが積み上がります。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660197" y="1651406"/>
            <a:ext cx="2539517" cy="2468880"/>
          </a:xfrm>
          <a:prstGeom prst="roundRect">
            <a:avLst>
              <a:gd name="adj" fmla="val 2222"/>
            </a:avLst>
          </a:prstGeom>
          <a:solidFill>
            <a:srgbClr val="FFFFFF"/>
          </a:solidFill>
          <a:ln w="9525">
            <a:solidFill>
              <a:srgbClr val="EFEAE0"/>
            </a:solidFill>
            <a:prstDash val="solid"/>
          </a:ln>
        </p:spPr>
      </p:sp>
      <p:pic>
        <p:nvPicPr>
          <p:cNvPr id="10" name="Image 1" descr="/home/user/suzuki-ceo/selfcafe-partner-deck/assets/icons/LuCoffee-green.png">    </p:cNvPr>
          <p:cNvPicPr>
            <a:picLocks noChangeAspect="1"/>
          </p:cNvPicPr>
          <p:nvPr/>
        </p:nvPicPr>
        <p:blipFill>
          <a:blip r:embed="rId2"/>
          <a:stretch>
            <a:fillRect/>
          </a:stretch>
        </p:blipFill>
        <p:spPr>
          <a:xfrm>
            <a:off x="897941" y="1907438"/>
            <a:ext cx="365760" cy="365760"/>
          </a:xfrm>
          <a:prstGeom prst="rect">
            <a:avLst/>
          </a:prstGeom>
        </p:spPr>
      </p:pic>
      <p:sp>
        <p:nvSpPr>
          <p:cNvPr id="11" name="Text 7"/>
          <p:cNvSpPr/>
          <p:nvPr/>
        </p:nvSpPr>
        <p:spPr>
          <a:xfrm>
            <a:off x="1462354"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420円〜</a:t>
            </a:r>
            <a:endParaRPr lang="en-US" sz="2000" dirty="0"/>
          </a:p>
        </p:txBody>
      </p:sp>
      <p:sp>
        <p:nvSpPr>
          <p:cNvPr id="12" name="Text 8"/>
          <p:cNvSpPr/>
          <p:nvPr/>
        </p:nvSpPr>
        <p:spPr>
          <a:xfrm>
            <a:off x="1462354"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1杯あたり</a:t>
            </a:r>
            <a:endParaRPr lang="en-US" sz="800" dirty="0"/>
          </a:p>
        </p:txBody>
      </p:sp>
      <p:sp>
        <p:nvSpPr>
          <p:cNvPr id="13" name="Text 9"/>
          <p:cNvSpPr/>
          <p:nvPr/>
        </p:nvSpPr>
        <p:spPr>
          <a:xfrm>
            <a:off x="897941"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ドリンク一杯で入店</a:t>
            </a:r>
            <a:endParaRPr lang="en-US" sz="1350" dirty="0"/>
          </a:p>
        </p:txBody>
      </p:sp>
      <p:sp>
        <p:nvSpPr>
          <p:cNvPr id="14" name="Shape 10"/>
          <p:cNvSpPr/>
          <p:nvPr/>
        </p:nvSpPr>
        <p:spPr>
          <a:xfrm>
            <a:off x="897941" y="3023006"/>
            <a:ext cx="2064029" cy="10058"/>
          </a:xfrm>
          <a:prstGeom prst="rect">
            <a:avLst/>
          </a:prstGeom>
          <a:solidFill>
            <a:srgbClr val="EFEAE0"/>
          </a:solidFill>
          <a:ln/>
        </p:spPr>
      </p:sp>
      <p:sp>
        <p:nvSpPr>
          <p:cNvPr id="15" name="Text 11"/>
          <p:cNvSpPr/>
          <p:nvPr/>
        </p:nvSpPr>
        <p:spPr>
          <a:xfrm>
            <a:off x="897941"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ドリンク購入だけで、Wi-Fi・電源完備の空間を自由に利用できます。</a:t>
            </a:r>
            <a:endParaRPr lang="en-US" sz="1000" dirty="0"/>
          </a:p>
        </p:txBody>
      </p:sp>
      <p:sp>
        <p:nvSpPr>
          <p:cNvPr id="16" name="Shape 12"/>
          <p:cNvSpPr/>
          <p:nvPr/>
        </p:nvSpPr>
        <p:spPr>
          <a:xfrm>
            <a:off x="3437458" y="1651406"/>
            <a:ext cx="2539517" cy="2468880"/>
          </a:xfrm>
          <a:prstGeom prst="roundRect">
            <a:avLst>
              <a:gd name="adj" fmla="val 2222"/>
            </a:avLst>
          </a:prstGeom>
          <a:solidFill>
            <a:srgbClr val="FFFFFF"/>
          </a:solidFill>
          <a:ln w="9525">
            <a:solidFill>
              <a:srgbClr val="EFEAE0"/>
            </a:solidFill>
            <a:prstDash val="solid"/>
          </a:ln>
        </p:spPr>
      </p:sp>
      <p:pic>
        <p:nvPicPr>
          <p:cNvPr id="17" name="Image 2" descr="/home/user/suzuki-ceo/selfcafe-partner-deck/assets/icons/LuBadgeCheck-green.png">    </p:cNvPr>
          <p:cNvPicPr>
            <a:picLocks noChangeAspect="1"/>
          </p:cNvPicPr>
          <p:nvPr/>
        </p:nvPicPr>
        <p:blipFill>
          <a:blip r:embed="rId3"/>
          <a:stretch>
            <a:fillRect/>
          </a:stretch>
        </p:blipFill>
        <p:spPr>
          <a:xfrm>
            <a:off x="3675202" y="1907438"/>
            <a:ext cx="365760" cy="365760"/>
          </a:xfrm>
          <a:prstGeom prst="rect">
            <a:avLst/>
          </a:prstGeom>
        </p:spPr>
      </p:pic>
      <p:sp>
        <p:nvSpPr>
          <p:cNvPr id="18" name="Text 13"/>
          <p:cNvSpPr/>
          <p:nvPr/>
        </p:nvSpPr>
        <p:spPr>
          <a:xfrm>
            <a:off x="4239616"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不要</a:t>
            </a:r>
            <a:endParaRPr lang="en-US" sz="2000" dirty="0"/>
          </a:p>
        </p:txBody>
      </p:sp>
      <p:sp>
        <p:nvSpPr>
          <p:cNvPr id="19" name="Text 14"/>
          <p:cNvSpPr/>
          <p:nvPr/>
        </p:nvSpPr>
        <p:spPr>
          <a:xfrm>
            <a:off x="4239616"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会員登録・月会費</a:t>
            </a:r>
            <a:endParaRPr lang="en-US" sz="800" dirty="0"/>
          </a:p>
        </p:txBody>
      </p:sp>
      <p:sp>
        <p:nvSpPr>
          <p:cNvPr id="20" name="Text 15"/>
          <p:cNvSpPr/>
          <p:nvPr/>
        </p:nvSpPr>
        <p:spPr>
          <a:xfrm>
            <a:off x="3675202"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会員登録不要</a:t>
            </a:r>
            <a:endParaRPr lang="en-US" sz="1350" dirty="0"/>
          </a:p>
        </p:txBody>
      </p:sp>
      <p:sp>
        <p:nvSpPr>
          <p:cNvPr id="21" name="Shape 16"/>
          <p:cNvSpPr/>
          <p:nvPr/>
        </p:nvSpPr>
        <p:spPr>
          <a:xfrm>
            <a:off x="3675202" y="3023006"/>
            <a:ext cx="2064029" cy="10058"/>
          </a:xfrm>
          <a:prstGeom prst="rect">
            <a:avLst/>
          </a:prstGeom>
          <a:solidFill>
            <a:srgbClr val="EFEAE0"/>
          </a:solidFill>
          <a:ln/>
        </p:spPr>
      </p:sp>
      <p:sp>
        <p:nvSpPr>
          <p:cNvPr id="22" name="Text 17"/>
          <p:cNvSpPr/>
          <p:nvPr/>
        </p:nvSpPr>
        <p:spPr>
          <a:xfrm>
            <a:off x="3675202"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面倒な登録手続きなし。誰でも来店してすぐに利用できます。</a:t>
            </a:r>
            <a:endParaRPr lang="en-US" sz="1000" dirty="0"/>
          </a:p>
        </p:txBody>
      </p:sp>
      <p:sp>
        <p:nvSpPr>
          <p:cNvPr id="23" name="Shape 18"/>
          <p:cNvSpPr/>
          <p:nvPr/>
        </p:nvSpPr>
        <p:spPr>
          <a:xfrm>
            <a:off x="6214720" y="1651406"/>
            <a:ext cx="2539517" cy="2468880"/>
          </a:xfrm>
          <a:prstGeom prst="roundRect">
            <a:avLst>
              <a:gd name="adj" fmla="val 2222"/>
            </a:avLst>
          </a:prstGeom>
          <a:solidFill>
            <a:srgbClr val="FFFFFF"/>
          </a:solidFill>
          <a:ln w="9525">
            <a:solidFill>
              <a:srgbClr val="EFEAE0"/>
            </a:solidFill>
            <a:prstDash val="solid"/>
          </a:ln>
        </p:spPr>
      </p:sp>
      <p:pic>
        <p:nvPicPr>
          <p:cNvPr id="24" name="Image 3" descr="/home/user/suzuki-ceo/selfcafe-partner-deck/assets/icons/LuClock-green.png">    </p:cNvPr>
          <p:cNvPicPr>
            <a:picLocks noChangeAspect="1"/>
          </p:cNvPicPr>
          <p:nvPr/>
        </p:nvPicPr>
        <p:blipFill>
          <a:blip r:embed="rId4"/>
          <a:stretch>
            <a:fillRect/>
          </a:stretch>
        </p:blipFill>
        <p:spPr>
          <a:xfrm>
            <a:off x="6452464" y="1907438"/>
            <a:ext cx="365760" cy="365760"/>
          </a:xfrm>
          <a:prstGeom prst="rect">
            <a:avLst/>
          </a:prstGeom>
        </p:spPr>
      </p:pic>
      <p:sp>
        <p:nvSpPr>
          <p:cNvPr id="25" name="Text 19"/>
          <p:cNvSpPr/>
          <p:nvPr/>
        </p:nvSpPr>
        <p:spPr>
          <a:xfrm>
            <a:off x="7016877"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0円</a:t>
            </a:r>
            <a:endParaRPr lang="en-US" sz="2000" dirty="0"/>
          </a:p>
        </p:txBody>
      </p:sp>
      <p:sp>
        <p:nvSpPr>
          <p:cNvPr id="26" name="Text 20"/>
          <p:cNvSpPr/>
          <p:nvPr/>
        </p:nvSpPr>
        <p:spPr>
          <a:xfrm>
            <a:off x="7016877"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延長・追加料金</a:t>
            </a:r>
            <a:endParaRPr lang="en-US" sz="800" dirty="0"/>
          </a:p>
        </p:txBody>
      </p:sp>
      <p:sp>
        <p:nvSpPr>
          <p:cNvPr id="27" name="Text 21"/>
          <p:cNvSpPr/>
          <p:nvPr/>
        </p:nvSpPr>
        <p:spPr>
          <a:xfrm>
            <a:off x="6452464"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滞在時間無制限</a:t>
            </a:r>
            <a:endParaRPr lang="en-US" sz="1350" dirty="0"/>
          </a:p>
        </p:txBody>
      </p:sp>
      <p:sp>
        <p:nvSpPr>
          <p:cNvPr id="28" name="Shape 22"/>
          <p:cNvSpPr/>
          <p:nvPr/>
        </p:nvSpPr>
        <p:spPr>
          <a:xfrm>
            <a:off x="6452464" y="3023006"/>
            <a:ext cx="2064029" cy="10058"/>
          </a:xfrm>
          <a:prstGeom prst="rect">
            <a:avLst/>
          </a:prstGeom>
          <a:solidFill>
            <a:srgbClr val="EFEAE0"/>
          </a:solidFill>
          <a:ln/>
        </p:spPr>
      </p:sp>
      <p:sp>
        <p:nvSpPr>
          <p:cNvPr id="29" name="Text 23"/>
          <p:cNvSpPr/>
          <p:nvPr/>
        </p:nvSpPr>
        <p:spPr>
          <a:xfrm>
            <a:off x="6452464"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追加料金を気にせず、仕事や勉強に没頭できる環境です。</a:t>
            </a:r>
            <a:endParaRPr lang="en-US" sz="1000" dirty="0"/>
          </a:p>
        </p:txBody>
      </p:sp>
      <p:sp>
        <p:nvSpPr>
          <p:cNvPr id="30" name="Shape 24"/>
          <p:cNvSpPr/>
          <p:nvPr/>
        </p:nvSpPr>
        <p:spPr>
          <a:xfrm>
            <a:off x="8991981" y="1651406"/>
            <a:ext cx="2539517" cy="2468880"/>
          </a:xfrm>
          <a:prstGeom prst="roundRect">
            <a:avLst>
              <a:gd name="adj" fmla="val 2222"/>
            </a:avLst>
          </a:prstGeom>
          <a:solidFill>
            <a:srgbClr val="FFFFFF"/>
          </a:solidFill>
          <a:ln w="9525">
            <a:solidFill>
              <a:srgbClr val="EFEAE0"/>
            </a:solidFill>
            <a:prstDash val="solid"/>
          </a:ln>
        </p:spPr>
      </p:sp>
      <p:pic>
        <p:nvPicPr>
          <p:cNvPr id="31" name="Image 4" descr="/home/user/suzuki-ceo/selfcafe-partner-deck/assets/icons/LuSmartphone-green.png">    </p:cNvPr>
          <p:cNvPicPr>
            <a:picLocks noChangeAspect="1"/>
          </p:cNvPicPr>
          <p:nvPr/>
        </p:nvPicPr>
        <p:blipFill>
          <a:blip r:embed="rId5"/>
          <a:stretch>
            <a:fillRect/>
          </a:stretch>
        </p:blipFill>
        <p:spPr>
          <a:xfrm>
            <a:off x="9229725" y="1907438"/>
            <a:ext cx="365760" cy="365760"/>
          </a:xfrm>
          <a:prstGeom prst="rect">
            <a:avLst/>
          </a:prstGeom>
        </p:spPr>
      </p:pic>
      <p:sp>
        <p:nvSpPr>
          <p:cNvPr id="32" name="Text 25"/>
          <p:cNvSpPr/>
          <p:nvPr/>
        </p:nvSpPr>
        <p:spPr>
          <a:xfrm>
            <a:off x="9794138"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147円〜</a:t>
            </a:r>
            <a:endParaRPr lang="en-US" sz="2000" dirty="0"/>
          </a:p>
        </p:txBody>
      </p:sp>
      <p:sp>
        <p:nvSpPr>
          <p:cNvPr id="33" name="Text 26"/>
          <p:cNvSpPr/>
          <p:nvPr/>
        </p:nvSpPr>
        <p:spPr>
          <a:xfrm>
            <a:off x="9794138"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サブスク1杯換算</a:t>
            </a:r>
            <a:endParaRPr lang="en-US" sz="800" dirty="0"/>
          </a:p>
        </p:txBody>
      </p:sp>
      <p:sp>
        <p:nvSpPr>
          <p:cNvPr id="34" name="Text 27"/>
          <p:cNvSpPr/>
          <p:nvPr/>
        </p:nvSpPr>
        <p:spPr>
          <a:xfrm>
            <a:off x="9229725"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サブスクプラン</a:t>
            </a:r>
            <a:endParaRPr lang="en-US" sz="1350" dirty="0"/>
          </a:p>
        </p:txBody>
      </p:sp>
      <p:sp>
        <p:nvSpPr>
          <p:cNvPr id="35" name="Shape 28"/>
          <p:cNvSpPr/>
          <p:nvPr/>
        </p:nvSpPr>
        <p:spPr>
          <a:xfrm>
            <a:off x="9229725" y="3023006"/>
            <a:ext cx="2064029" cy="10058"/>
          </a:xfrm>
          <a:prstGeom prst="rect">
            <a:avLst/>
          </a:prstGeom>
          <a:solidFill>
            <a:srgbClr val="EFEAE0"/>
          </a:solidFill>
          <a:ln/>
        </p:spPr>
      </p:sp>
      <p:sp>
        <p:nvSpPr>
          <p:cNvPr id="36" name="Text 29"/>
          <p:cNvSpPr/>
          <p:nvPr/>
        </p:nvSpPr>
        <p:spPr>
          <a:xfrm>
            <a:off x="9229725"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月額定額で通い放題のプランも用意。継続利用を促します。</a:t>
            </a:r>
            <a:endParaRPr lang="en-US" sz="1000" dirty="0"/>
          </a:p>
        </p:txBody>
      </p:sp>
      <p:sp>
        <p:nvSpPr>
          <p:cNvPr id="37" name="Shape 30"/>
          <p:cNvSpPr/>
          <p:nvPr/>
        </p:nvSpPr>
        <p:spPr>
          <a:xfrm>
            <a:off x="660197" y="4394606"/>
            <a:ext cx="1689964" cy="914400"/>
          </a:xfrm>
          <a:prstGeom prst="roundRect">
            <a:avLst>
              <a:gd name="adj" fmla="val 6000"/>
            </a:avLst>
          </a:prstGeom>
          <a:solidFill>
            <a:srgbClr val="F1F8F3"/>
          </a:solidFill>
          <a:ln w="9525">
            <a:solidFill>
              <a:srgbClr val="D2E7DA"/>
            </a:solidFill>
            <a:prstDash val="solid"/>
          </a:ln>
        </p:spPr>
      </p:sp>
      <p:pic>
        <p:nvPicPr>
          <p:cNvPr id="38" name="Image 5" descr="/home/user/suzuki-ceo/selfcafe-partner-deck/assets/icons/LuCalendarCheck-green.png">    </p:cNvPr>
          <p:cNvPicPr>
            <a:picLocks noChangeAspect="1"/>
          </p:cNvPicPr>
          <p:nvPr/>
        </p:nvPicPr>
        <p:blipFill>
          <a:blip r:embed="rId6"/>
          <a:stretch>
            <a:fillRect/>
          </a:stretch>
        </p:blipFill>
        <p:spPr>
          <a:xfrm>
            <a:off x="1331443" y="4559198"/>
            <a:ext cx="347472" cy="347472"/>
          </a:xfrm>
          <a:prstGeom prst="rect">
            <a:avLst/>
          </a:prstGeom>
        </p:spPr>
      </p:pic>
      <p:sp>
        <p:nvSpPr>
          <p:cNvPr id="39" name="Text 31"/>
          <p:cNvSpPr/>
          <p:nvPr/>
        </p:nvSpPr>
        <p:spPr>
          <a:xfrm>
            <a:off x="69677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無人・年中無休</a:t>
            </a:r>
            <a:endParaRPr lang="en-US" sz="1000" dirty="0"/>
          </a:p>
        </p:txBody>
      </p:sp>
      <p:sp>
        <p:nvSpPr>
          <p:cNvPr id="40" name="Shape 32"/>
          <p:cNvSpPr/>
          <p:nvPr/>
        </p:nvSpPr>
        <p:spPr>
          <a:xfrm>
            <a:off x="2496464" y="4394606"/>
            <a:ext cx="1689964" cy="914400"/>
          </a:xfrm>
          <a:prstGeom prst="roundRect">
            <a:avLst>
              <a:gd name="adj" fmla="val 6000"/>
            </a:avLst>
          </a:prstGeom>
          <a:solidFill>
            <a:srgbClr val="F1F8F3"/>
          </a:solidFill>
          <a:ln w="9525">
            <a:solidFill>
              <a:srgbClr val="D2E7DA"/>
            </a:solidFill>
            <a:prstDash val="solid"/>
          </a:ln>
        </p:spPr>
      </p:sp>
      <p:pic>
        <p:nvPicPr>
          <p:cNvPr id="41" name="Image 6" descr="/home/user/suzuki-ceo/selfcafe-partner-deck/assets/icons/LuWifi-green.png">    </p:cNvPr>
          <p:cNvPicPr>
            <a:picLocks noChangeAspect="1"/>
          </p:cNvPicPr>
          <p:nvPr/>
        </p:nvPicPr>
        <p:blipFill>
          <a:blip r:embed="rId7"/>
          <a:stretch>
            <a:fillRect/>
          </a:stretch>
        </p:blipFill>
        <p:spPr>
          <a:xfrm>
            <a:off x="3167710" y="4559198"/>
            <a:ext cx="347472" cy="347472"/>
          </a:xfrm>
          <a:prstGeom prst="rect">
            <a:avLst/>
          </a:prstGeom>
        </p:spPr>
      </p:pic>
      <p:sp>
        <p:nvSpPr>
          <p:cNvPr id="42" name="Text 33"/>
          <p:cNvSpPr/>
          <p:nvPr/>
        </p:nvSpPr>
        <p:spPr>
          <a:xfrm>
            <a:off x="2533040"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高速Wi-Fi</a:t>
            </a:r>
            <a:endParaRPr lang="en-US" sz="1000" dirty="0"/>
          </a:p>
        </p:txBody>
      </p:sp>
      <p:sp>
        <p:nvSpPr>
          <p:cNvPr id="43" name="Shape 34"/>
          <p:cNvSpPr/>
          <p:nvPr/>
        </p:nvSpPr>
        <p:spPr>
          <a:xfrm>
            <a:off x="4332732" y="4394606"/>
            <a:ext cx="1689964" cy="914400"/>
          </a:xfrm>
          <a:prstGeom prst="roundRect">
            <a:avLst>
              <a:gd name="adj" fmla="val 6000"/>
            </a:avLst>
          </a:prstGeom>
          <a:solidFill>
            <a:srgbClr val="F1F8F3"/>
          </a:solidFill>
          <a:ln w="9525">
            <a:solidFill>
              <a:srgbClr val="D2E7DA"/>
            </a:solidFill>
            <a:prstDash val="solid"/>
          </a:ln>
        </p:spPr>
      </p:sp>
      <p:pic>
        <p:nvPicPr>
          <p:cNvPr id="44" name="Image 7" descr="/home/user/suzuki-ceo/selfcafe-partner-deck/assets/icons/LuPlug-green.png">    </p:cNvPr>
          <p:cNvPicPr>
            <a:picLocks noChangeAspect="1"/>
          </p:cNvPicPr>
          <p:nvPr/>
        </p:nvPicPr>
        <p:blipFill>
          <a:blip r:embed="rId8"/>
          <a:stretch>
            <a:fillRect/>
          </a:stretch>
        </p:blipFill>
        <p:spPr>
          <a:xfrm>
            <a:off x="5003978" y="4559198"/>
            <a:ext cx="347472" cy="347472"/>
          </a:xfrm>
          <a:prstGeom prst="rect">
            <a:avLst/>
          </a:prstGeom>
        </p:spPr>
      </p:pic>
      <p:sp>
        <p:nvSpPr>
          <p:cNvPr id="45" name="Text 35"/>
          <p:cNvSpPr/>
          <p:nvPr/>
        </p:nvSpPr>
        <p:spPr>
          <a:xfrm>
            <a:off x="4369308"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電源完備</a:t>
            </a:r>
            <a:endParaRPr lang="en-US" sz="1000" dirty="0"/>
          </a:p>
        </p:txBody>
      </p:sp>
      <p:sp>
        <p:nvSpPr>
          <p:cNvPr id="46" name="Shape 36"/>
          <p:cNvSpPr/>
          <p:nvPr/>
        </p:nvSpPr>
        <p:spPr>
          <a:xfrm>
            <a:off x="6169000" y="4394606"/>
            <a:ext cx="1689964" cy="914400"/>
          </a:xfrm>
          <a:prstGeom prst="roundRect">
            <a:avLst>
              <a:gd name="adj" fmla="val 6000"/>
            </a:avLst>
          </a:prstGeom>
          <a:solidFill>
            <a:srgbClr val="F1F8F3"/>
          </a:solidFill>
          <a:ln w="9525">
            <a:solidFill>
              <a:srgbClr val="D2E7DA"/>
            </a:solidFill>
            <a:prstDash val="solid"/>
          </a:ln>
        </p:spPr>
      </p:sp>
      <p:pic>
        <p:nvPicPr>
          <p:cNvPr id="47" name="Image 8" descr="/home/user/suzuki-ceo/selfcafe-partner-deck/assets/icons/LuClock-green.png">    </p:cNvPr>
          <p:cNvPicPr>
            <a:picLocks noChangeAspect="1"/>
          </p:cNvPicPr>
          <p:nvPr/>
        </p:nvPicPr>
        <p:blipFill>
          <a:blip r:embed="rId9"/>
          <a:stretch>
            <a:fillRect/>
          </a:stretch>
        </p:blipFill>
        <p:spPr>
          <a:xfrm>
            <a:off x="6840245" y="4559198"/>
            <a:ext cx="347472" cy="347472"/>
          </a:xfrm>
          <a:prstGeom prst="rect">
            <a:avLst/>
          </a:prstGeom>
        </p:spPr>
      </p:pic>
      <p:sp>
        <p:nvSpPr>
          <p:cNvPr id="48" name="Text 37"/>
          <p:cNvSpPr/>
          <p:nvPr/>
        </p:nvSpPr>
        <p:spPr>
          <a:xfrm>
            <a:off x="6205576"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席時間無制限</a:t>
            </a:r>
            <a:endParaRPr lang="en-US" sz="1000" dirty="0"/>
          </a:p>
        </p:txBody>
      </p:sp>
      <p:sp>
        <p:nvSpPr>
          <p:cNvPr id="49" name="Shape 38"/>
          <p:cNvSpPr/>
          <p:nvPr/>
        </p:nvSpPr>
        <p:spPr>
          <a:xfrm>
            <a:off x="8005267" y="4394606"/>
            <a:ext cx="1689964" cy="914400"/>
          </a:xfrm>
          <a:prstGeom prst="roundRect">
            <a:avLst>
              <a:gd name="adj" fmla="val 6000"/>
            </a:avLst>
          </a:prstGeom>
          <a:solidFill>
            <a:srgbClr val="F1F8F3"/>
          </a:solidFill>
          <a:ln w="9525">
            <a:solidFill>
              <a:srgbClr val="D2E7DA"/>
            </a:solidFill>
            <a:prstDash val="solid"/>
          </a:ln>
        </p:spPr>
      </p:sp>
      <p:pic>
        <p:nvPicPr>
          <p:cNvPr id="50" name="Image 9" descr="/home/user/suzuki-ceo/selfcafe-partner-deck/assets/icons/LuBookOpen-green.png">    </p:cNvPr>
          <p:cNvPicPr>
            <a:picLocks noChangeAspect="1"/>
          </p:cNvPicPr>
          <p:nvPr/>
        </p:nvPicPr>
        <p:blipFill>
          <a:blip r:embed="rId10"/>
          <a:stretch>
            <a:fillRect/>
          </a:stretch>
        </p:blipFill>
        <p:spPr>
          <a:xfrm>
            <a:off x="8676513" y="4559198"/>
            <a:ext cx="347472" cy="347472"/>
          </a:xfrm>
          <a:prstGeom prst="rect">
            <a:avLst/>
          </a:prstGeom>
        </p:spPr>
      </p:pic>
      <p:sp>
        <p:nvSpPr>
          <p:cNvPr id="51" name="Text 39"/>
          <p:cNvSpPr/>
          <p:nvPr/>
        </p:nvSpPr>
        <p:spPr>
          <a:xfrm>
            <a:off x="804184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仕事・勉強</a:t>
            </a:r>
            <a:endParaRPr lang="en-US" sz="1000" dirty="0"/>
          </a:p>
        </p:txBody>
      </p:sp>
      <p:sp>
        <p:nvSpPr>
          <p:cNvPr id="52" name="Shape 40"/>
          <p:cNvSpPr/>
          <p:nvPr/>
        </p:nvSpPr>
        <p:spPr>
          <a:xfrm>
            <a:off x="9841535" y="4394606"/>
            <a:ext cx="1689964" cy="914400"/>
          </a:xfrm>
          <a:prstGeom prst="roundRect">
            <a:avLst>
              <a:gd name="adj" fmla="val 6000"/>
            </a:avLst>
          </a:prstGeom>
          <a:solidFill>
            <a:srgbClr val="F1F8F3"/>
          </a:solidFill>
          <a:ln w="9525">
            <a:solidFill>
              <a:srgbClr val="D2E7DA"/>
            </a:solidFill>
            <a:prstDash val="solid"/>
          </a:ln>
        </p:spPr>
      </p:sp>
      <p:pic>
        <p:nvPicPr>
          <p:cNvPr id="53" name="Image 10" descr="/home/user/suzuki-ceo/selfcafe-partner-deck/assets/icons/LuMessagesSquare-green.png">    </p:cNvPr>
          <p:cNvPicPr>
            <a:picLocks noChangeAspect="1"/>
          </p:cNvPicPr>
          <p:nvPr/>
        </p:nvPicPr>
        <p:blipFill>
          <a:blip r:embed="rId11"/>
          <a:stretch>
            <a:fillRect/>
          </a:stretch>
        </p:blipFill>
        <p:spPr>
          <a:xfrm>
            <a:off x="10512781" y="4559198"/>
            <a:ext cx="347472" cy="347472"/>
          </a:xfrm>
          <a:prstGeom prst="rect">
            <a:avLst/>
          </a:prstGeom>
        </p:spPr>
      </p:pic>
      <p:sp>
        <p:nvSpPr>
          <p:cNvPr id="54" name="Text 41"/>
          <p:cNvSpPr/>
          <p:nvPr/>
        </p:nvSpPr>
        <p:spPr>
          <a:xfrm>
            <a:off x="9878111"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会話OK</a:t>
            </a:r>
            <a:endParaRPr lang="en-US" sz="1000" dirty="0"/>
          </a:p>
        </p:txBody>
      </p:sp>
      <p:sp>
        <p:nvSpPr>
          <p:cNvPr id="55" name="Text 42"/>
          <p:cNvSpPr/>
          <p:nvPr/>
        </p:nvSpPr>
        <p:spPr>
          <a:xfrm>
            <a:off x="660197" y="54370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予約不要・登録不要。ドリンク1杯からご利用いただけます。</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11</a:t>
            </a:r>
            <a:r>
              <a:rPr lang="en-US" sz="1050" b="1" dirty="0">
                <a:solidFill>
                  <a:srgbClr val="1B8149"/>
                </a:solidFill>
                <a:latin typeface="Yu Gothic" pitchFamily="34" charset="0"/>
                <a:ea typeface="Yu Gothic" pitchFamily="34" charset="-122"/>
                <a:cs typeface="Yu Gothic" pitchFamily="34" charset="-120"/>
              </a:rPr>
              <a:t>   ユーザー層</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セルフカフェのユーザー層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「勉強」を目的に、若年層が繰り返し来店する——長時間・高頻度の利用構造です。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12</a:t>
            </a:r>
            <a:endParaRPr lang="en-US" sz="1000" dirty="0"/>
          </a:p>
        </p:txBody>
      </p:sp>
      <p:sp>
        <p:nvSpPr>
          <p:cNvPr id="9" name="Shape 6"/>
          <p:cNvSpPr/>
          <p:nvPr/>
        </p:nvSpPr>
        <p:spPr>
          <a:xfrm>
            <a:off x="660197" y="1651406"/>
            <a:ext cx="5243627" cy="4315968"/>
          </a:xfrm>
          <a:prstGeom prst="roundRect">
            <a:avLst>
              <a:gd name="adj" fmla="val 1271"/>
            </a:avLst>
          </a:prstGeom>
          <a:solidFill>
            <a:srgbClr val="FFFFFF"/>
          </a:solidFill>
          <a:ln w="9525">
            <a:solidFill>
              <a:srgbClr val="EFEAE0"/>
            </a:solidFill>
            <a:prstDash val="solid"/>
          </a:ln>
        </p:spPr>
      </p:sp>
      <p:sp>
        <p:nvSpPr>
          <p:cNvPr id="10" name="Text 7"/>
          <p:cNvSpPr/>
          <p:nvPr/>
        </p:nvSpPr>
        <p:spPr>
          <a:xfrm>
            <a:off x="934517"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1</a:t>
            </a:r>
            <a:endParaRPr lang="en-US" sz="2000" dirty="0"/>
          </a:p>
        </p:txBody>
      </p:sp>
      <p:sp>
        <p:nvSpPr>
          <p:cNvPr id="11" name="Text 8"/>
          <p:cNvSpPr/>
          <p:nvPr/>
        </p:nvSpPr>
        <p:spPr>
          <a:xfrm>
            <a:off x="1318565"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若年層から絶大な支持</a:t>
            </a:r>
            <a:endParaRPr lang="en-US" sz="1700" dirty="0"/>
          </a:p>
        </p:txBody>
      </p:sp>
      <p:sp>
        <p:nvSpPr>
          <p:cNvPr id="12" name="Text 9"/>
          <p:cNvSpPr/>
          <p:nvPr/>
        </p:nvSpPr>
        <p:spPr>
          <a:xfrm>
            <a:off x="934517"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29歳までのユーザーが</a:t>
            </a:r>
            <a:r>
              <a:rPr lang="en-US" sz="1050" b="1" dirty="0">
                <a:solidFill>
                  <a:srgbClr val="106838"/>
                </a:solidFill>
                <a:latin typeface="Yu Gothic" pitchFamily="34" charset="0"/>
                <a:ea typeface="Yu Gothic" pitchFamily="34" charset="-122"/>
                <a:cs typeface="Yu Gothic" pitchFamily="34" charset="-120"/>
              </a:rPr>
              <a:t>過半数（56%）</a:t>
            </a:r>
            <a:r>
              <a:rPr lang="en-US" sz="1050" dirty="0">
                <a:solidFill>
                  <a:srgbClr val="4B5550"/>
                </a:solidFill>
                <a:latin typeface="Yu Gothic" pitchFamily="34" charset="0"/>
                <a:ea typeface="Yu Gothic" pitchFamily="34" charset="-122"/>
                <a:cs typeface="Yu Gothic" pitchFamily="34" charset="-120"/>
              </a:rPr>
              <a:t>。デジタルネイティブ世代にとって「無人」は心理的ハードルが低く、快適な空間です。</a:t>
            </a:r>
            <a:endParaRPr lang="en-US" sz="1050" dirty="0"/>
          </a:p>
        </p:txBody>
      </p:sp>
      <p:graphicFrame>
        <p:nvGraphicFramePr>
          <p:cNvPr id="13" name="Chart 0" descr=""/>
          <p:cNvGraphicFramePr/>
          <p:nvPr/>
        </p:nvGraphicFramePr>
        <p:xfrm>
          <a:off x="843077" y="2931566"/>
          <a:ext cx="4877867" cy="2798064"/>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989424" y="5674766"/>
            <a:ext cx="603504" cy="182880"/>
          </a:xfrm>
          <a:prstGeom prst="rect">
            <a:avLst/>
          </a:prstGeom>
          <a:noFill/>
          <a:ln/>
        </p:spPr>
        <p:txBody>
          <a:bodyPr wrap="square" lIns="0" tIns="0" rIns="0" bIns="0" rtlCol="0" anchor="ctr"/>
          <a:lstStyle/>
          <a:p>
            <a:pPr algn="r" indent="0" marL="0">
              <a:buNone/>
            </a:pPr>
            <a:r>
              <a:rPr lang="en-US" sz="850" dirty="0">
                <a:solidFill>
                  <a:srgbClr val="A8B0AA"/>
                </a:solidFill>
                <a:latin typeface="Yu Gothic" pitchFamily="34" charset="0"/>
                <a:ea typeface="Yu Gothic" pitchFamily="34" charset="-122"/>
                <a:cs typeface="Yu Gothic" pitchFamily="34" charset="-120"/>
              </a:rPr>
              <a:t>（歳）</a:t>
            </a:r>
            <a:endParaRPr lang="en-US" sz="850" dirty="0"/>
          </a:p>
        </p:txBody>
      </p:sp>
      <p:sp>
        <p:nvSpPr>
          <p:cNvPr id="15" name="Text 11"/>
          <p:cNvSpPr/>
          <p:nvPr/>
        </p:nvSpPr>
        <p:spPr>
          <a:xfrm>
            <a:off x="660197" y="6089904"/>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出典：自社アンケート調査。年齢構成は未回答（10%）を含む構成比です。</a:t>
            </a:r>
            <a:endParaRPr lang="en-US" sz="850" dirty="0"/>
          </a:p>
        </p:txBody>
      </p:sp>
      <p:sp>
        <p:nvSpPr>
          <p:cNvPr id="16" name="Shape 12"/>
          <p:cNvSpPr/>
          <p:nvPr/>
        </p:nvSpPr>
        <p:spPr>
          <a:xfrm>
            <a:off x="6287872" y="1651406"/>
            <a:ext cx="5243627" cy="4315968"/>
          </a:xfrm>
          <a:prstGeom prst="roundRect">
            <a:avLst>
              <a:gd name="adj" fmla="val 1271"/>
            </a:avLst>
          </a:prstGeom>
          <a:solidFill>
            <a:srgbClr val="FFFFFF"/>
          </a:solidFill>
          <a:ln w="9525">
            <a:solidFill>
              <a:srgbClr val="EFEAE0"/>
            </a:solidFill>
            <a:prstDash val="solid"/>
          </a:ln>
        </p:spPr>
      </p:sp>
      <p:sp>
        <p:nvSpPr>
          <p:cNvPr id="17" name="Text 13"/>
          <p:cNvSpPr/>
          <p:nvPr/>
        </p:nvSpPr>
        <p:spPr>
          <a:xfrm>
            <a:off x="6562192"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2</a:t>
            </a:r>
            <a:endParaRPr lang="en-US" sz="2000" dirty="0"/>
          </a:p>
        </p:txBody>
      </p:sp>
      <p:sp>
        <p:nvSpPr>
          <p:cNvPr id="18" name="Text 14"/>
          <p:cNvSpPr/>
          <p:nvPr/>
        </p:nvSpPr>
        <p:spPr>
          <a:xfrm>
            <a:off x="6946240"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「勉強」が主目的</a:t>
            </a:r>
            <a:endParaRPr lang="en-US" sz="1700" dirty="0"/>
          </a:p>
        </p:txBody>
      </p:sp>
      <p:sp>
        <p:nvSpPr>
          <p:cNvPr id="19" name="Text 15"/>
          <p:cNvSpPr/>
          <p:nvPr/>
        </p:nvSpPr>
        <p:spPr>
          <a:xfrm>
            <a:off x="6562192"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利用目的の</a:t>
            </a:r>
            <a:r>
              <a:rPr lang="en-US" sz="1050" b="1" dirty="0">
                <a:solidFill>
                  <a:srgbClr val="106838"/>
                </a:solidFill>
                <a:latin typeface="Yu Gothic" pitchFamily="34" charset="0"/>
                <a:ea typeface="Yu Gothic" pitchFamily="34" charset="-122"/>
                <a:cs typeface="Yu Gothic" pitchFamily="34" charset="-120"/>
              </a:rPr>
              <a:t>62.6%が「勉強」</a:t>
            </a:r>
            <a:r>
              <a:rPr lang="en-US" sz="1050" dirty="0">
                <a:solidFill>
                  <a:srgbClr val="4B5550"/>
                </a:solidFill>
                <a:latin typeface="Yu Gothic" pitchFamily="34" charset="0"/>
                <a:ea typeface="Yu Gothic" pitchFamily="34" charset="-122"/>
                <a:cs typeface="Yu Gothic" pitchFamily="34" charset="-120"/>
              </a:rPr>
              <a:t>。一般的なカフェが「休憩」を主目的とするのに対し、高い生産性を求める層が集まります。</a:t>
            </a:r>
            <a:endParaRPr lang="en-US" sz="1050" dirty="0"/>
          </a:p>
        </p:txBody>
      </p:sp>
      <p:graphicFrame>
        <p:nvGraphicFramePr>
          <p:cNvPr id="20" name="Chart 1" descr=""/>
          <p:cNvGraphicFramePr/>
          <p:nvPr/>
        </p:nvGraphicFramePr>
        <p:xfrm>
          <a:off x="6470752" y="2894990"/>
          <a:ext cx="4877867" cy="2889504"/>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12</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愛知・千葉エリア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13</a:t>
            </a:r>
            <a:endParaRPr lang="en-US" sz="1000" dirty="0"/>
          </a:p>
        </p:txBody>
      </p:sp>
      <p:pic>
        <p:nvPicPr>
          <p:cNvPr id="9" name="Image 1" descr="/home/user/suzuki-ceo/selfcafe-partner-deck/assets/photos/.crops/store-sasashim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ささしまライブ店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3" name="Image 2" descr="/home/user/suzuki-ceo/selfcafe-partner-deck/assets/photos/.crops/store-meieki-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名駅西口店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7" name="Image 3" descr="/home/user/suzuki-ceo/selfcafe-partner-deck/assets/photos/.crops/store-sakae-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栄店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1" name="Image 4" descr="/home/user/suzuki-ceo/selfcafe-partner-deck/assets/photos/.crops/store-arata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新瑞橋店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5" name="Image 5" descr="/home/user/suzuki-ceo/selfcafe-partner-deck/assets/photos/.crops/store-gokis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御器所店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9" name="Image 6" descr="/home/user/suzuki-ceo/selfcafe-partner-deck/assets/photos/.crops/store-inza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印西牧の原店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千葉県印西市</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13</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岩手・静岡・大阪エリア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14</a:t>
            </a:r>
            <a:endParaRPr lang="en-US" sz="1000" dirty="0"/>
          </a:p>
        </p:txBody>
      </p:sp>
      <p:pic>
        <p:nvPicPr>
          <p:cNvPr id="9" name="Image 1" descr="/home/user/suzuki-ceo/selfcafe-partner-deck/assets/photos/.crops/store-moriok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盛岡駅前店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岩手県盛岡市</a:t>
            </a:r>
            <a:endParaRPr lang="en-US" sz="900" dirty="0"/>
          </a:p>
        </p:txBody>
      </p:sp>
      <p:pic>
        <p:nvPicPr>
          <p:cNvPr id="13" name="Image 2" descr="/home/user/suzuki-ceo/selfcafe-partner-deck/assets/photos/.crops/store-hamamatsu-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浜松新橋店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静岡県浜松市</a:t>
            </a:r>
            <a:endParaRPr lang="en-US" sz="900" dirty="0"/>
          </a:p>
        </p:txBody>
      </p:sp>
      <p:pic>
        <p:nvPicPr>
          <p:cNvPr id="17" name="Image 3" descr="/home/user/suzuki-ceo/selfcafe-partner-deck/assets/photos/.crops/store-aikawa-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相川駅前店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1" name="Image 4" descr="/home/user/suzuki-ceo/selfcafe-partner-deck/assets/photos/.crops/store-ten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天満店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5" name="Image 5" descr="/home/user/suzuki-ceo/selfcafe-partner-deck/assets/photos/.crops/store-aben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あべの南店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9" name="Image 6" descr="/home/user/suzuki-ceo/selfcafe-partner-deck/assets/photos/.crops/store-tanimach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谷町九丁目店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14</a:t>
            </a:r>
            <a:r>
              <a:rPr lang="en-US" sz="1050" b="1" dirty="0">
                <a:solidFill>
                  <a:srgbClr val="1B8149"/>
                </a:solidFill>
                <a:latin typeface="Yu Gothic" pitchFamily="34" charset="0"/>
                <a:ea typeface="Yu Gothic" pitchFamily="34" charset="-122"/>
                <a:cs typeface="Yu Gothic" pitchFamily="34" charset="-120"/>
              </a:rPr>
              <a:t>   ポジショニング</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比較表：いいところ取りのビジネスモデル</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カフェの「気軽さ」とオフィスの「機能」、その両方を満たす選択肢がありませんでした。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2397557" y="1742846"/>
            <a:ext cx="3291840" cy="4224528"/>
          </a:xfrm>
          <a:prstGeom prst="roundRect">
            <a:avLst>
              <a:gd name="adj" fmla="val 1389"/>
            </a:avLst>
          </a:prstGeom>
          <a:solidFill>
            <a:srgbClr val="F1F8F3"/>
          </a:solidFill>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60197" y="1742846"/>
          <a:ext cx="10871302" cy="914400"/>
        </p:xfrm>
        <a:graphic>
          <a:graphicData uri="http://schemas.openxmlformats.org/drawingml/2006/table">
            <a:tbl>
              <a:tblPr/>
              <a:tblGrid>
                <a:gridCol w="1737360"/>
                <a:gridCol w="3291840"/>
                <a:gridCol w="2926080"/>
                <a:gridCol w="2916022"/>
              </a:tblGrid>
              <a:tr h="384048">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比較項目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セルフカフェ</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コワーキング</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シェアオフィス</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利用の手軽さ</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予約不要・1杯〜</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登録や予約が必要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法人契約がメイン</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空間の雰囲気</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適度な賑わい</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静かすぎて緊張する</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閉鎖的な個室中心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ドリンクの質</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本格コーヒー</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サーバーが中心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持ち込みが基本</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運営人員</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完全無人</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スタッフ常駐</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管理人が必要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導入コスト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低投資パッケージ</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高額な内装・設備</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莫大な建築コスト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42432"/>
            <a:ext cx="10871302" cy="475488"/>
          </a:xfrm>
          <a:prstGeom prst="roundRect">
            <a:avLst>
              <a:gd name="adj" fmla="val 9615"/>
            </a:avLst>
          </a:prstGeom>
          <a:solidFill>
            <a:srgbClr val="0C5230"/>
          </a:solidFill>
          <a:ln/>
        </p:spPr>
      </p:sp>
      <p:sp>
        <p:nvSpPr>
          <p:cNvPr id="12" name="Text 8"/>
          <p:cNvSpPr/>
          <p:nvPr/>
        </p:nvSpPr>
        <p:spPr>
          <a:xfrm>
            <a:off x="934517" y="5742432"/>
            <a:ext cx="10322662" cy="47548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カフェの「気軽さ」とオフィスの「機能」を融合させた、唯一無二のポジション。</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15</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独自の無人開閉店システム</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警備会社と連携した安心の自動化。オーナー様が現地に足を運ぶ必要はありません。</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660197" y="1651406"/>
            <a:ext cx="5120640" cy="4315968"/>
          </a:xfrm>
          <a:prstGeom prst="roundRect">
            <a:avLst>
              <a:gd name="adj" fmla="val 1271"/>
            </a:avLst>
          </a:prstGeom>
          <a:solidFill>
            <a:srgbClr val="0C5230"/>
          </a:solidFill>
          <a:ln/>
        </p:spPr>
      </p:sp>
      <p:pic>
        <p:nvPicPr>
          <p:cNvPr id="10" name="Image 1" descr="/home/user/suzuki-ceo/selfcafe-partner-deck/assets/icons/LuKeyRound-white.png">    </p:cNvPr>
          <p:cNvPicPr>
            <a:picLocks noChangeAspect="1"/>
          </p:cNvPicPr>
          <p:nvPr/>
        </p:nvPicPr>
        <p:blipFill>
          <a:blip r:embed="rId2"/>
          <a:stretch>
            <a:fillRect/>
          </a:stretch>
        </p:blipFill>
        <p:spPr>
          <a:xfrm>
            <a:off x="1062533" y="2017166"/>
            <a:ext cx="402336" cy="402336"/>
          </a:xfrm>
          <a:prstGeom prst="rect">
            <a:avLst/>
          </a:prstGeom>
        </p:spPr>
      </p:pic>
      <p:sp>
        <p:nvSpPr>
          <p:cNvPr id="11" name="Text 7"/>
          <p:cNvSpPr/>
          <p:nvPr/>
        </p:nvSpPr>
        <p:spPr>
          <a:xfrm>
            <a:off x="1062533" y="2565806"/>
            <a:ext cx="4315968" cy="1005840"/>
          </a:xfrm>
          <a:prstGeom prst="rect">
            <a:avLst/>
          </a:prstGeom>
          <a:noFill/>
          <a:ln/>
        </p:spPr>
        <p:txBody>
          <a:bodyPr wrap="square" lIns="0" tIns="0" rIns="0" bIns="0" rtlCol="0" anchor="t"/>
          <a:lstStyle/>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スマートロックで、</a:t>
            </a:r>
            <a:endParaRPr lang="en-US" sz="2100" dirty="0"/>
          </a:p>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開錠／施錠を完全自動化</a:t>
            </a:r>
            <a:endParaRPr lang="en-US" sz="2100" dirty="0"/>
          </a:p>
        </p:txBody>
      </p:sp>
      <p:sp>
        <p:nvSpPr>
          <p:cNvPr id="12" name="Text 8"/>
          <p:cNvSpPr/>
          <p:nvPr/>
        </p:nvSpPr>
        <p:spPr>
          <a:xfrm>
            <a:off x="1062533" y="3699662"/>
            <a:ext cx="4315968" cy="914400"/>
          </a:xfrm>
          <a:prstGeom prst="rect">
            <a:avLst/>
          </a:prstGeom>
          <a:noFill/>
          <a:ln/>
        </p:spPr>
        <p:txBody>
          <a:bodyPr wrap="square" lIns="0" tIns="0" rIns="0" bIns="0" rtlCol="0" anchor="t"/>
          <a:lstStyle/>
          <a:p>
            <a:pPr indent="0" marL="0">
              <a:lnSpc>
                <a:spcPct val="145000"/>
              </a:lnSpc>
              <a:buNone/>
            </a:pPr>
            <a:r>
              <a:rPr lang="en-US" sz="1100" dirty="0">
                <a:solidFill>
                  <a:srgbClr val="AFC2B8"/>
                </a:solidFill>
                <a:latin typeface="Yu Gothic" pitchFamily="34" charset="0"/>
                <a:ea typeface="Yu Gothic" pitchFamily="34" charset="-122"/>
                <a:cs typeface="Yu Gothic" pitchFamily="34" charset="-120"/>
              </a:rPr>
              <a:t>独自のスマートロックシステムにより、店舗の開錠／施錠を遠隔で完全自動化。現地に足を運ばずに営業時間を管理できます。</a:t>
            </a:r>
            <a:endParaRPr lang="en-US" sz="1100" dirty="0"/>
          </a:p>
        </p:txBody>
      </p:sp>
      <p:sp>
        <p:nvSpPr>
          <p:cNvPr id="13" name="Text 9"/>
          <p:cNvSpPr/>
          <p:nvPr/>
        </p:nvSpPr>
        <p:spPr>
          <a:xfrm>
            <a:off x="1062533" y="4705502"/>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1</a:t>
            </a:r>
            <a:endParaRPr lang="en-US" sz="1100" dirty="0"/>
          </a:p>
        </p:txBody>
      </p:sp>
      <p:sp>
        <p:nvSpPr>
          <p:cNvPr id="14" name="Text 10"/>
          <p:cNvSpPr/>
          <p:nvPr/>
        </p:nvSpPr>
        <p:spPr>
          <a:xfrm>
            <a:off x="1355141" y="4705502"/>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任意の営業時間を分単位でコントロール</a:t>
            </a:r>
            <a:endParaRPr lang="en-US" sz="1100" dirty="0"/>
          </a:p>
        </p:txBody>
      </p:sp>
      <p:sp>
        <p:nvSpPr>
          <p:cNvPr id="15" name="Text 11"/>
          <p:cNvSpPr/>
          <p:nvPr/>
        </p:nvSpPr>
        <p:spPr>
          <a:xfrm>
            <a:off x="1062533" y="5107838"/>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2</a:t>
            </a:r>
            <a:endParaRPr lang="en-US" sz="1100" dirty="0"/>
          </a:p>
        </p:txBody>
      </p:sp>
      <p:sp>
        <p:nvSpPr>
          <p:cNvPr id="16" name="Text 12"/>
          <p:cNvSpPr/>
          <p:nvPr/>
        </p:nvSpPr>
        <p:spPr>
          <a:xfrm>
            <a:off x="1355141" y="5107838"/>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不審者の侵入を防ぐセキュリティと連携</a:t>
            </a:r>
            <a:endParaRPr lang="en-US" sz="1100" dirty="0"/>
          </a:p>
        </p:txBody>
      </p:sp>
      <p:sp>
        <p:nvSpPr>
          <p:cNvPr id="17" name="Text 13"/>
          <p:cNvSpPr/>
          <p:nvPr/>
        </p:nvSpPr>
        <p:spPr>
          <a:xfrm>
            <a:off x="1062533" y="5510174"/>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3</a:t>
            </a:r>
            <a:endParaRPr lang="en-US" sz="1100" dirty="0"/>
          </a:p>
        </p:txBody>
      </p:sp>
      <p:sp>
        <p:nvSpPr>
          <p:cNvPr id="18" name="Text 14"/>
          <p:cNvSpPr/>
          <p:nvPr/>
        </p:nvSpPr>
        <p:spPr>
          <a:xfrm>
            <a:off x="1355141" y="5510174"/>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無人ならではの24時間営業も容易</a:t>
            </a:r>
            <a:endParaRPr lang="en-US" sz="1100" dirty="0"/>
          </a:p>
        </p:txBody>
      </p:sp>
      <p:sp>
        <p:nvSpPr>
          <p:cNvPr id="19" name="Shape 15"/>
          <p:cNvSpPr/>
          <p:nvPr/>
        </p:nvSpPr>
        <p:spPr>
          <a:xfrm>
            <a:off x="6164885" y="1651406"/>
            <a:ext cx="2573579" cy="2048256"/>
          </a:xfrm>
          <a:prstGeom prst="roundRect">
            <a:avLst>
              <a:gd name="adj" fmla="val 2679"/>
            </a:avLst>
          </a:prstGeom>
          <a:solidFill>
            <a:srgbClr val="FFFFFF"/>
          </a:solidFill>
          <a:ln w="9525">
            <a:solidFill>
              <a:srgbClr val="EFEAE0"/>
            </a:solidFill>
            <a:prstDash val="solid"/>
          </a:ln>
        </p:spPr>
      </p:sp>
      <p:pic>
        <p:nvPicPr>
          <p:cNvPr id="20" name="Image 2" descr="/home/user/suzuki-ceo/selfcafe-partner-deck/assets/icons/LuBellRing-green.png">    </p:cNvPr>
          <p:cNvPicPr>
            <a:picLocks noChangeAspect="1"/>
          </p:cNvPicPr>
          <p:nvPr/>
        </p:nvPicPr>
        <p:blipFill>
          <a:blip r:embed="rId3"/>
          <a:stretch>
            <a:fillRect/>
          </a:stretch>
        </p:blipFill>
        <p:spPr>
          <a:xfrm>
            <a:off x="6402629" y="1889150"/>
            <a:ext cx="347472" cy="347472"/>
          </a:xfrm>
          <a:prstGeom prst="rect">
            <a:avLst/>
          </a:prstGeom>
        </p:spPr>
      </p:pic>
      <p:sp>
        <p:nvSpPr>
          <p:cNvPr id="21" name="Text 16"/>
          <p:cNvSpPr/>
          <p:nvPr/>
        </p:nvSpPr>
        <p:spPr>
          <a:xfrm>
            <a:off x="6402629"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非常ボタン</a:t>
            </a:r>
            <a:endParaRPr lang="en-US" sz="1300" dirty="0"/>
          </a:p>
        </p:txBody>
      </p:sp>
      <p:sp>
        <p:nvSpPr>
          <p:cNvPr id="22" name="Text 17"/>
          <p:cNvSpPr/>
          <p:nvPr/>
        </p:nvSpPr>
        <p:spPr>
          <a:xfrm>
            <a:off x="6402629"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非常・緊急時に押すと、警備員が駆け付けます。</a:t>
            </a:r>
            <a:endParaRPr lang="en-US" sz="1000" dirty="0"/>
          </a:p>
        </p:txBody>
      </p:sp>
      <p:sp>
        <p:nvSpPr>
          <p:cNvPr id="23" name="Shape 18"/>
          <p:cNvSpPr/>
          <p:nvPr/>
        </p:nvSpPr>
        <p:spPr>
          <a:xfrm>
            <a:off x="8957920" y="1651406"/>
            <a:ext cx="2573579" cy="2048256"/>
          </a:xfrm>
          <a:prstGeom prst="roundRect">
            <a:avLst>
              <a:gd name="adj" fmla="val 2679"/>
            </a:avLst>
          </a:prstGeom>
          <a:solidFill>
            <a:srgbClr val="FFFFFF"/>
          </a:solidFill>
          <a:ln w="9525">
            <a:solidFill>
              <a:srgbClr val="EFEAE0"/>
            </a:solidFill>
            <a:prstDash val="solid"/>
          </a:ln>
        </p:spPr>
      </p:sp>
      <p:pic>
        <p:nvPicPr>
          <p:cNvPr id="24" name="Image 3" descr="/home/user/suzuki-ceo/selfcafe-partner-deck/assets/icons/LuCctv-green.png">    </p:cNvPr>
          <p:cNvPicPr>
            <a:picLocks noChangeAspect="1"/>
          </p:cNvPicPr>
          <p:nvPr/>
        </p:nvPicPr>
        <p:blipFill>
          <a:blip r:embed="rId4"/>
          <a:stretch>
            <a:fillRect/>
          </a:stretch>
        </p:blipFill>
        <p:spPr>
          <a:xfrm>
            <a:off x="9195664" y="1889150"/>
            <a:ext cx="347472" cy="347472"/>
          </a:xfrm>
          <a:prstGeom prst="rect">
            <a:avLst/>
          </a:prstGeom>
        </p:spPr>
      </p:pic>
      <p:sp>
        <p:nvSpPr>
          <p:cNvPr id="25" name="Text 19"/>
          <p:cNvSpPr/>
          <p:nvPr/>
        </p:nvSpPr>
        <p:spPr>
          <a:xfrm>
            <a:off x="9195664"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画像センサー</a:t>
            </a:r>
            <a:endParaRPr lang="en-US" sz="1300" dirty="0"/>
          </a:p>
        </p:txBody>
      </p:sp>
      <p:sp>
        <p:nvSpPr>
          <p:cNvPr id="26" name="Text 20"/>
          <p:cNvSpPr/>
          <p:nvPr/>
        </p:nvSpPr>
        <p:spPr>
          <a:xfrm>
            <a:off x="9195664"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非常時の映像を監視センターへ送信。スピーカーで威嚇可能。閉店後は侵入者を感知して通報します。</a:t>
            </a:r>
            <a:endParaRPr lang="en-US" sz="1000" dirty="0"/>
          </a:p>
        </p:txBody>
      </p:sp>
      <p:sp>
        <p:nvSpPr>
          <p:cNvPr id="27" name="Shape 21"/>
          <p:cNvSpPr/>
          <p:nvPr/>
        </p:nvSpPr>
        <p:spPr>
          <a:xfrm>
            <a:off x="6164885" y="3919118"/>
            <a:ext cx="2573579" cy="2048256"/>
          </a:xfrm>
          <a:prstGeom prst="roundRect">
            <a:avLst>
              <a:gd name="adj" fmla="val 2679"/>
            </a:avLst>
          </a:prstGeom>
          <a:solidFill>
            <a:srgbClr val="FFFFFF"/>
          </a:solidFill>
          <a:ln w="9525">
            <a:solidFill>
              <a:srgbClr val="EFEAE0"/>
            </a:solidFill>
            <a:prstDash val="solid"/>
          </a:ln>
        </p:spPr>
      </p:sp>
      <p:pic>
        <p:nvPicPr>
          <p:cNvPr id="28" name="Image 4" descr="/home/user/suzuki-ceo/selfcafe-partner-deck/assets/icons/LuFlame-green.png">    </p:cNvPr>
          <p:cNvPicPr>
            <a:picLocks noChangeAspect="1"/>
          </p:cNvPicPr>
          <p:nvPr/>
        </p:nvPicPr>
        <p:blipFill>
          <a:blip r:embed="rId5"/>
          <a:stretch>
            <a:fillRect/>
          </a:stretch>
        </p:blipFill>
        <p:spPr>
          <a:xfrm>
            <a:off x="6402629" y="4156862"/>
            <a:ext cx="347472" cy="347472"/>
          </a:xfrm>
          <a:prstGeom prst="rect">
            <a:avLst/>
          </a:prstGeom>
        </p:spPr>
      </p:pic>
      <p:sp>
        <p:nvSpPr>
          <p:cNvPr id="29" name="Text 22"/>
          <p:cNvSpPr/>
          <p:nvPr/>
        </p:nvSpPr>
        <p:spPr>
          <a:xfrm>
            <a:off x="6402629"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火災センサー</a:t>
            </a:r>
            <a:endParaRPr lang="en-US" sz="1300" dirty="0"/>
          </a:p>
        </p:txBody>
      </p:sp>
      <p:sp>
        <p:nvSpPr>
          <p:cNvPr id="30" name="Text 23"/>
          <p:cNvSpPr/>
          <p:nvPr/>
        </p:nvSpPr>
        <p:spPr>
          <a:xfrm>
            <a:off x="6402629"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火災の発生を感知して、警備員が駆け付けます。</a:t>
            </a:r>
            <a:endParaRPr lang="en-US" sz="1000" dirty="0"/>
          </a:p>
        </p:txBody>
      </p:sp>
      <p:sp>
        <p:nvSpPr>
          <p:cNvPr id="31" name="Shape 24"/>
          <p:cNvSpPr/>
          <p:nvPr/>
        </p:nvSpPr>
        <p:spPr>
          <a:xfrm>
            <a:off x="8957920" y="3919118"/>
            <a:ext cx="2573579" cy="2048256"/>
          </a:xfrm>
          <a:prstGeom prst="roundRect">
            <a:avLst>
              <a:gd name="adj" fmla="val 2679"/>
            </a:avLst>
          </a:prstGeom>
          <a:solidFill>
            <a:srgbClr val="FFFFFF"/>
          </a:solidFill>
          <a:ln w="9525">
            <a:solidFill>
              <a:srgbClr val="EFEAE0"/>
            </a:solidFill>
            <a:prstDash val="solid"/>
          </a:ln>
        </p:spPr>
      </p:sp>
      <p:pic>
        <p:nvPicPr>
          <p:cNvPr id="32" name="Image 5" descr="/home/user/suzuki-ceo/selfcafe-partner-deck/assets/icons/LuKeyRound-green.png">    </p:cNvPr>
          <p:cNvPicPr>
            <a:picLocks noChangeAspect="1"/>
          </p:cNvPicPr>
          <p:nvPr/>
        </p:nvPicPr>
        <p:blipFill>
          <a:blip r:embed="rId6"/>
          <a:stretch>
            <a:fillRect/>
          </a:stretch>
        </p:blipFill>
        <p:spPr>
          <a:xfrm>
            <a:off x="9195664" y="4156862"/>
            <a:ext cx="347472" cy="347472"/>
          </a:xfrm>
          <a:prstGeom prst="rect">
            <a:avLst/>
          </a:prstGeom>
        </p:spPr>
      </p:pic>
      <p:sp>
        <p:nvSpPr>
          <p:cNvPr id="33" name="Text 25"/>
          <p:cNvSpPr/>
          <p:nvPr/>
        </p:nvSpPr>
        <p:spPr>
          <a:xfrm>
            <a:off x="9195664"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出入口の管理</a:t>
            </a:r>
            <a:endParaRPr lang="en-US" sz="1300" dirty="0"/>
          </a:p>
        </p:txBody>
      </p:sp>
      <p:sp>
        <p:nvSpPr>
          <p:cNvPr id="34" name="Text 26"/>
          <p:cNvSpPr/>
          <p:nvPr/>
        </p:nvSpPr>
        <p:spPr>
          <a:xfrm>
            <a:off x="9195664"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電気錠・電磁錠や自動ドアと連携し、閉店／開店時間に自動施錠・開錠。閉店時は自動で侵入警戒をセットします。</a:t>
            </a:r>
            <a:endParaRPr lang="en-US" sz="1000" dirty="0"/>
          </a:p>
        </p:txBody>
      </p:sp>
      <p:sp>
        <p:nvSpPr>
          <p:cNvPr id="35"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警備会社は環境により異なる場合がございます。</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16</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店内モニタリング＆サポート基盤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緊急時に強い、安心のサポート体制で無人運営を支えます。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17</a:t>
            </a:r>
            <a:endParaRPr lang="en-US" sz="1000" dirty="0"/>
          </a:p>
        </p:txBody>
      </p:sp>
      <p:sp>
        <p:nvSpPr>
          <p:cNvPr id="9" name="Shape 6"/>
          <p:cNvSpPr/>
          <p:nvPr/>
        </p:nvSpPr>
        <p:spPr>
          <a:xfrm>
            <a:off x="660197" y="1651406"/>
            <a:ext cx="5120640" cy="2798064"/>
          </a:xfrm>
          <a:prstGeom prst="roundRect">
            <a:avLst>
              <a:gd name="adj" fmla="val 1961"/>
            </a:avLst>
          </a:prstGeom>
          <a:solidFill>
            <a:srgbClr val="0C5230"/>
          </a:solidFill>
          <a:ln/>
        </p:spPr>
      </p:sp>
      <p:sp>
        <p:nvSpPr>
          <p:cNvPr id="10" name="Text 7"/>
          <p:cNvSpPr/>
          <p:nvPr/>
        </p:nvSpPr>
        <p:spPr>
          <a:xfrm>
            <a:off x="1062533" y="1944014"/>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SUPPORT</a:t>
            </a:r>
            <a:endParaRPr lang="en-US" sz="900" dirty="0"/>
          </a:p>
        </p:txBody>
      </p:sp>
      <p:sp>
        <p:nvSpPr>
          <p:cNvPr id="11" name="Text 8"/>
          <p:cNvSpPr/>
          <p:nvPr/>
        </p:nvSpPr>
        <p:spPr>
          <a:xfrm>
            <a:off x="1062533" y="2273198"/>
            <a:ext cx="4315968" cy="914400"/>
          </a:xfrm>
          <a:prstGeom prst="rect">
            <a:avLst/>
          </a:prstGeom>
          <a:noFill/>
          <a:ln/>
        </p:spPr>
        <p:txBody>
          <a:bodyPr wrap="square" lIns="0" tIns="0" rIns="0" bIns="0" rtlCol="0" anchor="t"/>
          <a:lstStyle/>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災害・体調不良・不審者。</a:t>
            </a:r>
            <a:endParaRPr lang="en-US" sz="1900" dirty="0"/>
          </a:p>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あらゆる緊急事態に備える。</a:t>
            </a:r>
            <a:endParaRPr lang="en-US" sz="1900" dirty="0"/>
          </a:p>
        </p:txBody>
      </p:sp>
      <p:sp>
        <p:nvSpPr>
          <p:cNvPr id="12" name="Text 9"/>
          <p:cNvSpPr/>
          <p:nvPr/>
        </p:nvSpPr>
        <p:spPr>
          <a:xfrm>
            <a:off x="1062533" y="3315614"/>
            <a:ext cx="4315968" cy="658368"/>
          </a:xfrm>
          <a:prstGeom prst="rect">
            <a:avLst/>
          </a:prstGeom>
          <a:noFill/>
          <a:ln/>
        </p:spPr>
        <p:txBody>
          <a:bodyPr wrap="square" lIns="0" tIns="0" rIns="0" bIns="0" rtlCol="0" anchor="t"/>
          <a:lstStyle/>
          <a:p>
            <a:pPr indent="0" marL="0">
              <a:lnSpc>
                <a:spcPct val="145000"/>
              </a:lnSpc>
              <a:buNone/>
            </a:pPr>
            <a:r>
              <a:rPr lang="en-US" sz="1050" dirty="0">
                <a:solidFill>
                  <a:srgbClr val="AFC2B8"/>
                </a:solidFill>
                <a:latin typeface="Yu Gothic" pitchFamily="34" charset="0"/>
                <a:ea typeface="Yu Gothic" pitchFamily="34" charset="-122"/>
                <a:cs typeface="Yu Gothic" pitchFamily="34" charset="-120"/>
              </a:rPr>
              <a:t>店内の各所に非常ボタンを設置し、お客様同士のトラブルまで幅広く対応。6台以上のカメラによるモニタリングで、お問い合わせにも即時対応します。</a:t>
            </a:r>
            <a:endParaRPr lang="en-US" sz="1050" dirty="0"/>
          </a:p>
        </p:txBody>
      </p:sp>
      <p:pic>
        <p:nvPicPr>
          <p:cNvPr id="13" name="Image 1" descr="/home/user/suzuki-ceo/selfcafe-partner-deck/assets/icons/LuBellRing-pale.png">    </p:cNvPr>
          <p:cNvPicPr>
            <a:picLocks noChangeAspect="1"/>
          </p:cNvPicPr>
          <p:nvPr/>
        </p:nvPicPr>
        <p:blipFill>
          <a:blip r:embed="rId2"/>
          <a:stretch>
            <a:fillRect/>
          </a:stretch>
        </p:blipFill>
        <p:spPr>
          <a:xfrm>
            <a:off x="1382573" y="3955694"/>
            <a:ext cx="274320" cy="274320"/>
          </a:xfrm>
          <a:prstGeom prst="rect">
            <a:avLst/>
          </a:prstGeom>
        </p:spPr>
      </p:pic>
      <p:sp>
        <p:nvSpPr>
          <p:cNvPr id="14" name="Text 10"/>
          <p:cNvSpPr/>
          <p:nvPr/>
        </p:nvSpPr>
        <p:spPr>
          <a:xfrm>
            <a:off x="833933"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非常ボタン</a:t>
            </a:r>
            <a:endParaRPr lang="en-US" sz="800" dirty="0"/>
          </a:p>
        </p:txBody>
      </p:sp>
      <p:pic>
        <p:nvPicPr>
          <p:cNvPr id="15" name="Image 2" descr="/home/user/suzuki-ceo/selfcafe-partner-deck/assets/icons/LuCctv-pale.png">    </p:cNvPr>
          <p:cNvPicPr>
            <a:picLocks noChangeAspect="1"/>
          </p:cNvPicPr>
          <p:nvPr/>
        </p:nvPicPr>
        <p:blipFill>
          <a:blip r:embed="rId3"/>
          <a:stretch>
            <a:fillRect/>
          </a:stretch>
        </p:blipFill>
        <p:spPr>
          <a:xfrm>
            <a:off x="2918765" y="3955694"/>
            <a:ext cx="274320" cy="274320"/>
          </a:xfrm>
          <a:prstGeom prst="rect">
            <a:avLst/>
          </a:prstGeom>
        </p:spPr>
      </p:pic>
      <p:sp>
        <p:nvSpPr>
          <p:cNvPr id="16" name="Text 11"/>
          <p:cNvSpPr/>
          <p:nvPr/>
        </p:nvSpPr>
        <p:spPr>
          <a:xfrm>
            <a:off x="2370125"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常時モニタリング</a:t>
            </a:r>
            <a:endParaRPr lang="en-US" sz="800" dirty="0"/>
          </a:p>
        </p:txBody>
      </p:sp>
      <p:pic>
        <p:nvPicPr>
          <p:cNvPr id="17" name="Image 3" descr="/home/user/suzuki-ceo/selfcafe-partner-deck/assets/icons/LuFlame-pale.png">    </p:cNvPr>
          <p:cNvPicPr>
            <a:picLocks noChangeAspect="1"/>
          </p:cNvPicPr>
          <p:nvPr/>
        </p:nvPicPr>
        <p:blipFill>
          <a:blip r:embed="rId4"/>
          <a:stretch>
            <a:fillRect/>
          </a:stretch>
        </p:blipFill>
        <p:spPr>
          <a:xfrm>
            <a:off x="4454957" y="3955694"/>
            <a:ext cx="274320" cy="274320"/>
          </a:xfrm>
          <a:prstGeom prst="rect">
            <a:avLst/>
          </a:prstGeom>
        </p:spPr>
      </p:pic>
      <p:sp>
        <p:nvSpPr>
          <p:cNvPr id="18" name="Text 12"/>
          <p:cNvSpPr/>
          <p:nvPr/>
        </p:nvSpPr>
        <p:spPr>
          <a:xfrm>
            <a:off x="3906317"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火災センサー</a:t>
            </a:r>
            <a:endParaRPr lang="en-US" sz="800" dirty="0"/>
          </a:p>
        </p:txBody>
      </p:sp>
      <p:sp>
        <p:nvSpPr>
          <p:cNvPr id="19" name="Shape 13"/>
          <p:cNvSpPr/>
          <p:nvPr/>
        </p:nvSpPr>
        <p:spPr>
          <a:xfrm>
            <a:off x="660197" y="4595774"/>
            <a:ext cx="5120640" cy="1371600"/>
          </a:xfrm>
          <a:prstGeom prst="roundRect">
            <a:avLst>
              <a:gd name="adj" fmla="val 4000"/>
            </a:avLst>
          </a:prstGeom>
          <a:solidFill>
            <a:srgbClr val="F1F8F3"/>
          </a:solidFill>
          <a:ln w="9525">
            <a:solidFill>
              <a:srgbClr val="D2E7DA"/>
            </a:solidFill>
            <a:prstDash val="solid"/>
          </a:ln>
        </p:spPr>
      </p:sp>
      <p:pic>
        <p:nvPicPr>
          <p:cNvPr id="20" name="Image 4" descr="/home/user/suzuki-ceo/selfcafe-partner-deck/assets/icons/LuShieldCheck-green.png">    </p:cNvPr>
          <p:cNvPicPr>
            <a:picLocks noChangeAspect="1"/>
          </p:cNvPicPr>
          <p:nvPr/>
        </p:nvPicPr>
        <p:blipFill>
          <a:blip r:embed="rId5"/>
          <a:stretch>
            <a:fillRect/>
          </a:stretch>
        </p:blipFill>
        <p:spPr>
          <a:xfrm>
            <a:off x="934517" y="4851806"/>
            <a:ext cx="457200" cy="457200"/>
          </a:xfrm>
          <a:prstGeom prst="rect">
            <a:avLst/>
          </a:prstGeom>
        </p:spPr>
      </p:pic>
      <p:sp>
        <p:nvSpPr>
          <p:cNvPr id="21" name="Text 14"/>
          <p:cNvSpPr/>
          <p:nvPr/>
        </p:nvSpPr>
        <p:spPr>
          <a:xfrm>
            <a:off x="1574597" y="4778654"/>
            <a:ext cx="3931920"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警備会社と連携（ALSOK・SECOM 等）</a:t>
            </a:r>
            <a:endParaRPr lang="en-US" sz="1300" dirty="0"/>
          </a:p>
        </p:txBody>
      </p:sp>
      <p:sp>
        <p:nvSpPr>
          <p:cNvPr id="22" name="Text 15"/>
          <p:cNvSpPr/>
          <p:nvPr/>
        </p:nvSpPr>
        <p:spPr>
          <a:xfrm>
            <a:off x="1574597" y="5071262"/>
            <a:ext cx="3931920" cy="512064"/>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非常時には警備員が駆けつけ。スマートロック・侵入検知と連動した警備体制です。</a:t>
            </a:r>
            <a:endParaRPr lang="en-US" sz="1000" dirty="0"/>
          </a:p>
        </p:txBody>
      </p:sp>
      <p:sp>
        <p:nvSpPr>
          <p:cNvPr id="23" name="Text 16"/>
          <p:cNvSpPr/>
          <p:nvPr/>
        </p:nvSpPr>
        <p:spPr>
          <a:xfrm>
            <a:off x="1574597" y="5638190"/>
            <a:ext cx="3931920" cy="182880"/>
          </a:xfrm>
          <a:prstGeom prst="rect">
            <a:avLst/>
          </a:prstGeom>
          <a:noFill/>
          <a:ln/>
        </p:spPr>
        <p:txBody>
          <a:bodyPr wrap="square" lIns="0" tIns="0" rIns="0" bIns="0" rtlCol="0" anchor="ctr"/>
          <a:lstStyle/>
          <a:p>
            <a:pPr indent="0" marL="0">
              <a:buNone/>
            </a:pPr>
            <a:r>
              <a:rPr lang="en-US" sz="800" dirty="0">
                <a:solidFill>
                  <a:srgbClr val="7E8882"/>
                </a:solidFill>
                <a:latin typeface="Yu Gothic" pitchFamily="34" charset="0"/>
                <a:ea typeface="Yu Gothic" pitchFamily="34" charset="-122"/>
                <a:cs typeface="Yu Gothic" pitchFamily="34" charset="-120"/>
              </a:rPr>
              <a:t>※ 連携する警備会社は物件・環境により異なります。</a:t>
            </a:r>
            <a:endParaRPr lang="en-US" sz="800" dirty="0"/>
          </a:p>
        </p:txBody>
      </p:sp>
      <p:sp>
        <p:nvSpPr>
          <p:cNvPr id="24" name="Shape 17"/>
          <p:cNvSpPr/>
          <p:nvPr/>
        </p:nvSpPr>
        <p:spPr>
          <a:xfrm>
            <a:off x="6164885" y="1651406"/>
            <a:ext cx="5366614" cy="1316736"/>
          </a:xfrm>
          <a:prstGeom prst="roundRect">
            <a:avLst>
              <a:gd name="adj" fmla="val 4167"/>
            </a:avLst>
          </a:prstGeom>
          <a:solidFill>
            <a:srgbClr val="FFFFFF"/>
          </a:solidFill>
          <a:ln w="9525">
            <a:solidFill>
              <a:srgbClr val="EFEAE0"/>
            </a:solidFill>
            <a:prstDash val="solid"/>
          </a:ln>
        </p:spPr>
      </p:sp>
      <p:pic>
        <p:nvPicPr>
          <p:cNvPr id="25" name="Image 5" descr="/home/user/suzuki-ceo/selfcafe-partner-deck/assets/icons/LuVideo-green.png">    </p:cNvPr>
          <p:cNvPicPr>
            <a:picLocks noChangeAspect="1"/>
          </p:cNvPicPr>
          <p:nvPr/>
        </p:nvPicPr>
        <p:blipFill>
          <a:blip r:embed="rId6"/>
          <a:stretch>
            <a:fillRect/>
          </a:stretch>
        </p:blipFill>
        <p:spPr>
          <a:xfrm>
            <a:off x="6420917" y="1889150"/>
            <a:ext cx="329184" cy="329184"/>
          </a:xfrm>
          <a:prstGeom prst="rect">
            <a:avLst/>
          </a:prstGeom>
        </p:spPr>
      </p:pic>
      <p:sp>
        <p:nvSpPr>
          <p:cNvPr id="26" name="Text 18"/>
          <p:cNvSpPr/>
          <p:nvPr/>
        </p:nvSpPr>
        <p:spPr>
          <a:xfrm>
            <a:off x="6896405" y="1870862"/>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6台以上</a:t>
            </a:r>
            <a:r>
              <a:rPr lang="en-US" sz="1300" b="1" dirty="0">
                <a:solidFill>
                  <a:srgbClr val="0A3D23"/>
                </a:solidFill>
                <a:latin typeface="Yu Gothic" pitchFamily="34" charset="0"/>
                <a:ea typeface="Yu Gothic" pitchFamily="34" charset="-122"/>
                <a:cs typeface="Yu Gothic" pitchFamily="34" charset="-120"/>
              </a:rPr>
              <a:t>  カメラモニタリング</a:t>
            </a:r>
            <a:endParaRPr lang="en-US" sz="1800" dirty="0"/>
          </a:p>
        </p:txBody>
      </p:sp>
      <p:sp>
        <p:nvSpPr>
          <p:cNvPr id="27" name="Text 19"/>
          <p:cNvSpPr/>
          <p:nvPr/>
        </p:nvSpPr>
        <p:spPr>
          <a:xfrm>
            <a:off x="6896405" y="2273198"/>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店内を多角的に常時監視。死角を作らない配置で異常を早期に把握します。</a:t>
            </a:r>
            <a:endParaRPr lang="en-US" sz="1000" dirty="0"/>
          </a:p>
        </p:txBody>
      </p:sp>
      <p:sp>
        <p:nvSpPr>
          <p:cNvPr id="28" name="Shape 20"/>
          <p:cNvSpPr/>
          <p:nvPr/>
        </p:nvSpPr>
        <p:spPr>
          <a:xfrm>
            <a:off x="6164885" y="3151022"/>
            <a:ext cx="5366614" cy="1316736"/>
          </a:xfrm>
          <a:prstGeom prst="roundRect">
            <a:avLst>
              <a:gd name="adj" fmla="val 4167"/>
            </a:avLst>
          </a:prstGeom>
          <a:solidFill>
            <a:srgbClr val="FFFFFF"/>
          </a:solidFill>
          <a:ln w="9525">
            <a:solidFill>
              <a:srgbClr val="EFEAE0"/>
            </a:solidFill>
            <a:prstDash val="solid"/>
          </a:ln>
        </p:spPr>
      </p:sp>
      <p:pic>
        <p:nvPicPr>
          <p:cNvPr id="29" name="Image 6" descr="/home/user/suzuki-ceo/selfcafe-partner-deck/assets/icons/LuMic-green.png">    </p:cNvPr>
          <p:cNvPicPr>
            <a:picLocks noChangeAspect="1"/>
          </p:cNvPicPr>
          <p:nvPr/>
        </p:nvPicPr>
        <p:blipFill>
          <a:blip r:embed="rId7"/>
          <a:stretch>
            <a:fillRect/>
          </a:stretch>
        </p:blipFill>
        <p:spPr>
          <a:xfrm>
            <a:off x="6420917" y="3388766"/>
            <a:ext cx="329184" cy="329184"/>
          </a:xfrm>
          <a:prstGeom prst="rect">
            <a:avLst/>
          </a:prstGeom>
        </p:spPr>
      </p:pic>
      <p:sp>
        <p:nvSpPr>
          <p:cNvPr id="30" name="Text 21"/>
          <p:cNvSpPr/>
          <p:nvPr/>
        </p:nvSpPr>
        <p:spPr>
          <a:xfrm>
            <a:off x="6896405" y="3370478"/>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双方向</a:t>
            </a:r>
            <a:r>
              <a:rPr lang="en-US" sz="1300" b="1" dirty="0">
                <a:solidFill>
                  <a:srgbClr val="0A3D23"/>
                </a:solidFill>
                <a:latin typeface="Yu Gothic" pitchFamily="34" charset="0"/>
                <a:ea typeface="Yu Gothic" pitchFamily="34" charset="-122"/>
                <a:cs typeface="Yu Gothic" pitchFamily="34" charset="-120"/>
              </a:rPr>
              <a:t>  音声対応</a:t>
            </a:r>
            <a:endParaRPr lang="en-US" sz="1800" dirty="0"/>
          </a:p>
        </p:txBody>
      </p:sp>
      <p:sp>
        <p:nvSpPr>
          <p:cNvPr id="31" name="Text 22"/>
          <p:cNvSpPr/>
          <p:nvPr/>
        </p:nvSpPr>
        <p:spPr>
          <a:xfrm>
            <a:off x="6896405" y="3772814"/>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カメラはスタッフとお客様が直接やり取りできる双方向音声に対応。その場で声がけやサポートを行えます。</a:t>
            </a:r>
            <a:endParaRPr lang="en-US" sz="1000" dirty="0"/>
          </a:p>
        </p:txBody>
      </p:sp>
      <p:sp>
        <p:nvSpPr>
          <p:cNvPr id="32" name="Shape 23"/>
          <p:cNvSpPr/>
          <p:nvPr/>
        </p:nvSpPr>
        <p:spPr>
          <a:xfrm>
            <a:off x="6164885" y="4650638"/>
            <a:ext cx="5366614" cy="1316736"/>
          </a:xfrm>
          <a:prstGeom prst="roundRect">
            <a:avLst>
              <a:gd name="adj" fmla="val 4167"/>
            </a:avLst>
          </a:prstGeom>
          <a:solidFill>
            <a:srgbClr val="FFFFFF"/>
          </a:solidFill>
          <a:ln w="9525">
            <a:solidFill>
              <a:srgbClr val="EFEAE0"/>
            </a:solidFill>
            <a:prstDash val="solid"/>
          </a:ln>
        </p:spPr>
      </p:sp>
      <p:pic>
        <p:nvPicPr>
          <p:cNvPr id="33" name="Image 7" descr="/home/user/suzuki-ceo/selfcafe-partner-deck/assets/icons/LuMessageCircle-green.png">    </p:cNvPr>
          <p:cNvPicPr>
            <a:picLocks noChangeAspect="1"/>
          </p:cNvPicPr>
          <p:nvPr/>
        </p:nvPicPr>
        <p:blipFill>
          <a:blip r:embed="rId8"/>
          <a:stretch>
            <a:fillRect/>
          </a:stretch>
        </p:blipFill>
        <p:spPr>
          <a:xfrm>
            <a:off x="6420917" y="4888382"/>
            <a:ext cx="329184" cy="329184"/>
          </a:xfrm>
          <a:prstGeom prst="rect">
            <a:avLst/>
          </a:prstGeom>
        </p:spPr>
      </p:pic>
      <p:sp>
        <p:nvSpPr>
          <p:cNvPr id="34" name="Text 24"/>
          <p:cNvSpPr/>
          <p:nvPr/>
        </p:nvSpPr>
        <p:spPr>
          <a:xfrm>
            <a:off x="6896405" y="4870094"/>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即時</a:t>
            </a:r>
            <a:r>
              <a:rPr lang="en-US" sz="1300" b="1" dirty="0">
                <a:solidFill>
                  <a:srgbClr val="0A3D23"/>
                </a:solidFill>
                <a:latin typeface="Yu Gothic" pitchFamily="34" charset="0"/>
                <a:ea typeface="Yu Gothic" pitchFamily="34" charset="-122"/>
                <a:cs typeface="Yu Gothic" pitchFamily="34" charset="-120"/>
              </a:rPr>
              <a:t>  LINEチャット対応</a:t>
            </a:r>
            <a:endParaRPr lang="en-US" sz="1800" dirty="0"/>
          </a:p>
        </p:txBody>
      </p:sp>
      <p:sp>
        <p:nvSpPr>
          <p:cNvPr id="35" name="Text 25"/>
          <p:cNvSpPr/>
          <p:nvPr/>
        </p:nvSpPr>
        <p:spPr>
          <a:xfrm>
            <a:off x="6896405" y="5272430"/>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お客様からのお問い合わせに即時対応。※パートナー店では営業サポートプラン（有料オプション）として提供します。</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17</a:t>
            </a:r>
            <a:r>
              <a:rPr lang="en-US" sz="1050" b="1" dirty="0">
                <a:solidFill>
                  <a:srgbClr val="1B8149"/>
                </a:solidFill>
                <a:latin typeface="Yu Gothic" pitchFamily="34" charset="0"/>
                <a:ea typeface="Yu Gothic" pitchFamily="34" charset="-122"/>
                <a:cs typeface="Yu Gothic" pitchFamily="34" charset="-120"/>
              </a:rPr>
              <a:t>   オーナー様の業務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やることは清掃と補充だけ。1日約15分。</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既存スタッフの稼働内で完結し、それすら委託することもできます。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18</a:t>
            </a:r>
            <a:endParaRPr lang="en-US" sz="1000" dirty="0"/>
          </a:p>
        </p:txBody>
      </p:sp>
      <p:sp>
        <p:nvSpPr>
          <p:cNvPr id="9" name="Text 6"/>
          <p:cNvSpPr/>
          <p:nvPr/>
        </p:nvSpPr>
        <p:spPr>
          <a:xfrm>
            <a:off x="660197" y="1651406"/>
            <a:ext cx="6309360" cy="658368"/>
          </a:xfrm>
          <a:prstGeom prst="rect">
            <a:avLst/>
          </a:prstGeom>
          <a:noFill/>
          <a:ln/>
        </p:spPr>
        <p:txBody>
          <a:bodyPr wrap="square" lIns="0" tIns="0" rIns="0" bIns="0" rtlCol="0" anchor="ctr"/>
          <a:lstStyle/>
          <a:p>
            <a:pPr indent="0" marL="0">
              <a:buNone/>
            </a:pPr>
            <a:r>
              <a:rPr lang="en-US" sz="4000" b="1" dirty="0">
                <a:solidFill>
                  <a:srgbClr val="106838"/>
                </a:solidFill>
                <a:latin typeface="Yu Gothic" pitchFamily="34" charset="0"/>
                <a:ea typeface="Yu Gothic" pitchFamily="34" charset="-122"/>
                <a:cs typeface="Yu Gothic" pitchFamily="34" charset="-120"/>
              </a:rPr>
              <a:t>約15分</a:t>
            </a:r>
            <a:r>
              <a:rPr lang="en-US" sz="1800" b="1" dirty="0">
                <a:solidFill>
                  <a:srgbClr val="106838"/>
                </a:solidFill>
                <a:latin typeface="Yu Gothic" pitchFamily="34" charset="0"/>
                <a:ea typeface="Yu Gothic" pitchFamily="34" charset="-122"/>
                <a:cs typeface="Yu Gothic" pitchFamily="34" charset="-120"/>
              </a:rPr>
              <a:t> ／日</a:t>
            </a:r>
            <a:endParaRPr lang="en-US" sz="4000" dirty="0"/>
          </a:p>
        </p:txBody>
      </p:sp>
      <p:sp>
        <p:nvSpPr>
          <p:cNvPr id="10" name="Shape 7"/>
          <p:cNvSpPr/>
          <p:nvPr/>
        </p:nvSpPr>
        <p:spPr>
          <a:xfrm>
            <a:off x="660197" y="2474366"/>
            <a:ext cx="6309360" cy="786384"/>
          </a:xfrm>
          <a:prstGeom prst="roundRect">
            <a:avLst>
              <a:gd name="adj" fmla="val 6977"/>
            </a:avLst>
          </a:prstGeom>
          <a:solidFill>
            <a:srgbClr val="F1F8F3"/>
          </a:solidFill>
          <a:ln w="9525">
            <a:solidFill>
              <a:srgbClr val="D2E7DA"/>
            </a:solidFill>
            <a:prstDash val="solid"/>
          </a:ln>
        </p:spPr>
      </p:sp>
      <p:sp>
        <p:nvSpPr>
          <p:cNvPr id="11" name="Text 8"/>
          <p:cNvSpPr/>
          <p:nvPr/>
        </p:nvSpPr>
        <p:spPr>
          <a:xfrm>
            <a:off x="934517" y="2584094"/>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① 店内清掃</a:t>
            </a:r>
            <a:endParaRPr lang="en-US" sz="1250" dirty="0"/>
          </a:p>
        </p:txBody>
      </p:sp>
      <p:sp>
        <p:nvSpPr>
          <p:cNvPr id="12" name="Text 9"/>
          <p:cNvSpPr/>
          <p:nvPr/>
        </p:nvSpPr>
        <p:spPr>
          <a:xfrm>
            <a:off x="934517" y="2876702"/>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テーブル・床・トイレの清掃、ゴミ回収。営業前後の都合の良い時間でOK。</a:t>
            </a:r>
            <a:endParaRPr lang="en-US" sz="1050" dirty="0"/>
          </a:p>
        </p:txBody>
      </p:sp>
      <p:sp>
        <p:nvSpPr>
          <p:cNvPr id="13" name="Shape 10"/>
          <p:cNvSpPr/>
          <p:nvPr/>
        </p:nvSpPr>
        <p:spPr>
          <a:xfrm>
            <a:off x="660197" y="3370478"/>
            <a:ext cx="6309360" cy="786384"/>
          </a:xfrm>
          <a:prstGeom prst="roundRect">
            <a:avLst>
              <a:gd name="adj" fmla="val 6977"/>
            </a:avLst>
          </a:prstGeom>
          <a:solidFill>
            <a:srgbClr val="F1F8F3"/>
          </a:solidFill>
          <a:ln w="9525">
            <a:solidFill>
              <a:srgbClr val="D2E7DA"/>
            </a:solidFill>
            <a:prstDash val="solid"/>
          </a:ln>
        </p:spPr>
      </p:sp>
      <p:sp>
        <p:nvSpPr>
          <p:cNvPr id="14" name="Text 11"/>
          <p:cNvSpPr/>
          <p:nvPr/>
        </p:nvSpPr>
        <p:spPr>
          <a:xfrm>
            <a:off x="934517" y="3480206"/>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② 原料・備品の補充</a:t>
            </a:r>
            <a:endParaRPr lang="en-US" sz="1250" dirty="0"/>
          </a:p>
        </p:txBody>
      </p:sp>
      <p:sp>
        <p:nvSpPr>
          <p:cNvPr id="15" name="Text 12"/>
          <p:cNvSpPr/>
          <p:nvPr/>
        </p:nvSpPr>
        <p:spPr>
          <a:xfrm>
            <a:off x="934517" y="3772814"/>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コーヒー豆・カップ等の補充。在庫は本部から定期配送。</a:t>
            </a:r>
            <a:endParaRPr lang="en-US" sz="1050" dirty="0"/>
          </a:p>
        </p:txBody>
      </p:sp>
      <p:sp>
        <p:nvSpPr>
          <p:cNvPr id="16" name="Shape 13"/>
          <p:cNvSpPr/>
          <p:nvPr/>
        </p:nvSpPr>
        <p:spPr>
          <a:xfrm>
            <a:off x="660197" y="4266590"/>
            <a:ext cx="6309360" cy="786384"/>
          </a:xfrm>
          <a:prstGeom prst="roundRect">
            <a:avLst>
              <a:gd name="adj" fmla="val 6977"/>
            </a:avLst>
          </a:prstGeom>
          <a:solidFill>
            <a:srgbClr val="F1F8F3"/>
          </a:solidFill>
          <a:ln w="9525">
            <a:solidFill>
              <a:srgbClr val="D2E7DA"/>
            </a:solidFill>
            <a:prstDash val="solid"/>
          </a:ln>
        </p:spPr>
      </p:sp>
      <p:sp>
        <p:nvSpPr>
          <p:cNvPr id="17" name="Text 14"/>
          <p:cNvSpPr/>
          <p:nvPr/>
        </p:nvSpPr>
        <p:spPr>
          <a:xfrm>
            <a:off x="934517" y="4376318"/>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③ 発注・棚卸（月1〜2回程度）</a:t>
            </a:r>
            <a:endParaRPr lang="en-US" sz="1250" dirty="0"/>
          </a:p>
        </p:txBody>
      </p:sp>
      <p:sp>
        <p:nvSpPr>
          <p:cNvPr id="18" name="Text 15"/>
          <p:cNvSpPr/>
          <p:nvPr/>
        </p:nvSpPr>
        <p:spPr>
          <a:xfrm>
            <a:off x="934517" y="4668926"/>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定期配送に合わせた発注と在庫の棚卸のみ。</a:t>
            </a:r>
            <a:endParaRPr lang="en-US" sz="1050" dirty="0"/>
          </a:p>
        </p:txBody>
      </p:sp>
      <p:sp>
        <p:nvSpPr>
          <p:cNvPr id="19" name="Shape 16"/>
          <p:cNvSpPr/>
          <p:nvPr/>
        </p:nvSpPr>
        <p:spPr>
          <a:xfrm>
            <a:off x="660197" y="5217566"/>
            <a:ext cx="6309360" cy="859536"/>
          </a:xfrm>
          <a:prstGeom prst="roundRect">
            <a:avLst>
              <a:gd name="adj" fmla="val 6383"/>
            </a:avLst>
          </a:prstGeom>
          <a:solidFill>
            <a:srgbClr val="0C5230"/>
          </a:solidFill>
          <a:ln/>
        </p:spPr>
      </p:sp>
      <p:pic>
        <p:nvPicPr>
          <p:cNvPr id="20" name="Image 1" descr="/home/user/suzuki-ceo/selfcafe-partner-deck/assets/icons/LuLifeBuoy-pale.png">    </p:cNvPr>
          <p:cNvPicPr>
            <a:picLocks noChangeAspect="1"/>
          </p:cNvPicPr>
          <p:nvPr/>
        </p:nvPicPr>
        <p:blipFill>
          <a:blip r:embed="rId2"/>
          <a:stretch>
            <a:fillRect/>
          </a:stretch>
        </p:blipFill>
        <p:spPr>
          <a:xfrm>
            <a:off x="934517" y="5491886"/>
            <a:ext cx="329184" cy="329184"/>
          </a:xfrm>
          <a:prstGeom prst="rect">
            <a:avLst/>
          </a:prstGeom>
        </p:spPr>
      </p:pic>
      <p:sp>
        <p:nvSpPr>
          <p:cNvPr id="21" name="Text 17"/>
          <p:cNvSpPr/>
          <p:nvPr/>
        </p:nvSpPr>
        <p:spPr>
          <a:xfrm>
            <a:off x="1428293" y="5345582"/>
            <a:ext cx="5266944" cy="658368"/>
          </a:xfrm>
          <a:prstGeom prst="rect">
            <a:avLst/>
          </a:prstGeom>
          <a:noFill/>
          <a:ln/>
        </p:spPr>
        <p:txBody>
          <a:bodyPr wrap="square" lIns="0" tIns="0" rIns="0" bIns="0" rtlCol="0" anchor="ctr"/>
          <a:lstStyle/>
          <a:p>
            <a:pPr indent="0" marL="0">
              <a:lnSpc>
                <a:spcPct val="135000"/>
              </a:lnSpc>
              <a:buNone/>
            </a:pPr>
            <a:r>
              <a:rPr lang="en-US" sz="1050" b="1" dirty="0">
                <a:solidFill>
                  <a:srgbClr val="FFFFFF"/>
                </a:solidFill>
                <a:latin typeface="Yu Gothic" pitchFamily="34" charset="0"/>
                <a:ea typeface="Yu Gothic" pitchFamily="34" charset="-122"/>
                <a:cs typeface="Yu Gothic" pitchFamily="34" charset="-120"/>
              </a:rPr>
              <a:t>自分でやらない選択肢も。清掃パートナーへの委託 月3万円程度（収支モデルに計上済み）。営業サポートプランを選べば、お客様からの問い合わせもすべて本部が対応します。</a:t>
            </a:r>
            <a:endParaRPr lang="en-US" sz="1050" dirty="0"/>
          </a:p>
        </p:txBody>
      </p:sp>
      <p:pic>
        <p:nvPicPr>
          <p:cNvPr id="22" name="Image 2" descr="/home/user/suzuki-ceo/selfcafe-partner-deck/assets/photos/.crops/p05-woman-457x184.jpg">    </p:cNvPr>
          <p:cNvPicPr>
            <a:picLocks noChangeAspect="1"/>
          </p:cNvPicPr>
          <p:nvPr/>
        </p:nvPicPr>
        <p:blipFill>
          <a:blip r:embed="rId3"/>
          <a:stretch>
            <a:fillRect/>
          </a:stretch>
        </p:blipFill>
        <p:spPr>
          <a:xfrm>
            <a:off x="7353605" y="1651406"/>
            <a:ext cx="4177894" cy="1682496"/>
          </a:xfrm>
          <a:prstGeom prst="rect">
            <a:avLst/>
          </a:prstGeom>
        </p:spPr>
      </p:pic>
      <p:sp>
        <p:nvSpPr>
          <p:cNvPr id="23" name="Shape 18"/>
          <p:cNvSpPr/>
          <p:nvPr/>
        </p:nvSpPr>
        <p:spPr>
          <a:xfrm>
            <a:off x="7353605" y="1651406"/>
            <a:ext cx="4177894" cy="1682496"/>
          </a:xfrm>
          <a:prstGeom prst="rect">
            <a:avLst/>
          </a:prstGeom>
          <a:ln w="12700">
            <a:solidFill>
              <a:srgbClr val="D8D2C6"/>
            </a:solidFill>
            <a:prstDash val="solid"/>
          </a:ln>
        </p:spPr>
      </p:sp>
      <p:sp>
        <p:nvSpPr>
          <p:cNvPr id="24" name="Shape 19"/>
          <p:cNvSpPr/>
          <p:nvPr/>
        </p:nvSpPr>
        <p:spPr>
          <a:xfrm>
            <a:off x="7353605" y="3516782"/>
            <a:ext cx="4177894" cy="2560320"/>
          </a:xfrm>
          <a:prstGeom prst="roundRect">
            <a:avLst>
              <a:gd name="adj" fmla="val 2143"/>
            </a:avLst>
          </a:prstGeom>
          <a:solidFill>
            <a:srgbClr val="FFFFFF"/>
          </a:solidFill>
          <a:ln w="9525">
            <a:solidFill>
              <a:srgbClr val="EFEAE0"/>
            </a:solidFill>
            <a:prstDash val="solid"/>
          </a:ln>
        </p:spPr>
      </p:sp>
      <p:sp>
        <p:nvSpPr>
          <p:cNvPr id="25" name="Text 20"/>
          <p:cNvSpPr/>
          <p:nvPr/>
        </p:nvSpPr>
        <p:spPr>
          <a:xfrm>
            <a:off x="7627925" y="3754526"/>
            <a:ext cx="237744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GOOD TO KNOW</a:t>
            </a:r>
            <a:endParaRPr lang="en-US" sz="900" dirty="0"/>
          </a:p>
        </p:txBody>
      </p:sp>
      <p:pic>
        <p:nvPicPr>
          <p:cNvPr id="26" name="Image 3" descr="/home/user/suzuki-ceo/selfcafe-partner-deck/assets/icons/LuFileCheck-green.png">    </p:cNvPr>
          <p:cNvPicPr>
            <a:picLocks noChangeAspect="1"/>
          </p:cNvPicPr>
          <p:nvPr/>
        </p:nvPicPr>
        <p:blipFill>
          <a:blip r:embed="rId4"/>
          <a:stretch>
            <a:fillRect/>
          </a:stretch>
        </p:blipFill>
        <p:spPr>
          <a:xfrm>
            <a:off x="7627925" y="4074566"/>
            <a:ext cx="274320" cy="274320"/>
          </a:xfrm>
          <a:prstGeom prst="rect">
            <a:avLst/>
          </a:prstGeom>
        </p:spPr>
      </p:pic>
      <p:sp>
        <p:nvSpPr>
          <p:cNvPr id="27" name="Text 21"/>
          <p:cNvSpPr/>
          <p:nvPr/>
        </p:nvSpPr>
        <p:spPr>
          <a:xfrm>
            <a:off x="8030261" y="4047134"/>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営業届の申請は本部が代行</a:t>
            </a:r>
            <a:endParaRPr lang="en-US" sz="1050" dirty="0"/>
          </a:p>
        </p:txBody>
      </p:sp>
      <p:pic>
        <p:nvPicPr>
          <p:cNvPr id="28" name="Image 4" descr="/home/user/suzuki-ceo/selfcafe-partner-deck/assets/icons/LuGraduationCap-green.png">    </p:cNvPr>
          <p:cNvPicPr>
            <a:picLocks noChangeAspect="1"/>
          </p:cNvPicPr>
          <p:nvPr/>
        </p:nvPicPr>
        <p:blipFill>
          <a:blip r:embed="rId5"/>
          <a:stretch>
            <a:fillRect/>
          </a:stretch>
        </p:blipFill>
        <p:spPr>
          <a:xfrm>
            <a:off x="7627925" y="4696358"/>
            <a:ext cx="274320" cy="274320"/>
          </a:xfrm>
          <a:prstGeom prst="rect">
            <a:avLst/>
          </a:prstGeom>
        </p:spPr>
      </p:pic>
      <p:sp>
        <p:nvSpPr>
          <p:cNvPr id="29" name="Text 22"/>
          <p:cNvSpPr/>
          <p:nvPr/>
        </p:nvSpPr>
        <p:spPr>
          <a:xfrm>
            <a:off x="8030261" y="4668926"/>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食品衛生責任者は貴社にて取得</a:t>
            </a:r>
            <a:endParaRPr lang="en-US" sz="1050" dirty="0"/>
          </a:p>
        </p:txBody>
      </p:sp>
      <p:pic>
        <p:nvPicPr>
          <p:cNvPr id="30" name="Image 5" descr="/home/user/suzuki-ceo/selfcafe-partner-deck/assets/icons/LuTimer-green.png">    </p:cNvPr>
          <p:cNvPicPr>
            <a:picLocks noChangeAspect="1"/>
          </p:cNvPicPr>
          <p:nvPr/>
        </p:nvPicPr>
        <p:blipFill>
          <a:blip r:embed="rId6"/>
          <a:stretch>
            <a:fillRect/>
          </a:stretch>
        </p:blipFill>
        <p:spPr>
          <a:xfrm>
            <a:off x="7627925" y="5318150"/>
            <a:ext cx="274320" cy="274320"/>
          </a:xfrm>
          <a:prstGeom prst="rect">
            <a:avLst/>
          </a:prstGeom>
        </p:spPr>
      </p:pic>
      <p:sp>
        <p:nvSpPr>
          <p:cNvPr id="31" name="Text 23"/>
          <p:cNvSpPr/>
          <p:nvPr/>
        </p:nvSpPr>
        <p:spPr>
          <a:xfrm>
            <a:off x="8030261" y="5290718"/>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所要時間は店舗規模・営業時間で変動</a:t>
            </a:r>
            <a:endParaRPr lang="en-US" sz="1050" dirty="0"/>
          </a:p>
        </p:txBody>
      </p:sp>
      <p:sp>
        <p:nvSpPr>
          <p:cNvPr id="32" name="Text 24"/>
          <p:cNvSpPr/>
          <p:nvPr/>
        </p:nvSpPr>
        <p:spPr>
          <a:xfrm>
            <a:off x="660197" y="632764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委託費用・サポートプランの料金は有料オプション一覧のページをご参照ください。</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18</a:t>
            </a:r>
            <a:r>
              <a:rPr lang="en-US" sz="1050" b="1" dirty="0">
                <a:solidFill>
                  <a:srgbClr val="1B8149"/>
                </a:solidFill>
                <a:latin typeface="Yu Gothic" pitchFamily="34" charset="0"/>
                <a:ea typeface="Yu Gothic" pitchFamily="34" charset="-122"/>
                <a:cs typeface="Yu Gothic" pitchFamily="34" charset="-120"/>
              </a:rPr>
              <a:t>   パートナー制度</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パートナー制度の3つの特徴</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投資を抑え、既存の資産と人員のまま始められます。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660197" y="1651406"/>
            <a:ext cx="3440887" cy="3877056"/>
          </a:xfrm>
          <a:prstGeom prst="roundRect">
            <a:avLst>
              <a:gd name="adj" fmla="val 1594"/>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01</a:t>
            </a:r>
            <a:endParaRPr lang="en-US" sz="900" dirty="0"/>
          </a:p>
        </p:txBody>
      </p:sp>
      <p:pic>
        <p:nvPicPr>
          <p:cNvPr id="11" name="Image 1" descr="/home/user/suzuki-ceo/selfcafe-partner-deck/assets/icons/LuWallet-green.png">    </p:cNvPr>
          <p:cNvPicPr>
            <a:picLocks noChangeAspect="1"/>
          </p:cNvPicPr>
          <p:nvPr/>
        </p:nvPicPr>
        <p:blipFill>
          <a:blip r:embed="rId2"/>
          <a:stretch>
            <a:fillRect/>
          </a:stretch>
        </p:blipFill>
        <p:spPr>
          <a:xfrm>
            <a:off x="3351276" y="1889150"/>
            <a:ext cx="365760" cy="365760"/>
          </a:xfrm>
          <a:prstGeom prst="rect">
            <a:avLst/>
          </a:prstGeom>
        </p:spPr>
      </p:pic>
      <p:sp>
        <p:nvSpPr>
          <p:cNvPr id="12" name="Text 8"/>
          <p:cNvSpPr/>
          <p:nvPr/>
        </p:nvSpPr>
        <p:spPr>
          <a:xfrm>
            <a:off x="934517"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1/10 以下</a:t>
            </a:r>
            <a:endParaRPr lang="en-US" sz="2400" dirty="0"/>
          </a:p>
        </p:txBody>
      </p:sp>
      <p:sp>
        <p:nvSpPr>
          <p:cNvPr id="13" name="Text 9"/>
          <p:cNvSpPr/>
          <p:nvPr/>
        </p:nvSpPr>
        <p:spPr>
          <a:xfrm>
            <a:off x="934517"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低初期コスト</a:t>
            </a:r>
            <a:endParaRPr lang="en-US" sz="1500" dirty="0"/>
          </a:p>
        </p:txBody>
      </p:sp>
      <p:sp>
        <p:nvSpPr>
          <p:cNvPr id="14" name="Shape 10"/>
          <p:cNvSpPr/>
          <p:nvPr/>
        </p:nvSpPr>
        <p:spPr>
          <a:xfrm>
            <a:off x="934517" y="3151022"/>
            <a:ext cx="2892247" cy="10058"/>
          </a:xfrm>
          <a:prstGeom prst="rect">
            <a:avLst/>
          </a:prstGeom>
          <a:solidFill>
            <a:srgbClr val="EFEAE0"/>
          </a:solidFill>
          <a:ln/>
        </p:spPr>
      </p:sp>
      <p:sp>
        <p:nvSpPr>
          <p:cNvPr id="15" name="Text 11"/>
          <p:cNvSpPr/>
          <p:nvPr/>
        </p:nvSpPr>
        <p:spPr>
          <a:xfrm>
            <a:off x="934517"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他社カフェ業態と比較し、1/10以下のコストで出店が可能。初期費用650万円〜から始められます。</a:t>
            </a:r>
            <a:endParaRPr lang="en-US" sz="1100" dirty="0"/>
          </a:p>
        </p:txBody>
      </p:sp>
      <p:sp>
        <p:nvSpPr>
          <p:cNvPr id="16" name="Shape 12"/>
          <p:cNvSpPr/>
          <p:nvPr/>
        </p:nvSpPr>
        <p:spPr>
          <a:xfrm>
            <a:off x="934517" y="4961534"/>
            <a:ext cx="1385316" cy="292608"/>
          </a:xfrm>
          <a:prstGeom prst="roundRect">
            <a:avLst>
              <a:gd name="adj" fmla="val 50000"/>
            </a:avLst>
          </a:prstGeom>
          <a:solidFill>
            <a:srgbClr val="F1F8F3"/>
          </a:solidFill>
          <a:ln w="9525">
            <a:solidFill>
              <a:srgbClr val="D2E7DA"/>
            </a:solidFill>
            <a:prstDash val="solid"/>
          </a:ln>
        </p:spPr>
      </p:sp>
      <p:sp>
        <p:nvSpPr>
          <p:cNvPr id="17" name="Text 13"/>
          <p:cNvSpPr/>
          <p:nvPr/>
        </p:nvSpPr>
        <p:spPr>
          <a:xfrm>
            <a:off x="934517" y="4961534"/>
            <a:ext cx="138531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加盟金 100万円</a:t>
            </a:r>
            <a:endParaRPr lang="en-US" sz="900" dirty="0"/>
          </a:p>
        </p:txBody>
      </p:sp>
      <p:sp>
        <p:nvSpPr>
          <p:cNvPr id="18" name="Shape 14"/>
          <p:cNvSpPr/>
          <p:nvPr/>
        </p:nvSpPr>
        <p:spPr>
          <a:xfrm>
            <a:off x="2447849" y="4961534"/>
            <a:ext cx="1632204" cy="292608"/>
          </a:xfrm>
          <a:prstGeom prst="roundRect">
            <a:avLst>
              <a:gd name="adj" fmla="val 50000"/>
            </a:avLst>
          </a:prstGeom>
          <a:solidFill>
            <a:srgbClr val="F1F8F3"/>
          </a:solidFill>
          <a:ln w="9525">
            <a:solidFill>
              <a:srgbClr val="D2E7DA"/>
            </a:solidFill>
            <a:prstDash val="solid"/>
          </a:ln>
        </p:spPr>
      </p:sp>
      <p:sp>
        <p:nvSpPr>
          <p:cNvPr id="19" name="Text 15"/>
          <p:cNvSpPr/>
          <p:nvPr/>
        </p:nvSpPr>
        <p:spPr>
          <a:xfrm>
            <a:off x="2447849" y="4961534"/>
            <a:ext cx="163220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初期費用 650万円〜</a:t>
            </a:r>
            <a:endParaRPr lang="en-US" sz="900" dirty="0"/>
          </a:p>
        </p:txBody>
      </p:sp>
      <p:sp>
        <p:nvSpPr>
          <p:cNvPr id="20" name="Shape 16"/>
          <p:cNvSpPr/>
          <p:nvPr/>
        </p:nvSpPr>
        <p:spPr>
          <a:xfrm>
            <a:off x="4375404" y="1651406"/>
            <a:ext cx="3440887" cy="3877056"/>
          </a:xfrm>
          <a:prstGeom prst="roundRect">
            <a:avLst>
              <a:gd name="adj" fmla="val 1594"/>
            </a:avLst>
          </a:prstGeom>
          <a:solidFill>
            <a:srgbClr val="FFFFFF"/>
          </a:solidFill>
          <a:ln w="9525">
            <a:solidFill>
              <a:srgbClr val="EFEAE0"/>
            </a:solidFill>
            <a:prstDash val="solid"/>
          </a:ln>
        </p:spPr>
      </p:sp>
      <p:sp>
        <p:nvSpPr>
          <p:cNvPr id="21" name="Text 17"/>
          <p:cNvSpPr/>
          <p:nvPr/>
        </p:nvSpPr>
        <p:spPr>
          <a:xfrm>
            <a:off x="4649724"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02</a:t>
            </a:r>
            <a:endParaRPr lang="en-US" sz="900" dirty="0"/>
          </a:p>
        </p:txBody>
      </p:sp>
      <p:pic>
        <p:nvPicPr>
          <p:cNvPr id="22" name="Image 2" descr="/home/user/suzuki-ceo/selfcafe-partner-deck/assets/icons/LuBuilding2-green.png">    </p:cNvPr>
          <p:cNvPicPr>
            <a:picLocks noChangeAspect="1"/>
          </p:cNvPicPr>
          <p:nvPr/>
        </p:nvPicPr>
        <p:blipFill>
          <a:blip r:embed="rId3"/>
          <a:stretch>
            <a:fillRect/>
          </a:stretch>
        </p:blipFill>
        <p:spPr>
          <a:xfrm>
            <a:off x="7066483" y="1889150"/>
            <a:ext cx="365760" cy="365760"/>
          </a:xfrm>
          <a:prstGeom prst="rect">
            <a:avLst/>
          </a:prstGeom>
        </p:spPr>
      </p:pic>
      <p:sp>
        <p:nvSpPr>
          <p:cNvPr id="23" name="Text 18"/>
          <p:cNvSpPr/>
          <p:nvPr/>
        </p:nvSpPr>
        <p:spPr>
          <a:xfrm>
            <a:off x="4649724"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0 円の新規賃料</a:t>
            </a:r>
            <a:endParaRPr lang="en-US" sz="2400" dirty="0"/>
          </a:p>
        </p:txBody>
      </p:sp>
      <p:sp>
        <p:nvSpPr>
          <p:cNvPr id="24" name="Text 19"/>
          <p:cNvSpPr/>
          <p:nvPr/>
        </p:nvSpPr>
        <p:spPr>
          <a:xfrm>
            <a:off x="4649724"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遊休スペースの活用</a:t>
            </a:r>
            <a:endParaRPr lang="en-US" sz="1500" dirty="0"/>
          </a:p>
        </p:txBody>
      </p:sp>
      <p:sp>
        <p:nvSpPr>
          <p:cNvPr id="25" name="Shape 20"/>
          <p:cNvSpPr/>
          <p:nvPr/>
        </p:nvSpPr>
        <p:spPr>
          <a:xfrm>
            <a:off x="4649724" y="3151022"/>
            <a:ext cx="2892247" cy="10058"/>
          </a:xfrm>
          <a:prstGeom prst="rect">
            <a:avLst/>
          </a:prstGeom>
          <a:solidFill>
            <a:srgbClr val="EFEAE0"/>
          </a:solidFill>
          <a:ln/>
        </p:spPr>
      </p:sp>
      <p:sp>
        <p:nvSpPr>
          <p:cNvPr id="26" name="Text 21"/>
          <p:cNvSpPr/>
          <p:nvPr/>
        </p:nvSpPr>
        <p:spPr>
          <a:xfrm>
            <a:off x="4649724"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既存店の空室やデッドスペースを、収益資産へ再構築。限られたスペースの一角に設置できます。</a:t>
            </a:r>
            <a:endParaRPr lang="en-US" sz="1100" dirty="0"/>
          </a:p>
        </p:txBody>
      </p:sp>
      <p:sp>
        <p:nvSpPr>
          <p:cNvPr id="27" name="Shape 22"/>
          <p:cNvSpPr/>
          <p:nvPr/>
        </p:nvSpPr>
        <p:spPr>
          <a:xfrm>
            <a:off x="4649724" y="4961534"/>
            <a:ext cx="644652" cy="292608"/>
          </a:xfrm>
          <a:prstGeom prst="roundRect">
            <a:avLst>
              <a:gd name="adj" fmla="val 50000"/>
            </a:avLst>
          </a:prstGeom>
          <a:solidFill>
            <a:srgbClr val="F1F8F3"/>
          </a:solidFill>
          <a:ln w="9525">
            <a:solidFill>
              <a:srgbClr val="D2E7DA"/>
            </a:solidFill>
            <a:prstDash val="solid"/>
          </a:ln>
        </p:spPr>
      </p:sp>
      <p:sp>
        <p:nvSpPr>
          <p:cNvPr id="28" name="Text 23"/>
          <p:cNvSpPr/>
          <p:nvPr/>
        </p:nvSpPr>
        <p:spPr>
          <a:xfrm>
            <a:off x="4649724" y="4961534"/>
            <a:ext cx="644652"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レジ横</a:t>
            </a:r>
            <a:endParaRPr lang="en-US" sz="900" dirty="0"/>
          </a:p>
        </p:txBody>
      </p:sp>
      <p:sp>
        <p:nvSpPr>
          <p:cNvPr id="29" name="Shape 24"/>
          <p:cNvSpPr/>
          <p:nvPr/>
        </p:nvSpPr>
        <p:spPr>
          <a:xfrm>
            <a:off x="5422392" y="4961534"/>
            <a:ext cx="1014984" cy="292608"/>
          </a:xfrm>
          <a:prstGeom prst="roundRect">
            <a:avLst>
              <a:gd name="adj" fmla="val 50000"/>
            </a:avLst>
          </a:prstGeom>
          <a:solidFill>
            <a:srgbClr val="F1F8F3"/>
          </a:solidFill>
          <a:ln w="9525">
            <a:solidFill>
              <a:srgbClr val="D2E7DA"/>
            </a:solidFill>
            <a:prstDash val="solid"/>
          </a:ln>
        </p:spPr>
      </p:sp>
      <p:sp>
        <p:nvSpPr>
          <p:cNvPr id="30" name="Text 25"/>
          <p:cNvSpPr/>
          <p:nvPr/>
        </p:nvSpPr>
        <p:spPr>
          <a:xfrm>
            <a:off x="5422392" y="4961534"/>
            <a:ext cx="101498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待合スペース</a:t>
            </a:r>
            <a:endParaRPr lang="en-US" sz="900" dirty="0"/>
          </a:p>
        </p:txBody>
      </p:sp>
      <p:sp>
        <p:nvSpPr>
          <p:cNvPr id="31" name="Shape 26"/>
          <p:cNvSpPr/>
          <p:nvPr/>
        </p:nvSpPr>
        <p:spPr>
          <a:xfrm>
            <a:off x="6565392" y="4961534"/>
            <a:ext cx="768096" cy="292608"/>
          </a:xfrm>
          <a:prstGeom prst="roundRect">
            <a:avLst>
              <a:gd name="adj" fmla="val 50000"/>
            </a:avLst>
          </a:prstGeom>
          <a:solidFill>
            <a:srgbClr val="F1F8F3"/>
          </a:solidFill>
          <a:ln w="9525">
            <a:solidFill>
              <a:srgbClr val="D2E7DA"/>
            </a:solidFill>
            <a:prstDash val="solid"/>
          </a:ln>
        </p:spPr>
      </p:sp>
      <p:sp>
        <p:nvSpPr>
          <p:cNvPr id="32" name="Text 27"/>
          <p:cNvSpPr/>
          <p:nvPr/>
        </p:nvSpPr>
        <p:spPr>
          <a:xfrm>
            <a:off x="6565392"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空き区画</a:t>
            </a:r>
            <a:endParaRPr lang="en-US" sz="900" dirty="0"/>
          </a:p>
        </p:txBody>
      </p:sp>
      <p:sp>
        <p:nvSpPr>
          <p:cNvPr id="33" name="Shape 28"/>
          <p:cNvSpPr/>
          <p:nvPr/>
        </p:nvSpPr>
        <p:spPr>
          <a:xfrm>
            <a:off x="8090611" y="1651406"/>
            <a:ext cx="3440887" cy="3877056"/>
          </a:xfrm>
          <a:prstGeom prst="roundRect">
            <a:avLst>
              <a:gd name="adj" fmla="val 1594"/>
            </a:avLst>
          </a:prstGeom>
          <a:solidFill>
            <a:srgbClr val="FFFFFF"/>
          </a:solidFill>
          <a:ln w="9525">
            <a:solidFill>
              <a:srgbClr val="EFEAE0"/>
            </a:solidFill>
            <a:prstDash val="solid"/>
          </a:ln>
        </p:spPr>
      </p:sp>
      <p:sp>
        <p:nvSpPr>
          <p:cNvPr id="34" name="Text 29"/>
          <p:cNvSpPr/>
          <p:nvPr/>
        </p:nvSpPr>
        <p:spPr>
          <a:xfrm>
            <a:off x="836493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03</a:t>
            </a:r>
            <a:endParaRPr lang="en-US" sz="900" dirty="0"/>
          </a:p>
        </p:txBody>
      </p:sp>
      <p:pic>
        <p:nvPicPr>
          <p:cNvPr id="35" name="Image 3" descr="/home/user/suzuki-ceo/selfcafe-partner-deck/assets/icons/LuTimer-green.png">    </p:cNvPr>
          <p:cNvPicPr>
            <a:picLocks noChangeAspect="1"/>
          </p:cNvPicPr>
          <p:nvPr/>
        </p:nvPicPr>
        <p:blipFill>
          <a:blip r:embed="rId4"/>
          <a:stretch>
            <a:fillRect/>
          </a:stretch>
        </p:blipFill>
        <p:spPr>
          <a:xfrm>
            <a:off x="10781690" y="1889150"/>
            <a:ext cx="365760" cy="365760"/>
          </a:xfrm>
          <a:prstGeom prst="rect">
            <a:avLst/>
          </a:prstGeom>
        </p:spPr>
      </p:pic>
      <p:sp>
        <p:nvSpPr>
          <p:cNvPr id="36" name="Text 30"/>
          <p:cNvSpPr/>
          <p:nvPr/>
        </p:nvSpPr>
        <p:spPr>
          <a:xfrm>
            <a:off x="8364931"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15 分／日</a:t>
            </a:r>
            <a:endParaRPr lang="en-US" sz="2400" dirty="0"/>
          </a:p>
        </p:txBody>
      </p:sp>
      <p:sp>
        <p:nvSpPr>
          <p:cNvPr id="37" name="Text 31"/>
          <p:cNvSpPr/>
          <p:nvPr/>
        </p:nvSpPr>
        <p:spPr>
          <a:xfrm>
            <a:off x="8364931"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1日15分程度の運営</a:t>
            </a:r>
            <a:endParaRPr lang="en-US" sz="1500" dirty="0"/>
          </a:p>
        </p:txBody>
      </p:sp>
      <p:sp>
        <p:nvSpPr>
          <p:cNvPr id="38" name="Shape 32"/>
          <p:cNvSpPr/>
          <p:nvPr/>
        </p:nvSpPr>
        <p:spPr>
          <a:xfrm>
            <a:off x="8364931" y="3151022"/>
            <a:ext cx="2892247" cy="10058"/>
          </a:xfrm>
          <a:prstGeom prst="rect">
            <a:avLst/>
          </a:prstGeom>
          <a:solidFill>
            <a:srgbClr val="EFEAE0"/>
          </a:solidFill>
          <a:ln/>
        </p:spPr>
      </p:sp>
      <p:sp>
        <p:nvSpPr>
          <p:cNvPr id="39" name="Text 33"/>
          <p:cNvSpPr/>
          <p:nvPr/>
        </p:nvSpPr>
        <p:spPr>
          <a:xfrm>
            <a:off x="8364931"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清掃・補充のみ。無人化により人件費を極限までカット。既存スタッフの稼働内で対応でき、新規採用は不要です。</a:t>
            </a:r>
            <a:endParaRPr lang="en-US" sz="1100" dirty="0"/>
          </a:p>
        </p:txBody>
      </p:sp>
      <p:sp>
        <p:nvSpPr>
          <p:cNvPr id="40" name="Shape 34"/>
          <p:cNvSpPr/>
          <p:nvPr/>
        </p:nvSpPr>
        <p:spPr>
          <a:xfrm>
            <a:off x="8364931" y="4961534"/>
            <a:ext cx="521208" cy="292608"/>
          </a:xfrm>
          <a:prstGeom prst="roundRect">
            <a:avLst>
              <a:gd name="adj" fmla="val 50000"/>
            </a:avLst>
          </a:prstGeom>
          <a:solidFill>
            <a:srgbClr val="F1F8F3"/>
          </a:solidFill>
          <a:ln w="9525">
            <a:solidFill>
              <a:srgbClr val="D2E7DA"/>
            </a:solidFill>
            <a:prstDash val="solid"/>
          </a:ln>
        </p:spPr>
      </p:sp>
      <p:sp>
        <p:nvSpPr>
          <p:cNvPr id="41" name="Text 35"/>
          <p:cNvSpPr/>
          <p:nvPr/>
        </p:nvSpPr>
        <p:spPr>
          <a:xfrm>
            <a:off x="8364931" y="4961534"/>
            <a:ext cx="521208"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清掃</a:t>
            </a:r>
            <a:endParaRPr lang="en-US" sz="900" dirty="0"/>
          </a:p>
        </p:txBody>
      </p:sp>
      <p:sp>
        <p:nvSpPr>
          <p:cNvPr id="42" name="Shape 36"/>
          <p:cNvSpPr/>
          <p:nvPr/>
        </p:nvSpPr>
        <p:spPr>
          <a:xfrm>
            <a:off x="9014155" y="4961534"/>
            <a:ext cx="768096" cy="292608"/>
          </a:xfrm>
          <a:prstGeom prst="roundRect">
            <a:avLst>
              <a:gd name="adj" fmla="val 50000"/>
            </a:avLst>
          </a:prstGeom>
          <a:solidFill>
            <a:srgbClr val="F1F8F3"/>
          </a:solidFill>
          <a:ln w="9525">
            <a:solidFill>
              <a:srgbClr val="D2E7DA"/>
            </a:solidFill>
            <a:prstDash val="solid"/>
          </a:ln>
        </p:spPr>
      </p:sp>
      <p:sp>
        <p:nvSpPr>
          <p:cNvPr id="43" name="Text 37"/>
          <p:cNvSpPr/>
          <p:nvPr/>
        </p:nvSpPr>
        <p:spPr>
          <a:xfrm>
            <a:off x="9014155"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原料補充</a:t>
            </a:r>
            <a:endParaRPr lang="en-US" sz="900" dirty="0"/>
          </a:p>
        </p:txBody>
      </p:sp>
      <p:sp>
        <p:nvSpPr>
          <p:cNvPr id="44" name="Shape 38"/>
          <p:cNvSpPr/>
          <p:nvPr/>
        </p:nvSpPr>
        <p:spPr>
          <a:xfrm>
            <a:off x="660197" y="5711342"/>
            <a:ext cx="10871302" cy="566928"/>
          </a:xfrm>
          <a:prstGeom prst="roundRect">
            <a:avLst>
              <a:gd name="adj" fmla="val 9677"/>
            </a:avLst>
          </a:prstGeom>
          <a:solidFill>
            <a:srgbClr val="0C5230"/>
          </a:solidFill>
          <a:ln/>
        </p:spPr>
      </p:sp>
      <p:pic>
        <p:nvPicPr>
          <p:cNvPr id="45" name="Image 4" descr="/home/user/suzuki-ceo/selfcafe-partner-deck/assets/icons/LuUsers-pale.png">    </p:cNvPr>
          <p:cNvPicPr>
            <a:picLocks noChangeAspect="1"/>
          </p:cNvPicPr>
          <p:nvPr/>
        </p:nvPicPr>
        <p:blipFill>
          <a:blip r:embed="rId5"/>
          <a:stretch>
            <a:fillRect/>
          </a:stretch>
        </p:blipFill>
        <p:spPr>
          <a:xfrm>
            <a:off x="1117397" y="5857646"/>
            <a:ext cx="274320" cy="274320"/>
          </a:xfrm>
          <a:prstGeom prst="rect">
            <a:avLst/>
          </a:prstGeom>
        </p:spPr>
      </p:pic>
      <p:sp>
        <p:nvSpPr>
          <p:cNvPr id="46" name="Text 39"/>
          <p:cNvSpPr/>
          <p:nvPr/>
        </p:nvSpPr>
        <p:spPr>
          <a:xfrm>
            <a:off x="1501445"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新規採用は不要</a:t>
            </a:r>
            <a:endParaRPr lang="en-US" sz="1200" dirty="0"/>
          </a:p>
        </p:txBody>
      </p:sp>
      <p:pic>
        <p:nvPicPr>
          <p:cNvPr id="47" name="Image 5" descr="/home/user/suzuki-ceo/selfcafe-partner-deck/assets/icons/LuStore-pale.png">    </p:cNvPr>
          <p:cNvPicPr>
            <a:picLocks noChangeAspect="1"/>
          </p:cNvPicPr>
          <p:nvPr/>
        </p:nvPicPr>
        <p:blipFill>
          <a:blip r:embed="rId6"/>
          <a:stretch>
            <a:fillRect/>
          </a:stretch>
        </p:blipFill>
        <p:spPr>
          <a:xfrm>
            <a:off x="4741164" y="5857646"/>
            <a:ext cx="274320" cy="274320"/>
          </a:xfrm>
          <a:prstGeom prst="rect">
            <a:avLst/>
          </a:prstGeom>
        </p:spPr>
      </p:pic>
      <p:sp>
        <p:nvSpPr>
          <p:cNvPr id="48" name="Text 40"/>
          <p:cNvSpPr/>
          <p:nvPr/>
        </p:nvSpPr>
        <p:spPr>
          <a:xfrm>
            <a:off x="5125212"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既存スペースをそのまま活用</a:t>
            </a:r>
            <a:endParaRPr lang="en-US" sz="1200" dirty="0"/>
          </a:p>
        </p:txBody>
      </p:sp>
      <p:pic>
        <p:nvPicPr>
          <p:cNvPr id="49" name="Image 6" descr="/home/user/suzuki-ceo/selfcafe-partner-deck/assets/icons/LuBadgeJapaneseYen-pale.png">    </p:cNvPr>
          <p:cNvPicPr>
            <a:picLocks noChangeAspect="1"/>
          </p:cNvPicPr>
          <p:nvPr/>
        </p:nvPicPr>
        <p:blipFill>
          <a:blip r:embed="rId7"/>
          <a:stretch>
            <a:fillRect/>
          </a:stretch>
        </p:blipFill>
        <p:spPr>
          <a:xfrm>
            <a:off x="8364931" y="5857646"/>
            <a:ext cx="274320" cy="274320"/>
          </a:xfrm>
          <a:prstGeom prst="rect">
            <a:avLst/>
          </a:prstGeom>
        </p:spPr>
      </p:pic>
      <p:sp>
        <p:nvSpPr>
          <p:cNvPr id="50" name="Text 41"/>
          <p:cNvSpPr/>
          <p:nvPr/>
        </p:nvSpPr>
        <p:spPr>
          <a:xfrm>
            <a:off x="8748979"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低投資・低リスクで開始</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19</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初期費用：他社カフェ業態との比較</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同じ「カフェ出店」でも、必要な初期投資はまったく違います。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2854757" y="1651406"/>
            <a:ext cx="2377440" cy="4169664"/>
          </a:xfrm>
          <a:prstGeom prst="roundRect">
            <a:avLst>
              <a:gd name="adj" fmla="val 1923"/>
            </a:avLst>
          </a:prstGeom>
          <a:solidFill>
            <a:srgbClr val="F1F8F3"/>
          </a:solidFill>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194560"/>
                <a:gridCol w="2377440"/>
                <a:gridCol w="3108960"/>
                <a:gridCol w="3190342"/>
              </a:tblGrid>
              <a:tr h="365760">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セルフカフェ</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C社</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D社</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加盟金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100万円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300万円〜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店舗工事費用</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400万円〜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8,000万円〜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2,000万円〜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出店準備金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100万円〜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保証金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50万円〜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研修費</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なし</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20万円／1名</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0350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開業資金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500" b="1" dirty="0">
                          <a:solidFill>
                            <a:srgbClr val="106838"/>
                          </a:solidFill>
                          <a:latin typeface="Arial" pitchFamily="34" charset="0"/>
                          <a:ea typeface="Arial" pitchFamily="34" charset="-122"/>
                          <a:cs typeface="Arial" pitchFamily="34" charset="-120"/>
                        </a:rPr>
                        <a:t>650万円〜</a:t>
                      </a:r>
                      <a:endParaRPr lang="en-US" sz="15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8,400万円〜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3,000万円〜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ロイヤリティ</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月5万円（一律）</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1席1,500円／月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売上の2%／月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05856"/>
            <a:ext cx="10871302" cy="512064"/>
          </a:xfrm>
          <a:prstGeom prst="roundRect">
            <a:avLst>
              <a:gd name="adj" fmla="val 8929"/>
            </a:avLst>
          </a:prstGeom>
          <a:solidFill>
            <a:srgbClr val="0C5230"/>
          </a:solidFill>
          <a:ln/>
        </p:spPr>
      </p:sp>
      <p:sp>
        <p:nvSpPr>
          <p:cNvPr id="12" name="Text 8"/>
          <p:cNvSpPr/>
          <p:nvPr/>
        </p:nvSpPr>
        <p:spPr>
          <a:xfrm>
            <a:off x="934517" y="5705856"/>
            <a:ext cx="10322662" cy="51206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開業資金は他社カフェ業態の </a:t>
            </a:r>
            <a:r>
              <a:rPr lang="en-US" sz="1200" b="1" dirty="0">
                <a:solidFill>
                  <a:srgbClr val="8CC5A5"/>
                </a:solidFill>
                <a:latin typeface="Yu Gothic" pitchFamily="34" charset="0"/>
                <a:ea typeface="Yu Gothic" pitchFamily="34" charset="-122"/>
                <a:cs typeface="Yu Gothic" pitchFamily="34" charset="-120"/>
              </a:rPr>
              <a:t>1/4 〜 1/12</a:t>
            </a:r>
            <a:r>
              <a:rPr lang="en-US" sz="1200" b="1" dirty="0">
                <a:solidFill>
                  <a:srgbClr val="FFFFFF"/>
                </a:solidFill>
                <a:latin typeface="Yu Gothic" pitchFamily="34" charset="0"/>
                <a:ea typeface="Yu Gothic" pitchFamily="34" charset="-122"/>
                <a:cs typeface="Yu Gothic" pitchFamily="34" charset="-120"/>
              </a:rPr>
              <a:t>。ロイヤリティも売上連動ではなく月5万円の一律です。</a:t>
            </a:r>
            <a:endParaRPr lang="en-US" sz="1200" dirty="0"/>
          </a:p>
        </p:txBody>
      </p:sp>
      <p:sp>
        <p:nvSpPr>
          <p:cNvPr id="13" name="Text 9"/>
          <p:cNvSpPr/>
          <p:nvPr/>
        </p:nvSpPr>
        <p:spPr>
          <a:xfrm>
            <a:off x="660197" y="632764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出店準備金はカメラ・モニター・机・椅子等の備品類。他社の「—」は公表資料に区分の記載がない項目です。</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20</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開業費650万円〜・標準予算800万円程度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内訳を1本のバーで示しています。居抜き・既存店併設なら工事範囲を最小化できます。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21</a:t>
            </a:r>
            <a:endParaRPr lang="en-US" sz="1000" dirty="0"/>
          </a:p>
        </p:txBody>
      </p:sp>
      <p:sp>
        <p:nvSpPr>
          <p:cNvPr id="9" name="Shape 6"/>
          <p:cNvSpPr/>
          <p:nvPr/>
        </p:nvSpPr>
        <p:spPr>
          <a:xfrm>
            <a:off x="660197" y="2218334"/>
            <a:ext cx="1096023" cy="859536"/>
          </a:xfrm>
          <a:prstGeom prst="rect">
            <a:avLst/>
          </a:prstGeom>
          <a:solidFill>
            <a:srgbClr val="0C5230"/>
          </a:solidFill>
          <a:ln w="12700">
            <a:solidFill>
              <a:srgbClr val="FFFFFF"/>
            </a:solidFill>
            <a:prstDash val="solid"/>
          </a:ln>
        </p:spPr>
      </p:sp>
      <p:sp>
        <p:nvSpPr>
          <p:cNvPr id="10" name="Text 7"/>
          <p:cNvSpPr/>
          <p:nvPr/>
        </p:nvSpPr>
        <p:spPr>
          <a:xfrm>
            <a:off x="660197" y="2218334"/>
            <a:ext cx="1096023"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100万</a:t>
            </a:r>
            <a:endParaRPr lang="en-US" sz="1400" dirty="0"/>
          </a:p>
        </p:txBody>
      </p:sp>
      <p:sp>
        <p:nvSpPr>
          <p:cNvPr id="11" name="Text 8"/>
          <p:cNvSpPr/>
          <p:nvPr/>
        </p:nvSpPr>
        <p:spPr>
          <a:xfrm>
            <a:off x="385877" y="1907438"/>
            <a:ext cx="1644663"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加盟金</a:t>
            </a:r>
            <a:endParaRPr lang="en-US" sz="950" dirty="0"/>
          </a:p>
        </p:txBody>
      </p:sp>
      <p:sp>
        <p:nvSpPr>
          <p:cNvPr id="12" name="Shape 9"/>
          <p:cNvSpPr/>
          <p:nvPr/>
        </p:nvSpPr>
        <p:spPr>
          <a:xfrm>
            <a:off x="1756219" y="2218334"/>
            <a:ext cx="4384091" cy="859536"/>
          </a:xfrm>
          <a:prstGeom prst="rect">
            <a:avLst/>
          </a:prstGeom>
          <a:solidFill>
            <a:srgbClr val="1B7A47"/>
          </a:solidFill>
          <a:ln w="12700">
            <a:solidFill>
              <a:srgbClr val="FFFFFF"/>
            </a:solidFill>
            <a:prstDash val="solid"/>
          </a:ln>
        </p:spPr>
      </p:sp>
      <p:sp>
        <p:nvSpPr>
          <p:cNvPr id="13" name="Text 10"/>
          <p:cNvSpPr/>
          <p:nvPr/>
        </p:nvSpPr>
        <p:spPr>
          <a:xfrm>
            <a:off x="1756219" y="2218334"/>
            <a:ext cx="4384091"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400万</a:t>
            </a:r>
            <a:endParaRPr lang="en-US" sz="1400" dirty="0"/>
          </a:p>
        </p:txBody>
      </p:sp>
      <p:sp>
        <p:nvSpPr>
          <p:cNvPr id="14" name="Text 11"/>
          <p:cNvSpPr/>
          <p:nvPr/>
        </p:nvSpPr>
        <p:spPr>
          <a:xfrm>
            <a:off x="1481899" y="3169310"/>
            <a:ext cx="4932731"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出店工事費用</a:t>
            </a:r>
            <a:endParaRPr lang="en-US" sz="950" dirty="0"/>
          </a:p>
        </p:txBody>
      </p:sp>
      <p:sp>
        <p:nvSpPr>
          <p:cNvPr id="15" name="Shape 12"/>
          <p:cNvSpPr/>
          <p:nvPr/>
        </p:nvSpPr>
        <p:spPr>
          <a:xfrm>
            <a:off x="6140310" y="2218334"/>
            <a:ext cx="1096023" cy="859536"/>
          </a:xfrm>
          <a:prstGeom prst="rect">
            <a:avLst/>
          </a:prstGeom>
          <a:solidFill>
            <a:srgbClr val="5FA57C"/>
          </a:solidFill>
          <a:ln w="12700">
            <a:solidFill>
              <a:srgbClr val="FFFFFF"/>
            </a:solidFill>
            <a:prstDash val="solid"/>
          </a:ln>
        </p:spPr>
      </p:sp>
      <p:sp>
        <p:nvSpPr>
          <p:cNvPr id="16" name="Text 13"/>
          <p:cNvSpPr/>
          <p:nvPr/>
        </p:nvSpPr>
        <p:spPr>
          <a:xfrm>
            <a:off x="6140310" y="2218334"/>
            <a:ext cx="1096023"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100万</a:t>
            </a:r>
            <a:endParaRPr lang="en-US" sz="1400" dirty="0"/>
          </a:p>
        </p:txBody>
      </p:sp>
      <p:sp>
        <p:nvSpPr>
          <p:cNvPr id="17" name="Text 14"/>
          <p:cNvSpPr/>
          <p:nvPr/>
        </p:nvSpPr>
        <p:spPr>
          <a:xfrm>
            <a:off x="5865990" y="1907438"/>
            <a:ext cx="1644663"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出店準備金</a:t>
            </a:r>
            <a:endParaRPr lang="en-US" sz="950" dirty="0"/>
          </a:p>
        </p:txBody>
      </p:sp>
      <p:sp>
        <p:nvSpPr>
          <p:cNvPr id="18" name="Shape 15"/>
          <p:cNvSpPr/>
          <p:nvPr/>
        </p:nvSpPr>
        <p:spPr>
          <a:xfrm>
            <a:off x="7236333" y="2218334"/>
            <a:ext cx="548011" cy="859536"/>
          </a:xfrm>
          <a:prstGeom prst="rect">
            <a:avLst/>
          </a:prstGeom>
          <a:solidFill>
            <a:srgbClr val="9CC3AA"/>
          </a:solidFill>
          <a:ln w="12700">
            <a:solidFill>
              <a:srgbClr val="FFFFFF"/>
            </a:solidFill>
            <a:prstDash val="solid"/>
          </a:ln>
        </p:spPr>
      </p:sp>
      <p:sp>
        <p:nvSpPr>
          <p:cNvPr id="19" name="Text 16"/>
          <p:cNvSpPr/>
          <p:nvPr/>
        </p:nvSpPr>
        <p:spPr>
          <a:xfrm>
            <a:off x="7236333" y="2218334"/>
            <a:ext cx="548011" cy="85953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50万</a:t>
            </a:r>
            <a:endParaRPr lang="en-US" sz="1050" dirty="0"/>
          </a:p>
        </p:txBody>
      </p:sp>
      <p:sp>
        <p:nvSpPr>
          <p:cNvPr id="20" name="Text 17"/>
          <p:cNvSpPr/>
          <p:nvPr/>
        </p:nvSpPr>
        <p:spPr>
          <a:xfrm>
            <a:off x="6962013" y="3169310"/>
            <a:ext cx="1096651"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保証金（預り金）</a:t>
            </a:r>
            <a:endParaRPr lang="en-US" sz="950" dirty="0"/>
          </a:p>
        </p:txBody>
      </p:sp>
      <p:sp>
        <p:nvSpPr>
          <p:cNvPr id="21" name="Shape 18"/>
          <p:cNvSpPr/>
          <p:nvPr/>
        </p:nvSpPr>
        <p:spPr>
          <a:xfrm>
            <a:off x="7784344" y="2218334"/>
            <a:ext cx="1644034" cy="859536"/>
          </a:xfrm>
          <a:prstGeom prst="rect">
            <a:avLst/>
          </a:prstGeom>
          <a:solidFill>
            <a:srgbClr val="A8761F"/>
          </a:solidFill>
          <a:ln w="12700">
            <a:solidFill>
              <a:srgbClr val="FFFFFF"/>
            </a:solidFill>
            <a:prstDash val="solid"/>
          </a:ln>
        </p:spPr>
      </p:sp>
      <p:sp>
        <p:nvSpPr>
          <p:cNvPr id="22" name="Text 19"/>
          <p:cNvSpPr/>
          <p:nvPr/>
        </p:nvSpPr>
        <p:spPr>
          <a:xfrm>
            <a:off x="7784344" y="2218334"/>
            <a:ext cx="1644034" cy="8595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150万</a:t>
            </a:r>
            <a:endParaRPr lang="en-US" sz="1400" dirty="0"/>
          </a:p>
        </p:txBody>
      </p:sp>
      <p:sp>
        <p:nvSpPr>
          <p:cNvPr id="23" name="Text 20"/>
          <p:cNvSpPr/>
          <p:nvPr/>
        </p:nvSpPr>
        <p:spPr>
          <a:xfrm>
            <a:off x="7510024" y="1907438"/>
            <a:ext cx="2192674" cy="219456"/>
          </a:xfrm>
          <a:prstGeom prst="rect">
            <a:avLst/>
          </a:prstGeom>
          <a:noFill/>
          <a:ln/>
        </p:spPr>
        <p:txBody>
          <a:bodyPr wrap="square" lIns="0" tIns="0" rIns="0" bIns="0" rtlCol="0" anchor="ctr"/>
          <a:lstStyle/>
          <a:p>
            <a:pPr algn="ctr" indent="0" marL="0">
              <a:buNone/>
            </a:pPr>
            <a:r>
              <a:rPr lang="en-US" sz="950" dirty="0">
                <a:solidFill>
                  <a:srgbClr val="7E8882"/>
                </a:solidFill>
                <a:latin typeface="Yu Gothic" pitchFamily="34" charset="0"/>
                <a:ea typeface="Yu Gothic" pitchFamily="34" charset="-122"/>
                <a:cs typeface="Yu Gothic" pitchFamily="34" charset="-120"/>
              </a:rPr>
              <a:t>諸経費・予備費</a:t>
            </a:r>
            <a:endParaRPr lang="en-US" sz="950" dirty="0"/>
          </a:p>
        </p:txBody>
      </p:sp>
      <p:sp>
        <p:nvSpPr>
          <p:cNvPr id="24" name="Shape 21"/>
          <p:cNvSpPr/>
          <p:nvPr/>
        </p:nvSpPr>
        <p:spPr>
          <a:xfrm>
            <a:off x="9556394" y="2218334"/>
            <a:ext cx="12802" cy="859536"/>
          </a:xfrm>
          <a:prstGeom prst="rect">
            <a:avLst/>
          </a:prstGeom>
          <a:solidFill>
            <a:srgbClr val="0A3D23"/>
          </a:solidFill>
          <a:ln/>
        </p:spPr>
      </p:sp>
      <p:sp>
        <p:nvSpPr>
          <p:cNvPr id="25" name="Text 22"/>
          <p:cNvSpPr/>
          <p:nvPr/>
        </p:nvSpPr>
        <p:spPr>
          <a:xfrm>
            <a:off x="9666122" y="2163470"/>
            <a:ext cx="1828800" cy="969264"/>
          </a:xfrm>
          <a:prstGeom prst="rect">
            <a:avLst/>
          </a:prstGeom>
          <a:noFill/>
          <a:ln/>
        </p:spPr>
        <p:txBody>
          <a:bodyPr wrap="square" lIns="0" tIns="0" rIns="0" bIns="0" rtlCol="0" anchor="ctr"/>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標準総投資予算
</a:t>
            </a:r>
            <a:r>
              <a:rPr lang="en-US" sz="1500" b="1" dirty="0">
                <a:solidFill>
                  <a:srgbClr val="106838"/>
                </a:solidFill>
                <a:latin typeface="Yu Gothic" pitchFamily="34" charset="0"/>
                <a:ea typeface="Yu Gothic" pitchFamily="34" charset="-122"/>
                <a:cs typeface="Yu Gothic" pitchFamily="34" charset="-120"/>
              </a:rPr>
              <a:t>800万円程度</a:t>
            </a:r>
            <a:endParaRPr lang="en-US" sz="1050" dirty="0"/>
          </a:p>
        </p:txBody>
      </p:sp>
      <p:sp>
        <p:nvSpPr>
          <p:cNvPr id="26" name="Text 23"/>
          <p:cNvSpPr/>
          <p:nvPr/>
        </p:nvSpPr>
        <p:spPr>
          <a:xfrm>
            <a:off x="660197" y="3736238"/>
            <a:ext cx="10871302" cy="237744"/>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出店準備金の内訳：設計費・デザイン費・開業サポート費</a:t>
            </a:r>
            <a:endParaRPr lang="en-US" sz="1000" dirty="0"/>
          </a:p>
        </p:txBody>
      </p:sp>
      <p:sp>
        <p:nvSpPr>
          <p:cNvPr id="27" name="Text 24"/>
          <p:cNvSpPr/>
          <p:nvPr/>
        </p:nvSpPr>
        <p:spPr>
          <a:xfrm>
            <a:off x="660197" y="3461918"/>
            <a:ext cx="10871302" cy="310896"/>
          </a:xfrm>
          <a:prstGeom prst="rect">
            <a:avLst/>
          </a:prstGeom>
          <a:noFill/>
          <a:ln/>
        </p:spPr>
        <p:txBody>
          <a:bodyPr wrap="square" lIns="0" tIns="0" rIns="0" bIns="0" rtlCol="0" anchor="ctr"/>
          <a:lstStyle/>
          <a:p>
            <a:pPr indent="0" marL="0">
              <a:buNone/>
            </a:pPr>
            <a:r>
              <a:rPr lang="en-US" sz="1250" b="1" dirty="0">
                <a:solidFill>
                  <a:srgbClr val="0A3D23"/>
                </a:solidFill>
                <a:latin typeface="Yu Gothic" pitchFamily="34" charset="0"/>
                <a:ea typeface="Yu Gothic" pitchFamily="34" charset="-122"/>
                <a:cs typeface="Yu Gothic" pitchFamily="34" charset="-120"/>
              </a:rPr>
              <a:t>最低開業費 </a:t>
            </a:r>
            <a:r>
              <a:rPr lang="en-US" sz="1500" b="1" dirty="0">
                <a:solidFill>
                  <a:srgbClr val="106838"/>
                </a:solidFill>
                <a:latin typeface="Yu Gothic" pitchFamily="34" charset="0"/>
                <a:ea typeface="Yu Gothic" pitchFamily="34" charset="-122"/>
                <a:cs typeface="Yu Gothic" pitchFamily="34" charset="-120"/>
              </a:rPr>
              <a:t>650万円〜</a:t>
            </a:r>
            <a:r>
              <a:rPr lang="en-US" sz="1050" dirty="0">
                <a:solidFill>
                  <a:srgbClr val="7E8882"/>
                </a:solidFill>
                <a:latin typeface="Yu Gothic" pitchFamily="34" charset="0"/>
                <a:ea typeface="Yu Gothic" pitchFamily="34" charset="-122"/>
                <a:cs typeface="Yu Gothic" pitchFamily="34" charset="-120"/>
              </a:rPr>
              <a:t>（居抜き・20坪／諸経費・予備費を除く）</a:t>
            </a:r>
            <a:endParaRPr lang="en-US" sz="1250" dirty="0"/>
          </a:p>
        </p:txBody>
      </p:sp>
      <p:sp>
        <p:nvSpPr>
          <p:cNvPr id="28" name="Shape 25"/>
          <p:cNvSpPr/>
          <p:nvPr/>
        </p:nvSpPr>
        <p:spPr>
          <a:xfrm>
            <a:off x="660197" y="4339742"/>
            <a:ext cx="5243627" cy="822960"/>
          </a:xfrm>
          <a:prstGeom prst="roundRect">
            <a:avLst>
              <a:gd name="adj" fmla="val 6667"/>
            </a:avLst>
          </a:prstGeom>
          <a:solidFill>
            <a:srgbClr val="FFFFFF"/>
          </a:solidFill>
          <a:ln w="9525">
            <a:solidFill>
              <a:srgbClr val="EFEAE0"/>
            </a:solidFill>
            <a:prstDash val="solid"/>
          </a:ln>
        </p:spPr>
      </p:sp>
      <p:pic>
        <p:nvPicPr>
          <p:cNvPr id="29" name="Image 1" descr="/home/user/suzuki-ceo/selfcafe-partner-deck/assets/icons/LuJapaneseYen-green.png">    </p:cNvPr>
          <p:cNvPicPr>
            <a:picLocks noChangeAspect="1"/>
          </p:cNvPicPr>
          <p:nvPr/>
        </p:nvPicPr>
        <p:blipFill>
          <a:blip r:embed="rId2"/>
          <a:stretch>
            <a:fillRect/>
          </a:stretch>
        </p:blipFill>
        <p:spPr>
          <a:xfrm>
            <a:off x="916229" y="4595774"/>
            <a:ext cx="310896" cy="310896"/>
          </a:xfrm>
          <a:prstGeom prst="rect">
            <a:avLst/>
          </a:prstGeom>
        </p:spPr>
      </p:pic>
      <p:sp>
        <p:nvSpPr>
          <p:cNvPr id="30" name="Text 26"/>
          <p:cNvSpPr/>
          <p:nvPr/>
        </p:nvSpPr>
        <p:spPr>
          <a:xfrm>
            <a:off x="1336853" y="4467758"/>
            <a:ext cx="4292651"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出店準備金 100万円</a:t>
            </a:r>
            <a:endParaRPr lang="en-US" sz="1150" dirty="0"/>
          </a:p>
        </p:txBody>
      </p:sp>
      <p:sp>
        <p:nvSpPr>
          <p:cNvPr id="31" name="Text 27"/>
          <p:cNvSpPr/>
          <p:nvPr/>
        </p:nvSpPr>
        <p:spPr>
          <a:xfrm>
            <a:off x="1336853" y="4742078"/>
            <a:ext cx="4292651" cy="365760"/>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設計費・デザイン費・開業サポート費（見積書の項目と対応）</a:t>
            </a:r>
            <a:endParaRPr lang="en-US" sz="1000" dirty="0"/>
          </a:p>
        </p:txBody>
      </p:sp>
      <p:sp>
        <p:nvSpPr>
          <p:cNvPr id="32" name="Shape 28"/>
          <p:cNvSpPr/>
          <p:nvPr/>
        </p:nvSpPr>
        <p:spPr>
          <a:xfrm>
            <a:off x="6287872" y="4339742"/>
            <a:ext cx="5243627" cy="822960"/>
          </a:xfrm>
          <a:prstGeom prst="roundRect">
            <a:avLst>
              <a:gd name="adj" fmla="val 6667"/>
            </a:avLst>
          </a:prstGeom>
          <a:solidFill>
            <a:srgbClr val="FFFFFF"/>
          </a:solidFill>
          <a:ln w="9525">
            <a:solidFill>
              <a:srgbClr val="EFEAE0"/>
            </a:solidFill>
            <a:prstDash val="solid"/>
          </a:ln>
        </p:spPr>
      </p:sp>
      <p:pic>
        <p:nvPicPr>
          <p:cNvPr id="33" name="Image 2" descr="/home/user/suzuki-ceo/selfcafe-partner-deck/assets/icons/LuReceiptJapaneseYen-green.png">    </p:cNvPr>
          <p:cNvPicPr>
            <a:picLocks noChangeAspect="1"/>
          </p:cNvPicPr>
          <p:nvPr/>
        </p:nvPicPr>
        <p:blipFill>
          <a:blip r:embed="rId3"/>
          <a:stretch>
            <a:fillRect/>
          </a:stretch>
        </p:blipFill>
        <p:spPr>
          <a:xfrm>
            <a:off x="6543904" y="4595774"/>
            <a:ext cx="310896" cy="310896"/>
          </a:xfrm>
          <a:prstGeom prst="rect">
            <a:avLst/>
          </a:prstGeom>
        </p:spPr>
      </p:pic>
      <p:sp>
        <p:nvSpPr>
          <p:cNvPr id="34" name="Text 29"/>
          <p:cNvSpPr/>
          <p:nvPr/>
        </p:nvSpPr>
        <p:spPr>
          <a:xfrm>
            <a:off x="6964528" y="4467758"/>
            <a:ext cx="4292651"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保証金 50万円</a:t>
            </a:r>
            <a:endParaRPr lang="en-US" sz="1150" dirty="0"/>
          </a:p>
        </p:txBody>
      </p:sp>
      <p:sp>
        <p:nvSpPr>
          <p:cNvPr id="35" name="Text 30"/>
          <p:cNvSpPr/>
          <p:nvPr/>
        </p:nvSpPr>
        <p:spPr>
          <a:xfrm>
            <a:off x="6964528" y="4742078"/>
            <a:ext cx="4292651" cy="365760"/>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預り金。原料・ロイヤリティの支払確認後、契約条件に基づき精算</a:t>
            </a:r>
            <a:endParaRPr lang="en-US" sz="1000" dirty="0"/>
          </a:p>
        </p:txBody>
      </p:sp>
      <p:sp>
        <p:nvSpPr>
          <p:cNvPr id="36" name="Shape 31"/>
          <p:cNvSpPr/>
          <p:nvPr/>
        </p:nvSpPr>
        <p:spPr>
          <a:xfrm>
            <a:off x="660197" y="5345582"/>
            <a:ext cx="5243627" cy="822960"/>
          </a:xfrm>
          <a:prstGeom prst="roundRect">
            <a:avLst>
              <a:gd name="adj" fmla="val 6667"/>
            </a:avLst>
          </a:prstGeom>
          <a:solidFill>
            <a:srgbClr val="FFFFFF"/>
          </a:solidFill>
          <a:ln w="9525">
            <a:solidFill>
              <a:srgbClr val="EFEAE0"/>
            </a:solidFill>
            <a:prstDash val="solid"/>
          </a:ln>
        </p:spPr>
      </p:sp>
      <p:pic>
        <p:nvPicPr>
          <p:cNvPr id="37" name="Image 3" descr="/home/user/suzuki-ceo/selfcafe-partner-deck/assets/icons/LuHandCoins-green.png">    </p:cNvPr>
          <p:cNvPicPr>
            <a:picLocks noChangeAspect="1"/>
          </p:cNvPicPr>
          <p:nvPr/>
        </p:nvPicPr>
        <p:blipFill>
          <a:blip r:embed="rId4"/>
          <a:stretch>
            <a:fillRect/>
          </a:stretch>
        </p:blipFill>
        <p:spPr>
          <a:xfrm>
            <a:off x="916229" y="5601614"/>
            <a:ext cx="310896" cy="310896"/>
          </a:xfrm>
          <a:prstGeom prst="rect">
            <a:avLst/>
          </a:prstGeom>
        </p:spPr>
      </p:pic>
      <p:sp>
        <p:nvSpPr>
          <p:cNvPr id="38" name="Text 32"/>
          <p:cNvSpPr/>
          <p:nvPr/>
        </p:nvSpPr>
        <p:spPr>
          <a:xfrm>
            <a:off x="1336853" y="5473598"/>
            <a:ext cx="4292651"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ロイヤリティ／研修費</a:t>
            </a:r>
            <a:endParaRPr lang="en-US" sz="1150" dirty="0"/>
          </a:p>
        </p:txBody>
      </p:sp>
      <p:sp>
        <p:nvSpPr>
          <p:cNvPr id="39" name="Text 33"/>
          <p:cNvSpPr/>
          <p:nvPr/>
        </p:nvSpPr>
        <p:spPr>
          <a:xfrm>
            <a:off x="1336853" y="5747918"/>
            <a:ext cx="4292651" cy="365760"/>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ロイヤリティは月5万円 一律（売上連動なし）。研修費はなし</a:t>
            </a:r>
            <a:endParaRPr lang="en-US" sz="1000" dirty="0"/>
          </a:p>
        </p:txBody>
      </p:sp>
      <p:sp>
        <p:nvSpPr>
          <p:cNvPr id="40" name="Shape 34"/>
          <p:cNvSpPr/>
          <p:nvPr/>
        </p:nvSpPr>
        <p:spPr>
          <a:xfrm>
            <a:off x="6287872" y="5345582"/>
            <a:ext cx="5243627" cy="822960"/>
          </a:xfrm>
          <a:prstGeom prst="roundRect">
            <a:avLst>
              <a:gd name="adj" fmla="val 6667"/>
            </a:avLst>
          </a:prstGeom>
          <a:solidFill>
            <a:srgbClr val="FFFFFF"/>
          </a:solidFill>
          <a:ln w="9525">
            <a:solidFill>
              <a:srgbClr val="EFEAE0"/>
            </a:solidFill>
            <a:prstDash val="solid"/>
          </a:ln>
        </p:spPr>
      </p:sp>
      <p:pic>
        <p:nvPicPr>
          <p:cNvPr id="41" name="Image 4" descr="/home/user/suzuki-ceo/selfcafe-partner-deck/assets/icons/LuHammer-green.png">    </p:cNvPr>
          <p:cNvPicPr>
            <a:picLocks noChangeAspect="1"/>
          </p:cNvPicPr>
          <p:nvPr/>
        </p:nvPicPr>
        <p:blipFill>
          <a:blip r:embed="rId5"/>
          <a:stretch>
            <a:fillRect/>
          </a:stretch>
        </p:blipFill>
        <p:spPr>
          <a:xfrm>
            <a:off x="6543904" y="5601614"/>
            <a:ext cx="310896" cy="310896"/>
          </a:xfrm>
          <a:prstGeom prst="rect">
            <a:avLst/>
          </a:prstGeom>
        </p:spPr>
      </p:pic>
      <p:sp>
        <p:nvSpPr>
          <p:cNvPr id="42" name="Text 35"/>
          <p:cNvSpPr/>
          <p:nvPr/>
        </p:nvSpPr>
        <p:spPr>
          <a:xfrm>
            <a:off x="6964528" y="5473598"/>
            <a:ext cx="4292651" cy="256032"/>
          </a:xfrm>
          <a:prstGeom prst="rect">
            <a:avLst/>
          </a:prstGeom>
          <a:noFill/>
          <a:ln/>
        </p:spPr>
        <p:txBody>
          <a:bodyPr wrap="square" lIns="0" tIns="0" rIns="0" bIns="0" rtlCol="0" anchor="ctr"/>
          <a:lstStyle/>
          <a:p>
            <a:pPr indent="0" marL="0">
              <a:buNone/>
            </a:pPr>
            <a:r>
              <a:rPr lang="en-US" sz="1150" b="1" dirty="0">
                <a:solidFill>
                  <a:srgbClr val="106838"/>
                </a:solidFill>
                <a:latin typeface="Yu Gothic" pitchFamily="34" charset="0"/>
                <a:ea typeface="Yu Gothic" pitchFamily="34" charset="-122"/>
                <a:cs typeface="Yu Gothic" pitchFamily="34" charset="-120"/>
              </a:rPr>
              <a:t>スケルトン物件の場合</a:t>
            </a:r>
            <a:endParaRPr lang="en-US" sz="1150" dirty="0"/>
          </a:p>
        </p:txBody>
      </p:sp>
      <p:sp>
        <p:nvSpPr>
          <p:cNvPr id="43" name="Text 36"/>
          <p:cNvSpPr/>
          <p:nvPr/>
        </p:nvSpPr>
        <p:spPr>
          <a:xfrm>
            <a:off x="6964528" y="5747918"/>
            <a:ext cx="4292651" cy="365760"/>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工事費が増え950万円〜（標準総投資予算1,200万円程度）</a:t>
            </a:r>
            <a:endParaRPr lang="en-US" sz="1000" dirty="0"/>
          </a:p>
        </p:txBody>
      </p:sp>
      <p:sp>
        <p:nvSpPr>
          <p:cNvPr id="44" name="Text 37"/>
          <p:cNvSpPr/>
          <p:nvPr/>
        </p:nvSpPr>
        <p:spPr>
          <a:xfrm>
            <a:off x="660197" y="63514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金額はすべて税抜・目安。物件条件・工事範囲により変動します。他社カフェ業態（開業資金3,000万〜8,400万円）の1/4〜1/12の水準です。</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21</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20坪（40席）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同じ売上でも、自社物件なら家賃分がそのまま利益に乗ります。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22</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7406640" cy="914400"/>
        </p:xfrm>
        <a:graphic>
          <a:graphicData uri="http://schemas.openxmlformats.org/drawingml/2006/table">
            <a:tbl>
              <a:tblPr/>
              <a:tblGrid>
                <a:gridCol w="4114800"/>
                <a:gridCol w="1645920"/>
                <a:gridCol w="1645920"/>
              </a:tblGrid>
              <a:tr h="347472">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項目（月次・円／税抜）</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賃貸物件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自社物件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売上高（1杯420円 × 75杯 × 30日）</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945,000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945,000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ドリンク原料（20%）</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▲189,000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▲189,000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清掃費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水道光熱費（24H営業想定）</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機械使用料（マシン38,000円×2台・決済端末5,000円×2台）</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セキュリティ費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ロイヤリティ（一律）</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雑費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家賃（坪1万円）</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0A3D23"/>
                          </a:solidFill>
                          <a:latin typeface="Yu Gothic" pitchFamily="34" charset="0"/>
                          <a:ea typeface="Yu Gothic" pitchFamily="34" charset="-122"/>
                          <a:cs typeface="Yu Gothic" pitchFamily="34" charset="-120"/>
                        </a:rPr>
                        <a:t>償却前営業利益</a:t>
                      </a:r>
                      <a:endParaRPr lang="en-US" sz="11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270,000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470,000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bl>
          </a:graphicData>
        </a:graphic>
      </p:graphicFrame>
      <p:sp>
        <p:nvSpPr>
          <p:cNvPr id="10" name="Shape 6"/>
          <p:cNvSpPr/>
          <p:nvPr/>
        </p:nvSpPr>
        <p:spPr>
          <a:xfrm>
            <a:off x="8450885" y="1651406"/>
            <a:ext cx="3080614" cy="1920240"/>
          </a:xfrm>
          <a:prstGeom prst="roundRect">
            <a:avLst>
              <a:gd name="adj" fmla="val 2857"/>
            </a:avLst>
          </a:prstGeom>
          <a:solidFill>
            <a:srgbClr val="F1F8F3"/>
          </a:solidFill>
          <a:ln w="9525">
            <a:solidFill>
              <a:srgbClr val="D2E7DA"/>
            </a:solidFill>
            <a:prstDash val="solid"/>
          </a:ln>
        </p:spPr>
      </p:sp>
      <p:sp>
        <p:nvSpPr>
          <p:cNvPr id="11" name="Text 7"/>
          <p:cNvSpPr/>
          <p:nvPr/>
        </p:nvSpPr>
        <p:spPr>
          <a:xfrm>
            <a:off x="8706917" y="1852574"/>
            <a:ext cx="2568550" cy="256032"/>
          </a:xfrm>
          <a:prstGeom prst="rect">
            <a:avLst/>
          </a:prstGeom>
          <a:noFill/>
          <a:ln/>
        </p:spPr>
        <p:txBody>
          <a:bodyPr wrap="square" lIns="0" tIns="0" rIns="0" bIns="0" rtlCol="0" anchor="ctr"/>
          <a:lstStyle/>
          <a:p>
            <a:pPr indent="0" marL="0">
              <a:buNone/>
            </a:pPr>
            <a:r>
              <a:rPr lang="en-US" sz="1150" b="1" dirty="0">
                <a:solidFill>
                  <a:srgbClr val="7E8882"/>
                </a:solidFill>
                <a:latin typeface="Yu Gothic" pitchFamily="34" charset="0"/>
                <a:ea typeface="Yu Gothic" pitchFamily="34" charset="-122"/>
                <a:cs typeface="Yu Gothic" pitchFamily="34" charset="-120"/>
              </a:rPr>
              <a:t>賃貸物件</a:t>
            </a:r>
            <a:endParaRPr lang="en-US" sz="1150" dirty="0"/>
          </a:p>
        </p:txBody>
      </p:sp>
      <p:sp>
        <p:nvSpPr>
          <p:cNvPr id="12" name="Text 8"/>
          <p:cNvSpPr/>
          <p:nvPr/>
        </p:nvSpPr>
        <p:spPr>
          <a:xfrm>
            <a:off x="8706917" y="2163470"/>
            <a:ext cx="2568550" cy="603504"/>
          </a:xfrm>
          <a:prstGeom prst="rect">
            <a:avLst/>
          </a:prstGeom>
          <a:noFill/>
          <a:ln/>
        </p:spPr>
        <p:txBody>
          <a:bodyPr wrap="square" lIns="0" tIns="0" rIns="0" bIns="0" rtlCol="0" anchor="ctr"/>
          <a:lstStyle/>
          <a:p>
            <a:pPr indent="0" marL="0">
              <a:buNone/>
            </a:pPr>
            <a:r>
              <a:rPr lang="en-US" sz="3000" b="1" dirty="0">
                <a:solidFill>
                  <a:srgbClr val="106838"/>
                </a:solidFill>
                <a:latin typeface="Yu Gothic" pitchFamily="34" charset="0"/>
                <a:ea typeface="Yu Gothic" pitchFamily="34" charset="-122"/>
                <a:cs typeface="Yu Gothic" pitchFamily="34" charset="-120"/>
              </a:rPr>
              <a:t>月27</a:t>
            </a:r>
            <a:r>
              <a:rPr lang="en-US" sz="1400" b="1" dirty="0">
                <a:solidFill>
                  <a:srgbClr val="106838"/>
                </a:solidFill>
                <a:latin typeface="Yu Gothic" pitchFamily="34" charset="0"/>
                <a:ea typeface="Yu Gothic" pitchFamily="34" charset="-122"/>
                <a:cs typeface="Yu Gothic" pitchFamily="34" charset="-120"/>
              </a:rPr>
              <a:t> 万円</a:t>
            </a:r>
            <a:endParaRPr lang="en-US" sz="3000" dirty="0"/>
          </a:p>
        </p:txBody>
      </p:sp>
      <p:sp>
        <p:nvSpPr>
          <p:cNvPr id="13" name="Text 9"/>
          <p:cNvSpPr/>
          <p:nvPr/>
        </p:nvSpPr>
        <p:spPr>
          <a:xfrm>
            <a:off x="8706917" y="2840126"/>
            <a:ext cx="2568550" cy="237744"/>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年間換算 324万円</a:t>
            </a:r>
            <a:endParaRPr lang="en-US" sz="1000" dirty="0"/>
          </a:p>
        </p:txBody>
      </p:sp>
      <p:sp>
        <p:nvSpPr>
          <p:cNvPr id="14" name="Shape 10"/>
          <p:cNvSpPr/>
          <p:nvPr/>
        </p:nvSpPr>
        <p:spPr>
          <a:xfrm>
            <a:off x="8450885" y="3754526"/>
            <a:ext cx="3080614" cy="2066544"/>
          </a:xfrm>
          <a:prstGeom prst="roundRect">
            <a:avLst>
              <a:gd name="adj" fmla="val 2655"/>
            </a:avLst>
          </a:prstGeom>
          <a:solidFill>
            <a:srgbClr val="0C5230"/>
          </a:solidFill>
          <a:ln/>
        </p:spPr>
      </p:sp>
      <p:sp>
        <p:nvSpPr>
          <p:cNvPr id="15" name="Text 11"/>
          <p:cNvSpPr/>
          <p:nvPr/>
        </p:nvSpPr>
        <p:spPr>
          <a:xfrm>
            <a:off x="8706917" y="3955694"/>
            <a:ext cx="2568550" cy="256032"/>
          </a:xfrm>
          <a:prstGeom prst="rect">
            <a:avLst/>
          </a:prstGeom>
          <a:noFill/>
          <a:ln/>
        </p:spPr>
        <p:txBody>
          <a:bodyPr wrap="square" lIns="0" tIns="0" rIns="0" bIns="0" rtlCol="0" anchor="ctr"/>
          <a:lstStyle/>
          <a:p>
            <a:pPr indent="0" marL="0">
              <a:buNone/>
            </a:pPr>
            <a:r>
              <a:rPr lang="en-US" sz="1150" b="1" dirty="0">
                <a:solidFill>
                  <a:srgbClr val="8CC5A5"/>
                </a:solidFill>
                <a:latin typeface="Yu Gothic" pitchFamily="34" charset="0"/>
                <a:ea typeface="Yu Gothic" pitchFamily="34" charset="-122"/>
                <a:cs typeface="Yu Gothic" pitchFamily="34" charset="-120"/>
              </a:rPr>
              <a:t>自社物件（家賃0円）</a:t>
            </a:r>
            <a:endParaRPr lang="en-US" sz="1150" dirty="0"/>
          </a:p>
        </p:txBody>
      </p:sp>
      <p:sp>
        <p:nvSpPr>
          <p:cNvPr id="16" name="Text 12"/>
          <p:cNvSpPr/>
          <p:nvPr/>
        </p:nvSpPr>
        <p:spPr>
          <a:xfrm>
            <a:off x="8706917" y="4266590"/>
            <a:ext cx="2568550" cy="603504"/>
          </a:xfrm>
          <a:prstGeom prst="rect">
            <a:avLst/>
          </a:prstGeom>
          <a:noFill/>
          <a:ln/>
        </p:spPr>
        <p:txBody>
          <a:bodyPr wrap="square" lIns="0" tIns="0" rIns="0" bIns="0" rtlCol="0" anchor="ctr"/>
          <a:lstStyle/>
          <a:p>
            <a:pPr indent="0" marL="0">
              <a:buNone/>
            </a:pPr>
            <a:r>
              <a:rPr lang="en-US" sz="3000" b="1" dirty="0">
                <a:solidFill>
                  <a:srgbClr val="F0C05A"/>
                </a:solidFill>
                <a:latin typeface="Yu Gothic" pitchFamily="34" charset="0"/>
                <a:ea typeface="Yu Gothic" pitchFamily="34" charset="-122"/>
                <a:cs typeface="Yu Gothic" pitchFamily="34" charset="-120"/>
              </a:rPr>
              <a:t>月47</a:t>
            </a:r>
            <a:r>
              <a:rPr lang="en-US" sz="1400" b="1" dirty="0">
                <a:solidFill>
                  <a:srgbClr val="F0C05A"/>
                </a:solidFill>
                <a:latin typeface="Yu Gothic" pitchFamily="34" charset="0"/>
                <a:ea typeface="Yu Gothic" pitchFamily="34" charset="-122"/>
                <a:cs typeface="Yu Gothic" pitchFamily="34" charset="-120"/>
              </a:rPr>
              <a:t> 万円</a:t>
            </a:r>
            <a:endParaRPr lang="en-US" sz="3000" dirty="0"/>
          </a:p>
        </p:txBody>
      </p:sp>
      <p:sp>
        <p:nvSpPr>
          <p:cNvPr id="17" name="Text 13"/>
          <p:cNvSpPr/>
          <p:nvPr/>
        </p:nvSpPr>
        <p:spPr>
          <a:xfrm>
            <a:off x="8706917" y="4943246"/>
            <a:ext cx="2568550" cy="237744"/>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年間換算 564万円</a:t>
            </a:r>
            <a:endParaRPr lang="en-US" sz="1000" dirty="0"/>
          </a:p>
        </p:txBody>
      </p:sp>
      <p:sp>
        <p:nvSpPr>
          <p:cNvPr id="18" name="Text 14"/>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金額はすべて税抜。減価償却費・法人税等は含みません。家賃は仮定坪単価による試算。目安であり売上・利益を保証するものではありません。</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22</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40坪（80席）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同じ売上でも、自社物件なら家賃分がそのまま利益に乗ります。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23</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7406640" cy="914400"/>
        </p:xfrm>
        <a:graphic>
          <a:graphicData uri="http://schemas.openxmlformats.org/drawingml/2006/table">
            <a:tbl>
              <a:tblPr/>
              <a:tblGrid>
                <a:gridCol w="4114800"/>
                <a:gridCol w="1645920"/>
                <a:gridCol w="1645920"/>
              </a:tblGrid>
              <a:tr h="347472">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項目（月次・円／税抜）</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賃貸物件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自社物件</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売上高（1杯420円 × 100杯 × 30日）</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1,260,000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1,260,000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ドリンク原料（20%）</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▲252,000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▲252,000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清掃費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水道光熱費（24H営業想定）</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機械使用料（マシン38,000円×2台・決済端末5,000円×2台）</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▲86,000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セキュリティ費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ロイヤリティ（一律）</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▲50,000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雑費</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▲25,000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0A3D23"/>
                          </a:solidFill>
                          <a:latin typeface="Yu Gothic" pitchFamily="34" charset="0"/>
                          <a:ea typeface="Yu Gothic" pitchFamily="34" charset="-122"/>
                          <a:cs typeface="Yu Gothic" pitchFamily="34" charset="-120"/>
                        </a:rPr>
                        <a:t>家賃（坪8千円）</a:t>
                      </a:r>
                      <a:endParaRPr lang="en-US" sz="10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B0483A"/>
                          </a:solidFill>
                          <a:latin typeface="Arial" pitchFamily="34" charset="0"/>
                          <a:ea typeface="Arial" pitchFamily="34" charset="-122"/>
                          <a:cs typeface="Arial" pitchFamily="34" charset="-120"/>
                        </a:rPr>
                        <a:t>▲320,000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00" dirty="0">
                          <a:solidFill>
                            <a:srgbClr val="4B5550"/>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0A3D23"/>
                          </a:solidFill>
                          <a:latin typeface="Yu Gothic" pitchFamily="34" charset="0"/>
                          <a:ea typeface="Yu Gothic" pitchFamily="34" charset="-122"/>
                          <a:cs typeface="Yu Gothic" pitchFamily="34" charset="-120"/>
                        </a:rPr>
                        <a:t>償却前営業利益</a:t>
                      </a:r>
                      <a:endParaRPr lang="en-US" sz="1150" dirty="0">
                        <a:latin typeface="Yu Gothic" charset="0"/>
                        <a:ea typeface="Yu Gothic" charset="0"/>
                        <a:cs typeface="Yu Gothic"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387,000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707,000</a:t>
                      </a:r>
                      <a:endParaRPr lang="en-US" sz="1250" dirty="0">
                        <a:latin typeface="Arial" charset="0"/>
                        <a:ea typeface="Arial" charset="0"/>
                        <a:cs typeface="Arial" charset="0"/>
                      </a:endParaRPr>
                    </a:p>
                  </a:txBody>
                  <a:tcPr marL="128016" marR="128016" marT="27432" marB="27432"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bl>
          </a:graphicData>
        </a:graphic>
      </p:graphicFrame>
      <p:sp>
        <p:nvSpPr>
          <p:cNvPr id="10" name="Shape 6"/>
          <p:cNvSpPr/>
          <p:nvPr/>
        </p:nvSpPr>
        <p:spPr>
          <a:xfrm>
            <a:off x="8450885" y="1651406"/>
            <a:ext cx="3080614" cy="1920240"/>
          </a:xfrm>
          <a:prstGeom prst="roundRect">
            <a:avLst>
              <a:gd name="adj" fmla="val 2857"/>
            </a:avLst>
          </a:prstGeom>
          <a:solidFill>
            <a:srgbClr val="F1F8F3"/>
          </a:solidFill>
          <a:ln w="9525">
            <a:solidFill>
              <a:srgbClr val="D2E7DA"/>
            </a:solidFill>
            <a:prstDash val="solid"/>
          </a:ln>
        </p:spPr>
      </p:sp>
      <p:sp>
        <p:nvSpPr>
          <p:cNvPr id="11" name="Text 7"/>
          <p:cNvSpPr/>
          <p:nvPr/>
        </p:nvSpPr>
        <p:spPr>
          <a:xfrm>
            <a:off x="8706917" y="1852574"/>
            <a:ext cx="2568550" cy="256032"/>
          </a:xfrm>
          <a:prstGeom prst="rect">
            <a:avLst/>
          </a:prstGeom>
          <a:noFill/>
          <a:ln/>
        </p:spPr>
        <p:txBody>
          <a:bodyPr wrap="square" lIns="0" tIns="0" rIns="0" bIns="0" rtlCol="0" anchor="ctr"/>
          <a:lstStyle/>
          <a:p>
            <a:pPr indent="0" marL="0">
              <a:buNone/>
            </a:pPr>
            <a:r>
              <a:rPr lang="en-US" sz="1150" b="1" dirty="0">
                <a:solidFill>
                  <a:srgbClr val="7E8882"/>
                </a:solidFill>
                <a:latin typeface="Yu Gothic" pitchFamily="34" charset="0"/>
                <a:ea typeface="Yu Gothic" pitchFamily="34" charset="-122"/>
                <a:cs typeface="Yu Gothic" pitchFamily="34" charset="-120"/>
              </a:rPr>
              <a:t>賃貸物件</a:t>
            </a:r>
            <a:endParaRPr lang="en-US" sz="1150" dirty="0"/>
          </a:p>
        </p:txBody>
      </p:sp>
      <p:sp>
        <p:nvSpPr>
          <p:cNvPr id="12" name="Text 8"/>
          <p:cNvSpPr/>
          <p:nvPr/>
        </p:nvSpPr>
        <p:spPr>
          <a:xfrm>
            <a:off x="8706917" y="2163470"/>
            <a:ext cx="2568550" cy="603504"/>
          </a:xfrm>
          <a:prstGeom prst="rect">
            <a:avLst/>
          </a:prstGeom>
          <a:noFill/>
          <a:ln/>
        </p:spPr>
        <p:txBody>
          <a:bodyPr wrap="square" lIns="0" tIns="0" rIns="0" bIns="0" rtlCol="0" anchor="ctr"/>
          <a:lstStyle/>
          <a:p>
            <a:pPr indent="0" marL="0">
              <a:buNone/>
            </a:pPr>
            <a:r>
              <a:rPr lang="en-US" sz="3000" b="1" dirty="0">
                <a:solidFill>
                  <a:srgbClr val="106838"/>
                </a:solidFill>
                <a:latin typeface="Yu Gothic" pitchFamily="34" charset="0"/>
                <a:ea typeface="Yu Gothic" pitchFamily="34" charset="-122"/>
                <a:cs typeface="Yu Gothic" pitchFamily="34" charset="-120"/>
              </a:rPr>
              <a:t>月38.7</a:t>
            </a:r>
            <a:r>
              <a:rPr lang="en-US" sz="1400" b="1" dirty="0">
                <a:solidFill>
                  <a:srgbClr val="106838"/>
                </a:solidFill>
                <a:latin typeface="Yu Gothic" pitchFamily="34" charset="0"/>
                <a:ea typeface="Yu Gothic" pitchFamily="34" charset="-122"/>
                <a:cs typeface="Yu Gothic" pitchFamily="34" charset="-120"/>
              </a:rPr>
              <a:t> 万円</a:t>
            </a:r>
            <a:endParaRPr lang="en-US" sz="3000" dirty="0"/>
          </a:p>
        </p:txBody>
      </p:sp>
      <p:sp>
        <p:nvSpPr>
          <p:cNvPr id="13" name="Text 9"/>
          <p:cNvSpPr/>
          <p:nvPr/>
        </p:nvSpPr>
        <p:spPr>
          <a:xfrm>
            <a:off x="8706917" y="2840126"/>
            <a:ext cx="2568550" cy="237744"/>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年間換算 464.4万円</a:t>
            </a:r>
            <a:endParaRPr lang="en-US" sz="1000" dirty="0"/>
          </a:p>
        </p:txBody>
      </p:sp>
      <p:sp>
        <p:nvSpPr>
          <p:cNvPr id="14" name="Shape 10"/>
          <p:cNvSpPr/>
          <p:nvPr/>
        </p:nvSpPr>
        <p:spPr>
          <a:xfrm>
            <a:off x="8450885" y="3754526"/>
            <a:ext cx="3080614" cy="2066544"/>
          </a:xfrm>
          <a:prstGeom prst="roundRect">
            <a:avLst>
              <a:gd name="adj" fmla="val 2655"/>
            </a:avLst>
          </a:prstGeom>
          <a:solidFill>
            <a:srgbClr val="0C5230"/>
          </a:solidFill>
          <a:ln/>
        </p:spPr>
      </p:sp>
      <p:sp>
        <p:nvSpPr>
          <p:cNvPr id="15" name="Text 11"/>
          <p:cNvSpPr/>
          <p:nvPr/>
        </p:nvSpPr>
        <p:spPr>
          <a:xfrm>
            <a:off x="8706917" y="3955694"/>
            <a:ext cx="2568550" cy="256032"/>
          </a:xfrm>
          <a:prstGeom prst="rect">
            <a:avLst/>
          </a:prstGeom>
          <a:noFill/>
          <a:ln/>
        </p:spPr>
        <p:txBody>
          <a:bodyPr wrap="square" lIns="0" tIns="0" rIns="0" bIns="0" rtlCol="0" anchor="ctr"/>
          <a:lstStyle/>
          <a:p>
            <a:pPr indent="0" marL="0">
              <a:buNone/>
            </a:pPr>
            <a:r>
              <a:rPr lang="en-US" sz="1150" b="1" dirty="0">
                <a:solidFill>
                  <a:srgbClr val="8CC5A5"/>
                </a:solidFill>
                <a:latin typeface="Yu Gothic" pitchFamily="34" charset="0"/>
                <a:ea typeface="Yu Gothic" pitchFamily="34" charset="-122"/>
                <a:cs typeface="Yu Gothic" pitchFamily="34" charset="-120"/>
              </a:rPr>
              <a:t>自社物件（家賃0円）</a:t>
            </a:r>
            <a:endParaRPr lang="en-US" sz="1150" dirty="0"/>
          </a:p>
        </p:txBody>
      </p:sp>
      <p:sp>
        <p:nvSpPr>
          <p:cNvPr id="16" name="Text 12"/>
          <p:cNvSpPr/>
          <p:nvPr/>
        </p:nvSpPr>
        <p:spPr>
          <a:xfrm>
            <a:off x="8706917" y="4266590"/>
            <a:ext cx="2568550" cy="603504"/>
          </a:xfrm>
          <a:prstGeom prst="rect">
            <a:avLst/>
          </a:prstGeom>
          <a:noFill/>
          <a:ln/>
        </p:spPr>
        <p:txBody>
          <a:bodyPr wrap="square" lIns="0" tIns="0" rIns="0" bIns="0" rtlCol="0" anchor="ctr"/>
          <a:lstStyle/>
          <a:p>
            <a:pPr indent="0" marL="0">
              <a:buNone/>
            </a:pPr>
            <a:r>
              <a:rPr lang="en-US" sz="3000" b="1" dirty="0">
                <a:solidFill>
                  <a:srgbClr val="F0C05A"/>
                </a:solidFill>
                <a:latin typeface="Yu Gothic" pitchFamily="34" charset="0"/>
                <a:ea typeface="Yu Gothic" pitchFamily="34" charset="-122"/>
                <a:cs typeface="Yu Gothic" pitchFamily="34" charset="-120"/>
              </a:rPr>
              <a:t>月70.7</a:t>
            </a:r>
            <a:r>
              <a:rPr lang="en-US" sz="1400" b="1" dirty="0">
                <a:solidFill>
                  <a:srgbClr val="F0C05A"/>
                </a:solidFill>
                <a:latin typeface="Yu Gothic" pitchFamily="34" charset="0"/>
                <a:ea typeface="Yu Gothic" pitchFamily="34" charset="-122"/>
                <a:cs typeface="Yu Gothic" pitchFamily="34" charset="-120"/>
              </a:rPr>
              <a:t> 万円</a:t>
            </a:r>
            <a:endParaRPr lang="en-US" sz="3000" dirty="0"/>
          </a:p>
        </p:txBody>
      </p:sp>
      <p:sp>
        <p:nvSpPr>
          <p:cNvPr id="17" name="Text 13"/>
          <p:cNvSpPr/>
          <p:nvPr/>
        </p:nvSpPr>
        <p:spPr>
          <a:xfrm>
            <a:off x="8706917" y="4943246"/>
            <a:ext cx="2568550" cy="237744"/>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年間換算 848.4万円</a:t>
            </a:r>
            <a:endParaRPr lang="en-US" sz="1000" dirty="0"/>
          </a:p>
        </p:txBody>
      </p:sp>
      <p:sp>
        <p:nvSpPr>
          <p:cNvPr id="18" name="Text 14"/>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金額はすべて税抜。減価償却費・法人税等は含みません。家賃は仮定坪単価による試算。目安であり売上・利益を保証するものではありません。</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23</a:t>
            </a:r>
            <a:r>
              <a:rPr lang="en-US" sz="1050" b="1" dirty="0">
                <a:solidFill>
                  <a:srgbClr val="1B8149"/>
                </a:solidFill>
                <a:latin typeface="Yu Gothic" pitchFamily="34" charset="0"/>
                <a:ea typeface="Yu Gothic" pitchFamily="34" charset="-122"/>
                <a:cs typeface="Yu Gothic" pitchFamily="34" charset="-120"/>
              </a:rPr>
              <a:t>   損益分岐点</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自社物件なら1日約29杯で黒字圏</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40席の店で「1席1杯以下」。賃貸でも約49杯（1席あたり約1.2杯）が分岐点です（20坪モデル）。</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24</a:t>
            </a:r>
            <a:endParaRPr lang="en-US" sz="1000" dirty="0"/>
          </a:p>
        </p:txBody>
      </p:sp>
      <p:sp>
        <p:nvSpPr>
          <p:cNvPr id="9" name="Shape 6"/>
          <p:cNvSpPr/>
          <p:nvPr/>
        </p:nvSpPr>
        <p:spPr>
          <a:xfrm>
            <a:off x="660197" y="1651406"/>
            <a:ext cx="7406640" cy="4041648"/>
          </a:xfrm>
          <a:prstGeom prst="roundRect">
            <a:avLst>
              <a:gd name="adj" fmla="val 1357"/>
            </a:avLst>
          </a:prstGeom>
          <a:solidFill>
            <a:srgbClr val="FFFFFF"/>
          </a:solidFill>
          <a:ln w="9525">
            <a:solidFill>
              <a:srgbClr val="EFEAE0"/>
            </a:solidFill>
            <a:prstDash val="solid"/>
          </a:ln>
        </p:spPr>
      </p:sp>
      <p:sp>
        <p:nvSpPr>
          <p:cNvPr id="10" name="Text 7"/>
          <p:cNvSpPr/>
          <p:nvPr/>
        </p:nvSpPr>
        <p:spPr>
          <a:xfrm>
            <a:off x="934517" y="1815998"/>
            <a:ext cx="6858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1日の販売杯数と月間損益（万円）</a:t>
            </a:r>
            <a:endParaRPr lang="en-US" sz="1100" dirty="0"/>
          </a:p>
        </p:txBody>
      </p:sp>
      <p:graphicFrame>
        <p:nvGraphicFramePr>
          <p:cNvPr id="11" name="Chart 0" descr=""/>
          <p:cNvGraphicFramePr/>
          <p:nvPr/>
        </p:nvGraphicFramePr>
        <p:xfrm>
          <a:off x="843077" y="2108606"/>
          <a:ext cx="7040880" cy="3401568"/>
        </p:xfrm>
        <a:graphic xmlns:a="http://schemas.openxmlformats.org/drawingml/2006/main">
          <a:graphicData uri="http://schemas.openxmlformats.org/drawingml/2006/chart">
            <c:chart xmlns:c="http://schemas.openxmlformats.org/drawingml/2006/chart" r:id="rId2"/>
          </a:graphicData>
        </a:graphic>
      </p:graphicFrame>
      <p:sp>
        <p:nvSpPr>
          <p:cNvPr id="12" name="Shape 8"/>
          <p:cNvSpPr/>
          <p:nvPr/>
        </p:nvSpPr>
        <p:spPr>
          <a:xfrm>
            <a:off x="8450885" y="1651406"/>
            <a:ext cx="3080614" cy="1517904"/>
          </a:xfrm>
          <a:prstGeom prst="roundRect">
            <a:avLst>
              <a:gd name="adj" fmla="val 3614"/>
            </a:avLst>
          </a:prstGeom>
          <a:solidFill>
            <a:srgbClr val="0C5230"/>
          </a:solidFill>
          <a:ln/>
        </p:spPr>
      </p:sp>
      <p:sp>
        <p:nvSpPr>
          <p:cNvPr id="13" name="Text 9"/>
          <p:cNvSpPr/>
          <p:nvPr/>
        </p:nvSpPr>
        <p:spPr>
          <a:xfrm>
            <a:off x="8688629" y="1815998"/>
            <a:ext cx="2605126" cy="237744"/>
          </a:xfrm>
          <a:prstGeom prst="rect">
            <a:avLst/>
          </a:prstGeom>
          <a:noFill/>
          <a:ln/>
        </p:spPr>
        <p:txBody>
          <a:bodyPr wrap="square" lIns="0" tIns="0" rIns="0" bIns="0" rtlCol="0" anchor="ctr"/>
          <a:lstStyle/>
          <a:p>
            <a:pPr indent="0" marL="0">
              <a:buNone/>
            </a:pPr>
            <a:r>
              <a:rPr lang="en-US" sz="1050" b="1" dirty="0">
                <a:solidFill>
                  <a:srgbClr val="8CC5A5"/>
                </a:solidFill>
                <a:latin typeface="Yu Gothic" pitchFamily="34" charset="0"/>
                <a:ea typeface="Yu Gothic" pitchFamily="34" charset="-122"/>
                <a:cs typeface="Yu Gothic" pitchFamily="34" charset="-120"/>
              </a:rPr>
              <a:t>自社物件（家賃0円）</a:t>
            </a:r>
            <a:endParaRPr lang="en-US" sz="1050" dirty="0"/>
          </a:p>
        </p:txBody>
      </p:sp>
      <p:sp>
        <p:nvSpPr>
          <p:cNvPr id="14" name="Text 10"/>
          <p:cNvSpPr/>
          <p:nvPr/>
        </p:nvSpPr>
        <p:spPr>
          <a:xfrm>
            <a:off x="8688629" y="2090318"/>
            <a:ext cx="2605126" cy="512064"/>
          </a:xfrm>
          <a:prstGeom prst="rect">
            <a:avLst/>
          </a:prstGeom>
          <a:noFill/>
          <a:ln/>
        </p:spPr>
        <p:txBody>
          <a:bodyPr wrap="square" lIns="0" tIns="0" rIns="0" bIns="0" rtlCol="0" anchor="ctr"/>
          <a:lstStyle/>
          <a:p>
            <a:pPr indent="0" marL="0">
              <a:buNone/>
            </a:pPr>
            <a:r>
              <a:rPr lang="en-US" sz="2600" b="1" dirty="0">
                <a:solidFill>
                  <a:srgbClr val="F0C05A"/>
                </a:solidFill>
                <a:latin typeface="Yu Gothic" pitchFamily="34" charset="0"/>
                <a:ea typeface="Yu Gothic" pitchFamily="34" charset="-122"/>
                <a:cs typeface="Yu Gothic" pitchFamily="34" charset="-120"/>
              </a:rPr>
              <a:t>約29</a:t>
            </a:r>
            <a:r>
              <a:rPr lang="en-US" sz="1300" b="1" dirty="0">
                <a:solidFill>
                  <a:srgbClr val="F0C05A"/>
                </a:solidFill>
                <a:latin typeface="Yu Gothic" pitchFamily="34" charset="0"/>
                <a:ea typeface="Yu Gothic" pitchFamily="34" charset="-122"/>
                <a:cs typeface="Yu Gothic" pitchFamily="34" charset="-120"/>
              </a:rPr>
              <a:t> 杯／日</a:t>
            </a:r>
            <a:endParaRPr lang="en-US" sz="2600" dirty="0"/>
          </a:p>
        </p:txBody>
      </p:sp>
      <p:sp>
        <p:nvSpPr>
          <p:cNvPr id="15" name="Text 11"/>
          <p:cNvSpPr/>
          <p:nvPr/>
        </p:nvSpPr>
        <p:spPr>
          <a:xfrm>
            <a:off x="8688629" y="2657246"/>
            <a:ext cx="2605126" cy="402336"/>
          </a:xfrm>
          <a:prstGeom prst="rect">
            <a:avLst/>
          </a:prstGeom>
          <a:noFill/>
          <a:ln/>
        </p:spPr>
        <p:txBody>
          <a:bodyPr wrap="square" lIns="0" tIns="0" rIns="0" bIns="0" rtlCol="0" anchor="t"/>
          <a:lstStyle/>
          <a:p>
            <a:pPr indent="0" marL="0">
              <a:lnSpc>
                <a:spcPct val="130000"/>
              </a:lnSpc>
              <a:buNone/>
            </a:pPr>
            <a:r>
              <a:rPr lang="en-US" sz="850" dirty="0">
                <a:solidFill>
                  <a:srgbClr val="AFC2B8"/>
                </a:solidFill>
                <a:latin typeface="Yu Gothic" pitchFamily="34" charset="0"/>
                <a:ea typeface="Yu Gothic" pitchFamily="34" charset="-122"/>
                <a:cs typeface="Yu Gothic" pitchFamily="34" charset="-120"/>
              </a:rPr>
              <a:t>固定費28.6万円 ÷ 1杯あたり限界利益336円 ≒ 月851杯</a:t>
            </a:r>
            <a:endParaRPr lang="en-US" sz="850" dirty="0"/>
          </a:p>
        </p:txBody>
      </p:sp>
      <p:sp>
        <p:nvSpPr>
          <p:cNvPr id="16" name="Shape 12"/>
          <p:cNvSpPr/>
          <p:nvPr/>
        </p:nvSpPr>
        <p:spPr>
          <a:xfrm>
            <a:off x="8450885" y="3352190"/>
            <a:ext cx="3080614" cy="1517904"/>
          </a:xfrm>
          <a:prstGeom prst="roundRect">
            <a:avLst>
              <a:gd name="adj" fmla="val 3614"/>
            </a:avLst>
          </a:prstGeom>
          <a:solidFill>
            <a:srgbClr val="F1F8F3"/>
          </a:solidFill>
          <a:ln w="9525">
            <a:solidFill>
              <a:srgbClr val="D2E7DA"/>
            </a:solidFill>
            <a:prstDash val="solid"/>
          </a:ln>
        </p:spPr>
      </p:sp>
      <p:sp>
        <p:nvSpPr>
          <p:cNvPr id="17" name="Text 13"/>
          <p:cNvSpPr/>
          <p:nvPr/>
        </p:nvSpPr>
        <p:spPr>
          <a:xfrm>
            <a:off x="8688629" y="3516782"/>
            <a:ext cx="2605126" cy="237744"/>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賃貸物件（家賃20万円）</a:t>
            </a:r>
            <a:endParaRPr lang="en-US" sz="1050" dirty="0"/>
          </a:p>
        </p:txBody>
      </p:sp>
      <p:sp>
        <p:nvSpPr>
          <p:cNvPr id="18" name="Text 14"/>
          <p:cNvSpPr/>
          <p:nvPr/>
        </p:nvSpPr>
        <p:spPr>
          <a:xfrm>
            <a:off x="8688629" y="3791102"/>
            <a:ext cx="2605126" cy="512064"/>
          </a:xfrm>
          <a:prstGeom prst="rect">
            <a:avLst/>
          </a:prstGeom>
          <a:noFill/>
          <a:ln/>
        </p:spPr>
        <p:txBody>
          <a:bodyPr wrap="square" lIns="0" tIns="0" rIns="0" bIns="0" rtlCol="0" anchor="ctr"/>
          <a:lstStyle/>
          <a:p>
            <a:pPr indent="0" marL="0">
              <a:buNone/>
            </a:pPr>
            <a:r>
              <a:rPr lang="en-US" sz="2600" b="1" dirty="0">
                <a:solidFill>
                  <a:srgbClr val="106838"/>
                </a:solidFill>
                <a:latin typeface="Yu Gothic" pitchFamily="34" charset="0"/>
                <a:ea typeface="Yu Gothic" pitchFamily="34" charset="-122"/>
                <a:cs typeface="Yu Gothic" pitchFamily="34" charset="-120"/>
              </a:rPr>
              <a:t>約49</a:t>
            </a:r>
            <a:r>
              <a:rPr lang="en-US" sz="1300" b="1" dirty="0">
                <a:solidFill>
                  <a:srgbClr val="106838"/>
                </a:solidFill>
                <a:latin typeface="Yu Gothic" pitchFamily="34" charset="0"/>
                <a:ea typeface="Yu Gothic" pitchFamily="34" charset="-122"/>
                <a:cs typeface="Yu Gothic" pitchFamily="34" charset="-120"/>
              </a:rPr>
              <a:t> 杯／日</a:t>
            </a:r>
            <a:endParaRPr lang="en-US" sz="2600" dirty="0"/>
          </a:p>
        </p:txBody>
      </p:sp>
      <p:sp>
        <p:nvSpPr>
          <p:cNvPr id="19" name="Text 15"/>
          <p:cNvSpPr/>
          <p:nvPr/>
        </p:nvSpPr>
        <p:spPr>
          <a:xfrm>
            <a:off x="8688629" y="4358030"/>
            <a:ext cx="2605126" cy="402336"/>
          </a:xfrm>
          <a:prstGeom prst="rect">
            <a:avLst/>
          </a:prstGeom>
          <a:noFill/>
          <a:ln/>
        </p:spPr>
        <p:txBody>
          <a:bodyPr wrap="square" lIns="0" tIns="0" rIns="0" bIns="0" rtlCol="0" anchor="t"/>
          <a:lstStyle/>
          <a:p>
            <a:pPr indent="0" marL="0">
              <a:lnSpc>
                <a:spcPct val="130000"/>
              </a:lnSpc>
              <a:buNone/>
            </a:pPr>
            <a:r>
              <a:rPr lang="en-US" sz="850" dirty="0">
                <a:solidFill>
                  <a:srgbClr val="7E8882"/>
                </a:solidFill>
                <a:latin typeface="Yu Gothic" pitchFamily="34" charset="0"/>
                <a:ea typeface="Yu Gothic" pitchFamily="34" charset="-122"/>
                <a:cs typeface="Yu Gothic" pitchFamily="34" charset="-120"/>
              </a:rPr>
              <a:t>固定費48.6万円 ÷ 336円 ≒ 月1,447杯</a:t>
            </a:r>
            <a:endParaRPr lang="en-US" sz="850" dirty="0"/>
          </a:p>
        </p:txBody>
      </p:sp>
      <p:sp>
        <p:nvSpPr>
          <p:cNvPr id="20" name="Text 16"/>
          <p:cNvSpPr/>
          <p:nvPr/>
        </p:nvSpPr>
        <p:spPr>
          <a:xfrm>
            <a:off x="8450885" y="5052974"/>
            <a:ext cx="3080614" cy="548640"/>
          </a:xfrm>
          <a:prstGeom prst="rect">
            <a:avLst/>
          </a:prstGeom>
          <a:noFill/>
          <a:ln/>
        </p:spPr>
        <p:txBody>
          <a:bodyPr wrap="square" lIns="0" tIns="0" rIns="0" bIns="0" rtlCol="0" anchor="t"/>
          <a:lstStyle/>
          <a:p>
            <a:pPr indent="0" marL="0">
              <a:lnSpc>
                <a:spcPct val="135000"/>
              </a:lnSpc>
              <a:buNone/>
            </a:pPr>
            <a:r>
              <a:rPr lang="en-US" sz="1000" b="1" dirty="0">
                <a:solidFill>
                  <a:srgbClr val="106838"/>
                </a:solidFill>
                <a:latin typeface="Yu Gothic" pitchFamily="34" charset="0"/>
                <a:ea typeface="Yu Gothic" pitchFamily="34" charset="-122"/>
                <a:cs typeface="Yu Gothic" pitchFamily="34" charset="-120"/>
              </a:rPr>
              <a:t>参考：既存店（開業6ヶ月以上）の月商中央値は約53杯／日に相当します。</a:t>
            </a:r>
            <a:endParaRPr lang="en-US" sz="1000" dirty="0"/>
          </a:p>
        </p:txBody>
      </p:sp>
      <p:sp>
        <p:nvSpPr>
          <p:cNvPr id="21" name="Text 17"/>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20坪モデルの前提（1杯420円・原価20%・固定費28.6万円／月＋家賃）による試算。家賃・光熱費等の条件により分岐点は変動します。</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24</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投資回収シミュレーション</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20坪（初期費用800万円）と40坪（同1,200万円）について、家賃あり／家賃なし（自社物件）の回収期間を試算しました。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25</a:t>
            </a:r>
            <a:endParaRPr lang="en-US" sz="1000" dirty="0"/>
          </a:p>
        </p:txBody>
      </p:sp>
      <p:sp>
        <p:nvSpPr>
          <p:cNvPr id="9" name="Shape 6"/>
          <p:cNvSpPr/>
          <p:nvPr/>
        </p:nvSpPr>
        <p:spPr>
          <a:xfrm>
            <a:off x="660197" y="1651406"/>
            <a:ext cx="5243627" cy="3931920"/>
          </a:xfrm>
          <a:prstGeom prst="roundRect">
            <a:avLst>
              <a:gd name="adj" fmla="val 1395"/>
            </a:avLst>
          </a:prstGeom>
          <a:solidFill>
            <a:srgbClr val="FFFFFF"/>
          </a:solidFill>
          <a:ln w="9525">
            <a:solidFill>
              <a:srgbClr val="EFEAE0"/>
            </a:solidFill>
            <a:prstDash val="solid"/>
          </a:ln>
        </p:spPr>
      </p:sp>
      <p:sp>
        <p:nvSpPr>
          <p:cNvPr id="10" name="Text 7"/>
          <p:cNvSpPr/>
          <p:nvPr/>
        </p:nvSpPr>
        <p:spPr>
          <a:xfrm>
            <a:off x="934517"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01</a:t>
            </a:r>
            <a:endParaRPr lang="en-US" sz="900" dirty="0"/>
          </a:p>
        </p:txBody>
      </p:sp>
      <p:sp>
        <p:nvSpPr>
          <p:cNvPr id="11" name="Text 8"/>
          <p:cNvSpPr/>
          <p:nvPr/>
        </p:nvSpPr>
        <p:spPr>
          <a:xfrm>
            <a:off x="934517"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20坪（40席）</a:t>
            </a:r>
            <a:endParaRPr lang="en-US" sz="1600" dirty="0"/>
          </a:p>
        </p:txBody>
      </p:sp>
      <p:sp>
        <p:nvSpPr>
          <p:cNvPr id="12" name="Text 9"/>
          <p:cNvSpPr/>
          <p:nvPr/>
        </p:nvSpPr>
        <p:spPr>
          <a:xfrm>
            <a:off x="3160624"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800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13" name="Text 10"/>
          <p:cNvSpPr/>
          <p:nvPr/>
        </p:nvSpPr>
        <p:spPr>
          <a:xfrm>
            <a:off x="934517" y="2456078"/>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初期費用の内訳</a:t>
            </a:r>
            <a:endParaRPr lang="en-US" sz="950" dirty="0"/>
          </a:p>
        </p:txBody>
      </p:sp>
      <p:sp>
        <p:nvSpPr>
          <p:cNvPr id="14" name="Text 11"/>
          <p:cNvSpPr/>
          <p:nvPr/>
        </p:nvSpPr>
        <p:spPr>
          <a:xfrm>
            <a:off x="2580437" y="2456078"/>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開業費650万円（加盟金100＋工事400＋準備金100＋保証金50）＋諸経費・予備費150万円</a:t>
            </a:r>
            <a:endParaRPr lang="en-US" sz="750" dirty="0"/>
          </a:p>
        </p:txBody>
      </p:sp>
      <p:sp>
        <p:nvSpPr>
          <p:cNvPr id="15" name="Text 12"/>
          <p:cNvSpPr/>
          <p:nvPr/>
        </p:nvSpPr>
        <p:spPr>
          <a:xfrm>
            <a:off x="4166464" y="2456078"/>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800万円</a:t>
            </a:r>
            <a:endParaRPr lang="en-US" sz="1200" dirty="0"/>
          </a:p>
        </p:txBody>
      </p:sp>
      <p:sp>
        <p:nvSpPr>
          <p:cNvPr id="16" name="Shape 13"/>
          <p:cNvSpPr/>
          <p:nvPr/>
        </p:nvSpPr>
        <p:spPr>
          <a:xfrm>
            <a:off x="934517" y="2730398"/>
            <a:ext cx="4694987" cy="10058"/>
          </a:xfrm>
          <a:prstGeom prst="rect">
            <a:avLst/>
          </a:prstGeom>
          <a:solidFill>
            <a:srgbClr val="EFEAE0"/>
          </a:solidFill>
          <a:ln/>
        </p:spPr>
      </p:sp>
      <p:sp>
        <p:nvSpPr>
          <p:cNvPr id="17" name="Text 14"/>
          <p:cNvSpPr/>
          <p:nvPr/>
        </p:nvSpPr>
        <p:spPr>
          <a:xfrm>
            <a:off x="934517" y="2785262"/>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18" name="Text 15"/>
          <p:cNvSpPr/>
          <p:nvPr/>
        </p:nvSpPr>
        <p:spPr>
          <a:xfrm>
            <a:off x="2580437" y="2785262"/>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75杯 × 30日</a:t>
            </a:r>
            <a:endParaRPr lang="en-US" sz="750" dirty="0"/>
          </a:p>
        </p:txBody>
      </p:sp>
      <p:sp>
        <p:nvSpPr>
          <p:cNvPr id="19" name="Text 16"/>
          <p:cNvSpPr/>
          <p:nvPr/>
        </p:nvSpPr>
        <p:spPr>
          <a:xfrm>
            <a:off x="4166464" y="2785262"/>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945,000円</a:t>
            </a:r>
            <a:endParaRPr lang="en-US" sz="1200" dirty="0"/>
          </a:p>
        </p:txBody>
      </p:sp>
      <p:sp>
        <p:nvSpPr>
          <p:cNvPr id="20" name="Shape 17"/>
          <p:cNvSpPr/>
          <p:nvPr/>
        </p:nvSpPr>
        <p:spPr>
          <a:xfrm>
            <a:off x="934517" y="3059582"/>
            <a:ext cx="4694987" cy="10058"/>
          </a:xfrm>
          <a:prstGeom prst="rect">
            <a:avLst/>
          </a:prstGeom>
          <a:solidFill>
            <a:srgbClr val="EFEAE0"/>
          </a:solidFill>
          <a:ln/>
        </p:spPr>
      </p:sp>
      <p:sp>
        <p:nvSpPr>
          <p:cNvPr id="21" name="Text 18"/>
          <p:cNvSpPr/>
          <p:nvPr/>
        </p:nvSpPr>
        <p:spPr>
          <a:xfrm>
            <a:off x="934517" y="311444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22" name="Text 19"/>
          <p:cNvSpPr/>
          <p:nvPr/>
        </p:nvSpPr>
        <p:spPr>
          <a:xfrm>
            <a:off x="2580437" y="311444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23" name="Text 20"/>
          <p:cNvSpPr/>
          <p:nvPr/>
        </p:nvSpPr>
        <p:spPr>
          <a:xfrm>
            <a:off x="4166464" y="311444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-475,000円</a:t>
            </a:r>
            <a:endParaRPr lang="en-US" sz="1200" dirty="0"/>
          </a:p>
        </p:txBody>
      </p:sp>
      <p:sp>
        <p:nvSpPr>
          <p:cNvPr id="24" name="Shape 21"/>
          <p:cNvSpPr/>
          <p:nvPr/>
        </p:nvSpPr>
        <p:spPr>
          <a:xfrm>
            <a:off x="934517" y="3388766"/>
            <a:ext cx="4694987" cy="10058"/>
          </a:xfrm>
          <a:prstGeom prst="rect">
            <a:avLst/>
          </a:prstGeom>
          <a:solidFill>
            <a:srgbClr val="EFEAE0"/>
          </a:solidFill>
          <a:ln/>
        </p:spPr>
      </p:sp>
      <p:sp>
        <p:nvSpPr>
          <p:cNvPr id="25" name="Text 22"/>
          <p:cNvSpPr/>
          <p:nvPr/>
        </p:nvSpPr>
        <p:spPr>
          <a:xfrm>
            <a:off x="934517" y="344363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26" name="Text 23"/>
          <p:cNvSpPr/>
          <p:nvPr/>
        </p:nvSpPr>
        <p:spPr>
          <a:xfrm>
            <a:off x="2580437" y="344363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10,000円</a:t>
            </a:r>
            <a:endParaRPr lang="en-US" sz="750" dirty="0"/>
          </a:p>
        </p:txBody>
      </p:sp>
      <p:sp>
        <p:nvSpPr>
          <p:cNvPr id="27" name="Text 24"/>
          <p:cNvSpPr/>
          <p:nvPr/>
        </p:nvSpPr>
        <p:spPr>
          <a:xfrm>
            <a:off x="4166464" y="344363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-200,000円</a:t>
            </a:r>
            <a:endParaRPr lang="en-US" sz="1200" dirty="0"/>
          </a:p>
        </p:txBody>
      </p:sp>
      <p:sp>
        <p:nvSpPr>
          <p:cNvPr id="28" name="Shape 25"/>
          <p:cNvSpPr/>
          <p:nvPr/>
        </p:nvSpPr>
        <p:spPr>
          <a:xfrm>
            <a:off x="934517" y="3717950"/>
            <a:ext cx="4694987" cy="10058"/>
          </a:xfrm>
          <a:prstGeom prst="rect">
            <a:avLst/>
          </a:prstGeom>
          <a:solidFill>
            <a:srgbClr val="EFEAE0"/>
          </a:solidFill>
          <a:ln/>
        </p:spPr>
      </p:sp>
      <p:sp>
        <p:nvSpPr>
          <p:cNvPr id="29" name="Shape 26"/>
          <p:cNvSpPr/>
          <p:nvPr/>
        </p:nvSpPr>
        <p:spPr>
          <a:xfrm>
            <a:off x="934517" y="3937406"/>
            <a:ext cx="2256053" cy="1426464"/>
          </a:xfrm>
          <a:prstGeom prst="roundRect">
            <a:avLst>
              <a:gd name="adj" fmla="val 3846"/>
            </a:avLst>
          </a:prstGeom>
          <a:solidFill>
            <a:srgbClr val="F1F8F3"/>
          </a:solidFill>
          <a:ln w="9525">
            <a:solidFill>
              <a:srgbClr val="D2E7DA"/>
            </a:solidFill>
            <a:prstDash val="solid"/>
          </a:ln>
        </p:spPr>
      </p:sp>
      <p:sp>
        <p:nvSpPr>
          <p:cNvPr id="30" name="Text 27"/>
          <p:cNvSpPr/>
          <p:nvPr/>
        </p:nvSpPr>
        <p:spPr>
          <a:xfrm>
            <a:off x="1117397" y="4065422"/>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31" name="Text 28"/>
          <p:cNvSpPr/>
          <p:nvPr/>
        </p:nvSpPr>
        <p:spPr>
          <a:xfrm>
            <a:off x="1117397" y="4303166"/>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27.0万円</a:t>
            </a:r>
            <a:endParaRPr lang="en-US" sz="850" dirty="0"/>
          </a:p>
        </p:txBody>
      </p:sp>
      <p:sp>
        <p:nvSpPr>
          <p:cNvPr id="32" name="Text 29"/>
          <p:cNvSpPr/>
          <p:nvPr/>
        </p:nvSpPr>
        <p:spPr>
          <a:xfrm>
            <a:off x="1117397" y="4577486"/>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33" name="Text 30"/>
          <p:cNvSpPr/>
          <p:nvPr/>
        </p:nvSpPr>
        <p:spPr>
          <a:xfrm>
            <a:off x="1062533" y="4760366"/>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約2年6ヶ月</a:t>
            </a:r>
            <a:r>
              <a:rPr lang="en-US" sz="850" dirty="0">
                <a:solidFill>
                  <a:srgbClr val="7E8882"/>
                </a:solidFill>
                <a:latin typeface="Arial" pitchFamily="34" charset="0"/>
                <a:ea typeface="Arial" pitchFamily="34" charset="-122"/>
                <a:cs typeface="Arial" pitchFamily="34" charset="-120"/>
              </a:rPr>
              <a:t>（30ヶ月）</a:t>
            </a:r>
            <a:endParaRPr lang="en-US" sz="1450" dirty="0"/>
          </a:p>
        </p:txBody>
      </p:sp>
      <p:sp>
        <p:nvSpPr>
          <p:cNvPr id="34" name="Shape 31"/>
          <p:cNvSpPr/>
          <p:nvPr/>
        </p:nvSpPr>
        <p:spPr>
          <a:xfrm>
            <a:off x="3373450" y="3937406"/>
            <a:ext cx="2256053" cy="1426464"/>
          </a:xfrm>
          <a:prstGeom prst="roundRect">
            <a:avLst>
              <a:gd name="adj" fmla="val 3846"/>
            </a:avLst>
          </a:prstGeom>
          <a:solidFill>
            <a:srgbClr val="0C5230"/>
          </a:solidFill>
          <a:ln/>
        </p:spPr>
      </p:sp>
      <p:sp>
        <p:nvSpPr>
          <p:cNvPr id="35" name="Text 32"/>
          <p:cNvSpPr/>
          <p:nvPr/>
        </p:nvSpPr>
        <p:spPr>
          <a:xfrm>
            <a:off x="3556330" y="4065422"/>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36" name="Text 33"/>
          <p:cNvSpPr/>
          <p:nvPr/>
        </p:nvSpPr>
        <p:spPr>
          <a:xfrm>
            <a:off x="3556330" y="4303166"/>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47.0万円</a:t>
            </a:r>
            <a:endParaRPr lang="en-US" sz="850" dirty="0"/>
          </a:p>
        </p:txBody>
      </p:sp>
      <p:sp>
        <p:nvSpPr>
          <p:cNvPr id="37" name="Text 34"/>
          <p:cNvSpPr/>
          <p:nvPr/>
        </p:nvSpPr>
        <p:spPr>
          <a:xfrm>
            <a:off x="3556330" y="4577486"/>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38" name="Text 35"/>
          <p:cNvSpPr/>
          <p:nvPr/>
        </p:nvSpPr>
        <p:spPr>
          <a:xfrm>
            <a:off x="3501466" y="4760366"/>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約1年5ヶ月</a:t>
            </a:r>
            <a:r>
              <a:rPr lang="en-US" sz="850" dirty="0">
                <a:solidFill>
                  <a:srgbClr val="AFC2B8"/>
                </a:solidFill>
                <a:latin typeface="Arial" pitchFamily="34" charset="0"/>
                <a:ea typeface="Arial" pitchFamily="34" charset="-122"/>
                <a:cs typeface="Arial" pitchFamily="34" charset="-120"/>
              </a:rPr>
              <a:t>（17ヶ月）</a:t>
            </a:r>
            <a:endParaRPr lang="en-US" sz="1450" dirty="0"/>
          </a:p>
        </p:txBody>
      </p:sp>
      <p:sp>
        <p:nvSpPr>
          <p:cNvPr id="39" name="Shape 36"/>
          <p:cNvSpPr/>
          <p:nvPr/>
        </p:nvSpPr>
        <p:spPr>
          <a:xfrm>
            <a:off x="6287872" y="1651406"/>
            <a:ext cx="5243627" cy="3931920"/>
          </a:xfrm>
          <a:prstGeom prst="roundRect">
            <a:avLst>
              <a:gd name="adj" fmla="val 1395"/>
            </a:avLst>
          </a:prstGeom>
          <a:solidFill>
            <a:srgbClr val="FFFFFF"/>
          </a:solidFill>
          <a:ln w="9525">
            <a:solidFill>
              <a:srgbClr val="EFEAE0"/>
            </a:solidFill>
            <a:prstDash val="solid"/>
          </a:ln>
        </p:spPr>
      </p:sp>
      <p:sp>
        <p:nvSpPr>
          <p:cNvPr id="40" name="Text 37"/>
          <p:cNvSpPr/>
          <p:nvPr/>
        </p:nvSpPr>
        <p:spPr>
          <a:xfrm>
            <a:off x="6562192"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02</a:t>
            </a:r>
            <a:endParaRPr lang="en-US" sz="900" dirty="0"/>
          </a:p>
        </p:txBody>
      </p:sp>
      <p:sp>
        <p:nvSpPr>
          <p:cNvPr id="41" name="Text 38"/>
          <p:cNvSpPr/>
          <p:nvPr/>
        </p:nvSpPr>
        <p:spPr>
          <a:xfrm>
            <a:off x="6562192"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40坪（80席）</a:t>
            </a:r>
            <a:endParaRPr lang="en-US" sz="1600" dirty="0"/>
          </a:p>
        </p:txBody>
      </p:sp>
      <p:sp>
        <p:nvSpPr>
          <p:cNvPr id="42" name="Text 39"/>
          <p:cNvSpPr/>
          <p:nvPr/>
        </p:nvSpPr>
        <p:spPr>
          <a:xfrm>
            <a:off x="8788298"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1,200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43" name="Text 40"/>
          <p:cNvSpPr/>
          <p:nvPr/>
        </p:nvSpPr>
        <p:spPr>
          <a:xfrm>
            <a:off x="6562192" y="2456078"/>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初期費用の内訳</a:t>
            </a:r>
            <a:endParaRPr lang="en-US" sz="950" dirty="0"/>
          </a:p>
        </p:txBody>
      </p:sp>
      <p:sp>
        <p:nvSpPr>
          <p:cNvPr id="44" name="Text 41"/>
          <p:cNvSpPr/>
          <p:nvPr/>
        </p:nvSpPr>
        <p:spPr>
          <a:xfrm>
            <a:off x="8208112" y="2456078"/>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スケルトン工事の開業費950万円＋諸経費・予備費250万円</a:t>
            </a:r>
            <a:endParaRPr lang="en-US" sz="750" dirty="0"/>
          </a:p>
        </p:txBody>
      </p:sp>
      <p:sp>
        <p:nvSpPr>
          <p:cNvPr id="45" name="Text 42"/>
          <p:cNvSpPr/>
          <p:nvPr/>
        </p:nvSpPr>
        <p:spPr>
          <a:xfrm>
            <a:off x="9794138" y="2456078"/>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1,200万円</a:t>
            </a:r>
            <a:endParaRPr lang="en-US" sz="1200" dirty="0"/>
          </a:p>
        </p:txBody>
      </p:sp>
      <p:sp>
        <p:nvSpPr>
          <p:cNvPr id="46" name="Shape 43"/>
          <p:cNvSpPr/>
          <p:nvPr/>
        </p:nvSpPr>
        <p:spPr>
          <a:xfrm>
            <a:off x="6562192" y="2730398"/>
            <a:ext cx="4694987" cy="10058"/>
          </a:xfrm>
          <a:prstGeom prst="rect">
            <a:avLst/>
          </a:prstGeom>
          <a:solidFill>
            <a:srgbClr val="EFEAE0"/>
          </a:solidFill>
          <a:ln/>
        </p:spPr>
      </p:sp>
      <p:sp>
        <p:nvSpPr>
          <p:cNvPr id="47" name="Text 44"/>
          <p:cNvSpPr/>
          <p:nvPr/>
        </p:nvSpPr>
        <p:spPr>
          <a:xfrm>
            <a:off x="6562192" y="2785262"/>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48" name="Text 45"/>
          <p:cNvSpPr/>
          <p:nvPr/>
        </p:nvSpPr>
        <p:spPr>
          <a:xfrm>
            <a:off x="8208112" y="2785262"/>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100杯 × 30日</a:t>
            </a:r>
            <a:endParaRPr lang="en-US" sz="750" dirty="0"/>
          </a:p>
        </p:txBody>
      </p:sp>
      <p:sp>
        <p:nvSpPr>
          <p:cNvPr id="49" name="Text 46"/>
          <p:cNvSpPr/>
          <p:nvPr/>
        </p:nvSpPr>
        <p:spPr>
          <a:xfrm>
            <a:off x="9794138" y="2785262"/>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1,260,000円</a:t>
            </a:r>
            <a:endParaRPr lang="en-US" sz="1200" dirty="0"/>
          </a:p>
        </p:txBody>
      </p:sp>
      <p:sp>
        <p:nvSpPr>
          <p:cNvPr id="50" name="Shape 47"/>
          <p:cNvSpPr/>
          <p:nvPr/>
        </p:nvSpPr>
        <p:spPr>
          <a:xfrm>
            <a:off x="6562192" y="3059582"/>
            <a:ext cx="4694987" cy="10058"/>
          </a:xfrm>
          <a:prstGeom prst="rect">
            <a:avLst/>
          </a:prstGeom>
          <a:solidFill>
            <a:srgbClr val="EFEAE0"/>
          </a:solidFill>
          <a:ln/>
        </p:spPr>
      </p:sp>
      <p:sp>
        <p:nvSpPr>
          <p:cNvPr id="51" name="Text 48"/>
          <p:cNvSpPr/>
          <p:nvPr/>
        </p:nvSpPr>
        <p:spPr>
          <a:xfrm>
            <a:off x="6562192" y="311444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52" name="Text 49"/>
          <p:cNvSpPr/>
          <p:nvPr/>
        </p:nvSpPr>
        <p:spPr>
          <a:xfrm>
            <a:off x="8208112" y="311444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53" name="Text 50"/>
          <p:cNvSpPr/>
          <p:nvPr/>
        </p:nvSpPr>
        <p:spPr>
          <a:xfrm>
            <a:off x="9794138" y="311444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-553,000円</a:t>
            </a:r>
            <a:endParaRPr lang="en-US" sz="1200" dirty="0"/>
          </a:p>
        </p:txBody>
      </p:sp>
      <p:sp>
        <p:nvSpPr>
          <p:cNvPr id="54" name="Shape 51"/>
          <p:cNvSpPr/>
          <p:nvPr/>
        </p:nvSpPr>
        <p:spPr>
          <a:xfrm>
            <a:off x="6562192" y="3388766"/>
            <a:ext cx="4694987" cy="10058"/>
          </a:xfrm>
          <a:prstGeom prst="rect">
            <a:avLst/>
          </a:prstGeom>
          <a:solidFill>
            <a:srgbClr val="EFEAE0"/>
          </a:solidFill>
          <a:ln/>
        </p:spPr>
      </p:sp>
      <p:sp>
        <p:nvSpPr>
          <p:cNvPr id="55" name="Text 52"/>
          <p:cNvSpPr/>
          <p:nvPr/>
        </p:nvSpPr>
        <p:spPr>
          <a:xfrm>
            <a:off x="6562192" y="344363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56" name="Text 53"/>
          <p:cNvSpPr/>
          <p:nvPr/>
        </p:nvSpPr>
        <p:spPr>
          <a:xfrm>
            <a:off x="8208112" y="344363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8,000円</a:t>
            </a:r>
            <a:endParaRPr lang="en-US" sz="750" dirty="0"/>
          </a:p>
        </p:txBody>
      </p:sp>
      <p:sp>
        <p:nvSpPr>
          <p:cNvPr id="57" name="Text 54"/>
          <p:cNvSpPr/>
          <p:nvPr/>
        </p:nvSpPr>
        <p:spPr>
          <a:xfrm>
            <a:off x="9794138" y="344363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Yu Gothic" pitchFamily="34" charset="0"/>
                <a:ea typeface="Yu Gothic" pitchFamily="34" charset="-122"/>
                <a:cs typeface="Yu Gothic" pitchFamily="34" charset="-120"/>
              </a:rPr>
              <a:t>-320,000円</a:t>
            </a:r>
            <a:endParaRPr lang="en-US" sz="1200" dirty="0"/>
          </a:p>
        </p:txBody>
      </p:sp>
      <p:sp>
        <p:nvSpPr>
          <p:cNvPr id="58" name="Shape 55"/>
          <p:cNvSpPr/>
          <p:nvPr/>
        </p:nvSpPr>
        <p:spPr>
          <a:xfrm>
            <a:off x="6562192" y="3717950"/>
            <a:ext cx="4694987" cy="10058"/>
          </a:xfrm>
          <a:prstGeom prst="rect">
            <a:avLst/>
          </a:prstGeom>
          <a:solidFill>
            <a:srgbClr val="EFEAE0"/>
          </a:solidFill>
          <a:ln/>
        </p:spPr>
      </p:sp>
      <p:sp>
        <p:nvSpPr>
          <p:cNvPr id="59" name="Shape 56"/>
          <p:cNvSpPr/>
          <p:nvPr/>
        </p:nvSpPr>
        <p:spPr>
          <a:xfrm>
            <a:off x="6562192" y="3937406"/>
            <a:ext cx="2256053" cy="1426464"/>
          </a:xfrm>
          <a:prstGeom prst="roundRect">
            <a:avLst>
              <a:gd name="adj" fmla="val 3846"/>
            </a:avLst>
          </a:prstGeom>
          <a:solidFill>
            <a:srgbClr val="F1F8F3"/>
          </a:solidFill>
          <a:ln w="9525">
            <a:solidFill>
              <a:srgbClr val="D2E7DA"/>
            </a:solidFill>
            <a:prstDash val="solid"/>
          </a:ln>
        </p:spPr>
      </p:sp>
      <p:sp>
        <p:nvSpPr>
          <p:cNvPr id="60" name="Text 57"/>
          <p:cNvSpPr/>
          <p:nvPr/>
        </p:nvSpPr>
        <p:spPr>
          <a:xfrm>
            <a:off x="6745072" y="4065422"/>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61" name="Text 58"/>
          <p:cNvSpPr/>
          <p:nvPr/>
        </p:nvSpPr>
        <p:spPr>
          <a:xfrm>
            <a:off x="6745072" y="4303166"/>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38.7万円</a:t>
            </a:r>
            <a:endParaRPr lang="en-US" sz="850" dirty="0"/>
          </a:p>
        </p:txBody>
      </p:sp>
      <p:sp>
        <p:nvSpPr>
          <p:cNvPr id="62" name="Text 59"/>
          <p:cNvSpPr/>
          <p:nvPr/>
        </p:nvSpPr>
        <p:spPr>
          <a:xfrm>
            <a:off x="6745072" y="4577486"/>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63" name="Text 60"/>
          <p:cNvSpPr/>
          <p:nvPr/>
        </p:nvSpPr>
        <p:spPr>
          <a:xfrm>
            <a:off x="6690208" y="4760366"/>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約2年7ヶ月</a:t>
            </a:r>
            <a:r>
              <a:rPr lang="en-US" sz="850" dirty="0">
                <a:solidFill>
                  <a:srgbClr val="7E8882"/>
                </a:solidFill>
                <a:latin typeface="Arial" pitchFamily="34" charset="0"/>
                <a:ea typeface="Arial" pitchFamily="34" charset="-122"/>
                <a:cs typeface="Arial" pitchFamily="34" charset="-120"/>
              </a:rPr>
              <a:t>（31ヶ月）</a:t>
            </a:r>
            <a:endParaRPr lang="en-US" sz="1450" dirty="0"/>
          </a:p>
        </p:txBody>
      </p:sp>
      <p:sp>
        <p:nvSpPr>
          <p:cNvPr id="64" name="Shape 61"/>
          <p:cNvSpPr/>
          <p:nvPr/>
        </p:nvSpPr>
        <p:spPr>
          <a:xfrm>
            <a:off x="9001125" y="3937406"/>
            <a:ext cx="2256053" cy="1426464"/>
          </a:xfrm>
          <a:prstGeom prst="roundRect">
            <a:avLst>
              <a:gd name="adj" fmla="val 3846"/>
            </a:avLst>
          </a:prstGeom>
          <a:solidFill>
            <a:srgbClr val="0C5230"/>
          </a:solidFill>
          <a:ln/>
        </p:spPr>
      </p:sp>
      <p:sp>
        <p:nvSpPr>
          <p:cNvPr id="65" name="Text 62"/>
          <p:cNvSpPr/>
          <p:nvPr/>
        </p:nvSpPr>
        <p:spPr>
          <a:xfrm>
            <a:off x="9184005" y="4065422"/>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66" name="Text 63"/>
          <p:cNvSpPr/>
          <p:nvPr/>
        </p:nvSpPr>
        <p:spPr>
          <a:xfrm>
            <a:off x="9184005" y="4303166"/>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70.7万円</a:t>
            </a:r>
            <a:endParaRPr lang="en-US" sz="850" dirty="0"/>
          </a:p>
        </p:txBody>
      </p:sp>
      <p:sp>
        <p:nvSpPr>
          <p:cNvPr id="67" name="Text 64"/>
          <p:cNvSpPr/>
          <p:nvPr/>
        </p:nvSpPr>
        <p:spPr>
          <a:xfrm>
            <a:off x="9184005" y="4577486"/>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68" name="Text 65"/>
          <p:cNvSpPr/>
          <p:nvPr/>
        </p:nvSpPr>
        <p:spPr>
          <a:xfrm>
            <a:off x="9129141" y="4760366"/>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約1年5ヶ月</a:t>
            </a:r>
            <a:r>
              <a:rPr lang="en-US" sz="850" dirty="0">
                <a:solidFill>
                  <a:srgbClr val="AFC2B8"/>
                </a:solidFill>
                <a:latin typeface="Arial" pitchFamily="34" charset="0"/>
                <a:ea typeface="Arial" pitchFamily="34" charset="-122"/>
                <a:cs typeface="Arial" pitchFamily="34" charset="-120"/>
              </a:rPr>
              <a:t>（17ヶ月）</a:t>
            </a:r>
            <a:endParaRPr lang="en-US" sz="1450" dirty="0"/>
          </a:p>
        </p:txBody>
      </p:sp>
      <p:sp>
        <p:nvSpPr>
          <p:cNvPr id="69" name="Shape 66"/>
          <p:cNvSpPr/>
          <p:nvPr/>
        </p:nvSpPr>
        <p:spPr>
          <a:xfrm>
            <a:off x="660197" y="5711342"/>
            <a:ext cx="10871302" cy="457200"/>
          </a:xfrm>
          <a:prstGeom prst="roundRect">
            <a:avLst>
              <a:gd name="adj" fmla="val 12000"/>
            </a:avLst>
          </a:prstGeom>
          <a:solidFill>
            <a:srgbClr val="F1F8F3"/>
          </a:solidFill>
          <a:ln w="9525">
            <a:solidFill>
              <a:srgbClr val="D2E7DA"/>
            </a:solidFill>
            <a:prstDash val="solid"/>
          </a:ln>
        </p:spPr>
      </p:sp>
      <p:sp>
        <p:nvSpPr>
          <p:cNvPr id="70" name="Text 67"/>
          <p:cNvSpPr/>
          <p:nvPr/>
        </p:nvSpPr>
        <p:spPr>
          <a:xfrm>
            <a:off x="897941" y="5711342"/>
            <a:ext cx="10395814" cy="457200"/>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前提：初期費用は標準総投資予算（居抜き800万円／スケルトン1,200万円程度）／1杯420円・販売数は収益シミュレーションと同一／減価償却費・税を除く</a:t>
            </a:r>
            <a:endParaRPr lang="en-US" sz="950" dirty="0"/>
          </a:p>
        </p:txBody>
      </p:sp>
      <p:sp>
        <p:nvSpPr>
          <p:cNvPr id="71" name="Text 68"/>
          <p:cNvSpPr/>
          <p:nvPr/>
        </p:nvSpPr>
        <p:spPr>
          <a:xfrm>
            <a:off x="660197" y="629655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開業費は「初期投資の詳細」ページ、売上・経費は「収益シミュレーション」ページと同一の前提です。回収期間・利益を保証するものではありません。</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25</a:t>
            </a:r>
            <a:r>
              <a:rPr lang="en-US" sz="1050" b="1" dirty="0">
                <a:solidFill>
                  <a:srgbClr val="1B8149"/>
                </a:solidFill>
                <a:latin typeface="Yu Gothic" pitchFamily="34" charset="0"/>
                <a:ea typeface="Yu Gothic" pitchFamily="34" charset="-122"/>
                <a:cs typeface="Yu Gothic" pitchFamily="34" charset="-120"/>
              </a:rPr>
              <a:t>   投資回収シミュレーション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自社物件・標準杯数で回収約17ヶ月</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標準予算800万円・20坪モデルの累計損益の推移。線が0円を超えた時点が回収完了です。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26</a:t>
            </a:r>
            <a:endParaRPr lang="en-US" sz="1000" dirty="0"/>
          </a:p>
        </p:txBody>
      </p:sp>
      <p:sp>
        <p:nvSpPr>
          <p:cNvPr id="9" name="Shape 6"/>
          <p:cNvSpPr/>
          <p:nvPr/>
        </p:nvSpPr>
        <p:spPr>
          <a:xfrm>
            <a:off x="660197" y="1651406"/>
            <a:ext cx="7406640" cy="4041648"/>
          </a:xfrm>
          <a:prstGeom prst="roundRect">
            <a:avLst>
              <a:gd name="adj" fmla="val 1357"/>
            </a:avLst>
          </a:prstGeom>
          <a:solidFill>
            <a:srgbClr val="FFFFFF"/>
          </a:solidFill>
          <a:ln w="9525">
            <a:solidFill>
              <a:srgbClr val="EFEAE0"/>
            </a:solidFill>
            <a:prstDash val="solid"/>
          </a:ln>
        </p:spPr>
      </p:sp>
      <p:sp>
        <p:nvSpPr>
          <p:cNvPr id="10" name="Text 7"/>
          <p:cNvSpPr/>
          <p:nvPr/>
        </p:nvSpPr>
        <p:spPr>
          <a:xfrm>
            <a:off x="934517" y="1815998"/>
            <a:ext cx="6858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累計損益の推移（万円）／総投資800万円スタート</a:t>
            </a:r>
            <a:endParaRPr lang="en-US" sz="1100" dirty="0"/>
          </a:p>
        </p:txBody>
      </p:sp>
      <p:graphicFrame>
        <p:nvGraphicFramePr>
          <p:cNvPr id="11" name="Chart 0" descr=""/>
          <p:cNvGraphicFramePr/>
          <p:nvPr/>
        </p:nvGraphicFramePr>
        <p:xfrm>
          <a:off x="843077" y="2108606"/>
          <a:ext cx="7040880" cy="3401568"/>
        </p:xfrm>
        <a:graphic xmlns:a="http://schemas.openxmlformats.org/drawingml/2006/main">
          <a:graphicData uri="http://schemas.openxmlformats.org/drawingml/2006/chart">
            <c:chart xmlns:c="http://schemas.openxmlformats.org/drawingml/2006/chart" r:id="rId2"/>
          </a:graphicData>
        </a:graphic>
      </p:graphicFrame>
      <p:sp>
        <p:nvSpPr>
          <p:cNvPr id="12" name="Shape 8"/>
          <p:cNvSpPr/>
          <p:nvPr/>
        </p:nvSpPr>
        <p:spPr>
          <a:xfrm>
            <a:off x="8450885" y="1651406"/>
            <a:ext cx="3080614" cy="1280160"/>
          </a:xfrm>
          <a:prstGeom prst="roundRect">
            <a:avLst>
              <a:gd name="adj" fmla="val 4286"/>
            </a:avLst>
          </a:prstGeom>
          <a:solidFill>
            <a:srgbClr val="0C5230"/>
          </a:solidFill>
          <a:ln/>
        </p:spPr>
      </p:sp>
      <p:sp>
        <p:nvSpPr>
          <p:cNvPr id="13" name="Text 9"/>
          <p:cNvSpPr/>
          <p:nvPr/>
        </p:nvSpPr>
        <p:spPr>
          <a:xfrm>
            <a:off x="8688629" y="1797710"/>
            <a:ext cx="2605126" cy="219456"/>
          </a:xfrm>
          <a:prstGeom prst="rect">
            <a:avLst/>
          </a:prstGeom>
          <a:noFill/>
          <a:ln/>
        </p:spPr>
        <p:txBody>
          <a:bodyPr wrap="square" lIns="0" tIns="0" rIns="0" bIns="0" rtlCol="0" anchor="ctr"/>
          <a:lstStyle/>
          <a:p>
            <a:pPr indent="0" marL="0">
              <a:buNone/>
            </a:pPr>
            <a:r>
              <a:rPr lang="en-US" sz="1050" b="1" dirty="0">
                <a:solidFill>
                  <a:srgbClr val="8CC5A5"/>
                </a:solidFill>
                <a:latin typeface="Yu Gothic" pitchFamily="34" charset="0"/>
                <a:ea typeface="Yu Gothic" pitchFamily="34" charset="-122"/>
                <a:cs typeface="Yu Gothic" pitchFamily="34" charset="-120"/>
              </a:rPr>
              <a:t>自社物件</a:t>
            </a:r>
            <a:endParaRPr lang="en-US" sz="1050" dirty="0"/>
          </a:p>
        </p:txBody>
      </p:sp>
      <p:sp>
        <p:nvSpPr>
          <p:cNvPr id="14" name="Text 10"/>
          <p:cNvSpPr/>
          <p:nvPr/>
        </p:nvSpPr>
        <p:spPr>
          <a:xfrm>
            <a:off x="8688629" y="2035454"/>
            <a:ext cx="2605126"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約17</a:t>
            </a:r>
            <a:r>
              <a:rPr lang="en-US" sz="1250" b="1" dirty="0">
                <a:solidFill>
                  <a:srgbClr val="FFFFFF"/>
                </a:solidFill>
                <a:latin typeface="Yu Gothic" pitchFamily="34" charset="0"/>
                <a:ea typeface="Yu Gothic" pitchFamily="34" charset="-122"/>
                <a:cs typeface="Yu Gothic" pitchFamily="34" charset="-120"/>
              </a:rPr>
              <a:t> ヶ月</a:t>
            </a:r>
            <a:endParaRPr lang="en-US" sz="2400" dirty="0"/>
          </a:p>
        </p:txBody>
      </p:sp>
      <p:sp>
        <p:nvSpPr>
          <p:cNvPr id="15" name="Text 11"/>
          <p:cNvSpPr/>
          <p:nvPr/>
        </p:nvSpPr>
        <p:spPr>
          <a:xfrm>
            <a:off x="8688629" y="2547518"/>
            <a:ext cx="2605126" cy="274320"/>
          </a:xfrm>
          <a:prstGeom prst="rect">
            <a:avLst/>
          </a:prstGeom>
          <a:noFill/>
          <a:ln/>
        </p:spPr>
        <p:txBody>
          <a:bodyPr wrap="square" lIns="0" tIns="0" rIns="0" bIns="0" rtlCol="0" anchor="ctr"/>
          <a:lstStyle/>
          <a:p>
            <a:pPr indent="0" marL="0">
              <a:buNone/>
            </a:pPr>
            <a:r>
              <a:rPr lang="en-US" sz="900" dirty="0">
                <a:solidFill>
                  <a:srgbClr val="AFC2B8"/>
                </a:solidFill>
                <a:latin typeface="Yu Gothic" pitchFamily="34" charset="0"/>
                <a:ea typeface="Yu Gothic" pitchFamily="34" charset="-122"/>
                <a:cs typeface="Yu Gothic" pitchFamily="34" charset="-120"/>
              </a:rPr>
              <a:t>75杯／日・月間利益47万円</a:t>
            </a:r>
            <a:endParaRPr lang="en-US" sz="900" dirty="0"/>
          </a:p>
        </p:txBody>
      </p:sp>
      <p:sp>
        <p:nvSpPr>
          <p:cNvPr id="16" name="Shape 12"/>
          <p:cNvSpPr/>
          <p:nvPr/>
        </p:nvSpPr>
        <p:spPr>
          <a:xfrm>
            <a:off x="8450885" y="3077870"/>
            <a:ext cx="3080614" cy="1280160"/>
          </a:xfrm>
          <a:prstGeom prst="roundRect">
            <a:avLst>
              <a:gd name="adj" fmla="val 4286"/>
            </a:avLst>
          </a:prstGeom>
          <a:solidFill>
            <a:srgbClr val="FFFFFF"/>
          </a:solidFill>
          <a:ln w="9525">
            <a:solidFill>
              <a:srgbClr val="EFEAE0"/>
            </a:solidFill>
            <a:prstDash val="solid"/>
          </a:ln>
        </p:spPr>
      </p:sp>
      <p:sp>
        <p:nvSpPr>
          <p:cNvPr id="17" name="Text 13"/>
          <p:cNvSpPr/>
          <p:nvPr/>
        </p:nvSpPr>
        <p:spPr>
          <a:xfrm>
            <a:off x="8688629" y="3224174"/>
            <a:ext cx="2605126" cy="219456"/>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賃貸物件</a:t>
            </a:r>
            <a:endParaRPr lang="en-US" sz="1050" dirty="0"/>
          </a:p>
        </p:txBody>
      </p:sp>
      <p:sp>
        <p:nvSpPr>
          <p:cNvPr id="18" name="Text 14"/>
          <p:cNvSpPr/>
          <p:nvPr/>
        </p:nvSpPr>
        <p:spPr>
          <a:xfrm>
            <a:off x="8688629" y="3461918"/>
            <a:ext cx="2605126"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約30</a:t>
            </a:r>
            <a:r>
              <a:rPr lang="en-US" sz="1250" b="1" dirty="0">
                <a:solidFill>
                  <a:srgbClr val="106838"/>
                </a:solidFill>
                <a:latin typeface="Yu Gothic" pitchFamily="34" charset="0"/>
                <a:ea typeface="Yu Gothic" pitchFamily="34" charset="-122"/>
                <a:cs typeface="Yu Gothic" pitchFamily="34" charset="-120"/>
              </a:rPr>
              <a:t> ヶ月</a:t>
            </a:r>
            <a:endParaRPr lang="en-US" sz="2400" dirty="0"/>
          </a:p>
        </p:txBody>
      </p:sp>
      <p:sp>
        <p:nvSpPr>
          <p:cNvPr id="19" name="Text 15"/>
          <p:cNvSpPr/>
          <p:nvPr/>
        </p:nvSpPr>
        <p:spPr>
          <a:xfrm>
            <a:off x="8688629" y="3973982"/>
            <a:ext cx="2605126" cy="274320"/>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75杯／日・月間利益27万円</a:t>
            </a:r>
            <a:endParaRPr lang="en-US" sz="900" dirty="0"/>
          </a:p>
        </p:txBody>
      </p:sp>
      <p:sp>
        <p:nvSpPr>
          <p:cNvPr id="20" name="Shape 16"/>
          <p:cNvSpPr/>
          <p:nvPr/>
        </p:nvSpPr>
        <p:spPr>
          <a:xfrm>
            <a:off x="8450885" y="4504334"/>
            <a:ext cx="3080614" cy="1280160"/>
          </a:xfrm>
          <a:prstGeom prst="roundRect">
            <a:avLst>
              <a:gd name="adj" fmla="val 4286"/>
            </a:avLst>
          </a:prstGeom>
          <a:solidFill>
            <a:srgbClr val="FFFFFF"/>
          </a:solidFill>
          <a:ln w="9525">
            <a:solidFill>
              <a:srgbClr val="EFEAE0"/>
            </a:solidFill>
            <a:prstDash val="solid"/>
          </a:ln>
        </p:spPr>
      </p:sp>
      <p:sp>
        <p:nvSpPr>
          <p:cNvPr id="21" name="Text 17"/>
          <p:cNvSpPr/>
          <p:nvPr/>
        </p:nvSpPr>
        <p:spPr>
          <a:xfrm>
            <a:off x="8688629" y="4650638"/>
            <a:ext cx="2605126" cy="219456"/>
          </a:xfrm>
          <a:prstGeom prst="rect">
            <a:avLst/>
          </a:prstGeom>
          <a:noFill/>
          <a:ln/>
        </p:spPr>
        <p:txBody>
          <a:bodyPr wrap="square" lIns="0" tIns="0" rIns="0" bIns="0" rtlCol="0" anchor="ctr"/>
          <a:lstStyle/>
          <a:p>
            <a:pPr indent="0" marL="0">
              <a:buNone/>
            </a:pPr>
            <a:r>
              <a:rPr lang="en-US" sz="1050" b="1" dirty="0">
                <a:solidFill>
                  <a:srgbClr val="7E8882"/>
                </a:solidFill>
                <a:latin typeface="Yu Gothic" pitchFamily="34" charset="0"/>
                <a:ea typeface="Yu Gothic" pitchFamily="34" charset="-122"/>
                <a:cs typeface="Yu Gothic" pitchFamily="34" charset="-120"/>
              </a:rPr>
              <a:t>100杯／日なら</a:t>
            </a:r>
            <a:endParaRPr lang="en-US" sz="1050" dirty="0"/>
          </a:p>
        </p:txBody>
      </p:sp>
      <p:sp>
        <p:nvSpPr>
          <p:cNvPr id="22" name="Text 18"/>
          <p:cNvSpPr/>
          <p:nvPr/>
        </p:nvSpPr>
        <p:spPr>
          <a:xfrm>
            <a:off x="8688629" y="4888382"/>
            <a:ext cx="2605126"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約12</a:t>
            </a:r>
            <a:r>
              <a:rPr lang="en-US" sz="1250" b="1" dirty="0">
                <a:solidFill>
                  <a:srgbClr val="106838"/>
                </a:solidFill>
                <a:latin typeface="Yu Gothic" pitchFamily="34" charset="0"/>
                <a:ea typeface="Yu Gothic" pitchFamily="34" charset="-122"/>
                <a:cs typeface="Yu Gothic" pitchFamily="34" charset="-120"/>
              </a:rPr>
              <a:t> ヶ月</a:t>
            </a:r>
            <a:endParaRPr lang="en-US" sz="2400" dirty="0"/>
          </a:p>
        </p:txBody>
      </p:sp>
      <p:sp>
        <p:nvSpPr>
          <p:cNvPr id="23" name="Text 19"/>
          <p:cNvSpPr/>
          <p:nvPr/>
        </p:nvSpPr>
        <p:spPr>
          <a:xfrm>
            <a:off x="8688629" y="5400446"/>
            <a:ext cx="2605126" cy="274320"/>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自社物件・月間利益72.2万円</a:t>
            </a:r>
            <a:endParaRPr lang="en-US" sz="900" dirty="0"/>
          </a:p>
        </p:txBody>
      </p:sp>
      <p:sp>
        <p:nvSpPr>
          <p:cNvPr id="24" name="Text 20"/>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総投資800万円（開業費650万円＋諸経費・予備費150万円）。償却前営業利益ベース・税引前。回収期間・利益を保証するものではありません。</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26</a:t>
            </a:r>
            <a:r>
              <a:rPr lang="en-US" sz="1050" b="1" dirty="0">
                <a:solidFill>
                  <a:srgbClr val="1B8149"/>
                </a:solidFill>
                <a:latin typeface="Yu Gothic" pitchFamily="34" charset="0"/>
                <a:ea typeface="Yu Gothic" pitchFamily="34" charset="-122"/>
                <a:cs typeface="Yu Gothic" pitchFamily="34" charset="-120"/>
              </a:rPr>
              <a:t>   出店事例</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出店事例：岩手県 盛岡駅前店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地方都市の駅前立地。1日約80杯ペースで稼働し、家賃を吸収して利益を確保しています。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27</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960,000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月間売上高（20坪／40席）</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280,000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家賃</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232,000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償却前営業利益</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Yu Gothic" pitchFamily="34" charset="0"/>
                <a:ea typeface="Yu Gothic" pitchFamily="34" charset="-122"/>
                <a:cs typeface="Yu Gothic" pitchFamily="34" charset="-120"/>
              </a:rPr>
              <a:t>約80</a:t>
            </a:r>
            <a:r>
              <a:rPr lang="en-US" sz="1100" b="1" dirty="0">
                <a:solidFill>
                  <a:srgbClr val="106838"/>
                </a:solidFill>
                <a:latin typeface="Yu Gothic" pitchFamily="34" charset="0"/>
                <a:ea typeface="Yu Gothic" pitchFamily="34" charset="-122"/>
                <a:cs typeface="Yu Gothic" pitchFamily="34" charset="-120"/>
              </a:rPr>
              <a:t> 杯／日</a:t>
            </a:r>
            <a:endParaRPr lang="en-US" sz="18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1日あたりの販売杯数（概数）</a:t>
            </a:r>
            <a:endParaRPr lang="en-US" sz="900" dirty="0"/>
          </a:p>
        </p:txBody>
      </p:sp>
      <p:pic>
        <p:nvPicPr>
          <p:cNvPr id="21" name="Image 1" descr="/home/user/suzuki-ceo/selfcafe-partner-deck/assets/photos/.crops/store-morioka-650x157.jpg">    </p:cNvPr>
          <p:cNvPicPr>
            <a:picLocks noChangeAspect="1"/>
          </p:cNvPicPr>
          <p:nvPr/>
        </p:nvPicPr>
        <p:blipFill>
          <a:blip r:embed="rId2"/>
          <a:stretch>
            <a:fillRect/>
          </a:stretch>
        </p:blipFill>
        <p:spPr>
          <a:xfrm>
            <a:off x="660197" y="2492654"/>
            <a:ext cx="5943600" cy="1435608"/>
          </a:xfrm>
          <a:prstGeom prst="rect">
            <a:avLst/>
          </a:prstGeom>
        </p:spPr>
      </p:pic>
      <p:sp>
        <p:nvSpPr>
          <p:cNvPr id="22" name="Shape 18"/>
          <p:cNvSpPr/>
          <p:nvPr/>
        </p:nvSpPr>
        <p:spPr>
          <a:xfrm>
            <a:off x="660197" y="2492654"/>
            <a:ext cx="5943600" cy="1435608"/>
          </a:xfrm>
          <a:prstGeom prst="rect">
            <a:avLst/>
          </a:prstGeom>
          <a:ln w="12700">
            <a:solidFill>
              <a:srgbClr val="D8D2C6"/>
            </a:solidFill>
            <a:prstDash val="solid"/>
          </a:ln>
        </p:spPr>
      </p:sp>
      <p:sp>
        <p:nvSpPr>
          <p:cNvPr id="23" name="Shape 19"/>
          <p:cNvSpPr/>
          <p:nvPr/>
        </p:nvSpPr>
        <p:spPr>
          <a:xfrm>
            <a:off x="788213" y="3471062"/>
            <a:ext cx="1388872" cy="329184"/>
          </a:xfrm>
          <a:prstGeom prst="roundRect">
            <a:avLst>
              <a:gd name="adj" fmla="val 13889"/>
            </a:avLst>
          </a:prstGeom>
          <a:solidFill>
            <a:srgbClr val="FFFFFF">
              <a:alpha val="90000"/>
            </a:srgbClr>
          </a:solidFill>
          <a:ln/>
        </p:spPr>
      </p:sp>
      <p:sp>
        <p:nvSpPr>
          <p:cNvPr id="24" name="Text 20"/>
          <p:cNvSpPr/>
          <p:nvPr/>
        </p:nvSpPr>
        <p:spPr>
          <a:xfrm>
            <a:off x="952805" y="3471062"/>
            <a:ext cx="1114552" cy="329184"/>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盛岡駅前店の店内</a:t>
            </a:r>
            <a:endParaRPr lang="en-US" sz="950" dirty="0"/>
          </a:p>
        </p:txBody>
      </p:sp>
      <p:sp>
        <p:nvSpPr>
          <p:cNvPr id="25" name="Text 21"/>
          <p:cNvSpPr/>
          <p:nvPr/>
        </p:nvSpPr>
        <p:spPr>
          <a:xfrm>
            <a:off x="696773" y="4111142"/>
            <a:ext cx="5870448" cy="640080"/>
          </a:xfrm>
          <a:prstGeom prst="rect">
            <a:avLst/>
          </a:prstGeom>
          <a:noFill/>
          <a:ln/>
        </p:spPr>
        <p:txBody>
          <a:bodyPr wrap="square" lIns="0" tIns="0" rIns="0" bIns="0" rtlCol="0" anchor="t"/>
          <a:lstStyle/>
          <a:p>
            <a:pPr indent="0" marL="0">
              <a:lnSpc>
                <a:spcPct val="145000"/>
              </a:lnSpc>
              <a:buNone/>
            </a:pPr>
            <a:r>
              <a:rPr lang="en-US" sz="1100" dirty="0">
                <a:solidFill>
                  <a:srgbClr val="4B5550"/>
                </a:solidFill>
                <a:latin typeface="Yu Gothic" pitchFamily="34" charset="0"/>
                <a:ea typeface="Yu Gothic" pitchFamily="34" charset="-122"/>
                <a:cs typeface="Yu Gothic" pitchFamily="34" charset="-120"/>
              </a:rPr>
              <a:t>1回の利用で2〜3時間、2杯程度購入する傾向があります。地方都市の駅前立地で、学生からビジネスマンまで幅広い層を獲得しています。</a:t>
            </a:r>
            <a:endParaRPr lang="en-US" sz="1100" dirty="0"/>
          </a:p>
        </p:txBody>
      </p:sp>
      <p:sp>
        <p:nvSpPr>
          <p:cNvPr id="26" name="Shape 22"/>
          <p:cNvSpPr/>
          <p:nvPr/>
        </p:nvSpPr>
        <p:spPr>
          <a:xfrm>
            <a:off x="660197" y="4924958"/>
            <a:ext cx="5943600" cy="1133856"/>
          </a:xfrm>
          <a:prstGeom prst="roundRect">
            <a:avLst>
              <a:gd name="adj" fmla="val 4839"/>
            </a:avLst>
          </a:prstGeom>
          <a:solidFill>
            <a:srgbClr val="F1F8F3"/>
          </a:solidFill>
          <a:ln w="9525">
            <a:solidFill>
              <a:srgbClr val="D2E7DA"/>
            </a:solidFill>
            <a:prstDash val="solid"/>
          </a:ln>
        </p:spPr>
      </p:sp>
      <p:pic>
        <p:nvPicPr>
          <p:cNvPr id="27" name="Image 2" descr="/home/user/suzuki-ceo/selfcafe-partner-deck/assets/icons/LuTrendingUp-green.png">    </p:cNvPr>
          <p:cNvPicPr>
            <a:picLocks noChangeAspect="1"/>
          </p:cNvPicPr>
          <p:nvPr/>
        </p:nvPicPr>
        <p:blipFill>
          <a:blip r:embed="rId3"/>
          <a:stretch>
            <a:fillRect/>
          </a:stretch>
        </p:blipFill>
        <p:spPr>
          <a:xfrm>
            <a:off x="916229" y="5180990"/>
            <a:ext cx="402336" cy="402336"/>
          </a:xfrm>
          <a:prstGeom prst="rect">
            <a:avLst/>
          </a:prstGeom>
        </p:spPr>
      </p:pic>
      <p:sp>
        <p:nvSpPr>
          <p:cNvPr id="28" name="Text 23"/>
          <p:cNvSpPr/>
          <p:nvPr/>
        </p:nvSpPr>
        <p:spPr>
          <a:xfrm>
            <a:off x="1501445" y="5107838"/>
            <a:ext cx="4846320"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家賃を吸収して、利益を確保。</a:t>
            </a:r>
            <a:endParaRPr lang="en-US" sz="1300" dirty="0"/>
          </a:p>
        </p:txBody>
      </p:sp>
      <p:sp>
        <p:nvSpPr>
          <p:cNvPr id="29" name="Text 24"/>
          <p:cNvSpPr/>
          <p:nvPr/>
        </p:nvSpPr>
        <p:spPr>
          <a:xfrm>
            <a:off x="1501445" y="5400446"/>
            <a:ext cx="4846320"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月の家賃280,000円を支払った上で、232,000円の償却前営業利益を確保しています。</a:t>
            </a:r>
            <a:endParaRPr lang="en-US" sz="1050" dirty="0"/>
          </a:p>
        </p:txBody>
      </p:sp>
      <p:sp>
        <p:nvSpPr>
          <p:cNvPr id="30" name="Shape 25"/>
          <p:cNvSpPr/>
          <p:nvPr/>
        </p:nvSpPr>
        <p:spPr>
          <a:xfrm>
            <a:off x="6987845" y="2492654"/>
            <a:ext cx="4543654" cy="3566160"/>
          </a:xfrm>
          <a:prstGeom prst="roundRect">
            <a:avLst>
              <a:gd name="adj" fmla="val 1538"/>
            </a:avLst>
          </a:prstGeom>
          <a:solidFill>
            <a:srgbClr val="FFFFFF"/>
          </a:solidFill>
          <a:ln w="9525">
            <a:solidFill>
              <a:srgbClr val="EFEAE0"/>
            </a:solidFill>
            <a:prstDash val="solid"/>
          </a:ln>
        </p:spPr>
      </p:sp>
      <p:sp>
        <p:nvSpPr>
          <p:cNvPr id="31" name="Text 26"/>
          <p:cNvSpPr/>
          <p:nvPr/>
        </p:nvSpPr>
        <p:spPr>
          <a:xfrm>
            <a:off x="7262165" y="2730398"/>
            <a:ext cx="21945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STUDY</a:t>
            </a:r>
            <a:endParaRPr lang="en-US" sz="900" dirty="0"/>
          </a:p>
        </p:txBody>
      </p:sp>
      <p:sp>
        <p:nvSpPr>
          <p:cNvPr id="32" name="Text 27"/>
          <p:cNvSpPr/>
          <p:nvPr/>
        </p:nvSpPr>
        <p:spPr>
          <a:xfrm>
            <a:off x="7262165" y="2949854"/>
            <a:ext cx="3995014" cy="365760"/>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1日約80杯ペースでの稼働</a:t>
            </a:r>
            <a:endParaRPr lang="en-US" sz="1700" dirty="0"/>
          </a:p>
        </p:txBody>
      </p:sp>
      <p:sp>
        <p:nvSpPr>
          <p:cNvPr id="33" name="Shape 28"/>
          <p:cNvSpPr/>
          <p:nvPr/>
        </p:nvSpPr>
        <p:spPr>
          <a:xfrm>
            <a:off x="7262165" y="3425342"/>
            <a:ext cx="3995014" cy="10058"/>
          </a:xfrm>
          <a:prstGeom prst="rect">
            <a:avLst/>
          </a:prstGeom>
          <a:solidFill>
            <a:srgbClr val="EFEAE0"/>
          </a:solidFill>
          <a:ln/>
        </p:spPr>
      </p:sp>
      <p:sp>
        <p:nvSpPr>
          <p:cNvPr id="34" name="Text 29"/>
          <p:cNvSpPr/>
          <p:nvPr/>
        </p:nvSpPr>
        <p:spPr>
          <a:xfrm>
            <a:off x="7262165" y="3608222"/>
            <a:ext cx="1554480" cy="36576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開業</a:t>
            </a:r>
            <a:endParaRPr lang="en-US" sz="1000" dirty="0"/>
          </a:p>
        </p:txBody>
      </p:sp>
      <p:sp>
        <p:nvSpPr>
          <p:cNvPr id="35" name="Text 30"/>
          <p:cNvSpPr/>
          <p:nvPr/>
        </p:nvSpPr>
        <p:spPr>
          <a:xfrm>
            <a:off x="8816645" y="3608222"/>
            <a:ext cx="2440534" cy="36576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2025年4月</a:t>
            </a:r>
            <a:endParaRPr lang="en-US" sz="1300" dirty="0"/>
          </a:p>
        </p:txBody>
      </p:sp>
      <p:sp>
        <p:nvSpPr>
          <p:cNvPr id="36" name="Shape 31"/>
          <p:cNvSpPr/>
          <p:nvPr/>
        </p:nvSpPr>
        <p:spPr>
          <a:xfrm>
            <a:off x="7262165" y="4065422"/>
            <a:ext cx="3995014" cy="10058"/>
          </a:xfrm>
          <a:prstGeom prst="rect">
            <a:avLst/>
          </a:prstGeom>
          <a:solidFill>
            <a:srgbClr val="EFEAE0"/>
          </a:solidFill>
          <a:ln/>
        </p:spPr>
      </p:sp>
      <p:sp>
        <p:nvSpPr>
          <p:cNvPr id="37" name="Text 32"/>
          <p:cNvSpPr/>
          <p:nvPr/>
        </p:nvSpPr>
        <p:spPr>
          <a:xfrm>
            <a:off x="7262165" y="4175150"/>
            <a:ext cx="1554480" cy="36576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面積・席数</a:t>
            </a:r>
            <a:endParaRPr lang="en-US" sz="1000" dirty="0"/>
          </a:p>
        </p:txBody>
      </p:sp>
      <p:sp>
        <p:nvSpPr>
          <p:cNvPr id="38" name="Text 33"/>
          <p:cNvSpPr/>
          <p:nvPr/>
        </p:nvSpPr>
        <p:spPr>
          <a:xfrm>
            <a:off x="8816645" y="4175150"/>
            <a:ext cx="2440534" cy="36576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20坪／40席</a:t>
            </a:r>
            <a:endParaRPr lang="en-US" sz="1300" dirty="0"/>
          </a:p>
        </p:txBody>
      </p:sp>
      <p:sp>
        <p:nvSpPr>
          <p:cNvPr id="39" name="Shape 34"/>
          <p:cNvSpPr/>
          <p:nvPr/>
        </p:nvSpPr>
        <p:spPr>
          <a:xfrm>
            <a:off x="7262165" y="4632350"/>
            <a:ext cx="3995014" cy="10058"/>
          </a:xfrm>
          <a:prstGeom prst="rect">
            <a:avLst/>
          </a:prstGeom>
          <a:solidFill>
            <a:srgbClr val="EFEAE0"/>
          </a:solidFill>
          <a:ln/>
        </p:spPr>
      </p:sp>
      <p:sp>
        <p:nvSpPr>
          <p:cNvPr id="40" name="Text 35"/>
          <p:cNvSpPr/>
          <p:nvPr/>
        </p:nvSpPr>
        <p:spPr>
          <a:xfrm>
            <a:off x="7262165" y="4742078"/>
            <a:ext cx="1554480" cy="36576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立地</a:t>
            </a:r>
            <a:endParaRPr lang="en-US" sz="1000" dirty="0"/>
          </a:p>
        </p:txBody>
      </p:sp>
      <p:sp>
        <p:nvSpPr>
          <p:cNvPr id="41" name="Text 36"/>
          <p:cNvSpPr/>
          <p:nvPr/>
        </p:nvSpPr>
        <p:spPr>
          <a:xfrm>
            <a:off x="8816645" y="4742078"/>
            <a:ext cx="2440534" cy="36576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岩手県盛岡市・駅前</a:t>
            </a:r>
            <a:endParaRPr lang="en-US" sz="1300" dirty="0"/>
          </a:p>
        </p:txBody>
      </p:sp>
      <p:sp>
        <p:nvSpPr>
          <p:cNvPr id="42" name="Shape 37"/>
          <p:cNvSpPr/>
          <p:nvPr/>
        </p:nvSpPr>
        <p:spPr>
          <a:xfrm>
            <a:off x="7262165" y="5199278"/>
            <a:ext cx="3995014" cy="10058"/>
          </a:xfrm>
          <a:prstGeom prst="rect">
            <a:avLst/>
          </a:prstGeom>
          <a:solidFill>
            <a:srgbClr val="EFEAE0"/>
          </a:solidFill>
          <a:ln/>
        </p:spPr>
      </p:sp>
      <p:sp>
        <p:nvSpPr>
          <p:cNvPr id="43" name="Text 38"/>
          <p:cNvSpPr/>
          <p:nvPr/>
        </p:nvSpPr>
        <p:spPr>
          <a:xfrm>
            <a:off x="7262165" y="5309006"/>
            <a:ext cx="1554480" cy="36576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営業時間</a:t>
            </a:r>
            <a:endParaRPr lang="en-US" sz="1000" dirty="0"/>
          </a:p>
        </p:txBody>
      </p:sp>
      <p:sp>
        <p:nvSpPr>
          <p:cNvPr id="44" name="Text 39"/>
          <p:cNvSpPr/>
          <p:nvPr/>
        </p:nvSpPr>
        <p:spPr>
          <a:xfrm>
            <a:off x="8816645" y="5309006"/>
            <a:ext cx="2440534" cy="36576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24時間</a:t>
            </a:r>
            <a:endParaRPr lang="en-US" sz="1300" dirty="0"/>
          </a:p>
        </p:txBody>
      </p:sp>
      <p:sp>
        <p:nvSpPr>
          <p:cNvPr id="45" name="Text 40"/>
          <p:cNvSpPr/>
          <p:nvPr/>
        </p:nvSpPr>
        <p:spPr>
          <a:xfrm>
            <a:off x="660197" y="618683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実績値。杯数は単価ミックスを含む概数です。他店舗での同等の売上・利益を保証するものではありません。</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27</a:t>
            </a:r>
            <a:r>
              <a:rPr lang="en-US" sz="1050" b="1" dirty="0">
                <a:solidFill>
                  <a:srgbClr val="1B8149"/>
                </a:solidFill>
                <a:latin typeface="Yu Gothic" pitchFamily="34" charset="0"/>
                <a:ea typeface="Yu Gothic" pitchFamily="34" charset="-122"/>
                <a:cs typeface="Yu Gothic" pitchFamily="34" charset="-120"/>
              </a:rPr>
              <a:t>   オプション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有料オプション一覧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必要に応じて追加できるオプションです（金額は税抜き）。</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28</a:t>
            </a:r>
            <a:endParaRPr lang="en-US" sz="1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286000"/>
                <a:gridCol w="1371600"/>
                <a:gridCol w="1371600"/>
                <a:gridCol w="5842102"/>
              </a:tblGrid>
              <a:tr h="402336">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初期費用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月額費用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内容・備考</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118872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公式LINE作成</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FC店の公式LINEを新規作成できます。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メリット：独自の発信や告知、広告が打てます。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デメリット：セルフカフェ公式LINEから切り離されるため問い合わせが直に届き、本部情報の発信も都度パートナー様側で行う必要があります。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貴社にて契約（配信数によって別途費用が発生します）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8638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顧客用コピー機</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（A3対応）</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30,000円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PayPay決済のみ</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本体代は別途</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グローバルIPの取得が必要です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91440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（フルサポート）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p>
                      <a:pPr indent="0" marL="0">
                        <a:buNone/>
                      </a:pPr>
                      <a:r>
                        <a:rPr lang="en-US" sz="1000" b="1" dirty="0">
                          <a:solidFill>
                            <a:srgbClr val="106838"/>
                          </a:solidFill>
                          <a:latin typeface="Yu Gothic" pitchFamily="34" charset="0"/>
                          <a:ea typeface="Yu Gothic" pitchFamily="34" charset="-122"/>
                          <a:cs typeface="Yu Gothic" pitchFamily="34" charset="-120"/>
                        </a:rPr>
                        <a:t>マシンメンテナンス</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マシン清掃・原料補充等。店内清掃は含まれず、マシンのみの対応です。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（ミニマムサポート）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0" name="Text 6"/>
          <p:cNvSpPr/>
          <p:nvPr/>
        </p:nvSpPr>
        <p:spPr>
          <a:xfrm>
            <a:off x="660197" y="5857646"/>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SEO対策・MEO対策・PayPayポイント付与は費用なしの標準提供のため、本表からは除いています。</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28</a:t>
            </a:r>
            <a:r>
              <a:rPr lang="en-US" sz="1050" b="1" dirty="0">
                <a:solidFill>
                  <a:srgbClr val="1B8149"/>
                </a:solidFill>
                <a:latin typeface="Yu Gothic" pitchFamily="34" charset="0"/>
                <a:ea typeface="Yu Gothic" pitchFamily="34" charset="-122"/>
                <a:cs typeface="Yu Gothic" pitchFamily="34" charset="-120"/>
              </a:rPr>
              <a:t>   設備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ドリンクマシンに関して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マシン・備品・メンテナンスまで含めたトータルサポートパックでご提供します。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29</a:t>
            </a:r>
            <a:endParaRPr lang="en-US" sz="1000" dirty="0"/>
          </a:p>
        </p:txBody>
      </p:sp>
      <p:sp>
        <p:nvSpPr>
          <p:cNvPr id="9" name="Shape 6"/>
          <p:cNvSpPr/>
          <p:nvPr/>
        </p:nvSpPr>
        <p:spPr>
          <a:xfrm>
            <a:off x="660197" y="1651406"/>
            <a:ext cx="4206240" cy="4315968"/>
          </a:xfrm>
          <a:prstGeom prst="roundRect">
            <a:avLst>
              <a:gd name="adj" fmla="val 1304"/>
            </a:avLst>
          </a:prstGeom>
          <a:solidFill>
            <a:srgbClr val="FFFFFF"/>
          </a:solidFill>
          <a:ln w="9525">
            <a:solidFill>
              <a:srgbClr val="EFEAE0"/>
            </a:solidFill>
            <a:prstDash val="solid"/>
          </a:ln>
        </p:spPr>
      </p:sp>
      <p:sp>
        <p:nvSpPr>
          <p:cNvPr id="10" name="Shape 7"/>
          <p:cNvSpPr/>
          <p:nvPr/>
        </p:nvSpPr>
        <p:spPr>
          <a:xfrm>
            <a:off x="934517" y="1907438"/>
            <a:ext cx="3657600" cy="457200"/>
          </a:xfrm>
          <a:prstGeom prst="roundRect">
            <a:avLst>
              <a:gd name="adj" fmla="val 50000"/>
            </a:avLst>
          </a:prstGeom>
          <a:solidFill>
            <a:srgbClr val="0C5230"/>
          </a:solidFill>
          <a:ln/>
        </p:spPr>
      </p:sp>
      <p:pic>
        <p:nvPicPr>
          <p:cNvPr id="11" name="Image 1" descr="/home/user/suzuki-ceo/selfcafe-partner-deck/assets/icons/LuCoffee-white.png">    </p:cNvPr>
          <p:cNvPicPr>
            <a:picLocks noChangeAspect="1"/>
          </p:cNvPicPr>
          <p:nvPr/>
        </p:nvPicPr>
        <p:blipFill>
          <a:blip r:embed="rId2"/>
          <a:stretch>
            <a:fillRect/>
          </a:stretch>
        </p:blipFill>
        <p:spPr>
          <a:xfrm>
            <a:off x="1135685" y="1989734"/>
            <a:ext cx="292608" cy="292608"/>
          </a:xfrm>
          <a:prstGeom prst="rect">
            <a:avLst/>
          </a:prstGeom>
        </p:spPr>
      </p:pic>
      <p:sp>
        <p:nvSpPr>
          <p:cNvPr id="12" name="Text 8"/>
          <p:cNvSpPr/>
          <p:nvPr/>
        </p:nvSpPr>
        <p:spPr>
          <a:xfrm>
            <a:off x="1501445" y="1907438"/>
            <a:ext cx="3090672" cy="45720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トータルサポートパック</a:t>
            </a:r>
            <a:endParaRPr lang="en-US" sz="1300" dirty="0"/>
          </a:p>
        </p:txBody>
      </p:sp>
      <p:sp>
        <p:nvSpPr>
          <p:cNvPr id="13" name="Text 9"/>
          <p:cNvSpPr/>
          <p:nvPr/>
        </p:nvSpPr>
        <p:spPr>
          <a:xfrm>
            <a:off x="934517" y="254751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マシン型番</a:t>
            </a:r>
            <a:endParaRPr lang="en-US" sz="950" dirty="0"/>
          </a:p>
        </p:txBody>
      </p:sp>
      <p:sp>
        <p:nvSpPr>
          <p:cNvPr id="14" name="Text 10"/>
          <p:cNvSpPr/>
          <p:nvPr/>
        </p:nvSpPr>
        <p:spPr>
          <a:xfrm>
            <a:off x="2159813" y="254751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100RS</a:t>
            </a:r>
            <a:endParaRPr lang="en-US" sz="1150" dirty="0"/>
          </a:p>
        </p:txBody>
      </p:sp>
      <p:sp>
        <p:nvSpPr>
          <p:cNvPr id="15" name="Shape 11"/>
          <p:cNvSpPr/>
          <p:nvPr/>
        </p:nvSpPr>
        <p:spPr>
          <a:xfrm>
            <a:off x="934517" y="2894990"/>
            <a:ext cx="3657600" cy="10058"/>
          </a:xfrm>
          <a:prstGeom prst="rect">
            <a:avLst/>
          </a:prstGeom>
          <a:solidFill>
            <a:srgbClr val="EFEAE0"/>
          </a:solidFill>
          <a:ln/>
        </p:spPr>
      </p:sp>
      <p:sp>
        <p:nvSpPr>
          <p:cNvPr id="16" name="Text 12"/>
          <p:cNvSpPr/>
          <p:nvPr/>
        </p:nvSpPr>
        <p:spPr>
          <a:xfrm>
            <a:off x="934517" y="309615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付属</a:t>
            </a:r>
            <a:endParaRPr lang="en-US" sz="950" dirty="0"/>
          </a:p>
        </p:txBody>
      </p:sp>
      <p:sp>
        <p:nvSpPr>
          <p:cNvPr id="17" name="Text 13"/>
          <p:cNvSpPr/>
          <p:nvPr/>
        </p:nvSpPr>
        <p:spPr>
          <a:xfrm>
            <a:off x="2159813" y="309615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コーヒーサーバー、備品ラック</a:t>
            </a:r>
            <a:endParaRPr lang="en-US" sz="1150" dirty="0"/>
          </a:p>
        </p:txBody>
      </p:sp>
      <p:sp>
        <p:nvSpPr>
          <p:cNvPr id="18" name="Shape 14"/>
          <p:cNvSpPr/>
          <p:nvPr/>
        </p:nvSpPr>
        <p:spPr>
          <a:xfrm>
            <a:off x="934517" y="3443630"/>
            <a:ext cx="3657600" cy="10058"/>
          </a:xfrm>
          <a:prstGeom prst="rect">
            <a:avLst/>
          </a:prstGeom>
          <a:solidFill>
            <a:srgbClr val="EFEAE0"/>
          </a:solidFill>
          <a:ln/>
        </p:spPr>
      </p:sp>
      <p:sp>
        <p:nvSpPr>
          <p:cNvPr id="19" name="Text 15"/>
          <p:cNvSpPr/>
          <p:nvPr/>
        </p:nvSpPr>
        <p:spPr>
          <a:xfrm>
            <a:off x="934517" y="364479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メンテナンス</a:t>
            </a:r>
            <a:endParaRPr lang="en-US" sz="950" dirty="0"/>
          </a:p>
        </p:txBody>
      </p:sp>
      <p:sp>
        <p:nvSpPr>
          <p:cNvPr id="20" name="Text 16"/>
          <p:cNvSpPr/>
          <p:nvPr/>
        </p:nvSpPr>
        <p:spPr>
          <a:xfrm>
            <a:off x="2159813" y="364479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月1回</a:t>
            </a:r>
            <a:endParaRPr lang="en-US" sz="1150" dirty="0"/>
          </a:p>
        </p:txBody>
      </p:sp>
      <p:sp>
        <p:nvSpPr>
          <p:cNvPr id="21" name="Shape 17"/>
          <p:cNvSpPr/>
          <p:nvPr/>
        </p:nvSpPr>
        <p:spPr>
          <a:xfrm>
            <a:off x="934517" y="3992270"/>
            <a:ext cx="3657600" cy="10058"/>
          </a:xfrm>
          <a:prstGeom prst="rect">
            <a:avLst/>
          </a:prstGeom>
          <a:solidFill>
            <a:srgbClr val="EFEAE0"/>
          </a:solidFill>
          <a:ln/>
        </p:spPr>
      </p:sp>
      <p:sp>
        <p:nvSpPr>
          <p:cNvPr id="22" name="Shape 18"/>
          <p:cNvSpPr/>
          <p:nvPr/>
        </p:nvSpPr>
        <p:spPr>
          <a:xfrm>
            <a:off x="934517" y="4266590"/>
            <a:ext cx="3657600" cy="1463040"/>
          </a:xfrm>
          <a:prstGeom prst="roundRect">
            <a:avLst>
              <a:gd name="adj" fmla="val 3750"/>
            </a:avLst>
          </a:prstGeom>
          <a:solidFill>
            <a:srgbClr val="F1F8F3"/>
          </a:solidFill>
          <a:ln w="9525">
            <a:solidFill>
              <a:srgbClr val="D2E7DA"/>
            </a:solidFill>
            <a:prstDash val="solid"/>
          </a:ln>
        </p:spPr>
      </p:sp>
      <p:pic>
        <p:nvPicPr>
          <p:cNvPr id="23" name="Image 2" descr="/home/user/suzuki-ceo/selfcafe-partner-deck/assets/icons/LuCoffee-green.png">    </p:cNvPr>
          <p:cNvPicPr>
            <a:picLocks noChangeAspect="1"/>
          </p:cNvPicPr>
          <p:nvPr/>
        </p:nvPicPr>
        <p:blipFill>
          <a:blip r:embed="rId3"/>
          <a:stretch>
            <a:fillRect/>
          </a:stretch>
        </p:blipFill>
        <p:spPr>
          <a:xfrm>
            <a:off x="1135685" y="4440326"/>
            <a:ext cx="237744" cy="237744"/>
          </a:xfrm>
          <a:prstGeom prst="rect">
            <a:avLst/>
          </a:prstGeom>
        </p:spPr>
      </p:pic>
      <p:sp>
        <p:nvSpPr>
          <p:cNvPr id="24" name="Text 19"/>
          <p:cNvSpPr/>
          <p:nvPr/>
        </p:nvSpPr>
        <p:spPr>
          <a:xfrm>
            <a:off x="1483157" y="4412894"/>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挽きたての豆から1杯ずつ抽出</a:t>
            </a:r>
            <a:endParaRPr lang="en-US" sz="1050" dirty="0"/>
          </a:p>
        </p:txBody>
      </p:sp>
      <p:pic>
        <p:nvPicPr>
          <p:cNvPr id="25" name="Image 3" descr="/home/user/suzuki-ceo/selfcafe-partner-deck/assets/icons/LuTimer-green.png">    </p:cNvPr>
          <p:cNvPicPr>
            <a:picLocks noChangeAspect="1"/>
          </p:cNvPicPr>
          <p:nvPr/>
        </p:nvPicPr>
        <p:blipFill>
          <a:blip r:embed="rId4"/>
          <a:stretch>
            <a:fillRect/>
          </a:stretch>
        </p:blipFill>
        <p:spPr>
          <a:xfrm>
            <a:off x="1135685" y="4842662"/>
            <a:ext cx="237744" cy="237744"/>
          </a:xfrm>
          <a:prstGeom prst="rect">
            <a:avLst/>
          </a:prstGeom>
        </p:spPr>
      </p:pic>
      <p:sp>
        <p:nvSpPr>
          <p:cNvPr id="26" name="Text 20"/>
          <p:cNvSpPr/>
          <p:nvPr/>
        </p:nvSpPr>
        <p:spPr>
          <a:xfrm>
            <a:off x="1483157" y="4815230"/>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月1回の定期メンテナンス込み</a:t>
            </a:r>
            <a:endParaRPr lang="en-US" sz="1050" dirty="0"/>
          </a:p>
        </p:txBody>
      </p:sp>
      <p:pic>
        <p:nvPicPr>
          <p:cNvPr id="27" name="Image 4" descr="/home/user/suzuki-ceo/selfcafe-partner-deck/assets/icons/LuLifeBuoy-green.png">    </p:cNvPr>
          <p:cNvPicPr>
            <a:picLocks noChangeAspect="1"/>
          </p:cNvPicPr>
          <p:nvPr/>
        </p:nvPicPr>
        <p:blipFill>
          <a:blip r:embed="rId5"/>
          <a:stretch>
            <a:fillRect/>
          </a:stretch>
        </p:blipFill>
        <p:spPr>
          <a:xfrm>
            <a:off x="1135685" y="5244998"/>
            <a:ext cx="237744" cy="237744"/>
          </a:xfrm>
          <a:prstGeom prst="rect">
            <a:avLst/>
          </a:prstGeom>
        </p:spPr>
      </p:pic>
      <p:sp>
        <p:nvSpPr>
          <p:cNvPr id="28" name="Text 21"/>
          <p:cNvSpPr/>
          <p:nvPr/>
        </p:nvSpPr>
        <p:spPr>
          <a:xfrm>
            <a:off x="1483157" y="5217566"/>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故障・不具合時は本部がサポート</a:t>
            </a:r>
            <a:endParaRPr lang="en-US" sz="1050" dirty="0"/>
          </a:p>
        </p:txBody>
      </p:sp>
      <p:sp>
        <p:nvSpPr>
          <p:cNvPr id="29" name="Text 22"/>
          <p:cNvSpPr/>
          <p:nvPr/>
        </p:nvSpPr>
        <p:spPr>
          <a:xfrm>
            <a:off x="5250485" y="1651406"/>
            <a:ext cx="6281014" cy="274320"/>
          </a:xfrm>
          <a:prstGeom prst="rect">
            <a:avLst/>
          </a:prstGeom>
          <a:noFill/>
          <a:ln/>
        </p:spPr>
        <p:txBody>
          <a:bodyPr wrap="square" lIns="0" tIns="0" rIns="0" bIns="0" rtlCol="0" anchor="ctr"/>
          <a:lstStyle/>
          <a:p>
            <a:pPr indent="0" marL="0">
              <a:buNone/>
            </a:pPr>
            <a:r>
              <a:rPr lang="en-US" sz="1200" b="1" dirty="0">
                <a:solidFill>
                  <a:srgbClr val="0A3D23"/>
                </a:solidFill>
                <a:latin typeface="Yu Gothic" pitchFamily="34" charset="0"/>
                <a:ea typeface="Yu Gothic" pitchFamily="34" charset="-122"/>
                <a:cs typeface="Yu Gothic" pitchFamily="34" charset="-120"/>
              </a:rPr>
              <a:t>＜設置イメージ＞</a:t>
            </a:r>
            <a:endParaRPr lang="en-US" sz="1200" dirty="0"/>
          </a:p>
        </p:txBody>
      </p:sp>
      <p:pic>
        <p:nvPicPr>
          <p:cNvPr id="30" name="Image 5" descr="/home/user/suzuki-ceo/selfcafe-partner-deck/assets/photos/.crops/p24-install-687x366.jpg">    </p:cNvPr>
          <p:cNvPicPr>
            <a:picLocks noChangeAspect="1"/>
          </p:cNvPicPr>
          <p:nvPr/>
        </p:nvPicPr>
        <p:blipFill>
          <a:blip r:embed="rId6"/>
          <a:stretch>
            <a:fillRect/>
          </a:stretch>
        </p:blipFill>
        <p:spPr>
          <a:xfrm>
            <a:off x="5250485" y="2017166"/>
            <a:ext cx="6281014" cy="3346704"/>
          </a:xfrm>
          <a:prstGeom prst="rect">
            <a:avLst/>
          </a:prstGeom>
        </p:spPr>
      </p:pic>
      <p:sp>
        <p:nvSpPr>
          <p:cNvPr id="31" name="Shape 23"/>
          <p:cNvSpPr/>
          <p:nvPr/>
        </p:nvSpPr>
        <p:spPr>
          <a:xfrm>
            <a:off x="5250485" y="2017166"/>
            <a:ext cx="6281014" cy="3346704"/>
          </a:xfrm>
          <a:prstGeom prst="rect">
            <a:avLst/>
          </a:prstGeom>
          <a:ln w="12700">
            <a:solidFill>
              <a:srgbClr val="D8D2C6"/>
            </a:solidFill>
            <a:prstDash val="solid"/>
          </a:ln>
        </p:spPr>
      </p:sp>
      <p:sp>
        <p:nvSpPr>
          <p:cNvPr id="32" name="Shape 24"/>
          <p:cNvSpPr/>
          <p:nvPr/>
        </p:nvSpPr>
        <p:spPr>
          <a:xfrm>
            <a:off x="5378501" y="4906670"/>
            <a:ext cx="2344674" cy="329184"/>
          </a:xfrm>
          <a:prstGeom prst="roundRect">
            <a:avLst>
              <a:gd name="adj" fmla="val 13889"/>
            </a:avLst>
          </a:prstGeom>
          <a:solidFill>
            <a:srgbClr val="FFFFFF">
              <a:alpha val="90000"/>
            </a:srgbClr>
          </a:solidFill>
          <a:ln/>
        </p:spPr>
      </p:sp>
      <p:sp>
        <p:nvSpPr>
          <p:cNvPr id="33" name="Text 25"/>
          <p:cNvSpPr/>
          <p:nvPr/>
        </p:nvSpPr>
        <p:spPr>
          <a:xfrm>
            <a:off x="5543093" y="4906670"/>
            <a:ext cx="2070354" cy="32918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店内に設置したドリンクマシン</a:t>
            </a:r>
            <a:endParaRPr lang="en-US" sz="1050" dirty="0"/>
          </a:p>
        </p:txBody>
      </p:sp>
      <p:sp>
        <p:nvSpPr>
          <p:cNvPr id="34" name="Shape 26"/>
          <p:cNvSpPr/>
          <p:nvPr/>
        </p:nvSpPr>
        <p:spPr>
          <a:xfrm>
            <a:off x="5250485" y="5491886"/>
            <a:ext cx="6281014" cy="475488"/>
          </a:xfrm>
          <a:prstGeom prst="roundRect">
            <a:avLst>
              <a:gd name="adj" fmla="val 9615"/>
            </a:avLst>
          </a:prstGeom>
          <a:solidFill>
            <a:srgbClr val="F1F8F3"/>
          </a:solidFill>
          <a:ln/>
        </p:spPr>
      </p:sp>
      <p:sp>
        <p:nvSpPr>
          <p:cNvPr id="35" name="Text 27"/>
          <p:cNvSpPr/>
          <p:nvPr/>
        </p:nvSpPr>
        <p:spPr>
          <a:xfrm>
            <a:off x="5488229" y="5491886"/>
            <a:ext cx="5805526" cy="475488"/>
          </a:xfrm>
          <a:prstGeom prst="rect">
            <a:avLst/>
          </a:prstGeom>
          <a:noFill/>
          <a:ln/>
        </p:spPr>
        <p:txBody>
          <a:bodyPr wrap="square" lIns="0" tIns="0" rIns="0" bIns="0" rtlCol="0" anchor="ctr"/>
          <a:lstStyle/>
          <a:p>
            <a:pPr indent="0" marL="0">
              <a:buNone/>
            </a:pPr>
            <a:r>
              <a:rPr lang="en-US" sz="1100" b="1" dirty="0">
                <a:solidFill>
                  <a:srgbClr val="106838"/>
                </a:solidFill>
                <a:latin typeface="Yu Gothic" pitchFamily="34" charset="0"/>
                <a:ea typeface="Yu Gothic" pitchFamily="34" charset="-122"/>
                <a:cs typeface="Yu Gothic" pitchFamily="34" charset="-120"/>
              </a:rPr>
              <a:t>ドリンクマシンは2台設置が基本。既存スペースの一角にも収まります。</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29</a:t>
            </a:r>
            <a:r>
              <a:rPr lang="en-US" sz="1050" b="1" dirty="0">
                <a:solidFill>
                  <a:srgbClr val="1B8149"/>
                </a:solidFill>
                <a:latin typeface="Yu Gothic" pitchFamily="34" charset="0"/>
                <a:ea typeface="Yu Gothic" pitchFamily="34" charset="-122"/>
                <a:cs typeface="Yu Gothic" pitchFamily="34" charset="-120"/>
              </a:rPr>
              <a:t>   FAQ</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よくある質問</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導入をご検討いただく際に、よくいただくご質問をまとめました。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30</a:t>
            </a:r>
            <a:endParaRPr lang="en-US" sz="1000" dirty="0"/>
          </a:p>
        </p:txBody>
      </p:sp>
      <p:sp>
        <p:nvSpPr>
          <p:cNvPr id="9" name="Shape 6"/>
          <p:cNvSpPr/>
          <p:nvPr/>
        </p:nvSpPr>
        <p:spPr>
          <a:xfrm>
            <a:off x="660197" y="1651406"/>
            <a:ext cx="5243627" cy="1426464"/>
          </a:xfrm>
          <a:prstGeom prst="roundRect">
            <a:avLst>
              <a:gd name="adj" fmla="val 3846"/>
            </a:avLst>
          </a:prstGeom>
          <a:solidFill>
            <a:srgbClr val="FFFFFF"/>
          </a:solidFill>
          <a:ln w="9525">
            <a:solidFill>
              <a:srgbClr val="EFEAE0"/>
            </a:solidFill>
            <a:prstDash val="solid"/>
          </a:ln>
        </p:spPr>
      </p:sp>
      <p:sp>
        <p:nvSpPr>
          <p:cNvPr id="10" name="Text 7"/>
          <p:cNvSpPr/>
          <p:nvPr/>
        </p:nvSpPr>
        <p:spPr>
          <a:xfrm>
            <a:off x="934517"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準備</a:t>
            </a:r>
            <a:endParaRPr lang="en-US" sz="900" dirty="0"/>
          </a:p>
        </p:txBody>
      </p:sp>
      <p:sp>
        <p:nvSpPr>
          <p:cNvPr id="11" name="Text 8"/>
          <p:cNvSpPr/>
          <p:nvPr/>
        </p:nvSpPr>
        <p:spPr>
          <a:xfrm>
            <a:off x="934517"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2" name="Text 9"/>
          <p:cNvSpPr/>
          <p:nvPr/>
        </p:nvSpPr>
        <p:spPr>
          <a:xfrm>
            <a:off x="1300277"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準備は難しいですか？</a:t>
            </a:r>
            <a:endParaRPr lang="en-US" sz="1450" dirty="0"/>
          </a:p>
        </p:txBody>
      </p:sp>
      <p:sp>
        <p:nvSpPr>
          <p:cNvPr id="13" name="Shape 10"/>
          <p:cNvSpPr/>
          <p:nvPr/>
        </p:nvSpPr>
        <p:spPr>
          <a:xfrm>
            <a:off x="934517" y="2401214"/>
            <a:ext cx="4694987" cy="10058"/>
          </a:xfrm>
          <a:prstGeom prst="rect">
            <a:avLst/>
          </a:prstGeom>
          <a:solidFill>
            <a:srgbClr val="EFEAE0"/>
          </a:solidFill>
          <a:ln/>
        </p:spPr>
      </p:sp>
      <p:sp>
        <p:nvSpPr>
          <p:cNvPr id="14" name="Text 11"/>
          <p:cNvSpPr/>
          <p:nvPr/>
        </p:nvSpPr>
        <p:spPr>
          <a:xfrm>
            <a:off x="934517"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15" name="Text 12"/>
          <p:cNvSpPr/>
          <p:nvPr/>
        </p:nvSpPr>
        <p:spPr>
          <a:xfrm>
            <a:off x="1300277"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内装、システム導入まで本部がフルサポートするため、初めての方でも安心です。</a:t>
            </a:r>
            <a:endParaRPr lang="en-US" sz="950" dirty="0"/>
          </a:p>
        </p:txBody>
      </p:sp>
      <p:sp>
        <p:nvSpPr>
          <p:cNvPr id="16" name="Shape 13"/>
          <p:cNvSpPr/>
          <p:nvPr/>
        </p:nvSpPr>
        <p:spPr>
          <a:xfrm>
            <a:off x="6287872" y="1651406"/>
            <a:ext cx="5243627" cy="1426464"/>
          </a:xfrm>
          <a:prstGeom prst="roundRect">
            <a:avLst>
              <a:gd name="adj" fmla="val 3846"/>
            </a:avLst>
          </a:prstGeom>
          <a:solidFill>
            <a:srgbClr val="FFFFFF"/>
          </a:solidFill>
          <a:ln w="9525">
            <a:solidFill>
              <a:srgbClr val="EFEAE0"/>
            </a:solidFill>
            <a:prstDash val="solid"/>
          </a:ln>
        </p:spPr>
      </p:sp>
      <p:sp>
        <p:nvSpPr>
          <p:cNvPr id="17" name="Text 14"/>
          <p:cNvSpPr/>
          <p:nvPr/>
        </p:nvSpPr>
        <p:spPr>
          <a:xfrm>
            <a:off x="6562192"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トラブル対応</a:t>
            </a:r>
            <a:endParaRPr lang="en-US" sz="900" dirty="0"/>
          </a:p>
        </p:txBody>
      </p:sp>
      <p:sp>
        <p:nvSpPr>
          <p:cNvPr id="18" name="Text 15"/>
          <p:cNvSpPr/>
          <p:nvPr/>
        </p:nvSpPr>
        <p:spPr>
          <a:xfrm>
            <a:off x="6562192"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9" name="Text 16"/>
          <p:cNvSpPr/>
          <p:nvPr/>
        </p:nvSpPr>
        <p:spPr>
          <a:xfrm>
            <a:off x="6927952"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トラブル時の対応は？</a:t>
            </a:r>
            <a:endParaRPr lang="en-US" sz="1450" dirty="0"/>
          </a:p>
        </p:txBody>
      </p:sp>
      <p:sp>
        <p:nvSpPr>
          <p:cNvPr id="20" name="Shape 17"/>
          <p:cNvSpPr/>
          <p:nvPr/>
        </p:nvSpPr>
        <p:spPr>
          <a:xfrm>
            <a:off x="6562192" y="2401214"/>
            <a:ext cx="4694987" cy="10058"/>
          </a:xfrm>
          <a:prstGeom prst="rect">
            <a:avLst/>
          </a:prstGeom>
          <a:solidFill>
            <a:srgbClr val="EFEAE0"/>
          </a:solidFill>
          <a:ln/>
        </p:spPr>
      </p:sp>
      <p:sp>
        <p:nvSpPr>
          <p:cNvPr id="21" name="Text 18"/>
          <p:cNvSpPr/>
          <p:nvPr/>
        </p:nvSpPr>
        <p:spPr>
          <a:xfrm>
            <a:off x="6562192"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2" name="Text 19"/>
          <p:cNvSpPr/>
          <p:nvPr/>
        </p:nvSpPr>
        <p:spPr>
          <a:xfrm>
            <a:off x="6927952"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24時間体制の警備会社と遠隔監視システムにより、オーナー様が現場に駆けつける必要はほぼありません。また顧客とのLINEチャットを設けており、そこで質問対応・意見収集を行っています。</a:t>
            </a:r>
            <a:endParaRPr lang="en-US" sz="950" dirty="0"/>
          </a:p>
        </p:txBody>
      </p:sp>
      <p:sp>
        <p:nvSpPr>
          <p:cNvPr id="23" name="Shape 20"/>
          <p:cNvSpPr/>
          <p:nvPr/>
        </p:nvSpPr>
        <p:spPr>
          <a:xfrm>
            <a:off x="660197" y="3242462"/>
            <a:ext cx="5243627" cy="1426464"/>
          </a:xfrm>
          <a:prstGeom prst="roundRect">
            <a:avLst>
              <a:gd name="adj" fmla="val 3846"/>
            </a:avLst>
          </a:prstGeom>
          <a:solidFill>
            <a:srgbClr val="FFFFFF"/>
          </a:solidFill>
          <a:ln w="9525">
            <a:solidFill>
              <a:srgbClr val="EFEAE0"/>
            </a:solidFill>
            <a:prstDash val="solid"/>
          </a:ln>
        </p:spPr>
      </p:sp>
      <p:sp>
        <p:nvSpPr>
          <p:cNvPr id="24" name="Text 21"/>
          <p:cNvSpPr/>
          <p:nvPr/>
        </p:nvSpPr>
        <p:spPr>
          <a:xfrm>
            <a:off x="934517"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人材</a:t>
            </a:r>
            <a:endParaRPr lang="en-US" sz="900" dirty="0"/>
          </a:p>
        </p:txBody>
      </p:sp>
      <p:sp>
        <p:nvSpPr>
          <p:cNvPr id="25" name="Text 22"/>
          <p:cNvSpPr/>
          <p:nvPr/>
        </p:nvSpPr>
        <p:spPr>
          <a:xfrm>
            <a:off x="934517"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26" name="Text 23"/>
          <p:cNvSpPr/>
          <p:nvPr/>
        </p:nvSpPr>
        <p:spPr>
          <a:xfrm>
            <a:off x="1300277"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人材採用については？</a:t>
            </a:r>
            <a:endParaRPr lang="en-US" sz="1450" dirty="0"/>
          </a:p>
        </p:txBody>
      </p:sp>
      <p:sp>
        <p:nvSpPr>
          <p:cNvPr id="27" name="Shape 24"/>
          <p:cNvSpPr/>
          <p:nvPr/>
        </p:nvSpPr>
        <p:spPr>
          <a:xfrm>
            <a:off x="934517" y="3992270"/>
            <a:ext cx="4694987" cy="10058"/>
          </a:xfrm>
          <a:prstGeom prst="rect">
            <a:avLst/>
          </a:prstGeom>
          <a:solidFill>
            <a:srgbClr val="EFEAE0"/>
          </a:solidFill>
          <a:ln/>
        </p:spPr>
      </p:sp>
      <p:sp>
        <p:nvSpPr>
          <p:cNvPr id="28" name="Text 25"/>
          <p:cNvSpPr/>
          <p:nvPr/>
        </p:nvSpPr>
        <p:spPr>
          <a:xfrm>
            <a:off x="934517"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9" name="Text 26"/>
          <p:cNvSpPr/>
          <p:nvPr/>
        </p:nvSpPr>
        <p:spPr>
          <a:xfrm>
            <a:off x="1300277"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新しく人材を採用する必要はありません。清掃管理・原料補充はご自身でもご対応可能ですが、業務委託として委託することも可能です。</a:t>
            </a:r>
            <a:endParaRPr lang="en-US" sz="950" dirty="0"/>
          </a:p>
        </p:txBody>
      </p:sp>
      <p:sp>
        <p:nvSpPr>
          <p:cNvPr id="30" name="Shape 27"/>
          <p:cNvSpPr/>
          <p:nvPr/>
        </p:nvSpPr>
        <p:spPr>
          <a:xfrm>
            <a:off x="6287872" y="3242462"/>
            <a:ext cx="5243627" cy="1426464"/>
          </a:xfrm>
          <a:prstGeom prst="roundRect">
            <a:avLst>
              <a:gd name="adj" fmla="val 3846"/>
            </a:avLst>
          </a:prstGeom>
          <a:solidFill>
            <a:srgbClr val="FFFFFF"/>
          </a:solidFill>
          <a:ln w="9525">
            <a:solidFill>
              <a:srgbClr val="EFEAE0"/>
            </a:solidFill>
            <a:prstDash val="solid"/>
          </a:ln>
        </p:spPr>
      </p:sp>
      <p:sp>
        <p:nvSpPr>
          <p:cNvPr id="31" name="Text 28"/>
          <p:cNvSpPr/>
          <p:nvPr/>
        </p:nvSpPr>
        <p:spPr>
          <a:xfrm>
            <a:off x="6562192"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集客</a:t>
            </a:r>
            <a:endParaRPr lang="en-US" sz="900" dirty="0"/>
          </a:p>
        </p:txBody>
      </p:sp>
      <p:sp>
        <p:nvSpPr>
          <p:cNvPr id="32" name="Text 29"/>
          <p:cNvSpPr/>
          <p:nvPr/>
        </p:nvSpPr>
        <p:spPr>
          <a:xfrm>
            <a:off x="6562192"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33" name="Text 30"/>
          <p:cNvSpPr/>
          <p:nvPr/>
        </p:nvSpPr>
        <p:spPr>
          <a:xfrm>
            <a:off x="6927952"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集客はどうすれば？</a:t>
            </a:r>
            <a:endParaRPr lang="en-US" sz="1450" dirty="0"/>
          </a:p>
        </p:txBody>
      </p:sp>
      <p:sp>
        <p:nvSpPr>
          <p:cNvPr id="34" name="Shape 31"/>
          <p:cNvSpPr/>
          <p:nvPr/>
        </p:nvSpPr>
        <p:spPr>
          <a:xfrm>
            <a:off x="6562192" y="3992270"/>
            <a:ext cx="4694987" cy="10058"/>
          </a:xfrm>
          <a:prstGeom prst="rect">
            <a:avLst/>
          </a:prstGeom>
          <a:solidFill>
            <a:srgbClr val="EFEAE0"/>
          </a:solidFill>
          <a:ln/>
        </p:spPr>
      </p:sp>
      <p:sp>
        <p:nvSpPr>
          <p:cNvPr id="35" name="Text 32"/>
          <p:cNvSpPr/>
          <p:nvPr/>
        </p:nvSpPr>
        <p:spPr>
          <a:xfrm>
            <a:off x="6562192"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36" name="Text 33"/>
          <p:cNvSpPr/>
          <p:nvPr/>
        </p:nvSpPr>
        <p:spPr>
          <a:xfrm>
            <a:off x="6927952"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数々のメディア取材や、本部によるSEO・MEO・AIO（LLMO）対策をはじめとしたWebマーケティングによって集客を支援します。</a:t>
            </a:r>
            <a:endParaRPr lang="en-US" sz="950" dirty="0"/>
          </a:p>
        </p:txBody>
      </p:sp>
      <p:sp>
        <p:nvSpPr>
          <p:cNvPr id="37" name="Shape 34"/>
          <p:cNvSpPr/>
          <p:nvPr/>
        </p:nvSpPr>
        <p:spPr>
          <a:xfrm>
            <a:off x="660197" y="4833518"/>
            <a:ext cx="5243627" cy="1426464"/>
          </a:xfrm>
          <a:prstGeom prst="roundRect">
            <a:avLst>
              <a:gd name="adj" fmla="val 3846"/>
            </a:avLst>
          </a:prstGeom>
          <a:solidFill>
            <a:srgbClr val="FFFFFF"/>
          </a:solidFill>
          <a:ln w="9525">
            <a:solidFill>
              <a:srgbClr val="EFEAE0"/>
            </a:solidFill>
            <a:prstDash val="solid"/>
          </a:ln>
        </p:spPr>
      </p:sp>
      <p:sp>
        <p:nvSpPr>
          <p:cNvPr id="38" name="Text 35"/>
          <p:cNvSpPr/>
          <p:nvPr/>
        </p:nvSpPr>
        <p:spPr>
          <a:xfrm>
            <a:off x="934517" y="5016398"/>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許認可</a:t>
            </a:r>
            <a:endParaRPr lang="en-US" sz="900" dirty="0"/>
          </a:p>
        </p:txBody>
      </p:sp>
      <p:sp>
        <p:nvSpPr>
          <p:cNvPr id="39" name="Text 36"/>
          <p:cNvSpPr/>
          <p:nvPr/>
        </p:nvSpPr>
        <p:spPr>
          <a:xfrm>
            <a:off x="934517" y="5217566"/>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40" name="Text 37"/>
          <p:cNvSpPr/>
          <p:nvPr/>
        </p:nvSpPr>
        <p:spPr>
          <a:xfrm>
            <a:off x="1300277" y="5199278"/>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許認可の申請は必要ですか？</a:t>
            </a:r>
            <a:endParaRPr lang="en-US" sz="1450" dirty="0"/>
          </a:p>
        </p:txBody>
      </p:sp>
      <p:sp>
        <p:nvSpPr>
          <p:cNvPr id="41" name="Shape 38"/>
          <p:cNvSpPr/>
          <p:nvPr/>
        </p:nvSpPr>
        <p:spPr>
          <a:xfrm>
            <a:off x="934517" y="5583326"/>
            <a:ext cx="4694987" cy="10058"/>
          </a:xfrm>
          <a:prstGeom prst="rect">
            <a:avLst/>
          </a:prstGeom>
          <a:solidFill>
            <a:srgbClr val="EFEAE0"/>
          </a:solidFill>
          <a:ln/>
        </p:spPr>
      </p:sp>
      <p:sp>
        <p:nvSpPr>
          <p:cNvPr id="42" name="Text 39"/>
          <p:cNvSpPr/>
          <p:nvPr/>
        </p:nvSpPr>
        <p:spPr>
          <a:xfrm>
            <a:off x="934517" y="5674766"/>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43" name="Text 40"/>
          <p:cNvSpPr/>
          <p:nvPr/>
        </p:nvSpPr>
        <p:spPr>
          <a:xfrm>
            <a:off x="1300277" y="5656478"/>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営業届の提出と、食品衛生責任者の設置が必要です。食品衛生責任者の資格は貴社にて取得いただき、営業届の申請は本部が行います。</a:t>
            </a:r>
            <a:endParaRPr lang="en-US" sz="950" dirty="0"/>
          </a:p>
        </p:txBody>
      </p:sp>
      <p:sp>
        <p:nvSpPr>
          <p:cNvPr id="44" name="Shape 41"/>
          <p:cNvSpPr/>
          <p:nvPr/>
        </p:nvSpPr>
        <p:spPr>
          <a:xfrm>
            <a:off x="6287872" y="4833518"/>
            <a:ext cx="5243627" cy="1426464"/>
          </a:xfrm>
          <a:prstGeom prst="roundRect">
            <a:avLst>
              <a:gd name="adj" fmla="val 3846"/>
            </a:avLst>
          </a:prstGeom>
          <a:solidFill>
            <a:srgbClr val="0C5230"/>
          </a:solidFill>
          <a:ln/>
        </p:spPr>
      </p:sp>
      <p:pic>
        <p:nvPicPr>
          <p:cNvPr id="45" name="Image 1" descr="/home/user/suzuki-ceo/selfcafe-partner-deck/assets/icons/LuMessageCircle-white.png">    </p:cNvPr>
          <p:cNvPicPr>
            <a:picLocks noChangeAspect="1"/>
          </p:cNvPicPr>
          <p:nvPr/>
        </p:nvPicPr>
        <p:blipFill>
          <a:blip r:embed="rId2"/>
          <a:stretch>
            <a:fillRect/>
          </a:stretch>
        </p:blipFill>
        <p:spPr>
          <a:xfrm>
            <a:off x="6598768" y="5144414"/>
            <a:ext cx="329184" cy="329184"/>
          </a:xfrm>
          <a:prstGeom prst="rect">
            <a:avLst/>
          </a:prstGeom>
        </p:spPr>
      </p:pic>
      <p:sp>
        <p:nvSpPr>
          <p:cNvPr id="46" name="Text 42"/>
          <p:cNvSpPr/>
          <p:nvPr/>
        </p:nvSpPr>
        <p:spPr>
          <a:xfrm>
            <a:off x="7092544" y="5107838"/>
            <a:ext cx="4146347" cy="329184"/>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その他のご質問もお気軽に</a:t>
            </a:r>
            <a:endParaRPr lang="en-US" sz="1500" dirty="0"/>
          </a:p>
        </p:txBody>
      </p:sp>
      <p:sp>
        <p:nvSpPr>
          <p:cNvPr id="47" name="Text 43"/>
          <p:cNvSpPr/>
          <p:nvPr/>
        </p:nvSpPr>
        <p:spPr>
          <a:xfrm>
            <a:off x="7092544" y="5491886"/>
            <a:ext cx="4146347" cy="548640"/>
          </a:xfrm>
          <a:prstGeom prst="rect">
            <a:avLst/>
          </a:prstGeom>
          <a:noFill/>
          <a:ln/>
        </p:spPr>
        <p:txBody>
          <a:bodyPr wrap="square" lIns="0" tIns="0" rIns="0" bIns="0" rtlCol="0" anchor="t"/>
          <a:lstStyle/>
          <a:p>
            <a:pPr indent="0" marL="0">
              <a:lnSpc>
                <a:spcPct val="136000"/>
              </a:lnSpc>
              <a:buNone/>
            </a:pPr>
            <a:r>
              <a:rPr lang="en-US" sz="1000" dirty="0">
                <a:solidFill>
                  <a:srgbClr val="AFC2B8"/>
                </a:solidFill>
                <a:latin typeface="Yu Gothic" pitchFamily="34" charset="0"/>
                <a:ea typeface="Yu Gothic" pitchFamily="34" charset="-122"/>
                <a:cs typeface="Yu Gothic" pitchFamily="34" charset="-120"/>
              </a:rPr>
              <a:t>初回面談で、立地条件やご希望に合わせて個別にご説明します。スペースの写真や図面をお持ちいただけると、収益試算までご案内できます。</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30</a:t>
            </a:r>
            <a:r>
              <a:rPr lang="en-US" sz="1050" b="1" dirty="0">
                <a:solidFill>
                  <a:srgbClr val="1B8149"/>
                </a:solidFill>
                <a:latin typeface="Yu Gothic" pitchFamily="34" charset="0"/>
                <a:ea typeface="Yu Gothic" pitchFamily="34" charset="-122"/>
                <a:cs typeface="Yu Gothic" pitchFamily="34" charset="-120"/>
              </a:rPr>
              <a:t>   サポート</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万全のサポート体制</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新たに人を採用・配置する必要はありません。開業前から開業後まで本部が伴走します。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31</a:t>
            </a:r>
            <a:endParaRPr lang="en-US" sz="1000" dirty="0"/>
          </a:p>
        </p:txBody>
      </p:sp>
      <p:sp>
        <p:nvSpPr>
          <p:cNvPr id="9" name="Shape 6"/>
          <p:cNvSpPr/>
          <p:nvPr/>
        </p:nvSpPr>
        <p:spPr>
          <a:xfrm>
            <a:off x="660197" y="1651406"/>
            <a:ext cx="5243627" cy="3200400"/>
          </a:xfrm>
          <a:prstGeom prst="roundRect">
            <a:avLst>
              <a:gd name="adj" fmla="val 1714"/>
            </a:avLst>
          </a:prstGeom>
          <a:solidFill>
            <a:srgbClr val="FFFFFF"/>
          </a:solidFill>
          <a:ln w="9525">
            <a:solidFill>
              <a:srgbClr val="EFEAE0"/>
            </a:solidFill>
            <a:prstDash val="solid"/>
          </a:ln>
        </p:spPr>
      </p:sp>
      <p:pic>
        <p:nvPicPr>
          <p:cNvPr id="10" name="Image 1" descr="/home/user/suzuki-ceo/selfcafe-partner-deck/assets/icons/LuFileCheck-green.png">    </p:cNvPr>
          <p:cNvPicPr>
            <a:picLocks noChangeAspect="1"/>
          </p:cNvPicPr>
          <p:nvPr/>
        </p:nvPicPr>
        <p:blipFill>
          <a:blip r:embed="rId2"/>
          <a:stretch>
            <a:fillRect/>
          </a:stretch>
        </p:blipFill>
        <p:spPr>
          <a:xfrm>
            <a:off x="934517" y="1925726"/>
            <a:ext cx="384048" cy="384048"/>
          </a:xfrm>
          <a:prstGeom prst="rect">
            <a:avLst/>
          </a:prstGeom>
        </p:spPr>
      </p:pic>
      <p:sp>
        <p:nvSpPr>
          <p:cNvPr id="11" name="Text 7"/>
          <p:cNvSpPr/>
          <p:nvPr/>
        </p:nvSpPr>
        <p:spPr>
          <a:xfrm>
            <a:off x="1483157"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BEFORE OPENING</a:t>
            </a:r>
            <a:endParaRPr lang="en-US" sz="900" dirty="0"/>
          </a:p>
        </p:txBody>
      </p:sp>
      <p:sp>
        <p:nvSpPr>
          <p:cNvPr id="12" name="Text 8"/>
          <p:cNvSpPr/>
          <p:nvPr/>
        </p:nvSpPr>
        <p:spPr>
          <a:xfrm>
            <a:off x="1483157"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開業前サポート</a:t>
            </a:r>
            <a:endParaRPr lang="en-US" sz="1800" dirty="0"/>
          </a:p>
        </p:txBody>
      </p:sp>
      <p:sp>
        <p:nvSpPr>
          <p:cNvPr id="13" name="Shape 9"/>
          <p:cNvSpPr/>
          <p:nvPr/>
        </p:nvSpPr>
        <p:spPr>
          <a:xfrm>
            <a:off x="934517" y="2565806"/>
            <a:ext cx="4694987" cy="10058"/>
          </a:xfrm>
          <a:prstGeom prst="rect">
            <a:avLst/>
          </a:prstGeom>
          <a:solidFill>
            <a:srgbClr val="EFEAE0"/>
          </a:solidFill>
          <a:ln/>
        </p:spPr>
      </p:sp>
      <p:pic>
        <p:nvPicPr>
          <p:cNvPr id="14" name="Image 2" descr="/home/user/suzuki-ceo/selfcafe-partner-deck/assets/icons/LuCheck-green.png">    </p:cNvPr>
          <p:cNvPicPr>
            <a:picLocks noChangeAspect="1"/>
          </p:cNvPicPr>
          <p:nvPr/>
        </p:nvPicPr>
        <p:blipFill>
          <a:blip r:embed="rId3"/>
          <a:stretch>
            <a:fillRect/>
          </a:stretch>
        </p:blipFill>
        <p:spPr>
          <a:xfrm>
            <a:off x="952805" y="2766974"/>
            <a:ext cx="182880" cy="182880"/>
          </a:xfrm>
          <a:prstGeom prst="rect">
            <a:avLst/>
          </a:prstGeom>
        </p:spPr>
      </p:pic>
      <p:sp>
        <p:nvSpPr>
          <p:cNvPr id="15" name="Text 10"/>
          <p:cNvSpPr/>
          <p:nvPr/>
        </p:nvSpPr>
        <p:spPr>
          <a:xfrm>
            <a:off x="1263701"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パートナー制度のご説明</a:t>
            </a:r>
            <a:endParaRPr lang="en-US" sz="1150" dirty="0"/>
          </a:p>
        </p:txBody>
      </p:sp>
      <p:pic>
        <p:nvPicPr>
          <p:cNvPr id="16" name="Image 3" descr="/home/user/suzuki-ceo/selfcafe-partner-deck/assets/icons/LuCheck-green.png">    </p:cNvPr>
          <p:cNvPicPr>
            <a:picLocks noChangeAspect="1"/>
          </p:cNvPicPr>
          <p:nvPr/>
        </p:nvPicPr>
        <p:blipFill>
          <a:blip r:embed="rId4"/>
          <a:stretch>
            <a:fillRect/>
          </a:stretch>
        </p:blipFill>
        <p:spPr>
          <a:xfrm>
            <a:off x="952805" y="3169310"/>
            <a:ext cx="182880" cy="182880"/>
          </a:xfrm>
          <a:prstGeom prst="rect">
            <a:avLst/>
          </a:prstGeom>
        </p:spPr>
      </p:pic>
      <p:sp>
        <p:nvSpPr>
          <p:cNvPr id="17" name="Text 11"/>
          <p:cNvSpPr/>
          <p:nvPr/>
        </p:nvSpPr>
        <p:spPr>
          <a:xfrm>
            <a:off x="1263701"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収益試算表の作成</a:t>
            </a:r>
            <a:endParaRPr lang="en-US" sz="1150" dirty="0"/>
          </a:p>
        </p:txBody>
      </p:sp>
      <p:pic>
        <p:nvPicPr>
          <p:cNvPr id="18" name="Image 4" descr="/home/user/suzuki-ceo/selfcafe-partner-deck/assets/icons/LuCheck-green.png">    </p:cNvPr>
          <p:cNvPicPr>
            <a:picLocks noChangeAspect="1"/>
          </p:cNvPicPr>
          <p:nvPr/>
        </p:nvPicPr>
        <p:blipFill>
          <a:blip r:embed="rId5"/>
          <a:stretch>
            <a:fillRect/>
          </a:stretch>
        </p:blipFill>
        <p:spPr>
          <a:xfrm>
            <a:off x="952805" y="3571646"/>
            <a:ext cx="182880" cy="182880"/>
          </a:xfrm>
          <a:prstGeom prst="rect">
            <a:avLst/>
          </a:prstGeom>
        </p:spPr>
      </p:pic>
      <p:sp>
        <p:nvSpPr>
          <p:cNvPr id="19" name="Text 12"/>
          <p:cNvSpPr/>
          <p:nvPr/>
        </p:nvSpPr>
        <p:spPr>
          <a:xfrm>
            <a:off x="1263701"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現地調査・工事業者手配</a:t>
            </a:r>
            <a:endParaRPr lang="en-US" sz="1150" dirty="0"/>
          </a:p>
        </p:txBody>
      </p:sp>
      <p:pic>
        <p:nvPicPr>
          <p:cNvPr id="20" name="Image 5" descr="/home/user/suzuki-ceo/selfcafe-partner-deck/assets/icons/LuCheck-green.png">    </p:cNvPr>
          <p:cNvPicPr>
            <a:picLocks noChangeAspect="1"/>
          </p:cNvPicPr>
          <p:nvPr/>
        </p:nvPicPr>
        <p:blipFill>
          <a:blip r:embed="rId6"/>
          <a:stretch>
            <a:fillRect/>
          </a:stretch>
        </p:blipFill>
        <p:spPr>
          <a:xfrm>
            <a:off x="952805" y="3973982"/>
            <a:ext cx="182880" cy="182880"/>
          </a:xfrm>
          <a:prstGeom prst="rect">
            <a:avLst/>
          </a:prstGeom>
        </p:spPr>
      </p:pic>
      <p:sp>
        <p:nvSpPr>
          <p:cNvPr id="21" name="Text 13"/>
          <p:cNvSpPr/>
          <p:nvPr/>
        </p:nvSpPr>
        <p:spPr>
          <a:xfrm>
            <a:off x="1263701"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店舗デザイン・設計</a:t>
            </a:r>
            <a:endParaRPr lang="en-US" sz="1150" dirty="0"/>
          </a:p>
        </p:txBody>
      </p:sp>
      <p:pic>
        <p:nvPicPr>
          <p:cNvPr id="22" name="Image 6" descr="/home/user/suzuki-ceo/selfcafe-partner-deck/assets/icons/LuCheck-green.png">    </p:cNvPr>
          <p:cNvPicPr>
            <a:picLocks noChangeAspect="1"/>
          </p:cNvPicPr>
          <p:nvPr/>
        </p:nvPicPr>
        <p:blipFill>
          <a:blip r:embed="rId7"/>
          <a:stretch>
            <a:fillRect/>
          </a:stretch>
        </p:blipFill>
        <p:spPr>
          <a:xfrm>
            <a:off x="952805" y="4376318"/>
            <a:ext cx="182880" cy="182880"/>
          </a:xfrm>
          <a:prstGeom prst="rect">
            <a:avLst/>
          </a:prstGeom>
        </p:spPr>
      </p:pic>
      <p:sp>
        <p:nvSpPr>
          <p:cNvPr id="23" name="Text 14"/>
          <p:cNvSpPr/>
          <p:nvPr/>
        </p:nvSpPr>
        <p:spPr>
          <a:xfrm>
            <a:off x="1263701"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運営研修</a:t>
            </a:r>
            <a:endParaRPr lang="en-US" sz="1150" dirty="0"/>
          </a:p>
        </p:txBody>
      </p:sp>
      <p:sp>
        <p:nvSpPr>
          <p:cNvPr id="24" name="Shape 15"/>
          <p:cNvSpPr/>
          <p:nvPr/>
        </p:nvSpPr>
        <p:spPr>
          <a:xfrm>
            <a:off x="6287872" y="1651406"/>
            <a:ext cx="5243627" cy="3200400"/>
          </a:xfrm>
          <a:prstGeom prst="roundRect">
            <a:avLst>
              <a:gd name="adj" fmla="val 1714"/>
            </a:avLst>
          </a:prstGeom>
          <a:solidFill>
            <a:srgbClr val="FFFFFF"/>
          </a:solidFill>
          <a:ln w="9525">
            <a:solidFill>
              <a:srgbClr val="EFEAE0"/>
            </a:solidFill>
            <a:prstDash val="solid"/>
          </a:ln>
        </p:spPr>
      </p:sp>
      <p:pic>
        <p:nvPicPr>
          <p:cNvPr id="25" name="Image 7" descr="/home/user/suzuki-ceo/selfcafe-partner-deck/assets/icons/LuLifeBuoy-green.png">    </p:cNvPr>
          <p:cNvPicPr>
            <a:picLocks noChangeAspect="1"/>
          </p:cNvPicPr>
          <p:nvPr/>
        </p:nvPicPr>
        <p:blipFill>
          <a:blip r:embed="rId8"/>
          <a:stretch>
            <a:fillRect/>
          </a:stretch>
        </p:blipFill>
        <p:spPr>
          <a:xfrm>
            <a:off x="6562192" y="1925726"/>
            <a:ext cx="384048" cy="384048"/>
          </a:xfrm>
          <a:prstGeom prst="rect">
            <a:avLst/>
          </a:prstGeom>
        </p:spPr>
      </p:pic>
      <p:sp>
        <p:nvSpPr>
          <p:cNvPr id="26" name="Text 16"/>
          <p:cNvSpPr/>
          <p:nvPr/>
        </p:nvSpPr>
        <p:spPr>
          <a:xfrm>
            <a:off x="7110832"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AFTER OPENING</a:t>
            </a:r>
            <a:endParaRPr lang="en-US" sz="900" dirty="0"/>
          </a:p>
        </p:txBody>
      </p:sp>
      <p:sp>
        <p:nvSpPr>
          <p:cNvPr id="27" name="Text 17"/>
          <p:cNvSpPr/>
          <p:nvPr/>
        </p:nvSpPr>
        <p:spPr>
          <a:xfrm>
            <a:off x="7110832"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開業後サポート</a:t>
            </a:r>
            <a:endParaRPr lang="en-US" sz="1800" dirty="0"/>
          </a:p>
        </p:txBody>
      </p:sp>
      <p:sp>
        <p:nvSpPr>
          <p:cNvPr id="28" name="Shape 18"/>
          <p:cNvSpPr/>
          <p:nvPr/>
        </p:nvSpPr>
        <p:spPr>
          <a:xfrm>
            <a:off x="6562192" y="2565806"/>
            <a:ext cx="4694987" cy="10058"/>
          </a:xfrm>
          <a:prstGeom prst="rect">
            <a:avLst/>
          </a:prstGeom>
          <a:solidFill>
            <a:srgbClr val="EFEAE0"/>
          </a:solidFill>
          <a:ln/>
        </p:spPr>
      </p:sp>
      <p:pic>
        <p:nvPicPr>
          <p:cNvPr id="29" name="Image 8" descr="/home/user/suzuki-ceo/selfcafe-partner-deck/assets/icons/LuCheck-green.png">    </p:cNvPr>
          <p:cNvPicPr>
            <a:picLocks noChangeAspect="1"/>
          </p:cNvPicPr>
          <p:nvPr/>
        </p:nvPicPr>
        <p:blipFill>
          <a:blip r:embed="rId9"/>
          <a:stretch>
            <a:fillRect/>
          </a:stretch>
        </p:blipFill>
        <p:spPr>
          <a:xfrm>
            <a:off x="6580480" y="2766974"/>
            <a:ext cx="182880" cy="182880"/>
          </a:xfrm>
          <a:prstGeom prst="rect">
            <a:avLst/>
          </a:prstGeom>
        </p:spPr>
      </p:pic>
      <p:sp>
        <p:nvSpPr>
          <p:cNvPr id="30" name="Text 19"/>
          <p:cNvSpPr/>
          <p:nvPr/>
        </p:nvSpPr>
        <p:spPr>
          <a:xfrm>
            <a:off x="6891376"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店舗運営相談</a:t>
            </a:r>
            <a:endParaRPr lang="en-US" sz="1150" dirty="0"/>
          </a:p>
        </p:txBody>
      </p:sp>
      <p:pic>
        <p:nvPicPr>
          <p:cNvPr id="31" name="Image 9" descr="/home/user/suzuki-ceo/selfcafe-partner-deck/assets/icons/LuCheck-green.png">    </p:cNvPr>
          <p:cNvPicPr>
            <a:picLocks noChangeAspect="1"/>
          </p:cNvPicPr>
          <p:nvPr/>
        </p:nvPicPr>
        <p:blipFill>
          <a:blip r:embed="rId10"/>
          <a:stretch>
            <a:fillRect/>
          </a:stretch>
        </p:blipFill>
        <p:spPr>
          <a:xfrm>
            <a:off x="6580480" y="3169310"/>
            <a:ext cx="182880" cy="182880"/>
          </a:xfrm>
          <a:prstGeom prst="rect">
            <a:avLst/>
          </a:prstGeom>
        </p:spPr>
      </p:pic>
      <p:sp>
        <p:nvSpPr>
          <p:cNvPr id="32" name="Text 20"/>
          <p:cNvSpPr/>
          <p:nvPr/>
        </p:nvSpPr>
        <p:spPr>
          <a:xfrm>
            <a:off x="6891376"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マシンの定期メンテナンス</a:t>
            </a:r>
            <a:endParaRPr lang="en-US" sz="1150" dirty="0"/>
          </a:p>
        </p:txBody>
      </p:sp>
      <p:pic>
        <p:nvPicPr>
          <p:cNvPr id="33" name="Image 10" descr="/home/user/suzuki-ceo/selfcafe-partner-deck/assets/icons/LuCheck-green.png">    </p:cNvPr>
          <p:cNvPicPr>
            <a:picLocks noChangeAspect="1"/>
          </p:cNvPicPr>
          <p:nvPr/>
        </p:nvPicPr>
        <p:blipFill>
          <a:blip r:embed="rId11"/>
          <a:stretch>
            <a:fillRect/>
          </a:stretch>
        </p:blipFill>
        <p:spPr>
          <a:xfrm>
            <a:off x="6580480" y="3571646"/>
            <a:ext cx="182880" cy="182880"/>
          </a:xfrm>
          <a:prstGeom prst="rect">
            <a:avLst/>
          </a:prstGeom>
        </p:spPr>
      </p:pic>
      <p:sp>
        <p:nvSpPr>
          <p:cNvPr id="34" name="Text 21"/>
          <p:cNvSpPr/>
          <p:nvPr/>
        </p:nvSpPr>
        <p:spPr>
          <a:xfrm>
            <a:off x="6891376"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WEBサイト作成・更新</a:t>
            </a:r>
            <a:endParaRPr lang="en-US" sz="1150" dirty="0"/>
          </a:p>
        </p:txBody>
      </p:sp>
      <p:pic>
        <p:nvPicPr>
          <p:cNvPr id="35" name="Image 11" descr="/home/user/suzuki-ceo/selfcafe-partner-deck/assets/icons/LuCheck-green.png">    </p:cNvPr>
          <p:cNvPicPr>
            <a:picLocks noChangeAspect="1"/>
          </p:cNvPicPr>
          <p:nvPr/>
        </p:nvPicPr>
        <p:blipFill>
          <a:blip r:embed="rId12"/>
          <a:stretch>
            <a:fillRect/>
          </a:stretch>
        </p:blipFill>
        <p:spPr>
          <a:xfrm>
            <a:off x="6580480" y="3973982"/>
            <a:ext cx="182880" cy="182880"/>
          </a:xfrm>
          <a:prstGeom prst="rect">
            <a:avLst/>
          </a:prstGeom>
        </p:spPr>
      </p:pic>
      <p:sp>
        <p:nvSpPr>
          <p:cNvPr id="36" name="Text 22"/>
          <p:cNvSpPr/>
          <p:nvPr/>
        </p:nvSpPr>
        <p:spPr>
          <a:xfrm>
            <a:off x="6891376"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SEO・MEO・AIO（LLMO）対策</a:t>
            </a:r>
            <a:endParaRPr lang="en-US" sz="1150" dirty="0"/>
          </a:p>
        </p:txBody>
      </p:sp>
      <p:pic>
        <p:nvPicPr>
          <p:cNvPr id="37" name="Image 12" descr="/home/user/suzuki-ceo/selfcafe-partner-deck/assets/icons/LuCheck-green.png">    </p:cNvPr>
          <p:cNvPicPr>
            <a:picLocks noChangeAspect="1"/>
          </p:cNvPicPr>
          <p:nvPr/>
        </p:nvPicPr>
        <p:blipFill>
          <a:blip r:embed="rId13"/>
          <a:stretch>
            <a:fillRect/>
          </a:stretch>
        </p:blipFill>
        <p:spPr>
          <a:xfrm>
            <a:off x="6580480" y="4376318"/>
            <a:ext cx="182880" cy="182880"/>
          </a:xfrm>
          <a:prstGeom prst="rect">
            <a:avLst/>
          </a:prstGeom>
        </p:spPr>
      </p:pic>
      <p:sp>
        <p:nvSpPr>
          <p:cNvPr id="38" name="Text 23"/>
          <p:cNvSpPr/>
          <p:nvPr/>
        </p:nvSpPr>
        <p:spPr>
          <a:xfrm>
            <a:off x="6891376"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改修工事サポート</a:t>
            </a:r>
            <a:endParaRPr lang="en-US" sz="1150" dirty="0"/>
          </a:p>
        </p:txBody>
      </p:sp>
      <p:sp>
        <p:nvSpPr>
          <p:cNvPr id="39" name="Shape 24"/>
          <p:cNvSpPr/>
          <p:nvPr/>
        </p:nvSpPr>
        <p:spPr>
          <a:xfrm>
            <a:off x="660197" y="5052974"/>
            <a:ext cx="10871302" cy="914400"/>
          </a:xfrm>
          <a:prstGeom prst="roundRect">
            <a:avLst>
              <a:gd name="adj" fmla="val 6000"/>
            </a:avLst>
          </a:prstGeom>
          <a:solidFill>
            <a:srgbClr val="0C5230"/>
          </a:solidFill>
          <a:ln/>
        </p:spPr>
      </p:sp>
      <p:pic>
        <p:nvPicPr>
          <p:cNvPr id="40" name="Image 13" descr="/home/user/suzuki-ceo/selfcafe-partner-deck/assets/icons/LuUsers-white.png">    </p:cNvPr>
          <p:cNvPicPr>
            <a:picLocks noChangeAspect="1"/>
          </p:cNvPicPr>
          <p:nvPr/>
        </p:nvPicPr>
        <p:blipFill>
          <a:blip r:embed="rId14"/>
          <a:stretch>
            <a:fillRect/>
          </a:stretch>
        </p:blipFill>
        <p:spPr>
          <a:xfrm>
            <a:off x="989381" y="5363870"/>
            <a:ext cx="292608" cy="292608"/>
          </a:xfrm>
          <a:prstGeom prst="rect">
            <a:avLst/>
          </a:prstGeom>
        </p:spPr>
      </p:pic>
      <p:sp>
        <p:nvSpPr>
          <p:cNvPr id="41" name="Text 25"/>
          <p:cNvSpPr/>
          <p:nvPr/>
        </p:nvSpPr>
        <p:spPr>
          <a:xfrm>
            <a:off x="1428293" y="5180990"/>
            <a:ext cx="9774022" cy="329184"/>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専任スタッフを置かずに、店舗運営を続けられる体制をつくります。</a:t>
            </a:r>
            <a:endParaRPr lang="en-US" sz="1600" dirty="0"/>
          </a:p>
        </p:txBody>
      </p:sp>
      <p:sp>
        <p:nvSpPr>
          <p:cNvPr id="42" name="Text 26"/>
          <p:cNvSpPr/>
          <p:nvPr/>
        </p:nvSpPr>
        <p:spPr>
          <a:xfrm>
            <a:off x="1428293" y="5528462"/>
            <a:ext cx="9774022" cy="274320"/>
          </a:xfrm>
          <a:prstGeom prst="rect">
            <a:avLst/>
          </a:prstGeom>
          <a:noFill/>
          <a:ln/>
        </p:spPr>
        <p:txBody>
          <a:bodyPr wrap="square" lIns="0" tIns="0" rIns="0" bIns="0" rtlCol="0" anchor="ctr"/>
          <a:lstStyle/>
          <a:p>
            <a:pPr indent="0" marL="0">
              <a:buNone/>
            </a:pPr>
            <a:r>
              <a:rPr lang="en-US" sz="1050" dirty="0">
                <a:solidFill>
                  <a:srgbClr val="AFC2B8"/>
                </a:solidFill>
                <a:latin typeface="Yu Gothic" pitchFamily="34" charset="0"/>
                <a:ea typeface="Yu Gothic" pitchFamily="34" charset="-122"/>
                <a:cs typeface="Yu Gothic" pitchFamily="34" charset="-120"/>
              </a:rPr>
              <a:t>開業前の試算から、開業後のWEB集客・メンテナンスまで本部が担当します。</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31</a:t>
            </a:r>
            <a:r>
              <a:rPr lang="en-US" sz="1050" b="1" dirty="0">
                <a:solidFill>
                  <a:srgbClr val="1B8149"/>
                </a:solidFill>
                <a:latin typeface="Yu Gothic" pitchFamily="34" charset="0"/>
                <a:ea typeface="Yu Gothic" pitchFamily="34" charset="-122"/>
                <a:cs typeface="Yu Gothic" pitchFamily="34" charset="-120"/>
              </a:rPr>
              <a:t>   導入プロセス</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開業までの流れ</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お問い合わせから運営開始まで、2〜3か月程度が目安です。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32</a:t>
            </a:r>
            <a:endParaRPr lang="en-US" sz="1000" dirty="0"/>
          </a:p>
        </p:txBody>
      </p:sp>
      <p:sp>
        <p:nvSpPr>
          <p:cNvPr id="9" name="Shape 6"/>
          <p:cNvSpPr/>
          <p:nvPr/>
        </p:nvSpPr>
        <p:spPr>
          <a:xfrm>
            <a:off x="7410572" y="1651406"/>
            <a:ext cx="1828800" cy="420624"/>
          </a:xfrm>
          <a:prstGeom prst="roundRect">
            <a:avLst>
              <a:gd name="adj" fmla="val 50000"/>
            </a:avLst>
          </a:prstGeom>
          <a:solidFill>
            <a:srgbClr val="FBF4E4"/>
          </a:solidFill>
          <a:ln w="9525">
            <a:solidFill>
              <a:srgbClr val="E7D3A8"/>
            </a:solidFill>
            <a:prstDash val="solid"/>
          </a:ln>
        </p:spPr>
      </p:sp>
      <p:pic>
        <p:nvPicPr>
          <p:cNvPr id="10" name="Image 1" descr="/home/user/suzuki-ceo/selfcafe-partner-deck/assets/icons/LuClock-gold.png">    </p:cNvPr>
          <p:cNvPicPr>
            <a:picLocks noChangeAspect="1"/>
          </p:cNvPicPr>
          <p:nvPr/>
        </p:nvPicPr>
        <p:blipFill>
          <a:blip r:embed="rId2"/>
          <a:stretch>
            <a:fillRect/>
          </a:stretch>
        </p:blipFill>
        <p:spPr>
          <a:xfrm>
            <a:off x="7611740" y="1751990"/>
            <a:ext cx="219456" cy="219456"/>
          </a:xfrm>
          <a:prstGeom prst="rect">
            <a:avLst/>
          </a:prstGeom>
        </p:spPr>
      </p:pic>
      <p:sp>
        <p:nvSpPr>
          <p:cNvPr id="11" name="Text 7"/>
          <p:cNvSpPr/>
          <p:nvPr/>
        </p:nvSpPr>
        <p:spPr>
          <a:xfrm>
            <a:off x="7886060" y="1651406"/>
            <a:ext cx="1371600" cy="420624"/>
          </a:xfrm>
          <a:prstGeom prst="rect">
            <a:avLst/>
          </a:prstGeom>
          <a:noFill/>
          <a:ln/>
        </p:spPr>
        <p:txBody>
          <a:bodyPr wrap="square" lIns="0" tIns="0" rIns="0" bIns="0" rtlCol="0" anchor="ctr"/>
          <a:lstStyle/>
          <a:p>
            <a:pPr indent="0" marL="0">
              <a:buNone/>
            </a:pPr>
            <a:r>
              <a:rPr lang="en-US" sz="1150" b="1" dirty="0">
                <a:solidFill>
                  <a:srgbClr val="A8761F"/>
                </a:solidFill>
                <a:latin typeface="Yu Gothic" pitchFamily="34" charset="0"/>
                <a:ea typeface="Yu Gothic" pitchFamily="34" charset="-122"/>
                <a:cs typeface="Yu Gothic" pitchFamily="34" charset="-120"/>
              </a:rPr>
              <a:t>2〜3か月程度</a:t>
            </a:r>
            <a:endParaRPr lang="en-US" sz="1150" dirty="0"/>
          </a:p>
        </p:txBody>
      </p:sp>
      <p:sp>
        <p:nvSpPr>
          <p:cNvPr id="12" name="Shape 8"/>
          <p:cNvSpPr/>
          <p:nvPr/>
        </p:nvSpPr>
        <p:spPr>
          <a:xfrm>
            <a:off x="5118445" y="2072030"/>
            <a:ext cx="12802" cy="274320"/>
          </a:xfrm>
          <a:prstGeom prst="rect">
            <a:avLst/>
          </a:prstGeom>
          <a:solidFill>
            <a:srgbClr val="DCC79B"/>
          </a:solidFill>
          <a:ln/>
        </p:spPr>
      </p:sp>
      <p:sp>
        <p:nvSpPr>
          <p:cNvPr id="13" name="Shape 9"/>
          <p:cNvSpPr/>
          <p:nvPr/>
        </p:nvSpPr>
        <p:spPr>
          <a:xfrm>
            <a:off x="11518697" y="2072030"/>
            <a:ext cx="12802" cy="274320"/>
          </a:xfrm>
          <a:prstGeom prst="rect">
            <a:avLst/>
          </a:prstGeom>
          <a:solidFill>
            <a:srgbClr val="DCC79B"/>
          </a:solidFill>
          <a:ln/>
        </p:spPr>
      </p:sp>
      <p:sp>
        <p:nvSpPr>
          <p:cNvPr id="14" name="Shape 10"/>
          <p:cNvSpPr/>
          <p:nvPr/>
        </p:nvSpPr>
        <p:spPr>
          <a:xfrm>
            <a:off x="5118445" y="2337206"/>
            <a:ext cx="6413053" cy="12802"/>
          </a:xfrm>
          <a:prstGeom prst="rect">
            <a:avLst/>
          </a:prstGeom>
          <a:solidFill>
            <a:srgbClr val="DCC79B"/>
          </a:solidFill>
          <a:ln/>
        </p:spPr>
      </p:sp>
      <p:sp>
        <p:nvSpPr>
          <p:cNvPr id="15" name="Shape 11"/>
          <p:cNvSpPr/>
          <p:nvPr/>
        </p:nvSpPr>
        <p:spPr>
          <a:xfrm>
            <a:off x="660197" y="2437790"/>
            <a:ext cx="1954804" cy="2688336"/>
          </a:xfrm>
          <a:prstGeom prst="roundRect">
            <a:avLst>
              <a:gd name="adj" fmla="val 2807"/>
            </a:avLst>
          </a:prstGeom>
          <a:solidFill>
            <a:srgbClr val="FFFFFF"/>
          </a:solidFill>
          <a:ln w="9525">
            <a:solidFill>
              <a:srgbClr val="EFEAE0"/>
            </a:solidFill>
            <a:prstDash val="solid"/>
          </a:ln>
        </p:spPr>
      </p:sp>
      <p:sp>
        <p:nvSpPr>
          <p:cNvPr id="16" name="Text 12"/>
          <p:cNvSpPr/>
          <p:nvPr/>
        </p:nvSpPr>
        <p:spPr>
          <a:xfrm>
            <a:off x="879653"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01</a:t>
            </a:r>
            <a:endParaRPr lang="en-US" sz="900" dirty="0"/>
          </a:p>
        </p:txBody>
      </p:sp>
      <p:sp>
        <p:nvSpPr>
          <p:cNvPr id="17" name="Shape 13"/>
          <p:cNvSpPr/>
          <p:nvPr/>
        </p:nvSpPr>
        <p:spPr>
          <a:xfrm>
            <a:off x="1271839" y="3041294"/>
            <a:ext cx="731520" cy="731520"/>
          </a:xfrm>
          <a:prstGeom prst="ellipse">
            <a:avLst/>
          </a:prstGeom>
          <a:solidFill>
            <a:srgbClr val="F1F8F3"/>
          </a:solidFill>
          <a:ln/>
        </p:spPr>
      </p:sp>
      <p:pic>
        <p:nvPicPr>
          <p:cNvPr id="18" name="Image 2" descr="/home/user/suzuki-ceo/selfcafe-partner-deck/assets/icons/LuUsers-green.png">    </p:cNvPr>
          <p:cNvPicPr>
            <a:picLocks noChangeAspect="1"/>
          </p:cNvPicPr>
          <p:nvPr/>
        </p:nvPicPr>
        <p:blipFill>
          <a:blip r:embed="rId3"/>
          <a:stretch>
            <a:fillRect/>
          </a:stretch>
        </p:blipFill>
        <p:spPr>
          <a:xfrm>
            <a:off x="1436431" y="3205886"/>
            <a:ext cx="402336" cy="402336"/>
          </a:xfrm>
          <a:prstGeom prst="rect">
            <a:avLst/>
          </a:prstGeom>
        </p:spPr>
      </p:pic>
      <p:sp>
        <p:nvSpPr>
          <p:cNvPr id="19" name="Text 14"/>
          <p:cNvSpPr/>
          <p:nvPr/>
        </p:nvSpPr>
        <p:spPr>
          <a:xfrm>
            <a:off x="788213"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面談</a:t>
            </a:r>
            <a:endParaRPr lang="en-US" sz="1600" dirty="0"/>
          </a:p>
        </p:txBody>
      </p:sp>
      <p:sp>
        <p:nvSpPr>
          <p:cNvPr id="20" name="Text 15"/>
          <p:cNvSpPr/>
          <p:nvPr/>
        </p:nvSpPr>
        <p:spPr>
          <a:xfrm>
            <a:off x="788213"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制度のご説明と、ご希望条件のヒアリング。</a:t>
            </a:r>
            <a:endParaRPr lang="en-US" sz="950" dirty="0"/>
          </a:p>
        </p:txBody>
      </p:sp>
      <p:sp>
        <p:nvSpPr>
          <p:cNvPr id="21" name="Shape 16"/>
          <p:cNvSpPr/>
          <p:nvPr/>
        </p:nvSpPr>
        <p:spPr>
          <a:xfrm rot="5400000">
            <a:off x="2669865" y="3699662"/>
            <a:ext cx="164592" cy="164592"/>
          </a:xfrm>
          <a:prstGeom prst="triangle">
            <a:avLst/>
          </a:prstGeom>
          <a:solidFill>
            <a:srgbClr val="CFC9BB"/>
          </a:solidFill>
          <a:ln/>
        </p:spPr>
      </p:sp>
      <p:sp>
        <p:nvSpPr>
          <p:cNvPr id="22" name="Shape 17"/>
          <p:cNvSpPr/>
          <p:nvPr/>
        </p:nvSpPr>
        <p:spPr>
          <a:xfrm>
            <a:off x="2889321" y="2437790"/>
            <a:ext cx="1954804" cy="2688336"/>
          </a:xfrm>
          <a:prstGeom prst="roundRect">
            <a:avLst>
              <a:gd name="adj" fmla="val 2807"/>
            </a:avLst>
          </a:prstGeom>
          <a:solidFill>
            <a:srgbClr val="FFFFFF"/>
          </a:solidFill>
          <a:ln w="9525">
            <a:solidFill>
              <a:srgbClr val="EFEAE0"/>
            </a:solidFill>
            <a:prstDash val="solid"/>
          </a:ln>
        </p:spPr>
      </p:sp>
      <p:sp>
        <p:nvSpPr>
          <p:cNvPr id="23" name="Text 18"/>
          <p:cNvSpPr/>
          <p:nvPr/>
        </p:nvSpPr>
        <p:spPr>
          <a:xfrm>
            <a:off x="3108777"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02</a:t>
            </a:r>
            <a:endParaRPr lang="en-US" sz="900" dirty="0"/>
          </a:p>
        </p:txBody>
      </p:sp>
      <p:sp>
        <p:nvSpPr>
          <p:cNvPr id="24" name="Shape 19"/>
          <p:cNvSpPr/>
          <p:nvPr/>
        </p:nvSpPr>
        <p:spPr>
          <a:xfrm>
            <a:off x="3500963" y="3041294"/>
            <a:ext cx="731520" cy="731520"/>
          </a:xfrm>
          <a:prstGeom prst="ellipse">
            <a:avLst/>
          </a:prstGeom>
          <a:solidFill>
            <a:srgbClr val="F1F8F3"/>
          </a:solidFill>
          <a:ln/>
        </p:spPr>
      </p:sp>
      <p:pic>
        <p:nvPicPr>
          <p:cNvPr id="25" name="Image 3" descr="/home/user/suzuki-ceo/selfcafe-partner-deck/assets/icons/LuFileSearch-green.png">    </p:cNvPr>
          <p:cNvPicPr>
            <a:picLocks noChangeAspect="1"/>
          </p:cNvPicPr>
          <p:nvPr/>
        </p:nvPicPr>
        <p:blipFill>
          <a:blip r:embed="rId4"/>
          <a:stretch>
            <a:fillRect/>
          </a:stretch>
        </p:blipFill>
        <p:spPr>
          <a:xfrm>
            <a:off x="3665555" y="3205886"/>
            <a:ext cx="402336" cy="402336"/>
          </a:xfrm>
          <a:prstGeom prst="rect">
            <a:avLst/>
          </a:prstGeom>
        </p:spPr>
      </p:pic>
      <p:sp>
        <p:nvSpPr>
          <p:cNvPr id="26" name="Text 20"/>
          <p:cNvSpPr/>
          <p:nvPr/>
        </p:nvSpPr>
        <p:spPr>
          <a:xfrm>
            <a:off x="3017337"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加盟審査</a:t>
            </a:r>
            <a:endParaRPr lang="en-US" sz="1600" dirty="0"/>
          </a:p>
        </p:txBody>
      </p:sp>
      <p:sp>
        <p:nvSpPr>
          <p:cNvPr id="27" name="Text 21"/>
          <p:cNvSpPr/>
          <p:nvPr/>
        </p:nvSpPr>
        <p:spPr>
          <a:xfrm>
            <a:off x="3017337"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立地・スペースの現地調査と収益試算。</a:t>
            </a:r>
            <a:endParaRPr lang="en-US" sz="950" dirty="0"/>
          </a:p>
        </p:txBody>
      </p:sp>
      <p:sp>
        <p:nvSpPr>
          <p:cNvPr id="28" name="Shape 22"/>
          <p:cNvSpPr/>
          <p:nvPr/>
        </p:nvSpPr>
        <p:spPr>
          <a:xfrm rot="5400000">
            <a:off x="4898989" y="3699662"/>
            <a:ext cx="164592" cy="164592"/>
          </a:xfrm>
          <a:prstGeom prst="triangle">
            <a:avLst/>
          </a:prstGeom>
          <a:solidFill>
            <a:srgbClr val="CFC9BB"/>
          </a:solidFill>
          <a:ln/>
        </p:spPr>
      </p:sp>
      <p:sp>
        <p:nvSpPr>
          <p:cNvPr id="29" name="Shape 23"/>
          <p:cNvSpPr/>
          <p:nvPr/>
        </p:nvSpPr>
        <p:spPr>
          <a:xfrm>
            <a:off x="5118445" y="2437790"/>
            <a:ext cx="1954804" cy="2688336"/>
          </a:xfrm>
          <a:prstGeom prst="roundRect">
            <a:avLst>
              <a:gd name="adj" fmla="val 2807"/>
            </a:avLst>
          </a:prstGeom>
          <a:solidFill>
            <a:srgbClr val="FFFFFF"/>
          </a:solidFill>
          <a:ln w="9525">
            <a:solidFill>
              <a:srgbClr val="EFEAE0"/>
            </a:solidFill>
            <a:prstDash val="solid"/>
          </a:ln>
        </p:spPr>
      </p:sp>
      <p:sp>
        <p:nvSpPr>
          <p:cNvPr id="30" name="Text 24"/>
          <p:cNvSpPr/>
          <p:nvPr/>
        </p:nvSpPr>
        <p:spPr>
          <a:xfrm>
            <a:off x="5337901"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03</a:t>
            </a:r>
            <a:endParaRPr lang="en-US" sz="900" dirty="0"/>
          </a:p>
        </p:txBody>
      </p:sp>
      <p:sp>
        <p:nvSpPr>
          <p:cNvPr id="31" name="Shape 25"/>
          <p:cNvSpPr/>
          <p:nvPr/>
        </p:nvSpPr>
        <p:spPr>
          <a:xfrm>
            <a:off x="5730088" y="3041294"/>
            <a:ext cx="731520" cy="731520"/>
          </a:xfrm>
          <a:prstGeom prst="ellipse">
            <a:avLst/>
          </a:prstGeom>
          <a:solidFill>
            <a:srgbClr val="F1F8F3"/>
          </a:solidFill>
          <a:ln/>
        </p:spPr>
      </p:sp>
      <p:pic>
        <p:nvPicPr>
          <p:cNvPr id="32" name="Image 4" descr="/home/user/suzuki-ceo/selfcafe-partner-deck/assets/icons/LuPenLine-green.png">    </p:cNvPr>
          <p:cNvPicPr>
            <a:picLocks noChangeAspect="1"/>
          </p:cNvPicPr>
          <p:nvPr/>
        </p:nvPicPr>
        <p:blipFill>
          <a:blip r:embed="rId5"/>
          <a:stretch>
            <a:fillRect/>
          </a:stretch>
        </p:blipFill>
        <p:spPr>
          <a:xfrm>
            <a:off x="5894680" y="3205886"/>
            <a:ext cx="402336" cy="402336"/>
          </a:xfrm>
          <a:prstGeom prst="rect">
            <a:avLst/>
          </a:prstGeom>
        </p:spPr>
      </p:pic>
      <p:sp>
        <p:nvSpPr>
          <p:cNvPr id="33" name="Text 26"/>
          <p:cNvSpPr/>
          <p:nvPr/>
        </p:nvSpPr>
        <p:spPr>
          <a:xfrm>
            <a:off x="5246461"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契約締結</a:t>
            </a:r>
            <a:endParaRPr lang="en-US" sz="1600" dirty="0"/>
          </a:p>
        </p:txBody>
      </p:sp>
      <p:sp>
        <p:nvSpPr>
          <p:cNvPr id="34" name="Text 27"/>
          <p:cNvSpPr/>
          <p:nvPr/>
        </p:nvSpPr>
        <p:spPr>
          <a:xfrm>
            <a:off x="5246461"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審査通過後に契約を締結。契約期間は最低3年〜。</a:t>
            </a:r>
            <a:endParaRPr lang="en-US" sz="950" dirty="0"/>
          </a:p>
        </p:txBody>
      </p:sp>
      <p:sp>
        <p:nvSpPr>
          <p:cNvPr id="35" name="Shape 28"/>
          <p:cNvSpPr/>
          <p:nvPr/>
        </p:nvSpPr>
        <p:spPr>
          <a:xfrm rot="5400000">
            <a:off x="7128114" y="3699662"/>
            <a:ext cx="164592" cy="164592"/>
          </a:xfrm>
          <a:prstGeom prst="triangle">
            <a:avLst/>
          </a:prstGeom>
          <a:solidFill>
            <a:srgbClr val="CFC9BB"/>
          </a:solidFill>
          <a:ln/>
        </p:spPr>
      </p:sp>
      <p:sp>
        <p:nvSpPr>
          <p:cNvPr id="36" name="Shape 29"/>
          <p:cNvSpPr/>
          <p:nvPr/>
        </p:nvSpPr>
        <p:spPr>
          <a:xfrm>
            <a:off x="7347570" y="2437790"/>
            <a:ext cx="1954804" cy="2688336"/>
          </a:xfrm>
          <a:prstGeom prst="roundRect">
            <a:avLst>
              <a:gd name="adj" fmla="val 2807"/>
            </a:avLst>
          </a:prstGeom>
          <a:solidFill>
            <a:srgbClr val="FFFFFF"/>
          </a:solidFill>
          <a:ln w="9525">
            <a:solidFill>
              <a:srgbClr val="EFEAE0"/>
            </a:solidFill>
            <a:prstDash val="solid"/>
          </a:ln>
        </p:spPr>
      </p:sp>
      <p:sp>
        <p:nvSpPr>
          <p:cNvPr id="37" name="Text 30"/>
          <p:cNvSpPr/>
          <p:nvPr/>
        </p:nvSpPr>
        <p:spPr>
          <a:xfrm>
            <a:off x="7567026"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04</a:t>
            </a:r>
            <a:endParaRPr lang="en-US" sz="900" dirty="0"/>
          </a:p>
        </p:txBody>
      </p:sp>
      <p:sp>
        <p:nvSpPr>
          <p:cNvPr id="38" name="Shape 31"/>
          <p:cNvSpPr/>
          <p:nvPr/>
        </p:nvSpPr>
        <p:spPr>
          <a:xfrm>
            <a:off x="7959212" y="3041294"/>
            <a:ext cx="731520" cy="731520"/>
          </a:xfrm>
          <a:prstGeom prst="ellipse">
            <a:avLst/>
          </a:prstGeom>
          <a:solidFill>
            <a:srgbClr val="F1F8F3"/>
          </a:solidFill>
          <a:ln/>
        </p:spPr>
      </p:sp>
      <p:pic>
        <p:nvPicPr>
          <p:cNvPr id="39" name="Image 5" descr="/home/user/suzuki-ceo/selfcafe-partner-deck/assets/icons/LuHammer-green.png">    </p:cNvPr>
          <p:cNvPicPr>
            <a:picLocks noChangeAspect="1"/>
          </p:cNvPicPr>
          <p:nvPr/>
        </p:nvPicPr>
        <p:blipFill>
          <a:blip r:embed="rId6"/>
          <a:stretch>
            <a:fillRect/>
          </a:stretch>
        </p:blipFill>
        <p:spPr>
          <a:xfrm>
            <a:off x="8123804" y="3205886"/>
            <a:ext cx="402336" cy="402336"/>
          </a:xfrm>
          <a:prstGeom prst="rect">
            <a:avLst/>
          </a:prstGeom>
        </p:spPr>
      </p:pic>
      <p:sp>
        <p:nvSpPr>
          <p:cNvPr id="40" name="Text 32"/>
          <p:cNvSpPr/>
          <p:nvPr/>
        </p:nvSpPr>
        <p:spPr>
          <a:xfrm>
            <a:off x="7475586"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工事</a:t>
            </a:r>
            <a:endParaRPr lang="en-US" sz="1600" dirty="0"/>
          </a:p>
        </p:txBody>
      </p:sp>
      <p:sp>
        <p:nvSpPr>
          <p:cNvPr id="41" name="Text 33"/>
          <p:cNvSpPr/>
          <p:nvPr/>
        </p:nvSpPr>
        <p:spPr>
          <a:xfrm>
            <a:off x="7475586"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内装・機器設置。工事業者は本部が手配。</a:t>
            </a:r>
            <a:endParaRPr lang="en-US" sz="950" dirty="0"/>
          </a:p>
        </p:txBody>
      </p:sp>
      <p:sp>
        <p:nvSpPr>
          <p:cNvPr id="42" name="Shape 34"/>
          <p:cNvSpPr/>
          <p:nvPr/>
        </p:nvSpPr>
        <p:spPr>
          <a:xfrm rot="5400000">
            <a:off x="9357238" y="3699662"/>
            <a:ext cx="164592" cy="164592"/>
          </a:xfrm>
          <a:prstGeom prst="triangle">
            <a:avLst/>
          </a:prstGeom>
          <a:solidFill>
            <a:srgbClr val="CFC9BB"/>
          </a:solidFill>
          <a:ln/>
        </p:spPr>
      </p:sp>
      <p:sp>
        <p:nvSpPr>
          <p:cNvPr id="43" name="Shape 35"/>
          <p:cNvSpPr/>
          <p:nvPr/>
        </p:nvSpPr>
        <p:spPr>
          <a:xfrm>
            <a:off x="9576694" y="2437790"/>
            <a:ext cx="1954804" cy="2688336"/>
          </a:xfrm>
          <a:prstGeom prst="roundRect">
            <a:avLst>
              <a:gd name="adj" fmla="val 2807"/>
            </a:avLst>
          </a:prstGeom>
          <a:solidFill>
            <a:srgbClr val="0C5230"/>
          </a:solidFill>
          <a:ln/>
        </p:spPr>
      </p:sp>
      <p:sp>
        <p:nvSpPr>
          <p:cNvPr id="44" name="Text 36"/>
          <p:cNvSpPr/>
          <p:nvPr/>
        </p:nvSpPr>
        <p:spPr>
          <a:xfrm>
            <a:off x="9796150" y="2675534"/>
            <a:ext cx="1515892" cy="182880"/>
          </a:xfrm>
          <a:prstGeom prst="rect">
            <a:avLst/>
          </a:prstGeom>
          <a:noFill/>
          <a:ln/>
        </p:spPr>
        <p:txBody>
          <a:bodyPr wrap="square" lIns="0" tIns="0" rIns="0" bIns="0" rtlCol="0" anchor="ctr"/>
          <a:lstStyle/>
          <a:p>
            <a:pPr indent="0" marL="0">
              <a:buNone/>
            </a:pPr>
            <a:r>
              <a:rPr lang="en-US" sz="900" b="1" spc="120" kern="0" dirty="0">
                <a:solidFill>
                  <a:srgbClr val="8CC5A5"/>
                </a:solidFill>
                <a:latin typeface="Arial" pitchFamily="34" charset="0"/>
                <a:ea typeface="Arial" pitchFamily="34" charset="-122"/>
                <a:cs typeface="Arial" pitchFamily="34" charset="-120"/>
              </a:rPr>
              <a:t>STEP 05</a:t>
            </a:r>
            <a:endParaRPr lang="en-US" sz="900" dirty="0"/>
          </a:p>
        </p:txBody>
      </p:sp>
      <p:sp>
        <p:nvSpPr>
          <p:cNvPr id="45" name="Shape 37"/>
          <p:cNvSpPr/>
          <p:nvPr/>
        </p:nvSpPr>
        <p:spPr>
          <a:xfrm>
            <a:off x="10188336" y="3041294"/>
            <a:ext cx="731520" cy="731520"/>
          </a:xfrm>
          <a:prstGeom prst="ellipse">
            <a:avLst/>
          </a:prstGeom>
          <a:solidFill>
            <a:srgbClr val="17553A"/>
          </a:solidFill>
          <a:ln/>
        </p:spPr>
      </p:sp>
      <p:pic>
        <p:nvPicPr>
          <p:cNvPr id="46" name="Image 6" descr="/home/user/suzuki-ceo/selfcafe-partner-deck/assets/icons/LuStore-white.png">    </p:cNvPr>
          <p:cNvPicPr>
            <a:picLocks noChangeAspect="1"/>
          </p:cNvPicPr>
          <p:nvPr/>
        </p:nvPicPr>
        <p:blipFill>
          <a:blip r:embed="rId7"/>
          <a:stretch>
            <a:fillRect/>
          </a:stretch>
        </p:blipFill>
        <p:spPr>
          <a:xfrm>
            <a:off x="10352928" y="3205886"/>
            <a:ext cx="402336" cy="402336"/>
          </a:xfrm>
          <a:prstGeom prst="rect">
            <a:avLst/>
          </a:prstGeom>
        </p:spPr>
      </p:pic>
      <p:sp>
        <p:nvSpPr>
          <p:cNvPr id="47" name="Text 38"/>
          <p:cNvSpPr/>
          <p:nvPr/>
        </p:nvSpPr>
        <p:spPr>
          <a:xfrm>
            <a:off x="9704710" y="3919118"/>
            <a:ext cx="1698772"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運営開始</a:t>
            </a:r>
            <a:endParaRPr lang="en-US" sz="1600" dirty="0"/>
          </a:p>
        </p:txBody>
      </p:sp>
      <p:sp>
        <p:nvSpPr>
          <p:cNvPr id="48" name="Text 39"/>
          <p:cNvSpPr/>
          <p:nvPr/>
        </p:nvSpPr>
        <p:spPr>
          <a:xfrm>
            <a:off x="9704710"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AFC2B8"/>
                </a:solidFill>
                <a:latin typeface="Yu Gothic" pitchFamily="34" charset="0"/>
                <a:ea typeface="Yu Gothic" pitchFamily="34" charset="-122"/>
                <a:cs typeface="Yu Gothic" pitchFamily="34" charset="-120"/>
              </a:rPr>
              <a:t>運営研修を経て、オープン。</a:t>
            </a:r>
            <a:endParaRPr lang="en-US" sz="950" dirty="0"/>
          </a:p>
        </p:txBody>
      </p:sp>
      <p:sp>
        <p:nvSpPr>
          <p:cNvPr id="49" name="Text 40"/>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工事内容・立地条件により期間は変動します。</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014984"/>
            <a:ext cx="2616098" cy="372161"/>
          </a:xfrm>
          <a:prstGeom prst="rect">
            <a:avLst/>
          </a:prstGeom>
        </p:spPr>
      </p:pic>
      <p:sp>
        <p:nvSpPr>
          <p:cNvPr id="4" name="Text 0"/>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8FA398"/>
                </a:solidFill>
                <a:latin typeface="Arial" pitchFamily="34" charset="0"/>
                <a:ea typeface="Arial" pitchFamily="34" charset="-122"/>
                <a:cs typeface="Arial" pitchFamily="34" charset="-120"/>
              </a:rPr>
              <a:t>33</a:t>
            </a:r>
            <a:endParaRPr lang="en-US" sz="1000" dirty="0"/>
          </a:p>
        </p:txBody>
      </p:sp>
      <p:sp>
        <p:nvSpPr>
          <p:cNvPr id="5" name="Shape 1"/>
          <p:cNvSpPr/>
          <p:nvPr/>
        </p:nvSpPr>
        <p:spPr>
          <a:xfrm>
            <a:off x="812902" y="1874520"/>
            <a:ext cx="711403" cy="25603"/>
          </a:xfrm>
          <a:prstGeom prst="rect">
            <a:avLst/>
          </a:prstGeom>
          <a:solidFill>
            <a:srgbClr val="C79A44"/>
          </a:solidFill>
          <a:ln/>
        </p:spPr>
      </p:sp>
      <p:sp>
        <p:nvSpPr>
          <p:cNvPr id="6" name="Text 2"/>
          <p:cNvSpPr/>
          <p:nvPr/>
        </p:nvSpPr>
        <p:spPr>
          <a:xfrm>
            <a:off x="812902" y="2084832"/>
            <a:ext cx="7315200" cy="786384"/>
          </a:xfrm>
          <a:prstGeom prst="rect">
            <a:avLst/>
          </a:prstGeom>
          <a:noFill/>
          <a:ln/>
        </p:spPr>
        <p:txBody>
          <a:bodyPr wrap="square" lIns="0" tIns="0" rIns="0" bIns="0" rtlCol="0" anchor="ctr"/>
          <a:lstStyle/>
          <a:p>
            <a:pPr indent="0" marL="0">
              <a:buNone/>
            </a:pPr>
            <a:r>
              <a:rPr lang="en-US" sz="4200" b="1" dirty="0">
                <a:solidFill>
                  <a:srgbClr val="FFFFFF"/>
                </a:solidFill>
                <a:latin typeface="Yu Gothic" pitchFamily="34" charset="0"/>
                <a:ea typeface="Yu Gothic" pitchFamily="34" charset="-122"/>
                <a:cs typeface="Yu Gothic" pitchFamily="34" charset="-120"/>
              </a:rPr>
              <a:t>お問い合わせ</a:t>
            </a:r>
            <a:endParaRPr lang="en-US" sz="4200" dirty="0"/>
          </a:p>
        </p:txBody>
      </p:sp>
      <p:sp>
        <p:nvSpPr>
          <p:cNvPr id="7" name="Text 3"/>
          <p:cNvSpPr/>
          <p:nvPr/>
        </p:nvSpPr>
        <p:spPr>
          <a:xfrm>
            <a:off x="812902" y="2962656"/>
            <a:ext cx="6949440" cy="658368"/>
          </a:xfrm>
          <a:prstGeom prst="rect">
            <a:avLst/>
          </a:prstGeom>
          <a:noFill/>
          <a:ln/>
        </p:spPr>
        <p:txBody>
          <a:bodyPr wrap="square" lIns="0" tIns="0" rIns="0" bIns="0" rtlCol="0" anchor="t"/>
          <a:lstStyle/>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会社名・氏名・連絡先をご記入の上ご連絡ください。</a:t>
            </a:r>
            <a:endParaRPr lang="en-US" sz="1250" dirty="0"/>
          </a:p>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スペースの写真や図面をお持ちいただけると、初回面談で収益試算までご案内できます。</a:t>
            </a:r>
            <a:endParaRPr lang="en-US" sz="1250" dirty="0"/>
          </a:p>
        </p:txBody>
      </p:sp>
      <p:sp>
        <p:nvSpPr>
          <p:cNvPr id="8" name="Shape 4"/>
          <p:cNvSpPr/>
          <p:nvPr/>
        </p:nvSpPr>
        <p:spPr>
          <a:xfrm>
            <a:off x="812902" y="3931920"/>
            <a:ext cx="457200" cy="457200"/>
          </a:xfrm>
          <a:prstGeom prst="ellipse">
            <a:avLst/>
          </a:prstGeom>
          <a:solidFill>
            <a:srgbClr val="17553A"/>
          </a:solidFill>
          <a:ln/>
        </p:spPr>
      </p:sp>
      <p:pic>
        <p:nvPicPr>
          <p:cNvPr id="9" name="Image 2" descr="/home/user/suzuki-ceo/selfcafe-partner-deck/assets/icons/LuPhone-white.png">    </p:cNvPr>
          <p:cNvPicPr>
            <a:picLocks noChangeAspect="1"/>
          </p:cNvPicPr>
          <p:nvPr/>
        </p:nvPicPr>
        <p:blipFill>
          <a:blip r:embed="rId3"/>
          <a:stretch>
            <a:fillRect/>
          </a:stretch>
        </p:blipFill>
        <p:spPr>
          <a:xfrm>
            <a:off x="941832" y="4059936"/>
            <a:ext cx="201168" cy="201168"/>
          </a:xfrm>
          <a:prstGeom prst="rect">
            <a:avLst/>
          </a:prstGeom>
        </p:spPr>
      </p:pic>
      <p:sp>
        <p:nvSpPr>
          <p:cNvPr id="10" name="Text 5"/>
          <p:cNvSpPr/>
          <p:nvPr/>
        </p:nvSpPr>
        <p:spPr>
          <a:xfrm>
            <a:off x="1444752" y="3931920"/>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TEL</a:t>
            </a:r>
            <a:endParaRPr lang="en-US" sz="950" dirty="0"/>
          </a:p>
        </p:txBody>
      </p:sp>
      <p:sp>
        <p:nvSpPr>
          <p:cNvPr id="11" name="Text 6"/>
          <p:cNvSpPr/>
          <p:nvPr/>
        </p:nvSpPr>
        <p:spPr>
          <a:xfrm>
            <a:off x="2487168" y="3931920"/>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052-879-3557</a:t>
            </a:r>
            <a:endParaRPr lang="en-US" sz="1700" dirty="0"/>
          </a:p>
        </p:txBody>
      </p:sp>
      <p:sp>
        <p:nvSpPr>
          <p:cNvPr id="12" name="Text 7"/>
          <p:cNvSpPr/>
          <p:nvPr/>
        </p:nvSpPr>
        <p:spPr>
          <a:xfrm>
            <a:off x="6766560" y="3931920"/>
            <a:ext cx="1828800" cy="457200"/>
          </a:xfrm>
          <a:prstGeom prst="rect">
            <a:avLst/>
          </a:prstGeom>
          <a:noFill/>
          <a:ln/>
        </p:spPr>
        <p:txBody>
          <a:bodyPr wrap="square" lIns="0" tIns="0" rIns="0" bIns="0" rtlCol="0" anchor="ctr"/>
          <a:lstStyle/>
          <a:p>
            <a:pP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 本社</a:t>
            </a:r>
            <a:endParaRPr lang="en-US" sz="1050" dirty="0"/>
          </a:p>
        </p:txBody>
      </p:sp>
      <p:sp>
        <p:nvSpPr>
          <p:cNvPr id="13" name="Shape 8"/>
          <p:cNvSpPr/>
          <p:nvPr/>
        </p:nvSpPr>
        <p:spPr>
          <a:xfrm>
            <a:off x="812902" y="4645152"/>
            <a:ext cx="457200" cy="457200"/>
          </a:xfrm>
          <a:prstGeom prst="ellipse">
            <a:avLst/>
          </a:prstGeom>
          <a:solidFill>
            <a:srgbClr val="17553A"/>
          </a:solidFill>
          <a:ln/>
        </p:spPr>
      </p:sp>
      <p:pic>
        <p:nvPicPr>
          <p:cNvPr id="14" name="Image 3" descr="/home/user/suzuki-ceo/selfcafe-partner-deck/assets/icons/LuMail-white.png">    </p:cNvPr>
          <p:cNvPicPr>
            <a:picLocks noChangeAspect="1"/>
          </p:cNvPicPr>
          <p:nvPr/>
        </p:nvPicPr>
        <p:blipFill>
          <a:blip r:embed="rId4"/>
          <a:stretch>
            <a:fillRect/>
          </a:stretch>
        </p:blipFill>
        <p:spPr>
          <a:xfrm>
            <a:off x="941832" y="4773168"/>
            <a:ext cx="201168" cy="201168"/>
          </a:xfrm>
          <a:prstGeom prst="rect">
            <a:avLst/>
          </a:prstGeom>
        </p:spPr>
      </p:pic>
      <p:sp>
        <p:nvSpPr>
          <p:cNvPr id="15" name="Text 9"/>
          <p:cNvSpPr/>
          <p:nvPr/>
        </p:nvSpPr>
        <p:spPr>
          <a:xfrm>
            <a:off x="1444752" y="4645152"/>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E-MAIL</a:t>
            </a:r>
            <a:endParaRPr lang="en-US" sz="950" dirty="0"/>
          </a:p>
        </p:txBody>
      </p:sp>
      <p:sp>
        <p:nvSpPr>
          <p:cNvPr id="16" name="Text 10"/>
          <p:cNvSpPr/>
          <p:nvPr/>
        </p:nvSpPr>
        <p:spPr>
          <a:xfrm>
            <a:off x="2487168" y="4645152"/>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info@selfcafe.jp</a:t>
            </a:r>
            <a:endParaRPr lang="en-US" sz="1700" dirty="0"/>
          </a:p>
        </p:txBody>
      </p:sp>
      <p:sp>
        <p:nvSpPr>
          <p:cNvPr id="17" name="Shape 11"/>
          <p:cNvSpPr/>
          <p:nvPr/>
        </p:nvSpPr>
        <p:spPr>
          <a:xfrm>
            <a:off x="812902" y="5358384"/>
            <a:ext cx="457200" cy="457200"/>
          </a:xfrm>
          <a:prstGeom prst="ellipse">
            <a:avLst/>
          </a:prstGeom>
          <a:solidFill>
            <a:srgbClr val="17553A"/>
          </a:solidFill>
          <a:ln/>
        </p:spPr>
      </p:sp>
      <p:pic>
        <p:nvPicPr>
          <p:cNvPr id="18" name="Image 4" descr="/home/user/suzuki-ceo/selfcafe-partner-deck/assets/icons/LuGlobe-white.png">    </p:cNvPr>
          <p:cNvPicPr>
            <a:picLocks noChangeAspect="1"/>
          </p:cNvPicPr>
          <p:nvPr/>
        </p:nvPicPr>
        <p:blipFill>
          <a:blip r:embed="rId5"/>
          <a:stretch>
            <a:fillRect/>
          </a:stretch>
        </p:blipFill>
        <p:spPr>
          <a:xfrm>
            <a:off x="941832" y="5486400"/>
            <a:ext cx="201168" cy="201168"/>
          </a:xfrm>
          <a:prstGeom prst="rect">
            <a:avLst/>
          </a:prstGeom>
        </p:spPr>
      </p:pic>
      <p:sp>
        <p:nvSpPr>
          <p:cNvPr id="19" name="Text 12"/>
          <p:cNvSpPr/>
          <p:nvPr/>
        </p:nvSpPr>
        <p:spPr>
          <a:xfrm>
            <a:off x="1444752" y="5358384"/>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WEB</a:t>
            </a:r>
            <a:endParaRPr lang="en-US" sz="950" dirty="0"/>
          </a:p>
        </p:txBody>
      </p:sp>
      <p:sp>
        <p:nvSpPr>
          <p:cNvPr id="20" name="Text 13"/>
          <p:cNvSpPr/>
          <p:nvPr/>
        </p:nvSpPr>
        <p:spPr>
          <a:xfrm>
            <a:off x="2487168" y="5358384"/>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https://selfcafe.jp/</a:t>
            </a:r>
            <a:endParaRPr lang="en-US" sz="1700" dirty="0"/>
          </a:p>
        </p:txBody>
      </p:sp>
      <p:sp>
        <p:nvSpPr>
          <p:cNvPr id="21" name="Text 14"/>
          <p:cNvSpPr/>
          <p:nvPr/>
        </p:nvSpPr>
        <p:spPr>
          <a:xfrm>
            <a:off x="812902" y="6217920"/>
            <a:ext cx="4572000" cy="237744"/>
          </a:xfrm>
          <a:prstGeom prst="rect">
            <a:avLst/>
          </a:prstGeom>
          <a:noFill/>
          <a:ln/>
        </p:spPr>
        <p:txBody>
          <a:bodyPr wrap="square" lIns="0" tIns="0" rIns="0" bIns="0" rtlCol="0" anchor="ctr"/>
          <a:lstStyle/>
          <a:p>
            <a:pPr indent="0" marL="0">
              <a:buNone/>
            </a:pPr>
            <a:r>
              <a:rPr lang="en-US" sz="1100" dirty="0">
                <a:solidFill>
                  <a:srgbClr val="8FA398"/>
                </a:solidFill>
                <a:latin typeface="Yu Gothic" pitchFamily="34" charset="0"/>
                <a:ea typeface="Yu Gothic" pitchFamily="34" charset="-122"/>
                <a:cs typeface="Yu Gothic" pitchFamily="34" charset="-120"/>
              </a:rPr>
              <a:t>お気軽にご連絡ください</a:t>
            </a:r>
            <a:endParaRPr lang="en-US" sz="1100" dirty="0"/>
          </a:p>
        </p:txBody>
      </p:sp>
      <p:sp>
        <p:nvSpPr>
          <p:cNvPr id="22" name="Text 15"/>
          <p:cNvSpPr/>
          <p:nvPr/>
        </p:nvSpPr>
        <p:spPr>
          <a:xfrm>
            <a:off x="8229600" y="6217920"/>
            <a:ext cx="3301898" cy="237744"/>
          </a:xfrm>
          <a:prstGeom prst="rect">
            <a:avLst/>
          </a:prstGeom>
          <a:noFill/>
          <a:ln/>
        </p:spPr>
        <p:txBody>
          <a:bodyPr wrap="square" lIns="0" tIns="0" rIns="0" bIns="0" rtlCol="0" anchor="ctr"/>
          <a:lstStyle/>
          <a:p>
            <a:pPr algn="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セルフカフェ パートナー制度</dc:title>
  <dc:subject>PptxGenJS Presentation</dc:subject>
  <dc:creator>セルフカフェ株式会社</dc:creator>
  <cp:lastModifiedBy>セルフカフェ株式会社</cp:lastModifiedBy>
  <cp:revision>1</cp:revision>
  <dcterms:created xsi:type="dcterms:W3CDTF">2026-08-26T03:40:45Z</dcterms:created>
  <dcterms:modified xsi:type="dcterms:W3CDTF">2026-08-26T03:40:45Z</dcterms:modified>
</cp:coreProperties>
</file>