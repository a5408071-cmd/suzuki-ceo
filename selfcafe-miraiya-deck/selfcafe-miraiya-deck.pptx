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jpg"/><Relationship Id="rId3" Type="http://schemas.openxmlformats.org/officeDocument/2006/relationships/image" Target="../media/image-5-3.jpg"/><Relationship Id="rId4" Type="http://schemas.openxmlformats.org/officeDocument/2006/relationships/image" Target="../media/image-5-4.jp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jpg"/><Relationship Id="rId3" Type="http://schemas.openxmlformats.org/officeDocument/2006/relationships/image" Target="../media/image-6-3.jpg"/><Relationship Id="rId4" Type="http://schemas.openxmlformats.org/officeDocument/2006/relationships/image" Target="../media/image-6-4.jp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2.png"/><Relationship Id="rId4" Type="http://schemas.openxmlformats.org/officeDocument/2006/relationships/image" Target="../media/image-8-2.png"/><Relationship Id="rId5" Type="http://schemas.openxmlformats.org/officeDocument/2006/relationships/image" Target="../media/image-8-2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2.png"/><Relationship Id="rId4" Type="http://schemas.openxmlformats.org/officeDocument/2006/relationships/image" Target="../media/image-9-2.png"/><Relationship Id="rId5" Type="http://schemas.openxmlformats.org/officeDocument/2006/relationships/image" Target="../media/image-9-2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image" Target="../media/image-11-8.png"/><Relationship Id="rId9" Type="http://schemas.openxmlformats.org/officeDocument/2006/relationships/image" Target="../media/image-11-9.png"/><Relationship Id="rId10" Type="http://schemas.openxmlformats.org/officeDocument/2006/relationships/image" Target="../media/image-11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suzuki-ceo/selfcafe-miraiya-deck/assets/cover-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user/suzuki-ceo/selfcafe-miraiya-deck/assets/logo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902" y="1773936"/>
            <a:ext cx="2616098" cy="372161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812902" y="2688336"/>
            <a:ext cx="254203" cy="25603"/>
          </a:xfrm>
          <a:prstGeom prst="rect">
            <a:avLst/>
          </a:prstGeom>
          <a:solidFill>
            <a:srgbClr val="C79A44"/>
          </a:solidFill>
          <a:ln/>
        </p:spPr>
      </p:sp>
      <p:sp>
        <p:nvSpPr>
          <p:cNvPr id="5" name="Text 1"/>
          <p:cNvSpPr/>
          <p:nvPr/>
        </p:nvSpPr>
        <p:spPr>
          <a:xfrm>
            <a:off x="1194206" y="2599639"/>
            <a:ext cx="50292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8CC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FORMAT CONVERSION</a:t>
            </a:r>
            <a:endParaRPr lang="en-US" sz="1050" dirty="0"/>
          </a:p>
        </p:txBody>
      </p:sp>
      <p:sp>
        <p:nvSpPr>
          <p:cNvPr id="6" name="Text 2"/>
          <p:cNvSpPr/>
          <p:nvPr/>
        </p:nvSpPr>
        <p:spPr>
          <a:xfrm>
            <a:off x="812902" y="2871216"/>
            <a:ext cx="711220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6E3D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未来屋書店 秋田店・土浦店</a:t>
            </a:r>
            <a:endParaRPr lang="en-US" sz="1500" dirty="0"/>
          </a:p>
        </p:txBody>
      </p:sp>
      <p:sp>
        <p:nvSpPr>
          <p:cNvPr id="7" name="Text 3"/>
          <p:cNvSpPr/>
          <p:nvPr/>
        </p:nvSpPr>
        <p:spPr>
          <a:xfrm>
            <a:off x="812902" y="3145536"/>
            <a:ext cx="8686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カフェ区画 業態転換のご提案</a:t>
            </a:r>
            <a:endParaRPr lang="en-US" sz="4400" dirty="0"/>
          </a:p>
        </p:txBody>
      </p:sp>
      <p:sp>
        <p:nvSpPr>
          <p:cNvPr id="8" name="Text 4"/>
          <p:cNvSpPr/>
          <p:nvPr/>
        </p:nvSpPr>
        <p:spPr>
          <a:xfrm>
            <a:off x="812902" y="4224528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既存のカフェ区画を無人型「セルフカフェ」へ。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人員配置なしで運営し、売上に応じた収入が毎月入る形へ切り替えます。</a:t>
            </a:r>
            <a:endParaRPr lang="en-US" sz="1250" dirty="0"/>
          </a:p>
        </p:txBody>
      </p:sp>
      <p:sp>
        <p:nvSpPr>
          <p:cNvPr id="9" name="Shape 5"/>
          <p:cNvSpPr/>
          <p:nvPr/>
        </p:nvSpPr>
        <p:spPr>
          <a:xfrm>
            <a:off x="812902" y="5468112"/>
            <a:ext cx="711403" cy="25603"/>
          </a:xfrm>
          <a:prstGeom prst="rect">
            <a:avLst/>
          </a:prstGeom>
          <a:solidFill>
            <a:srgbClr val="C79A44"/>
          </a:solidFill>
          <a:ln/>
        </p:spPr>
      </p:sp>
      <p:sp>
        <p:nvSpPr>
          <p:cNvPr id="10" name="Text 6"/>
          <p:cNvSpPr/>
          <p:nvPr/>
        </p:nvSpPr>
        <p:spPr>
          <a:xfrm>
            <a:off x="812902" y="5742432"/>
            <a:ext cx="2926080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人</a:t>
            </a:r>
            <a:endParaRPr lang="en-US" sz="2600" dirty="0"/>
          </a:p>
        </p:txBody>
      </p:sp>
      <p:sp>
        <p:nvSpPr>
          <p:cNvPr id="11" name="Text 7"/>
          <p:cNvSpPr/>
          <p:nvPr/>
        </p:nvSpPr>
        <p:spPr>
          <a:xfrm>
            <a:off x="812902" y="6144768"/>
            <a:ext cx="3291840" cy="1655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A39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カフェ運営に必要な人員</a:t>
            </a:r>
            <a:endParaRPr lang="en-US" sz="950" dirty="0"/>
          </a:p>
        </p:txBody>
      </p:sp>
      <p:sp>
        <p:nvSpPr>
          <p:cNvPr id="12" name="Text 8"/>
          <p:cNvSpPr/>
          <p:nvPr/>
        </p:nvSpPr>
        <p:spPr>
          <a:xfrm>
            <a:off x="4114800" y="5742432"/>
            <a:ext cx="2926080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27.0</a:t>
            </a: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万円／月</a:t>
            </a:r>
            <a:endParaRPr lang="en-US" sz="2600" dirty="0"/>
          </a:p>
        </p:txBody>
      </p:sp>
      <p:sp>
        <p:nvSpPr>
          <p:cNvPr id="13" name="Text 9"/>
          <p:cNvSpPr/>
          <p:nvPr/>
        </p:nvSpPr>
        <p:spPr>
          <a:xfrm>
            <a:off x="4114800" y="6144768"/>
            <a:ext cx="3291840" cy="1655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A39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秋田店 想定お受取額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7406640" y="5742432"/>
            <a:ext cx="2926080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23.9</a:t>
            </a: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万円／月</a:t>
            </a:r>
            <a:endParaRPr lang="en-US" sz="2600" dirty="0"/>
          </a:p>
        </p:txBody>
      </p:sp>
      <p:sp>
        <p:nvSpPr>
          <p:cNvPr id="15" name="Text 11"/>
          <p:cNvSpPr/>
          <p:nvPr/>
        </p:nvSpPr>
        <p:spPr>
          <a:xfrm>
            <a:off x="7406640" y="6144768"/>
            <a:ext cx="3291840" cy="1655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A39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土浦店 想定お受取額</a:t>
            </a:r>
            <a:endParaRPr lang="en-US" sz="950" dirty="0"/>
          </a:p>
        </p:txBody>
      </p:sp>
      <p:sp>
        <p:nvSpPr>
          <p:cNvPr id="16" name="Shape 12"/>
          <p:cNvSpPr/>
          <p:nvPr/>
        </p:nvSpPr>
        <p:spPr>
          <a:xfrm>
            <a:off x="3712464" y="5769864"/>
            <a:ext cx="11887" cy="533095"/>
          </a:xfrm>
          <a:prstGeom prst="rect">
            <a:avLst/>
          </a:prstGeom>
          <a:solidFill>
            <a:srgbClr val="3C5F4B"/>
          </a:solidFill>
          <a:ln/>
        </p:spPr>
      </p:sp>
      <p:sp>
        <p:nvSpPr>
          <p:cNvPr id="17" name="Shape 13"/>
          <p:cNvSpPr/>
          <p:nvPr/>
        </p:nvSpPr>
        <p:spPr>
          <a:xfrm>
            <a:off x="7004304" y="5769864"/>
            <a:ext cx="11887" cy="533095"/>
          </a:xfrm>
          <a:prstGeom prst="rect">
            <a:avLst/>
          </a:prstGeom>
          <a:solidFill>
            <a:srgbClr val="3C5F4B"/>
          </a:solidFill>
          <a:ln/>
        </p:spPr>
      </p:sp>
      <p:sp>
        <p:nvSpPr>
          <p:cNvPr id="18" name="Text 14"/>
          <p:cNvSpPr/>
          <p:nvPr/>
        </p:nvSpPr>
        <p:spPr>
          <a:xfrm>
            <a:off x="8889797" y="6309360"/>
            <a:ext cx="2641702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FA39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セルフカフェ株式会社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ご提案の要旨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人を置かずに、カフェ区画を収益区画へ。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フルサービス型のカフェ業態から無人型セルフカフェへ転換し、運営はセルフカフェ本部が担います。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60197" y="1651406"/>
            <a:ext cx="5243627" cy="1700784"/>
          </a:xfrm>
          <a:prstGeom prst="roundRect">
            <a:avLst>
              <a:gd name="adj" fmla="val 3226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71093" y="1852574"/>
            <a:ext cx="46218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運営体制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971093" y="2163470"/>
            <a:ext cx="46218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68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r>
              <a:rPr lang="en-US" sz="15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人</a:t>
            </a:r>
            <a:endParaRPr lang="en-US" sz="3200" dirty="0"/>
          </a:p>
        </p:txBody>
      </p:sp>
      <p:sp>
        <p:nvSpPr>
          <p:cNvPr id="12" name="Text 9"/>
          <p:cNvSpPr/>
          <p:nvPr/>
        </p:nvSpPr>
        <p:spPr>
          <a:xfrm>
            <a:off x="971093" y="2858414"/>
            <a:ext cx="46218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カフェ専任の人員配置は不要。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運営主体はセルフカフェ本部です。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6287872" y="1651406"/>
            <a:ext cx="5243627" cy="1700784"/>
          </a:xfrm>
          <a:prstGeom prst="roundRect">
            <a:avLst>
              <a:gd name="adj" fmla="val 3226"/>
            </a:avLst>
          </a:prstGeom>
          <a:solidFill>
            <a:srgbClr val="0C5230"/>
          </a:solidFill>
          <a:ln/>
        </p:spPr>
      </p:sp>
      <p:sp>
        <p:nvSpPr>
          <p:cNvPr id="14" name="Text 11"/>
          <p:cNvSpPr/>
          <p:nvPr/>
        </p:nvSpPr>
        <p:spPr>
          <a:xfrm>
            <a:off x="6598768" y="1852574"/>
            <a:ext cx="46218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CC5A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秋田店 お受取額（想定）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6598768" y="2163470"/>
            <a:ext cx="46218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0C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27.0</a:t>
            </a:r>
            <a:r>
              <a:rPr lang="en-US" sz="1500" b="1" dirty="0">
                <a:solidFill>
                  <a:srgbClr val="F0C0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万円／月</a:t>
            </a:r>
            <a:endParaRPr lang="en-US" sz="3200" dirty="0"/>
          </a:p>
        </p:txBody>
      </p:sp>
      <p:sp>
        <p:nvSpPr>
          <p:cNvPr id="16" name="Text 13"/>
          <p:cNvSpPr/>
          <p:nvPr/>
        </p:nvSpPr>
        <p:spPr>
          <a:xfrm>
            <a:off x="6598768" y="2858414"/>
            <a:ext cx="46218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年間 324.6万円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売上の25％＋月5万円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660197" y="3589934"/>
            <a:ext cx="5243627" cy="1700784"/>
          </a:xfrm>
          <a:prstGeom prst="roundRect">
            <a:avLst>
              <a:gd name="adj" fmla="val 3226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71093" y="3791102"/>
            <a:ext cx="46218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初期費用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971093" y="4101998"/>
            <a:ext cx="46218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30〜50</a:t>
            </a:r>
            <a:r>
              <a:rPr lang="en-US" sz="15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万円</a:t>
            </a:r>
            <a:endParaRPr lang="en-US" sz="3200" dirty="0"/>
          </a:p>
        </p:txBody>
      </p:sp>
      <p:sp>
        <p:nvSpPr>
          <p:cNvPr id="20" name="Text 17"/>
          <p:cNvSpPr/>
          <p:nvPr/>
        </p:nvSpPr>
        <p:spPr>
          <a:xfrm>
            <a:off x="971093" y="4796942"/>
            <a:ext cx="46218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機器設置費のみ。加盟金・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研修費はいただきません。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6287872" y="3589934"/>
            <a:ext cx="5243627" cy="1700784"/>
          </a:xfrm>
          <a:prstGeom prst="roundRect">
            <a:avLst>
              <a:gd name="adj" fmla="val 3226"/>
            </a:avLst>
          </a:prstGeom>
          <a:solidFill>
            <a:srgbClr val="0C5230"/>
          </a:solidFill>
          <a:ln/>
        </p:spPr>
      </p:sp>
      <p:sp>
        <p:nvSpPr>
          <p:cNvPr id="22" name="Text 19"/>
          <p:cNvSpPr/>
          <p:nvPr/>
        </p:nvSpPr>
        <p:spPr>
          <a:xfrm>
            <a:off x="6598768" y="3791102"/>
            <a:ext cx="46218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CC5A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土浦店 お受取額（想定）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6598768" y="4101998"/>
            <a:ext cx="46218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0C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23.9</a:t>
            </a:r>
            <a:r>
              <a:rPr lang="en-US" sz="1500" b="1" dirty="0">
                <a:solidFill>
                  <a:srgbClr val="F0C0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万円／月</a:t>
            </a:r>
            <a:endParaRPr lang="en-US" sz="3200" dirty="0"/>
          </a:p>
        </p:txBody>
      </p:sp>
      <p:sp>
        <p:nvSpPr>
          <p:cNvPr id="24" name="Text 21"/>
          <p:cNvSpPr/>
          <p:nvPr/>
        </p:nvSpPr>
        <p:spPr>
          <a:xfrm>
            <a:off x="6598768" y="4796942"/>
            <a:ext cx="46218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年間 286.8万円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売上の25％＋月5万円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660197" y="5437022"/>
            <a:ext cx="10871302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pic>
        <p:nvPicPr>
          <p:cNvPr id="26" name="Image 1" descr="/home/user/suzuki-ceo/selfcafe-miraiya-deck/assets/icons/LuBadgeJapaneseYen-gre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805" y="5629046"/>
            <a:ext cx="347472" cy="347472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1483157" y="5437022"/>
            <a:ext cx="977402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今回の特別条件：</a:t>
            </a:r>
            <a:r>
              <a:rPr lang="en-US" sz="1400" b="1" dirty="0">
                <a:solidFill>
                  <a:srgbClr val="A876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セルフカフェ売上の25％ ＋ 月額5万円</a:t>
            </a:r>
            <a:r>
              <a:rPr lang="en-US" sz="12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を毎月お支払いします。</a:t>
            </a:r>
            <a:endParaRPr lang="en-US" sz="1250" dirty="0"/>
          </a:p>
        </p:txBody>
      </p:sp>
      <p:sp>
        <p:nvSpPr>
          <p:cNvPr id="28" name="Text 24"/>
          <p:cNvSpPr/>
          <p:nvPr/>
        </p:nvSpPr>
        <p:spPr>
          <a:xfrm>
            <a:off x="660197" y="6259982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お受取額は本資料の想定販売杯数に基づく試算です（税抜）。売上を保証するものではありません。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セルフカフェとは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スタッフのいない、ドリンク1杯のワークスペース。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Wi-Fi・電源完備。1杯のご購入で時間制限なくご利用いただける無人カフェです。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60197" y="1651406"/>
            <a:ext cx="2880360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16229" y="1797710"/>
            <a:ext cx="2368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利用料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916229" y="2053742"/>
            <a:ext cx="23682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68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420</a:t>
            </a:r>
            <a:r>
              <a:rPr lang="en-US" sz="14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円〜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916229" y="2620670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1杯で滞在時間の制限なし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3814877" y="1651406"/>
            <a:ext cx="2880360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070909" y="1797710"/>
            <a:ext cx="2368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会員登録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4070909" y="2053742"/>
            <a:ext cx="23682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不要</a:t>
            </a:r>
            <a:endParaRPr lang="en-US" sz="3000" dirty="0"/>
          </a:p>
        </p:txBody>
      </p:sp>
      <p:sp>
        <p:nvSpPr>
          <p:cNvPr id="16" name="Text 13"/>
          <p:cNvSpPr/>
          <p:nvPr/>
        </p:nvSpPr>
        <p:spPr>
          <a:xfrm>
            <a:off x="4070909" y="2620670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登録手続き・月会費なし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60197" y="3260750"/>
            <a:ext cx="2880360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16229" y="3407054"/>
            <a:ext cx="2368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運営人員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916229" y="3663086"/>
            <a:ext cx="23682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68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r>
              <a:rPr lang="en-US" sz="14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人</a:t>
            </a:r>
            <a:endParaRPr lang="en-US" sz="3000" dirty="0"/>
          </a:p>
        </p:txBody>
      </p:sp>
      <p:sp>
        <p:nvSpPr>
          <p:cNvPr id="20" name="Text 17"/>
          <p:cNvSpPr/>
          <p:nvPr/>
        </p:nvSpPr>
        <p:spPr>
          <a:xfrm>
            <a:off x="916229" y="4230014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無人運営。開閉店も自動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3814877" y="3260750"/>
            <a:ext cx="2880360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070909" y="3407054"/>
            <a:ext cx="2368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日常業務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4070909" y="3663086"/>
            <a:ext cx="23682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68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r>
              <a:rPr lang="en-US" sz="14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分／日</a:t>
            </a:r>
            <a:endParaRPr lang="en-US" sz="3000" dirty="0"/>
          </a:p>
        </p:txBody>
      </p:sp>
      <p:sp>
        <p:nvSpPr>
          <p:cNvPr id="24" name="Text 21"/>
          <p:cNvSpPr/>
          <p:nvPr/>
        </p:nvSpPr>
        <p:spPr>
          <a:xfrm>
            <a:off x="4070909" y="4230014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清掃・原料補充のみ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660197" y="4924958"/>
            <a:ext cx="1371600" cy="914400"/>
          </a:xfrm>
          <a:prstGeom prst="roundRect">
            <a:avLst>
              <a:gd name="adj" fmla="val 6000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26" name="Image 1" descr="/home/user/suzuki-ceo/selfcafe-miraiya-deck/assets/icons/LuWifi-gre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2261" y="5089550"/>
            <a:ext cx="347472" cy="347472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696773" y="5491886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高速Wi-Fi</a:t>
            </a:r>
            <a:endParaRPr lang="en-US" sz="1000" dirty="0"/>
          </a:p>
        </p:txBody>
      </p:sp>
      <p:sp>
        <p:nvSpPr>
          <p:cNvPr id="28" name="Shape 24"/>
          <p:cNvSpPr/>
          <p:nvPr/>
        </p:nvSpPr>
        <p:spPr>
          <a:xfrm>
            <a:off x="2214677" y="4924958"/>
            <a:ext cx="1371600" cy="914400"/>
          </a:xfrm>
          <a:prstGeom prst="roundRect">
            <a:avLst>
              <a:gd name="adj" fmla="val 6000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29" name="Image 2" descr="/home/user/suzuki-ceo/selfcafe-miraiya-deck/assets/icons/LuPlug-gree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26741" y="5089550"/>
            <a:ext cx="347472" cy="347472"/>
          </a:xfrm>
          <a:prstGeom prst="rect">
            <a:avLst/>
          </a:prstGeom>
        </p:spPr>
      </p:pic>
      <p:sp>
        <p:nvSpPr>
          <p:cNvPr id="30" name="Text 25"/>
          <p:cNvSpPr/>
          <p:nvPr/>
        </p:nvSpPr>
        <p:spPr>
          <a:xfrm>
            <a:off x="2251253" y="5491886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電源完備</a:t>
            </a:r>
            <a:endParaRPr lang="en-US" sz="1000" dirty="0"/>
          </a:p>
        </p:txBody>
      </p:sp>
      <p:sp>
        <p:nvSpPr>
          <p:cNvPr id="31" name="Shape 26"/>
          <p:cNvSpPr/>
          <p:nvPr/>
        </p:nvSpPr>
        <p:spPr>
          <a:xfrm>
            <a:off x="3769157" y="4924958"/>
            <a:ext cx="1371600" cy="914400"/>
          </a:xfrm>
          <a:prstGeom prst="roundRect">
            <a:avLst>
              <a:gd name="adj" fmla="val 6000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32" name="Image 3" descr="/home/user/suzuki-ceo/selfcafe-miraiya-deck/assets/icons/LuClock-gree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81221" y="5089550"/>
            <a:ext cx="347472" cy="347472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3805733" y="5491886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席時間無制限</a:t>
            </a:r>
            <a:endParaRPr lang="en-US" sz="1000" dirty="0"/>
          </a:p>
        </p:txBody>
      </p:sp>
      <p:sp>
        <p:nvSpPr>
          <p:cNvPr id="34" name="Shape 28"/>
          <p:cNvSpPr/>
          <p:nvPr/>
        </p:nvSpPr>
        <p:spPr>
          <a:xfrm>
            <a:off x="5323637" y="4924958"/>
            <a:ext cx="1371600" cy="914400"/>
          </a:xfrm>
          <a:prstGeom prst="roundRect">
            <a:avLst>
              <a:gd name="adj" fmla="val 6000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35" name="Image 4" descr="/home/user/suzuki-ceo/selfcafe-miraiya-deck/assets/icons/LuCalendarCheck-gree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35701" y="5089550"/>
            <a:ext cx="347472" cy="347472"/>
          </a:xfrm>
          <a:prstGeom prst="rect">
            <a:avLst/>
          </a:prstGeom>
        </p:spPr>
      </p:pic>
      <p:sp>
        <p:nvSpPr>
          <p:cNvPr id="36" name="Text 29"/>
          <p:cNvSpPr/>
          <p:nvPr/>
        </p:nvSpPr>
        <p:spPr>
          <a:xfrm>
            <a:off x="5360213" y="5491886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年中無休</a:t>
            </a:r>
            <a:endParaRPr lang="en-US" sz="1000" dirty="0"/>
          </a:p>
        </p:txBody>
      </p:sp>
      <p:pic>
        <p:nvPicPr>
          <p:cNvPr id="37" name="Image 5" descr="/home/user/suzuki-ceo/selfcafe-miraiya-deck/assets/photos/.crops/sasashima-interior-487x330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79285" y="1651406"/>
            <a:ext cx="4452214" cy="3017520"/>
          </a:xfrm>
          <a:prstGeom prst="rect">
            <a:avLst/>
          </a:prstGeom>
        </p:spPr>
      </p:pic>
      <p:sp>
        <p:nvSpPr>
          <p:cNvPr id="38" name="Shape 30"/>
          <p:cNvSpPr/>
          <p:nvPr/>
        </p:nvSpPr>
        <p:spPr>
          <a:xfrm>
            <a:off x="7079285" y="1651406"/>
            <a:ext cx="4452214" cy="3017520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sp>
        <p:nvSpPr>
          <p:cNvPr id="39" name="Shape 31"/>
          <p:cNvSpPr/>
          <p:nvPr/>
        </p:nvSpPr>
        <p:spPr>
          <a:xfrm>
            <a:off x="7079285" y="4833518"/>
            <a:ext cx="4452214" cy="950976"/>
          </a:xfrm>
          <a:prstGeom prst="roundRect">
            <a:avLst>
              <a:gd name="adj" fmla="val 5769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sp>
        <p:nvSpPr>
          <p:cNvPr id="40" name="Text 32"/>
          <p:cNvSpPr/>
          <p:nvPr/>
        </p:nvSpPr>
        <p:spPr>
          <a:xfrm>
            <a:off x="7317029" y="4833518"/>
            <a:ext cx="3976726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ささしまライブ店（名古屋）。商業施設の1階路面で、朝8時から22時まで無人運営しています。</a:t>
            </a:r>
            <a:endParaRPr lang="en-US" sz="1000" dirty="0"/>
          </a:p>
        </p:txBody>
      </p:sp>
      <p:sp>
        <p:nvSpPr>
          <p:cNvPr id="41" name="Text 33"/>
          <p:cNvSpPr/>
          <p:nvPr/>
        </p:nvSpPr>
        <p:spPr>
          <a:xfrm>
            <a:off x="660197" y="6199632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ドリンクは1杯420円〜（税抜）。サブスクプランをご利用の場合は1杯あたり147円〜となります。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立地適性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映画館のとなり。待ち時間が、そのまま需要になる。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両店とも同一フロアに映画館があり、上映前後の待ち時間需要を取り込める立地です。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60197" y="1651406"/>
            <a:ext cx="5243627" cy="3803904"/>
          </a:xfrm>
          <a:prstGeom prst="roundRect">
            <a:avLst>
              <a:gd name="adj" fmla="val 1442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34517" y="1815998"/>
            <a:ext cx="469498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秋田店</a:t>
            </a: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2F ／ TOHOシネマズ と同一フロア</a:t>
            </a:r>
            <a:endParaRPr lang="en-US" sz="1700" dirty="0"/>
          </a:p>
        </p:txBody>
      </p:sp>
      <p:pic>
        <p:nvPicPr>
          <p:cNvPr id="11" name="Image 1" descr="/home/user/suzuki-ceo/selfcafe-miraiya-deck/assets/photos/map-akita-floo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0834" y="2181758"/>
            <a:ext cx="862352" cy="21031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934517" y="437631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面積・席数</a:t>
            </a:r>
            <a:endParaRPr lang="en-US" sz="1000" dirty="0"/>
          </a:p>
        </p:txBody>
      </p:sp>
      <p:sp>
        <p:nvSpPr>
          <p:cNvPr id="13" name="Text 9"/>
          <p:cNvSpPr/>
          <p:nvPr/>
        </p:nvSpPr>
        <p:spPr>
          <a:xfrm>
            <a:off x="2671877" y="4376318"/>
            <a:ext cx="295762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62.97坪／73席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934517" y="4705502"/>
            <a:ext cx="4694987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15" name="Text 11"/>
          <p:cNvSpPr/>
          <p:nvPr/>
        </p:nvSpPr>
        <p:spPr>
          <a:xfrm>
            <a:off x="934517" y="474207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月間来客数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2671877" y="4742078"/>
            <a:ext cx="295762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3,760人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934517" y="5071262"/>
            <a:ext cx="4694987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18" name="Text 14"/>
          <p:cNvSpPr/>
          <p:nvPr/>
        </p:nvSpPr>
        <p:spPr>
          <a:xfrm>
            <a:off x="934517" y="510783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営業時間</a:t>
            </a:r>
            <a:endParaRPr lang="en-US" sz="1000" dirty="0"/>
          </a:p>
        </p:txBody>
      </p:sp>
      <p:sp>
        <p:nvSpPr>
          <p:cNvPr id="19" name="Text 15"/>
          <p:cNvSpPr/>
          <p:nvPr/>
        </p:nvSpPr>
        <p:spPr>
          <a:xfrm>
            <a:off x="2671877" y="5107838"/>
            <a:ext cx="295762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10:00〜21:00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6287872" y="1651406"/>
            <a:ext cx="5243627" cy="3803904"/>
          </a:xfrm>
          <a:prstGeom prst="roundRect">
            <a:avLst>
              <a:gd name="adj" fmla="val 1442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562192" y="1815998"/>
            <a:ext cx="469498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土浦店</a:t>
            </a: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3F ／ シネマサンシャイン土浦 と同一フロア</a:t>
            </a:r>
            <a:endParaRPr lang="en-US" sz="1700" dirty="0"/>
          </a:p>
        </p:txBody>
      </p:sp>
      <p:pic>
        <p:nvPicPr>
          <p:cNvPr id="22" name="Image 2" descr="/home/user/suzuki-ceo/selfcafe-miraiya-deck/assets/photos/map-tsuchiura-floo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2192" y="2379684"/>
            <a:ext cx="4694987" cy="1707268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6562192" y="437631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面積・席数</a:t>
            </a:r>
            <a:endParaRPr lang="en-US" sz="1000" dirty="0"/>
          </a:p>
        </p:txBody>
      </p:sp>
      <p:sp>
        <p:nvSpPr>
          <p:cNvPr id="24" name="Text 19"/>
          <p:cNvSpPr/>
          <p:nvPr/>
        </p:nvSpPr>
        <p:spPr>
          <a:xfrm>
            <a:off x="8299552" y="4376318"/>
            <a:ext cx="295762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30坪／59席</a:t>
            </a:r>
            <a:endParaRPr lang="en-US" sz="1200" dirty="0"/>
          </a:p>
        </p:txBody>
      </p:sp>
      <p:sp>
        <p:nvSpPr>
          <p:cNvPr id="25" name="Shape 20"/>
          <p:cNvSpPr/>
          <p:nvPr/>
        </p:nvSpPr>
        <p:spPr>
          <a:xfrm>
            <a:off x="6562192" y="4705502"/>
            <a:ext cx="4694987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26" name="Text 21"/>
          <p:cNvSpPr/>
          <p:nvPr/>
        </p:nvSpPr>
        <p:spPr>
          <a:xfrm>
            <a:off x="6562192" y="474207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月間来客数</a:t>
            </a:r>
            <a:endParaRPr lang="en-US" sz="1000" dirty="0"/>
          </a:p>
        </p:txBody>
      </p:sp>
      <p:sp>
        <p:nvSpPr>
          <p:cNvPr id="27" name="Text 22"/>
          <p:cNvSpPr/>
          <p:nvPr/>
        </p:nvSpPr>
        <p:spPr>
          <a:xfrm>
            <a:off x="8299552" y="4742078"/>
            <a:ext cx="295762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4,027人</a:t>
            </a:r>
            <a:endParaRPr lang="en-US" sz="1200" dirty="0"/>
          </a:p>
        </p:txBody>
      </p:sp>
      <p:sp>
        <p:nvSpPr>
          <p:cNvPr id="28" name="Shape 23"/>
          <p:cNvSpPr/>
          <p:nvPr/>
        </p:nvSpPr>
        <p:spPr>
          <a:xfrm>
            <a:off x="6562192" y="5071262"/>
            <a:ext cx="4694987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29" name="Text 24"/>
          <p:cNvSpPr/>
          <p:nvPr/>
        </p:nvSpPr>
        <p:spPr>
          <a:xfrm>
            <a:off x="6562192" y="510783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営業時間</a:t>
            </a:r>
            <a:endParaRPr lang="en-US" sz="1000" dirty="0"/>
          </a:p>
        </p:txBody>
      </p:sp>
      <p:sp>
        <p:nvSpPr>
          <p:cNvPr id="30" name="Text 25"/>
          <p:cNvSpPr/>
          <p:nvPr/>
        </p:nvSpPr>
        <p:spPr>
          <a:xfrm>
            <a:off x="8299552" y="5107838"/>
            <a:ext cx="295762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10:00〜21:00</a:t>
            </a:r>
            <a:endParaRPr lang="en-US" sz="1200" dirty="0"/>
          </a:p>
        </p:txBody>
      </p:sp>
      <p:sp>
        <p:nvSpPr>
          <p:cNvPr id="31" name="Shape 26"/>
          <p:cNvSpPr/>
          <p:nvPr/>
        </p:nvSpPr>
        <p:spPr>
          <a:xfrm>
            <a:off x="660197" y="5619902"/>
            <a:ext cx="10871302" cy="658368"/>
          </a:xfrm>
          <a:prstGeom prst="roundRect">
            <a:avLst>
              <a:gd name="adj" fmla="val 8333"/>
            </a:avLst>
          </a:prstGeom>
          <a:solidFill>
            <a:srgbClr val="0C5230"/>
          </a:solidFill>
          <a:ln/>
        </p:spPr>
      </p:sp>
      <p:pic>
        <p:nvPicPr>
          <p:cNvPr id="32" name="Image 3" descr="/home/user/suzuki-ceo/selfcafe-miraiya-deck/assets/icons/LuHourglass-pal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2805" y="5784494"/>
            <a:ext cx="329184" cy="329184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464869" y="5619902"/>
            <a:ext cx="979231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上映前後の待ち時間や、書店で本を選んだあとの休憩など「少しだけ座りたい」需要が館内で自然に発生します。1杯で時間制限がないため、その受け皿として機能します。</a:t>
            </a:r>
            <a:endParaRPr lang="en-US" sz="1000" dirty="0"/>
          </a:p>
        </p:txBody>
      </p:sp>
      <p:sp>
        <p:nvSpPr>
          <p:cNvPr id="34" name="Text 28"/>
          <p:cNvSpPr/>
          <p:nvPr/>
        </p:nvSpPr>
        <p:spPr>
          <a:xfrm>
            <a:off x="660197" y="6327648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出典：面積・席数・月間来客数は貴社ご提供資料（2025年平均）。フロアマップは各館の館内図より。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参考モデル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書店併設型は、すでに2店舗で稼働しています。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同じ「書店の中のセルフカフェ」として運営している2店舗の実績です。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60197" y="1651406"/>
            <a:ext cx="3440887" cy="3840480"/>
          </a:xfrm>
          <a:prstGeom prst="roundRect">
            <a:avLst>
              <a:gd name="adj" fmla="val 1594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pic>
        <p:nvPicPr>
          <p:cNvPr id="10" name="Image 1" descr="/home/user/suzuki-ceo/selfcafe-miraiya-deck/assets/photos/.crops/inzai-hall-328x172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9653" y="1870862"/>
            <a:ext cx="3001975" cy="1572768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879653" y="1870862"/>
            <a:ext cx="3001975" cy="1572768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879653" y="3498494"/>
            <a:ext cx="300197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印西牧の原店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879653" y="3809390"/>
            <a:ext cx="3001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千葉県印西市／書店併設</a:t>
            </a:r>
            <a:endParaRPr lang="en-US" sz="950" dirty="0"/>
          </a:p>
        </p:txBody>
      </p:sp>
      <p:sp>
        <p:nvSpPr>
          <p:cNvPr id="14" name="Shape 10"/>
          <p:cNvSpPr/>
          <p:nvPr/>
        </p:nvSpPr>
        <p:spPr>
          <a:xfrm>
            <a:off x="879653" y="4156862"/>
            <a:ext cx="3001975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15" name="Text 11"/>
          <p:cNvSpPr/>
          <p:nvPr/>
        </p:nvSpPr>
        <p:spPr>
          <a:xfrm>
            <a:off x="879653" y="4284878"/>
            <a:ext cx="3001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1日あたりの販売杯数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879653" y="4522622"/>
            <a:ext cx="300197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68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40.6</a:t>
            </a:r>
            <a:r>
              <a:rPr lang="en-US" sz="14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杯</a:t>
            </a:r>
            <a:endParaRPr lang="en-US" sz="3000" dirty="0"/>
          </a:p>
        </p:txBody>
      </p:sp>
      <p:sp>
        <p:nvSpPr>
          <p:cNvPr id="17" name="Text 13"/>
          <p:cNvSpPr/>
          <p:nvPr/>
        </p:nvSpPr>
        <p:spPr>
          <a:xfrm>
            <a:off x="879653" y="5144414"/>
            <a:ext cx="3001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書店併設の標準的な水準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4375404" y="1651406"/>
            <a:ext cx="3440887" cy="3840480"/>
          </a:xfrm>
          <a:prstGeom prst="roundRect">
            <a:avLst>
              <a:gd name="adj" fmla="val 1594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pic>
        <p:nvPicPr>
          <p:cNvPr id="19" name="Image 2" descr="/home/user/suzuki-ceo/selfcafe-miraiya-deck/assets/photos/.crops/store-shinmoriyama-328x172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4860" y="1870862"/>
            <a:ext cx="3001975" cy="1572768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4594860" y="1870862"/>
            <a:ext cx="3001975" cy="1572768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4594860" y="3498494"/>
            <a:ext cx="300197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新守山店</a:t>
            </a:r>
            <a:endParaRPr lang="en-US" sz="1500" dirty="0"/>
          </a:p>
        </p:txBody>
      </p:sp>
      <p:sp>
        <p:nvSpPr>
          <p:cNvPr id="22" name="Text 17"/>
          <p:cNvSpPr/>
          <p:nvPr/>
        </p:nvSpPr>
        <p:spPr>
          <a:xfrm>
            <a:off x="4594860" y="3809390"/>
            <a:ext cx="3001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愛知県名古屋市／書店併設</a:t>
            </a:r>
            <a:endParaRPr lang="en-US" sz="950" dirty="0"/>
          </a:p>
        </p:txBody>
      </p:sp>
      <p:sp>
        <p:nvSpPr>
          <p:cNvPr id="23" name="Shape 18"/>
          <p:cNvSpPr/>
          <p:nvPr/>
        </p:nvSpPr>
        <p:spPr>
          <a:xfrm>
            <a:off x="4594860" y="4156862"/>
            <a:ext cx="3001975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24" name="Text 19"/>
          <p:cNvSpPr/>
          <p:nvPr/>
        </p:nvSpPr>
        <p:spPr>
          <a:xfrm>
            <a:off x="4594860" y="4284878"/>
            <a:ext cx="3001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1日あたりの販売杯数</a:t>
            </a:r>
            <a:endParaRPr lang="en-US" sz="950" dirty="0"/>
          </a:p>
        </p:txBody>
      </p:sp>
      <p:sp>
        <p:nvSpPr>
          <p:cNvPr id="25" name="Text 20"/>
          <p:cNvSpPr/>
          <p:nvPr/>
        </p:nvSpPr>
        <p:spPr>
          <a:xfrm>
            <a:off x="4594860" y="4522622"/>
            <a:ext cx="300197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68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45.2</a:t>
            </a:r>
            <a:r>
              <a:rPr lang="en-US" sz="14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杯</a:t>
            </a:r>
            <a:endParaRPr lang="en-US" sz="3000" dirty="0"/>
          </a:p>
        </p:txBody>
      </p:sp>
      <p:sp>
        <p:nvSpPr>
          <p:cNvPr id="26" name="Text 21"/>
          <p:cNvSpPr/>
          <p:nvPr/>
        </p:nvSpPr>
        <p:spPr>
          <a:xfrm>
            <a:off x="4594860" y="5144414"/>
            <a:ext cx="3001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書店併設の標準的な水準</a:t>
            </a:r>
            <a:endParaRPr lang="en-US" sz="900" dirty="0"/>
          </a:p>
        </p:txBody>
      </p:sp>
      <p:sp>
        <p:nvSpPr>
          <p:cNvPr id="27" name="Shape 22"/>
          <p:cNvSpPr/>
          <p:nvPr/>
        </p:nvSpPr>
        <p:spPr>
          <a:xfrm>
            <a:off x="8090611" y="1651406"/>
            <a:ext cx="3440887" cy="3840480"/>
          </a:xfrm>
          <a:prstGeom prst="roundRect">
            <a:avLst>
              <a:gd name="adj" fmla="val 1594"/>
            </a:avLst>
          </a:prstGeom>
          <a:solidFill>
            <a:srgbClr val="0C5230"/>
          </a:solidFill>
          <a:ln/>
        </p:spPr>
      </p:sp>
      <p:pic>
        <p:nvPicPr>
          <p:cNvPr id="28" name="Image 3" descr="/home/user/suzuki-ceo/selfcafe-miraiya-deck/assets/photos/.crops/sasashima-exterior-328x172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10067" y="1870862"/>
            <a:ext cx="3001975" cy="1572768"/>
          </a:xfrm>
          <a:prstGeom prst="rect">
            <a:avLst/>
          </a:prstGeom>
        </p:spPr>
      </p:pic>
      <p:sp>
        <p:nvSpPr>
          <p:cNvPr id="29" name="Shape 23"/>
          <p:cNvSpPr/>
          <p:nvPr/>
        </p:nvSpPr>
        <p:spPr>
          <a:xfrm>
            <a:off x="8310067" y="1870862"/>
            <a:ext cx="3001975" cy="1572768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sp>
        <p:nvSpPr>
          <p:cNvPr id="30" name="Text 24"/>
          <p:cNvSpPr/>
          <p:nvPr/>
        </p:nvSpPr>
        <p:spPr>
          <a:xfrm>
            <a:off x="8310067" y="3498494"/>
            <a:ext cx="300197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ささしまライブ店</a:t>
            </a:r>
            <a:endParaRPr lang="en-US" sz="1500" dirty="0"/>
          </a:p>
        </p:txBody>
      </p:sp>
      <p:sp>
        <p:nvSpPr>
          <p:cNvPr id="31" name="Text 25"/>
          <p:cNvSpPr/>
          <p:nvPr/>
        </p:nvSpPr>
        <p:spPr>
          <a:xfrm>
            <a:off x="8310067" y="3809390"/>
            <a:ext cx="3001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愛知県名古屋市／商業施設内</a:t>
            </a:r>
            <a:endParaRPr lang="en-US" sz="950" dirty="0"/>
          </a:p>
        </p:txBody>
      </p:sp>
      <p:sp>
        <p:nvSpPr>
          <p:cNvPr id="32" name="Shape 26"/>
          <p:cNvSpPr/>
          <p:nvPr/>
        </p:nvSpPr>
        <p:spPr>
          <a:xfrm>
            <a:off x="8310067" y="4156862"/>
            <a:ext cx="3001975" cy="10058"/>
          </a:xfrm>
          <a:prstGeom prst="rect">
            <a:avLst/>
          </a:prstGeom>
          <a:solidFill>
            <a:srgbClr val="2A7A4E"/>
          </a:solidFill>
          <a:ln/>
        </p:spPr>
      </p:sp>
      <p:sp>
        <p:nvSpPr>
          <p:cNvPr id="33" name="Text 27"/>
          <p:cNvSpPr/>
          <p:nvPr/>
        </p:nvSpPr>
        <p:spPr>
          <a:xfrm>
            <a:off x="8310067" y="4284878"/>
            <a:ext cx="3001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1日あたりの販売杯数</a:t>
            </a:r>
            <a:endParaRPr lang="en-US" sz="950" dirty="0"/>
          </a:p>
        </p:txBody>
      </p:sp>
      <p:sp>
        <p:nvSpPr>
          <p:cNvPr id="34" name="Text 28"/>
          <p:cNvSpPr/>
          <p:nvPr/>
        </p:nvSpPr>
        <p:spPr>
          <a:xfrm>
            <a:off x="8310067" y="4522622"/>
            <a:ext cx="300197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0C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122.7</a:t>
            </a:r>
            <a:r>
              <a:rPr lang="en-US" sz="1400" b="1" dirty="0">
                <a:solidFill>
                  <a:srgbClr val="F0C0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杯</a:t>
            </a:r>
            <a:endParaRPr lang="en-US" sz="3000" dirty="0"/>
          </a:p>
        </p:txBody>
      </p:sp>
      <p:sp>
        <p:nvSpPr>
          <p:cNvPr id="35" name="Text 29"/>
          <p:cNvSpPr/>
          <p:nvPr/>
        </p:nvSpPr>
        <p:spPr>
          <a:xfrm>
            <a:off x="8310067" y="5144414"/>
            <a:ext cx="3001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C5A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商業施設内の大型店。上限の目安</a:t>
            </a:r>
            <a:endParaRPr lang="en-US" sz="900" dirty="0"/>
          </a:p>
        </p:txBody>
      </p:sp>
      <p:sp>
        <p:nvSpPr>
          <p:cNvPr id="36" name="Shape 30"/>
          <p:cNvSpPr/>
          <p:nvPr/>
        </p:nvSpPr>
        <p:spPr>
          <a:xfrm>
            <a:off x="660197" y="5656478"/>
            <a:ext cx="10871302" cy="731520"/>
          </a:xfrm>
          <a:prstGeom prst="roundRect">
            <a:avLst>
              <a:gd name="adj" fmla="val 7500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37" name="Image 4" descr="/home/user/suzuki-ceo/selfcafe-miraiya-deck/assets/icons/LuChartColumn-gree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2805" y="5848502"/>
            <a:ext cx="347472" cy="347472"/>
          </a:xfrm>
          <a:prstGeom prst="rect">
            <a:avLst/>
          </a:prstGeom>
        </p:spPr>
      </p:pic>
      <p:sp>
        <p:nvSpPr>
          <p:cNvPr id="38" name="Text 31"/>
          <p:cNvSpPr/>
          <p:nvPr/>
        </p:nvSpPr>
        <p:spPr>
          <a:xfrm>
            <a:off x="1483157" y="5656478"/>
            <a:ext cx="977402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書店併設2店の平均は </a:t>
            </a:r>
            <a:r>
              <a:rPr lang="en-US" sz="14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1日42.9杯</a:t>
            </a:r>
            <a:r>
              <a:rPr lang="en-US" sz="11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。商業施設内のささしまライブ店は </a:t>
            </a:r>
            <a:r>
              <a:rPr lang="en-US" sz="14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1日122.7杯</a:t>
            </a:r>
            <a:r>
              <a:rPr lang="en-US" sz="11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で稼働しています。</a:t>
            </a:r>
            <a:endParaRPr lang="en-US" sz="1150" dirty="0"/>
          </a:p>
        </p:txBody>
      </p:sp>
      <p:sp>
        <p:nvSpPr>
          <p:cNvPr id="39" name="Text 32"/>
          <p:cNvSpPr/>
          <p:nvPr/>
        </p:nvSpPr>
        <p:spPr>
          <a:xfrm>
            <a:off x="660197" y="6345936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出典：社内管理台帳（2026年5月〜8月の月間実杯数の平均）。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導入イメージ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書店の中に、こう入ります。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印西牧の原店の実際の様子です。書架のとなりに席を並べ、書店の動線をそのまま活かしています。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pic>
        <p:nvPicPr>
          <p:cNvPr id="9" name="Image 1" descr="/home/user/suzuki-ceo/selfcafe-miraiya-deck/assets/photos/.crops/inzai-hall-750x390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197" y="1651406"/>
            <a:ext cx="6858000" cy="356616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660197" y="1651406"/>
            <a:ext cx="6858000" cy="3566160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pic>
        <p:nvPicPr>
          <p:cNvPr id="11" name="Image 2" descr="/home/user/suzuki-ceo/selfcafe-miraiya-deck/assets/photos/.crops/inzai-books-409x180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92517" y="1651406"/>
            <a:ext cx="3738982" cy="164592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7792517" y="1651406"/>
            <a:ext cx="3738982" cy="1645920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pic>
        <p:nvPicPr>
          <p:cNvPr id="13" name="Image 3" descr="/home/user/suzuki-ceo/selfcafe-miraiya-deck/assets/photos/.crops/inzai-counter-409x180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92517" y="3571646"/>
            <a:ext cx="3738982" cy="164592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7792517" y="3571646"/>
            <a:ext cx="3738982" cy="1645920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660197" y="5437022"/>
            <a:ext cx="3477463" cy="859536"/>
          </a:xfrm>
          <a:prstGeom prst="roundRect">
            <a:avLst>
              <a:gd name="adj" fmla="val 6383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16" name="Image 4" descr="/home/user/suzuki-ceo/selfcafe-miraiya-deck/assets/icons/LuRuler-gree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9653" y="5693054"/>
            <a:ext cx="310896" cy="310896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1281989" y="5546750"/>
            <a:ext cx="26362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書架の間・壁面沿いに設置</a:t>
            </a:r>
            <a:endParaRPr lang="en-US" sz="1050" dirty="0"/>
          </a:p>
        </p:txBody>
      </p:sp>
      <p:sp>
        <p:nvSpPr>
          <p:cNvPr id="18" name="Text 11"/>
          <p:cNvSpPr/>
          <p:nvPr/>
        </p:nvSpPr>
        <p:spPr>
          <a:xfrm>
            <a:off x="1281989" y="5802782"/>
            <a:ext cx="26362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独立区画は不要。既存の什器配置を大きく変えずに席をつくれます。</a:t>
            </a:r>
            <a:endParaRPr lang="en-US" sz="900" dirty="0"/>
          </a:p>
        </p:txBody>
      </p:sp>
      <p:sp>
        <p:nvSpPr>
          <p:cNvPr id="19" name="Shape 12"/>
          <p:cNvSpPr/>
          <p:nvPr/>
        </p:nvSpPr>
        <p:spPr>
          <a:xfrm>
            <a:off x="4357116" y="5437022"/>
            <a:ext cx="3477463" cy="859536"/>
          </a:xfrm>
          <a:prstGeom prst="roundRect">
            <a:avLst>
              <a:gd name="adj" fmla="val 6383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20" name="Image 5" descr="/home/user/suzuki-ceo/selfcafe-miraiya-deck/assets/icons/LuPlug-gree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6572" y="5693054"/>
            <a:ext cx="310896" cy="310896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4978908" y="5546750"/>
            <a:ext cx="26362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各席に電源とWi-Fi</a:t>
            </a:r>
            <a:endParaRPr lang="en-US" sz="1050" dirty="0"/>
          </a:p>
        </p:txBody>
      </p:sp>
      <p:sp>
        <p:nvSpPr>
          <p:cNvPr id="22" name="Text 14"/>
          <p:cNvSpPr/>
          <p:nvPr/>
        </p:nvSpPr>
        <p:spPr>
          <a:xfrm>
            <a:off x="4978908" y="5802782"/>
            <a:ext cx="26362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長時間の滞在に耐える設えで、書店の滞在時間もあわせて伸びます。</a:t>
            </a:r>
            <a:endParaRPr lang="en-US" sz="900" dirty="0"/>
          </a:p>
        </p:txBody>
      </p:sp>
      <p:sp>
        <p:nvSpPr>
          <p:cNvPr id="23" name="Shape 15"/>
          <p:cNvSpPr/>
          <p:nvPr/>
        </p:nvSpPr>
        <p:spPr>
          <a:xfrm>
            <a:off x="8054035" y="5437022"/>
            <a:ext cx="3477463" cy="859536"/>
          </a:xfrm>
          <a:prstGeom prst="roundRect">
            <a:avLst>
              <a:gd name="adj" fmla="val 6383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24" name="Image 6" descr="/home/user/suzuki-ceo/selfcafe-miraiya-deck/assets/icons/LuUsers-green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73491" y="5693054"/>
            <a:ext cx="310896" cy="310896"/>
          </a:xfrm>
          <a:prstGeom prst="rect">
            <a:avLst/>
          </a:prstGeom>
        </p:spPr>
      </p:pic>
      <p:sp>
        <p:nvSpPr>
          <p:cNvPr id="25" name="Text 16"/>
          <p:cNvSpPr/>
          <p:nvPr/>
        </p:nvSpPr>
        <p:spPr>
          <a:xfrm>
            <a:off x="8675827" y="5546750"/>
            <a:ext cx="26362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レジ・接客は発生しない</a:t>
            </a:r>
            <a:endParaRPr lang="en-US" sz="1050" dirty="0"/>
          </a:p>
        </p:txBody>
      </p:sp>
      <p:sp>
        <p:nvSpPr>
          <p:cNvPr id="26" name="Text 17"/>
          <p:cNvSpPr/>
          <p:nvPr/>
        </p:nvSpPr>
        <p:spPr>
          <a:xfrm>
            <a:off x="8675827" y="5802782"/>
            <a:ext cx="26362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ドリンクはセルフのマシン。書店スタッフの手は一切かかりません。</a:t>
            </a:r>
            <a:endParaRPr lang="en-US" sz="900" dirty="0"/>
          </a:p>
        </p:txBody>
      </p:sp>
      <p:sp>
        <p:nvSpPr>
          <p:cNvPr id="27" name="Text 18"/>
          <p:cNvSpPr/>
          <p:nvPr/>
        </p:nvSpPr>
        <p:spPr>
          <a:xfrm>
            <a:off x="660197" y="6387998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写真：セルフカフェ 印西牧の原店（千葉県印西市／未来屋書店様 併設）。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前提の考え方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実績を基準に、控えめに置いた想定です。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商業施設内・映画館隣接という条件を踏まえ、実績平均の1.5倍程度を想定しました。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60197" y="1651406"/>
            <a:ext cx="7406640" cy="3200400"/>
          </a:xfrm>
          <a:prstGeom prst="roundRect">
            <a:avLst>
              <a:gd name="adj" fmla="val 1714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34517" y="1834286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1日あたりの販売杯数の比較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34517" y="2254910"/>
            <a:ext cx="2157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印西牧の原店（実績）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3129077" y="2300630"/>
            <a:ext cx="1313641" cy="219456"/>
          </a:xfrm>
          <a:prstGeom prst="roundRect">
            <a:avLst>
              <a:gd name="adj" fmla="val 20833"/>
            </a:avLst>
          </a:prstGeom>
          <a:solidFill>
            <a:srgbClr val="9CC3AA"/>
          </a:solidFill>
          <a:ln/>
        </p:spPr>
      </p:sp>
      <p:sp>
        <p:nvSpPr>
          <p:cNvPr id="13" name="Text 10"/>
          <p:cNvSpPr/>
          <p:nvPr/>
        </p:nvSpPr>
        <p:spPr>
          <a:xfrm>
            <a:off x="4534158" y="225491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40.6 杯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934517" y="2757830"/>
            <a:ext cx="2157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新守山店（実績）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3129077" y="2803550"/>
            <a:ext cx="1462477" cy="219456"/>
          </a:xfrm>
          <a:prstGeom prst="roundRect">
            <a:avLst>
              <a:gd name="adj" fmla="val 20833"/>
            </a:avLst>
          </a:prstGeom>
          <a:solidFill>
            <a:srgbClr val="9CC3AA"/>
          </a:solidFill>
          <a:ln/>
        </p:spPr>
      </p:sp>
      <p:sp>
        <p:nvSpPr>
          <p:cNvPr id="16" name="Text 13"/>
          <p:cNvSpPr/>
          <p:nvPr/>
        </p:nvSpPr>
        <p:spPr>
          <a:xfrm>
            <a:off x="4682994" y="275783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45.2 杯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934517" y="3260750"/>
            <a:ext cx="2157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土浦店（想定）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3129077" y="3306470"/>
            <a:ext cx="1941342" cy="219456"/>
          </a:xfrm>
          <a:prstGeom prst="roundRect">
            <a:avLst>
              <a:gd name="adj" fmla="val 20833"/>
            </a:avLst>
          </a:prstGeom>
          <a:solidFill>
            <a:srgbClr val="A8761F"/>
          </a:solidFill>
          <a:ln/>
        </p:spPr>
      </p:sp>
      <p:sp>
        <p:nvSpPr>
          <p:cNvPr id="19" name="Text 16"/>
          <p:cNvSpPr/>
          <p:nvPr/>
        </p:nvSpPr>
        <p:spPr>
          <a:xfrm>
            <a:off x="5161858" y="326075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876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60 杯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934517" y="3763670"/>
            <a:ext cx="2157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秋田店（想定）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3129077" y="3809390"/>
            <a:ext cx="2264898" cy="219456"/>
          </a:xfrm>
          <a:prstGeom prst="roundRect">
            <a:avLst>
              <a:gd name="adj" fmla="val 20833"/>
            </a:avLst>
          </a:prstGeom>
          <a:solidFill>
            <a:srgbClr val="A8761F"/>
          </a:solidFill>
          <a:ln/>
        </p:spPr>
      </p:sp>
      <p:sp>
        <p:nvSpPr>
          <p:cNvPr id="22" name="Text 19"/>
          <p:cNvSpPr/>
          <p:nvPr/>
        </p:nvSpPr>
        <p:spPr>
          <a:xfrm>
            <a:off x="5485415" y="376367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876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70 杯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934517" y="4266590"/>
            <a:ext cx="2157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ささしまライブ店（実績）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3129077" y="4312310"/>
            <a:ext cx="3970043" cy="219456"/>
          </a:xfrm>
          <a:prstGeom prst="roundRect">
            <a:avLst>
              <a:gd name="adj" fmla="val 20833"/>
            </a:avLst>
          </a:prstGeom>
          <a:solidFill>
            <a:srgbClr val="5FA57C"/>
          </a:solidFill>
          <a:ln/>
        </p:spPr>
      </p:sp>
      <p:sp>
        <p:nvSpPr>
          <p:cNvPr id="25" name="Text 22"/>
          <p:cNvSpPr/>
          <p:nvPr/>
        </p:nvSpPr>
        <p:spPr>
          <a:xfrm>
            <a:off x="7190560" y="426659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122.7 杯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934517" y="4522622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帯の色：金＝今回の想定／緑＝既存店の実績</a:t>
            </a:r>
            <a:endParaRPr lang="en-US" sz="850" dirty="0"/>
          </a:p>
        </p:txBody>
      </p:sp>
      <p:sp>
        <p:nvSpPr>
          <p:cNvPr id="27" name="Shape 24"/>
          <p:cNvSpPr/>
          <p:nvPr/>
        </p:nvSpPr>
        <p:spPr>
          <a:xfrm>
            <a:off x="8450885" y="1651406"/>
            <a:ext cx="3080614" cy="731520"/>
          </a:xfrm>
          <a:prstGeom prst="roundRect">
            <a:avLst>
              <a:gd name="adj" fmla="val 7500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28" name="Image 1" descr="/home/user/suzuki-ceo/selfcafe-miraiya-deck/assets/icons/LuChartColumn-gre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70341" y="1852574"/>
            <a:ext cx="310896" cy="310896"/>
          </a:xfrm>
          <a:prstGeom prst="rect">
            <a:avLst/>
          </a:prstGeom>
        </p:spPr>
      </p:pic>
      <p:sp>
        <p:nvSpPr>
          <p:cNvPr id="29" name="Text 25"/>
          <p:cNvSpPr/>
          <p:nvPr/>
        </p:nvSpPr>
        <p:spPr>
          <a:xfrm>
            <a:off x="9090965" y="1742846"/>
            <a:ext cx="222107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基準</a:t>
            </a:r>
            <a:endParaRPr lang="en-US" sz="1000" dirty="0"/>
          </a:p>
        </p:txBody>
      </p:sp>
      <p:sp>
        <p:nvSpPr>
          <p:cNvPr id="30" name="Text 26"/>
          <p:cNvSpPr/>
          <p:nvPr/>
        </p:nvSpPr>
        <p:spPr>
          <a:xfrm>
            <a:off x="9090965" y="1980590"/>
            <a:ext cx="222107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書店併設2店の実績平均 1日42.9杯</a:t>
            </a:r>
            <a:endParaRPr lang="en-US" sz="950" dirty="0"/>
          </a:p>
        </p:txBody>
      </p:sp>
      <p:sp>
        <p:nvSpPr>
          <p:cNvPr id="31" name="Shape 27"/>
          <p:cNvSpPr/>
          <p:nvPr/>
        </p:nvSpPr>
        <p:spPr>
          <a:xfrm>
            <a:off x="8450885" y="2474366"/>
            <a:ext cx="3080614" cy="731520"/>
          </a:xfrm>
          <a:prstGeom prst="roundRect">
            <a:avLst>
              <a:gd name="adj" fmla="val 7500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32" name="Image 2" descr="/home/user/suzuki-ceo/selfcafe-miraiya-deck/assets/icons/LuTrendingUp-gree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70341" y="2675534"/>
            <a:ext cx="310896" cy="310896"/>
          </a:xfrm>
          <a:prstGeom prst="rect">
            <a:avLst/>
          </a:prstGeom>
        </p:spPr>
      </p:pic>
      <p:sp>
        <p:nvSpPr>
          <p:cNvPr id="33" name="Text 28"/>
          <p:cNvSpPr/>
          <p:nvPr/>
        </p:nvSpPr>
        <p:spPr>
          <a:xfrm>
            <a:off x="9090965" y="2565806"/>
            <a:ext cx="222107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係数</a:t>
            </a:r>
            <a:endParaRPr lang="en-US" sz="1000" dirty="0"/>
          </a:p>
        </p:txBody>
      </p:sp>
      <p:sp>
        <p:nvSpPr>
          <p:cNvPr id="34" name="Text 29"/>
          <p:cNvSpPr/>
          <p:nvPr/>
        </p:nvSpPr>
        <p:spPr>
          <a:xfrm>
            <a:off x="9090965" y="2803550"/>
            <a:ext cx="222107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館内の通行量・映画館隣接を踏まえ 約1.5倍</a:t>
            </a:r>
            <a:endParaRPr lang="en-US" sz="950" dirty="0"/>
          </a:p>
        </p:txBody>
      </p:sp>
      <p:sp>
        <p:nvSpPr>
          <p:cNvPr id="35" name="Shape 30"/>
          <p:cNvSpPr/>
          <p:nvPr/>
        </p:nvSpPr>
        <p:spPr>
          <a:xfrm>
            <a:off x="8450885" y="3297326"/>
            <a:ext cx="3080614" cy="731520"/>
          </a:xfrm>
          <a:prstGeom prst="roundRect">
            <a:avLst>
              <a:gd name="adj" fmla="val 7500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36" name="Image 3" descr="/home/user/suzuki-ceo/selfcafe-miraiya-deck/assets/icons/LuUsers-gree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70341" y="3498494"/>
            <a:ext cx="310896" cy="310896"/>
          </a:xfrm>
          <a:prstGeom prst="rect">
            <a:avLst/>
          </a:prstGeom>
        </p:spPr>
      </p:pic>
      <p:sp>
        <p:nvSpPr>
          <p:cNvPr id="37" name="Text 31"/>
          <p:cNvSpPr/>
          <p:nvPr/>
        </p:nvSpPr>
        <p:spPr>
          <a:xfrm>
            <a:off x="9090965" y="3388766"/>
            <a:ext cx="222107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席数で配分</a:t>
            </a:r>
            <a:endParaRPr lang="en-US" sz="1000" dirty="0"/>
          </a:p>
        </p:txBody>
      </p:sp>
      <p:sp>
        <p:nvSpPr>
          <p:cNvPr id="38" name="Text 32"/>
          <p:cNvSpPr/>
          <p:nvPr/>
        </p:nvSpPr>
        <p:spPr>
          <a:xfrm>
            <a:off x="9090965" y="3626510"/>
            <a:ext cx="222107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秋田73席＝70杯／土浦59席＝60杯</a:t>
            </a:r>
            <a:endParaRPr lang="en-US" sz="950" dirty="0"/>
          </a:p>
        </p:txBody>
      </p:sp>
      <p:sp>
        <p:nvSpPr>
          <p:cNvPr id="39" name="Shape 33"/>
          <p:cNvSpPr/>
          <p:nvPr/>
        </p:nvSpPr>
        <p:spPr>
          <a:xfrm>
            <a:off x="8450885" y="4120286"/>
            <a:ext cx="3080614" cy="731520"/>
          </a:xfrm>
          <a:prstGeom prst="roundRect">
            <a:avLst>
              <a:gd name="adj" fmla="val 7500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40" name="Image 4" descr="/home/user/suzuki-ceo/selfcafe-miraiya-deck/assets/icons/LuShieldCheck-gree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70341" y="4321454"/>
            <a:ext cx="310896" cy="310896"/>
          </a:xfrm>
          <a:prstGeom prst="rect">
            <a:avLst/>
          </a:prstGeom>
        </p:spPr>
      </p:pic>
      <p:sp>
        <p:nvSpPr>
          <p:cNvPr id="41" name="Text 34"/>
          <p:cNvSpPr/>
          <p:nvPr/>
        </p:nvSpPr>
        <p:spPr>
          <a:xfrm>
            <a:off x="9090965" y="4211726"/>
            <a:ext cx="222107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妥当性</a:t>
            </a:r>
            <a:endParaRPr lang="en-US" sz="1000" dirty="0"/>
          </a:p>
        </p:txBody>
      </p:sp>
      <p:sp>
        <p:nvSpPr>
          <p:cNvPr id="42" name="Text 35"/>
          <p:cNvSpPr/>
          <p:nvPr/>
        </p:nvSpPr>
        <p:spPr>
          <a:xfrm>
            <a:off x="9090965" y="4449470"/>
            <a:ext cx="222107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ささしまライブ店の実績の約半分の水準</a:t>
            </a:r>
            <a:endParaRPr lang="en-US" sz="950" dirty="0"/>
          </a:p>
        </p:txBody>
      </p:sp>
      <p:sp>
        <p:nvSpPr>
          <p:cNvPr id="43" name="Shape 36"/>
          <p:cNvSpPr/>
          <p:nvPr/>
        </p:nvSpPr>
        <p:spPr>
          <a:xfrm>
            <a:off x="660197" y="5052974"/>
            <a:ext cx="10871302" cy="768096"/>
          </a:xfrm>
          <a:prstGeom prst="roundRect">
            <a:avLst>
              <a:gd name="adj" fmla="val 7143"/>
            </a:avLst>
          </a:prstGeom>
          <a:solidFill>
            <a:srgbClr val="0C5230"/>
          </a:solidFill>
          <a:ln/>
        </p:spPr>
      </p:sp>
      <p:sp>
        <p:nvSpPr>
          <p:cNvPr id="44" name="Text 37"/>
          <p:cNvSpPr/>
          <p:nvPr/>
        </p:nvSpPr>
        <p:spPr>
          <a:xfrm>
            <a:off x="971093" y="5052974"/>
            <a:ext cx="1024951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来客に対する購入率でみると、秋田店は約56％・土浦店は約45％。</a:t>
            </a:r>
            <a:r>
              <a:rPr lang="en-US" sz="110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ご来店のおよそ半数が1杯ご購入いただく水準です。</a:t>
            </a:r>
            <a:endParaRPr lang="en-US" sz="1150" dirty="0"/>
          </a:p>
        </p:txBody>
      </p:sp>
      <p:sp>
        <p:nvSpPr>
          <p:cNvPr id="45" name="Text 38"/>
          <p:cNvSpPr/>
          <p:nvPr/>
        </p:nvSpPr>
        <p:spPr>
          <a:xfrm>
            <a:off x="660197" y="6272784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想定値であり、売上を保証するものではありません。実際の販売杯数は立地・季節・館内の動線により変動します。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収益シミュレーション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秋田店 のお受取イメージ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62.97坪／73席／想定 1日70杯・1杯420円（税抜）で試算しています。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0197" y="1651406"/>
          <a:ext cx="7406640" cy="914400"/>
        </p:xfrm>
        <a:graphic>
          <a:graphicData uri="http://schemas.openxmlformats.org/drawingml/2006/table">
            <a:tbl>
              <a:tblPr/>
              <a:tblGrid>
                <a:gridCol w="5029200"/>
                <a:gridCol w="237744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項目（月次・円／税抜）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23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金額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23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1日あたりの販売杯数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70杯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月間販売杯数（30日）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2,100杯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セルフカフェ売上（1杯420円）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0683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882,000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　うち 売上の25％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220,500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　＋ 月額固定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50,000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A876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貴社お受取額（月）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700" b="1" dirty="0">
                          <a:solidFill>
                            <a:srgbClr val="A876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270,500</a:t>
                      </a:r>
                      <a:endParaRPr lang="en-US" sz="1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年間換算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3,246,000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8450885" y="1651406"/>
            <a:ext cx="3080614" cy="1920240"/>
          </a:xfrm>
          <a:prstGeom prst="roundRect">
            <a:avLst>
              <a:gd name="adj" fmla="val 2857"/>
            </a:avLst>
          </a:prstGeom>
          <a:solidFill>
            <a:srgbClr val="0C5230"/>
          </a:solidFill>
          <a:ln/>
        </p:spPr>
      </p:sp>
      <p:sp>
        <p:nvSpPr>
          <p:cNvPr id="11" name="Text 7"/>
          <p:cNvSpPr/>
          <p:nvPr/>
        </p:nvSpPr>
        <p:spPr>
          <a:xfrm>
            <a:off x="8706917" y="1852574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CC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REVENUE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8706917" y="2090318"/>
            <a:ext cx="25685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貴社お受取額（想定）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8706917" y="2382926"/>
            <a:ext cx="256855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 </a:t>
            </a:r>
            <a:r>
              <a:rPr lang="en-US" sz="3200" b="1" dirty="0">
                <a:solidFill>
                  <a:srgbClr val="F0C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27.0</a:t>
            </a:r>
            <a:r>
              <a:rPr lang="en-US" sz="1400" b="1" dirty="0">
                <a:solidFill>
                  <a:srgbClr val="F0C0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万円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8706917" y="3096158"/>
            <a:ext cx="2568550" cy="10058"/>
          </a:xfrm>
          <a:prstGeom prst="rect">
            <a:avLst/>
          </a:prstGeom>
          <a:solidFill>
            <a:srgbClr val="2A7A4E"/>
          </a:solidFill>
          <a:ln/>
        </p:spPr>
      </p:sp>
      <p:sp>
        <p:nvSpPr>
          <p:cNvPr id="15" name="Text 11"/>
          <p:cNvSpPr/>
          <p:nvPr/>
        </p:nvSpPr>
        <p:spPr>
          <a:xfrm>
            <a:off x="8706917" y="3205886"/>
            <a:ext cx="25685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年 324.6 万円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8450885" y="3754526"/>
            <a:ext cx="3080614" cy="2048256"/>
          </a:xfrm>
          <a:prstGeom prst="roundRect">
            <a:avLst>
              <a:gd name="adj" fmla="val 2679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706917" y="3919118"/>
            <a:ext cx="256855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この試算の前提</a:t>
            </a:r>
            <a:endParaRPr lang="en-US" sz="1100" dirty="0"/>
          </a:p>
        </p:txBody>
      </p:sp>
      <p:pic>
        <p:nvPicPr>
          <p:cNvPr id="18" name="Image 1" descr="/home/user/suzuki-ceo/selfcafe-miraiya-deck/assets/icons/LuCheck-gre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25205" y="4257446"/>
            <a:ext cx="164592" cy="164592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999525" y="4211726"/>
            <a:ext cx="22576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月間来客数 3,760人</a:t>
            </a:r>
            <a:endParaRPr lang="en-US" sz="950" dirty="0"/>
          </a:p>
        </p:txBody>
      </p:sp>
      <p:pic>
        <p:nvPicPr>
          <p:cNvPr id="20" name="Image 2" descr="/home/user/suzuki-ceo/selfcafe-miraiya-deck/assets/icons/LuCheck-gree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25205" y="4623206"/>
            <a:ext cx="164592" cy="16459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8999525" y="4577486"/>
            <a:ext cx="22576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うち約56％が1杯ご購入</a:t>
            </a:r>
            <a:endParaRPr lang="en-US" sz="950" dirty="0"/>
          </a:p>
        </p:txBody>
      </p:sp>
      <p:pic>
        <p:nvPicPr>
          <p:cNvPr id="22" name="Image 3" descr="/home/user/suzuki-ceo/selfcafe-miraiya-deck/assets/icons/LuCheck-gree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25205" y="4988966"/>
            <a:ext cx="164592" cy="164592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8999525" y="4943246"/>
            <a:ext cx="22576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書店併設2店の実績の約1.5倍</a:t>
            </a:r>
            <a:endParaRPr lang="en-US" sz="950" dirty="0"/>
          </a:p>
        </p:txBody>
      </p:sp>
      <p:pic>
        <p:nvPicPr>
          <p:cNvPr id="24" name="Image 4" descr="/home/user/suzuki-ceo/selfcafe-miraiya-deck/assets/icons/LuCheck-gree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25205" y="5354726"/>
            <a:ext cx="164592" cy="164592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8999525" y="5309006"/>
            <a:ext cx="22576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原価・水道光熱費は本部負担</a:t>
            </a:r>
            <a:endParaRPr lang="en-US" sz="950" dirty="0"/>
          </a:p>
        </p:txBody>
      </p:sp>
      <p:sp>
        <p:nvSpPr>
          <p:cNvPr id="26" name="Text 18"/>
          <p:cNvSpPr/>
          <p:nvPr/>
        </p:nvSpPr>
        <p:spPr>
          <a:xfrm>
            <a:off x="660197" y="6199632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想定値であり、売上・お受取額を保証するものではありません。金額はすべて税抜。実際の販売杯数により変動します。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収益シミュレーション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土浦店 のお受取イメージ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30坪／59席／想定 1日60杯・1杯420円（税抜）で試算しています。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0197" y="1651406"/>
          <a:ext cx="7406640" cy="914400"/>
        </p:xfrm>
        <a:graphic>
          <a:graphicData uri="http://schemas.openxmlformats.org/drawingml/2006/table">
            <a:tbl>
              <a:tblPr/>
              <a:tblGrid>
                <a:gridCol w="5029200"/>
                <a:gridCol w="237744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項目（月次・円／税抜）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23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金額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23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1日あたりの販売杯数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60杯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月間販売杯数（30日）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1,800杯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セルフカフェ売上（1杯420円）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0683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756,000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　うち 売上の25％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189,000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　＋ 月額固定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50,000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A876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貴社お受取額（月）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700" b="1" dirty="0">
                          <a:solidFill>
                            <a:srgbClr val="A876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239,000</a:t>
                      </a:r>
                      <a:endParaRPr lang="en-US" sz="1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年間換算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2,868,000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8450885" y="1651406"/>
            <a:ext cx="3080614" cy="1920240"/>
          </a:xfrm>
          <a:prstGeom prst="roundRect">
            <a:avLst>
              <a:gd name="adj" fmla="val 2857"/>
            </a:avLst>
          </a:prstGeom>
          <a:solidFill>
            <a:srgbClr val="0C5230"/>
          </a:solidFill>
          <a:ln/>
        </p:spPr>
      </p:sp>
      <p:sp>
        <p:nvSpPr>
          <p:cNvPr id="11" name="Text 7"/>
          <p:cNvSpPr/>
          <p:nvPr/>
        </p:nvSpPr>
        <p:spPr>
          <a:xfrm>
            <a:off x="8706917" y="1852574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CC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REVENUE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8706917" y="2090318"/>
            <a:ext cx="25685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貴社お受取額（想定）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8706917" y="2382926"/>
            <a:ext cx="256855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 </a:t>
            </a:r>
            <a:r>
              <a:rPr lang="en-US" sz="3200" b="1" dirty="0">
                <a:solidFill>
                  <a:srgbClr val="F0C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23.9</a:t>
            </a:r>
            <a:r>
              <a:rPr lang="en-US" sz="1400" b="1" dirty="0">
                <a:solidFill>
                  <a:srgbClr val="F0C0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万円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8706917" y="3096158"/>
            <a:ext cx="2568550" cy="10058"/>
          </a:xfrm>
          <a:prstGeom prst="rect">
            <a:avLst/>
          </a:prstGeom>
          <a:solidFill>
            <a:srgbClr val="2A7A4E"/>
          </a:solidFill>
          <a:ln/>
        </p:spPr>
      </p:sp>
      <p:sp>
        <p:nvSpPr>
          <p:cNvPr id="15" name="Text 11"/>
          <p:cNvSpPr/>
          <p:nvPr/>
        </p:nvSpPr>
        <p:spPr>
          <a:xfrm>
            <a:off x="8706917" y="3205886"/>
            <a:ext cx="25685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年 286.8 万円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8450885" y="3754526"/>
            <a:ext cx="3080614" cy="2048256"/>
          </a:xfrm>
          <a:prstGeom prst="roundRect">
            <a:avLst>
              <a:gd name="adj" fmla="val 2679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706917" y="3919118"/>
            <a:ext cx="256855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この試算の前提</a:t>
            </a:r>
            <a:endParaRPr lang="en-US" sz="1100" dirty="0"/>
          </a:p>
        </p:txBody>
      </p:sp>
      <p:pic>
        <p:nvPicPr>
          <p:cNvPr id="18" name="Image 1" descr="/home/user/suzuki-ceo/selfcafe-miraiya-deck/assets/icons/LuCheck-gre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25205" y="4257446"/>
            <a:ext cx="164592" cy="164592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999525" y="4211726"/>
            <a:ext cx="22576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月間来客数 4,027人</a:t>
            </a:r>
            <a:endParaRPr lang="en-US" sz="950" dirty="0"/>
          </a:p>
        </p:txBody>
      </p:sp>
      <p:pic>
        <p:nvPicPr>
          <p:cNvPr id="20" name="Image 2" descr="/home/user/suzuki-ceo/selfcafe-miraiya-deck/assets/icons/LuCheck-gree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25205" y="4623206"/>
            <a:ext cx="164592" cy="16459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8999525" y="4577486"/>
            <a:ext cx="22576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うち約45％が1杯ご購入</a:t>
            </a:r>
            <a:endParaRPr lang="en-US" sz="950" dirty="0"/>
          </a:p>
        </p:txBody>
      </p:sp>
      <p:pic>
        <p:nvPicPr>
          <p:cNvPr id="22" name="Image 3" descr="/home/user/suzuki-ceo/selfcafe-miraiya-deck/assets/icons/LuCheck-gree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25205" y="4988966"/>
            <a:ext cx="164592" cy="164592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8999525" y="4943246"/>
            <a:ext cx="22576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書店併設2店の実績の約1.5倍</a:t>
            </a:r>
            <a:endParaRPr lang="en-US" sz="950" dirty="0"/>
          </a:p>
        </p:txBody>
      </p:sp>
      <p:pic>
        <p:nvPicPr>
          <p:cNvPr id="24" name="Image 4" descr="/home/user/suzuki-ceo/selfcafe-miraiya-deck/assets/icons/LuCheck-gree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25205" y="5354726"/>
            <a:ext cx="164592" cy="164592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8999525" y="5309006"/>
            <a:ext cx="22576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原価・水道光熱費は本部負担</a:t>
            </a:r>
            <a:endParaRPr lang="en-US" sz="950" dirty="0"/>
          </a:p>
        </p:txBody>
      </p:sp>
      <p:sp>
        <p:nvSpPr>
          <p:cNvPr id="26" name="Text 18"/>
          <p:cNvSpPr/>
          <p:nvPr/>
        </p:nvSpPr>
        <p:spPr>
          <a:xfrm>
            <a:off x="660197" y="6199632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想定値であり、売上・お受取額を保証するものではありません。金額はすべて税抜。実際の販売杯数により変動します。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運営と導入条件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お願いするのは1日15分の清掃と補充だけ。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運営主体はセルフカフェ本部です。カフェ専任のスタッフを置く必要はありません。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60197" y="1651406"/>
            <a:ext cx="5943600" cy="749808"/>
          </a:xfrm>
          <a:prstGeom prst="roundRect">
            <a:avLst>
              <a:gd name="adj" fmla="val 7317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34517" y="1742846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店内清掃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934517" y="2017166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テーブル・床・トイレの清掃、ゴミ回収。営業前後の都合の良い時間で結構です。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660197" y="2510942"/>
            <a:ext cx="5943600" cy="749808"/>
          </a:xfrm>
          <a:prstGeom prst="roundRect">
            <a:avLst>
              <a:gd name="adj" fmla="val 7317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34517" y="2602382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原料・備品の補充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934517" y="2876702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コーヒー豆・カップ等の補充。在庫は本部から定期配送します。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660197" y="3370478"/>
            <a:ext cx="5943600" cy="749808"/>
          </a:xfrm>
          <a:prstGeom prst="roundRect">
            <a:avLst>
              <a:gd name="adj" fmla="val 7317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34517" y="3461918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発注・棚卸（月1〜2回）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934517" y="3736238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定期配送に合わせた発注と在庫の棚卸のみです。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660197" y="4303166"/>
            <a:ext cx="5943600" cy="822960"/>
          </a:xfrm>
          <a:prstGeom prst="roundRect">
            <a:avLst>
              <a:gd name="adj" fmla="val 6667"/>
            </a:avLst>
          </a:prstGeom>
          <a:solidFill>
            <a:srgbClr val="0C5230"/>
          </a:solidFill>
          <a:ln/>
        </p:spPr>
      </p:sp>
      <p:pic>
        <p:nvPicPr>
          <p:cNvPr id="19" name="Image 1" descr="/home/user/suzuki-ceo/selfcafe-miraiya-deck/assets/icons/LuLifeBuoy-pa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4517" y="4540910"/>
            <a:ext cx="329184" cy="329184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1410005" y="4303166"/>
            <a:ext cx="4919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清掃はパートナーへの委託も可能です（月3万円程度）。お客様からのお問い合わせは本部が対応します。</a:t>
            </a:r>
            <a:endParaRPr lang="en-US" sz="1000" dirty="0"/>
          </a:p>
        </p:txBody>
      </p:sp>
      <p:sp>
        <p:nvSpPr>
          <p:cNvPr id="21" name="Shape 17"/>
          <p:cNvSpPr/>
          <p:nvPr/>
        </p:nvSpPr>
        <p:spPr>
          <a:xfrm>
            <a:off x="6987845" y="1651406"/>
            <a:ext cx="4543654" cy="3474720"/>
          </a:xfrm>
          <a:prstGeom prst="roundRect">
            <a:avLst>
              <a:gd name="adj" fmla="val 1579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7262165" y="1870862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CONDITIONS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7262165" y="2181758"/>
            <a:ext cx="39950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初期費用</a:t>
            </a:r>
            <a:endParaRPr lang="en-US" sz="950" dirty="0"/>
          </a:p>
        </p:txBody>
      </p:sp>
      <p:sp>
        <p:nvSpPr>
          <p:cNvPr id="24" name="Text 20"/>
          <p:cNvSpPr/>
          <p:nvPr/>
        </p:nvSpPr>
        <p:spPr>
          <a:xfrm>
            <a:off x="7262165" y="2382926"/>
            <a:ext cx="39950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30万〜50万円程度（機器設置費のみ）</a:t>
            </a:r>
            <a:endParaRPr lang="en-US" sz="1150" dirty="0"/>
          </a:p>
        </p:txBody>
      </p:sp>
      <p:sp>
        <p:nvSpPr>
          <p:cNvPr id="25" name="Shape 21"/>
          <p:cNvSpPr/>
          <p:nvPr/>
        </p:nvSpPr>
        <p:spPr>
          <a:xfrm>
            <a:off x="7262165" y="2675534"/>
            <a:ext cx="39950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26" name="Text 22"/>
          <p:cNvSpPr/>
          <p:nvPr/>
        </p:nvSpPr>
        <p:spPr>
          <a:xfrm>
            <a:off x="7262165" y="2748686"/>
            <a:ext cx="39950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加盟金・研修費</a:t>
            </a:r>
            <a:endParaRPr lang="en-US" sz="950" dirty="0"/>
          </a:p>
        </p:txBody>
      </p:sp>
      <p:sp>
        <p:nvSpPr>
          <p:cNvPr id="27" name="Text 23"/>
          <p:cNvSpPr/>
          <p:nvPr/>
        </p:nvSpPr>
        <p:spPr>
          <a:xfrm>
            <a:off x="7262165" y="2949854"/>
            <a:ext cx="39950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なし</a:t>
            </a:r>
            <a:endParaRPr lang="en-US" sz="1150" dirty="0"/>
          </a:p>
        </p:txBody>
      </p:sp>
      <p:sp>
        <p:nvSpPr>
          <p:cNvPr id="28" name="Shape 24"/>
          <p:cNvSpPr/>
          <p:nvPr/>
        </p:nvSpPr>
        <p:spPr>
          <a:xfrm>
            <a:off x="7262165" y="3242462"/>
            <a:ext cx="39950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29" name="Text 25"/>
          <p:cNvSpPr/>
          <p:nvPr/>
        </p:nvSpPr>
        <p:spPr>
          <a:xfrm>
            <a:off x="7262165" y="3315614"/>
            <a:ext cx="39950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原料・水道光熱費</a:t>
            </a:r>
            <a:endParaRPr lang="en-US" sz="950" dirty="0"/>
          </a:p>
        </p:txBody>
      </p:sp>
      <p:sp>
        <p:nvSpPr>
          <p:cNvPr id="30" name="Text 26"/>
          <p:cNvSpPr/>
          <p:nvPr/>
        </p:nvSpPr>
        <p:spPr>
          <a:xfrm>
            <a:off x="7262165" y="3516782"/>
            <a:ext cx="39950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本部負担</a:t>
            </a:r>
            <a:endParaRPr lang="en-US" sz="1150" dirty="0"/>
          </a:p>
        </p:txBody>
      </p:sp>
      <p:sp>
        <p:nvSpPr>
          <p:cNvPr id="31" name="Shape 27"/>
          <p:cNvSpPr/>
          <p:nvPr/>
        </p:nvSpPr>
        <p:spPr>
          <a:xfrm>
            <a:off x="7262165" y="3809390"/>
            <a:ext cx="39950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32" name="Text 28"/>
          <p:cNvSpPr/>
          <p:nvPr/>
        </p:nvSpPr>
        <p:spPr>
          <a:xfrm>
            <a:off x="7262165" y="3882542"/>
            <a:ext cx="39950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お支払い</a:t>
            </a:r>
            <a:endParaRPr lang="en-US" sz="950" dirty="0"/>
          </a:p>
        </p:txBody>
      </p:sp>
      <p:sp>
        <p:nvSpPr>
          <p:cNvPr id="33" name="Text 29"/>
          <p:cNvSpPr/>
          <p:nvPr/>
        </p:nvSpPr>
        <p:spPr>
          <a:xfrm>
            <a:off x="7262165" y="4083710"/>
            <a:ext cx="39950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セルフカフェ売上の25％ ＋ 月額5万円</a:t>
            </a:r>
            <a:endParaRPr lang="en-US" sz="1150" dirty="0"/>
          </a:p>
        </p:txBody>
      </p:sp>
      <p:sp>
        <p:nvSpPr>
          <p:cNvPr id="34" name="Shape 30"/>
          <p:cNvSpPr/>
          <p:nvPr/>
        </p:nvSpPr>
        <p:spPr>
          <a:xfrm>
            <a:off x="7262165" y="4376318"/>
            <a:ext cx="39950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35" name="Text 31"/>
          <p:cNvSpPr/>
          <p:nvPr/>
        </p:nvSpPr>
        <p:spPr>
          <a:xfrm>
            <a:off x="7262165" y="4449470"/>
            <a:ext cx="39950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契約期間</a:t>
            </a:r>
            <a:endParaRPr lang="en-US" sz="950" dirty="0"/>
          </a:p>
        </p:txBody>
      </p:sp>
      <p:sp>
        <p:nvSpPr>
          <p:cNvPr id="36" name="Text 32"/>
          <p:cNvSpPr/>
          <p:nvPr/>
        </p:nvSpPr>
        <p:spPr>
          <a:xfrm>
            <a:off x="7262165" y="4650638"/>
            <a:ext cx="39950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最低3年〜（本部審査あり）</a:t>
            </a:r>
            <a:endParaRPr lang="en-US" sz="1150" dirty="0"/>
          </a:p>
        </p:txBody>
      </p:sp>
      <p:pic>
        <p:nvPicPr>
          <p:cNvPr id="37" name="Image 2" descr="/home/user/suzuki-ceo/selfcafe-miraiya-deck/assets/photos/.crops/p24-install-1189x96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197" y="5272430"/>
            <a:ext cx="10871302" cy="877824"/>
          </a:xfrm>
          <a:prstGeom prst="rect">
            <a:avLst/>
          </a:prstGeom>
        </p:spPr>
      </p:pic>
      <p:sp>
        <p:nvSpPr>
          <p:cNvPr id="38" name="Shape 33"/>
          <p:cNvSpPr/>
          <p:nvPr/>
        </p:nvSpPr>
        <p:spPr>
          <a:xfrm>
            <a:off x="660197" y="5272430"/>
            <a:ext cx="10871302" cy="877824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sp>
        <p:nvSpPr>
          <p:cNvPr id="39" name="Text 34"/>
          <p:cNvSpPr/>
          <p:nvPr/>
        </p:nvSpPr>
        <p:spPr>
          <a:xfrm>
            <a:off x="660197" y="6345936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既存什器の再利用可否・工事範囲は現地確認のうえ個別にご相談させてください。金額は税抜・目安です。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今後の進め方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現地確認から、最短2〜3ヶ月で切り替えできます。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まずは2店舗の現地確認と、条件のすり合わせからお願いできればと存じます。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60197" y="1651406"/>
            <a:ext cx="2013326" cy="2487168"/>
          </a:xfrm>
          <a:prstGeom prst="roundRect">
            <a:avLst>
              <a:gd name="adj" fmla="val 2725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79653" y="187086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01</a:t>
            </a:r>
            <a:endParaRPr lang="en-US" sz="900" dirty="0"/>
          </a:p>
        </p:txBody>
      </p:sp>
      <p:pic>
        <p:nvPicPr>
          <p:cNvPr id="11" name="Image 1" descr="/home/user/suzuki-ceo/selfcafe-miraiya-deck/assets/icons/LuMessagesSquare-gre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5155" y="1834286"/>
            <a:ext cx="329184" cy="32918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879653" y="2218334"/>
            <a:ext cx="15744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ご検討・ご相談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879653" y="2730398"/>
            <a:ext cx="15744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14" name="Text 10"/>
          <p:cNvSpPr/>
          <p:nvPr/>
        </p:nvSpPr>
        <p:spPr>
          <a:xfrm>
            <a:off x="879653" y="2858414"/>
            <a:ext cx="157441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本ご提案へのご質問・条件のすり合わせ。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2874691" y="1651406"/>
            <a:ext cx="2013326" cy="2487168"/>
          </a:xfrm>
          <a:prstGeom prst="roundRect">
            <a:avLst>
              <a:gd name="adj" fmla="val 2725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3094147" y="187086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02</a:t>
            </a:r>
            <a:endParaRPr lang="en-US" sz="900" dirty="0"/>
          </a:p>
        </p:txBody>
      </p:sp>
      <p:pic>
        <p:nvPicPr>
          <p:cNvPr id="17" name="Image 2" descr="/home/user/suzuki-ceo/selfcafe-miraiya-deck/assets/icons/LuFileSearch-gree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29649" y="1834286"/>
            <a:ext cx="329184" cy="329184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3094147" y="2218334"/>
            <a:ext cx="15744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現地確認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3094147" y="2730398"/>
            <a:ext cx="15744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20" name="Text 15"/>
          <p:cNvSpPr/>
          <p:nvPr/>
        </p:nvSpPr>
        <p:spPr>
          <a:xfrm>
            <a:off x="3094147" y="2858414"/>
            <a:ext cx="157441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区画・電源・給排水・動線を確認し、レイアウトを設計。</a:t>
            </a:r>
            <a:endParaRPr lang="en-US" sz="950" dirty="0"/>
          </a:p>
        </p:txBody>
      </p:sp>
      <p:sp>
        <p:nvSpPr>
          <p:cNvPr id="21" name="Shape 16"/>
          <p:cNvSpPr/>
          <p:nvPr/>
        </p:nvSpPr>
        <p:spPr>
          <a:xfrm>
            <a:off x="5089185" y="1651406"/>
            <a:ext cx="2013326" cy="2487168"/>
          </a:xfrm>
          <a:prstGeom prst="roundRect">
            <a:avLst>
              <a:gd name="adj" fmla="val 2725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5308641" y="187086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03</a:t>
            </a:r>
            <a:endParaRPr lang="en-US" sz="900" dirty="0"/>
          </a:p>
        </p:txBody>
      </p:sp>
      <p:pic>
        <p:nvPicPr>
          <p:cNvPr id="23" name="Image 3" descr="/home/user/suzuki-ceo/selfcafe-miraiya-deck/assets/icons/LuPenLine-gree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4143" y="1834286"/>
            <a:ext cx="329184" cy="329184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5308641" y="2218334"/>
            <a:ext cx="15744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契約締結</a:t>
            </a:r>
            <a:endParaRPr lang="en-US" sz="1300" dirty="0"/>
          </a:p>
        </p:txBody>
      </p:sp>
      <p:sp>
        <p:nvSpPr>
          <p:cNvPr id="25" name="Shape 19"/>
          <p:cNvSpPr/>
          <p:nvPr/>
        </p:nvSpPr>
        <p:spPr>
          <a:xfrm>
            <a:off x="5308641" y="2730398"/>
            <a:ext cx="15744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26" name="Text 20"/>
          <p:cNvSpPr/>
          <p:nvPr/>
        </p:nvSpPr>
        <p:spPr>
          <a:xfrm>
            <a:off x="5308641" y="2858414"/>
            <a:ext cx="157441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条件確定のうえ業務委託契約を締結。</a:t>
            </a:r>
            <a:endParaRPr lang="en-US" sz="950" dirty="0"/>
          </a:p>
        </p:txBody>
      </p:sp>
      <p:sp>
        <p:nvSpPr>
          <p:cNvPr id="27" name="Shape 21"/>
          <p:cNvSpPr/>
          <p:nvPr/>
        </p:nvSpPr>
        <p:spPr>
          <a:xfrm>
            <a:off x="7303679" y="1651406"/>
            <a:ext cx="2013326" cy="2487168"/>
          </a:xfrm>
          <a:prstGeom prst="roundRect">
            <a:avLst>
              <a:gd name="adj" fmla="val 2725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28" name="Text 22"/>
          <p:cNvSpPr/>
          <p:nvPr/>
        </p:nvSpPr>
        <p:spPr>
          <a:xfrm>
            <a:off x="7523135" y="187086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04</a:t>
            </a:r>
            <a:endParaRPr lang="en-US" sz="900" dirty="0"/>
          </a:p>
        </p:txBody>
      </p:sp>
      <p:pic>
        <p:nvPicPr>
          <p:cNvPr id="29" name="Image 4" descr="/home/user/suzuki-ceo/selfcafe-miraiya-deck/assets/icons/LuHammer-gree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58636" y="1834286"/>
            <a:ext cx="329184" cy="329184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7523135" y="2218334"/>
            <a:ext cx="15744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設置工事</a:t>
            </a:r>
            <a:endParaRPr lang="en-US" sz="1300" dirty="0"/>
          </a:p>
        </p:txBody>
      </p:sp>
      <p:sp>
        <p:nvSpPr>
          <p:cNvPr id="31" name="Shape 24"/>
          <p:cNvSpPr/>
          <p:nvPr/>
        </p:nvSpPr>
        <p:spPr>
          <a:xfrm>
            <a:off x="7523135" y="2730398"/>
            <a:ext cx="15744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32" name="Text 25"/>
          <p:cNvSpPr/>
          <p:nvPr/>
        </p:nvSpPr>
        <p:spPr>
          <a:xfrm>
            <a:off x="7523135" y="2858414"/>
            <a:ext cx="157441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機器設置・什器調整。既存什器は可能な範囲で再利用。</a:t>
            </a:r>
            <a:endParaRPr lang="en-US" sz="950" dirty="0"/>
          </a:p>
        </p:txBody>
      </p:sp>
      <p:sp>
        <p:nvSpPr>
          <p:cNvPr id="33" name="Shape 26"/>
          <p:cNvSpPr/>
          <p:nvPr/>
        </p:nvSpPr>
        <p:spPr>
          <a:xfrm>
            <a:off x="9518172" y="1651406"/>
            <a:ext cx="2013326" cy="2487168"/>
          </a:xfrm>
          <a:prstGeom prst="roundRect">
            <a:avLst>
              <a:gd name="adj" fmla="val 2725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34" name="Text 27"/>
          <p:cNvSpPr/>
          <p:nvPr/>
        </p:nvSpPr>
        <p:spPr>
          <a:xfrm>
            <a:off x="9737628" y="187086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05</a:t>
            </a:r>
            <a:endParaRPr lang="en-US" sz="900" dirty="0"/>
          </a:p>
        </p:txBody>
      </p:sp>
      <p:pic>
        <p:nvPicPr>
          <p:cNvPr id="35" name="Image 5" descr="/home/user/suzuki-ceo/selfcafe-miraiya-deck/assets/icons/LuStore-gree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73130" y="1834286"/>
            <a:ext cx="329184" cy="329184"/>
          </a:xfrm>
          <a:prstGeom prst="rect">
            <a:avLst/>
          </a:prstGeom>
        </p:spPr>
      </p:pic>
      <p:sp>
        <p:nvSpPr>
          <p:cNvPr id="36" name="Text 28"/>
          <p:cNvSpPr/>
          <p:nvPr/>
        </p:nvSpPr>
        <p:spPr>
          <a:xfrm>
            <a:off x="9737628" y="2218334"/>
            <a:ext cx="15744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運営開始</a:t>
            </a:r>
            <a:endParaRPr lang="en-US" sz="1300" dirty="0"/>
          </a:p>
        </p:txBody>
      </p:sp>
      <p:sp>
        <p:nvSpPr>
          <p:cNvPr id="37" name="Shape 29"/>
          <p:cNvSpPr/>
          <p:nvPr/>
        </p:nvSpPr>
        <p:spPr>
          <a:xfrm>
            <a:off x="9737628" y="2730398"/>
            <a:ext cx="15744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38" name="Text 30"/>
          <p:cNvSpPr/>
          <p:nvPr/>
        </p:nvSpPr>
        <p:spPr>
          <a:xfrm>
            <a:off x="9737628" y="2858414"/>
            <a:ext cx="157441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オープン後の集客・お問い合わせ対応は本部が担当。</a:t>
            </a:r>
            <a:endParaRPr lang="en-US" sz="950" dirty="0"/>
          </a:p>
        </p:txBody>
      </p:sp>
      <p:sp>
        <p:nvSpPr>
          <p:cNvPr id="39" name="Shape 31"/>
          <p:cNvSpPr/>
          <p:nvPr/>
        </p:nvSpPr>
        <p:spPr>
          <a:xfrm>
            <a:off x="660197" y="4376318"/>
            <a:ext cx="10871302" cy="1737360"/>
          </a:xfrm>
          <a:prstGeom prst="roundRect">
            <a:avLst>
              <a:gd name="adj" fmla="val 3158"/>
            </a:avLst>
          </a:prstGeom>
          <a:solidFill>
            <a:srgbClr val="0C5230"/>
          </a:solidFill>
          <a:ln/>
        </p:spPr>
      </p:sp>
      <p:pic>
        <p:nvPicPr>
          <p:cNvPr id="40" name="Image 6" descr="/home/user/suzuki-ceo/selfcafe-miraiya-deck/assets/logo-whit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2533" y="4632350"/>
            <a:ext cx="2093976" cy="298094"/>
          </a:xfrm>
          <a:prstGeom prst="rect">
            <a:avLst/>
          </a:prstGeom>
        </p:spPr>
      </p:pic>
      <p:sp>
        <p:nvSpPr>
          <p:cNvPr id="41" name="Text 32"/>
          <p:cNvSpPr/>
          <p:nvPr/>
        </p:nvSpPr>
        <p:spPr>
          <a:xfrm>
            <a:off x="1062533" y="5071262"/>
            <a:ext cx="5852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ご不明な点は、お気軽にお問い合わせください。</a:t>
            </a:r>
            <a:endParaRPr lang="en-US" sz="1300" dirty="0"/>
          </a:p>
        </p:txBody>
      </p:sp>
      <p:sp>
        <p:nvSpPr>
          <p:cNvPr id="42" name="Text 33"/>
          <p:cNvSpPr/>
          <p:nvPr/>
        </p:nvSpPr>
        <p:spPr>
          <a:xfrm>
            <a:off x="1062533" y="5382158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現地確認は日程を合わせて伺います。収益試算の条件変更もその場でご相談いただけます。</a:t>
            </a:r>
            <a:endParaRPr lang="en-US" sz="1000" dirty="0"/>
          </a:p>
        </p:txBody>
      </p:sp>
      <p:pic>
        <p:nvPicPr>
          <p:cNvPr id="43" name="Image 7" descr="/home/user/suzuki-ceo/selfcafe-miraiya-deck/assets/icons/LuPhone-pal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26757" y="4650638"/>
            <a:ext cx="219456" cy="219456"/>
          </a:xfrm>
          <a:prstGeom prst="rect">
            <a:avLst/>
          </a:prstGeom>
        </p:spPr>
      </p:pic>
      <p:sp>
        <p:nvSpPr>
          <p:cNvPr id="44" name="Text 34"/>
          <p:cNvSpPr/>
          <p:nvPr/>
        </p:nvSpPr>
        <p:spPr>
          <a:xfrm>
            <a:off x="7792517" y="459577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CC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</a:t>
            </a:r>
            <a:endParaRPr lang="en-US" sz="900" dirty="0"/>
          </a:p>
        </p:txBody>
      </p:sp>
      <p:sp>
        <p:nvSpPr>
          <p:cNvPr id="45" name="Text 35"/>
          <p:cNvSpPr/>
          <p:nvPr/>
        </p:nvSpPr>
        <p:spPr>
          <a:xfrm>
            <a:off x="8615477" y="4595774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052-879-3557</a:t>
            </a:r>
            <a:endParaRPr lang="en-US" sz="1300" dirty="0"/>
          </a:p>
        </p:txBody>
      </p:sp>
      <p:pic>
        <p:nvPicPr>
          <p:cNvPr id="46" name="Image 8" descr="/home/user/suzuki-ceo/selfcafe-miraiya-deck/assets/icons/LuMail-pale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26757" y="5107838"/>
            <a:ext cx="219456" cy="219456"/>
          </a:xfrm>
          <a:prstGeom prst="rect">
            <a:avLst/>
          </a:prstGeom>
        </p:spPr>
      </p:pic>
      <p:sp>
        <p:nvSpPr>
          <p:cNvPr id="47" name="Text 36"/>
          <p:cNvSpPr/>
          <p:nvPr/>
        </p:nvSpPr>
        <p:spPr>
          <a:xfrm>
            <a:off x="7792517" y="505297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CC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E-MAIL</a:t>
            </a:r>
            <a:endParaRPr lang="en-US" sz="900" dirty="0"/>
          </a:p>
        </p:txBody>
      </p:sp>
      <p:sp>
        <p:nvSpPr>
          <p:cNvPr id="48" name="Text 37"/>
          <p:cNvSpPr/>
          <p:nvPr/>
        </p:nvSpPr>
        <p:spPr>
          <a:xfrm>
            <a:off x="8615477" y="5052974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info@selfcafe.jp</a:t>
            </a:r>
            <a:endParaRPr lang="en-US" sz="1300" dirty="0"/>
          </a:p>
        </p:txBody>
      </p:sp>
      <p:pic>
        <p:nvPicPr>
          <p:cNvPr id="49" name="Image 9" descr="/home/user/suzuki-ceo/selfcafe-miraiya-deck/assets/icons/LuGlobe-pale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426757" y="5565038"/>
            <a:ext cx="219456" cy="219456"/>
          </a:xfrm>
          <a:prstGeom prst="rect">
            <a:avLst/>
          </a:prstGeom>
        </p:spPr>
      </p:pic>
      <p:sp>
        <p:nvSpPr>
          <p:cNvPr id="50" name="Text 38"/>
          <p:cNvSpPr/>
          <p:nvPr/>
        </p:nvSpPr>
        <p:spPr>
          <a:xfrm>
            <a:off x="7792517" y="551017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CC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</a:t>
            </a:r>
            <a:endParaRPr lang="en-US" sz="900" dirty="0"/>
          </a:p>
        </p:txBody>
      </p:sp>
      <p:sp>
        <p:nvSpPr>
          <p:cNvPr id="51" name="Text 39"/>
          <p:cNvSpPr/>
          <p:nvPr/>
        </p:nvSpPr>
        <p:spPr>
          <a:xfrm>
            <a:off x="8615477" y="5510174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https://selfcafe.jp/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セルフカフェ × 未来屋書店 業態転換のご提案</dc:title>
  <dc:subject>PptxGenJS Presentation</dc:subject>
  <dc:creator>セルフカフェ株式会社</dc:creator>
  <cp:lastModifiedBy>セルフカフェ株式会社</cp:lastModifiedBy>
  <cp:revision>1</cp:revision>
  <dcterms:created xsi:type="dcterms:W3CDTF">2026-09-01T05:09:49Z</dcterms:created>
  <dcterms:modified xsi:type="dcterms:W3CDTF">2026-09-01T05:09:49Z</dcterms:modified>
</cp:coreProperties>
</file>