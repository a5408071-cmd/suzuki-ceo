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png"/><Relationship Id="rId7" Type="http://schemas.openxmlformats.org/officeDocument/2006/relationships/image" Target="../media/image-11-6.png"/><Relationship Id="rId8" Type="http://schemas.openxmlformats.org/officeDocument/2006/relationships/image" Target="../media/image-11-6.png"/><Relationship Id="rId9" Type="http://schemas.openxmlformats.org/officeDocument/2006/relationships/image" Target="../media/image-11-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水道光熱費・通信費・消耗品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水道光熱費・通信費・消耗品は貴社のご負担（実費）となります。既存什器の再利用可否・工事範囲は現地確認のうえ個別にご相談させてください。金額は税抜・目安です。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同じアングルで、現況と業態転換後の完成予想パースを並べました。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48360" y="1651406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1048360" y="165140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pic>
        <p:nvPicPr>
          <p:cNvPr id="11" name="Image 1" descr="/home/user/suzuki-ceo/selfcafe-miraiya-deck/assets/photos/.crops/tsuchiura-before-exterior-352x19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60" y="1938528"/>
            <a:ext cx="3218688" cy="181051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48360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2" descr="/home/user/suzuki-ceo/selfcafe-miraiya-deck/assets/photos/.crops/tsuchiura-before-overview-352x19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504" y="1938528"/>
            <a:ext cx="3218688" cy="181051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486504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5" name="Image 3" descr="/home/user/suzuki-ceo/selfcafe-miraiya-deck/assets/photos/.crops/tsuchiura-before-cafe-352x19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48" y="1938528"/>
            <a:ext cx="3218688" cy="181051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924648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1048360" y="3858768"/>
            <a:ext cx="32004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8" name="Text 12"/>
          <p:cNvSpPr/>
          <p:nvPr/>
        </p:nvSpPr>
        <p:spPr>
          <a:xfrm>
            <a:off x="1048360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 ／ スタンダード仕様</a:t>
            </a:r>
            <a:endParaRPr lang="en-US" sz="950" dirty="0"/>
          </a:p>
        </p:txBody>
      </p:sp>
      <p:pic>
        <p:nvPicPr>
          <p:cNvPr id="19" name="Image 4" descr="/home/user/suzuki-ceo/selfcafe-miraiya-deck/assets/photos/.crops/tsuchiura-after-exterior-352x198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360" y="4151376"/>
            <a:ext cx="3218688" cy="1810512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048360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1" name="Image 5" descr="/home/user/suzuki-ceo/selfcafe-miraiya-deck/assets/photos/.crops/tsuchiura-after-overview-352x198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6504" y="4151376"/>
            <a:ext cx="3218688" cy="181051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4486504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3" name="Image 6" descr="/home/user/suzuki-ceo/selfcafe-miraiya-deck/assets/photos/.crops/tsuchiura-after-cafe-352x198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4648" y="4151376"/>
            <a:ext cx="3218688" cy="1810512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924648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1048360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店頭（モール通路側）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4486504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売場全景（児童書側から）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7924648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カフェ区画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60197" y="607161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パースは完成予想図です。什器の再利用可否・工事範囲は現地確認のうえ確定します。実際の仕上がりは設計内容により異なります。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同じアングルでの対比です。書店の売場構成はそのままに、カフェ区画だけを入れ替えます。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60440" y="1651406"/>
            <a:ext cx="32004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2" name="Text 9"/>
          <p:cNvSpPr/>
          <p:nvPr/>
        </p:nvSpPr>
        <p:spPr>
          <a:xfrm>
            <a:off x="6260440" y="165140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 ／ スタンダード仕様</a:t>
            </a:r>
            <a:endParaRPr lang="en-US" sz="950" dirty="0"/>
          </a:p>
        </p:txBody>
      </p:sp>
      <p:pic>
        <p:nvPicPr>
          <p:cNvPr id="13" name="Image 1" descr="/home/user/suzuki-ceo/selfcafe-miraiya-deck/assets/photos/.crops/akita-before-exterior-576x43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962302"/>
            <a:ext cx="5271059" cy="395329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0197" y="1962302"/>
            <a:ext cx="5271059" cy="395329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5" name="Image 2" descr="/home/user/suzuki-ceo/selfcafe-miraiya-deck/assets/photos/.crops/akita-after-exterior-576x43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440" y="1962302"/>
            <a:ext cx="5271059" cy="395329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60440" y="1962302"/>
            <a:ext cx="5271059" cy="395329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パースは完成予想図です。スタンダード仕様は印西牧の原店・新守山店など既存の書店併設店と同じ設えです。什器・造作の再利用可否および工事範囲は現地確認のうえ確定します。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内装グレード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書店一体型のプレミアム仕様もご用意しています。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木製書架と間接照明でまとめた特別仕様です。床仕上げはN案・G案の2案からお選びいただけます。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19456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N案：ライトフロア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5229" y="1651406"/>
            <a:ext cx="219456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2" name="Text 9"/>
          <p:cNvSpPr/>
          <p:nvPr/>
        </p:nvSpPr>
        <p:spPr>
          <a:xfrm>
            <a:off x="4345229" y="165140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G案：グリーンフロア</a:t>
            </a:r>
            <a:endParaRPr lang="en-US" sz="950" dirty="0"/>
          </a:p>
        </p:txBody>
      </p:sp>
      <p:pic>
        <p:nvPicPr>
          <p:cNvPr id="13" name="Image 1" descr="/home/user/suzuki-ceo/selfcafe-miraiya-deck/assets/photos/.crops/tsuchiura-premium-n-375x2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920240"/>
            <a:ext cx="3429000" cy="192881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0197" y="19202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88213" y="3391852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952805" y="3391852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endParaRPr lang="en-US" sz="950" dirty="0"/>
          </a:p>
        </p:txBody>
      </p:sp>
      <p:pic>
        <p:nvPicPr>
          <p:cNvPr id="17" name="Image 2" descr="/home/user/suzuki-ceo/selfcafe-miraiya-deck/assets/photos/.crops/tsuchiura-premium-g-375x21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229" y="1920240"/>
            <a:ext cx="3429000" cy="192881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45229" y="19202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473245" y="3391852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4637837" y="3391852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endParaRPr lang="en-US" sz="950" dirty="0"/>
          </a:p>
        </p:txBody>
      </p:sp>
      <p:pic>
        <p:nvPicPr>
          <p:cNvPr id="21" name="Image 3" descr="/home/user/suzuki-ceo/selfcafe-miraiya-deck/assets/photos/.crops/akita-premium-n-375x21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7" y="4324540"/>
            <a:ext cx="3429000" cy="1928813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60197" y="43245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88213" y="5796153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4" name="Text 18"/>
          <p:cNvSpPr/>
          <p:nvPr/>
        </p:nvSpPr>
        <p:spPr>
          <a:xfrm>
            <a:off x="952805" y="5796153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endParaRPr lang="en-US" sz="950" dirty="0"/>
          </a:p>
        </p:txBody>
      </p:sp>
      <p:pic>
        <p:nvPicPr>
          <p:cNvPr id="25" name="Image 4" descr="/home/user/suzuki-ceo/selfcafe-miraiya-deck/assets/photos/.crops/akita-premium-g-375x21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5229" y="4324540"/>
            <a:ext cx="3429000" cy="1928813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45229" y="43245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473245" y="5796153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8" name="Text 21"/>
          <p:cNvSpPr/>
          <p:nvPr/>
        </p:nvSpPr>
        <p:spPr>
          <a:xfrm>
            <a:off x="4637837" y="5796153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8048549" y="1920240"/>
            <a:ext cx="3482950" cy="1928813"/>
          </a:xfrm>
          <a:prstGeom prst="roundRect">
            <a:avLst>
              <a:gd name="adj" fmla="val 284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8286293" y="2066544"/>
            <a:ext cx="30074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プレミアム仕様の特徴</a:t>
            </a:r>
            <a:endParaRPr lang="en-US" sz="1050" dirty="0"/>
          </a:p>
        </p:txBody>
      </p:sp>
      <p:pic>
        <p:nvPicPr>
          <p:cNvPr id="31" name="Image 5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4581" y="2423160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78901" y="2377440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木製書架と一体の造作</a:t>
            </a:r>
            <a:endParaRPr lang="en-US" sz="900" dirty="0"/>
          </a:p>
        </p:txBody>
      </p:sp>
      <p:pic>
        <p:nvPicPr>
          <p:cNvPr id="33" name="Image 6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4581" y="2752344"/>
            <a:ext cx="164592" cy="1645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578901" y="2706624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間接照明・スタンドライト</a:t>
            </a:r>
            <a:endParaRPr lang="en-US" sz="900" dirty="0"/>
          </a:p>
        </p:txBody>
      </p:sp>
      <p:pic>
        <p:nvPicPr>
          <p:cNvPr id="35" name="Image 7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581" y="3081528"/>
            <a:ext cx="164592" cy="16459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8578901" y="3035808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落ち着いたダークトーンのサイン</a:t>
            </a:r>
            <a:endParaRPr lang="en-US" sz="900" dirty="0"/>
          </a:p>
        </p:txBody>
      </p:sp>
      <p:pic>
        <p:nvPicPr>
          <p:cNvPr id="37" name="Image 8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581" y="3410712"/>
            <a:ext cx="164592" cy="164592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8578901" y="3364992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「MIRAIYA Book &amp; Cafe」併記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048549" y="4324540"/>
            <a:ext cx="3482950" cy="1928813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8286293" y="4470844"/>
            <a:ext cx="30074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床仕上げの違い</a:t>
            </a:r>
            <a:endParaRPr lang="en-US" sz="1050" dirty="0"/>
          </a:p>
        </p:txBody>
      </p:sp>
      <p:sp>
        <p:nvSpPr>
          <p:cNvPr id="41" name="Text 30"/>
          <p:cNvSpPr/>
          <p:nvPr/>
        </p:nvSpPr>
        <p:spPr>
          <a:xfrm>
            <a:off x="8286293" y="4800028"/>
            <a:ext cx="30074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</a:t>
            </a:r>
            <a:endParaRPr lang="en-US" sz="950" dirty="0"/>
          </a:p>
        </p:txBody>
      </p:sp>
      <p:sp>
        <p:nvSpPr>
          <p:cNvPr id="42" name="Text 31"/>
          <p:cNvSpPr/>
          <p:nvPr/>
        </p:nvSpPr>
        <p:spPr>
          <a:xfrm>
            <a:off x="8286293" y="5001196"/>
            <a:ext cx="30074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書店売場の床と連続し、区画が広く開放的に見えます。</a:t>
            </a:r>
            <a:endParaRPr lang="en-US" sz="900" dirty="0"/>
          </a:p>
        </p:txBody>
      </p:sp>
      <p:sp>
        <p:nvSpPr>
          <p:cNvPr id="43" name="Text 32"/>
          <p:cNvSpPr/>
          <p:nvPr/>
        </p:nvSpPr>
        <p:spPr>
          <a:xfrm>
            <a:off x="8286293" y="5494972"/>
            <a:ext cx="30074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8286293" y="5696140"/>
            <a:ext cx="30074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カフェ区画が明確に分かれ、落ち着いた印象になります。</a:t>
            </a:r>
            <a:endParaRPr lang="en-US" sz="900" dirty="0"/>
          </a:p>
        </p:txBody>
      </p:sp>
      <p:sp>
        <p:nvSpPr>
          <p:cNvPr id="45" name="Text 34"/>
          <p:cNvSpPr/>
          <p:nvPr/>
        </p:nvSpPr>
        <p:spPr>
          <a:xfrm>
            <a:off x="660197" y="625449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パースは完成予想図です。スタンダード仕様・プレミアム仕様のいずれでもご提案可能です。仕様により工事費が変わるため、初期費用は現地確認のうえ個別にお見積りします。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既存店の実績から積み上げた想定です。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商業施設内・映画館隣接・館内の通行量を踏まえ、書店併設2店の実績平均の約1.9倍を想定しました。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30坪でも、お受取額はほとんど変わりません。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60坪・40坪・30坪の3パターンで試算しました。販売杯数を決めるのは坪数ではなく、館内の来客数だからです。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4901184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4901184"/>
            <a:ext cx="10249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この試算からは、30坪でのご提案をお薦めします。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60坪との月々のお受取額の差は3.2万円。残りの区画は売場など他の用途にご活用いただけます。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0197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3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576072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5413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杯数は坪数ではなく来客数で決まります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245413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館内の通行量と映画館の待ち時間需要が販売杯数を左右するため、区画を広げても杯数は大きく増えません。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33008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7" name="Image 2" descr="/home/user/suzuki-ceo/selfcafe-miraiya-deck/assets/icons/LuLandPlot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576072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8224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平日ベースなら30坪・約59席で十分です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6818224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土日は高稼働が見込めますが、平日の来店ペースであれば30坪の席数で受けきれると想定しています。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清掃業務委託費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水道光熱費（書店営業時間ベース）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500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〜 </a:t>
            </a: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706917" y="2766974"/>
            <a:ext cx="25685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加盟金100万円・工事費・出店準備金・保証金・諸経費を含む総投資予算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5452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228125" y="375452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1,200万円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0261397" y="3754526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21ヶ月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725205" y="410199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9228125" y="41019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261397" y="4101998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725205" y="444947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228125" y="444947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900万円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261397" y="4449470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450885" y="4961534"/>
            <a:ext cx="308061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7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35270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90965" y="4961534"/>
            <a:ext cx="22027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清掃を貴社スタッフで行う場合は、委託費3万円が不要となり、その分利益が増えます。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水道光熱費は書店営業時間ベース（空調・照明は書店と共用のため24H営業想定より低く置いています）。投資回収は坪数別の総投資予算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同じ条件で、2つの方式を並べました。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同じ販売杯数の想定で業務委託型とFCプランを比較しています。ご検討の材料としてご覧ください。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月次のお受取額・営業利益の比較（万円）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82889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737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63030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55396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462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8810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53.0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28574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19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719877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業務委託型＝未来屋書店様のお受取額（売上の25％＋月額固定5万円）／FCプラン＝未来屋書店様の償却前営業利益（人件費未計上・家賃0円）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900〜1,200万円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通信費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消耗品（清掃用品）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18〜21ヶ月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まずは業務委託型での切り替えをご提案しております。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2026-09-15T11:27:40Z</dcterms:created>
  <dcterms:modified xsi:type="dcterms:W3CDTF">2026-09-15T11:27:40Z</dcterms:modified>
</cp:coreProperties>
</file>