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image" Target="../media/image-9-6.jpg"/><Relationship Id="rId7" Type="http://schemas.openxmlformats.org/officeDocument/2006/relationships/image" Target="../media/image-9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image" Target="../media/image-1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uzuki-ceo/selfcafe-miraiya-deck/assets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suzuki-ceo/selfcafe-miraiya-deck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2" y="1773936"/>
            <a:ext cx="2616098" cy="372161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12902" y="2688336"/>
            <a:ext cx="254203" cy="25603"/>
          </a:xfrm>
          <a:prstGeom prst="rect">
            <a:avLst/>
          </a:prstGeom>
          <a:solidFill>
            <a:srgbClr val="C79A44"/>
          </a:solidFill>
          <a:ln/>
        </p:spPr>
      </p:sp>
      <p:sp>
        <p:nvSpPr>
          <p:cNvPr id="5" name="Text 1"/>
          <p:cNvSpPr/>
          <p:nvPr/>
        </p:nvSpPr>
        <p:spPr>
          <a:xfrm>
            <a:off x="1194206" y="2599639"/>
            <a:ext cx="50292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CC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FORMAT CONVERSION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812902" y="2871216"/>
            <a:ext cx="71122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3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未来屋書店 秋田店・土浦店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12902" y="3145536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カフェ区画 業態転換のご提案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812902" y="422452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既存のカフェ区画を無人型「セルフカフェ」へ。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人員配置なしで運営し、売上に応じた収入が毎月入る形へ切り替えます。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12902" y="5468112"/>
            <a:ext cx="711403" cy="25603"/>
          </a:xfrm>
          <a:prstGeom prst="rect">
            <a:avLst/>
          </a:prstGeom>
          <a:solidFill>
            <a:srgbClr val="C79A44"/>
          </a:solidFill>
          <a:ln/>
        </p:spPr>
      </p:sp>
      <p:sp>
        <p:nvSpPr>
          <p:cNvPr id="10" name="Text 6"/>
          <p:cNvSpPr/>
          <p:nvPr/>
        </p:nvSpPr>
        <p:spPr>
          <a:xfrm>
            <a:off x="812902" y="5742432"/>
            <a:ext cx="292608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人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812902" y="6144768"/>
            <a:ext cx="329184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カフェ運営に必要な人員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114800" y="5742432"/>
            <a:ext cx="292608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31.8</a:t>
            </a: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万円／月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114800" y="6144768"/>
            <a:ext cx="329184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秋田店 想定お受取額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406640" y="5742432"/>
            <a:ext cx="292608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</a:t>
            </a: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万円／月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7406640" y="6144768"/>
            <a:ext cx="3291840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土浦店 想定お受取額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712464" y="5769864"/>
            <a:ext cx="11887" cy="533095"/>
          </a:xfrm>
          <a:prstGeom prst="rect">
            <a:avLst/>
          </a:prstGeom>
          <a:solidFill>
            <a:srgbClr val="3C5F4B"/>
          </a:solidFill>
          <a:ln/>
        </p:spPr>
      </p:sp>
      <p:sp>
        <p:nvSpPr>
          <p:cNvPr id="17" name="Shape 13"/>
          <p:cNvSpPr/>
          <p:nvPr/>
        </p:nvSpPr>
        <p:spPr>
          <a:xfrm>
            <a:off x="7004304" y="5769864"/>
            <a:ext cx="11887" cy="533095"/>
          </a:xfrm>
          <a:prstGeom prst="rect">
            <a:avLst/>
          </a:prstGeom>
          <a:solidFill>
            <a:srgbClr val="3C5F4B"/>
          </a:solidFill>
          <a:ln/>
        </p:spPr>
      </p:sp>
      <p:sp>
        <p:nvSpPr>
          <p:cNvPr id="18" name="Text 14"/>
          <p:cNvSpPr/>
          <p:nvPr/>
        </p:nvSpPr>
        <p:spPr>
          <a:xfrm>
            <a:off x="8889797" y="6309360"/>
            <a:ext cx="2641702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3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セルフカフェ株式会社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ご提案の要旨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人を置かずに、カフェ区画を収益区画へ。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フルサービス型のカフェ業態から無人型セルフカフェへ転換し、運営はセルフカフェ本部が担います。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0197" y="1651406"/>
            <a:ext cx="5243627" cy="1700784"/>
          </a:xfrm>
          <a:prstGeom prst="roundRect">
            <a:avLst>
              <a:gd name="adj" fmla="val 3226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1093" y="1852574"/>
            <a:ext cx="46218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運営体制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71093" y="2163470"/>
            <a:ext cx="46218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6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5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人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971093" y="2858414"/>
            <a:ext cx="46218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カフェ専任の人員配置は不要。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運営主体はセルフカフェ本部です。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87872" y="1651406"/>
            <a:ext cx="5243627" cy="1700784"/>
          </a:xfrm>
          <a:prstGeom prst="roundRect">
            <a:avLst>
              <a:gd name="adj" fmla="val 3226"/>
            </a:avLst>
          </a:prstGeom>
          <a:solidFill>
            <a:srgbClr val="0C5230"/>
          </a:solidFill>
          <a:ln/>
        </p:spPr>
      </p:sp>
      <p:sp>
        <p:nvSpPr>
          <p:cNvPr id="14" name="Text 11"/>
          <p:cNvSpPr/>
          <p:nvPr/>
        </p:nvSpPr>
        <p:spPr>
          <a:xfrm>
            <a:off x="6598768" y="1852574"/>
            <a:ext cx="46218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C5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秋田店 お受取額（想定）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598768" y="2163470"/>
            <a:ext cx="46218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C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31.8</a:t>
            </a:r>
            <a:r>
              <a:rPr lang="en-US" sz="1500" b="1" dirty="0">
                <a:solidFill>
                  <a:srgbClr val="F0C0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万円／月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598768" y="2858414"/>
            <a:ext cx="46218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 381.3万円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売上の25％＋月5万円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60197" y="3589934"/>
            <a:ext cx="5243627" cy="1700784"/>
          </a:xfrm>
          <a:prstGeom prst="roundRect">
            <a:avLst>
              <a:gd name="adj" fmla="val 3226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71093" y="3791102"/>
            <a:ext cx="46218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71093" y="4101998"/>
            <a:ext cx="46218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30〜50</a:t>
            </a:r>
            <a:r>
              <a:rPr lang="en-US" sz="15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万円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971093" y="4796942"/>
            <a:ext cx="46218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機器設置費のみ。加盟金・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研修費はいただきません。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87872" y="3589934"/>
            <a:ext cx="5243627" cy="1700784"/>
          </a:xfrm>
          <a:prstGeom prst="roundRect">
            <a:avLst>
              <a:gd name="adj" fmla="val 3226"/>
            </a:avLst>
          </a:prstGeom>
          <a:solidFill>
            <a:srgbClr val="0C5230"/>
          </a:solidFill>
          <a:ln/>
        </p:spPr>
      </p:sp>
      <p:sp>
        <p:nvSpPr>
          <p:cNvPr id="22" name="Text 19"/>
          <p:cNvSpPr/>
          <p:nvPr/>
        </p:nvSpPr>
        <p:spPr>
          <a:xfrm>
            <a:off x="6598768" y="3791102"/>
            <a:ext cx="46218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C5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土浦店 お受取額（想定）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598768" y="4101998"/>
            <a:ext cx="46218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C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</a:t>
            </a:r>
            <a:r>
              <a:rPr lang="en-US" sz="1500" b="1" dirty="0">
                <a:solidFill>
                  <a:srgbClr val="F0C0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万円／月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598768" y="4796942"/>
            <a:ext cx="46218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 343.5万円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売上の25％＋月5万円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60197" y="5437022"/>
            <a:ext cx="1087130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pic>
        <p:nvPicPr>
          <p:cNvPr id="26" name="Image 1" descr="/home/user/suzuki-ceo/selfcafe-miraiya-deck/assets/icons/LuBadgeJapaneseYen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5629046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483157" y="5437022"/>
            <a:ext cx="97740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今回の特別条件：</a:t>
            </a:r>
            <a:r>
              <a:rPr lang="en-US" sz="1400" b="1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セルフカフェ売上の25％ ＋ 月額5万円</a:t>
            </a:r>
            <a:r>
              <a:rPr lang="en-US" sz="12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を毎月お支払いします。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60197" y="6259982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お受取額は本資料の想定販売杯数に基づく試算です（税抜）。売上を保証するものではありません。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スキーム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場所をご提供いただくだけ。運営主体は本部です。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通常のFC加盟とは異なり、貴社が独立オーナーとして運営する必要はありません。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95237" y="1724558"/>
            <a:ext cx="4836262" cy="274320"/>
          </a:xfrm>
          <a:prstGeom prst="roundRect">
            <a:avLst>
              <a:gd name="adj" fmla="val 16667"/>
            </a:avLst>
          </a:prstGeom>
          <a:solidFill>
            <a:srgbClr val="A8761F"/>
          </a:solidFill>
          <a:ln/>
        </p:spPr>
      </p:sp>
      <p:sp>
        <p:nvSpPr>
          <p:cNvPr id="10" name="Text 7"/>
          <p:cNvSpPr/>
          <p:nvPr/>
        </p:nvSpPr>
        <p:spPr>
          <a:xfrm>
            <a:off x="6695237" y="1724558"/>
            <a:ext cx="4836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貴社にご提案するのはこちら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197" y="2108606"/>
          <a:ext cx="1087130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114800"/>
                <a:gridCol w="483626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通常のFC加盟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8B8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業務委託型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運営主体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加盟者様が独立オーナーとして運営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本部が運営を主導。貴社は場所のご提供のみ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初期費用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加盟金100万円＋工事費用等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（開業資金の目安：居抜き750万円〜／スケルトン1,050万円〜）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30万〜50万円程度（機器設置費のみ）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出店スペース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独立した店舗区画（20坪〜）が必要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既存スペースの一角に間借り設置が可能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日常業務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加盟者様が運営全般を担当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清掃・補充のみ、1日15分程度（既存スタッフで対応可）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売上金の流れ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本部が売上金を管理し、ロイヤリティ等を控除した残額を加盟者様へ振込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本部が売上金を管理し、売上の25％を業務委託料として貴社へお支払い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契約・撤退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独立出店が前提の長期契約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契約期間の縛りあり（最低3年〜）／本部審査あり。原状回復の負担も小さい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54864" marB="54864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60197" y="6077102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金額はすべて税抜・目安です。物件条件により変動します。今回は業務委託型でのご提案です。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セルフカフェとは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スタッフのいない、ドリンク1杯のワークスペース。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Wi-Fi・電源完備。1杯のご購入で時間制限なくご利用いただける無人カフェです。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0197" y="1651406"/>
            <a:ext cx="28803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6229" y="1797710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利用料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6229" y="2053742"/>
            <a:ext cx="2368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6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</a:t>
            </a:r>
            <a:r>
              <a:rPr lang="en-US" sz="14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円〜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16229" y="262067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1杯で滞在時間の制限なし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14877" y="1651406"/>
            <a:ext cx="28803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70909" y="1797710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会員登録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070909" y="2053742"/>
            <a:ext cx="2368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不要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070909" y="262067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登録手続き・月会費なし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60197" y="3260750"/>
            <a:ext cx="28803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6229" y="3407054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運営人員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6229" y="3663086"/>
            <a:ext cx="2368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6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4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人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916229" y="423001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無人運営。開閉店も自動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814877" y="3260750"/>
            <a:ext cx="28803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70909" y="3407054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日常業務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070909" y="3663086"/>
            <a:ext cx="2368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6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r>
              <a:rPr lang="en-US" sz="14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分／日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4070909" y="423001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清掃・原料補充のみ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60197" y="4924958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pic>
        <p:nvPicPr>
          <p:cNvPr id="26" name="Image 1" descr="/home/user/suzuki-ceo/selfcafe-miraiya-deck/assets/icons/LuWifi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261" y="5089550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6773" y="549188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高速Wi-Fi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2214677" y="4924958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pic>
        <p:nvPicPr>
          <p:cNvPr id="29" name="Image 2" descr="/home/user/suzuki-ceo/selfcafe-miraiya-deck/assets/icons/LuPlug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741" y="5089550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251253" y="549188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電源完備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769157" y="4924958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pic>
        <p:nvPicPr>
          <p:cNvPr id="32" name="Image 3" descr="/home/user/suzuki-ceo/selfcafe-miraiya-deck/assets/icons/LuClock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1221" y="5089550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3805733" y="549188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席時間無制限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5323637" y="4924958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pic>
        <p:nvPicPr>
          <p:cNvPr id="35" name="Image 4" descr="/home/user/suzuki-ceo/selfcafe-miraiya-deck/assets/icons/LuCalendarCheck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701" y="5089550"/>
            <a:ext cx="347472" cy="34747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360213" y="549188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年中無休</a:t>
            </a:r>
            <a:endParaRPr lang="en-US" sz="1000" dirty="0"/>
          </a:p>
        </p:txBody>
      </p:sp>
      <p:pic>
        <p:nvPicPr>
          <p:cNvPr id="37" name="Image 5" descr="/home/user/suzuki-ceo/selfcafe-miraiya-deck/assets/photos/.crops/sasashima-interior-487x33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9285" y="1651406"/>
            <a:ext cx="4452214" cy="301752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7079285" y="1651406"/>
            <a:ext cx="4452214" cy="3017520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079285" y="4833518"/>
            <a:ext cx="4452214" cy="950976"/>
          </a:xfrm>
          <a:prstGeom prst="roundRect">
            <a:avLst>
              <a:gd name="adj" fmla="val 5769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7317029" y="4833518"/>
            <a:ext cx="397672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ささしまライブ店（名古屋）。商業施設の1階路面で、朝8時から22時まで無人運営しています。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660197" y="6199632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ドリンクは1杯420円〜（税抜）。サブスクプランをご利用の場合は1杯あたり147円〜となります。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運営と導入条件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お願いするのは1日15分の清掃と補充だけ。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運営主体はセルフカフェ本部です。カフェ専任のスタッフを置く必要はありません。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0197" y="1651406"/>
            <a:ext cx="5943600" cy="749808"/>
          </a:xfrm>
          <a:prstGeom prst="roundRect">
            <a:avLst>
              <a:gd name="adj" fmla="val 7317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4517" y="174284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店内清掃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34517" y="201716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テーブル・床・トイレの清掃、ゴミ回収。営業前後の都合の良い時間で結構です。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60197" y="2510942"/>
            <a:ext cx="5943600" cy="749808"/>
          </a:xfrm>
          <a:prstGeom prst="roundRect">
            <a:avLst>
              <a:gd name="adj" fmla="val 7317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4517" y="260238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原料・備品の補充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34517" y="287670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コーヒー豆・カップ等の補充。在庫は本部から定期配送します。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60197" y="3370478"/>
            <a:ext cx="5943600" cy="749808"/>
          </a:xfrm>
          <a:prstGeom prst="roundRect">
            <a:avLst>
              <a:gd name="adj" fmla="val 7317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4517" y="346191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発注・棚卸（月1〜2回）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4517" y="373623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定期配送に合わせた発注と在庫の棚卸のみです。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987845" y="1651406"/>
            <a:ext cx="4543654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2165" y="185257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262165" y="2126894"/>
            <a:ext cx="3995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262165" y="2309774"/>
            <a:ext cx="39950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30万〜50万円程度（機器設置費のみ）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262165" y="2574950"/>
            <a:ext cx="3995014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3" name="Text 20"/>
          <p:cNvSpPr/>
          <p:nvPr/>
        </p:nvSpPr>
        <p:spPr>
          <a:xfrm>
            <a:off x="7262165" y="2629814"/>
            <a:ext cx="3995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加盟金・研修費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262165" y="2812694"/>
            <a:ext cx="39950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なし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262165" y="3077870"/>
            <a:ext cx="3995014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6" name="Text 23"/>
          <p:cNvSpPr/>
          <p:nvPr/>
        </p:nvSpPr>
        <p:spPr>
          <a:xfrm>
            <a:off x="7262165" y="3132734"/>
            <a:ext cx="3995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原料・機器・メンテナンス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262165" y="3315614"/>
            <a:ext cx="39950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本部負担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262165" y="3580790"/>
            <a:ext cx="3995014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9" name="Text 26"/>
          <p:cNvSpPr/>
          <p:nvPr/>
        </p:nvSpPr>
        <p:spPr>
          <a:xfrm>
            <a:off x="7262165" y="3635654"/>
            <a:ext cx="3995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水道光熱費・通信費・消耗品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262165" y="3818534"/>
            <a:ext cx="39950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貴社ご負担（実費）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262165" y="4083710"/>
            <a:ext cx="3995014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32" name="Text 29"/>
          <p:cNvSpPr/>
          <p:nvPr/>
        </p:nvSpPr>
        <p:spPr>
          <a:xfrm>
            <a:off x="7262165" y="4138574"/>
            <a:ext cx="3995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お支払い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262165" y="4321454"/>
            <a:ext cx="39950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セルフカフェ売上の25％ ＋ 月額5万円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262165" y="4586630"/>
            <a:ext cx="3995014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62165" y="4641494"/>
            <a:ext cx="3995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契約期間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262165" y="4824374"/>
            <a:ext cx="39950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最低3年〜（本部審査あり）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987845" y="5180990"/>
            <a:ext cx="4543654" cy="658368"/>
          </a:xfrm>
          <a:prstGeom prst="roundRect">
            <a:avLst>
              <a:gd name="adj" fmla="val 8333"/>
            </a:avLst>
          </a:prstGeom>
          <a:solidFill>
            <a:srgbClr val="0C5230"/>
          </a:solidFill>
          <a:ln/>
        </p:spPr>
      </p:sp>
      <p:pic>
        <p:nvPicPr>
          <p:cNvPr id="38" name="Image 1" descr="/home/user/suzuki-ceo/selfcafe-miraiya-deck/assets/icons/LuLifeBuoy-p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877" y="5345582"/>
            <a:ext cx="310896" cy="310896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7664501" y="5180990"/>
            <a:ext cx="35926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清掃はパートナーへの委託も可能です（月3万円程度）。お客様からのお問い合わせは本部が対応します。</a:t>
            </a:r>
            <a:endParaRPr lang="en-US" sz="1000" dirty="0"/>
          </a:p>
        </p:txBody>
      </p:sp>
      <p:pic>
        <p:nvPicPr>
          <p:cNvPr id="40" name="Image 2" descr="/home/user/suzuki-ceo/selfcafe-miraiya-deck/assets/photos/.crops/inzai-counter-310x17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7" y="4266590"/>
            <a:ext cx="2834640" cy="1594485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660197" y="4266590"/>
            <a:ext cx="2834640" cy="1594485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pic>
        <p:nvPicPr>
          <p:cNvPr id="42" name="Image 3" descr="/home/user/suzuki-ceo/selfcafe-miraiya-deck/assets/photos/.crops/sasashima-interior-310x17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9157" y="4266590"/>
            <a:ext cx="2834640" cy="1594485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3769157" y="4266590"/>
            <a:ext cx="2834640" cy="1594485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660197" y="6053328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水道光熱費・通信費・消耗品は貴社のご負担（実費）となります。既存什器の再利用可否・工事範囲は現地確認のうえ個別にご相談させてください。金額は税抜・目安です。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立地適性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映画館のとなり。待ち時間が、そのまま需要になる。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両店とも同一フロアに映画館があり、上映前後の待ち時間需要を取り込める立地です。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0197" y="1651406"/>
            <a:ext cx="5243627" cy="3803904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4517" y="1815998"/>
            <a:ext cx="4694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秋田店</a:t>
            </a: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2F ／ TOHOシネマズ と同一フロア</a:t>
            </a:r>
            <a:endParaRPr lang="en-US" sz="1700" dirty="0"/>
          </a:p>
        </p:txBody>
      </p:sp>
      <p:pic>
        <p:nvPicPr>
          <p:cNvPr id="11" name="Image 1" descr="/home/user/suzuki-ceo/selfcafe-miraiya-deck/assets/photos/map-akita-flo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834" y="2181758"/>
            <a:ext cx="862352" cy="21031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4517" y="437631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面積・席数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671877" y="4376318"/>
            <a:ext cx="29576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62.97坪／73席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34517" y="4705502"/>
            <a:ext cx="4694987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5" name="Text 11"/>
          <p:cNvSpPr/>
          <p:nvPr/>
        </p:nvSpPr>
        <p:spPr>
          <a:xfrm>
            <a:off x="934517" y="474207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月間来客数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671877" y="4742078"/>
            <a:ext cx="29576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3,760人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34517" y="5071262"/>
            <a:ext cx="4694987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8" name="Text 14"/>
          <p:cNvSpPr/>
          <p:nvPr/>
        </p:nvSpPr>
        <p:spPr>
          <a:xfrm>
            <a:off x="934517" y="510783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営業時間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671877" y="5107838"/>
            <a:ext cx="29576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10:00〜21:00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87872" y="1651406"/>
            <a:ext cx="5243627" cy="3803904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562192" y="1815998"/>
            <a:ext cx="4694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土浦店</a:t>
            </a: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3F ／ シネマサンシャイン土浦 と同一フロア</a:t>
            </a:r>
            <a:endParaRPr lang="en-US" sz="1700" dirty="0"/>
          </a:p>
        </p:txBody>
      </p:sp>
      <p:pic>
        <p:nvPicPr>
          <p:cNvPr id="22" name="Image 2" descr="/home/user/suzuki-ceo/selfcafe-miraiya-deck/assets/photos/map-tsuchiura-flo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2379684"/>
            <a:ext cx="4694987" cy="17072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62192" y="437631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面積・席数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299552" y="4376318"/>
            <a:ext cx="29576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30坪／59席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562192" y="4705502"/>
            <a:ext cx="4694987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6" name="Text 21"/>
          <p:cNvSpPr/>
          <p:nvPr/>
        </p:nvSpPr>
        <p:spPr>
          <a:xfrm>
            <a:off x="6562192" y="474207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月間来客数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299552" y="4742078"/>
            <a:ext cx="29576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4,027人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562192" y="5071262"/>
            <a:ext cx="4694987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9" name="Text 24"/>
          <p:cNvSpPr/>
          <p:nvPr/>
        </p:nvSpPr>
        <p:spPr>
          <a:xfrm>
            <a:off x="6562192" y="510783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営業時間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8299552" y="5107838"/>
            <a:ext cx="29576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10:00〜21:00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60197" y="5619902"/>
            <a:ext cx="10871302" cy="658368"/>
          </a:xfrm>
          <a:prstGeom prst="roundRect">
            <a:avLst>
              <a:gd name="adj" fmla="val 8333"/>
            </a:avLst>
          </a:prstGeom>
          <a:solidFill>
            <a:srgbClr val="0C5230"/>
          </a:solidFill>
          <a:ln/>
        </p:spPr>
      </p:sp>
      <p:pic>
        <p:nvPicPr>
          <p:cNvPr id="32" name="Image 3" descr="/home/user/suzuki-ceo/selfcafe-miraiya-deck/assets/icons/LuHourglass-p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5784494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464869" y="5619902"/>
            <a:ext cx="97923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上映前後の待ち時間や、書店で本を選んだあとの休憩など「少しだけ座りたい」需要が館内で自然に発生します。1杯で時間制限がないため、その受け皿として機能します。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60197" y="6327648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出典：面積・席数・月間来客数は貴社ご提供資料（2025年平均）。フロアマップは各館の館内図より。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参考モデル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書店併設型は、すでに2店舗で稼働しています。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同じ「書店の中のセルフカフェ」として運営している2店舗の実績です。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0197" y="1651406"/>
            <a:ext cx="3440887" cy="384048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pic>
        <p:nvPicPr>
          <p:cNvPr id="10" name="Image 1" descr="/home/user/suzuki-ceo/selfcafe-miraiya-deck/assets/photos/.crops/inzai-hall-328x17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3" y="1870862"/>
            <a:ext cx="3001975" cy="15727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79653" y="1870862"/>
            <a:ext cx="3001975" cy="1572768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79653" y="3498494"/>
            <a:ext cx="3001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印西牧の原店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79653" y="3809390"/>
            <a:ext cx="3001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千葉県印西市／書店併設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79653" y="4156862"/>
            <a:ext cx="3001975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5" name="Text 11"/>
          <p:cNvSpPr/>
          <p:nvPr/>
        </p:nvSpPr>
        <p:spPr>
          <a:xfrm>
            <a:off x="879653" y="4284878"/>
            <a:ext cx="3001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1日あたりの販売杯数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879653" y="4522622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6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40.6</a:t>
            </a:r>
            <a:r>
              <a:rPr lang="en-US" sz="14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杯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879653" y="5144414"/>
            <a:ext cx="3001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書店併設の標準的な水準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375404" y="1651406"/>
            <a:ext cx="3440887" cy="3840480"/>
          </a:xfrm>
          <a:prstGeom prst="roundRect">
            <a:avLst>
              <a:gd name="adj" fmla="val 1594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pic>
        <p:nvPicPr>
          <p:cNvPr id="19" name="Image 2" descr="/home/user/suzuki-ceo/selfcafe-miraiya-deck/assets/photos/.crops/shinmoriyama-hall-328x17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860" y="1870862"/>
            <a:ext cx="3001975" cy="157276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594860" y="1870862"/>
            <a:ext cx="3001975" cy="1572768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94860" y="3498494"/>
            <a:ext cx="3001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新守山店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594860" y="3809390"/>
            <a:ext cx="3001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愛知県名古屋市／書店併設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594860" y="4156862"/>
            <a:ext cx="3001975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4" name="Text 19"/>
          <p:cNvSpPr/>
          <p:nvPr/>
        </p:nvSpPr>
        <p:spPr>
          <a:xfrm>
            <a:off x="4594860" y="4284878"/>
            <a:ext cx="3001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1日あたりの販売杯数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594860" y="4522622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6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45.2</a:t>
            </a:r>
            <a:r>
              <a:rPr lang="en-US" sz="14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杯</a:t>
            </a:r>
            <a:endParaRPr lang="en-US" sz="3000" dirty="0"/>
          </a:p>
        </p:txBody>
      </p:sp>
      <p:sp>
        <p:nvSpPr>
          <p:cNvPr id="26" name="Text 21"/>
          <p:cNvSpPr/>
          <p:nvPr/>
        </p:nvSpPr>
        <p:spPr>
          <a:xfrm>
            <a:off x="4594860" y="5144414"/>
            <a:ext cx="3001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書店併設の標準的な水準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8090611" y="1651406"/>
            <a:ext cx="3440887" cy="3840480"/>
          </a:xfrm>
          <a:prstGeom prst="roundRect">
            <a:avLst>
              <a:gd name="adj" fmla="val 1594"/>
            </a:avLst>
          </a:prstGeom>
          <a:solidFill>
            <a:srgbClr val="0C5230"/>
          </a:solidFill>
          <a:ln/>
        </p:spPr>
      </p:sp>
      <p:pic>
        <p:nvPicPr>
          <p:cNvPr id="28" name="Image 3" descr="/home/user/suzuki-ceo/selfcafe-miraiya-deck/assets/photos/.crops/sasashima-exterior-328x17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067" y="1870862"/>
            <a:ext cx="3001975" cy="157276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310067" y="1870862"/>
            <a:ext cx="3001975" cy="1572768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310067" y="3498494"/>
            <a:ext cx="3001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ささしまライブ店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8310067" y="3809390"/>
            <a:ext cx="3001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愛知県名古屋市／商業施設内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8310067" y="4156862"/>
            <a:ext cx="3001975" cy="10058"/>
          </a:xfrm>
          <a:prstGeom prst="rect">
            <a:avLst/>
          </a:prstGeom>
          <a:solidFill>
            <a:srgbClr val="2A7A4E"/>
          </a:solidFill>
          <a:ln/>
        </p:spPr>
      </p:sp>
      <p:sp>
        <p:nvSpPr>
          <p:cNvPr id="33" name="Text 27"/>
          <p:cNvSpPr/>
          <p:nvPr/>
        </p:nvSpPr>
        <p:spPr>
          <a:xfrm>
            <a:off x="8310067" y="4284878"/>
            <a:ext cx="3001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1日あたりの販売杯数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8310067" y="4522622"/>
            <a:ext cx="30019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C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122.7</a:t>
            </a:r>
            <a:r>
              <a:rPr lang="en-US" sz="1400" b="1" dirty="0">
                <a:solidFill>
                  <a:srgbClr val="F0C0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杯</a:t>
            </a:r>
            <a:endParaRPr lang="en-US" sz="3000" dirty="0"/>
          </a:p>
        </p:txBody>
      </p:sp>
      <p:sp>
        <p:nvSpPr>
          <p:cNvPr id="35" name="Text 29"/>
          <p:cNvSpPr/>
          <p:nvPr/>
        </p:nvSpPr>
        <p:spPr>
          <a:xfrm>
            <a:off x="8310067" y="5144414"/>
            <a:ext cx="3001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C5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商業施設内の大型店。上限の目安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60197" y="5656478"/>
            <a:ext cx="10871302" cy="731520"/>
          </a:xfrm>
          <a:prstGeom prst="roundRect">
            <a:avLst>
              <a:gd name="adj" fmla="val 7500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pic>
        <p:nvPicPr>
          <p:cNvPr id="37" name="Image 4" descr="/home/user/suzuki-ceo/selfcafe-miraiya-deck/assets/icons/LuChartColumn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5848502"/>
            <a:ext cx="347472" cy="34747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483157" y="5656478"/>
            <a:ext cx="97740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書店併設2店の平均は </a:t>
            </a:r>
            <a:r>
              <a:rPr lang="en-US" sz="14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1日42.9杯</a:t>
            </a:r>
            <a:r>
              <a:rPr lang="en-US" sz="11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。商業施設内のささしまライブ店は </a:t>
            </a:r>
            <a:r>
              <a:rPr lang="en-US" sz="14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1日122.7杯</a:t>
            </a:r>
            <a:r>
              <a:rPr lang="en-US" sz="11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で稼働しています。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660197" y="6345936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出典：社内管理台帳（2026年5月〜8月の月間実杯数の平均）。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導入イメージ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書店の中に、こう入ります。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印西牧の原店の実際の様子です。書架のとなりに席を並べ、書店の動線をそのまま活かしています。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pic>
        <p:nvPicPr>
          <p:cNvPr id="9" name="Image 1" descr="/home/user/suzuki-ceo/selfcafe-miraiya-deck/assets/photos/.crops/inzai-hall-750x39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7" y="1651406"/>
            <a:ext cx="6858000" cy="3566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0197" y="1651406"/>
            <a:ext cx="6858000" cy="3566160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pic>
        <p:nvPicPr>
          <p:cNvPr id="11" name="Image 2" descr="/home/user/suzuki-ceo/selfcafe-miraiya-deck/assets/photos/.crops/inzai-books-409x18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517" y="1651406"/>
            <a:ext cx="3738982" cy="16459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792517" y="1651406"/>
            <a:ext cx="3738982" cy="1645920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pic>
        <p:nvPicPr>
          <p:cNvPr id="13" name="Image 3" descr="/home/user/suzuki-ceo/selfcafe-miraiya-deck/assets/photos/.crops/inzai-counter-409x18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2517" y="3571646"/>
            <a:ext cx="3738982" cy="16459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792517" y="3571646"/>
            <a:ext cx="3738982" cy="1645920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660197" y="5437022"/>
            <a:ext cx="3477463" cy="859536"/>
          </a:xfrm>
          <a:prstGeom prst="roundRect">
            <a:avLst>
              <a:gd name="adj" fmla="val 6383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pic>
        <p:nvPicPr>
          <p:cNvPr id="16" name="Image 4" descr="/home/user/suzuki-ceo/selfcafe-miraiya-deck/assets/icons/LuRuler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3" y="5693054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1989" y="5546750"/>
            <a:ext cx="2636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書架の間・壁面沿いに設置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1281989" y="5802782"/>
            <a:ext cx="2636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独立区画は不要。既存の什器配置を大きく変えずに席をつくれます。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4357116" y="5437022"/>
            <a:ext cx="3477463" cy="859536"/>
          </a:xfrm>
          <a:prstGeom prst="roundRect">
            <a:avLst>
              <a:gd name="adj" fmla="val 6383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pic>
        <p:nvPicPr>
          <p:cNvPr id="20" name="Image 5" descr="/home/user/suzuki-ceo/selfcafe-miraiya-deck/assets/icons/LuPlug-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6572" y="5693054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78908" y="5546750"/>
            <a:ext cx="2636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各席に電源とWi-Fi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4978908" y="5802782"/>
            <a:ext cx="2636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長時間の滞在に耐える設えで、書店の滞在時間もあわせて伸びます。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8054035" y="5437022"/>
            <a:ext cx="3477463" cy="859536"/>
          </a:xfrm>
          <a:prstGeom prst="roundRect">
            <a:avLst>
              <a:gd name="adj" fmla="val 6383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pic>
        <p:nvPicPr>
          <p:cNvPr id="24" name="Image 6" descr="/home/user/suzuki-ceo/selfcafe-miraiya-deck/assets/icons/LuUsers-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3491" y="5693054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675827" y="5546750"/>
            <a:ext cx="2636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レジ・接客は発生しない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8675827" y="5802782"/>
            <a:ext cx="2636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ドリンクはセルフのマシン。書店スタッフの手は一切かかりません。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660197" y="6387998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写真：セルフカフェ 印西牧の原店（千葉県印西市／未来屋書店様 併設）。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業態転換イメージ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土浦店のカフェ区画は、こう変わります。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同じアングルで、現況と業態転換後の完成予想パースを並べました。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48360" y="1651406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8E8B84"/>
          </a:solidFill>
          <a:ln/>
        </p:spPr>
      </p:sp>
      <p:sp>
        <p:nvSpPr>
          <p:cNvPr id="10" name="Text 7"/>
          <p:cNvSpPr/>
          <p:nvPr/>
        </p:nvSpPr>
        <p:spPr>
          <a:xfrm>
            <a:off x="1048360" y="165140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現況</a:t>
            </a:r>
            <a:endParaRPr lang="en-US" sz="950" dirty="0"/>
          </a:p>
        </p:txBody>
      </p:sp>
      <p:pic>
        <p:nvPicPr>
          <p:cNvPr id="11" name="Image 1" descr="/home/user/suzuki-ceo/selfcafe-miraiya-deck/assets/photos/.crops/tsuchiura-before-exterior-352x19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60" y="1938528"/>
            <a:ext cx="3218688" cy="181051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48360" y="1938528"/>
            <a:ext cx="3218688" cy="1810512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pic>
        <p:nvPicPr>
          <p:cNvPr id="13" name="Image 2" descr="/home/user/suzuki-ceo/selfcafe-miraiya-deck/assets/photos/.crops/tsuchiura-before-overview-352x19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504" y="1938528"/>
            <a:ext cx="3218688" cy="181051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486504" y="1938528"/>
            <a:ext cx="3218688" cy="1810512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pic>
        <p:nvPicPr>
          <p:cNvPr id="15" name="Image 3" descr="/home/user/suzuki-ceo/selfcafe-miraiya-deck/assets/photos/.crops/tsuchiura-before-cafe-352x198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48" y="1938528"/>
            <a:ext cx="3218688" cy="181051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924648" y="1938528"/>
            <a:ext cx="3218688" cy="1810512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1048360" y="3858768"/>
            <a:ext cx="3200400" cy="237744"/>
          </a:xfrm>
          <a:prstGeom prst="roundRect">
            <a:avLst>
              <a:gd name="adj" fmla="val 19231"/>
            </a:avLst>
          </a:prstGeom>
          <a:solidFill>
            <a:srgbClr val="106838"/>
          </a:solidFill>
          <a:ln/>
        </p:spPr>
      </p:sp>
      <p:sp>
        <p:nvSpPr>
          <p:cNvPr id="18" name="Text 12"/>
          <p:cNvSpPr/>
          <p:nvPr/>
        </p:nvSpPr>
        <p:spPr>
          <a:xfrm>
            <a:off x="1048360" y="38587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業態転換後のイメージ（完成予想パース）</a:t>
            </a:r>
            <a:endParaRPr lang="en-US" sz="950" dirty="0"/>
          </a:p>
        </p:txBody>
      </p:sp>
      <p:pic>
        <p:nvPicPr>
          <p:cNvPr id="19" name="Image 4" descr="/home/user/suzuki-ceo/selfcafe-miraiya-deck/assets/photos/.crops/tsuchiura-after-exterior-352x198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360" y="4151376"/>
            <a:ext cx="3218688" cy="181051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048360" y="4151376"/>
            <a:ext cx="3218688" cy="1810512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pic>
        <p:nvPicPr>
          <p:cNvPr id="21" name="Image 5" descr="/home/user/suzuki-ceo/selfcafe-miraiya-deck/assets/photos/.crops/tsuchiura-after-overview-352x198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504" y="4151376"/>
            <a:ext cx="3218688" cy="181051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4486504" y="4151376"/>
            <a:ext cx="3218688" cy="1810512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pic>
        <p:nvPicPr>
          <p:cNvPr id="23" name="Image 6" descr="/home/user/suzuki-ceo/selfcafe-miraiya-deck/assets/photos/.crops/tsuchiura-after-cafe-352x198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4648" y="4151376"/>
            <a:ext cx="3218688" cy="1810512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924648" y="4151376"/>
            <a:ext cx="3218688" cy="1810512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1048360" y="165140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店頭（モール通路側）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4486504" y="165140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売場全景（児童書側から）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7924648" y="165140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カフェ区画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60197" y="6071616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パースは完成予想図です。什器の再利用可否・工事範囲は現地確認のうえ確定します。実際の仕上がりは設計内容により異なります。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業態転換イメージ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秋田店のカフェ区画は、こう変わります。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同じアングルでの対比です。売場の柱・天井・床はそのままに、カフェ区画だけを入れ替えます。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0197" y="1651406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8E8B84"/>
          </a:solidFill>
          <a:ln/>
        </p:spPr>
      </p:sp>
      <p:sp>
        <p:nvSpPr>
          <p:cNvPr id="10" name="Text 7"/>
          <p:cNvSpPr/>
          <p:nvPr/>
        </p:nvSpPr>
        <p:spPr>
          <a:xfrm>
            <a:off x="660197" y="165140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現況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60440" y="1651406"/>
            <a:ext cx="3200400" cy="237744"/>
          </a:xfrm>
          <a:prstGeom prst="roundRect">
            <a:avLst>
              <a:gd name="adj" fmla="val 19231"/>
            </a:avLst>
          </a:prstGeom>
          <a:solidFill>
            <a:srgbClr val="106838"/>
          </a:solidFill>
          <a:ln/>
        </p:spPr>
      </p:sp>
      <p:sp>
        <p:nvSpPr>
          <p:cNvPr id="12" name="Text 9"/>
          <p:cNvSpPr/>
          <p:nvPr/>
        </p:nvSpPr>
        <p:spPr>
          <a:xfrm>
            <a:off x="6260440" y="165140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業態転換後のイメージ（完成予想パース）</a:t>
            </a:r>
            <a:endParaRPr lang="en-US" sz="950" dirty="0"/>
          </a:p>
        </p:txBody>
      </p:sp>
      <p:pic>
        <p:nvPicPr>
          <p:cNvPr id="13" name="Image 1" descr="/home/user/suzuki-ceo/selfcafe-miraiya-deck/assets/photos/.crops/akita-before-exterior-576x43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7" y="1962302"/>
            <a:ext cx="5271059" cy="395329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0197" y="1962302"/>
            <a:ext cx="5271059" cy="3953294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pic>
        <p:nvPicPr>
          <p:cNvPr id="15" name="Image 2" descr="/home/user/suzuki-ceo/selfcafe-miraiya-deck/assets/photos/.crops/akita-after-exterior-576x43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440" y="1962302"/>
            <a:ext cx="5271059" cy="395329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60440" y="1962302"/>
            <a:ext cx="5271059" cy="3953294"/>
          </a:xfrm>
          <a:prstGeom prst="rect">
            <a:avLst/>
          </a:prstGeom>
          <a:ln w="12700">
            <a:solidFill>
              <a:srgbClr val="D8D2C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60197" y="6053328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パースは完成予想図です。既存什器・造作の再利用可否および工事範囲は現地確認のうえ確定します。実際の仕上がりは設計内容により異なります。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前提の考え方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既存店の実績から積み上げた想定です。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商業施設内・映画館隣接・館内の通行量を踏まえ、書店併設2店の実績平均の約1.9倍を想定しました。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0197" y="1651406"/>
            <a:ext cx="74066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4517" y="183428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1日あたりの販売杯数の比較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4517" y="225491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印西牧の原店（実績）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29077" y="2300630"/>
            <a:ext cx="1313641" cy="219456"/>
          </a:xfrm>
          <a:prstGeom prst="roundRect">
            <a:avLst>
              <a:gd name="adj" fmla="val 20833"/>
            </a:avLst>
          </a:prstGeom>
          <a:solidFill>
            <a:srgbClr val="9CC3AA"/>
          </a:solidFill>
          <a:ln/>
        </p:spPr>
      </p:sp>
      <p:sp>
        <p:nvSpPr>
          <p:cNvPr id="13" name="Text 10"/>
          <p:cNvSpPr/>
          <p:nvPr/>
        </p:nvSpPr>
        <p:spPr>
          <a:xfrm>
            <a:off x="4534158" y="225491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40.6 杯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34517" y="275783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新守山店（実績）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29077" y="2803550"/>
            <a:ext cx="1462477" cy="219456"/>
          </a:xfrm>
          <a:prstGeom prst="roundRect">
            <a:avLst>
              <a:gd name="adj" fmla="val 20833"/>
            </a:avLst>
          </a:prstGeom>
          <a:solidFill>
            <a:srgbClr val="9CC3AA"/>
          </a:solidFill>
          <a:ln/>
        </p:spPr>
      </p:sp>
      <p:sp>
        <p:nvSpPr>
          <p:cNvPr id="16" name="Text 13"/>
          <p:cNvSpPr/>
          <p:nvPr/>
        </p:nvSpPr>
        <p:spPr>
          <a:xfrm>
            <a:off x="4682994" y="275783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45.2 杯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34517" y="326075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土浦店（想定）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129077" y="3306470"/>
            <a:ext cx="2426677" cy="219456"/>
          </a:xfrm>
          <a:prstGeom prst="roundRect">
            <a:avLst>
              <a:gd name="adj" fmla="val 20833"/>
            </a:avLst>
          </a:prstGeom>
          <a:solidFill>
            <a:srgbClr val="A8761F"/>
          </a:solidFill>
          <a:ln/>
        </p:spPr>
      </p:sp>
      <p:sp>
        <p:nvSpPr>
          <p:cNvPr id="19" name="Text 16"/>
          <p:cNvSpPr/>
          <p:nvPr/>
        </p:nvSpPr>
        <p:spPr>
          <a:xfrm>
            <a:off x="5647194" y="326075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75 杯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34517" y="376367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秋田店（想定）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129077" y="3809390"/>
            <a:ext cx="2750234" cy="219456"/>
          </a:xfrm>
          <a:prstGeom prst="roundRect">
            <a:avLst>
              <a:gd name="adj" fmla="val 20833"/>
            </a:avLst>
          </a:prstGeom>
          <a:solidFill>
            <a:srgbClr val="A8761F"/>
          </a:solidFill>
          <a:ln/>
        </p:spPr>
      </p:sp>
      <p:sp>
        <p:nvSpPr>
          <p:cNvPr id="22" name="Text 19"/>
          <p:cNvSpPr/>
          <p:nvPr/>
        </p:nvSpPr>
        <p:spPr>
          <a:xfrm>
            <a:off x="5970751" y="376367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85 杯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34517" y="426659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ささしまライブ店（実績）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129077" y="4312310"/>
            <a:ext cx="3970043" cy="219456"/>
          </a:xfrm>
          <a:prstGeom prst="roundRect">
            <a:avLst>
              <a:gd name="adj" fmla="val 20833"/>
            </a:avLst>
          </a:prstGeom>
          <a:solidFill>
            <a:srgbClr val="5FA57C"/>
          </a:solidFill>
          <a:ln/>
        </p:spPr>
      </p:sp>
      <p:sp>
        <p:nvSpPr>
          <p:cNvPr id="25" name="Text 22"/>
          <p:cNvSpPr/>
          <p:nvPr/>
        </p:nvSpPr>
        <p:spPr>
          <a:xfrm>
            <a:off x="7190560" y="426659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122.7 杯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34517" y="452262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帯の色：金＝今回の想定／緑＝既存店の実績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8450885" y="1651406"/>
            <a:ext cx="3080614" cy="731520"/>
          </a:xfrm>
          <a:prstGeom prst="roundRect">
            <a:avLst>
              <a:gd name="adj" fmla="val 7500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pic>
        <p:nvPicPr>
          <p:cNvPr id="28" name="Image 1" descr="/home/user/suzuki-ceo/selfcafe-miraiya-deck/assets/icons/LuChartColumn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0341" y="1852574"/>
            <a:ext cx="310896" cy="31089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090965" y="1742846"/>
            <a:ext cx="22210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9090965" y="1980590"/>
            <a:ext cx="22210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書店併設2店の実績平均 1日42.9杯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8450885" y="2474366"/>
            <a:ext cx="3080614" cy="731520"/>
          </a:xfrm>
          <a:prstGeom prst="roundRect">
            <a:avLst>
              <a:gd name="adj" fmla="val 7500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pic>
        <p:nvPicPr>
          <p:cNvPr id="32" name="Image 2" descr="/home/user/suzuki-ceo/selfcafe-miraiya-deck/assets/icons/LuTrendingUp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341" y="2675534"/>
            <a:ext cx="310896" cy="31089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090965" y="2565806"/>
            <a:ext cx="22210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係数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9090965" y="2803550"/>
            <a:ext cx="22210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館内の通行量・映画館隣接を踏まえ 約1.9倍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8450885" y="3297326"/>
            <a:ext cx="3080614" cy="731520"/>
          </a:xfrm>
          <a:prstGeom prst="roundRect">
            <a:avLst>
              <a:gd name="adj" fmla="val 7500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pic>
        <p:nvPicPr>
          <p:cNvPr id="36" name="Image 3" descr="/home/user/suzuki-ceo/selfcafe-miraiya-deck/assets/icons/LuUsers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0341" y="3498494"/>
            <a:ext cx="310896" cy="31089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090965" y="3388766"/>
            <a:ext cx="22210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席数で配分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9090965" y="3626510"/>
            <a:ext cx="22210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秋田73席＝85杯／土浦59席＝75杯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8450885" y="4120286"/>
            <a:ext cx="3080614" cy="731520"/>
          </a:xfrm>
          <a:prstGeom prst="roundRect">
            <a:avLst>
              <a:gd name="adj" fmla="val 7500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pic>
        <p:nvPicPr>
          <p:cNvPr id="40" name="Image 4" descr="/home/user/suzuki-ceo/selfcafe-miraiya-deck/assets/icons/LuShieldCheck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0341" y="4321454"/>
            <a:ext cx="310896" cy="31089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090965" y="4211726"/>
            <a:ext cx="22210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妥当性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9090965" y="4449470"/>
            <a:ext cx="22210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ささしまライブ店の実績の6〜7割の水準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660197" y="5052974"/>
            <a:ext cx="10871302" cy="768096"/>
          </a:xfrm>
          <a:prstGeom prst="roundRect">
            <a:avLst>
              <a:gd name="adj" fmla="val 7143"/>
            </a:avLst>
          </a:prstGeom>
          <a:solidFill>
            <a:srgbClr val="0C5230"/>
          </a:solidFill>
          <a:ln/>
        </p:spPr>
      </p:sp>
      <p:sp>
        <p:nvSpPr>
          <p:cNvPr id="44" name="Text 37"/>
          <p:cNvSpPr/>
          <p:nvPr/>
        </p:nvSpPr>
        <p:spPr>
          <a:xfrm>
            <a:off x="971093" y="5052974"/>
            <a:ext cx="1024951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来客に対する購入率でみると、秋田店は約68％・土浦店は約56％。</a:t>
            </a:r>
            <a:r>
              <a:rPr lang="en-US" sz="110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ご来店の半数以上が1杯ご購入いただく水準です。</a:t>
            </a:r>
            <a:endParaRPr lang="en-US" sz="1150" dirty="0"/>
          </a:p>
        </p:txBody>
      </p:sp>
      <p:sp>
        <p:nvSpPr>
          <p:cNvPr id="45" name="Text 38"/>
          <p:cNvSpPr/>
          <p:nvPr/>
        </p:nvSpPr>
        <p:spPr>
          <a:xfrm>
            <a:off x="660197" y="6272784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想定値であり、売上を保証するものではありません。実際の販売杯数は立地・季節・館内の動線により変動します。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収益シミュレーション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秋田店 のお受取イメージ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62.97坪／73席／想定 1日85杯・1杯420円（税抜）で試算しています。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197" y="1651406"/>
          <a:ext cx="74066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項目（月次・円／税抜）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1日あたりの販売杯数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85杯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月間販売杯数（30日）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2,550杯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セルフカフェ売上（1杯420円）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06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1,071,000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 売上の25％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267,750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＋ 月額固定（貴社のみの特別条件）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貴社お受取額（月）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A876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317,750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年間換算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3,813,000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450885" y="1651406"/>
            <a:ext cx="3080614" cy="1920240"/>
          </a:xfrm>
          <a:prstGeom prst="roundRect">
            <a:avLst>
              <a:gd name="adj" fmla="val 2857"/>
            </a:avLst>
          </a:prstGeom>
          <a:solidFill>
            <a:srgbClr val="0C5230"/>
          </a:solidFill>
          <a:ln/>
        </p:spPr>
      </p:sp>
      <p:sp>
        <p:nvSpPr>
          <p:cNvPr id="11" name="Text 7"/>
          <p:cNvSpPr/>
          <p:nvPr/>
        </p:nvSpPr>
        <p:spPr>
          <a:xfrm>
            <a:off x="8706917" y="185257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CC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REVENUE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706917" y="2090318"/>
            <a:ext cx="25685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貴社お受取額（想定）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706917" y="2382926"/>
            <a:ext cx="25685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 </a:t>
            </a:r>
            <a:r>
              <a:rPr lang="en-US" sz="3200" b="1" dirty="0">
                <a:solidFill>
                  <a:srgbClr val="F0C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31.8</a:t>
            </a:r>
            <a:r>
              <a:rPr lang="en-US" sz="1400" b="1" dirty="0">
                <a:solidFill>
                  <a:srgbClr val="F0C0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万円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706917" y="3096158"/>
            <a:ext cx="2568550" cy="10058"/>
          </a:xfrm>
          <a:prstGeom prst="rect">
            <a:avLst/>
          </a:prstGeom>
          <a:solidFill>
            <a:srgbClr val="2A7A4E"/>
          </a:solidFill>
          <a:ln/>
        </p:spPr>
      </p:sp>
      <p:sp>
        <p:nvSpPr>
          <p:cNvPr id="15" name="Text 11"/>
          <p:cNvSpPr/>
          <p:nvPr/>
        </p:nvSpPr>
        <p:spPr>
          <a:xfrm>
            <a:off x="8706917" y="3205886"/>
            <a:ext cx="25685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 381.3 万円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450885" y="3754526"/>
            <a:ext cx="3080614" cy="2048256"/>
          </a:xfrm>
          <a:prstGeom prst="roundRect">
            <a:avLst>
              <a:gd name="adj" fmla="val 2679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706917" y="3919118"/>
            <a:ext cx="2568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この試算の前提</a:t>
            </a:r>
            <a:endParaRPr lang="en-US" sz="1100" dirty="0"/>
          </a:p>
        </p:txBody>
      </p:sp>
      <p:pic>
        <p:nvPicPr>
          <p:cNvPr id="18" name="Image 1" descr="/home/user/suzuki-ceo/selfcafe-miraiya-deck/assets/icons/LuCheck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5205" y="4257446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99525" y="4211726"/>
            <a:ext cx="22576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月間来客数 3,760人</a:t>
            </a:r>
            <a:endParaRPr lang="en-US" sz="950" dirty="0"/>
          </a:p>
        </p:txBody>
      </p:sp>
      <p:pic>
        <p:nvPicPr>
          <p:cNvPr id="20" name="Image 2" descr="/home/user/suzuki-ceo/selfcafe-miraiya-deck/assets/icons/LuCheck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205" y="4623206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99525" y="4577486"/>
            <a:ext cx="22576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うち約68％が1杯ご購入</a:t>
            </a:r>
            <a:endParaRPr lang="en-US" sz="950" dirty="0"/>
          </a:p>
        </p:txBody>
      </p:sp>
      <p:pic>
        <p:nvPicPr>
          <p:cNvPr id="22" name="Image 3" descr="/home/user/suzuki-ceo/selfcafe-miraiya-deck/assets/icons/LuCheck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5205" y="4988966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999525" y="4943246"/>
            <a:ext cx="22576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書店併設2店の実績の約1.9倍</a:t>
            </a:r>
            <a:endParaRPr lang="en-US" sz="950" dirty="0"/>
          </a:p>
        </p:txBody>
      </p:sp>
      <p:pic>
        <p:nvPicPr>
          <p:cNvPr id="24" name="Image 4" descr="/home/user/suzuki-ceo/selfcafe-miraiya-deck/assets/icons/LuCheck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5205" y="5354726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999525" y="5309006"/>
            <a:ext cx="22576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原料・機器の費用は本部負担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660197" y="6199632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想定値であり、売上・お受取額を保証するものではありません。水道光熱費・通信費・消耗品は貴社のご負担です。金額はすべて税抜。実際の販売杯数により変動します。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収益シミュレーション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土浦店 のお受取イメージ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30坪／59席／想定 1日75杯・1杯420円（税抜）で試算しています。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197" y="1651406"/>
          <a:ext cx="74066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項目（月次・円／税抜）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1日あたりの販売杯数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75杯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月間販売杯数（30日）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2,250杯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セルフカフェ売上（1杯420円）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06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945,000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 売上の25％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236,250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＋ 月額固定（貴社のみの特別条件）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貴社お受取額（月）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A876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286,250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年間換算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3,435,000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450885" y="1651406"/>
            <a:ext cx="3080614" cy="1920240"/>
          </a:xfrm>
          <a:prstGeom prst="roundRect">
            <a:avLst>
              <a:gd name="adj" fmla="val 2857"/>
            </a:avLst>
          </a:prstGeom>
          <a:solidFill>
            <a:srgbClr val="0C5230"/>
          </a:solidFill>
          <a:ln/>
        </p:spPr>
      </p:sp>
      <p:sp>
        <p:nvSpPr>
          <p:cNvPr id="11" name="Text 7"/>
          <p:cNvSpPr/>
          <p:nvPr/>
        </p:nvSpPr>
        <p:spPr>
          <a:xfrm>
            <a:off x="8706917" y="185257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CC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REVENUE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706917" y="2090318"/>
            <a:ext cx="25685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貴社お受取額（想定）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706917" y="2382926"/>
            <a:ext cx="25685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 </a:t>
            </a:r>
            <a:r>
              <a:rPr lang="en-US" sz="3200" b="1" dirty="0">
                <a:solidFill>
                  <a:srgbClr val="F0C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</a:t>
            </a:r>
            <a:r>
              <a:rPr lang="en-US" sz="1400" b="1" dirty="0">
                <a:solidFill>
                  <a:srgbClr val="F0C0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万円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706917" y="3096158"/>
            <a:ext cx="2568550" cy="10058"/>
          </a:xfrm>
          <a:prstGeom prst="rect">
            <a:avLst/>
          </a:prstGeom>
          <a:solidFill>
            <a:srgbClr val="2A7A4E"/>
          </a:solidFill>
          <a:ln/>
        </p:spPr>
      </p:sp>
      <p:sp>
        <p:nvSpPr>
          <p:cNvPr id="15" name="Text 11"/>
          <p:cNvSpPr/>
          <p:nvPr/>
        </p:nvSpPr>
        <p:spPr>
          <a:xfrm>
            <a:off x="8706917" y="3205886"/>
            <a:ext cx="25685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 343.5 万円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450885" y="3754526"/>
            <a:ext cx="3080614" cy="2048256"/>
          </a:xfrm>
          <a:prstGeom prst="roundRect">
            <a:avLst>
              <a:gd name="adj" fmla="val 2679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706917" y="3919118"/>
            <a:ext cx="2568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この試算の前提</a:t>
            </a:r>
            <a:endParaRPr lang="en-US" sz="1100" dirty="0"/>
          </a:p>
        </p:txBody>
      </p:sp>
      <p:pic>
        <p:nvPicPr>
          <p:cNvPr id="18" name="Image 1" descr="/home/user/suzuki-ceo/selfcafe-miraiya-deck/assets/icons/LuCheck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5205" y="4257446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99525" y="4211726"/>
            <a:ext cx="22576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月間来客数 4,027人</a:t>
            </a:r>
            <a:endParaRPr lang="en-US" sz="950" dirty="0"/>
          </a:p>
        </p:txBody>
      </p:sp>
      <p:pic>
        <p:nvPicPr>
          <p:cNvPr id="20" name="Image 2" descr="/home/user/suzuki-ceo/selfcafe-miraiya-deck/assets/icons/LuCheck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205" y="4623206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99525" y="4577486"/>
            <a:ext cx="22576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うち約56％が1杯ご購入</a:t>
            </a:r>
            <a:endParaRPr lang="en-US" sz="950" dirty="0"/>
          </a:p>
        </p:txBody>
      </p:sp>
      <p:pic>
        <p:nvPicPr>
          <p:cNvPr id="22" name="Image 3" descr="/home/user/suzuki-ceo/selfcafe-miraiya-deck/assets/icons/LuCheck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5205" y="4988966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999525" y="4943246"/>
            <a:ext cx="22576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書店併設2店の実績の約1.9倍</a:t>
            </a:r>
            <a:endParaRPr lang="en-US" sz="950" dirty="0"/>
          </a:p>
        </p:txBody>
      </p:sp>
      <p:pic>
        <p:nvPicPr>
          <p:cNvPr id="24" name="Image 4" descr="/home/user/suzuki-ceo/selfcafe-miraiya-deck/assets/icons/LuCheck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5205" y="5354726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999525" y="5309006"/>
            <a:ext cx="22576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原料・機器の費用は本部負担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660197" y="6199632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想定値であり、売上・お受取額を保証するものではありません。水道光熱費・通信費・消耗品は貴社のご負担です。金額はすべて税抜。実際の販売杯数により変動します。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坪数別シミュレーション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30坪でも、お受取額はほとんど変わりません。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60坪・40坪・30坪の3パターンで試算しました。販売杯数を決めるのは坪数ではなく、館内の来客数だからです。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197" y="1651406"/>
          <a:ext cx="10871302" cy="914400"/>
        </p:xfrm>
        <a:graphic>
          <a:graphicData uri="http://schemas.openxmlformats.org/drawingml/2006/table">
            <a:tbl>
              <a:tblPr/>
              <a:tblGrid>
                <a:gridCol w="4287622"/>
                <a:gridCol w="2194560"/>
                <a:gridCol w="219456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項目（月次・円／税抜）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60坪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40坪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30坪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1日あたりの販売杯数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85杯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80杯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75杯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月間販売杯数（30日）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2,550杯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2,400杯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2,250杯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セルフカフェ売上（1杯420円）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6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1,071,000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6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1,008,000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6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 売上の25％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267,750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236,250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＋ 月額固定（貴社のみの特別条件）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貴社お受取額（月）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A876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317,750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A876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302,000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A876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286,250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年間換算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3,813,000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3,624,000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3,435,000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60197" y="4901184"/>
            <a:ext cx="10871302" cy="658368"/>
          </a:xfrm>
          <a:prstGeom prst="roundRect">
            <a:avLst>
              <a:gd name="adj" fmla="val 8333"/>
            </a:avLst>
          </a:prstGeom>
          <a:solidFill>
            <a:srgbClr val="0C5230"/>
          </a:solidFill>
          <a:ln/>
        </p:spPr>
      </p:sp>
      <p:sp>
        <p:nvSpPr>
          <p:cNvPr id="11" name="Text 7"/>
          <p:cNvSpPr/>
          <p:nvPr/>
        </p:nvSpPr>
        <p:spPr>
          <a:xfrm>
            <a:off x="971093" y="4901184"/>
            <a:ext cx="102495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この試算からは、30坪でのご提案をお薦めします。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60坪との月々のお受取額の差は3.2万円。残りの区画は売場など他の用途にご活用いただけます。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60197" y="5632704"/>
            <a:ext cx="5298491" cy="566928"/>
          </a:xfrm>
          <a:prstGeom prst="roundRect">
            <a:avLst>
              <a:gd name="adj" fmla="val 9677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pic>
        <p:nvPicPr>
          <p:cNvPr id="13" name="Image 1" descr="/home/user/suzuki-ceo/selfcafe-miraiya-deck/assets/icons/LuUsers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5" y="5760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45413" y="5687568"/>
            <a:ext cx="4512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杯数は坪数ではなく来客数で決まります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1245413" y="5897880"/>
            <a:ext cx="45121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館内の通行量と映画館の待ち時間需要が販売杯数を左右するため、区画を広げても杯数は大きく増えません。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233008" y="5632704"/>
            <a:ext cx="5298491" cy="566928"/>
          </a:xfrm>
          <a:prstGeom prst="roundRect">
            <a:avLst>
              <a:gd name="adj" fmla="val 9677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pic>
        <p:nvPicPr>
          <p:cNvPr id="17" name="Image 2" descr="/home/user/suzuki-ceo/selfcafe-miraiya-deck/assets/icons/LuLandPlot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76" y="576072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8224" y="5687568"/>
            <a:ext cx="4512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平日ベースなら30坪・約59席で十分です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6818224" y="5897880"/>
            <a:ext cx="45121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土日は高稼働が見込めますが、平日の来店ペースであれば30坪の席数で受けきれると想定しています。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660197" y="6272784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杯数の置き方：60坪は秋田店（62.97坪）の想定85杯、30坪は土浦店の想定75杯と同水準とし、40坪はその中間の80杯としました。想定値であり保証するものではありません。金額は税抜。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ご参考：FCプラン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貴社が運営主体となる場合の試算です。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初期投資は必要ですが、売上・利益はすべて貴社のものになります（パートナー制度＝FC加盟）。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197" y="1651406"/>
          <a:ext cx="74066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項目（月次・円／税抜）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60坪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40坪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30坪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52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売上高（1杯420円 × 杯数 × 30日）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1,071,000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1,008,000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想定販売杯数（1日）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85杯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80杯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B555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75杯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ドリンク原料（20％）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▲214,200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▲201,600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▲189,000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清掃業務委託費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▲30,000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▲30,000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▲30,000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水道光熱費（書店営業時間ベース）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▲70,000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▲65,000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▲60,000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機械使用料（マシン38,000円×2台・決済端末5,000円×2台）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▲86,000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▲86,000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▲86,000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セキュリティ費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▲20,000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▲20,000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▲20,000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ロイヤリティ（一律・売上連動なし）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▲50,000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▲50,000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▲50,000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雑費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▲30,000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▲25,000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04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▲20,000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家賃（既存区画のため）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B55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償却前営業利益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06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570,800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06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530,400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06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3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450885" y="1651406"/>
            <a:ext cx="3080614" cy="1481328"/>
          </a:xfrm>
          <a:prstGeom prst="roundRect">
            <a:avLst>
              <a:gd name="adj" fmla="val 3704"/>
            </a:avLst>
          </a:prstGeom>
          <a:solidFill>
            <a:srgbClr val="0C5230"/>
          </a:solidFill>
          <a:ln/>
        </p:spPr>
      </p:sp>
      <p:sp>
        <p:nvSpPr>
          <p:cNvPr id="11" name="Text 7"/>
          <p:cNvSpPr/>
          <p:nvPr/>
        </p:nvSpPr>
        <p:spPr>
          <a:xfrm>
            <a:off x="8706917" y="185257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CC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706917" y="2072030"/>
            <a:ext cx="2568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初期投資（目安）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706917" y="2328062"/>
            <a:ext cx="25685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</a:t>
            </a:r>
            <a:r>
              <a:rPr lang="en-US" sz="1500" dirty="0">
                <a:solidFill>
                  <a:srgbClr val="F0C0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〜 </a:t>
            </a:r>
            <a:r>
              <a:rPr lang="en-US" sz="2800" b="1" dirty="0">
                <a:solidFill>
                  <a:srgbClr val="F0C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</a:t>
            </a:r>
            <a:r>
              <a:rPr lang="en-US" sz="1300" b="1" dirty="0">
                <a:solidFill>
                  <a:srgbClr val="F0C0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万円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8706917" y="2766974"/>
            <a:ext cx="25685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加盟金100万円・工事費・出店準備金・保証金・諸経費を含む総投資予算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8450885" y="3279038"/>
            <a:ext cx="3080614" cy="1572768"/>
          </a:xfrm>
          <a:prstGeom prst="roundRect">
            <a:avLst>
              <a:gd name="adj" fmla="val 3488"/>
            </a:avLst>
          </a:prstGeom>
          <a:solidFill>
            <a:srgbClr val="F1F8F3"/>
          </a:solidFill>
          <a:ln w="9525">
            <a:solidFill>
              <a:srgbClr val="D2E7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706917" y="3443630"/>
            <a:ext cx="25685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投資回収の目安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725205" y="375452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60坪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228125" y="375452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1,200万円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0261397" y="3754526"/>
            <a:ext cx="9957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21ヶ月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725205" y="410199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40坪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9228125" y="410199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1,000万円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0261397" y="4101998"/>
            <a:ext cx="9957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19ヶ月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8725205" y="444947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30坪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9228125" y="444947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E88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900万円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0261397" y="4449470"/>
            <a:ext cx="9957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68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18ヶ月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450885" y="4961534"/>
            <a:ext cx="3080614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pic>
        <p:nvPicPr>
          <p:cNvPr id="27" name="Image 1" descr="/home/user/suzuki-ceo/selfcafe-miraiya-deck/assets/icons/LuUsers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8629" y="5135270"/>
            <a:ext cx="310896" cy="31089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090965" y="4961534"/>
            <a:ext cx="22027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清掃を貴社スタッフで行う場合は、委託費3万円が不要となり、その分利益が増えます。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60197" y="6053328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償却前営業利益（減価償却前）。人件費は未計上です。家賃は既存区画をご利用いただく前提のため0円で試算しています。水道光熱費は書店営業時間ベース（空調・照明は書店と共用のため24H営業想定より低く置いています）。投資回収は坪数別の総投資予算を月次利益で除した目安。金額はすべて税抜。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2方式の比較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同じ条件で、2つの方式を並べました。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同じ販売杯数の想定で業務委託型とFCプランを比較しています。ご検討の材料としてご覧ください。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0197" y="1651406"/>
            <a:ext cx="667512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4517" y="183428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月次のお受取額・営業利益の比較（万円）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4517" y="227319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60坪（85杯）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60981" y="2245766"/>
            <a:ext cx="2132381" cy="201168"/>
          </a:xfrm>
          <a:prstGeom prst="roundRect">
            <a:avLst>
              <a:gd name="adj" fmla="val 18182"/>
            </a:avLst>
          </a:prstGeom>
          <a:solidFill>
            <a:srgbClr val="A8761F"/>
          </a:solidFill>
          <a:ln/>
        </p:spPr>
      </p:sp>
      <p:sp>
        <p:nvSpPr>
          <p:cNvPr id="13" name="Text 10"/>
          <p:cNvSpPr/>
          <p:nvPr/>
        </p:nvSpPr>
        <p:spPr>
          <a:xfrm>
            <a:off x="2342693" y="2218334"/>
            <a:ext cx="2040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業務委託型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566514" y="221833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31.8 万円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360981" y="2538374"/>
            <a:ext cx="3828898" cy="201168"/>
          </a:xfrm>
          <a:prstGeom prst="roundRect">
            <a:avLst>
              <a:gd name="adj" fmla="val 18182"/>
            </a:avLst>
          </a:prstGeom>
          <a:solidFill>
            <a:srgbClr val="4C9A6E"/>
          </a:solidFill>
          <a:ln/>
        </p:spPr>
      </p:sp>
      <p:sp>
        <p:nvSpPr>
          <p:cNvPr id="16" name="Text 13"/>
          <p:cNvSpPr/>
          <p:nvPr/>
        </p:nvSpPr>
        <p:spPr>
          <a:xfrm>
            <a:off x="2342693" y="2510942"/>
            <a:ext cx="3737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FCプラン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63030" y="251094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9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57.1 万円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34517" y="315102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40坪（80杯）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360981" y="3123590"/>
            <a:ext cx="2025091" cy="201168"/>
          </a:xfrm>
          <a:prstGeom prst="roundRect">
            <a:avLst>
              <a:gd name="adj" fmla="val 18182"/>
            </a:avLst>
          </a:prstGeom>
          <a:solidFill>
            <a:srgbClr val="A8761F"/>
          </a:solidFill>
          <a:ln/>
        </p:spPr>
      </p:sp>
      <p:sp>
        <p:nvSpPr>
          <p:cNvPr id="20" name="Text 17"/>
          <p:cNvSpPr/>
          <p:nvPr/>
        </p:nvSpPr>
        <p:spPr>
          <a:xfrm>
            <a:off x="2342693" y="3096158"/>
            <a:ext cx="19336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業務委託型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459224" y="309615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30.2 万円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360981" y="3416198"/>
            <a:ext cx="3553968" cy="201168"/>
          </a:xfrm>
          <a:prstGeom prst="roundRect">
            <a:avLst>
              <a:gd name="adj" fmla="val 18182"/>
            </a:avLst>
          </a:prstGeom>
          <a:solidFill>
            <a:srgbClr val="4C9A6E"/>
          </a:solidFill>
          <a:ln/>
        </p:spPr>
      </p:sp>
      <p:sp>
        <p:nvSpPr>
          <p:cNvPr id="23" name="Text 20"/>
          <p:cNvSpPr/>
          <p:nvPr/>
        </p:nvSpPr>
        <p:spPr>
          <a:xfrm>
            <a:off x="2342693" y="3388766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FCプラン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88101" y="338876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9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53.0 万円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34517" y="402884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30坪（75杯）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360981" y="4001414"/>
            <a:ext cx="1917802" cy="201168"/>
          </a:xfrm>
          <a:prstGeom prst="roundRect">
            <a:avLst>
              <a:gd name="adj" fmla="val 18182"/>
            </a:avLst>
          </a:prstGeom>
          <a:solidFill>
            <a:srgbClr val="A8761F"/>
          </a:solidFill>
          <a:ln/>
        </p:spPr>
      </p:sp>
      <p:sp>
        <p:nvSpPr>
          <p:cNvPr id="27" name="Text 24"/>
          <p:cNvSpPr/>
          <p:nvPr/>
        </p:nvSpPr>
        <p:spPr>
          <a:xfrm>
            <a:off x="2342693" y="3973982"/>
            <a:ext cx="1826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業務委託型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351934" y="397398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76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28.6 万円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360981" y="4294022"/>
            <a:ext cx="3285744" cy="201168"/>
          </a:xfrm>
          <a:prstGeom prst="roundRect">
            <a:avLst>
              <a:gd name="adj" fmla="val 18182"/>
            </a:avLst>
          </a:prstGeom>
          <a:solidFill>
            <a:srgbClr val="4C9A6E"/>
          </a:solidFill>
          <a:ln/>
        </p:spPr>
      </p:sp>
      <p:sp>
        <p:nvSpPr>
          <p:cNvPr id="30" name="Text 27"/>
          <p:cNvSpPr/>
          <p:nvPr/>
        </p:nvSpPr>
        <p:spPr>
          <a:xfrm>
            <a:off x="2342693" y="4266590"/>
            <a:ext cx="319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FCプラン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719877" y="426659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9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49.0 万円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34517" y="454091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業務委託型＝未来屋書店様のお受取額（売上の25％＋月額固定5万円）／FCプラン＝未来屋書店様の償却前営業利益（人件費未計上・家賃0円）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19365" y="1651406"/>
          <a:ext cx="3812134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98448"/>
                <a:gridCol w="12344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業務委託型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7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FCプラン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28016" marR="128016" marT="45720" marB="45720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8B8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初期費用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30〜50万円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900〜1,200万円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運営主体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セルフカフェ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未来屋書店様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日常業務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清掃・補充・発注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清掃・補充・発注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原料・機器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セルフカフェ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未来屋書店様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水道光熱費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未来屋書店様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未来屋書店様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通信費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未来屋書店様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未来屋書店様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消耗品（清掃用品）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未来屋書店様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未来屋書店様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売上変動リスク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セルフカフェ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未来屋書店様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3D2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投資回収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876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約2ヶ月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A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18〜21ヶ月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F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0197" y="5126126"/>
            <a:ext cx="10871302" cy="786384"/>
          </a:xfrm>
          <a:prstGeom prst="roundRect">
            <a:avLst>
              <a:gd name="adj" fmla="val 6977"/>
            </a:avLst>
          </a:prstGeom>
          <a:solidFill>
            <a:srgbClr val="0C5230"/>
          </a:solidFill>
          <a:ln/>
        </p:spPr>
      </p:sp>
      <p:sp>
        <p:nvSpPr>
          <p:cNvPr id="35" name="Text 31"/>
          <p:cNvSpPr/>
          <p:nvPr/>
        </p:nvSpPr>
        <p:spPr>
          <a:xfrm>
            <a:off x="971093" y="5126126"/>
            <a:ext cx="1024951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まずは業務委託型での切り替えをご提案しております。</a:t>
            </a:r>
            <a:r>
              <a:rPr lang="en-US" sz="1050" dirty="0">
                <a:solidFill>
                  <a:srgbClr val="AFC2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初期費用を抑えて実績をご確認いただいたうえで、FCプランへの切り替えもご相談いただけます。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660197" y="6040526"/>
            <a:ext cx="108713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いずれも想定値であり、売上・利益を保証するものではありません。金額はすべて税抜・目安です。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197" y="545897"/>
            <a:ext cx="202997" cy="25603"/>
          </a:xfrm>
          <a:prstGeom prst="rect">
            <a:avLst/>
          </a:prstGeom>
          <a:solidFill>
            <a:srgbClr val="106838"/>
          </a:solidFill>
          <a:ln/>
        </p:spPr>
      </p:sp>
      <p:sp>
        <p:nvSpPr>
          <p:cNvPr id="3" name="Text 1"/>
          <p:cNvSpPr/>
          <p:nvPr/>
        </p:nvSpPr>
        <p:spPr>
          <a:xfrm>
            <a:off x="952805" y="444398"/>
            <a:ext cx="6400800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r>
              <a:rPr lang="en-US" sz="1050" b="1" dirty="0">
                <a:solidFill>
                  <a:srgbClr val="1B81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今後の進め方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0197" y="660197"/>
            <a:ext cx="8889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現地確認から、最短2〜3ヶ月で切り替えできます。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0197" y="1308506"/>
            <a:ext cx="100327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まずは2店舗の現地確認と、条件のすり合わせからお願いできればと存じます。</a:t>
            </a:r>
            <a:endParaRPr lang="en-US" sz="1250" dirty="0"/>
          </a:p>
        </p:txBody>
      </p:sp>
      <p:pic>
        <p:nvPicPr>
          <p:cNvPr id="6" name="Image 0" descr="/home/user/suzuki-ceo/selfcafe-miraiya-deck/assets/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403" y="482803"/>
            <a:ext cx="1676095" cy="2386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0197" y="6476695"/>
            <a:ext cx="50804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0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セルフカフェ × 未来屋書店 業態転換のご提案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61397" y="6463894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E8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0197" y="1651406"/>
            <a:ext cx="2013326" cy="248716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9653" y="187086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900" dirty="0"/>
          </a:p>
        </p:txBody>
      </p:sp>
      <p:pic>
        <p:nvPicPr>
          <p:cNvPr id="11" name="Image 1" descr="/home/user/suzuki-ceo/selfcafe-miraiya-deck/assets/icons/LuMessagesSquare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55" y="183428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9653" y="2218334"/>
            <a:ext cx="15744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ご検討・ご相談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79653" y="2730398"/>
            <a:ext cx="1574414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4" name="Text 10"/>
          <p:cNvSpPr/>
          <p:nvPr/>
        </p:nvSpPr>
        <p:spPr>
          <a:xfrm>
            <a:off x="879653" y="2858414"/>
            <a:ext cx="1574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本ご提案へのご質問・条件のすり合わせ。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874691" y="1651406"/>
            <a:ext cx="2013326" cy="248716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094147" y="187086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900" dirty="0"/>
          </a:p>
        </p:txBody>
      </p:sp>
      <p:pic>
        <p:nvPicPr>
          <p:cNvPr id="17" name="Image 2" descr="/home/user/suzuki-ceo/selfcafe-miraiya-deck/assets/icons/LuFileSearch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649" y="183428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094147" y="2218334"/>
            <a:ext cx="15744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現地確認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094147" y="2730398"/>
            <a:ext cx="1574414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0" name="Text 15"/>
          <p:cNvSpPr/>
          <p:nvPr/>
        </p:nvSpPr>
        <p:spPr>
          <a:xfrm>
            <a:off x="3094147" y="2858414"/>
            <a:ext cx="1574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区画・電源・給排水・動線を確認し、レイアウトを設計。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089185" y="1651406"/>
            <a:ext cx="2013326" cy="248716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308641" y="187086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900" dirty="0"/>
          </a:p>
        </p:txBody>
      </p:sp>
      <p:pic>
        <p:nvPicPr>
          <p:cNvPr id="23" name="Image 3" descr="/home/user/suzuki-ceo/selfcafe-miraiya-deck/assets/icons/LuPenLine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143" y="1834286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08641" y="2218334"/>
            <a:ext cx="15744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契約締結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308641" y="2730398"/>
            <a:ext cx="1574414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6" name="Text 20"/>
          <p:cNvSpPr/>
          <p:nvPr/>
        </p:nvSpPr>
        <p:spPr>
          <a:xfrm>
            <a:off x="5308641" y="2858414"/>
            <a:ext cx="1574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条件確定のうえ業務委託契約を締結。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303679" y="1651406"/>
            <a:ext cx="2013326" cy="248716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523135" y="187086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900" dirty="0"/>
          </a:p>
        </p:txBody>
      </p:sp>
      <p:pic>
        <p:nvPicPr>
          <p:cNvPr id="29" name="Image 4" descr="/home/user/suzuki-ceo/selfcafe-miraiya-deck/assets/icons/LuHammer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8636" y="1834286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523135" y="2218334"/>
            <a:ext cx="15744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設置工事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7523135" y="2730398"/>
            <a:ext cx="1574414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32" name="Text 25"/>
          <p:cNvSpPr/>
          <p:nvPr/>
        </p:nvSpPr>
        <p:spPr>
          <a:xfrm>
            <a:off x="7523135" y="2858414"/>
            <a:ext cx="1574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機器設置・什器調整。既存什器は可能な範囲で再利用。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9518172" y="1651406"/>
            <a:ext cx="2013326" cy="248716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9525">
            <a:solidFill>
              <a:srgbClr val="EFEAE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9737628" y="187086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7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900" dirty="0"/>
          </a:p>
        </p:txBody>
      </p:sp>
      <p:pic>
        <p:nvPicPr>
          <p:cNvPr id="35" name="Image 5" descr="/home/user/suzuki-ceo/selfcafe-miraiya-deck/assets/icons/LuStore-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3130" y="1834286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737628" y="2218334"/>
            <a:ext cx="15744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2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運営開始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9737628" y="2730398"/>
            <a:ext cx="1574414" cy="1005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38" name="Text 30"/>
          <p:cNvSpPr/>
          <p:nvPr/>
        </p:nvSpPr>
        <p:spPr>
          <a:xfrm>
            <a:off x="9737628" y="2858414"/>
            <a:ext cx="15744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B55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オープン後の集客・お問い合わせ対応は本部が担当。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660197" y="4376318"/>
            <a:ext cx="10871302" cy="1737360"/>
          </a:xfrm>
          <a:prstGeom prst="roundRect">
            <a:avLst>
              <a:gd name="adj" fmla="val 3158"/>
            </a:avLst>
          </a:prstGeom>
          <a:solidFill>
            <a:srgbClr val="0C5230"/>
          </a:solidFill>
          <a:ln/>
        </p:spPr>
      </p:sp>
      <p:pic>
        <p:nvPicPr>
          <p:cNvPr id="40" name="Image 6" descr="/home/user/suzuki-ceo/selfcafe-miraiya-deck/assets/logo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533" y="4632350"/>
            <a:ext cx="2093976" cy="29809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62533" y="507126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ご不明な点は、お気軽にお問い合わせください。</a:t>
            </a:r>
            <a:endParaRPr lang="en-US" sz="1300" dirty="0"/>
          </a:p>
        </p:txBody>
      </p:sp>
      <p:pic>
        <p:nvPicPr>
          <p:cNvPr id="42" name="Image 7" descr="/home/user/suzuki-ceo/selfcafe-miraiya-deck/assets/icons/LuPhone-pa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6757" y="4650638"/>
            <a:ext cx="219456" cy="21945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792517" y="459577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C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8615477" y="459577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052-879-3557</a:t>
            </a:r>
            <a:endParaRPr lang="en-US" sz="1300" dirty="0"/>
          </a:p>
        </p:txBody>
      </p:sp>
      <p:pic>
        <p:nvPicPr>
          <p:cNvPr id="45" name="Image 8" descr="/home/user/suzuki-ceo/selfcafe-miraiya-deck/assets/icons/LuMail-pa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6757" y="5107838"/>
            <a:ext cx="219456" cy="219456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7792517" y="505297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C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8615477" y="505297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info@selfcafe.jp</a:t>
            </a:r>
            <a:endParaRPr lang="en-US" sz="1300" dirty="0"/>
          </a:p>
        </p:txBody>
      </p:sp>
      <p:pic>
        <p:nvPicPr>
          <p:cNvPr id="48" name="Image 9" descr="/home/user/suzuki-ceo/selfcafe-miraiya-deck/assets/icons/LuGlobe-pa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6757" y="5565038"/>
            <a:ext cx="219456" cy="219456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7792517" y="551017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C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900" dirty="0"/>
          </a:p>
        </p:txBody>
      </p:sp>
      <p:sp>
        <p:nvSpPr>
          <p:cNvPr id="50" name="Text 38"/>
          <p:cNvSpPr/>
          <p:nvPr/>
        </p:nvSpPr>
        <p:spPr>
          <a:xfrm>
            <a:off x="8615477" y="551017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https://selfcafe.jp/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セルフカフェ × 未来屋書店 業態転換のご提案</dc:title>
  <dc:subject>PptxGenJS Presentation</dc:subject>
  <dc:creator>セルフカフェ株式会社</dc:creator>
  <cp:lastModifiedBy>セルフカフェ株式会社</cp:lastModifiedBy>
  <cp:revision>1</cp:revision>
  <dcterms:created xsi:type="dcterms:W3CDTF">2026-09-07T11:01:14Z</dcterms:created>
  <dcterms:modified xsi:type="dcterms:W3CDTF">2026-09-07T11:01:14Z</dcterms:modified>
</cp:coreProperties>
</file>