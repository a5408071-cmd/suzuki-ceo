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10896"/>
            <a:ext cx="182880" cy="23774"/>
          </a:xfrm>
          <a:prstGeom prst="rect">
            <a:avLst/>
          </a:prstGeom>
          <a:solidFill>
            <a:srgbClr val="106838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228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814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未来屋書店 秋田店　カフェ区画 業態転換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84048" y="42062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スケジュールと役割分担</a:t>
            </a:r>
            <a:endParaRPr lang="en-US" sz="2200" dirty="0"/>
          </a:p>
        </p:txBody>
      </p:sp>
      <p:pic>
        <p:nvPicPr>
          <p:cNvPr id="5" name="Image 0" descr="/home/user/suzuki-ceo/selfcafe-miraiya-kickoff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7968" y="274320"/>
            <a:ext cx="1417320" cy="20208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13448" y="53035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2026年10月17日　セルフカフェ株式会社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84048" y="914400"/>
            <a:ext cx="1881835" cy="384048"/>
          </a:xfrm>
          <a:prstGeom prst="roundRect">
            <a:avLst>
              <a:gd name="adj" fmla="val 11905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12064" y="941832"/>
            <a:ext cx="162580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区画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12064" y="1088136"/>
            <a:ext cx="1625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30坪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393899" y="914400"/>
            <a:ext cx="1881835" cy="384048"/>
          </a:xfrm>
          <a:prstGeom prst="roundRect">
            <a:avLst>
              <a:gd name="adj" fmla="val 11905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521915" y="941832"/>
            <a:ext cx="162580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契約形態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2521915" y="1088136"/>
            <a:ext cx="1625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業務委託型・3年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403750" y="914400"/>
            <a:ext cx="1881835" cy="384048"/>
          </a:xfrm>
          <a:prstGeom prst="roundRect">
            <a:avLst>
              <a:gd name="adj" fmla="val 11905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31766" y="941832"/>
            <a:ext cx="162580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御社の初期費用（設置工事費）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4531766" y="1088136"/>
            <a:ext cx="1625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30〜50万円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13602" y="914400"/>
            <a:ext cx="1881835" cy="384048"/>
          </a:xfrm>
          <a:prstGeom prst="roundRect">
            <a:avLst>
              <a:gd name="adj" fmla="val 11905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41618" y="941832"/>
            <a:ext cx="162580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オープン目標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541618" y="1088136"/>
            <a:ext cx="1625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2027年2月末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423453" y="914400"/>
            <a:ext cx="1881835" cy="384048"/>
          </a:xfrm>
          <a:prstGeom prst="roundRect">
            <a:avLst>
              <a:gd name="adj" fmla="val 11905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551469" y="941832"/>
            <a:ext cx="162580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閉店後の工期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8551469" y="1088136"/>
            <a:ext cx="1625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約1か月</a:t>
            </a:r>
            <a:endParaRPr lang="en-US" sz="10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426464"/>
          <a:ext cx="9921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077456"/>
                <a:gridCol w="1472184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時期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担当</a:t>
                      </a:r>
                      <a:endParaRPr lang="en-US" sz="9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23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11月上旬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施工担当による現地内見（実測・電源・給排水・既存ネット回線・残置設備）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両社</a:t>
                      </a:r>
                      <a:endParaRPr lang="en-US" sz="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11月中旬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レイアウト図・什器リストのご提出／設置工事費のご案内（30〜50万円）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068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11月中旬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クリエ様の解約条件・原状回復範囲の確定（残置の範囲を確定）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11月下旬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仕様の確定／業務委託契約の締結（カメラ映像の取扱いを含む）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両社</a:t>
                      </a:r>
                      <a:endParaRPr lang="en-US" sz="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11月下旬〜12月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館（イオンモール様）への工事申請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両社</a:t>
                      </a:r>
                      <a:endParaRPr lang="en-US" sz="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12月上旬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ネット回線の新規お申込み（開通まで1〜2か月）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12月上旬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什器・機器の発注（リードタイム4〜6週間）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068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1月末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カフェ・ド・クリエ 閉店・退去（造作・床・設備は残置）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未来屋書店様</a:t>
                      </a:r>
                      <a:endParaRPr lang="en-US" sz="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2月（約1か月）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内装工事 → 機器設置・試運転 → 什器搬入／回線開通の確認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068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セルフカフェ</a:t>
                      </a:r>
                      <a:endParaRPr lang="en-US" sz="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2月下旬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オープン準備・研修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A3D2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両社</a:t>
                      </a:r>
                      <a:endParaRPr lang="en-US" sz="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2月末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A876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オープン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B555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FE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4"/>
                    </a:solidFill>
                  </a:tcPr>
                </a:tc>
              </a:tr>
            </a:tbl>
          </a:graphicData>
        </a:graphic>
      </p:graphicFrame>
      <p:sp>
        <p:nvSpPr>
          <p:cNvPr id="23" name="Shape 19"/>
          <p:cNvSpPr/>
          <p:nvPr/>
        </p:nvSpPr>
        <p:spPr>
          <a:xfrm>
            <a:off x="384048" y="4261104"/>
            <a:ext cx="9921240" cy="640080"/>
          </a:xfrm>
          <a:prstGeom prst="roundRect">
            <a:avLst>
              <a:gd name="adj" fmla="val 7143"/>
            </a:avLst>
          </a:prstGeom>
          <a:solidFill>
            <a:srgbClr val="0C5230"/>
          </a:solidFill>
          <a:ln/>
        </p:spPr>
      </p:sp>
      <p:sp>
        <p:nvSpPr>
          <p:cNvPr id="24" name="Text 20"/>
          <p:cNvSpPr/>
          <p:nvPr/>
        </p:nvSpPr>
        <p:spPr>
          <a:xfrm>
            <a:off x="621792" y="4261104"/>
            <a:ext cx="9445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工期約1か月は造作・床・給排水・電気が残置される前提です。ネット回線は12月中のお申込みが必要です。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AFC2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ルトン戻しとなる場合は工期が延び、2月末オープンが厳しくなります。回線は申込から開通まで1〜2か月かかります。また1/31閉店→2/28オープンは正味28日のためバッファがありません。閉店を1月中旬〜下旬に前倒しできると安全です。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84048" y="4992624"/>
            <a:ext cx="3703320" cy="2212848"/>
          </a:xfrm>
          <a:prstGeom prst="roundRect">
            <a:avLst>
              <a:gd name="adj" fmla="val 2479"/>
            </a:avLst>
          </a:prstGeom>
          <a:solidFill>
            <a:srgbClr val="F1F8F3"/>
          </a:solidFill>
          <a:ln w="9525">
            <a:solidFill>
              <a:srgbClr val="D2E7DA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585216" y="5102352"/>
            <a:ext cx="3300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セルフカフェ（弊社）で進めること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585216" y="5340096"/>
            <a:ext cx="3300984" cy="9144"/>
          </a:xfrm>
          <a:prstGeom prst="rect">
            <a:avLst/>
          </a:prstGeom>
          <a:solidFill>
            <a:srgbClr val="D2E7DA"/>
          </a:solidFill>
          <a:ln/>
        </p:spPr>
      </p:sp>
      <p:sp>
        <p:nvSpPr>
          <p:cNvPr id="28" name="Text 24"/>
          <p:cNvSpPr/>
          <p:nvPr/>
        </p:nvSpPr>
        <p:spPr>
          <a:xfrm>
            <a:off x="603504" y="5449824"/>
            <a:ext cx="146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768096" y="5449824"/>
            <a:ext cx="3118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施工担当の内見日程の調整（11月上旬）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603504" y="5623560"/>
            <a:ext cx="146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31" name="Text 27"/>
          <p:cNvSpPr/>
          <p:nvPr/>
        </p:nvSpPr>
        <p:spPr>
          <a:xfrm>
            <a:off x="768096" y="5623560"/>
            <a:ext cx="3118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レイアウト図・什器リストの作成（30坪）</a:t>
            </a:r>
            <a:endParaRPr lang="en-US" sz="850" dirty="0"/>
          </a:p>
        </p:txBody>
      </p:sp>
      <p:sp>
        <p:nvSpPr>
          <p:cNvPr id="32" name="Text 28"/>
          <p:cNvSpPr/>
          <p:nvPr/>
        </p:nvSpPr>
        <p:spPr>
          <a:xfrm>
            <a:off x="603504" y="5797296"/>
            <a:ext cx="146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768096" y="5797296"/>
            <a:ext cx="3118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設置工事費のご案内（30〜50万円）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603504" y="5971032"/>
            <a:ext cx="146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768096" y="5971032"/>
            <a:ext cx="3118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業務委託契約書のドラフト送付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603504" y="6144768"/>
            <a:ext cx="146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768096" y="6144768"/>
            <a:ext cx="3118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カメラ映像の取扱いに関する取り決めのご提示</a:t>
            </a:r>
            <a:endParaRPr lang="en-US" sz="850" dirty="0"/>
          </a:p>
        </p:txBody>
      </p:sp>
      <p:sp>
        <p:nvSpPr>
          <p:cNvPr id="38" name="Text 34"/>
          <p:cNvSpPr/>
          <p:nvPr/>
        </p:nvSpPr>
        <p:spPr>
          <a:xfrm>
            <a:off x="603504" y="6318504"/>
            <a:ext cx="146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39" name="Text 35"/>
          <p:cNvSpPr/>
          <p:nvPr/>
        </p:nvSpPr>
        <p:spPr>
          <a:xfrm>
            <a:off x="768096" y="6318504"/>
            <a:ext cx="3118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館への工事申請用 図面・仕様書の作成</a:t>
            </a:r>
            <a:endParaRPr lang="en-US" sz="850" dirty="0"/>
          </a:p>
        </p:txBody>
      </p:sp>
      <p:sp>
        <p:nvSpPr>
          <p:cNvPr id="40" name="Text 36"/>
          <p:cNvSpPr/>
          <p:nvPr/>
        </p:nvSpPr>
        <p:spPr>
          <a:xfrm>
            <a:off x="603504" y="6492240"/>
            <a:ext cx="146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41" name="Text 37"/>
          <p:cNvSpPr/>
          <p:nvPr/>
        </p:nvSpPr>
        <p:spPr>
          <a:xfrm>
            <a:off x="768096" y="6492240"/>
            <a:ext cx="3118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什器・機器の発注（12月上旬）</a:t>
            </a:r>
            <a:endParaRPr lang="en-US" sz="850" dirty="0"/>
          </a:p>
        </p:txBody>
      </p:sp>
      <p:sp>
        <p:nvSpPr>
          <p:cNvPr id="42" name="Text 38"/>
          <p:cNvSpPr/>
          <p:nvPr/>
        </p:nvSpPr>
        <p:spPr>
          <a:xfrm>
            <a:off x="603504" y="6665976"/>
            <a:ext cx="146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43" name="Text 39"/>
          <p:cNvSpPr/>
          <p:nvPr/>
        </p:nvSpPr>
        <p:spPr>
          <a:xfrm>
            <a:off x="768096" y="6665976"/>
            <a:ext cx="3118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内装工事・機器設置・試運転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603504" y="6839712"/>
            <a:ext cx="146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768096" y="6839712"/>
            <a:ext cx="3118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開業スケジュール確定版の提示（内見後）</a:t>
            </a:r>
            <a:endParaRPr lang="en-US" sz="850" dirty="0"/>
          </a:p>
        </p:txBody>
      </p:sp>
      <p:sp>
        <p:nvSpPr>
          <p:cNvPr id="46" name="Text 42"/>
          <p:cNvSpPr/>
          <p:nvPr/>
        </p:nvSpPr>
        <p:spPr>
          <a:xfrm>
            <a:off x="603504" y="7013448"/>
            <a:ext cx="146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68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47" name="Text 43"/>
          <p:cNvSpPr/>
          <p:nvPr/>
        </p:nvSpPr>
        <p:spPr>
          <a:xfrm>
            <a:off x="768096" y="7013448"/>
            <a:ext cx="31181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オープン後の集客・お客様対応</a:t>
            </a:r>
            <a:endParaRPr lang="en-US" sz="850" dirty="0"/>
          </a:p>
        </p:txBody>
      </p:sp>
      <p:sp>
        <p:nvSpPr>
          <p:cNvPr id="48" name="Shape 44"/>
          <p:cNvSpPr/>
          <p:nvPr/>
        </p:nvSpPr>
        <p:spPr>
          <a:xfrm>
            <a:off x="4306824" y="4992624"/>
            <a:ext cx="5998464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C79A44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07992" y="5102352"/>
            <a:ext cx="5596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未来屋書店様にご確認・ご準備いただきたいこと</a:t>
            </a:r>
            <a:endParaRPr lang="en-US" sz="1000" dirty="0"/>
          </a:p>
        </p:txBody>
      </p:sp>
      <p:sp>
        <p:nvSpPr>
          <p:cNvPr id="50" name="Shape 46"/>
          <p:cNvSpPr/>
          <p:nvPr/>
        </p:nvSpPr>
        <p:spPr>
          <a:xfrm>
            <a:off x="4507992" y="5340096"/>
            <a:ext cx="5596128" cy="9144"/>
          </a:xfrm>
          <a:prstGeom prst="rect">
            <a:avLst/>
          </a:prstGeom>
          <a:solidFill>
            <a:srgbClr val="EFEAE0"/>
          </a:solidFill>
          <a:ln/>
        </p:spPr>
      </p:sp>
      <p:sp>
        <p:nvSpPr>
          <p:cNvPr id="51" name="Text 47"/>
          <p:cNvSpPr/>
          <p:nvPr/>
        </p:nvSpPr>
        <p:spPr>
          <a:xfrm>
            <a:off x="4507992" y="5394960"/>
            <a:ext cx="2660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ご確認事項（★＝工期・コストに直結）</a:t>
            </a:r>
            <a:endParaRPr lang="en-US" sz="800" dirty="0"/>
          </a:p>
        </p:txBody>
      </p:sp>
      <p:sp>
        <p:nvSpPr>
          <p:cNvPr id="52" name="Text 48"/>
          <p:cNvSpPr/>
          <p:nvPr/>
        </p:nvSpPr>
        <p:spPr>
          <a:xfrm>
            <a:off x="4526280" y="5577840"/>
            <a:ext cx="16459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</a:t>
            </a:r>
            <a:endParaRPr lang="en-US" sz="750" dirty="0"/>
          </a:p>
        </p:txBody>
      </p:sp>
      <p:sp>
        <p:nvSpPr>
          <p:cNvPr id="53" name="Text 49"/>
          <p:cNvSpPr/>
          <p:nvPr/>
        </p:nvSpPr>
        <p:spPr>
          <a:xfrm>
            <a:off x="4709160" y="5577840"/>
            <a:ext cx="247802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クリエ様の解約条件・閉店日の確定</a:t>
            </a:r>
            <a:endParaRPr lang="en-US" sz="850" dirty="0"/>
          </a:p>
        </p:txBody>
      </p:sp>
      <p:sp>
        <p:nvSpPr>
          <p:cNvPr id="54" name="Text 50"/>
          <p:cNvSpPr/>
          <p:nvPr/>
        </p:nvSpPr>
        <p:spPr>
          <a:xfrm>
            <a:off x="4526280" y="5756148"/>
            <a:ext cx="16459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</a:t>
            </a:r>
            <a:endParaRPr lang="en-US" sz="750" dirty="0"/>
          </a:p>
        </p:txBody>
      </p:sp>
      <p:sp>
        <p:nvSpPr>
          <p:cNvPr id="55" name="Text 51"/>
          <p:cNvSpPr/>
          <p:nvPr/>
        </p:nvSpPr>
        <p:spPr>
          <a:xfrm>
            <a:off x="4709160" y="5756148"/>
            <a:ext cx="247802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原状回復の範囲（造作・床・設備の残置）</a:t>
            </a:r>
            <a:endParaRPr lang="en-US" sz="850" dirty="0"/>
          </a:p>
        </p:txBody>
      </p:sp>
      <p:sp>
        <p:nvSpPr>
          <p:cNvPr id="56" name="Text 52"/>
          <p:cNvSpPr/>
          <p:nvPr/>
        </p:nvSpPr>
        <p:spPr>
          <a:xfrm>
            <a:off x="4526280" y="5934456"/>
            <a:ext cx="16459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</a:t>
            </a:r>
            <a:endParaRPr lang="en-US" sz="750" dirty="0"/>
          </a:p>
        </p:txBody>
      </p:sp>
      <p:sp>
        <p:nvSpPr>
          <p:cNvPr id="57" name="Text 53"/>
          <p:cNvSpPr/>
          <p:nvPr/>
        </p:nvSpPr>
        <p:spPr>
          <a:xfrm>
            <a:off x="4709160" y="5934456"/>
            <a:ext cx="247802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残置する既存設備（給排水・電気容量）</a:t>
            </a:r>
            <a:endParaRPr lang="en-US" sz="850" dirty="0"/>
          </a:p>
        </p:txBody>
      </p:sp>
      <p:sp>
        <p:nvSpPr>
          <p:cNvPr id="58" name="Text 54"/>
          <p:cNvSpPr/>
          <p:nvPr/>
        </p:nvSpPr>
        <p:spPr>
          <a:xfrm>
            <a:off x="4526280" y="6112764"/>
            <a:ext cx="16459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</a:t>
            </a:r>
            <a:endParaRPr lang="en-US" sz="750" dirty="0"/>
          </a:p>
        </p:txBody>
      </p:sp>
      <p:sp>
        <p:nvSpPr>
          <p:cNvPr id="59" name="Text 55"/>
          <p:cNvSpPr/>
          <p:nvPr/>
        </p:nvSpPr>
        <p:spPr>
          <a:xfrm>
            <a:off x="4709160" y="6112764"/>
            <a:ext cx="247802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ネット回線の新規敷設（12月中に申込）</a:t>
            </a:r>
            <a:endParaRPr lang="en-US" sz="850" dirty="0"/>
          </a:p>
        </p:txBody>
      </p:sp>
      <p:sp>
        <p:nvSpPr>
          <p:cNvPr id="60" name="Text 56"/>
          <p:cNvSpPr/>
          <p:nvPr/>
        </p:nvSpPr>
        <p:spPr>
          <a:xfrm>
            <a:off x="4526280" y="6291072"/>
            <a:ext cx="16459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61" name="Text 57"/>
          <p:cNvSpPr/>
          <p:nvPr/>
        </p:nvSpPr>
        <p:spPr>
          <a:xfrm>
            <a:off x="4709160" y="6291072"/>
            <a:ext cx="247802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カメラ映像（個人情報）の取扱いの取決め</a:t>
            </a:r>
            <a:endParaRPr lang="en-US" sz="850" dirty="0"/>
          </a:p>
        </p:txBody>
      </p:sp>
      <p:sp>
        <p:nvSpPr>
          <p:cNvPr id="62" name="Text 58"/>
          <p:cNvSpPr/>
          <p:nvPr/>
        </p:nvSpPr>
        <p:spPr>
          <a:xfrm>
            <a:off x="4526280" y="6469380"/>
            <a:ext cx="16459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63" name="Text 59"/>
          <p:cNvSpPr/>
          <p:nvPr/>
        </p:nvSpPr>
        <p:spPr>
          <a:xfrm>
            <a:off x="4709160" y="6469380"/>
            <a:ext cx="247802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館への工事申請（様式・期限・搬入ルート）</a:t>
            </a:r>
            <a:endParaRPr lang="en-US" sz="850" dirty="0"/>
          </a:p>
        </p:txBody>
      </p:sp>
      <p:sp>
        <p:nvSpPr>
          <p:cNvPr id="64" name="Text 60"/>
          <p:cNvSpPr/>
          <p:nvPr/>
        </p:nvSpPr>
        <p:spPr>
          <a:xfrm>
            <a:off x="4526280" y="6647688"/>
            <a:ext cx="16459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65" name="Text 61"/>
          <p:cNvSpPr/>
          <p:nvPr/>
        </p:nvSpPr>
        <p:spPr>
          <a:xfrm>
            <a:off x="4709160" y="6647688"/>
            <a:ext cx="247802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サイン表記の確定（MIRAIYA Book &amp; Cafe）</a:t>
            </a:r>
            <a:endParaRPr lang="en-US" sz="850" dirty="0"/>
          </a:p>
        </p:txBody>
      </p:sp>
      <p:sp>
        <p:nvSpPr>
          <p:cNvPr id="66" name="Text 62"/>
          <p:cNvSpPr/>
          <p:nvPr/>
        </p:nvSpPr>
        <p:spPr>
          <a:xfrm>
            <a:off x="4526280" y="6825996"/>
            <a:ext cx="16459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67" name="Text 63"/>
          <p:cNvSpPr/>
          <p:nvPr/>
        </p:nvSpPr>
        <p:spPr>
          <a:xfrm>
            <a:off x="4709160" y="6825996"/>
            <a:ext cx="247802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社内稟議の進捗・決裁完了の目処</a:t>
            </a:r>
            <a:endParaRPr lang="en-US" sz="850" dirty="0"/>
          </a:p>
        </p:txBody>
      </p:sp>
      <p:sp>
        <p:nvSpPr>
          <p:cNvPr id="68" name="Text 64"/>
          <p:cNvSpPr/>
          <p:nvPr/>
        </p:nvSpPr>
        <p:spPr>
          <a:xfrm>
            <a:off x="4526280" y="7004304"/>
            <a:ext cx="16459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69" name="Text 65"/>
          <p:cNvSpPr/>
          <p:nvPr/>
        </p:nvSpPr>
        <p:spPr>
          <a:xfrm>
            <a:off x="4709160" y="7004304"/>
            <a:ext cx="247802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運営体制（営業時間・清掃補充の担当分け）</a:t>
            </a:r>
            <a:endParaRPr lang="en-US" sz="850" dirty="0"/>
          </a:p>
        </p:txBody>
      </p:sp>
      <p:sp>
        <p:nvSpPr>
          <p:cNvPr id="70" name="Text 66"/>
          <p:cNvSpPr/>
          <p:nvPr/>
        </p:nvSpPr>
        <p:spPr>
          <a:xfrm>
            <a:off x="7443216" y="5394960"/>
            <a:ext cx="2660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ご提供いただきたい資料</a:t>
            </a:r>
            <a:endParaRPr lang="en-US" sz="800" dirty="0"/>
          </a:p>
        </p:txBody>
      </p:sp>
      <p:sp>
        <p:nvSpPr>
          <p:cNvPr id="71" name="Text 67"/>
          <p:cNvSpPr/>
          <p:nvPr/>
        </p:nvSpPr>
        <p:spPr>
          <a:xfrm>
            <a:off x="7461504" y="5577840"/>
            <a:ext cx="14630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72" name="Text 68"/>
          <p:cNvSpPr/>
          <p:nvPr/>
        </p:nvSpPr>
        <p:spPr>
          <a:xfrm>
            <a:off x="7626096" y="5577840"/>
            <a:ext cx="247802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区画図面（平面図・展開図／CADデータ）</a:t>
            </a:r>
            <a:endParaRPr lang="en-US" sz="850" dirty="0"/>
          </a:p>
        </p:txBody>
      </p:sp>
      <p:sp>
        <p:nvSpPr>
          <p:cNvPr id="73" name="Text 69"/>
          <p:cNvSpPr/>
          <p:nvPr/>
        </p:nvSpPr>
        <p:spPr>
          <a:xfrm>
            <a:off x="7461504" y="5756148"/>
            <a:ext cx="14630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74" name="Text 70"/>
          <p:cNvSpPr/>
          <p:nvPr/>
        </p:nvSpPr>
        <p:spPr>
          <a:xfrm>
            <a:off x="7626096" y="5756148"/>
            <a:ext cx="247802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電気容量・分電盤の位置</a:t>
            </a:r>
            <a:endParaRPr lang="en-US" sz="850" dirty="0"/>
          </a:p>
        </p:txBody>
      </p:sp>
      <p:sp>
        <p:nvSpPr>
          <p:cNvPr id="75" name="Text 71"/>
          <p:cNvSpPr/>
          <p:nvPr/>
        </p:nvSpPr>
        <p:spPr>
          <a:xfrm>
            <a:off x="7461504" y="5934456"/>
            <a:ext cx="14630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76" name="Text 72"/>
          <p:cNvSpPr/>
          <p:nvPr/>
        </p:nvSpPr>
        <p:spPr>
          <a:xfrm>
            <a:off x="7626096" y="5934456"/>
            <a:ext cx="247802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給排水の位置・系統</a:t>
            </a:r>
            <a:endParaRPr lang="en-US" sz="850" dirty="0"/>
          </a:p>
        </p:txBody>
      </p:sp>
      <p:sp>
        <p:nvSpPr>
          <p:cNvPr id="77" name="Text 73"/>
          <p:cNvSpPr/>
          <p:nvPr/>
        </p:nvSpPr>
        <p:spPr>
          <a:xfrm>
            <a:off x="7461504" y="6112764"/>
            <a:ext cx="14630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78" name="Text 74"/>
          <p:cNvSpPr/>
          <p:nvPr/>
        </p:nvSpPr>
        <p:spPr>
          <a:xfrm>
            <a:off x="7626096" y="6112764"/>
            <a:ext cx="247802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既存ネット回線の有無・引込経路</a:t>
            </a:r>
            <a:endParaRPr lang="en-US" sz="850" dirty="0"/>
          </a:p>
        </p:txBody>
      </p:sp>
      <p:sp>
        <p:nvSpPr>
          <p:cNvPr id="79" name="Text 75"/>
          <p:cNvSpPr/>
          <p:nvPr/>
        </p:nvSpPr>
        <p:spPr>
          <a:xfrm>
            <a:off x="7461504" y="6291072"/>
            <a:ext cx="14630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80" name="Text 76"/>
          <p:cNvSpPr/>
          <p:nvPr/>
        </p:nvSpPr>
        <p:spPr>
          <a:xfrm>
            <a:off x="7626096" y="6291072"/>
            <a:ext cx="247802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現況写真（既存設備・厨房まわり）</a:t>
            </a:r>
            <a:endParaRPr lang="en-US" sz="850" dirty="0"/>
          </a:p>
        </p:txBody>
      </p:sp>
      <p:sp>
        <p:nvSpPr>
          <p:cNvPr id="81" name="Text 77"/>
          <p:cNvSpPr/>
          <p:nvPr/>
        </p:nvSpPr>
        <p:spPr>
          <a:xfrm>
            <a:off x="7461504" y="6469380"/>
            <a:ext cx="14630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82" name="Text 78"/>
          <p:cNvSpPr/>
          <p:nvPr/>
        </p:nvSpPr>
        <p:spPr>
          <a:xfrm>
            <a:off x="7626096" y="6469380"/>
            <a:ext cx="247802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館の工事規定・申請様式</a:t>
            </a:r>
            <a:endParaRPr lang="en-US" sz="850" dirty="0"/>
          </a:p>
        </p:txBody>
      </p:sp>
      <p:sp>
        <p:nvSpPr>
          <p:cNvPr id="83" name="Text 79"/>
          <p:cNvSpPr/>
          <p:nvPr/>
        </p:nvSpPr>
        <p:spPr>
          <a:xfrm>
            <a:off x="7461504" y="6647688"/>
            <a:ext cx="14630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88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50" dirty="0"/>
          </a:p>
        </p:txBody>
      </p:sp>
      <p:sp>
        <p:nvSpPr>
          <p:cNvPr id="84" name="Text 80"/>
          <p:cNvSpPr/>
          <p:nvPr/>
        </p:nvSpPr>
        <p:spPr>
          <a:xfrm>
            <a:off x="7626096" y="6647688"/>
            <a:ext cx="247802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D2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クリエ様の原状回復条件がわかる資料</a:t>
            </a:r>
            <a:endParaRPr lang="en-US" sz="850" dirty="0"/>
          </a:p>
        </p:txBody>
      </p:sp>
      <p:sp>
        <p:nvSpPr>
          <p:cNvPr id="85" name="Text 81"/>
          <p:cNvSpPr/>
          <p:nvPr/>
        </p:nvSpPr>
        <p:spPr>
          <a:xfrm>
            <a:off x="384048" y="7251192"/>
            <a:ext cx="9921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876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業務委託型のため、工事費のお見積り提出はございません。御社にご負担いただくのは設置工事費（30〜50万円・税抜）のみです。</a:t>
            </a:r>
            <a:endParaRPr lang="en-US" sz="750" dirty="0"/>
          </a:p>
        </p:txBody>
      </p:sp>
      <p:sp>
        <p:nvSpPr>
          <p:cNvPr id="86" name="Text 82"/>
          <p:cNvSpPr/>
          <p:nvPr/>
        </p:nvSpPr>
        <p:spPr>
          <a:xfrm>
            <a:off x="384048" y="7388352"/>
            <a:ext cx="6583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工期・納期は目安です。館（イオンモール様）の工事申請に要する期間は未織り込みのため、判明次第あらためて調整いたします。</a:t>
            </a:r>
            <a:endParaRPr lang="en-US" sz="750" dirty="0"/>
          </a:p>
        </p:txBody>
      </p:sp>
      <p:sp>
        <p:nvSpPr>
          <p:cNvPr id="87" name="Text 83"/>
          <p:cNvSpPr/>
          <p:nvPr/>
        </p:nvSpPr>
        <p:spPr>
          <a:xfrm>
            <a:off x="7013448" y="7388352"/>
            <a:ext cx="3291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8B0A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セルフカフェ株式会社　052-879-3557 ／ info@selfcafe.jp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未来屋書店 秋田店 スケジュールと役割分担</dc:title>
  <dc:subject>PptxGenJS Presentation</dc:subject>
  <dc:creator>セルフカフェ株式会社</dc:creator>
  <cp:lastModifiedBy>セルフカフェ株式会社</cp:lastModifiedBy>
  <cp:revision>1</cp:revision>
  <dcterms:created xsi:type="dcterms:W3CDTF">2026-10-17T08:02:30Z</dcterms:created>
  <dcterms:modified xsi:type="dcterms:W3CDTF">2026-10-17T08:02:30Z</dcterms:modified>
</cp:coreProperties>
</file>