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3.png"/><Relationship Id="rId6" Type="http://schemas.openxmlformats.org/officeDocument/2006/relationships/image" Target="../media/image-5-3.png"/><Relationship Id="rId7" Type="http://schemas.openxmlformats.org/officeDocument/2006/relationships/image" Target="../media/image-5-3.png"/><Relationship Id="rId8" Type="http://schemas.openxmlformats.org/officeDocument/2006/relationships/image" Target="../media/image-5-3.png"/><Relationship Id="rId9" Type="http://schemas.openxmlformats.org/officeDocument/2006/relationships/image" Target="../media/image-5-9.png"/><Relationship Id="rId10" Type="http://schemas.openxmlformats.org/officeDocument/2006/relationships/image" Target="../media/image-5-3.png"/><Relationship Id="rId11" Type="http://schemas.openxmlformats.org/officeDocument/2006/relationships/image" Target="../media/image-5-3.png"/><Relationship Id="rId12" Type="http://schemas.openxmlformats.org/officeDocument/2006/relationships/image" Target="../media/image-5-3.png"/><Relationship Id="rId13" Type="http://schemas.openxmlformats.org/officeDocument/2006/relationships/image" Target="../media/image-5-3.png"/><Relationship Id="rId14" Type="http://schemas.openxmlformats.org/officeDocument/2006/relationships/image" Target="../media/image-5-3.png"/><Relationship Id="rId15" Type="http://schemas.openxmlformats.org/officeDocument/2006/relationships/image" Target="../media/image-5-3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uzuki-ceo/selfcafe-miraiya-kickoff-deck/assets/cover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902" y="758952"/>
            <a:ext cx="36576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セルフカフェ株式会社</a:t>
            </a:r>
            <a:endParaRPr lang="en-US" sz="950" dirty="0"/>
          </a:p>
        </p:txBody>
      </p:sp>
      <p:pic>
        <p:nvPicPr>
          <p:cNvPr id="4" name="Image 1" descr="/home/user/suzuki-ceo/selfcafe-miraiya-kickoff-deck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2" y="1773936"/>
            <a:ext cx="2616098" cy="372161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812902" y="2688336"/>
            <a:ext cx="254203" cy="25603"/>
          </a:xfrm>
          <a:prstGeom prst="rect">
            <a:avLst/>
          </a:prstGeom>
          <a:solidFill>
            <a:srgbClr val="C79A44"/>
          </a:solidFill>
          <a:ln/>
        </p:spPr>
      </p:sp>
      <p:sp>
        <p:nvSpPr>
          <p:cNvPr id="6" name="Text 2"/>
          <p:cNvSpPr/>
          <p:nvPr/>
        </p:nvSpPr>
        <p:spPr>
          <a:xfrm>
            <a:off x="1194206" y="2599639"/>
            <a:ext cx="50292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CC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KICK-OFF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812902" y="28712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3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未来屋書店 秋田店　カフェ区画 業態転換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12902" y="3145536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スケジュールとご確認事項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812902" y="42245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2027年2月末のオープンに向けた工程と、事前にご確認・ご準備いただきたい事項を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整理しました。工期の目安と、仕様確定・発注の期限もあわせてご覧ください。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12902" y="5468112"/>
            <a:ext cx="711403" cy="25603"/>
          </a:xfrm>
          <a:prstGeom prst="rect">
            <a:avLst/>
          </a:prstGeom>
          <a:solidFill>
            <a:srgbClr val="C79A44"/>
          </a:solidFill>
          <a:ln/>
        </p:spPr>
      </p:sp>
      <p:sp>
        <p:nvSpPr>
          <p:cNvPr id="11" name="Text 7"/>
          <p:cNvSpPr/>
          <p:nvPr/>
        </p:nvSpPr>
        <p:spPr>
          <a:xfrm>
            <a:off x="812902" y="5742432"/>
            <a:ext cx="310896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C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r>
              <a:rPr lang="en-US" sz="1200" b="1" dirty="0">
                <a:solidFill>
                  <a:srgbClr val="F0C0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年2月末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812902" y="6144768"/>
            <a:ext cx="3383280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オープン目標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297680" y="5742432"/>
            <a:ext cx="310896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C0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3〜4</a:t>
            </a:r>
            <a:r>
              <a:rPr lang="en-US" sz="1200" b="1" dirty="0">
                <a:solidFill>
                  <a:srgbClr val="F0C0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週間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297680" y="6144768"/>
            <a:ext cx="3383280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閉店後の工事期間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772400" y="5742432"/>
            <a:ext cx="310896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C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r>
              <a:rPr lang="en-US" sz="1200" b="1" dirty="0">
                <a:solidFill>
                  <a:srgbClr val="F0C0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月上旬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772400" y="6144768"/>
            <a:ext cx="3383280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仕様確定・発注の期限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041648" y="5769864"/>
            <a:ext cx="11887" cy="533095"/>
          </a:xfrm>
          <a:prstGeom prst="rect">
            <a:avLst/>
          </a:prstGeom>
          <a:solidFill>
            <a:srgbClr val="3C5F4B"/>
          </a:solidFill>
          <a:ln/>
        </p:spPr>
      </p:sp>
      <p:sp>
        <p:nvSpPr>
          <p:cNvPr id="18" name="Shape 14"/>
          <p:cNvSpPr/>
          <p:nvPr/>
        </p:nvSpPr>
        <p:spPr>
          <a:xfrm>
            <a:off x="7516368" y="5769864"/>
            <a:ext cx="11887" cy="533095"/>
          </a:xfrm>
          <a:prstGeom prst="rect">
            <a:avLst/>
          </a:prstGeom>
          <a:solidFill>
            <a:srgbClr val="3C5F4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スケジュール案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2月末オープンは、十分に可能です。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ご希望の「1月末クリエ閉店・2月末オープン」から逆算した工程です。</a:t>
            </a:r>
            <a:endParaRPr lang="en-US" sz="1250" dirty="0"/>
          </a:p>
        </p:txBody>
      </p:sp>
      <p:pic>
        <p:nvPicPr>
          <p:cNvPr id="6" name="Image 0" descr="/home/user/suzuki-ceo/selfcafe-miraiya-kickoff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秋田店 ご確認事項とスケジュール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723437" y="1651406"/>
            <a:ext cx="1543324" cy="274320"/>
          </a:xfrm>
          <a:prstGeom prst="rect">
            <a:avLst/>
          </a:prstGeom>
          <a:solidFill>
            <a:srgbClr val="F1F8F3"/>
          </a:solidFill>
          <a:ln/>
        </p:spPr>
      </p:sp>
      <p:sp>
        <p:nvSpPr>
          <p:cNvPr id="10" name="Text 7"/>
          <p:cNvSpPr/>
          <p:nvPr/>
        </p:nvSpPr>
        <p:spPr>
          <a:xfrm>
            <a:off x="3723437" y="1651406"/>
            <a:ext cx="1561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2026年10月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285049" y="1651406"/>
            <a:ext cx="1543324" cy="274320"/>
          </a:xfrm>
          <a:prstGeom prst="rect">
            <a:avLst/>
          </a:prstGeom>
          <a:solidFill>
            <a:srgbClr val="F4F2EE"/>
          </a:solidFill>
          <a:ln/>
        </p:spPr>
      </p:sp>
      <p:sp>
        <p:nvSpPr>
          <p:cNvPr id="12" name="Text 9"/>
          <p:cNvSpPr/>
          <p:nvPr/>
        </p:nvSpPr>
        <p:spPr>
          <a:xfrm>
            <a:off x="5285049" y="1651406"/>
            <a:ext cx="1561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11月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46661" y="1651406"/>
            <a:ext cx="1543324" cy="274320"/>
          </a:xfrm>
          <a:prstGeom prst="rect">
            <a:avLst/>
          </a:prstGeom>
          <a:solidFill>
            <a:srgbClr val="F1F8F3"/>
          </a:solidFill>
          <a:ln/>
        </p:spPr>
      </p:sp>
      <p:sp>
        <p:nvSpPr>
          <p:cNvPr id="14" name="Text 11"/>
          <p:cNvSpPr/>
          <p:nvPr/>
        </p:nvSpPr>
        <p:spPr>
          <a:xfrm>
            <a:off x="6846661" y="1651406"/>
            <a:ext cx="1561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12月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408274" y="1651406"/>
            <a:ext cx="1543324" cy="274320"/>
          </a:xfrm>
          <a:prstGeom prst="rect">
            <a:avLst/>
          </a:prstGeom>
          <a:solidFill>
            <a:srgbClr val="F4F2EE"/>
          </a:solidFill>
          <a:ln/>
        </p:spPr>
      </p:sp>
      <p:sp>
        <p:nvSpPr>
          <p:cNvPr id="16" name="Text 13"/>
          <p:cNvSpPr/>
          <p:nvPr/>
        </p:nvSpPr>
        <p:spPr>
          <a:xfrm>
            <a:off x="8408274" y="1651406"/>
            <a:ext cx="1561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2027年1月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969886" y="1651406"/>
            <a:ext cx="1543324" cy="274320"/>
          </a:xfrm>
          <a:prstGeom prst="rect">
            <a:avLst/>
          </a:prstGeom>
          <a:solidFill>
            <a:srgbClr val="F1F8F3"/>
          </a:solidFill>
          <a:ln/>
        </p:spPr>
      </p:sp>
      <p:sp>
        <p:nvSpPr>
          <p:cNvPr id="18" name="Text 15"/>
          <p:cNvSpPr/>
          <p:nvPr/>
        </p:nvSpPr>
        <p:spPr>
          <a:xfrm>
            <a:off x="9969886" y="1651406"/>
            <a:ext cx="1561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2月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60197" y="1980590"/>
            <a:ext cx="10871302" cy="420624"/>
          </a:xfrm>
          <a:prstGeom prst="rect">
            <a:avLst/>
          </a:prstGeom>
          <a:solidFill>
            <a:srgbClr val="FAF8F2"/>
          </a:solidFill>
          <a:ln/>
        </p:spPr>
      </p:sp>
      <p:sp>
        <p:nvSpPr>
          <p:cNvPr id="20" name="Text 17"/>
          <p:cNvSpPr/>
          <p:nvPr/>
        </p:nvSpPr>
        <p:spPr>
          <a:xfrm>
            <a:off x="660197" y="203545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現地確認・実測（電源・給排水）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38485" y="2072030"/>
            <a:ext cx="546564" cy="237744"/>
          </a:xfrm>
          <a:prstGeom prst="roundRect">
            <a:avLst>
              <a:gd name="adj" fmla="val 19231"/>
            </a:avLst>
          </a:prstGeom>
          <a:solidFill>
            <a:srgbClr val="0C5230"/>
          </a:solidFill>
          <a:ln/>
        </p:spPr>
      </p:sp>
      <p:sp>
        <p:nvSpPr>
          <p:cNvPr id="22" name="Text 19"/>
          <p:cNvSpPr/>
          <p:nvPr/>
        </p:nvSpPr>
        <p:spPr>
          <a:xfrm>
            <a:off x="660197" y="2510942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レイアウト・仕様の確定（30坪／60坪）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285049" y="2547518"/>
            <a:ext cx="1015048" cy="237744"/>
          </a:xfrm>
          <a:prstGeom prst="roundRect">
            <a:avLst>
              <a:gd name="adj" fmla="val 19231"/>
            </a:avLst>
          </a:prstGeom>
          <a:solidFill>
            <a:srgbClr val="6FA98A"/>
          </a:solidFill>
          <a:ln/>
        </p:spPr>
      </p:sp>
      <p:sp>
        <p:nvSpPr>
          <p:cNvPr id="24" name="Shape 21"/>
          <p:cNvSpPr/>
          <p:nvPr/>
        </p:nvSpPr>
        <p:spPr>
          <a:xfrm>
            <a:off x="660197" y="2931566"/>
            <a:ext cx="10871302" cy="420624"/>
          </a:xfrm>
          <a:prstGeom prst="rect">
            <a:avLst/>
          </a:prstGeom>
          <a:solidFill>
            <a:srgbClr val="FAF8F2"/>
          </a:solidFill>
          <a:ln/>
        </p:spPr>
      </p:sp>
      <p:sp>
        <p:nvSpPr>
          <p:cNvPr id="25" name="Text 22"/>
          <p:cNvSpPr/>
          <p:nvPr/>
        </p:nvSpPr>
        <p:spPr>
          <a:xfrm>
            <a:off x="660197" y="2986430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業務委託契約の締結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65855" y="3023006"/>
            <a:ext cx="702726" cy="237744"/>
          </a:xfrm>
          <a:prstGeom prst="roundRect">
            <a:avLst>
              <a:gd name="adj" fmla="val 19231"/>
            </a:avLst>
          </a:prstGeom>
          <a:solidFill>
            <a:srgbClr val="6FA98A"/>
          </a:solidFill>
          <a:ln/>
        </p:spPr>
      </p:sp>
      <p:sp>
        <p:nvSpPr>
          <p:cNvPr id="27" name="Text 24"/>
          <p:cNvSpPr/>
          <p:nvPr/>
        </p:nvSpPr>
        <p:spPr>
          <a:xfrm>
            <a:off x="660197" y="3461918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什器・機器の発注 〜 納品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690500" y="3498494"/>
            <a:ext cx="2732822" cy="237744"/>
          </a:xfrm>
          <a:prstGeom prst="roundRect">
            <a:avLst>
              <a:gd name="adj" fmla="val 19231"/>
            </a:avLst>
          </a:prstGeom>
          <a:solidFill>
            <a:srgbClr val="0C5230"/>
          </a:solidFill>
          <a:ln/>
        </p:spPr>
      </p:sp>
      <p:sp>
        <p:nvSpPr>
          <p:cNvPr id="29" name="Text 26"/>
          <p:cNvSpPr/>
          <p:nvPr/>
        </p:nvSpPr>
        <p:spPr>
          <a:xfrm>
            <a:off x="9496474" y="346191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76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リードタイム 4〜6週間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60197" y="3882542"/>
            <a:ext cx="10871302" cy="420624"/>
          </a:xfrm>
          <a:prstGeom prst="rect">
            <a:avLst/>
          </a:prstGeom>
          <a:solidFill>
            <a:srgbClr val="FAF8F2"/>
          </a:solidFill>
          <a:ln/>
        </p:spPr>
      </p:sp>
      <p:sp>
        <p:nvSpPr>
          <p:cNvPr id="31" name="Text 28"/>
          <p:cNvSpPr/>
          <p:nvPr/>
        </p:nvSpPr>
        <p:spPr>
          <a:xfrm>
            <a:off x="660197" y="3937406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カフェ・ド・クリエ 閉店・退去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9267161" y="3973982"/>
            <a:ext cx="702726" cy="237744"/>
          </a:xfrm>
          <a:prstGeom prst="roundRect">
            <a:avLst>
              <a:gd name="adj" fmla="val 19231"/>
            </a:avLst>
          </a:prstGeom>
          <a:solidFill>
            <a:srgbClr val="A8761F"/>
          </a:solidFill>
          <a:ln/>
        </p:spPr>
      </p:sp>
      <p:sp>
        <p:nvSpPr>
          <p:cNvPr id="33" name="Text 30"/>
          <p:cNvSpPr/>
          <p:nvPr/>
        </p:nvSpPr>
        <p:spPr>
          <a:xfrm>
            <a:off x="660197" y="441289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内装工事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969886" y="4449470"/>
            <a:ext cx="858887" cy="237744"/>
          </a:xfrm>
          <a:prstGeom prst="roundRect">
            <a:avLst>
              <a:gd name="adj" fmla="val 19231"/>
            </a:avLst>
          </a:prstGeom>
          <a:solidFill>
            <a:srgbClr val="0C5230"/>
          </a:solidFill>
          <a:ln/>
        </p:spPr>
      </p:sp>
      <p:sp>
        <p:nvSpPr>
          <p:cNvPr id="35" name="Shape 32"/>
          <p:cNvSpPr/>
          <p:nvPr/>
        </p:nvSpPr>
        <p:spPr>
          <a:xfrm>
            <a:off x="660197" y="4833518"/>
            <a:ext cx="10871302" cy="420624"/>
          </a:xfrm>
          <a:prstGeom prst="rect">
            <a:avLst/>
          </a:prstGeom>
          <a:solidFill>
            <a:srgbClr val="FAF8F2"/>
          </a:solidFill>
          <a:ln/>
        </p:spPr>
      </p:sp>
      <p:sp>
        <p:nvSpPr>
          <p:cNvPr id="36" name="Text 33"/>
          <p:cNvSpPr/>
          <p:nvPr/>
        </p:nvSpPr>
        <p:spPr>
          <a:xfrm>
            <a:off x="660197" y="4888382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機器設置・試運転・什器搬入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10750692" y="4924958"/>
            <a:ext cx="546564" cy="237744"/>
          </a:xfrm>
          <a:prstGeom prst="roundRect">
            <a:avLst>
              <a:gd name="adj" fmla="val 19231"/>
            </a:avLst>
          </a:prstGeom>
          <a:solidFill>
            <a:srgbClr val="0C5230"/>
          </a:solidFill>
          <a:ln/>
        </p:spPr>
      </p:sp>
      <p:sp>
        <p:nvSpPr>
          <p:cNvPr id="38" name="Text 35"/>
          <p:cNvSpPr/>
          <p:nvPr/>
        </p:nvSpPr>
        <p:spPr>
          <a:xfrm>
            <a:off x="660197" y="5363870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オープン準備・研修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1141095" y="5400446"/>
            <a:ext cx="390403" cy="237744"/>
          </a:xfrm>
          <a:prstGeom prst="roundRect">
            <a:avLst>
              <a:gd name="adj" fmla="val 19231"/>
            </a:avLst>
          </a:prstGeom>
          <a:solidFill>
            <a:srgbClr val="6FA98A"/>
          </a:solidFill>
          <a:ln/>
        </p:spPr>
      </p:sp>
      <p:sp>
        <p:nvSpPr>
          <p:cNvPr id="40" name="Shape 37"/>
          <p:cNvSpPr/>
          <p:nvPr/>
        </p:nvSpPr>
        <p:spPr>
          <a:xfrm>
            <a:off x="11520526" y="1925726"/>
            <a:ext cx="21946" cy="3931920"/>
          </a:xfrm>
          <a:prstGeom prst="rect">
            <a:avLst/>
          </a:prstGeom>
          <a:solidFill>
            <a:srgbClr val="A8761F"/>
          </a:solidFill>
          <a:ln/>
        </p:spPr>
      </p:sp>
      <p:sp>
        <p:nvSpPr>
          <p:cNvPr id="41" name="Shape 38"/>
          <p:cNvSpPr/>
          <p:nvPr/>
        </p:nvSpPr>
        <p:spPr>
          <a:xfrm>
            <a:off x="10662818" y="5894222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A8761F"/>
          </a:solidFill>
          <a:ln/>
        </p:spPr>
      </p:sp>
      <p:sp>
        <p:nvSpPr>
          <p:cNvPr id="42" name="Text 39"/>
          <p:cNvSpPr/>
          <p:nvPr/>
        </p:nvSpPr>
        <p:spPr>
          <a:xfrm>
            <a:off x="10662818" y="589422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60197" y="5967374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0C5230"/>
          </a:solidFill>
          <a:ln/>
        </p:spPr>
      </p:sp>
      <p:sp>
        <p:nvSpPr>
          <p:cNvPr id="44" name="Text 41"/>
          <p:cNvSpPr/>
          <p:nvPr/>
        </p:nvSpPr>
        <p:spPr>
          <a:xfrm>
            <a:off x="971093" y="589422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2397557" y="5967374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A8761F"/>
          </a:solidFill>
          <a:ln/>
        </p:spPr>
      </p:sp>
      <p:sp>
        <p:nvSpPr>
          <p:cNvPr id="46" name="Text 43"/>
          <p:cNvSpPr/>
          <p:nvPr/>
        </p:nvSpPr>
        <p:spPr>
          <a:xfrm>
            <a:off x="2708453" y="589422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未来屋書店様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134917" y="5967374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6FA98A"/>
          </a:solidFill>
          <a:ln/>
        </p:spPr>
      </p:sp>
      <p:sp>
        <p:nvSpPr>
          <p:cNvPr id="48" name="Text 45"/>
          <p:cNvSpPr/>
          <p:nvPr/>
        </p:nvSpPr>
        <p:spPr>
          <a:xfrm>
            <a:off x="4445813" y="589422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両社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60197" y="6217920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目安の工程です。クリエ様の原状回復範囲、館への工事申請、什器の納期により前後します。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工期の考え方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工事は3〜4週間。ただし発注は先行して必要です。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閉店後に必要な期間と、閉店前から動かしておく必要がある期間を分けて整理しました。</a:t>
            </a:r>
            <a:endParaRPr lang="en-US" sz="1250" dirty="0"/>
          </a:p>
        </p:txBody>
      </p:sp>
      <p:pic>
        <p:nvPicPr>
          <p:cNvPr id="6" name="Image 0" descr="/home/user/suzuki-ceo/selfcafe-miraiya-kickoff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秋田店 ご確認事項とスケジュール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0197" y="1651406"/>
            <a:ext cx="10871302" cy="1920240"/>
          </a:xfrm>
          <a:prstGeom prst="roundRect">
            <a:avLst>
              <a:gd name="adj" fmla="val 2857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2805" y="1834286"/>
            <a:ext cx="10286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閉店後に必要な期間　合計 3〜4週間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52805" y="2181758"/>
            <a:ext cx="3306775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pic>
        <p:nvPicPr>
          <p:cNvPr id="12" name="Image 1" descr="/home/user/suzuki-ceo/selfcafe-miraiya-kickoff-deck/assets/icons/LuHammer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3" y="234635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70860" y="230977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76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3〜5日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53973" y="2657246"/>
            <a:ext cx="29044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残置物の撤去・下地調整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153973" y="2913278"/>
            <a:ext cx="29044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クリエ様の原状回復範囲により変動します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442460" y="2181758"/>
            <a:ext cx="3306775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pic>
        <p:nvPicPr>
          <p:cNvPr id="17" name="Image 2" descr="/home/user/suzuki-ceo/selfcafe-miraiya-kickoff-deck/assets/icons/LuRuler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628" y="234635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60515" y="230977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76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2〜3週間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643628" y="2657246"/>
            <a:ext cx="29044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内装工事（造作・床・サイン）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643628" y="2913278"/>
            <a:ext cx="29044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スタンダード仕様の場合の目安です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7932115" y="2181758"/>
            <a:ext cx="3306775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pic>
        <p:nvPicPr>
          <p:cNvPr id="22" name="Image 3" descr="/home/user/suzuki-ceo/selfcafe-miraiya-kickoff-deck/assets/icons/LuPlug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283" y="234635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0170" y="230977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76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3〜5日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133283" y="2657246"/>
            <a:ext cx="29044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機器設置・試運転・什器搬入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8133283" y="2913278"/>
            <a:ext cx="29044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電源・給排水が既存で使える前提です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660197" y="3736238"/>
            <a:ext cx="10871302" cy="1371600"/>
          </a:xfrm>
          <a:prstGeom prst="roundRect">
            <a:avLst>
              <a:gd name="adj" fmla="val 4000"/>
            </a:avLst>
          </a:prstGeom>
          <a:solidFill>
            <a:srgbClr val="FBF4E4"/>
          </a:solidFill>
          <a:ln w="9525">
            <a:solidFill>
              <a:srgbClr val="E7D3A8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52805" y="3900830"/>
            <a:ext cx="10286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6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閉店前から動かしておく期間　什器・機器の発注リードタイム 4〜6週間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52805" y="4211726"/>
            <a:ext cx="1028608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ドリンクマシン・決済端末・什器は受注生産・取り寄せとなるため、発注から納品まで4〜6週間を要します。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工事は閉店後ですが、この発注だけは閉店前に済ませておく必要があります。発注にはレイアウトと坪数（30坪／60坪）の確定が前提です。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60197" y="5285232"/>
            <a:ext cx="10871302" cy="859536"/>
          </a:xfrm>
          <a:prstGeom prst="roundRect">
            <a:avLst>
              <a:gd name="adj" fmla="val 6383"/>
            </a:avLst>
          </a:prstGeom>
          <a:solidFill>
            <a:srgbClr val="0C5230"/>
          </a:solidFill>
          <a:ln/>
        </p:spPr>
      </p:sp>
      <p:pic>
        <p:nvPicPr>
          <p:cNvPr id="30" name="Image 4" descr="/home/user/suzuki-ceo/selfcafe-miraiya-kickoff-deck/assets/icons/LuBellRing-pa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9" y="5522976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74597" y="5285232"/>
            <a:ext cx="959114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1月末閉店・2月末オープンは可能です。ただし12月上旬までに仕様確定と発注が必要です。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逆算すると、坪数とレイアウトのご決定は11月中旬まで、現地確認は10月中にお願いできれば確実です。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660197" y="6254496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館（イオンモール様）の工事申請に要する期間は含んでいません。申請期限が判明次第、工程に織り込みます。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ご確認事項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先に確定させたい事項を、期限つきで整理しました。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★印の3点は工期とコストに直結するため、優先してご確認いただけますと助かります。</a:t>
            </a:r>
            <a:endParaRPr lang="en-US" sz="1250" dirty="0"/>
          </a:p>
        </p:txBody>
      </p:sp>
      <p:pic>
        <p:nvPicPr>
          <p:cNvPr id="6" name="Image 0" descr="/home/user/suzuki-ceo/selfcafe-miraiya-kickoff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秋田店 ご確認事項とスケジュール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197" y="1651406"/>
          <a:ext cx="1087130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577840"/>
                <a:gridCol w="209306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ご確認事項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ご回答の目安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クリエ様の解約条件・閉店日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6か月前通告の取扱い、違約金の見通し、閉店日の確定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68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11月上旬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原状回復の範囲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スケルトン戻しか、造作・床・設備を残せるか。工期とコストに最も影響します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68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11月上旬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残置物・既存設備の扱い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什器・給排水・電気容量・ダクトを引き継げるか。使えれば工期が短縮できます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68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11月上旬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区画の確定（30坪／60坪）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レイアウトと什器数量が決まります。発注前の確定が必要です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68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11月中旬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館への工事申請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イオンモール様の申請様式・提出期限、工事可能時間帯、搬入ルート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E888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11月中旬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サイン表記の確定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「MIRAIYA Book &amp; Cafe」の最終表記と、館の看板規定の確認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E888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11月中旬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社内稟議の進捗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決裁完了の目処。発注判断の期限と合わせて共有させてください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E888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11月中旬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運営体制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営業時間、清掃・補充の担当、書店スタッフとの役割分担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E888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12月上旬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60197" y="5230368"/>
            <a:ext cx="10871302" cy="822960"/>
          </a:xfrm>
          <a:prstGeom prst="roundRect">
            <a:avLst>
              <a:gd name="adj" fmla="val 6667"/>
            </a:avLst>
          </a:prstGeom>
          <a:solidFill>
            <a:srgbClr val="0C5230"/>
          </a:solidFill>
          <a:ln/>
        </p:spPr>
      </p:sp>
      <p:sp>
        <p:nvSpPr>
          <p:cNvPr id="11" name="Text 7"/>
          <p:cNvSpPr/>
          <p:nvPr/>
        </p:nvSpPr>
        <p:spPr>
          <a:xfrm>
            <a:off x="971093" y="5230368"/>
            <a:ext cx="102495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まずは★印の3点から。</a:t>
            </a:r>
            <a:r>
              <a:rPr lang="en-US" sz="110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原状回復の範囲と残置設備の扱いが決まれば、工期と費用の精度が一気に上がります。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60197" y="6181344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ご回答の目安は、2月末オープンから逆算した日程です。前後する場合は工程をあらためて調整いたします。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資料と役割分担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ご提供いただきたい資料と、弊社で進めることです。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現地確認までにお手元の資料をご共有いただけますと、設計と見積りを先行して進められます。</a:t>
            </a:r>
            <a:endParaRPr lang="en-US" sz="1250" dirty="0"/>
          </a:p>
        </p:txBody>
      </p:sp>
      <p:pic>
        <p:nvPicPr>
          <p:cNvPr id="6" name="Image 0" descr="/home/user/suzuki-ceo/selfcafe-miraiya-kickoff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秋田店 ご確認事項とスケジュール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0197" y="1651406"/>
            <a:ext cx="5243627" cy="3931920"/>
          </a:xfrm>
          <a:prstGeom prst="roundRect">
            <a:avLst>
              <a:gd name="adj" fmla="val 1395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pic>
        <p:nvPicPr>
          <p:cNvPr id="10" name="Image 1" descr="/home/user/suzuki-ceo/selfcafe-miraiya-kickoff-deck/assets/icons/LuClipboardList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17" y="188915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91717" y="1834286"/>
            <a:ext cx="42377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ご提供いただきたい資料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934517" y="2364638"/>
            <a:ext cx="4694987" cy="10058"/>
          </a:xfrm>
          <a:prstGeom prst="rect">
            <a:avLst/>
          </a:prstGeom>
          <a:solidFill>
            <a:srgbClr val="D2E7DA"/>
          </a:solidFill>
          <a:ln/>
        </p:spPr>
      </p:sp>
      <p:pic>
        <p:nvPicPr>
          <p:cNvPr id="13" name="Image 2" descr="/home/user/suzuki-ceo/selfcafe-miraiya-kickoff-deck/assets/icons/LuCheck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2565806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1989" y="2510942"/>
            <a:ext cx="4329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区画の図面（平面図・展開図）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281989" y="2730398"/>
            <a:ext cx="4329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CADデータがあれば実測の手間が省けます</a:t>
            </a:r>
            <a:endParaRPr lang="en-US" sz="850" dirty="0"/>
          </a:p>
        </p:txBody>
      </p:sp>
      <p:pic>
        <p:nvPicPr>
          <p:cNvPr id="16" name="Image 3" descr="/home/user/suzuki-ceo/selfcafe-miraiya-kickoff-deck/assets/icons/LuCheck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307787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1989" y="3023006"/>
            <a:ext cx="4329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電気容量・分電盤の位置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1281989" y="3242462"/>
            <a:ext cx="4329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増設の要否がこれで判断できます</a:t>
            </a:r>
            <a:endParaRPr lang="en-US" sz="850" dirty="0"/>
          </a:p>
        </p:txBody>
      </p:sp>
      <p:pic>
        <p:nvPicPr>
          <p:cNvPr id="19" name="Image 4" descr="/home/user/suzuki-ceo/selfcafe-miraiya-kickoff-deck/assets/icons/LuCheck-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3589934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1989" y="3535070"/>
            <a:ext cx="4329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給排水の位置・系統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1281989" y="3754526"/>
            <a:ext cx="4329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製氷・給湯の可否に関わります</a:t>
            </a:r>
            <a:endParaRPr lang="en-US" sz="850" dirty="0"/>
          </a:p>
        </p:txBody>
      </p:sp>
      <p:pic>
        <p:nvPicPr>
          <p:cNvPr id="22" name="Image 5" descr="/home/user/suzuki-ceo/selfcafe-miraiya-kickoff-deck/assets/icons/LuCheck-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5" y="4101998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281989" y="4047134"/>
            <a:ext cx="4329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現況写真（既存設備・厨房まわり）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1281989" y="4266590"/>
            <a:ext cx="4329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残置物の判断材料になります</a:t>
            </a:r>
            <a:endParaRPr lang="en-US" sz="850" dirty="0"/>
          </a:p>
        </p:txBody>
      </p:sp>
      <p:pic>
        <p:nvPicPr>
          <p:cNvPr id="25" name="Image 6" descr="/home/user/suzuki-ceo/selfcafe-miraiya-kickoff-deck/assets/icons/LuCheck-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805" y="4614062"/>
            <a:ext cx="182880" cy="1828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281989" y="4559198"/>
            <a:ext cx="4329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館の工事規定・申請様式</a:t>
            </a:r>
            <a:endParaRPr lang="en-US" sz="1050" dirty="0"/>
          </a:p>
        </p:txBody>
      </p:sp>
      <p:sp>
        <p:nvSpPr>
          <p:cNvPr id="27" name="Text 18"/>
          <p:cNvSpPr/>
          <p:nvPr/>
        </p:nvSpPr>
        <p:spPr>
          <a:xfrm>
            <a:off x="1281989" y="4778654"/>
            <a:ext cx="4329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申請期限から逆算して工程を確定します</a:t>
            </a:r>
            <a:endParaRPr lang="en-US" sz="850" dirty="0"/>
          </a:p>
        </p:txBody>
      </p:sp>
      <p:pic>
        <p:nvPicPr>
          <p:cNvPr id="28" name="Image 7" descr="/home/user/suzuki-ceo/selfcafe-miraiya-kickoff-deck/assets/icons/LuCheck-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805" y="5126126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281989" y="5071262"/>
            <a:ext cx="4329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クリエ様の原状回復条件がわかる資料</a:t>
            </a:r>
            <a:endParaRPr lang="en-US" sz="1050" dirty="0"/>
          </a:p>
        </p:txBody>
      </p:sp>
      <p:sp>
        <p:nvSpPr>
          <p:cNvPr id="30" name="Text 20"/>
          <p:cNvSpPr/>
          <p:nvPr/>
        </p:nvSpPr>
        <p:spPr>
          <a:xfrm>
            <a:off x="1281989" y="5290718"/>
            <a:ext cx="4329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契約書の該当箇所の抜粋で結構です</a:t>
            </a:r>
            <a:endParaRPr lang="en-US" sz="850" dirty="0"/>
          </a:p>
        </p:txBody>
      </p:sp>
      <p:sp>
        <p:nvSpPr>
          <p:cNvPr id="31" name="Shape 21"/>
          <p:cNvSpPr/>
          <p:nvPr/>
        </p:nvSpPr>
        <p:spPr>
          <a:xfrm>
            <a:off x="6287872" y="1651406"/>
            <a:ext cx="5243627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pic>
        <p:nvPicPr>
          <p:cNvPr id="32" name="Image 8" descr="/home/user/suzuki-ceo/selfcafe-miraiya-kickoff-deck/assets/icons/LuBadgeCheck-gree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2192" y="1889150"/>
            <a:ext cx="329184" cy="329184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019392" y="1834286"/>
            <a:ext cx="42377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弊社で進めること</a:t>
            </a:r>
            <a:endParaRPr lang="en-US" sz="1400" dirty="0"/>
          </a:p>
        </p:txBody>
      </p:sp>
      <p:sp>
        <p:nvSpPr>
          <p:cNvPr id="34" name="Shape 23"/>
          <p:cNvSpPr/>
          <p:nvPr/>
        </p:nvSpPr>
        <p:spPr>
          <a:xfrm>
            <a:off x="6562192" y="2364638"/>
            <a:ext cx="4694987" cy="10058"/>
          </a:xfrm>
          <a:prstGeom prst="rect">
            <a:avLst/>
          </a:prstGeom>
          <a:solidFill>
            <a:srgbClr val="EFEAE0"/>
          </a:solidFill>
          <a:ln/>
        </p:spPr>
      </p:sp>
      <p:pic>
        <p:nvPicPr>
          <p:cNvPr id="35" name="Image 9" descr="/home/user/suzuki-ceo/selfcafe-miraiya-kickoff-deck/assets/icons/LuCheck-gree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0480" y="2565806"/>
            <a:ext cx="182880" cy="18288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909664" y="2510942"/>
            <a:ext cx="4329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現地確認の日程調整</a:t>
            </a:r>
            <a:endParaRPr lang="en-US" sz="1050" dirty="0"/>
          </a:p>
        </p:txBody>
      </p:sp>
      <p:sp>
        <p:nvSpPr>
          <p:cNvPr id="37" name="Text 25"/>
          <p:cNvSpPr/>
          <p:nvPr/>
        </p:nvSpPr>
        <p:spPr>
          <a:xfrm>
            <a:off x="6909664" y="2730398"/>
            <a:ext cx="4329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10月中にお伺いできればと存じます</a:t>
            </a:r>
            <a:endParaRPr lang="en-US" sz="850" dirty="0"/>
          </a:p>
        </p:txBody>
      </p:sp>
      <p:pic>
        <p:nvPicPr>
          <p:cNvPr id="38" name="Image 10" descr="/home/user/suzuki-ceo/selfcafe-miraiya-kickoff-deck/assets/icons/LuCheck-gree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0480" y="3077870"/>
            <a:ext cx="182880" cy="18288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909664" y="3023006"/>
            <a:ext cx="4329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レイアウト図・什器リストの作成</a:t>
            </a:r>
            <a:endParaRPr lang="en-US" sz="1050" dirty="0"/>
          </a:p>
        </p:txBody>
      </p:sp>
      <p:sp>
        <p:nvSpPr>
          <p:cNvPr id="40" name="Text 27"/>
          <p:cNvSpPr/>
          <p:nvPr/>
        </p:nvSpPr>
        <p:spPr>
          <a:xfrm>
            <a:off x="6909664" y="3242462"/>
            <a:ext cx="4329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30坪・60坪の両案でご用意します</a:t>
            </a:r>
            <a:endParaRPr lang="en-US" sz="850" dirty="0"/>
          </a:p>
        </p:txBody>
      </p:sp>
      <p:pic>
        <p:nvPicPr>
          <p:cNvPr id="41" name="Image 11" descr="/home/user/suzuki-ceo/selfcafe-miraiya-kickoff-deck/assets/icons/LuCheck-gree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0480" y="3589934"/>
            <a:ext cx="182880" cy="18288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6909664" y="3535070"/>
            <a:ext cx="4329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工事費・初期費用のお見積り</a:t>
            </a:r>
            <a:endParaRPr lang="en-US" sz="1050" dirty="0"/>
          </a:p>
        </p:txBody>
      </p:sp>
      <p:sp>
        <p:nvSpPr>
          <p:cNvPr id="43" name="Text 29"/>
          <p:cNvSpPr/>
          <p:nvPr/>
        </p:nvSpPr>
        <p:spPr>
          <a:xfrm>
            <a:off x="6909664" y="3754526"/>
            <a:ext cx="4329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原状回復の範囲が判明次第お出しします</a:t>
            </a:r>
            <a:endParaRPr lang="en-US" sz="850" dirty="0"/>
          </a:p>
        </p:txBody>
      </p:sp>
      <p:pic>
        <p:nvPicPr>
          <p:cNvPr id="44" name="Image 12" descr="/home/user/suzuki-ceo/selfcafe-miraiya-kickoff-deck/assets/icons/LuCheck-gree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0480" y="4101998"/>
            <a:ext cx="182880" cy="182880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6909664" y="4047134"/>
            <a:ext cx="4329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業務委託契約書のドラフト送付</a:t>
            </a:r>
            <a:endParaRPr lang="en-US" sz="1050" dirty="0"/>
          </a:p>
        </p:txBody>
      </p:sp>
      <p:sp>
        <p:nvSpPr>
          <p:cNvPr id="46" name="Text 31"/>
          <p:cNvSpPr/>
          <p:nvPr/>
        </p:nvSpPr>
        <p:spPr>
          <a:xfrm>
            <a:off x="6909664" y="4266590"/>
            <a:ext cx="4329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11月上旬を目途にお送りします</a:t>
            </a:r>
            <a:endParaRPr lang="en-US" sz="850" dirty="0"/>
          </a:p>
        </p:txBody>
      </p:sp>
      <p:pic>
        <p:nvPicPr>
          <p:cNvPr id="47" name="Image 13" descr="/home/user/suzuki-ceo/selfcafe-miraiya-kickoff-deck/assets/icons/LuCheck-gree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0480" y="4614062"/>
            <a:ext cx="182880" cy="182880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6909664" y="4559198"/>
            <a:ext cx="4329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館への工事申請のサポート</a:t>
            </a:r>
            <a:endParaRPr lang="en-US" sz="1050" dirty="0"/>
          </a:p>
        </p:txBody>
      </p:sp>
      <p:sp>
        <p:nvSpPr>
          <p:cNvPr id="49" name="Text 33"/>
          <p:cNvSpPr/>
          <p:nvPr/>
        </p:nvSpPr>
        <p:spPr>
          <a:xfrm>
            <a:off x="6909664" y="4778654"/>
            <a:ext cx="4329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図面・仕様書の作成を弊社で行います</a:t>
            </a:r>
            <a:endParaRPr lang="en-US" sz="850" dirty="0"/>
          </a:p>
        </p:txBody>
      </p:sp>
      <p:pic>
        <p:nvPicPr>
          <p:cNvPr id="50" name="Image 14" descr="/home/user/suzuki-ceo/selfcafe-miraiya-kickoff-deck/assets/icons/LuCheck-green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0480" y="5126126"/>
            <a:ext cx="182880" cy="182880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6909664" y="5071262"/>
            <a:ext cx="4329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開業スケジュールの確定版の提示</a:t>
            </a:r>
            <a:endParaRPr lang="en-US" sz="1050" dirty="0"/>
          </a:p>
        </p:txBody>
      </p:sp>
      <p:sp>
        <p:nvSpPr>
          <p:cNvPr id="52" name="Text 35"/>
          <p:cNvSpPr/>
          <p:nvPr/>
        </p:nvSpPr>
        <p:spPr>
          <a:xfrm>
            <a:off x="6909664" y="5290718"/>
            <a:ext cx="4329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現地確認後に確定版をお送りします</a:t>
            </a:r>
            <a:endParaRPr lang="en-US" sz="850" dirty="0"/>
          </a:p>
        </p:txBody>
      </p:sp>
      <p:sp>
        <p:nvSpPr>
          <p:cNvPr id="53" name="Text 36"/>
          <p:cNvSpPr/>
          <p:nvPr/>
        </p:nvSpPr>
        <p:spPr>
          <a:xfrm>
            <a:off x="660197" y="5852160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すべてが揃っていなくても構いません。お手元にあるものから順次ご共有いただければ、こちらで補いながら進めます。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直近のお願い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まずは現地確認の日程をいただけますでしょうか。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現地を拝見できれば、残置設備の活用可否と工期・費用の精度が大きく上がります。</a:t>
            </a:r>
            <a:endParaRPr lang="en-US" sz="1250" dirty="0"/>
          </a:p>
        </p:txBody>
      </p:sp>
      <p:pic>
        <p:nvPicPr>
          <p:cNvPr id="6" name="Image 0" descr="/home/user/suzuki-ceo/selfcafe-miraiya-kickoff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秋田店 ご確認事項とスケジュール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0197" y="1651406"/>
            <a:ext cx="2013326" cy="248716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9653" y="187086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900" dirty="0"/>
          </a:p>
        </p:txBody>
      </p:sp>
      <p:pic>
        <p:nvPicPr>
          <p:cNvPr id="11" name="Image 1" descr="/home/user/suzuki-ceo/selfcafe-miraiya-kickoff-deck/assets/icons/LuCalendarCheck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155" y="183428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9653" y="2218334"/>
            <a:ext cx="15744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現地確認（10月中）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79653" y="2730398"/>
            <a:ext cx="1574414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4" name="Text 10"/>
          <p:cNvSpPr/>
          <p:nvPr/>
        </p:nvSpPr>
        <p:spPr>
          <a:xfrm>
            <a:off x="879653" y="2858414"/>
            <a:ext cx="1574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区画・電源・給排水・動線と、既存設備の活用可否を確認します。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874691" y="1651406"/>
            <a:ext cx="2013326" cy="248716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094147" y="187086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900" dirty="0"/>
          </a:p>
        </p:txBody>
      </p:sp>
      <p:pic>
        <p:nvPicPr>
          <p:cNvPr id="17" name="Image 2" descr="/home/user/suzuki-ceo/selfcafe-miraiya-kickoff-deck/assets/icons/LuRuler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649" y="183428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094147" y="2218334"/>
            <a:ext cx="15744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レイアウト・見積り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094147" y="2730398"/>
            <a:ext cx="1574414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20" name="Text 15"/>
          <p:cNvSpPr/>
          <p:nvPr/>
        </p:nvSpPr>
        <p:spPr>
          <a:xfrm>
            <a:off x="3094147" y="2858414"/>
            <a:ext cx="1574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30坪・60坪の両案で図面と費用をお出しします。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089185" y="1651406"/>
            <a:ext cx="2013326" cy="248716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308641" y="187086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900" dirty="0"/>
          </a:p>
        </p:txBody>
      </p:sp>
      <p:pic>
        <p:nvPicPr>
          <p:cNvPr id="23" name="Image 3" descr="/home/user/suzuki-ceo/selfcafe-miraiya-kickoff-deck/assets/icons/LuPenLine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143" y="1834286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08641" y="2218334"/>
            <a:ext cx="15744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区画確定・契約締結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308641" y="2730398"/>
            <a:ext cx="1574414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26" name="Text 20"/>
          <p:cNvSpPr/>
          <p:nvPr/>
        </p:nvSpPr>
        <p:spPr>
          <a:xfrm>
            <a:off x="5308641" y="2858414"/>
            <a:ext cx="1574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坪数をご決定いただき、業務委託契約を締結します。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7303679" y="1651406"/>
            <a:ext cx="2013326" cy="2487168"/>
          </a:xfrm>
          <a:prstGeom prst="roundRect">
            <a:avLst>
              <a:gd name="adj" fmla="val 2725"/>
            </a:avLst>
          </a:prstGeom>
          <a:solidFill>
            <a:srgbClr val="FBF4E4"/>
          </a:solidFill>
          <a:ln w="9525">
            <a:solidFill>
              <a:srgbClr val="E7D3A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523135" y="187086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900" dirty="0"/>
          </a:p>
        </p:txBody>
      </p:sp>
      <p:pic>
        <p:nvPicPr>
          <p:cNvPr id="29" name="Image 4" descr="/home/user/suzuki-ceo/selfcafe-miraiya-kickoff-deck/assets/icons/LuShoppingBag-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8636" y="1834286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523135" y="2218334"/>
            <a:ext cx="15744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6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発注（12月上旬）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7523135" y="2730398"/>
            <a:ext cx="1574414" cy="10058"/>
          </a:xfrm>
          <a:prstGeom prst="rect">
            <a:avLst/>
          </a:prstGeom>
          <a:solidFill>
            <a:srgbClr val="E7D3A8"/>
          </a:solidFill>
          <a:ln/>
        </p:spPr>
      </p:sp>
      <p:sp>
        <p:nvSpPr>
          <p:cNvPr id="32" name="Text 25"/>
          <p:cNvSpPr/>
          <p:nvPr/>
        </p:nvSpPr>
        <p:spPr>
          <a:xfrm>
            <a:off x="7523135" y="2858414"/>
            <a:ext cx="1574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什器・機器を発注します。ここが工程上の分岐点です。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9518172" y="1651406"/>
            <a:ext cx="2013326" cy="248716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9737628" y="187086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05</a:t>
            </a:r>
            <a:endParaRPr lang="en-US" sz="900" dirty="0"/>
          </a:p>
        </p:txBody>
      </p:sp>
      <p:pic>
        <p:nvPicPr>
          <p:cNvPr id="35" name="Image 5" descr="/home/user/suzuki-ceo/selfcafe-miraiya-kickoff-deck/assets/icons/LuStore-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3130" y="1834286"/>
            <a:ext cx="329184" cy="32918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737628" y="2218334"/>
            <a:ext cx="15744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工事・オープン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9737628" y="2730398"/>
            <a:ext cx="1574414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38" name="Text 30"/>
          <p:cNvSpPr/>
          <p:nvPr/>
        </p:nvSpPr>
        <p:spPr>
          <a:xfrm>
            <a:off x="9737628" y="2858414"/>
            <a:ext cx="1574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1月末の閉店後に着工し、2月末のオープンを目指します。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660197" y="4376318"/>
            <a:ext cx="10871302" cy="1737360"/>
          </a:xfrm>
          <a:prstGeom prst="roundRect">
            <a:avLst>
              <a:gd name="adj" fmla="val 3158"/>
            </a:avLst>
          </a:prstGeom>
          <a:solidFill>
            <a:srgbClr val="0C5230"/>
          </a:solidFill>
          <a:ln/>
        </p:spPr>
      </p:sp>
      <p:pic>
        <p:nvPicPr>
          <p:cNvPr id="40" name="Image 6" descr="/home/user/suzuki-ceo/selfcafe-miraiya-kickoff-deck/assets/logo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533" y="4632350"/>
            <a:ext cx="2093976" cy="29809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062533" y="507126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ご不明な点は、お気軽にお問い合わせください。</a:t>
            </a:r>
            <a:endParaRPr lang="en-US" sz="1300" dirty="0"/>
          </a:p>
        </p:txBody>
      </p:sp>
      <p:pic>
        <p:nvPicPr>
          <p:cNvPr id="42" name="Image 7" descr="/home/user/suzuki-ceo/selfcafe-miraiya-kickoff-deck/assets/icons/LuPhone-pa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6757" y="4650638"/>
            <a:ext cx="219456" cy="21945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792517" y="459577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C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8615477" y="459577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052-879-3557</a:t>
            </a:r>
            <a:endParaRPr lang="en-US" sz="1300" dirty="0"/>
          </a:p>
        </p:txBody>
      </p:sp>
      <p:pic>
        <p:nvPicPr>
          <p:cNvPr id="45" name="Image 8" descr="/home/user/suzuki-ceo/selfcafe-miraiya-kickoff-deck/assets/icons/LuMail-pa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6757" y="5107838"/>
            <a:ext cx="219456" cy="219456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7792517" y="505297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C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8615477" y="505297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info@selfcafe.jp</a:t>
            </a:r>
            <a:endParaRPr lang="en-US" sz="1300" dirty="0"/>
          </a:p>
        </p:txBody>
      </p:sp>
      <p:pic>
        <p:nvPicPr>
          <p:cNvPr id="48" name="Image 9" descr="/home/user/suzuki-ceo/selfcafe-miraiya-kickoff-deck/assets/icons/LuGlobe-pa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6757" y="5565038"/>
            <a:ext cx="219456" cy="219456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7792517" y="551017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C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900" dirty="0"/>
          </a:p>
        </p:txBody>
      </p:sp>
      <p:sp>
        <p:nvSpPr>
          <p:cNvPr id="50" name="Text 38"/>
          <p:cNvSpPr/>
          <p:nvPr/>
        </p:nvSpPr>
        <p:spPr>
          <a:xfrm>
            <a:off x="8615477" y="551017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https://selfcafe.jp/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セルフカフェ × 未来屋書店 秋田店 ご確認事項とスケジュール</dc:title>
  <dc:subject>PptxGenJS Presentation</dc:subject>
  <dc:creator>セルフカフェ株式会社</dc:creator>
  <cp:lastModifiedBy>セルフカフェ株式会社</cp:lastModifiedBy>
  <cp:revision>1</cp:revision>
  <dcterms:created xsi:type="dcterms:W3CDTF">2026-10-17T07:34:28Z</dcterms:created>
  <dcterms:modified xsi:type="dcterms:W3CDTF">2026-10-17T07:34:28Z</dcterms:modified>
</cp:coreProperties>
</file>