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areaChart>
        <c:grouping val="standard"/>
        <c:varyColors val="0"/>
        <c:ser>
          <c:idx val="0"/>
          <c:order val="0"/>
          <c:tx>
            <c:strRef>
              <c:f>Sheet1!$B$1</c:f>
              <c:strCache>
                <c:ptCount val="1"/>
                <c:pt idx="0">
                  <c:v>店舗数</c:v>
                </c:pt>
              </c:strCache>
            </c:strRef>
          </c:tx>
          <c:spPr>
            <a:solidFill>
              <a:srgbClr val="106838">
                <a:alpha val="32000"/>
              </a:srgbClr>
            </a:solidFill>
            <a:effectLst/>
          </c:spP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Sheet1!$A$2:$A$48</c:f>
              <c:multiLvlStrCache>
                <c:ptCount val="47"/>
                <c:lvl>
                  <c:pt idx="0">
                    <c:v>2022.09</c:v>
                  </c:pt>
                  <c:pt idx="1">
                    <c:v/>
                  </c:pt>
                  <c:pt idx="2">
                    <c:v/>
                  </c:pt>
                  <c:pt idx="3">
                    <c:v/>
                  </c:pt>
                  <c:pt idx="4">
                    <c:v/>
                  </c:pt>
                  <c:pt idx="5">
                    <c:v/>
                  </c:pt>
                  <c:pt idx="6">
                    <c:v/>
                  </c:pt>
                  <c:pt idx="7">
                    <c:v/>
                  </c:pt>
                  <c:pt idx="8">
                    <c:v/>
                  </c:pt>
                  <c:pt idx="9">
                    <c:v/>
                  </c:pt>
                  <c:pt idx="10">
                    <c:v/>
                  </c:pt>
                  <c:pt idx="11">
                    <c:v/>
                  </c:pt>
                  <c:pt idx="12">
                    <c:v>2023.09</c:v>
                  </c:pt>
                  <c:pt idx="13">
                    <c:v/>
                  </c:pt>
                  <c:pt idx="14">
                    <c:v/>
                  </c:pt>
                  <c:pt idx="15">
                    <c:v/>
                  </c:pt>
                  <c:pt idx="16">
                    <c:v/>
                  </c:pt>
                  <c:pt idx="17">
                    <c:v/>
                  </c:pt>
                  <c:pt idx="18">
                    <c:v/>
                  </c:pt>
                  <c:pt idx="19">
                    <c:v/>
                  </c:pt>
                  <c:pt idx="20">
                    <c:v/>
                  </c:pt>
                  <c:pt idx="21">
                    <c:v/>
                  </c:pt>
                  <c:pt idx="22">
                    <c:v/>
                  </c:pt>
                  <c:pt idx="23">
                    <c:v/>
                  </c:pt>
                  <c:pt idx="24">
                    <c:v>2024.09</c:v>
                  </c:pt>
                  <c:pt idx="25">
                    <c:v/>
                  </c:pt>
                  <c:pt idx="26">
                    <c:v/>
                  </c:pt>
                  <c:pt idx="27">
                    <c:v/>
                  </c:pt>
                  <c:pt idx="28">
                    <c:v/>
                  </c:pt>
                  <c:pt idx="29">
                    <c:v/>
                  </c:pt>
                  <c:pt idx="30">
                    <c:v/>
                  </c:pt>
                  <c:pt idx="31">
                    <c:v/>
                  </c:pt>
                  <c:pt idx="32">
                    <c:v/>
                  </c:pt>
                  <c:pt idx="33">
                    <c:v/>
                  </c:pt>
                  <c:pt idx="34">
                    <c:v/>
                  </c:pt>
                  <c:pt idx="35">
                    <c:v/>
                  </c:pt>
                  <c:pt idx="36">
                    <c:v>2025.09</c:v>
                  </c:pt>
                  <c:pt idx="37">
                    <c:v/>
                  </c:pt>
                  <c:pt idx="38">
                    <c:v/>
                  </c:pt>
                  <c:pt idx="39">
                    <c:v/>
                  </c:pt>
                  <c:pt idx="40">
                    <c:v/>
                  </c:pt>
                  <c:pt idx="41">
                    <c:v/>
                  </c:pt>
                  <c:pt idx="42">
                    <c:v/>
                  </c:pt>
                  <c:pt idx="43">
                    <c:v/>
                  </c:pt>
                  <c:pt idx="44">
                    <c:v/>
                  </c:pt>
                  <c:pt idx="45">
                    <c:v/>
                  </c:pt>
                  <c:pt idx="46">
                    <c:v>2026.07</c:v>
                  </c:pt>
                </c:lvl>
              </c:multiLvlStrCache>
            </c:multiLvlStrRef>
          </c:cat>
          <c:val>
            <c:numRef>
              <c:f>Sheet1!$B$2:$B$48</c:f>
              <c:numCache>
                <c:formatCode>General</c:formatCode>
                <c:ptCount val="47"/>
                <c:pt idx="0">
                  <c:v>1</c:v>
                </c:pt>
                <c:pt idx="1">
                  <c:v>1</c:v>
                </c:pt>
                <c:pt idx="2">
                  <c:v>1</c:v>
                </c:pt>
                <c:pt idx="3">
                  <c:v>1</c:v>
                </c:pt>
                <c:pt idx="4">
                  <c:v>1</c:v>
                </c:pt>
                <c:pt idx="5">
                  <c:v>1</c:v>
                </c:pt>
                <c:pt idx="6">
                  <c:v>1</c:v>
                </c:pt>
                <c:pt idx="7">
                  <c:v>1</c:v>
                </c:pt>
                <c:pt idx="8">
                  <c:v>1</c:v>
                </c:pt>
                <c:pt idx="9">
                  <c:v>1</c:v>
                </c:pt>
                <c:pt idx="10">
                  <c:v>1</c:v>
                </c:pt>
                <c:pt idx="11">
                  <c:v>1</c:v>
                </c:pt>
                <c:pt idx="12">
                  <c:v>2</c:v>
                </c:pt>
                <c:pt idx="13">
                  <c:v>4</c:v>
                </c:pt>
                <c:pt idx="14">
                  <c:v>8</c:v>
                </c:pt>
                <c:pt idx="15">
                  <c:v>8</c:v>
                </c:pt>
                <c:pt idx="16">
                  <c:v>9</c:v>
                </c:pt>
                <c:pt idx="17">
                  <c:v>9</c:v>
                </c:pt>
                <c:pt idx="18">
                  <c:v>12</c:v>
                </c:pt>
                <c:pt idx="19">
                  <c:v>17</c:v>
                </c:pt>
                <c:pt idx="20">
                  <c:v>19</c:v>
                </c:pt>
                <c:pt idx="21">
                  <c:v>21</c:v>
                </c:pt>
                <c:pt idx="22">
                  <c:v>22</c:v>
                </c:pt>
                <c:pt idx="23">
                  <c:v>23</c:v>
                </c:pt>
                <c:pt idx="24">
                  <c:v>23</c:v>
                </c:pt>
                <c:pt idx="25">
                  <c:v>25</c:v>
                </c:pt>
                <c:pt idx="26">
                  <c:v>28</c:v>
                </c:pt>
                <c:pt idx="27">
                  <c:v>31</c:v>
                </c:pt>
                <c:pt idx="28">
                  <c:v>32</c:v>
                </c:pt>
                <c:pt idx="29">
                  <c:v>34</c:v>
                </c:pt>
                <c:pt idx="30">
                  <c:v>39</c:v>
                </c:pt>
                <c:pt idx="31">
                  <c:v>42</c:v>
                </c:pt>
                <c:pt idx="32">
                  <c:v>44</c:v>
                </c:pt>
                <c:pt idx="33">
                  <c:v>44</c:v>
                </c:pt>
                <c:pt idx="34">
                  <c:v>46</c:v>
                </c:pt>
                <c:pt idx="35">
                  <c:v>47</c:v>
                </c:pt>
                <c:pt idx="36">
                  <c:v>48</c:v>
                </c:pt>
                <c:pt idx="37">
                  <c:v>48</c:v>
                </c:pt>
                <c:pt idx="38">
                  <c:v>50</c:v>
                </c:pt>
                <c:pt idx="39">
                  <c:v>50</c:v>
                </c:pt>
                <c:pt idx="40">
                  <c:v>51</c:v>
                </c:pt>
                <c:pt idx="41">
                  <c:v>55</c:v>
                </c:pt>
                <c:pt idx="42">
                  <c:v>58</c:v>
                </c:pt>
                <c:pt idx="43">
                  <c:v>61</c:v>
                </c:pt>
                <c:pt idx="44">
                  <c:v>64</c:v>
                </c:pt>
                <c:pt idx="45">
                  <c:v>67</c:v>
                </c:pt>
                <c:pt idx="46">
                  <c:v>71</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axId val="2094734554"/>
        <c:axId val="2094734552"/>
      </c:area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900" b="0" i="0" u="none" strike="noStrike">
                <a:solidFill>
                  <a:srgbClr val="7E8882"/>
                </a:solidFill>
                <a:latin typeface="Arial"/>
              </a:defRPr>
            </a:pPr>
            <a:endParaRPr lang="en-US"/>
          </a:p>
        </c:txPr>
        <c:crossAx val="2094734552"/>
        <c:crosses val="autoZero"/>
        <c:auto val="1"/>
        <c:lblAlgn val="ctr"/>
        <c:tickLblSkip val="1"/>
        <c:noMultiLvlLbl val="1"/>
      </c:catAx>
      <c:valAx>
        <c:axId val="2094734552"/>
        <c:scaling>
          <c:orientation val="minMax"/>
          <c:max val="75"/>
          <c:min val="0"/>
        </c:scaling>
        <c:delete val="0"/>
        <c:axPos val="l"/>
        <c:majorGridlines>
          <c:spPr>
            <a:ln w="9525" cap="flat">
              <a:solidFill>
                <a:srgbClr val="EFEAE0"/>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900" b="0" i="0" u="none" strike="noStrike">
                <a:solidFill>
                  <a:srgbClr val="7E8882"/>
                </a:solidFill>
                <a:latin typeface="Arial"/>
              </a:defRPr>
            </a:pPr>
            <a:endParaRPr lang="en-US"/>
          </a:p>
        </c:txPr>
        <c:crossAx val="2094734554"/>
        <c:crosses val="autoZero"/>
        <c:crossBetween val="between"/>
        <c:majorUnit val="25"/>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構成比</c:v>
                </c:pt>
              </c:strCache>
            </c:strRef>
          </c:tx>
          <c:spPr>
            <a:solidFill>
              <a:srgbClr val="A9C6B5"/>
            </a:solidFill>
            <a:effectLst/>
          </c:spPr>
          <c:invertIfNegative val="0"/>
          <c:dPt>
            <c:idx val="0"/>
            <c:invertIfNegative val="0"/>
            <c:bubble3D val="0"/>
            <c:spPr>
              <a:solidFill>
                <a:srgbClr val="A9C6B5"/>
              </a:solidFill>
              <a:effectLst/>
            </c:spPr>
          </c:dPt>
          <c:dPt>
            <c:idx val="1"/>
            <c:invertIfNegative val="0"/>
            <c:bubble3D val="0"/>
            <c:spPr>
              <a:solidFill>
                <a:srgbClr val="106838"/>
              </a:solidFill>
              <a:effectLst/>
            </c:spPr>
          </c:dPt>
          <c:dPt>
            <c:idx val="2"/>
            <c:invertIfNegative val="0"/>
            <c:bubble3D val="0"/>
            <c:spPr>
              <a:solidFill>
                <a:srgbClr val="106838"/>
              </a:solidFill>
              <a:effectLst/>
            </c:spPr>
          </c:dPt>
          <c:dPt>
            <c:idx val="3"/>
            <c:invertIfNegative val="0"/>
            <c:bubble3D val="0"/>
            <c:spPr>
              <a:solidFill>
                <a:srgbClr val="106838"/>
              </a:solidFill>
              <a:effectLst/>
            </c:spPr>
          </c:dPt>
          <c:dPt>
            <c:idx val="4"/>
            <c:invertIfNegative val="0"/>
            <c:bubble3D val="0"/>
            <c:spPr>
              <a:solidFill>
                <a:srgbClr val="106838"/>
              </a:solidFill>
              <a:effectLst/>
            </c:spPr>
          </c:dPt>
          <c:dPt>
            <c:idx val="5"/>
            <c:invertIfNegative val="0"/>
            <c:bubble3D val="0"/>
            <c:spPr>
              <a:solidFill>
                <a:srgbClr val="D2E7DA"/>
              </a:solidFill>
              <a:effectLst/>
            </c:spPr>
          </c:dPt>
          <c:dPt>
            <c:idx val="6"/>
            <c:invertIfNegative val="0"/>
            <c:bubble3D val="0"/>
            <c:spPr>
              <a:solidFill>
                <a:srgbClr val="D2E7DA"/>
              </a:solidFill>
              <a:effectLst/>
            </c:spPr>
          </c:dPt>
          <c:dPt>
            <c:idx val="7"/>
            <c:invertIfNegative val="0"/>
            <c:bubble3D val="0"/>
            <c:spPr>
              <a:solidFill>
                <a:srgbClr val="D8D2C6"/>
              </a:solidFill>
              <a:effectLst/>
            </c:spPr>
          </c:dPt>
          <c:dLbls>
            <c:numFmt formatCode="0&quot;%&quot;" sourceLinked="0"/>
            <c:txPr>
              <a:bodyPr/>
              <a:lstStyle/>
              <a:p>
                <a:pPr>
                  <a:defRPr b="0" i="0" strike="noStrike" sz="950" u="none">
                    <a:solidFill>
                      <a:srgbClr val="106838"/>
                    </a:solidFill>
                    <a:latin typeface="Arial"/>
                  </a:defRPr>
                </a:pPr>
              </a:p>
            </c:txPr>
            <c:showLegendKey val="0"/>
            <c:showVal val="1"/>
            <c:showCatName val="0"/>
            <c:showSerName val="0"/>
            <c:showPercent val="0"/>
            <c:showBubbleSize val="0"/>
            <c:showLeaderLines val="0"/>
          </c:dLbls>
          <c:cat>
            <c:multiLvlStrRef>
              <c:f>Sheet1!$A$2:$A$9</c:f>
              <c:multiLvlStrCache>
                <c:ptCount val="8"/>
                <c:lvl>
                  <c:pt idx="0">
                    <c:v>〜14</c:v>
                  </c:pt>
                  <c:pt idx="1">
                    <c:v>15〜19</c:v>
                  </c:pt>
                  <c:pt idx="2">
                    <c:v>20〜29</c:v>
                  </c:pt>
                  <c:pt idx="3">
                    <c:v>30〜39</c:v>
                  </c:pt>
                  <c:pt idx="4">
                    <c:v>40〜49</c:v>
                  </c:pt>
                  <c:pt idx="5">
                    <c:v>50〜59</c:v>
                  </c:pt>
                  <c:pt idx="6">
                    <c:v>60〜</c:v>
                  </c:pt>
                  <c:pt idx="7">
                    <c:v>未回答</c:v>
                  </c:pt>
                </c:lvl>
              </c:multiLvlStrCache>
            </c:multiLvlStrRef>
          </c:cat>
          <c:val>
            <c:numRef>
              <c:f>Sheet1!$B$2:$B$9</c:f>
              <c:numCache>
                <c:formatCode>General</c:formatCode>
                <c:ptCount val="8"/>
                <c:pt idx="0">
                  <c:v>3</c:v>
                </c:pt>
                <c:pt idx="1">
                  <c:v>24</c:v>
                </c:pt>
                <c:pt idx="2">
                  <c:v>29</c:v>
                </c:pt>
                <c:pt idx="3">
                  <c:v>16</c:v>
                </c:pt>
                <c:pt idx="4">
                  <c:v>13</c:v>
                </c:pt>
                <c:pt idx="5">
                  <c:v>4</c:v>
                </c:pt>
                <c:pt idx="6">
                  <c:v>1</c:v>
                </c:pt>
                <c:pt idx="7">
                  <c:v>10</c:v>
                </c:pt>
              </c:numCache>
            </c:numRef>
          </c:val>
        </c:ser>
        <c:dLbls>
          <c:numFmt formatCode="0&quot;%&quot;" sourceLinked="0"/>
          <c:txPr>
            <a:bodyPr/>
            <a:lstStyle/>
            <a:p>
              <a:pPr>
                <a:defRPr b="0" i="0" strike="noStrike" sz="950" u="none">
                  <a:solidFill>
                    <a:srgbClr val="106838"/>
                  </a:solidFill>
                  <a:latin typeface="Arial"/>
                </a:defRPr>
              </a:pPr>
            </a:p>
          </c:txPr>
          <c:showLegendKey val="0"/>
          <c:showVal val="1"/>
          <c:showCatName val="0"/>
          <c:showSerName val="0"/>
          <c:showPercent val="0"/>
          <c:showBubbleSize val="0"/>
          <c:showLeaderLines val="0"/>
        </c:dLbls>
        <c:gapWidth val="45"/>
        <c:overlap val="0"/>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900" b="0" i="0" u="none" strike="noStrike">
                <a:solidFill>
                  <a:srgbClr val="7E8882"/>
                </a:solidFill>
                <a:latin typeface="Arial"/>
              </a:defRPr>
            </a:pPr>
            <a:endParaRPr lang="en-US"/>
          </a:p>
        </c:txPr>
        <c:crossAx val="2094734552"/>
        <c:crosses val="autoZero"/>
        <c:auto val="1"/>
        <c:lblAlgn val="ctr"/>
        <c:noMultiLvlLbl val="1"/>
      </c:catAx>
      <c:valAx>
        <c:axId val="2094734552"/>
        <c:scaling>
          <c:orientation val="minMax"/>
          <c:max val="36"/>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利用目的</c:v>
                </c:pt>
              </c:strCache>
            </c:strRef>
          </c:tx>
          <c:spPr>
            <a:solidFill>
              <a:schemeClr val="accent1"/>
            </a:solidFill>
            <a:ln w="9525" cap="flat">
              <a:solidFill>
                <a:srgbClr val="F9F9F9"/>
              </a:solidFill>
              <a:prstDash val="solid"/>
              <a:round/>
            </a:ln>
            <a:effectLst/>
          </c:spPr>
          <c:dPt>
            <c:idx val="0"/>
            <c:bubble3D val="0"/>
            <c:spPr>
              <a:solidFill>
                <a:srgbClr val="106838"/>
              </a:solidFill>
              <a:effectLst/>
            </c:spPr>
          </c:dPt>
          <c:dPt>
            <c:idx val="1"/>
            <c:bubble3D val="0"/>
            <c:spPr>
              <a:solidFill>
                <a:srgbClr val="A8761F"/>
              </a:solidFill>
              <a:effectLst/>
            </c:spPr>
          </c:dPt>
          <c:dPt>
            <c:idx val="2"/>
            <c:bubble3D val="0"/>
            <c:spPr>
              <a:solidFill>
                <a:srgbClr val="A9C6B5"/>
              </a:solidFill>
              <a:effectLst/>
            </c:spPr>
          </c:dPt>
          <c:dPt>
            <c:idx val="3"/>
            <c:bubble3D val="0"/>
            <c:spPr>
              <a:solidFill>
                <a:srgbClr val="EFEAE0"/>
              </a:solidFill>
              <a:effectLst/>
            </c:spPr>
          </c:dPt>
          <c:dPt>
            <c:idx val="4"/>
            <c:bubble3D val="0"/>
            <c:spPr>
              <a:solidFill>
                <a:srgbClr val="D2E7DA"/>
              </a:solidFill>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2"/>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3"/>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4"/>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Sheet1!$A$2:$A$6</c:f>
              <c:strCache>
                <c:ptCount val="5"/>
                <c:pt idx="0">
                  <c:v>勉強 62.6%</c:v>
                </c:pt>
                <c:pt idx="1">
                  <c:v>休憩・雑談 22.8%</c:v>
                </c:pt>
                <c:pt idx="2">
                  <c:v>仕事・打ち合わせ 13.0%</c:v>
                </c:pt>
                <c:pt idx="3">
                  <c:v>作業 0.2%</c:v>
                </c:pt>
                <c:pt idx="4">
                  <c:v>その他 1.4%</c:v>
                </c:pt>
              </c:strCache>
            </c:strRef>
          </c:cat>
          <c:val>
            <c:numRef>
              <c:f>Sheet1!$B$2:$B$6</c:f>
              <c:numCache>
                <c:ptCount val="5"/>
                <c:pt idx="0">
                  <c:v>62.6</c:v>
                </c:pt>
                <c:pt idx="1">
                  <c:v>22.8</c:v>
                </c:pt>
                <c:pt idx="2">
                  <c:v>13</c:v>
                </c:pt>
                <c:pt idx="3">
                  <c:v>0.2</c:v>
                </c:pt>
                <c:pt idx="4">
                  <c:v>1.4</c:v>
                </c:pt>
              </c:numCache>
            </c:numRef>
          </c:val>
        </c:ser>
        <c:firstSliceAng val="0"/>
        <c:holeSize val="58"/>
      </c:doughnutChart>
      <c:spPr>
        <a:noFill/>
        <a:ln>
          <a:noFill/>
        </a:ln>
        <a:effectLst/>
      </c:spPr>
    </c:plotArea>
    <c:legend>
      <c:legendPos val="b"/>
      <c:overlay val="0"/>
      <c:txPr>
        <a:bodyPr/>
        <a:lstStyle/>
        <a:p>
          <a:pPr>
            <a:defRPr sz="950">
              <a:solidFill>
                <a:srgbClr val="4B5550"/>
              </a:solidFill>
              <a:latin typeface="Yu Gothic"/>
              <a:cs typeface="Yu Gothic"/>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jp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3.png"/><Relationship Id="rId5" Type="http://schemas.openxmlformats.org/officeDocument/2006/relationships/image" Target="../media/image-5-5.png"/><Relationship Id="rId6" Type="http://schemas.openxmlformats.org/officeDocument/2006/relationships/image" Target="../media/image-5-3.png"/><Relationship Id="rId7" Type="http://schemas.openxmlformats.org/officeDocument/2006/relationships/image" Target="../media/image-5-3.png"/><Relationship Id="rId8" Type="http://schemas.openxmlformats.org/officeDocument/2006/relationships/image" Target="../media/image-5-8.png"/><Relationship Id="rId9" Type="http://schemas.openxmlformats.org/officeDocument/2006/relationships/image" Target="../media/image-5-3.png"/><Relationship Id="rId10" Type="http://schemas.openxmlformats.org/officeDocument/2006/relationships/image" Target="../media/image-5-3.png"/><Relationship Id="rId11" Type="http://schemas.openxmlformats.org/officeDocument/2006/relationships/image" Target="../media/image-5-11.png"/><Relationship Id="rId12" Type="http://schemas.openxmlformats.org/officeDocument/2006/relationships/image" Target="../media/image-5-3.png"/><Relationship Id="rId13" Type="http://schemas.openxmlformats.org/officeDocument/2006/relationships/image" Target="../media/image-5-3.png"/><Relationship Id="rId14" Type="http://schemas.openxmlformats.org/officeDocument/2006/relationships/slideLayout" Target="../slideLayouts/slideLayout1.xml"/><Relationship Id="rId1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3.png"/><Relationship Id="rId5" Type="http://schemas.openxmlformats.org/officeDocument/2006/relationships/image" Target="../media/image-7-5.png"/><Relationship Id="rId6" Type="http://schemas.openxmlformats.org/officeDocument/2006/relationships/image" Target="../media/image-7-3.png"/><Relationship Id="rId7" Type="http://schemas.openxmlformats.org/officeDocument/2006/relationships/image" Target="../media/image-7-3.png"/><Relationship Id="rId8" Type="http://schemas.openxmlformats.org/officeDocument/2006/relationships/image" Target="../media/image-7-8.png"/><Relationship Id="rId9" Type="http://schemas.openxmlformats.org/officeDocument/2006/relationships/image" Target="../media/image-7-3.png"/><Relationship Id="rId10" Type="http://schemas.openxmlformats.org/officeDocument/2006/relationships/image" Target="../media/image-7-3.png"/><Relationship Id="rId11" Type="http://schemas.openxmlformats.org/officeDocument/2006/relationships/image" Target="../media/image-7-11.png"/><Relationship Id="rId12" Type="http://schemas.openxmlformats.org/officeDocument/2006/relationships/slideLayout" Target="../slideLayouts/slideLayout1.xml"/><Relationship Id="rId1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8-1.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4.png"/><Relationship Id="rId10" Type="http://schemas.openxmlformats.org/officeDocument/2006/relationships/image" Target="../media/image-11-10.png"/><Relationship Id="rId11" Type="http://schemas.openxmlformats.org/officeDocument/2006/relationships/image" Target="../media/image-11-11.png"/><Relationship Id="rId12" Type="http://schemas.openxmlformats.org/officeDocument/2006/relationships/slideLayout" Target="../slideLayouts/slideLayout1.xml"/><Relationship Id="rId1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2" Type="http://schemas.openxmlformats.org/officeDocument/2006/relationships/chart" Target="/ppt/charts/chart2.xml"/><Relationship Id="rId3" Type="http://schemas.openxmlformats.org/officeDocument/2006/relationships/chart" Target="/ppt/charts/chart3.xml"/><Relationship Id="rId1" Type="http://schemas.openxmlformats.org/officeDocument/2006/relationships/image" Target="../media/image-12-1.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jpg"/><Relationship Id="rId3" Type="http://schemas.openxmlformats.org/officeDocument/2006/relationships/image" Target="../media/image-13-3.jpg"/><Relationship Id="rId4" Type="http://schemas.openxmlformats.org/officeDocument/2006/relationships/image" Target="../media/image-13-4.jpg"/><Relationship Id="rId5" Type="http://schemas.openxmlformats.org/officeDocument/2006/relationships/image" Target="../media/image-13-5.jpg"/><Relationship Id="rId6" Type="http://schemas.openxmlformats.org/officeDocument/2006/relationships/image" Target="../media/image-13-6.jpg"/><Relationship Id="rId7" Type="http://schemas.openxmlformats.org/officeDocument/2006/relationships/image" Target="../media/image-13-7.jpg"/><Relationship Id="rId8" Type="http://schemas.openxmlformats.org/officeDocument/2006/relationships/slideLayout" Target="../slideLayouts/slideLayout1.xml"/><Relationship Id="rId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jpg"/><Relationship Id="rId3" Type="http://schemas.openxmlformats.org/officeDocument/2006/relationships/image" Target="../media/image-14-3.jpg"/><Relationship Id="rId4" Type="http://schemas.openxmlformats.org/officeDocument/2006/relationships/image" Target="../media/image-14-4.jpg"/><Relationship Id="rId5" Type="http://schemas.openxmlformats.org/officeDocument/2006/relationships/image" Target="../media/image-14-5.jpg"/><Relationship Id="rId6" Type="http://schemas.openxmlformats.org/officeDocument/2006/relationships/image" Target="../media/image-14-6.jpg"/><Relationship Id="rId7" Type="http://schemas.openxmlformats.org/officeDocument/2006/relationships/image" Target="../media/image-14-7.jpg"/><Relationship Id="rId8" Type="http://schemas.openxmlformats.org/officeDocument/2006/relationships/slideLayout" Target="../slideLayouts/slideLayout1.xml"/><Relationship Id="rId9"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slideLayout" Target="../slideLayouts/slideLayout1.xml"/><Relationship Id="rId10"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jp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1.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slideLayout" Target="../slideLayouts/slideLayout1.xml"/><Relationship Id="rId9"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2.png"/><Relationship Id="rId4" Type="http://schemas.openxmlformats.org/officeDocument/2006/relationships/image" Target="../media/image-20-2.png"/><Relationship Id="rId5" Type="http://schemas.openxmlformats.org/officeDocument/2006/relationships/image" Target="../media/image-20-5.png"/><Relationship Id="rId6" Type="http://schemas.openxmlformats.org/officeDocument/2006/relationships/image" Target="../media/image-20-5.png"/><Relationship Id="rId7" Type="http://schemas.openxmlformats.org/officeDocument/2006/relationships/image" Target="../media/image-20-5.png"/><Relationship Id="rId8" Type="http://schemas.openxmlformats.org/officeDocument/2006/relationships/image" Target="../media/image-20-5.png"/><Relationship Id="rId9" Type="http://schemas.openxmlformats.org/officeDocument/2006/relationships/slideLayout" Target="../slideLayouts/slideLayout1.xml"/><Relationship Id="rId10"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jpg"/><Relationship Id="rId7" Type="http://schemas.openxmlformats.org/officeDocument/2006/relationships/slideLayout" Target="../slideLayouts/slideLayout1.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3.png"/><Relationship Id="rId5" Type="http://schemas.openxmlformats.org/officeDocument/2006/relationships/image" Target="../media/image-24-3.png"/><Relationship Id="rId6" Type="http://schemas.openxmlformats.org/officeDocument/2006/relationships/image" Target="../media/image-24-3.png"/><Relationship Id="rId7" Type="http://schemas.openxmlformats.org/officeDocument/2006/relationships/image" Target="../media/image-24-3.png"/><Relationship Id="rId8" Type="http://schemas.openxmlformats.org/officeDocument/2006/relationships/image" Target="../media/image-24-8.png"/><Relationship Id="rId9" Type="http://schemas.openxmlformats.org/officeDocument/2006/relationships/image" Target="../media/image-24-3.png"/><Relationship Id="rId10" Type="http://schemas.openxmlformats.org/officeDocument/2006/relationships/image" Target="../media/image-24-3.png"/><Relationship Id="rId11" Type="http://schemas.openxmlformats.org/officeDocument/2006/relationships/image" Target="../media/image-24-3.png"/><Relationship Id="rId12" Type="http://schemas.openxmlformats.org/officeDocument/2006/relationships/image" Target="../media/image-24-3.png"/><Relationship Id="rId13" Type="http://schemas.openxmlformats.org/officeDocument/2006/relationships/image" Target="../media/image-24-3.png"/><Relationship Id="rId14" Type="http://schemas.openxmlformats.org/officeDocument/2006/relationships/image" Target="../media/image-24-14.png"/><Relationship Id="rId15" Type="http://schemas.openxmlformats.org/officeDocument/2006/relationships/slideLayout" Target="../slideLayouts/slideLayout1.xml"/><Relationship Id="rId1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image" Target="../media/image-25-7.png"/><Relationship Id="rId8" Type="http://schemas.openxmlformats.org/officeDocument/2006/relationships/slideLayout" Target="../slideLayouts/slideLayout1.xml"/><Relationship Id="rId9"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slideLayout" Target="../slideLayouts/slideLayout1.xml"/><Relationship Id="rId7"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home/user/suzuki-ceo/selfcafe-gyomu-deck/assets/cover-bg.png">    </p:cNvPr>
          <p:cNvPicPr>
            <a:picLocks noChangeAspect="1"/>
          </p:cNvPicPr>
          <p:nvPr/>
        </p:nvPicPr>
        <p:blipFill>
          <a:blip r:embed="rId1"/>
          <a:stretch>
            <a:fillRect/>
          </a:stretch>
        </p:blipFill>
        <p:spPr>
          <a:xfrm>
            <a:off x="0" y="0"/>
            <a:ext cx="12191695" cy="6858000"/>
          </a:xfrm>
          <a:prstGeom prst="rect">
            <a:avLst/>
          </a:prstGeom>
        </p:spPr>
      </p:pic>
      <p:pic>
        <p:nvPicPr>
          <p:cNvPr id="3" name="Image 1" descr="/home/user/suzuki-ceo/selfcafe-gyomu-deck/assets/logo-white.png">    </p:cNvPr>
          <p:cNvPicPr>
            <a:picLocks noChangeAspect="1"/>
          </p:cNvPicPr>
          <p:nvPr/>
        </p:nvPicPr>
        <p:blipFill>
          <a:blip r:embed="rId2"/>
          <a:stretch>
            <a:fillRect/>
          </a:stretch>
        </p:blipFill>
        <p:spPr>
          <a:xfrm>
            <a:off x="812902" y="1904695"/>
            <a:ext cx="2616098" cy="372161"/>
          </a:xfrm>
          <a:prstGeom prst="rect">
            <a:avLst/>
          </a:prstGeom>
        </p:spPr>
      </p:pic>
      <p:sp>
        <p:nvSpPr>
          <p:cNvPr id="4" name="Shape 0"/>
          <p:cNvSpPr/>
          <p:nvPr/>
        </p:nvSpPr>
        <p:spPr>
          <a:xfrm>
            <a:off x="812902" y="2819095"/>
            <a:ext cx="254203" cy="25603"/>
          </a:xfrm>
          <a:prstGeom prst="rect">
            <a:avLst/>
          </a:prstGeom>
          <a:solidFill>
            <a:srgbClr val="C79A44"/>
          </a:solidFill>
          <a:ln/>
        </p:spPr>
      </p:sp>
      <p:sp>
        <p:nvSpPr>
          <p:cNvPr id="5" name="Text 1"/>
          <p:cNvSpPr/>
          <p:nvPr/>
        </p:nvSpPr>
        <p:spPr>
          <a:xfrm>
            <a:off x="1194206" y="2730398"/>
            <a:ext cx="3810305" cy="177394"/>
          </a:xfrm>
          <a:prstGeom prst="rect">
            <a:avLst/>
          </a:prstGeom>
          <a:noFill/>
          <a:ln/>
        </p:spPr>
        <p:txBody>
          <a:bodyPr wrap="square" lIns="0" tIns="0" rIns="0" bIns="0" rtlCol="0" anchor="ctr"/>
          <a:lstStyle/>
          <a:p>
            <a:pPr indent="0" marL="0">
              <a:buNone/>
            </a:pPr>
            <a:r>
              <a:rPr lang="en-US" sz="1050" b="1" spc="200" kern="0" dirty="0">
                <a:solidFill>
                  <a:srgbClr val="8CC5A5"/>
                </a:solidFill>
                <a:latin typeface="Arial" pitchFamily="34" charset="0"/>
                <a:ea typeface="Arial" pitchFamily="34" charset="-122"/>
                <a:cs typeface="Arial" pitchFamily="34" charset="-120"/>
              </a:rPr>
              <a:t>PARTNER PROGRAM</a:t>
            </a:r>
            <a:endParaRPr lang="en-US" sz="1050" dirty="0"/>
          </a:p>
        </p:txBody>
      </p:sp>
      <p:sp>
        <p:nvSpPr>
          <p:cNvPr id="6" name="Text 2"/>
          <p:cNvSpPr/>
          <p:nvPr/>
        </p:nvSpPr>
        <p:spPr>
          <a:xfrm>
            <a:off x="812902" y="2997403"/>
            <a:ext cx="7112203" cy="279806"/>
          </a:xfrm>
          <a:prstGeom prst="rect">
            <a:avLst/>
          </a:prstGeom>
          <a:noFill/>
          <a:ln/>
        </p:spPr>
        <p:txBody>
          <a:bodyPr wrap="square" lIns="0" tIns="0" rIns="0" bIns="0" rtlCol="0" anchor="ctr"/>
          <a:lstStyle/>
          <a:p>
            <a:pPr indent="0" marL="0">
              <a:buNone/>
            </a:pPr>
            <a:r>
              <a:rPr lang="en-US" sz="1500" dirty="0">
                <a:solidFill>
                  <a:srgbClr val="D6E3DB"/>
                </a:solidFill>
                <a:latin typeface="Yu Gothic" pitchFamily="34" charset="0"/>
                <a:ea typeface="Yu Gothic" pitchFamily="34" charset="-122"/>
                <a:cs typeface="Yu Gothic" pitchFamily="34" charset="-120"/>
              </a:rPr>
              <a:t>場所をご提供いただくだけ。運営は本部が担う。</a:t>
            </a:r>
            <a:endParaRPr lang="en-US" sz="1500" dirty="0"/>
          </a:p>
        </p:txBody>
      </p:sp>
      <p:sp>
        <p:nvSpPr>
          <p:cNvPr id="7" name="Text 3"/>
          <p:cNvSpPr/>
          <p:nvPr/>
        </p:nvSpPr>
        <p:spPr>
          <a:xfrm>
            <a:off x="812902" y="3251606"/>
            <a:ext cx="8128102" cy="940003"/>
          </a:xfrm>
          <a:prstGeom prst="rect">
            <a:avLst/>
          </a:prstGeom>
          <a:noFill/>
          <a:ln/>
        </p:spPr>
        <p:txBody>
          <a:bodyPr wrap="square" lIns="0" tIns="0" rIns="0" bIns="0" rtlCol="0" anchor="ctr"/>
          <a:lstStyle/>
          <a:p>
            <a:pPr indent="0" marL="0">
              <a:buNone/>
            </a:pPr>
            <a:r>
              <a:rPr lang="en-US" sz="5400" b="1" dirty="0">
                <a:solidFill>
                  <a:srgbClr val="FFFFFF"/>
                </a:solidFill>
                <a:latin typeface="Yu Gothic" pitchFamily="34" charset="0"/>
                <a:ea typeface="Yu Gothic" pitchFamily="34" charset="-122"/>
                <a:cs typeface="Yu Gothic" pitchFamily="34" charset="-120"/>
              </a:rPr>
              <a:t>業務委託型制度</a:t>
            </a:r>
            <a:endParaRPr lang="en-US" sz="5400" dirty="0"/>
          </a:p>
        </p:txBody>
      </p:sp>
      <p:sp>
        <p:nvSpPr>
          <p:cNvPr id="8" name="Text 4"/>
          <p:cNvSpPr/>
          <p:nvPr/>
        </p:nvSpPr>
        <p:spPr>
          <a:xfrm>
            <a:off x="812902" y="4444898"/>
            <a:ext cx="6858000" cy="584302"/>
          </a:xfrm>
          <a:prstGeom prst="rect">
            <a:avLst/>
          </a:prstGeom>
          <a:noFill/>
          <a:ln/>
        </p:spPr>
        <p:txBody>
          <a:bodyPr wrap="square" lIns="0" tIns="0" rIns="0" bIns="0" rtlCol="0" anchor="t"/>
          <a:lstStyle/>
          <a:p>
            <a:pPr indent="0" marL="0">
              <a:lnSpc>
                <a:spcPct val="135000"/>
              </a:lnSpc>
              <a:buNone/>
            </a:pPr>
            <a:r>
              <a:rPr lang="en-US" sz="1250" dirty="0">
                <a:solidFill>
                  <a:srgbClr val="AFC2B8"/>
                </a:solidFill>
                <a:latin typeface="Yu Gothic" pitchFamily="34" charset="0"/>
                <a:ea typeface="Yu Gothic" pitchFamily="34" charset="-122"/>
                <a:cs typeface="Yu Gothic" pitchFamily="34" charset="-120"/>
              </a:rPr>
              <a:t>加盟金なし・運営は本部主導。貴社の遊休スペースを、</a:t>
            </a:r>
            <a:endParaRPr lang="en-US" sz="1250" dirty="0"/>
          </a:p>
          <a:p>
            <a:pPr indent="0" marL="0">
              <a:lnSpc>
                <a:spcPct val="135000"/>
              </a:lnSpc>
              <a:buNone/>
            </a:pPr>
            <a:r>
              <a:rPr lang="en-US" sz="1250" dirty="0">
                <a:solidFill>
                  <a:srgbClr val="AFC2B8"/>
                </a:solidFill>
                <a:latin typeface="Yu Gothic" pitchFamily="34" charset="0"/>
                <a:ea typeface="Yu Gothic" pitchFamily="34" charset="-122"/>
                <a:cs typeface="Yu Gothic" pitchFamily="34" charset="-120"/>
              </a:rPr>
              <a:t>売上の25％が毎月入る収益資産に変えるパートナー制度です。</a:t>
            </a:r>
            <a:endParaRPr lang="en-US" sz="1250" dirty="0"/>
          </a:p>
        </p:txBody>
      </p:sp>
      <p:sp>
        <p:nvSpPr>
          <p:cNvPr id="9" name="Shape 5"/>
          <p:cNvSpPr/>
          <p:nvPr/>
        </p:nvSpPr>
        <p:spPr>
          <a:xfrm>
            <a:off x="812902" y="5537606"/>
            <a:ext cx="711403" cy="25603"/>
          </a:xfrm>
          <a:prstGeom prst="rect">
            <a:avLst/>
          </a:prstGeom>
          <a:solidFill>
            <a:srgbClr val="C79A44"/>
          </a:solidFill>
          <a:ln/>
        </p:spPr>
      </p:sp>
      <p:sp>
        <p:nvSpPr>
          <p:cNvPr id="10" name="Text 6"/>
          <p:cNvSpPr/>
          <p:nvPr/>
        </p:nvSpPr>
        <p:spPr>
          <a:xfrm>
            <a:off x="812902" y="5816498"/>
            <a:ext cx="3174797" cy="381305"/>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71</a:t>
            </a:r>
            <a:r>
              <a:rPr lang="en-US" sz="1200" b="1" dirty="0">
                <a:solidFill>
                  <a:srgbClr val="FFFFFF"/>
                </a:solidFill>
                <a:latin typeface="Yu Gothic" pitchFamily="34" charset="0"/>
                <a:ea typeface="Yu Gothic" pitchFamily="34" charset="-122"/>
                <a:cs typeface="Yu Gothic" pitchFamily="34" charset="-120"/>
              </a:rPr>
              <a:t> 店舗</a:t>
            </a:r>
            <a:endParaRPr lang="en-US" sz="2600" dirty="0"/>
          </a:p>
        </p:txBody>
      </p:sp>
      <p:sp>
        <p:nvSpPr>
          <p:cNvPr id="11" name="Text 7"/>
          <p:cNvSpPr/>
          <p:nvPr/>
        </p:nvSpPr>
        <p:spPr>
          <a:xfrm>
            <a:off x="812902" y="6223406"/>
            <a:ext cx="3723437" cy="165506"/>
          </a:xfrm>
          <a:prstGeom prst="rect">
            <a:avLst/>
          </a:prstGeom>
          <a:noFill/>
          <a:ln/>
        </p:spPr>
        <p:txBody>
          <a:bodyPr wrap="square" lIns="0" tIns="0" rIns="0" bIns="0" rtlCol="0" anchor="ctr"/>
          <a:lstStyle/>
          <a:p>
            <a:pPr indent="0" marL="0">
              <a:buNone/>
            </a:pPr>
            <a:r>
              <a:rPr lang="en-US" sz="950" dirty="0">
                <a:solidFill>
                  <a:srgbClr val="8FA398"/>
                </a:solidFill>
                <a:latin typeface="Yu Gothic" pitchFamily="34" charset="0"/>
                <a:ea typeface="Yu Gothic" pitchFamily="34" charset="-122"/>
                <a:cs typeface="Yu Gothic" pitchFamily="34" charset="-120"/>
              </a:rPr>
              <a:t>全国展開（年内10店舗以上 出店予定）</a:t>
            </a:r>
            <a:endParaRPr lang="en-US" sz="950" dirty="0"/>
          </a:p>
        </p:txBody>
      </p:sp>
      <p:sp>
        <p:nvSpPr>
          <p:cNvPr id="12" name="Text 8"/>
          <p:cNvSpPr/>
          <p:nvPr/>
        </p:nvSpPr>
        <p:spPr>
          <a:xfrm>
            <a:off x="4419295" y="5816498"/>
            <a:ext cx="1904695" cy="381305"/>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0</a:t>
            </a:r>
            <a:r>
              <a:rPr lang="en-US" sz="1200" b="1" dirty="0">
                <a:solidFill>
                  <a:srgbClr val="FFFFFF"/>
                </a:solidFill>
                <a:latin typeface="Yu Gothic" pitchFamily="34" charset="0"/>
                <a:ea typeface="Yu Gothic" pitchFamily="34" charset="-122"/>
                <a:cs typeface="Yu Gothic" pitchFamily="34" charset="-120"/>
              </a:rPr>
              <a:t> 円</a:t>
            </a:r>
            <a:endParaRPr lang="en-US" sz="2600" dirty="0"/>
          </a:p>
        </p:txBody>
      </p:sp>
      <p:sp>
        <p:nvSpPr>
          <p:cNvPr id="13" name="Text 9"/>
          <p:cNvSpPr/>
          <p:nvPr/>
        </p:nvSpPr>
        <p:spPr>
          <a:xfrm>
            <a:off x="4419295" y="6223406"/>
            <a:ext cx="2453335" cy="165506"/>
          </a:xfrm>
          <a:prstGeom prst="rect">
            <a:avLst/>
          </a:prstGeom>
          <a:noFill/>
          <a:ln/>
        </p:spPr>
        <p:txBody>
          <a:bodyPr wrap="square" lIns="0" tIns="0" rIns="0" bIns="0" rtlCol="0" anchor="ctr"/>
          <a:lstStyle/>
          <a:p>
            <a:pPr indent="0" marL="0">
              <a:buNone/>
            </a:pPr>
            <a:r>
              <a:rPr lang="en-US" sz="950" dirty="0">
                <a:solidFill>
                  <a:srgbClr val="8FA398"/>
                </a:solidFill>
                <a:latin typeface="Yu Gothic" pitchFamily="34" charset="0"/>
                <a:ea typeface="Yu Gothic" pitchFamily="34" charset="-122"/>
                <a:cs typeface="Yu Gothic" pitchFamily="34" charset="-120"/>
              </a:rPr>
              <a:t>加盟金</a:t>
            </a:r>
            <a:endParaRPr lang="en-US" sz="950" dirty="0"/>
          </a:p>
        </p:txBody>
      </p:sp>
      <p:sp>
        <p:nvSpPr>
          <p:cNvPr id="14" name="Text 10"/>
          <p:cNvSpPr/>
          <p:nvPr/>
        </p:nvSpPr>
        <p:spPr>
          <a:xfrm>
            <a:off x="6756502" y="5816498"/>
            <a:ext cx="2286000" cy="381305"/>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30〜50</a:t>
            </a:r>
            <a:r>
              <a:rPr lang="en-US" sz="1200" b="1" dirty="0">
                <a:solidFill>
                  <a:srgbClr val="FFFFFF"/>
                </a:solidFill>
                <a:latin typeface="Yu Gothic" pitchFamily="34" charset="0"/>
                <a:ea typeface="Yu Gothic" pitchFamily="34" charset="-122"/>
                <a:cs typeface="Yu Gothic" pitchFamily="34" charset="-120"/>
              </a:rPr>
              <a:t> 万円</a:t>
            </a:r>
            <a:endParaRPr lang="en-US" sz="2600" dirty="0"/>
          </a:p>
        </p:txBody>
      </p:sp>
      <p:sp>
        <p:nvSpPr>
          <p:cNvPr id="15" name="Text 11"/>
          <p:cNvSpPr/>
          <p:nvPr/>
        </p:nvSpPr>
        <p:spPr>
          <a:xfrm>
            <a:off x="6756502" y="6223406"/>
            <a:ext cx="2834640" cy="165506"/>
          </a:xfrm>
          <a:prstGeom prst="rect">
            <a:avLst/>
          </a:prstGeom>
          <a:noFill/>
          <a:ln/>
        </p:spPr>
        <p:txBody>
          <a:bodyPr wrap="square" lIns="0" tIns="0" rIns="0" bIns="0" rtlCol="0" anchor="ctr"/>
          <a:lstStyle/>
          <a:p>
            <a:pPr indent="0" marL="0">
              <a:buNone/>
            </a:pPr>
            <a:r>
              <a:rPr lang="en-US" sz="950" dirty="0">
                <a:solidFill>
                  <a:srgbClr val="8FA398"/>
                </a:solidFill>
                <a:latin typeface="Yu Gothic" pitchFamily="34" charset="0"/>
                <a:ea typeface="Yu Gothic" pitchFamily="34" charset="-122"/>
                <a:cs typeface="Yu Gothic" pitchFamily="34" charset="-120"/>
              </a:rPr>
              <a:t>初期費用（機器設置費のみ）</a:t>
            </a:r>
            <a:endParaRPr lang="en-US" sz="950" dirty="0"/>
          </a:p>
        </p:txBody>
      </p:sp>
      <p:sp>
        <p:nvSpPr>
          <p:cNvPr id="16" name="Shape 12"/>
          <p:cNvSpPr/>
          <p:nvPr/>
        </p:nvSpPr>
        <p:spPr>
          <a:xfrm>
            <a:off x="4013302" y="5842102"/>
            <a:ext cx="11887" cy="533095"/>
          </a:xfrm>
          <a:prstGeom prst="rect">
            <a:avLst/>
          </a:prstGeom>
          <a:solidFill>
            <a:srgbClr val="3C5F4B"/>
          </a:solidFill>
          <a:ln/>
        </p:spPr>
      </p:sp>
      <p:sp>
        <p:nvSpPr>
          <p:cNvPr id="17" name="Shape 13"/>
          <p:cNvSpPr/>
          <p:nvPr/>
        </p:nvSpPr>
        <p:spPr>
          <a:xfrm>
            <a:off x="6349594" y="5842102"/>
            <a:ext cx="11887" cy="533095"/>
          </a:xfrm>
          <a:prstGeom prst="rect">
            <a:avLst/>
          </a:prstGeom>
          <a:solidFill>
            <a:srgbClr val="3C5F4B"/>
          </a:solidFill>
          <a:ln/>
        </p:spPr>
      </p:sp>
      <p:sp>
        <p:nvSpPr>
          <p:cNvPr id="18" name="Text 14"/>
          <p:cNvSpPr/>
          <p:nvPr/>
        </p:nvSpPr>
        <p:spPr>
          <a:xfrm>
            <a:off x="8889797" y="6197803"/>
            <a:ext cx="2641702" cy="177394"/>
          </a:xfrm>
          <a:prstGeom prst="rect">
            <a:avLst/>
          </a:prstGeom>
          <a:noFill/>
          <a:ln/>
        </p:spPr>
        <p:txBody>
          <a:bodyPr wrap="square" lIns="0" tIns="0" rIns="0" bIns="0" rtlCol="0" anchor="ctr"/>
          <a:lstStyle/>
          <a:p>
            <a:pPr algn="r" indent="0" marL="0">
              <a:buNone/>
            </a:pPr>
            <a:r>
              <a:rPr lang="en-US" sz="950" dirty="0">
                <a:solidFill>
                  <a:srgbClr val="8FA398"/>
                </a:solidFill>
                <a:latin typeface="Yu Gothic" pitchFamily="34" charset="0"/>
                <a:ea typeface="Yu Gothic" pitchFamily="34" charset="-122"/>
                <a:cs typeface="Yu Gothic" pitchFamily="34" charset="-120"/>
              </a:rPr>
              <a:t>セルフカフェ株式会社</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7"/>
        </a:solidFill>
      </p:bgPr>
    </p:bg>
    <p:spTree>
      <p:nvGrpSpPr>
        <p:cNvPr id="1" name=""/>
        <p:cNvGrpSpPr/>
        <p:nvPr/>
      </p:nvGrpSpPr>
      <p:grpSpPr>
        <a:xfrm>
          <a:off x="0" y="0"/>
          <a:ext cx="0" cy="0"/>
          <a:chOff x="0" y="0"/>
          <a:chExt cx="0" cy="0"/>
        </a:xfrm>
      </p:grpSpPr>
      <p:sp>
        <p:nvSpPr>
          <p:cNvPr id="2" name="Shape 0"/>
          <p:cNvSpPr/>
          <p:nvPr/>
        </p:nvSpPr>
        <p:spPr>
          <a:xfrm>
            <a:off x="660197" y="545897"/>
            <a:ext cx="202997" cy="25603"/>
          </a:xfrm>
          <a:prstGeom prst="rect">
            <a:avLst/>
          </a:prstGeom>
          <a:solidFill>
            <a:srgbClr val="106838"/>
          </a:solidFill>
          <a:ln/>
        </p:spPr>
      </p:sp>
      <p:sp>
        <p:nvSpPr>
          <p:cNvPr id="3" name="Text 1"/>
          <p:cNvSpPr/>
          <p:nvPr/>
        </p:nvSpPr>
        <p:spPr>
          <a:xfrm>
            <a:off x="952805" y="444398"/>
            <a:ext cx="6400800" cy="177394"/>
          </a:xfrm>
          <a:prstGeom prst="rect">
            <a:avLst/>
          </a:prstGeom>
          <a:noFill/>
          <a:ln/>
        </p:spPr>
        <p:txBody>
          <a:bodyPr wrap="square" lIns="0" tIns="0" rIns="0" bIns="0" rtlCol="0" anchor="ctr"/>
          <a:lstStyle/>
          <a:p>
            <a:pPr indent="0" marL="0">
              <a:buNone/>
            </a:pPr>
            <a:r>
              <a:rPr lang="en-US" sz="1050" b="1" dirty="0">
                <a:solidFill>
                  <a:srgbClr val="A8761F"/>
                </a:solidFill>
                <a:latin typeface="Arial" pitchFamily="34" charset="0"/>
                <a:ea typeface="Arial" pitchFamily="34" charset="-122"/>
                <a:cs typeface="Arial" pitchFamily="34" charset="-120"/>
              </a:rPr>
              <a:t>01</a:t>
            </a:r>
            <a:r>
              <a:rPr lang="en-US" sz="1050" b="1" dirty="0">
                <a:solidFill>
                  <a:srgbClr val="1B8149"/>
                </a:solidFill>
                <a:latin typeface="Yu Gothic" pitchFamily="34" charset="0"/>
                <a:ea typeface="Yu Gothic" pitchFamily="34" charset="-122"/>
                <a:cs typeface="Yu Gothic" pitchFamily="34" charset="-120"/>
              </a:rPr>
              <a:t>   会社概要</a:t>
            </a:r>
            <a:endParaRPr lang="en-US" sz="1050" dirty="0"/>
          </a:p>
        </p:txBody>
      </p:sp>
      <p:sp>
        <p:nvSpPr>
          <p:cNvPr id="4" name="Text 2"/>
          <p:cNvSpPr/>
          <p:nvPr/>
        </p:nvSpPr>
        <p:spPr>
          <a:xfrm>
            <a:off x="660197" y="660197"/>
            <a:ext cx="8889797" cy="508406"/>
          </a:xfrm>
          <a:prstGeom prst="rect">
            <a:avLst/>
          </a:prstGeom>
          <a:noFill/>
          <a:ln/>
        </p:spPr>
        <p:txBody>
          <a:bodyPr wrap="square" lIns="0" tIns="0" rIns="0" bIns="0" rtlCol="0" anchor="ctr"/>
          <a:lstStyle/>
          <a:p>
            <a:pPr indent="0" marL="0">
              <a:buNone/>
            </a:pPr>
            <a:r>
              <a:rPr lang="en-US" sz="2900" b="1" dirty="0">
                <a:solidFill>
                  <a:srgbClr val="0A3D23"/>
                </a:solidFill>
                <a:latin typeface="Yu Gothic" pitchFamily="34" charset="0"/>
                <a:ea typeface="Yu Gothic" pitchFamily="34" charset="-122"/>
                <a:cs typeface="Yu Gothic" pitchFamily="34" charset="-120"/>
              </a:rPr>
              <a:t>会社概要</a:t>
            </a:r>
            <a:endParaRPr lang="en-US" sz="2900" dirty="0"/>
          </a:p>
        </p:txBody>
      </p:sp>
      <p:sp>
        <p:nvSpPr>
          <p:cNvPr id="5" name="Text 3"/>
          <p:cNvSpPr/>
          <p:nvPr/>
        </p:nvSpPr>
        <p:spPr>
          <a:xfrm>
            <a:off x="660197" y="1308506"/>
            <a:ext cx="10032797" cy="228600"/>
          </a:xfrm>
          <a:prstGeom prst="rect">
            <a:avLst/>
          </a:prstGeom>
          <a:noFill/>
          <a:ln/>
        </p:spPr>
        <p:txBody>
          <a:bodyPr wrap="square" lIns="0" tIns="0" rIns="0" bIns="0" rtlCol="0" anchor="ctr"/>
          <a:lstStyle/>
          <a:p>
            <a:pPr indent="0" marL="0">
              <a:buNone/>
            </a:pPr>
            <a:r>
              <a:rPr lang="en-US" sz="1250" dirty="0">
                <a:solidFill>
                  <a:srgbClr val="4B5550"/>
                </a:solidFill>
                <a:latin typeface="Yu Gothic" pitchFamily="34" charset="0"/>
                <a:ea typeface="Yu Gothic" pitchFamily="34" charset="-122"/>
                <a:cs typeface="Yu Gothic" pitchFamily="34" charset="-120"/>
              </a:rPr>
              <a:t>無人カフェ「セルフカフェ」の企画・開発・運営を行っています。</a:t>
            </a:r>
            <a:endParaRPr lang="en-US" sz="1250" dirty="0"/>
          </a:p>
        </p:txBody>
      </p:sp>
      <p:pic>
        <p:nvPicPr>
          <p:cNvPr id="6" name="Image 0" descr="/home/user/suzuki-ceo/selfcafe-gyomu-deck/assets/logo-green.png">    </p:cNvPr>
          <p:cNvPicPr>
            <a:picLocks noChangeAspect="1"/>
          </p:cNvPicPr>
          <p:nvPr/>
        </p:nvPicPr>
        <p:blipFill>
          <a:blip r:embed="rId1"/>
          <a:stretch>
            <a:fillRect/>
          </a:stretch>
        </p:blipFill>
        <p:spPr>
          <a:xfrm>
            <a:off x="9855403" y="482803"/>
            <a:ext cx="1676095" cy="238658"/>
          </a:xfrm>
          <a:prstGeom prst="rect">
            <a:avLst/>
          </a:prstGeom>
        </p:spPr>
      </p:pic>
      <p:sp>
        <p:nvSpPr>
          <p:cNvPr id="7" name="Text 4"/>
          <p:cNvSpPr/>
          <p:nvPr/>
        </p:nvSpPr>
        <p:spPr>
          <a:xfrm>
            <a:off x="660197" y="6476695"/>
            <a:ext cx="5080406" cy="152705"/>
          </a:xfrm>
          <a:prstGeom prst="rect">
            <a:avLst/>
          </a:prstGeom>
          <a:noFill/>
          <a:ln/>
        </p:spPr>
        <p:txBody>
          <a:bodyPr wrap="square" lIns="0" tIns="0" rIns="0" bIns="0" rtlCol="0" anchor="ctr"/>
          <a:lstStyle/>
          <a:p>
            <a:pPr indent="0" marL="0">
              <a:buNone/>
            </a:pPr>
            <a:r>
              <a:rPr lang="en-US" sz="900" dirty="0">
                <a:solidFill>
                  <a:srgbClr val="A8B0AA"/>
                </a:solidFill>
                <a:latin typeface="Yu Gothic" pitchFamily="34" charset="0"/>
                <a:ea typeface="Yu Gothic" pitchFamily="34" charset="-122"/>
                <a:cs typeface="Yu Gothic" pitchFamily="34" charset="-120"/>
              </a:rPr>
              <a:t>セルフカフェ 業務委託型制度</a:t>
            </a:r>
            <a:endParaRPr lang="en-US" sz="900" dirty="0"/>
          </a:p>
        </p:txBody>
      </p:sp>
      <p:sp>
        <p:nvSpPr>
          <p:cNvPr id="8" name="Text 5"/>
          <p:cNvSpPr/>
          <p:nvPr/>
        </p:nvSpPr>
        <p:spPr>
          <a:xfrm>
            <a:off x="10261397" y="6463894"/>
            <a:ext cx="1270102" cy="152705"/>
          </a:xfrm>
          <a:prstGeom prst="rect">
            <a:avLst/>
          </a:prstGeom>
          <a:noFill/>
          <a:ln/>
        </p:spPr>
        <p:txBody>
          <a:bodyPr wrap="square" lIns="0" tIns="0" rIns="0" bIns="0" rtlCol="0" anchor="ctr"/>
          <a:lstStyle/>
          <a:p>
            <a:pPr algn="r" indent="0" marL="0">
              <a:buNone/>
            </a:pPr>
            <a:r>
              <a:rPr lang="en-US" sz="1000" b="1" dirty="0">
                <a:solidFill>
                  <a:srgbClr val="7E8882"/>
                </a:solidFill>
                <a:latin typeface="Arial" pitchFamily="34" charset="0"/>
                <a:ea typeface="Arial" pitchFamily="34" charset="-122"/>
                <a:cs typeface="Arial" pitchFamily="34" charset="-120"/>
              </a:rPr>
              <a:t>02</a:t>
            </a:r>
            <a:endParaRPr lang="en-US" sz="1000" dirty="0"/>
          </a:p>
        </p:txBody>
      </p:sp>
      <p:pic>
        <p:nvPicPr>
          <p:cNvPr id="9" name="Image 1" descr="/home/user/suzuki-ceo/selfcafe-gyomu-deck/assets/photos/.crops/p02-storefront-1189x278.jpg">    </p:cNvPr>
          <p:cNvPicPr>
            <a:picLocks noChangeAspect="1"/>
          </p:cNvPicPr>
          <p:nvPr/>
        </p:nvPicPr>
        <p:blipFill>
          <a:blip r:embed="rId2"/>
          <a:stretch>
            <a:fillRect/>
          </a:stretch>
        </p:blipFill>
        <p:spPr>
          <a:xfrm>
            <a:off x="660197" y="1651406"/>
            <a:ext cx="10871302" cy="2542032"/>
          </a:xfrm>
          <a:prstGeom prst="rect">
            <a:avLst/>
          </a:prstGeom>
        </p:spPr>
      </p:pic>
      <p:sp>
        <p:nvSpPr>
          <p:cNvPr id="10" name="Shape 6"/>
          <p:cNvSpPr/>
          <p:nvPr/>
        </p:nvSpPr>
        <p:spPr>
          <a:xfrm>
            <a:off x="660197" y="1651406"/>
            <a:ext cx="10871302" cy="2542032"/>
          </a:xfrm>
          <a:prstGeom prst="rect">
            <a:avLst/>
          </a:prstGeom>
          <a:ln w="12700">
            <a:solidFill>
              <a:srgbClr val="D8D2C6"/>
            </a:solidFill>
            <a:prstDash val="solid"/>
          </a:ln>
        </p:spPr>
      </p:sp>
      <p:sp>
        <p:nvSpPr>
          <p:cNvPr id="11" name="Shape 7"/>
          <p:cNvSpPr/>
          <p:nvPr/>
        </p:nvSpPr>
        <p:spPr>
          <a:xfrm>
            <a:off x="788213" y="3736238"/>
            <a:ext cx="3731260" cy="329184"/>
          </a:xfrm>
          <a:prstGeom prst="roundRect">
            <a:avLst>
              <a:gd name="adj" fmla="val 13889"/>
            </a:avLst>
          </a:prstGeom>
          <a:solidFill>
            <a:srgbClr val="FFFFFF">
              <a:alpha val="90000"/>
            </a:srgbClr>
          </a:solidFill>
          <a:ln/>
        </p:spPr>
      </p:sp>
      <p:sp>
        <p:nvSpPr>
          <p:cNvPr id="12" name="Text 8"/>
          <p:cNvSpPr/>
          <p:nvPr/>
        </p:nvSpPr>
        <p:spPr>
          <a:xfrm>
            <a:off x="952805" y="3736238"/>
            <a:ext cx="3456940" cy="329184"/>
          </a:xfrm>
          <a:prstGeom prst="rect">
            <a:avLst/>
          </a:prstGeom>
          <a:noFill/>
          <a:ln/>
        </p:spPr>
        <p:txBody>
          <a:bodyPr wrap="square" lIns="0" tIns="0" rIns="0" bIns="0" rtlCol="0" anchor="ctr"/>
          <a:lstStyle/>
          <a:p>
            <a:pPr indent="0" marL="0">
              <a:buNone/>
            </a:pPr>
            <a:r>
              <a:rPr lang="en-US" sz="1000" b="1" dirty="0">
                <a:solidFill>
                  <a:srgbClr val="0A3D23"/>
                </a:solidFill>
                <a:latin typeface="Yu Gothic" pitchFamily="34" charset="0"/>
                <a:ea typeface="Yu Gothic" pitchFamily="34" charset="-122"/>
                <a:cs typeface="Yu Gothic" pitchFamily="34" charset="-120"/>
              </a:rPr>
              <a:t>セルフカフェ 盛岡駅前店（2025年4月オープン）</a:t>
            </a:r>
            <a:endParaRPr lang="en-US" sz="1000" dirty="0"/>
          </a:p>
        </p:txBody>
      </p:sp>
      <p:sp>
        <p:nvSpPr>
          <p:cNvPr id="13" name="Text 9"/>
          <p:cNvSpPr/>
          <p:nvPr/>
        </p:nvSpPr>
        <p:spPr>
          <a:xfrm>
            <a:off x="660197" y="4394606"/>
            <a:ext cx="3318967" cy="182880"/>
          </a:xfrm>
          <a:prstGeom prst="rect">
            <a:avLst/>
          </a:prstGeom>
          <a:noFill/>
          <a:ln/>
        </p:spPr>
        <p:txBody>
          <a:bodyPr wrap="square" lIns="0" tIns="0" rIns="0" bIns="0" rtlCol="0" anchor="ctr"/>
          <a:lstStyle/>
          <a:p>
            <a:pPr indent="0" marL="0">
              <a:buNone/>
            </a:pPr>
            <a:r>
              <a:rPr lang="en-US" sz="900" b="1" dirty="0">
                <a:solidFill>
                  <a:srgbClr val="7E8882"/>
                </a:solidFill>
                <a:latin typeface="Yu Gothic" pitchFamily="34" charset="0"/>
                <a:ea typeface="Yu Gothic" pitchFamily="34" charset="-122"/>
                <a:cs typeface="Yu Gothic" pitchFamily="34" charset="-120"/>
              </a:rPr>
              <a:t>会社名</a:t>
            </a:r>
            <a:endParaRPr lang="en-US" sz="900" dirty="0"/>
          </a:p>
        </p:txBody>
      </p:sp>
      <p:sp>
        <p:nvSpPr>
          <p:cNvPr id="14" name="Text 10"/>
          <p:cNvSpPr/>
          <p:nvPr/>
        </p:nvSpPr>
        <p:spPr>
          <a:xfrm>
            <a:off x="660197" y="4604918"/>
            <a:ext cx="3318967" cy="292608"/>
          </a:xfrm>
          <a:prstGeom prst="rect">
            <a:avLst/>
          </a:prstGeom>
          <a:noFill/>
          <a:ln/>
        </p:spPr>
        <p:txBody>
          <a:bodyPr wrap="square" lIns="0" tIns="0" rIns="0" bIns="0" rtlCol="0" anchor="ctr"/>
          <a:lstStyle/>
          <a:p>
            <a:pPr indent="0" marL="0">
              <a:buNone/>
            </a:pPr>
            <a:r>
              <a:rPr lang="en-US" sz="1300" dirty="0">
                <a:solidFill>
                  <a:srgbClr val="0A3D23"/>
                </a:solidFill>
                <a:latin typeface="Yu Gothic" pitchFamily="34" charset="0"/>
                <a:ea typeface="Yu Gothic" pitchFamily="34" charset="-122"/>
                <a:cs typeface="Yu Gothic" pitchFamily="34" charset="-120"/>
              </a:rPr>
              <a:t>セルフカフェ株式会社</a:t>
            </a:r>
            <a:endParaRPr lang="en-US" sz="1300" dirty="0"/>
          </a:p>
        </p:txBody>
      </p:sp>
      <p:sp>
        <p:nvSpPr>
          <p:cNvPr id="15" name="Shape 11"/>
          <p:cNvSpPr/>
          <p:nvPr/>
        </p:nvSpPr>
        <p:spPr>
          <a:xfrm>
            <a:off x="660197" y="4961534"/>
            <a:ext cx="3318967" cy="10058"/>
          </a:xfrm>
          <a:prstGeom prst="rect">
            <a:avLst/>
          </a:prstGeom>
          <a:solidFill>
            <a:srgbClr val="EFEAE0"/>
          </a:solidFill>
          <a:ln/>
        </p:spPr>
      </p:sp>
      <p:sp>
        <p:nvSpPr>
          <p:cNvPr id="16" name="Text 12"/>
          <p:cNvSpPr/>
          <p:nvPr/>
        </p:nvSpPr>
        <p:spPr>
          <a:xfrm>
            <a:off x="4436364" y="4394606"/>
            <a:ext cx="3318967" cy="182880"/>
          </a:xfrm>
          <a:prstGeom prst="rect">
            <a:avLst/>
          </a:prstGeom>
          <a:noFill/>
          <a:ln/>
        </p:spPr>
        <p:txBody>
          <a:bodyPr wrap="square" lIns="0" tIns="0" rIns="0" bIns="0" rtlCol="0" anchor="ctr"/>
          <a:lstStyle/>
          <a:p>
            <a:pPr indent="0" marL="0">
              <a:buNone/>
            </a:pPr>
            <a:r>
              <a:rPr lang="en-US" sz="900" b="1" dirty="0">
                <a:solidFill>
                  <a:srgbClr val="7E8882"/>
                </a:solidFill>
                <a:latin typeface="Yu Gothic" pitchFamily="34" charset="0"/>
                <a:ea typeface="Yu Gothic" pitchFamily="34" charset="-122"/>
                <a:cs typeface="Yu Gothic" pitchFamily="34" charset="-120"/>
              </a:rPr>
              <a:t>代表取締役</a:t>
            </a:r>
            <a:endParaRPr lang="en-US" sz="900" dirty="0"/>
          </a:p>
        </p:txBody>
      </p:sp>
      <p:sp>
        <p:nvSpPr>
          <p:cNvPr id="17" name="Text 13"/>
          <p:cNvSpPr/>
          <p:nvPr/>
        </p:nvSpPr>
        <p:spPr>
          <a:xfrm>
            <a:off x="4436364" y="4604918"/>
            <a:ext cx="3318967" cy="292608"/>
          </a:xfrm>
          <a:prstGeom prst="rect">
            <a:avLst/>
          </a:prstGeom>
          <a:noFill/>
          <a:ln/>
        </p:spPr>
        <p:txBody>
          <a:bodyPr wrap="square" lIns="0" tIns="0" rIns="0" bIns="0" rtlCol="0" anchor="ctr"/>
          <a:lstStyle/>
          <a:p>
            <a:pPr indent="0" marL="0">
              <a:buNone/>
            </a:pPr>
            <a:r>
              <a:rPr lang="en-US" sz="1300" dirty="0">
                <a:solidFill>
                  <a:srgbClr val="0A3D23"/>
                </a:solidFill>
                <a:latin typeface="Yu Gothic" pitchFamily="34" charset="0"/>
                <a:ea typeface="Yu Gothic" pitchFamily="34" charset="-122"/>
                <a:cs typeface="Yu Gothic" pitchFamily="34" charset="-120"/>
              </a:rPr>
              <a:t>鈴木 大基</a:t>
            </a:r>
            <a:endParaRPr lang="en-US" sz="1300" dirty="0"/>
          </a:p>
        </p:txBody>
      </p:sp>
      <p:sp>
        <p:nvSpPr>
          <p:cNvPr id="18" name="Shape 14"/>
          <p:cNvSpPr/>
          <p:nvPr/>
        </p:nvSpPr>
        <p:spPr>
          <a:xfrm>
            <a:off x="4436364" y="4961534"/>
            <a:ext cx="3318967" cy="10058"/>
          </a:xfrm>
          <a:prstGeom prst="rect">
            <a:avLst/>
          </a:prstGeom>
          <a:solidFill>
            <a:srgbClr val="EFEAE0"/>
          </a:solidFill>
          <a:ln/>
        </p:spPr>
      </p:sp>
      <p:sp>
        <p:nvSpPr>
          <p:cNvPr id="19" name="Text 15"/>
          <p:cNvSpPr/>
          <p:nvPr/>
        </p:nvSpPr>
        <p:spPr>
          <a:xfrm>
            <a:off x="8212531" y="4394606"/>
            <a:ext cx="3318967" cy="182880"/>
          </a:xfrm>
          <a:prstGeom prst="rect">
            <a:avLst/>
          </a:prstGeom>
          <a:noFill/>
          <a:ln/>
        </p:spPr>
        <p:txBody>
          <a:bodyPr wrap="square" lIns="0" tIns="0" rIns="0" bIns="0" rtlCol="0" anchor="ctr"/>
          <a:lstStyle/>
          <a:p>
            <a:pPr indent="0" marL="0">
              <a:buNone/>
            </a:pPr>
            <a:r>
              <a:rPr lang="en-US" sz="900" b="1" dirty="0">
                <a:solidFill>
                  <a:srgbClr val="7E8882"/>
                </a:solidFill>
                <a:latin typeface="Yu Gothic" pitchFamily="34" charset="0"/>
                <a:ea typeface="Yu Gothic" pitchFamily="34" charset="-122"/>
                <a:cs typeface="Yu Gothic" pitchFamily="34" charset="-120"/>
              </a:rPr>
              <a:t>資本金</a:t>
            </a:r>
            <a:endParaRPr lang="en-US" sz="900" dirty="0"/>
          </a:p>
        </p:txBody>
      </p:sp>
      <p:sp>
        <p:nvSpPr>
          <p:cNvPr id="20" name="Text 16"/>
          <p:cNvSpPr/>
          <p:nvPr/>
        </p:nvSpPr>
        <p:spPr>
          <a:xfrm>
            <a:off x="8212531" y="4604918"/>
            <a:ext cx="3318967" cy="292608"/>
          </a:xfrm>
          <a:prstGeom prst="rect">
            <a:avLst/>
          </a:prstGeom>
          <a:noFill/>
          <a:ln/>
        </p:spPr>
        <p:txBody>
          <a:bodyPr wrap="square" lIns="0" tIns="0" rIns="0" bIns="0" rtlCol="0" anchor="ctr"/>
          <a:lstStyle/>
          <a:p>
            <a:pPr indent="0" marL="0">
              <a:buNone/>
            </a:pPr>
            <a:r>
              <a:rPr lang="en-US" sz="1300" dirty="0">
                <a:solidFill>
                  <a:srgbClr val="0A3D23"/>
                </a:solidFill>
                <a:latin typeface="Yu Gothic" pitchFamily="34" charset="0"/>
                <a:ea typeface="Yu Gothic" pitchFamily="34" charset="-122"/>
                <a:cs typeface="Yu Gothic" pitchFamily="34" charset="-120"/>
              </a:rPr>
              <a:t>2,000万円</a:t>
            </a:r>
            <a:endParaRPr lang="en-US" sz="1300" dirty="0"/>
          </a:p>
        </p:txBody>
      </p:sp>
      <p:sp>
        <p:nvSpPr>
          <p:cNvPr id="21" name="Shape 17"/>
          <p:cNvSpPr/>
          <p:nvPr/>
        </p:nvSpPr>
        <p:spPr>
          <a:xfrm>
            <a:off x="8212531" y="4961534"/>
            <a:ext cx="3318967" cy="10058"/>
          </a:xfrm>
          <a:prstGeom prst="rect">
            <a:avLst/>
          </a:prstGeom>
          <a:solidFill>
            <a:srgbClr val="EFEAE0"/>
          </a:solidFill>
          <a:ln/>
        </p:spPr>
      </p:sp>
      <p:sp>
        <p:nvSpPr>
          <p:cNvPr id="22" name="Text 18"/>
          <p:cNvSpPr/>
          <p:nvPr/>
        </p:nvSpPr>
        <p:spPr>
          <a:xfrm>
            <a:off x="660197" y="5144414"/>
            <a:ext cx="3318967" cy="182880"/>
          </a:xfrm>
          <a:prstGeom prst="rect">
            <a:avLst/>
          </a:prstGeom>
          <a:noFill/>
          <a:ln/>
        </p:spPr>
        <p:txBody>
          <a:bodyPr wrap="square" lIns="0" tIns="0" rIns="0" bIns="0" rtlCol="0" anchor="ctr"/>
          <a:lstStyle/>
          <a:p>
            <a:pPr indent="0" marL="0">
              <a:buNone/>
            </a:pPr>
            <a:r>
              <a:rPr lang="en-US" sz="900" b="1" dirty="0">
                <a:solidFill>
                  <a:srgbClr val="7E8882"/>
                </a:solidFill>
                <a:latin typeface="Yu Gothic" pitchFamily="34" charset="0"/>
                <a:ea typeface="Yu Gothic" pitchFamily="34" charset="-122"/>
                <a:cs typeface="Yu Gothic" pitchFamily="34" charset="-120"/>
              </a:rPr>
              <a:t>事業内容</a:t>
            </a:r>
            <a:endParaRPr lang="en-US" sz="900" dirty="0"/>
          </a:p>
        </p:txBody>
      </p:sp>
      <p:sp>
        <p:nvSpPr>
          <p:cNvPr id="23" name="Text 19"/>
          <p:cNvSpPr/>
          <p:nvPr/>
        </p:nvSpPr>
        <p:spPr>
          <a:xfrm>
            <a:off x="660197" y="5354726"/>
            <a:ext cx="3318967" cy="292608"/>
          </a:xfrm>
          <a:prstGeom prst="rect">
            <a:avLst/>
          </a:prstGeom>
          <a:noFill/>
          <a:ln/>
        </p:spPr>
        <p:txBody>
          <a:bodyPr wrap="square" lIns="0" tIns="0" rIns="0" bIns="0" rtlCol="0" anchor="ctr"/>
          <a:lstStyle/>
          <a:p>
            <a:pPr indent="0" marL="0">
              <a:buNone/>
            </a:pPr>
            <a:r>
              <a:rPr lang="en-US" sz="1300" dirty="0">
                <a:solidFill>
                  <a:srgbClr val="0A3D23"/>
                </a:solidFill>
                <a:latin typeface="Yu Gothic" pitchFamily="34" charset="0"/>
                <a:ea typeface="Yu Gothic" pitchFamily="34" charset="-122"/>
                <a:cs typeface="Yu Gothic" pitchFamily="34" charset="-120"/>
              </a:rPr>
              <a:t>無人カフェの経営</a:t>
            </a:r>
            <a:endParaRPr lang="en-US" sz="1300" dirty="0"/>
          </a:p>
        </p:txBody>
      </p:sp>
      <p:sp>
        <p:nvSpPr>
          <p:cNvPr id="24" name="Shape 20"/>
          <p:cNvSpPr/>
          <p:nvPr/>
        </p:nvSpPr>
        <p:spPr>
          <a:xfrm>
            <a:off x="660197" y="5711342"/>
            <a:ext cx="3318967" cy="10058"/>
          </a:xfrm>
          <a:prstGeom prst="rect">
            <a:avLst/>
          </a:prstGeom>
          <a:solidFill>
            <a:srgbClr val="EFEAE0"/>
          </a:solidFill>
          <a:ln/>
        </p:spPr>
      </p:sp>
      <p:sp>
        <p:nvSpPr>
          <p:cNvPr id="25" name="Text 21"/>
          <p:cNvSpPr/>
          <p:nvPr/>
        </p:nvSpPr>
        <p:spPr>
          <a:xfrm>
            <a:off x="4436364" y="5144414"/>
            <a:ext cx="3318967" cy="182880"/>
          </a:xfrm>
          <a:prstGeom prst="rect">
            <a:avLst/>
          </a:prstGeom>
          <a:noFill/>
          <a:ln/>
        </p:spPr>
        <p:txBody>
          <a:bodyPr wrap="square" lIns="0" tIns="0" rIns="0" bIns="0" rtlCol="0" anchor="ctr"/>
          <a:lstStyle/>
          <a:p>
            <a:pPr indent="0" marL="0">
              <a:buNone/>
            </a:pPr>
            <a:r>
              <a:rPr lang="en-US" sz="900" b="1" dirty="0">
                <a:solidFill>
                  <a:srgbClr val="7E8882"/>
                </a:solidFill>
                <a:latin typeface="Yu Gothic" pitchFamily="34" charset="0"/>
                <a:ea typeface="Yu Gothic" pitchFamily="34" charset="-122"/>
                <a:cs typeface="Yu Gothic" pitchFamily="34" charset="-120"/>
              </a:rPr>
              <a:t>設立日</a:t>
            </a:r>
            <a:endParaRPr lang="en-US" sz="900" dirty="0"/>
          </a:p>
        </p:txBody>
      </p:sp>
      <p:sp>
        <p:nvSpPr>
          <p:cNvPr id="26" name="Text 22"/>
          <p:cNvSpPr/>
          <p:nvPr/>
        </p:nvSpPr>
        <p:spPr>
          <a:xfrm>
            <a:off x="4436364" y="5354726"/>
            <a:ext cx="3318967" cy="292608"/>
          </a:xfrm>
          <a:prstGeom prst="rect">
            <a:avLst/>
          </a:prstGeom>
          <a:noFill/>
          <a:ln/>
        </p:spPr>
        <p:txBody>
          <a:bodyPr wrap="square" lIns="0" tIns="0" rIns="0" bIns="0" rtlCol="0" anchor="ctr"/>
          <a:lstStyle/>
          <a:p>
            <a:pPr indent="0" marL="0">
              <a:buNone/>
            </a:pPr>
            <a:r>
              <a:rPr lang="en-US" sz="1300" dirty="0">
                <a:solidFill>
                  <a:srgbClr val="0A3D23"/>
                </a:solidFill>
                <a:latin typeface="Yu Gothic" pitchFamily="34" charset="0"/>
                <a:ea typeface="Yu Gothic" pitchFamily="34" charset="-122"/>
                <a:cs typeface="Yu Gothic" pitchFamily="34" charset="-120"/>
              </a:rPr>
              <a:t>2024年5月1日</a:t>
            </a:r>
            <a:endParaRPr lang="en-US" sz="1300" dirty="0"/>
          </a:p>
        </p:txBody>
      </p:sp>
      <p:sp>
        <p:nvSpPr>
          <p:cNvPr id="27" name="Shape 23"/>
          <p:cNvSpPr/>
          <p:nvPr/>
        </p:nvSpPr>
        <p:spPr>
          <a:xfrm>
            <a:off x="4436364" y="5711342"/>
            <a:ext cx="3318967" cy="10058"/>
          </a:xfrm>
          <a:prstGeom prst="rect">
            <a:avLst/>
          </a:prstGeom>
          <a:solidFill>
            <a:srgbClr val="EFEAE0"/>
          </a:solidFill>
          <a:ln/>
        </p:spPr>
      </p:sp>
      <p:sp>
        <p:nvSpPr>
          <p:cNvPr id="28" name="Text 24"/>
          <p:cNvSpPr/>
          <p:nvPr/>
        </p:nvSpPr>
        <p:spPr>
          <a:xfrm>
            <a:off x="8212531" y="5144414"/>
            <a:ext cx="3318967" cy="182880"/>
          </a:xfrm>
          <a:prstGeom prst="rect">
            <a:avLst/>
          </a:prstGeom>
          <a:noFill/>
          <a:ln/>
        </p:spPr>
        <p:txBody>
          <a:bodyPr wrap="square" lIns="0" tIns="0" rIns="0" bIns="0" rtlCol="0" anchor="ctr"/>
          <a:lstStyle/>
          <a:p>
            <a:pPr indent="0" marL="0">
              <a:buNone/>
            </a:pPr>
            <a:r>
              <a:rPr lang="en-US" sz="900" b="1" dirty="0">
                <a:solidFill>
                  <a:srgbClr val="7E8882"/>
                </a:solidFill>
                <a:latin typeface="Yu Gothic" pitchFamily="34" charset="0"/>
                <a:ea typeface="Yu Gothic" pitchFamily="34" charset="-122"/>
                <a:cs typeface="Yu Gothic" pitchFamily="34" charset="-120"/>
              </a:rPr>
              <a:t>公式HP</a:t>
            </a:r>
            <a:endParaRPr lang="en-US" sz="900" dirty="0"/>
          </a:p>
        </p:txBody>
      </p:sp>
      <p:sp>
        <p:nvSpPr>
          <p:cNvPr id="29" name="Text 25"/>
          <p:cNvSpPr/>
          <p:nvPr/>
        </p:nvSpPr>
        <p:spPr>
          <a:xfrm>
            <a:off x="8212531" y="5354726"/>
            <a:ext cx="3318967" cy="292608"/>
          </a:xfrm>
          <a:prstGeom prst="rect">
            <a:avLst/>
          </a:prstGeom>
          <a:noFill/>
          <a:ln/>
        </p:spPr>
        <p:txBody>
          <a:bodyPr wrap="square" lIns="0" tIns="0" rIns="0" bIns="0" rtlCol="0" anchor="ctr"/>
          <a:lstStyle/>
          <a:p>
            <a:pPr indent="0" marL="0">
              <a:buNone/>
            </a:pPr>
            <a:r>
              <a:rPr lang="en-US" sz="1300" dirty="0">
                <a:solidFill>
                  <a:srgbClr val="0A3D23"/>
                </a:solidFill>
                <a:latin typeface="Yu Gothic" pitchFamily="34" charset="0"/>
                <a:ea typeface="Yu Gothic" pitchFamily="34" charset="-122"/>
                <a:cs typeface="Yu Gothic" pitchFamily="34" charset="-120"/>
              </a:rPr>
              <a:t>https://selfcafe.jp/</a:t>
            </a:r>
            <a:endParaRPr lang="en-US" sz="1300" dirty="0"/>
          </a:p>
        </p:txBody>
      </p:sp>
      <p:sp>
        <p:nvSpPr>
          <p:cNvPr id="30" name="Shape 26"/>
          <p:cNvSpPr/>
          <p:nvPr/>
        </p:nvSpPr>
        <p:spPr>
          <a:xfrm>
            <a:off x="8212531" y="5711342"/>
            <a:ext cx="3318967" cy="10058"/>
          </a:xfrm>
          <a:prstGeom prst="rect">
            <a:avLst/>
          </a:prstGeom>
          <a:solidFill>
            <a:srgbClr val="EFEAE0"/>
          </a:solidFill>
          <a:ln/>
        </p:spPr>
      </p:sp>
      <p:sp>
        <p:nvSpPr>
          <p:cNvPr id="31" name="Shape 27"/>
          <p:cNvSpPr/>
          <p:nvPr/>
        </p:nvSpPr>
        <p:spPr>
          <a:xfrm>
            <a:off x="660197" y="6022238"/>
            <a:ext cx="10871302" cy="457200"/>
          </a:xfrm>
          <a:prstGeom prst="roundRect">
            <a:avLst>
              <a:gd name="adj" fmla="val 10000"/>
            </a:avLst>
          </a:prstGeom>
          <a:solidFill>
            <a:srgbClr val="F1F8F3"/>
          </a:solidFill>
          <a:ln/>
        </p:spPr>
      </p:sp>
      <p:sp>
        <p:nvSpPr>
          <p:cNvPr id="32" name="Text 28"/>
          <p:cNvSpPr/>
          <p:nvPr/>
        </p:nvSpPr>
        <p:spPr>
          <a:xfrm>
            <a:off x="879653" y="6022238"/>
            <a:ext cx="10432390" cy="457200"/>
          </a:xfrm>
          <a:prstGeom prst="rect">
            <a:avLst/>
          </a:prstGeom>
          <a:noFill/>
          <a:ln/>
        </p:spPr>
        <p:txBody>
          <a:bodyPr wrap="square" lIns="0" tIns="0" rIns="0" bIns="0" rtlCol="0" anchor="ctr"/>
          <a:lstStyle/>
          <a:p>
            <a:pPr indent="0" marL="0">
              <a:buNone/>
            </a:pPr>
            <a:r>
              <a:rPr lang="en-US" sz="1000" dirty="0">
                <a:solidFill>
                  <a:srgbClr val="106838"/>
                </a:solidFill>
                <a:latin typeface="Yu Gothic" pitchFamily="34" charset="0"/>
                <a:ea typeface="Yu Gothic" pitchFamily="34" charset="-122"/>
                <a:cs typeface="Yu Gothic" pitchFamily="34" charset="-120"/>
              </a:rPr>
              <a:t>※ 2024年5月1日よりウッドデザインパーク株式会社から分社化</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7"/>
        </a:solidFill>
      </p:bgPr>
    </p:bg>
    <p:spTree>
      <p:nvGrpSpPr>
        <p:cNvPr id="1" name=""/>
        <p:cNvGrpSpPr/>
        <p:nvPr/>
      </p:nvGrpSpPr>
      <p:grpSpPr>
        <a:xfrm>
          <a:off x="0" y="0"/>
          <a:ext cx="0" cy="0"/>
          <a:chOff x="0" y="0"/>
          <a:chExt cx="0" cy="0"/>
        </a:xfrm>
      </p:grpSpPr>
      <p:sp>
        <p:nvSpPr>
          <p:cNvPr id="2" name="Shape 0"/>
          <p:cNvSpPr/>
          <p:nvPr/>
        </p:nvSpPr>
        <p:spPr>
          <a:xfrm>
            <a:off x="660197" y="545897"/>
            <a:ext cx="202997" cy="25603"/>
          </a:xfrm>
          <a:prstGeom prst="rect">
            <a:avLst/>
          </a:prstGeom>
          <a:solidFill>
            <a:srgbClr val="106838"/>
          </a:solidFill>
          <a:ln/>
        </p:spPr>
      </p:sp>
      <p:sp>
        <p:nvSpPr>
          <p:cNvPr id="3" name="Text 1"/>
          <p:cNvSpPr/>
          <p:nvPr/>
        </p:nvSpPr>
        <p:spPr>
          <a:xfrm>
            <a:off x="952805" y="444398"/>
            <a:ext cx="6400800" cy="177394"/>
          </a:xfrm>
          <a:prstGeom prst="rect">
            <a:avLst/>
          </a:prstGeom>
          <a:noFill/>
          <a:ln/>
        </p:spPr>
        <p:txBody>
          <a:bodyPr wrap="square" lIns="0" tIns="0" rIns="0" bIns="0" rtlCol="0" anchor="ctr"/>
          <a:lstStyle/>
          <a:p>
            <a:pPr indent="0" marL="0">
              <a:buNone/>
            </a:pPr>
            <a:r>
              <a:rPr lang="en-US" sz="1050" b="1" dirty="0">
                <a:solidFill>
                  <a:srgbClr val="A8761F"/>
                </a:solidFill>
                <a:latin typeface="Arial" pitchFamily="34" charset="0"/>
                <a:ea typeface="Arial" pitchFamily="34" charset="-122"/>
                <a:cs typeface="Arial" pitchFamily="34" charset="-120"/>
              </a:rPr>
              <a:t>02</a:t>
            </a:r>
            <a:r>
              <a:rPr lang="en-US" sz="1050" b="1" dirty="0">
                <a:solidFill>
                  <a:srgbClr val="1B8149"/>
                </a:solidFill>
                <a:latin typeface="Yu Gothic" pitchFamily="34" charset="0"/>
                <a:ea typeface="Yu Gothic" pitchFamily="34" charset="-122"/>
                <a:cs typeface="Yu Gothic" pitchFamily="34" charset="-120"/>
              </a:rPr>
              <a:t>   ブランド</a:t>
            </a:r>
            <a:endParaRPr lang="en-US" sz="1050" dirty="0"/>
          </a:p>
        </p:txBody>
      </p:sp>
      <p:sp>
        <p:nvSpPr>
          <p:cNvPr id="4" name="Text 2"/>
          <p:cNvSpPr/>
          <p:nvPr/>
        </p:nvSpPr>
        <p:spPr>
          <a:xfrm>
            <a:off x="660197" y="660197"/>
            <a:ext cx="8889797" cy="508406"/>
          </a:xfrm>
          <a:prstGeom prst="rect">
            <a:avLst/>
          </a:prstGeom>
          <a:noFill/>
          <a:ln/>
        </p:spPr>
        <p:txBody>
          <a:bodyPr wrap="square" lIns="0" tIns="0" rIns="0" bIns="0" rtlCol="0" anchor="ctr"/>
          <a:lstStyle/>
          <a:p>
            <a:pPr indent="0" marL="0">
              <a:buNone/>
            </a:pPr>
            <a:r>
              <a:rPr lang="en-US" sz="2900" b="1" dirty="0">
                <a:solidFill>
                  <a:srgbClr val="0A3D23"/>
                </a:solidFill>
                <a:latin typeface="Yu Gothic" pitchFamily="34" charset="0"/>
                <a:ea typeface="Yu Gothic" pitchFamily="34" charset="-122"/>
                <a:cs typeface="Yu Gothic" pitchFamily="34" charset="-120"/>
              </a:rPr>
              <a:t>セルフカフェとは</a:t>
            </a:r>
            <a:endParaRPr lang="en-US" sz="2900" dirty="0"/>
          </a:p>
        </p:txBody>
      </p:sp>
      <p:sp>
        <p:nvSpPr>
          <p:cNvPr id="5" name="Text 3"/>
          <p:cNvSpPr/>
          <p:nvPr/>
        </p:nvSpPr>
        <p:spPr>
          <a:xfrm>
            <a:off x="660197" y="1308506"/>
            <a:ext cx="10032797" cy="228600"/>
          </a:xfrm>
          <a:prstGeom prst="rect">
            <a:avLst/>
          </a:prstGeom>
          <a:noFill/>
          <a:ln/>
        </p:spPr>
        <p:txBody>
          <a:bodyPr wrap="square" lIns="0" tIns="0" rIns="0" bIns="0" rtlCol="0" anchor="ctr"/>
          <a:lstStyle/>
          <a:p>
            <a:pPr indent="0" marL="0">
              <a:buNone/>
            </a:pPr>
            <a:r>
              <a:rPr lang="en-US" sz="1250" dirty="0">
                <a:solidFill>
                  <a:srgbClr val="4B5550"/>
                </a:solidFill>
                <a:latin typeface="Yu Gothic" pitchFamily="34" charset="0"/>
                <a:ea typeface="Yu Gothic" pitchFamily="34" charset="-122"/>
                <a:cs typeface="Yu Gothic" pitchFamily="34" charset="-120"/>
              </a:rPr>
              <a:t>“誰もが気軽に使える”第三の居場所を、全国71店舗で展開中。年内にさらに10店舗以上の出店を予定しています。</a:t>
            </a:r>
            <a:endParaRPr lang="en-US" sz="1250" dirty="0"/>
          </a:p>
        </p:txBody>
      </p:sp>
      <p:pic>
        <p:nvPicPr>
          <p:cNvPr id="6" name="Image 0" descr="/home/user/suzuki-ceo/selfcafe-gyomu-deck/assets/logo-green.png">    </p:cNvPr>
          <p:cNvPicPr>
            <a:picLocks noChangeAspect="1"/>
          </p:cNvPicPr>
          <p:nvPr/>
        </p:nvPicPr>
        <p:blipFill>
          <a:blip r:embed="rId1"/>
          <a:stretch>
            <a:fillRect/>
          </a:stretch>
        </p:blipFill>
        <p:spPr>
          <a:xfrm>
            <a:off x="9855403" y="482803"/>
            <a:ext cx="1676095" cy="238658"/>
          </a:xfrm>
          <a:prstGeom prst="rect">
            <a:avLst/>
          </a:prstGeom>
        </p:spPr>
      </p:pic>
      <p:sp>
        <p:nvSpPr>
          <p:cNvPr id="7" name="Text 4"/>
          <p:cNvSpPr/>
          <p:nvPr/>
        </p:nvSpPr>
        <p:spPr>
          <a:xfrm>
            <a:off x="660197" y="6476695"/>
            <a:ext cx="5080406" cy="152705"/>
          </a:xfrm>
          <a:prstGeom prst="rect">
            <a:avLst/>
          </a:prstGeom>
          <a:noFill/>
          <a:ln/>
        </p:spPr>
        <p:txBody>
          <a:bodyPr wrap="square" lIns="0" tIns="0" rIns="0" bIns="0" rtlCol="0" anchor="ctr"/>
          <a:lstStyle/>
          <a:p>
            <a:pPr indent="0" marL="0">
              <a:buNone/>
            </a:pPr>
            <a:r>
              <a:rPr lang="en-US" sz="900" dirty="0">
                <a:solidFill>
                  <a:srgbClr val="A8B0AA"/>
                </a:solidFill>
                <a:latin typeface="Yu Gothic" pitchFamily="34" charset="0"/>
                <a:ea typeface="Yu Gothic" pitchFamily="34" charset="-122"/>
                <a:cs typeface="Yu Gothic" pitchFamily="34" charset="-120"/>
              </a:rPr>
              <a:t>セルフカフェ 業務委託型制度</a:t>
            </a:r>
            <a:endParaRPr lang="en-US" sz="900" dirty="0"/>
          </a:p>
        </p:txBody>
      </p:sp>
      <p:sp>
        <p:nvSpPr>
          <p:cNvPr id="8" name="Text 5"/>
          <p:cNvSpPr/>
          <p:nvPr/>
        </p:nvSpPr>
        <p:spPr>
          <a:xfrm>
            <a:off x="10261397" y="6463894"/>
            <a:ext cx="1270102" cy="152705"/>
          </a:xfrm>
          <a:prstGeom prst="rect">
            <a:avLst/>
          </a:prstGeom>
          <a:noFill/>
          <a:ln/>
        </p:spPr>
        <p:txBody>
          <a:bodyPr wrap="square" lIns="0" tIns="0" rIns="0" bIns="0" rtlCol="0" anchor="ctr"/>
          <a:lstStyle/>
          <a:p>
            <a:pPr algn="r" indent="0" marL="0">
              <a:buNone/>
            </a:pPr>
            <a:r>
              <a:rPr lang="en-US" sz="1000" b="1" dirty="0">
                <a:solidFill>
                  <a:srgbClr val="7E8882"/>
                </a:solidFill>
                <a:latin typeface="Arial" pitchFamily="34" charset="0"/>
                <a:ea typeface="Arial" pitchFamily="34" charset="-122"/>
                <a:cs typeface="Arial" pitchFamily="34" charset="-120"/>
              </a:rPr>
              <a:t>03</a:t>
            </a:r>
            <a:endParaRPr lang="en-US" sz="1000" dirty="0"/>
          </a:p>
        </p:txBody>
      </p:sp>
      <p:sp>
        <p:nvSpPr>
          <p:cNvPr id="9" name="Shape 6"/>
          <p:cNvSpPr/>
          <p:nvPr/>
        </p:nvSpPr>
        <p:spPr>
          <a:xfrm>
            <a:off x="660197" y="1651406"/>
            <a:ext cx="6675120" cy="786384"/>
          </a:xfrm>
          <a:prstGeom prst="roundRect">
            <a:avLst>
              <a:gd name="adj" fmla="val 6977"/>
            </a:avLst>
          </a:prstGeom>
          <a:solidFill>
            <a:srgbClr val="FFFFFF"/>
          </a:solidFill>
          <a:ln w="9525">
            <a:solidFill>
              <a:srgbClr val="EFEAE0"/>
            </a:solidFill>
            <a:prstDash val="solid"/>
          </a:ln>
        </p:spPr>
      </p:sp>
      <p:pic>
        <p:nvPicPr>
          <p:cNvPr id="10" name="Image 1" descr="/home/user/suzuki-ceo/selfcafe-gyomu-deck/assets/icons/LuHouse-green.png">    </p:cNvPr>
          <p:cNvPicPr>
            <a:picLocks noChangeAspect="1"/>
          </p:cNvPicPr>
          <p:nvPr/>
        </p:nvPicPr>
        <p:blipFill>
          <a:blip r:embed="rId2"/>
          <a:stretch>
            <a:fillRect/>
          </a:stretch>
        </p:blipFill>
        <p:spPr>
          <a:xfrm>
            <a:off x="916229" y="1852574"/>
            <a:ext cx="384048" cy="384048"/>
          </a:xfrm>
          <a:prstGeom prst="rect">
            <a:avLst/>
          </a:prstGeom>
        </p:spPr>
      </p:pic>
      <p:sp>
        <p:nvSpPr>
          <p:cNvPr id="11" name="Text 7"/>
          <p:cNvSpPr/>
          <p:nvPr/>
        </p:nvSpPr>
        <p:spPr>
          <a:xfrm>
            <a:off x="1464869" y="1779422"/>
            <a:ext cx="1828800" cy="274320"/>
          </a:xfrm>
          <a:prstGeom prst="rect">
            <a:avLst/>
          </a:prstGeom>
          <a:noFill/>
          <a:ln/>
        </p:spPr>
        <p:txBody>
          <a:bodyPr wrap="square" lIns="0" tIns="0" rIns="0" bIns="0" rtlCol="0" anchor="ctr"/>
          <a:lstStyle/>
          <a:p>
            <a:pPr indent="0" marL="0">
              <a:buNone/>
            </a:pPr>
            <a:r>
              <a:rPr lang="en-US" sz="1400" b="1" dirty="0">
                <a:solidFill>
                  <a:srgbClr val="0A3D23"/>
                </a:solidFill>
                <a:latin typeface="Yu Gothic" pitchFamily="34" charset="0"/>
                <a:ea typeface="Yu Gothic" pitchFamily="34" charset="-122"/>
                <a:cs typeface="Yu Gothic" pitchFamily="34" charset="-120"/>
              </a:rPr>
              <a:t>お家のような</a:t>
            </a:r>
            <a:endParaRPr lang="en-US" sz="1400" dirty="0"/>
          </a:p>
        </p:txBody>
      </p:sp>
      <p:sp>
        <p:nvSpPr>
          <p:cNvPr id="12" name="Text 8"/>
          <p:cNvSpPr/>
          <p:nvPr/>
        </p:nvSpPr>
        <p:spPr>
          <a:xfrm>
            <a:off x="1464869" y="2053742"/>
            <a:ext cx="5577840" cy="256032"/>
          </a:xfrm>
          <a:prstGeom prst="rect">
            <a:avLst/>
          </a:prstGeom>
          <a:noFill/>
          <a:ln/>
        </p:spPr>
        <p:txBody>
          <a:bodyPr wrap="square" lIns="0" tIns="0" rIns="0" bIns="0" rtlCol="0" anchor="ctr"/>
          <a:lstStyle/>
          <a:p>
            <a:pPr indent="0" marL="0">
              <a:buNone/>
            </a:pPr>
            <a:r>
              <a:rPr lang="en-US" sz="1050" dirty="0">
                <a:solidFill>
                  <a:srgbClr val="4B5550"/>
                </a:solidFill>
                <a:latin typeface="Yu Gothic" pitchFamily="34" charset="0"/>
                <a:ea typeface="Yu Gothic" pitchFamily="34" charset="-122"/>
                <a:cs typeface="Yu Gothic" pitchFamily="34" charset="-120"/>
              </a:rPr>
              <a:t>寛ぎすぎないが、設備が整った集中環境。</a:t>
            </a:r>
            <a:endParaRPr lang="en-US" sz="1050" dirty="0"/>
          </a:p>
        </p:txBody>
      </p:sp>
      <p:sp>
        <p:nvSpPr>
          <p:cNvPr id="13" name="Shape 9"/>
          <p:cNvSpPr/>
          <p:nvPr/>
        </p:nvSpPr>
        <p:spPr>
          <a:xfrm>
            <a:off x="660197" y="2547518"/>
            <a:ext cx="6675120" cy="786384"/>
          </a:xfrm>
          <a:prstGeom prst="roundRect">
            <a:avLst>
              <a:gd name="adj" fmla="val 6977"/>
            </a:avLst>
          </a:prstGeom>
          <a:solidFill>
            <a:srgbClr val="FFFFFF"/>
          </a:solidFill>
          <a:ln w="9525">
            <a:solidFill>
              <a:srgbClr val="EFEAE0"/>
            </a:solidFill>
            <a:prstDash val="solid"/>
          </a:ln>
        </p:spPr>
      </p:sp>
      <p:pic>
        <p:nvPicPr>
          <p:cNvPr id="14" name="Image 2" descr="/home/user/suzuki-ceo/selfcafe-gyomu-deck/assets/icons/LuCoffee-green.png">    </p:cNvPr>
          <p:cNvPicPr>
            <a:picLocks noChangeAspect="1"/>
          </p:cNvPicPr>
          <p:nvPr/>
        </p:nvPicPr>
        <p:blipFill>
          <a:blip r:embed="rId3"/>
          <a:stretch>
            <a:fillRect/>
          </a:stretch>
        </p:blipFill>
        <p:spPr>
          <a:xfrm>
            <a:off x="916229" y="2748686"/>
            <a:ext cx="384048" cy="384048"/>
          </a:xfrm>
          <a:prstGeom prst="rect">
            <a:avLst/>
          </a:prstGeom>
        </p:spPr>
      </p:pic>
      <p:sp>
        <p:nvSpPr>
          <p:cNvPr id="15" name="Text 10"/>
          <p:cNvSpPr/>
          <p:nvPr/>
        </p:nvSpPr>
        <p:spPr>
          <a:xfrm>
            <a:off x="1464869" y="2675534"/>
            <a:ext cx="1828800" cy="274320"/>
          </a:xfrm>
          <a:prstGeom prst="rect">
            <a:avLst/>
          </a:prstGeom>
          <a:noFill/>
          <a:ln/>
        </p:spPr>
        <p:txBody>
          <a:bodyPr wrap="square" lIns="0" tIns="0" rIns="0" bIns="0" rtlCol="0" anchor="ctr"/>
          <a:lstStyle/>
          <a:p>
            <a:pPr indent="0" marL="0">
              <a:buNone/>
            </a:pPr>
            <a:r>
              <a:rPr lang="en-US" sz="1400" b="1" dirty="0">
                <a:solidFill>
                  <a:srgbClr val="0A3D23"/>
                </a:solidFill>
                <a:latin typeface="Yu Gothic" pitchFamily="34" charset="0"/>
                <a:ea typeface="Yu Gothic" pitchFamily="34" charset="-122"/>
                <a:cs typeface="Yu Gothic" pitchFamily="34" charset="-120"/>
              </a:rPr>
              <a:t>カフェのような</a:t>
            </a:r>
            <a:endParaRPr lang="en-US" sz="1400" dirty="0"/>
          </a:p>
        </p:txBody>
      </p:sp>
      <p:sp>
        <p:nvSpPr>
          <p:cNvPr id="16" name="Text 11"/>
          <p:cNvSpPr/>
          <p:nvPr/>
        </p:nvSpPr>
        <p:spPr>
          <a:xfrm>
            <a:off x="1464869" y="2949854"/>
            <a:ext cx="5577840" cy="256032"/>
          </a:xfrm>
          <a:prstGeom prst="rect">
            <a:avLst/>
          </a:prstGeom>
          <a:noFill/>
          <a:ln/>
        </p:spPr>
        <p:txBody>
          <a:bodyPr wrap="square" lIns="0" tIns="0" rIns="0" bIns="0" rtlCol="0" anchor="ctr"/>
          <a:lstStyle/>
          <a:p>
            <a:pPr indent="0" marL="0">
              <a:buNone/>
            </a:pPr>
            <a:r>
              <a:rPr lang="en-US" sz="1050" dirty="0">
                <a:solidFill>
                  <a:srgbClr val="4B5550"/>
                </a:solidFill>
                <a:latin typeface="Yu Gothic" pitchFamily="34" charset="0"/>
                <a:ea typeface="Yu Gothic" pitchFamily="34" charset="-122"/>
                <a:cs typeface="Yu Gothic" pitchFamily="34" charset="-120"/>
              </a:rPr>
              <a:t>食事はないが、時間を気にせず美味しいコーヒーが飲める。</a:t>
            </a:r>
            <a:endParaRPr lang="en-US" sz="1050" dirty="0"/>
          </a:p>
        </p:txBody>
      </p:sp>
      <p:sp>
        <p:nvSpPr>
          <p:cNvPr id="17" name="Shape 12"/>
          <p:cNvSpPr/>
          <p:nvPr/>
        </p:nvSpPr>
        <p:spPr>
          <a:xfrm>
            <a:off x="660197" y="3443630"/>
            <a:ext cx="6675120" cy="786384"/>
          </a:xfrm>
          <a:prstGeom prst="roundRect">
            <a:avLst>
              <a:gd name="adj" fmla="val 6977"/>
            </a:avLst>
          </a:prstGeom>
          <a:solidFill>
            <a:srgbClr val="FFFFFF"/>
          </a:solidFill>
          <a:ln w="9525">
            <a:solidFill>
              <a:srgbClr val="EFEAE0"/>
            </a:solidFill>
            <a:prstDash val="solid"/>
          </a:ln>
        </p:spPr>
      </p:sp>
      <p:pic>
        <p:nvPicPr>
          <p:cNvPr id="18" name="Image 3" descr="/home/user/suzuki-ceo/selfcafe-gyomu-deck/assets/icons/LuBookOpen-green.png">    </p:cNvPr>
          <p:cNvPicPr>
            <a:picLocks noChangeAspect="1"/>
          </p:cNvPicPr>
          <p:nvPr/>
        </p:nvPicPr>
        <p:blipFill>
          <a:blip r:embed="rId4"/>
          <a:stretch>
            <a:fillRect/>
          </a:stretch>
        </p:blipFill>
        <p:spPr>
          <a:xfrm>
            <a:off x="916229" y="3644798"/>
            <a:ext cx="384048" cy="384048"/>
          </a:xfrm>
          <a:prstGeom prst="rect">
            <a:avLst/>
          </a:prstGeom>
        </p:spPr>
      </p:pic>
      <p:sp>
        <p:nvSpPr>
          <p:cNvPr id="19" name="Text 13"/>
          <p:cNvSpPr/>
          <p:nvPr/>
        </p:nvSpPr>
        <p:spPr>
          <a:xfrm>
            <a:off x="1464869" y="3571646"/>
            <a:ext cx="1828800" cy="274320"/>
          </a:xfrm>
          <a:prstGeom prst="rect">
            <a:avLst/>
          </a:prstGeom>
          <a:noFill/>
          <a:ln/>
        </p:spPr>
        <p:txBody>
          <a:bodyPr wrap="square" lIns="0" tIns="0" rIns="0" bIns="0" rtlCol="0" anchor="ctr"/>
          <a:lstStyle/>
          <a:p>
            <a:pPr indent="0" marL="0">
              <a:buNone/>
            </a:pPr>
            <a:r>
              <a:rPr lang="en-US" sz="1400" b="1" dirty="0">
                <a:solidFill>
                  <a:srgbClr val="0A3D23"/>
                </a:solidFill>
                <a:latin typeface="Yu Gothic" pitchFamily="34" charset="0"/>
                <a:ea typeface="Yu Gothic" pitchFamily="34" charset="-122"/>
                <a:cs typeface="Yu Gothic" pitchFamily="34" charset="-120"/>
              </a:rPr>
              <a:t>図書館のような</a:t>
            </a:r>
            <a:endParaRPr lang="en-US" sz="1400" dirty="0"/>
          </a:p>
        </p:txBody>
      </p:sp>
      <p:sp>
        <p:nvSpPr>
          <p:cNvPr id="20" name="Text 14"/>
          <p:cNvSpPr/>
          <p:nvPr/>
        </p:nvSpPr>
        <p:spPr>
          <a:xfrm>
            <a:off x="1464869" y="3845966"/>
            <a:ext cx="5577840" cy="256032"/>
          </a:xfrm>
          <a:prstGeom prst="rect">
            <a:avLst/>
          </a:prstGeom>
          <a:noFill/>
          <a:ln/>
        </p:spPr>
        <p:txBody>
          <a:bodyPr wrap="square" lIns="0" tIns="0" rIns="0" bIns="0" rtlCol="0" anchor="ctr"/>
          <a:lstStyle/>
          <a:p>
            <a:pPr indent="0" marL="0">
              <a:buNone/>
            </a:pPr>
            <a:r>
              <a:rPr lang="en-US" sz="1050" dirty="0">
                <a:solidFill>
                  <a:srgbClr val="4B5550"/>
                </a:solidFill>
                <a:latin typeface="Yu Gothic" pitchFamily="34" charset="0"/>
                <a:ea typeface="Yu Gothic" pitchFamily="34" charset="-122"/>
                <a:cs typeface="Yu Gothic" pitchFamily="34" charset="-120"/>
              </a:rPr>
              <a:t>静かすぎない、適度な賑やかさがある。</a:t>
            </a:r>
            <a:endParaRPr lang="en-US" sz="1050" dirty="0"/>
          </a:p>
        </p:txBody>
      </p:sp>
      <p:sp>
        <p:nvSpPr>
          <p:cNvPr id="21" name="Shape 15"/>
          <p:cNvSpPr/>
          <p:nvPr/>
        </p:nvSpPr>
        <p:spPr>
          <a:xfrm>
            <a:off x="660197" y="4394606"/>
            <a:ext cx="6675120" cy="969264"/>
          </a:xfrm>
          <a:prstGeom prst="roundRect">
            <a:avLst>
              <a:gd name="adj" fmla="val 5660"/>
            </a:avLst>
          </a:prstGeom>
          <a:solidFill>
            <a:srgbClr val="0C5230"/>
          </a:solidFill>
          <a:ln/>
        </p:spPr>
      </p:sp>
      <p:sp>
        <p:nvSpPr>
          <p:cNvPr id="22" name="Text 16"/>
          <p:cNvSpPr/>
          <p:nvPr/>
        </p:nvSpPr>
        <p:spPr>
          <a:xfrm>
            <a:off x="989381" y="4504334"/>
            <a:ext cx="6016752" cy="274320"/>
          </a:xfrm>
          <a:prstGeom prst="rect">
            <a:avLst/>
          </a:prstGeom>
          <a:noFill/>
          <a:ln/>
        </p:spPr>
        <p:txBody>
          <a:bodyPr wrap="square" lIns="0" tIns="0" rIns="0" bIns="0" rtlCol="0" anchor="ctr"/>
          <a:lstStyle/>
          <a:p>
            <a:pPr indent="0" marL="0">
              <a:buNone/>
            </a:pPr>
            <a:r>
              <a:rPr lang="en-US" sz="1150" dirty="0">
                <a:solidFill>
                  <a:srgbClr val="8CC5A5"/>
                </a:solidFill>
                <a:latin typeface="Yu Gothic" pitchFamily="34" charset="0"/>
                <a:ea typeface="Yu Gothic" pitchFamily="34" charset="-122"/>
                <a:cs typeface="Yu Gothic" pitchFamily="34" charset="-120"/>
              </a:rPr>
              <a:t>“誰もが気軽に使える”</a:t>
            </a:r>
            <a:endParaRPr lang="en-US" sz="1150" dirty="0"/>
          </a:p>
        </p:txBody>
      </p:sp>
      <p:sp>
        <p:nvSpPr>
          <p:cNvPr id="23" name="Text 17"/>
          <p:cNvSpPr/>
          <p:nvPr/>
        </p:nvSpPr>
        <p:spPr>
          <a:xfrm>
            <a:off x="989381" y="4796942"/>
            <a:ext cx="5577840" cy="457200"/>
          </a:xfrm>
          <a:prstGeom prst="rect">
            <a:avLst/>
          </a:prstGeom>
          <a:noFill/>
          <a:ln/>
        </p:spPr>
        <p:txBody>
          <a:bodyPr wrap="square" lIns="0" tIns="0" rIns="0" bIns="0" rtlCol="0" anchor="ctr"/>
          <a:lstStyle/>
          <a:p>
            <a:pPr indent="0" marL="0">
              <a:buNone/>
            </a:pPr>
            <a:r>
              <a:rPr lang="en-US" sz="2400" b="1" dirty="0">
                <a:solidFill>
                  <a:srgbClr val="FFFFFF"/>
                </a:solidFill>
                <a:latin typeface="Yu Gothic" pitchFamily="34" charset="0"/>
                <a:ea typeface="Yu Gothic" pitchFamily="34" charset="-122"/>
                <a:cs typeface="Yu Gothic" pitchFamily="34" charset="-120"/>
              </a:rPr>
              <a:t>第三の居場所</a:t>
            </a:r>
            <a:endParaRPr lang="en-US" sz="2400" dirty="0"/>
          </a:p>
        </p:txBody>
      </p:sp>
      <p:pic>
        <p:nvPicPr>
          <p:cNvPr id="24" name="Image 4" descr="/home/user/suzuki-ceo/selfcafe-gyomu-deck/assets/icons/LuCoffee-pale.png">    </p:cNvPr>
          <p:cNvPicPr>
            <a:picLocks noChangeAspect="1"/>
          </p:cNvPicPr>
          <p:nvPr/>
        </p:nvPicPr>
        <p:blipFill>
          <a:blip r:embed="rId5"/>
          <a:stretch>
            <a:fillRect/>
          </a:stretch>
        </p:blipFill>
        <p:spPr>
          <a:xfrm>
            <a:off x="6420917" y="4760366"/>
            <a:ext cx="475488" cy="475488"/>
          </a:xfrm>
          <a:prstGeom prst="rect">
            <a:avLst/>
          </a:prstGeom>
        </p:spPr>
      </p:pic>
      <p:sp>
        <p:nvSpPr>
          <p:cNvPr id="25" name="Shape 18"/>
          <p:cNvSpPr/>
          <p:nvPr/>
        </p:nvSpPr>
        <p:spPr>
          <a:xfrm>
            <a:off x="660197" y="5528462"/>
            <a:ext cx="2127504" cy="658368"/>
          </a:xfrm>
          <a:prstGeom prst="roundRect">
            <a:avLst>
              <a:gd name="adj" fmla="val 8333"/>
            </a:avLst>
          </a:prstGeom>
          <a:solidFill>
            <a:srgbClr val="F1F8F3"/>
          </a:solidFill>
          <a:ln w="9525">
            <a:solidFill>
              <a:srgbClr val="D2E7DA"/>
            </a:solidFill>
            <a:prstDash val="solid"/>
          </a:ln>
        </p:spPr>
      </p:sp>
      <p:sp>
        <p:nvSpPr>
          <p:cNvPr id="26" name="Text 19"/>
          <p:cNvSpPr/>
          <p:nvPr/>
        </p:nvSpPr>
        <p:spPr>
          <a:xfrm>
            <a:off x="824789" y="5601614"/>
            <a:ext cx="1798320" cy="292608"/>
          </a:xfrm>
          <a:prstGeom prst="rect">
            <a:avLst/>
          </a:prstGeom>
          <a:noFill/>
          <a:ln/>
        </p:spPr>
        <p:txBody>
          <a:bodyPr wrap="square" lIns="0" tIns="0" rIns="0" bIns="0" rtlCol="0" anchor="ctr"/>
          <a:lstStyle/>
          <a:p>
            <a:pPr indent="0" marL="0">
              <a:buNone/>
            </a:pPr>
            <a:r>
              <a:rPr lang="en-US" sz="1500" b="1" dirty="0">
                <a:solidFill>
                  <a:srgbClr val="106838"/>
                </a:solidFill>
                <a:latin typeface="Yu Gothic" pitchFamily="34" charset="0"/>
                <a:ea typeface="Yu Gothic" pitchFamily="34" charset="-122"/>
                <a:cs typeface="Yu Gothic" pitchFamily="34" charset="-120"/>
              </a:rPr>
              <a:t>2〜3時間</a:t>
            </a:r>
            <a:endParaRPr lang="en-US" sz="1500" dirty="0"/>
          </a:p>
        </p:txBody>
      </p:sp>
      <p:sp>
        <p:nvSpPr>
          <p:cNvPr id="27" name="Text 20"/>
          <p:cNvSpPr/>
          <p:nvPr/>
        </p:nvSpPr>
        <p:spPr>
          <a:xfrm>
            <a:off x="824789" y="5894222"/>
            <a:ext cx="1798320" cy="201168"/>
          </a:xfrm>
          <a:prstGeom prst="rect">
            <a:avLst/>
          </a:prstGeom>
          <a:noFill/>
          <a:ln/>
        </p:spPr>
        <p:txBody>
          <a:bodyPr wrap="square" lIns="0" tIns="0" rIns="0" bIns="0" rtlCol="0" anchor="ctr"/>
          <a:lstStyle/>
          <a:p>
            <a:pPr indent="0" marL="0">
              <a:buNone/>
            </a:pPr>
            <a:r>
              <a:rPr lang="en-US" sz="900" dirty="0">
                <a:solidFill>
                  <a:srgbClr val="7E8882"/>
                </a:solidFill>
                <a:latin typeface="Yu Gothic" pitchFamily="34" charset="0"/>
                <a:ea typeface="Yu Gothic" pitchFamily="34" charset="-122"/>
                <a:cs typeface="Yu Gothic" pitchFamily="34" charset="-120"/>
              </a:rPr>
              <a:t>平均滞在時間</a:t>
            </a:r>
            <a:endParaRPr lang="en-US" sz="900" dirty="0"/>
          </a:p>
        </p:txBody>
      </p:sp>
      <p:sp>
        <p:nvSpPr>
          <p:cNvPr id="28" name="Shape 21"/>
          <p:cNvSpPr/>
          <p:nvPr/>
        </p:nvSpPr>
        <p:spPr>
          <a:xfrm>
            <a:off x="2934005" y="5528462"/>
            <a:ext cx="2127504" cy="658368"/>
          </a:xfrm>
          <a:prstGeom prst="roundRect">
            <a:avLst>
              <a:gd name="adj" fmla="val 8333"/>
            </a:avLst>
          </a:prstGeom>
          <a:solidFill>
            <a:srgbClr val="F1F8F3"/>
          </a:solidFill>
          <a:ln w="9525">
            <a:solidFill>
              <a:srgbClr val="D2E7DA"/>
            </a:solidFill>
            <a:prstDash val="solid"/>
          </a:ln>
        </p:spPr>
      </p:sp>
      <p:sp>
        <p:nvSpPr>
          <p:cNvPr id="29" name="Text 22"/>
          <p:cNvSpPr/>
          <p:nvPr/>
        </p:nvSpPr>
        <p:spPr>
          <a:xfrm>
            <a:off x="3098597" y="5601614"/>
            <a:ext cx="1798320" cy="292608"/>
          </a:xfrm>
          <a:prstGeom prst="rect">
            <a:avLst/>
          </a:prstGeom>
          <a:noFill/>
          <a:ln/>
        </p:spPr>
        <p:txBody>
          <a:bodyPr wrap="square" lIns="0" tIns="0" rIns="0" bIns="0" rtlCol="0" anchor="ctr"/>
          <a:lstStyle/>
          <a:p>
            <a:pPr indent="0" marL="0">
              <a:buNone/>
            </a:pPr>
            <a:r>
              <a:rPr lang="en-US" sz="1500" b="1" dirty="0">
                <a:solidFill>
                  <a:srgbClr val="106838"/>
                </a:solidFill>
                <a:latin typeface="Yu Gothic" pitchFamily="34" charset="0"/>
                <a:ea typeface="Yu Gothic" pitchFamily="34" charset="-122"/>
                <a:cs typeface="Yu Gothic" pitchFamily="34" charset="-120"/>
              </a:rPr>
              <a:t>2杯程度</a:t>
            </a:r>
            <a:endParaRPr lang="en-US" sz="1500" dirty="0"/>
          </a:p>
        </p:txBody>
      </p:sp>
      <p:sp>
        <p:nvSpPr>
          <p:cNvPr id="30" name="Text 23"/>
          <p:cNvSpPr/>
          <p:nvPr/>
        </p:nvSpPr>
        <p:spPr>
          <a:xfrm>
            <a:off x="3098597" y="5894222"/>
            <a:ext cx="1798320" cy="201168"/>
          </a:xfrm>
          <a:prstGeom prst="rect">
            <a:avLst/>
          </a:prstGeom>
          <a:noFill/>
          <a:ln/>
        </p:spPr>
        <p:txBody>
          <a:bodyPr wrap="square" lIns="0" tIns="0" rIns="0" bIns="0" rtlCol="0" anchor="ctr"/>
          <a:lstStyle/>
          <a:p>
            <a:pPr indent="0" marL="0">
              <a:buNone/>
            </a:pPr>
            <a:r>
              <a:rPr lang="en-US" sz="900" dirty="0">
                <a:solidFill>
                  <a:srgbClr val="7E8882"/>
                </a:solidFill>
                <a:latin typeface="Yu Gothic" pitchFamily="34" charset="0"/>
                <a:ea typeface="Yu Gothic" pitchFamily="34" charset="-122"/>
                <a:cs typeface="Yu Gothic" pitchFamily="34" charset="-120"/>
              </a:rPr>
              <a:t>1人あたり購入数</a:t>
            </a:r>
            <a:endParaRPr lang="en-US" sz="900" dirty="0"/>
          </a:p>
        </p:txBody>
      </p:sp>
      <p:sp>
        <p:nvSpPr>
          <p:cNvPr id="31" name="Shape 24"/>
          <p:cNvSpPr/>
          <p:nvPr/>
        </p:nvSpPr>
        <p:spPr>
          <a:xfrm>
            <a:off x="5207813" y="5528462"/>
            <a:ext cx="2127504" cy="658368"/>
          </a:xfrm>
          <a:prstGeom prst="roundRect">
            <a:avLst>
              <a:gd name="adj" fmla="val 8333"/>
            </a:avLst>
          </a:prstGeom>
          <a:solidFill>
            <a:srgbClr val="F1F8F3"/>
          </a:solidFill>
          <a:ln w="9525">
            <a:solidFill>
              <a:srgbClr val="D2E7DA"/>
            </a:solidFill>
            <a:prstDash val="solid"/>
          </a:ln>
        </p:spPr>
      </p:sp>
      <p:sp>
        <p:nvSpPr>
          <p:cNvPr id="32" name="Text 25"/>
          <p:cNvSpPr/>
          <p:nvPr/>
        </p:nvSpPr>
        <p:spPr>
          <a:xfrm>
            <a:off x="5372405" y="5601614"/>
            <a:ext cx="1798320" cy="292608"/>
          </a:xfrm>
          <a:prstGeom prst="rect">
            <a:avLst/>
          </a:prstGeom>
          <a:noFill/>
          <a:ln/>
        </p:spPr>
        <p:txBody>
          <a:bodyPr wrap="square" lIns="0" tIns="0" rIns="0" bIns="0" rtlCol="0" anchor="ctr"/>
          <a:lstStyle/>
          <a:p>
            <a:pPr indent="0" marL="0">
              <a:buNone/>
            </a:pPr>
            <a:r>
              <a:rPr lang="en-US" sz="1500" b="1" dirty="0">
                <a:solidFill>
                  <a:srgbClr val="106838"/>
                </a:solidFill>
                <a:latin typeface="Yu Gothic" pitchFamily="34" charset="0"/>
                <a:ea typeface="Yu Gothic" pitchFamily="34" charset="-122"/>
                <a:cs typeface="Yu Gothic" pitchFamily="34" charset="-120"/>
              </a:rPr>
              <a:t>24時間</a:t>
            </a:r>
            <a:endParaRPr lang="en-US" sz="1500" dirty="0"/>
          </a:p>
        </p:txBody>
      </p:sp>
      <p:sp>
        <p:nvSpPr>
          <p:cNvPr id="33" name="Text 26"/>
          <p:cNvSpPr/>
          <p:nvPr/>
        </p:nvSpPr>
        <p:spPr>
          <a:xfrm>
            <a:off x="5372405" y="5894222"/>
            <a:ext cx="1798320" cy="201168"/>
          </a:xfrm>
          <a:prstGeom prst="rect">
            <a:avLst/>
          </a:prstGeom>
          <a:noFill/>
          <a:ln/>
        </p:spPr>
        <p:txBody>
          <a:bodyPr wrap="square" lIns="0" tIns="0" rIns="0" bIns="0" rtlCol="0" anchor="ctr"/>
          <a:lstStyle/>
          <a:p>
            <a:pPr indent="0" marL="0">
              <a:buNone/>
            </a:pPr>
            <a:r>
              <a:rPr lang="en-US" sz="900" dirty="0">
                <a:solidFill>
                  <a:srgbClr val="7E8882"/>
                </a:solidFill>
                <a:latin typeface="Yu Gothic" pitchFamily="34" charset="0"/>
                <a:ea typeface="Yu Gothic" pitchFamily="34" charset="-122"/>
                <a:cs typeface="Yu Gothic" pitchFamily="34" charset="-120"/>
              </a:rPr>
              <a:t>営業時間も任意設定可能</a:t>
            </a:r>
            <a:endParaRPr lang="en-US" sz="900" dirty="0"/>
          </a:p>
        </p:txBody>
      </p:sp>
      <p:sp>
        <p:nvSpPr>
          <p:cNvPr id="34" name="Shape 27"/>
          <p:cNvSpPr/>
          <p:nvPr/>
        </p:nvSpPr>
        <p:spPr>
          <a:xfrm>
            <a:off x="7719365" y="1651406"/>
            <a:ext cx="3812134" cy="4535424"/>
          </a:xfrm>
          <a:prstGeom prst="roundRect">
            <a:avLst>
              <a:gd name="adj" fmla="val 1439"/>
            </a:avLst>
          </a:prstGeom>
          <a:solidFill>
            <a:srgbClr val="FFFFFF"/>
          </a:solidFill>
          <a:ln w="9525">
            <a:solidFill>
              <a:srgbClr val="EFEAE0"/>
            </a:solidFill>
            <a:prstDash val="solid"/>
          </a:ln>
        </p:spPr>
      </p:sp>
      <p:sp>
        <p:nvSpPr>
          <p:cNvPr id="35" name="Text 28"/>
          <p:cNvSpPr/>
          <p:nvPr/>
        </p:nvSpPr>
        <p:spPr>
          <a:xfrm>
            <a:off x="7993685" y="1907438"/>
            <a:ext cx="1828800" cy="164592"/>
          </a:xfrm>
          <a:prstGeom prst="rect">
            <a:avLst/>
          </a:prstGeom>
          <a:noFill/>
          <a:ln/>
        </p:spPr>
        <p:txBody>
          <a:bodyPr wrap="square" lIns="0" tIns="0" rIns="0" bIns="0" rtlCol="0" anchor="ctr"/>
          <a:lstStyle/>
          <a:p>
            <a:pPr indent="0" marL="0">
              <a:buNone/>
            </a:pPr>
            <a:r>
              <a:rPr lang="en-US" sz="900" b="1" spc="150" kern="0" dirty="0">
                <a:solidFill>
                  <a:srgbClr val="A8761F"/>
                </a:solidFill>
                <a:latin typeface="Arial" pitchFamily="34" charset="0"/>
                <a:ea typeface="Arial" pitchFamily="34" charset="-122"/>
                <a:cs typeface="Arial" pitchFamily="34" charset="-120"/>
              </a:rPr>
              <a:t>NETWORK</a:t>
            </a:r>
            <a:endParaRPr lang="en-US" sz="900" dirty="0"/>
          </a:p>
        </p:txBody>
      </p:sp>
      <p:sp>
        <p:nvSpPr>
          <p:cNvPr id="36" name="Text 29"/>
          <p:cNvSpPr/>
          <p:nvPr/>
        </p:nvSpPr>
        <p:spPr>
          <a:xfrm>
            <a:off x="7993685" y="2145182"/>
            <a:ext cx="3263494" cy="548640"/>
          </a:xfrm>
          <a:prstGeom prst="rect">
            <a:avLst/>
          </a:prstGeom>
          <a:noFill/>
          <a:ln/>
        </p:spPr>
        <p:txBody>
          <a:bodyPr wrap="square" lIns="0" tIns="0" rIns="0" bIns="0" rtlCol="0" anchor="ctr"/>
          <a:lstStyle/>
          <a:p>
            <a:pPr indent="0" marL="0">
              <a:buNone/>
            </a:pPr>
            <a:r>
              <a:rPr lang="en-US" sz="3600" b="1" dirty="0">
                <a:solidFill>
                  <a:srgbClr val="106838"/>
                </a:solidFill>
                <a:latin typeface="Arial" pitchFamily="34" charset="0"/>
                <a:ea typeface="Arial" pitchFamily="34" charset="-122"/>
                <a:cs typeface="Arial" pitchFamily="34" charset="-120"/>
              </a:rPr>
              <a:t>71</a:t>
            </a:r>
            <a:r>
              <a:rPr lang="en-US" sz="1300" b="1" dirty="0">
                <a:solidFill>
                  <a:srgbClr val="106838"/>
                </a:solidFill>
                <a:latin typeface="Yu Gothic" pitchFamily="34" charset="0"/>
                <a:ea typeface="Yu Gothic" pitchFamily="34" charset="-122"/>
                <a:cs typeface="Yu Gothic" pitchFamily="34" charset="-120"/>
              </a:rPr>
              <a:t> 店舗</a:t>
            </a:r>
            <a:r>
              <a:rPr lang="en-US" sz="1400" b="1" dirty="0">
                <a:solidFill>
                  <a:srgbClr val="A8761F"/>
                </a:solidFill>
                <a:latin typeface="Arial" pitchFamily="34" charset="0"/>
                <a:ea typeface="Arial" pitchFamily="34" charset="-122"/>
                <a:cs typeface="Arial" pitchFamily="34" charset="-120"/>
              </a:rPr>
              <a:t>  ×  </a:t>
            </a:r>
            <a:r>
              <a:rPr lang="en-US" sz="3600" b="1" dirty="0">
                <a:solidFill>
                  <a:srgbClr val="106838"/>
                </a:solidFill>
                <a:latin typeface="Arial" pitchFamily="34" charset="0"/>
                <a:ea typeface="Arial" pitchFamily="34" charset="-122"/>
                <a:cs typeface="Arial" pitchFamily="34" charset="-120"/>
              </a:rPr>
              <a:t>11</a:t>
            </a:r>
            <a:r>
              <a:rPr lang="en-US" sz="1300" b="1" dirty="0">
                <a:solidFill>
                  <a:srgbClr val="106838"/>
                </a:solidFill>
                <a:latin typeface="Yu Gothic" pitchFamily="34" charset="0"/>
                <a:ea typeface="Yu Gothic" pitchFamily="34" charset="-122"/>
                <a:cs typeface="Yu Gothic" pitchFamily="34" charset="-120"/>
              </a:rPr>
              <a:t> 都府県</a:t>
            </a:r>
            <a:endParaRPr lang="en-US" sz="3600" dirty="0"/>
          </a:p>
        </p:txBody>
      </p:sp>
      <p:sp>
        <p:nvSpPr>
          <p:cNvPr id="37" name="Text 30"/>
          <p:cNvSpPr/>
          <p:nvPr/>
        </p:nvSpPr>
        <p:spPr>
          <a:xfrm>
            <a:off x="7993685" y="2712110"/>
            <a:ext cx="3263494" cy="201168"/>
          </a:xfrm>
          <a:prstGeom prst="rect">
            <a:avLst/>
          </a:prstGeom>
          <a:noFill/>
          <a:ln/>
        </p:spPr>
        <p:txBody>
          <a:bodyPr wrap="square" lIns="0" tIns="0" rIns="0" bIns="0" rtlCol="0" anchor="ctr"/>
          <a:lstStyle/>
          <a:p>
            <a:pPr indent="0" marL="0">
              <a:buNone/>
            </a:pPr>
            <a:r>
              <a:rPr lang="en-US" sz="900" dirty="0">
                <a:solidFill>
                  <a:srgbClr val="7E8882"/>
                </a:solidFill>
                <a:latin typeface="Yu Gothic" pitchFamily="34" charset="0"/>
                <a:ea typeface="Yu Gothic" pitchFamily="34" charset="-122"/>
                <a:cs typeface="Yu Gothic" pitchFamily="34" charset="-120"/>
              </a:rPr>
              <a:t>2026年7月時点／東北から中国地方まで展開中</a:t>
            </a:r>
            <a:endParaRPr lang="en-US" sz="900" dirty="0"/>
          </a:p>
        </p:txBody>
      </p:sp>
      <p:sp>
        <p:nvSpPr>
          <p:cNvPr id="38" name="Shape 31"/>
          <p:cNvSpPr/>
          <p:nvPr/>
        </p:nvSpPr>
        <p:spPr>
          <a:xfrm>
            <a:off x="7993685" y="3004718"/>
            <a:ext cx="3263494" cy="10058"/>
          </a:xfrm>
          <a:prstGeom prst="rect">
            <a:avLst/>
          </a:prstGeom>
          <a:solidFill>
            <a:srgbClr val="EFEAE0"/>
          </a:solidFill>
          <a:ln/>
        </p:spPr>
      </p:sp>
      <p:sp>
        <p:nvSpPr>
          <p:cNvPr id="39" name="Text 32"/>
          <p:cNvSpPr/>
          <p:nvPr/>
        </p:nvSpPr>
        <p:spPr>
          <a:xfrm>
            <a:off x="7993685" y="3096158"/>
            <a:ext cx="1645920" cy="210312"/>
          </a:xfrm>
          <a:prstGeom prst="rect">
            <a:avLst/>
          </a:prstGeom>
          <a:noFill/>
          <a:ln/>
        </p:spPr>
        <p:txBody>
          <a:bodyPr wrap="square" lIns="0" tIns="0" rIns="0" bIns="0" rtlCol="0" anchor="ctr"/>
          <a:lstStyle/>
          <a:p>
            <a:pPr indent="0" marL="0">
              <a:buNone/>
            </a:pPr>
            <a:r>
              <a:rPr lang="en-US" sz="950" dirty="0">
                <a:solidFill>
                  <a:srgbClr val="0A3D23"/>
                </a:solidFill>
                <a:latin typeface="Yu Gothic" pitchFamily="34" charset="0"/>
                <a:ea typeface="Yu Gothic" pitchFamily="34" charset="-122"/>
                <a:cs typeface="Yu Gothic" pitchFamily="34" charset="-120"/>
              </a:rPr>
              <a:t>愛知県</a:t>
            </a:r>
            <a:endParaRPr lang="en-US" sz="950" dirty="0"/>
          </a:p>
        </p:txBody>
      </p:sp>
      <p:sp>
        <p:nvSpPr>
          <p:cNvPr id="40" name="Text 33"/>
          <p:cNvSpPr/>
          <p:nvPr/>
        </p:nvSpPr>
        <p:spPr>
          <a:xfrm>
            <a:off x="10525658" y="3096158"/>
            <a:ext cx="731520" cy="210312"/>
          </a:xfrm>
          <a:prstGeom prst="rect">
            <a:avLst/>
          </a:prstGeom>
          <a:noFill/>
          <a:ln/>
        </p:spPr>
        <p:txBody>
          <a:bodyPr wrap="square" lIns="0" tIns="0" rIns="0" bIns="0" rtlCol="0" anchor="ctr"/>
          <a:lstStyle/>
          <a:p>
            <a:pPr algn="r" indent="0" marL="0">
              <a:buNone/>
            </a:pPr>
            <a:r>
              <a:rPr lang="en-US" sz="1050" b="1" dirty="0">
                <a:solidFill>
                  <a:srgbClr val="106838"/>
                </a:solidFill>
                <a:latin typeface="Arial" pitchFamily="34" charset="0"/>
                <a:ea typeface="Arial" pitchFamily="34" charset="-122"/>
                <a:cs typeface="Arial" pitchFamily="34" charset="-120"/>
              </a:rPr>
              <a:t>36</a:t>
            </a:r>
            <a:endParaRPr lang="en-US" sz="1050" dirty="0"/>
          </a:p>
        </p:txBody>
      </p:sp>
      <p:sp>
        <p:nvSpPr>
          <p:cNvPr id="41" name="Text 34"/>
          <p:cNvSpPr/>
          <p:nvPr/>
        </p:nvSpPr>
        <p:spPr>
          <a:xfrm>
            <a:off x="7993685" y="3308299"/>
            <a:ext cx="1645920" cy="210312"/>
          </a:xfrm>
          <a:prstGeom prst="rect">
            <a:avLst/>
          </a:prstGeom>
          <a:noFill/>
          <a:ln/>
        </p:spPr>
        <p:txBody>
          <a:bodyPr wrap="square" lIns="0" tIns="0" rIns="0" bIns="0" rtlCol="0" anchor="ctr"/>
          <a:lstStyle/>
          <a:p>
            <a:pPr indent="0" marL="0">
              <a:buNone/>
            </a:pPr>
            <a:r>
              <a:rPr lang="en-US" sz="950" dirty="0">
                <a:solidFill>
                  <a:srgbClr val="0A3D23"/>
                </a:solidFill>
                <a:latin typeface="Yu Gothic" pitchFamily="34" charset="0"/>
                <a:ea typeface="Yu Gothic" pitchFamily="34" charset="-122"/>
                <a:cs typeface="Yu Gothic" pitchFamily="34" charset="-120"/>
              </a:rPr>
              <a:t>大阪府</a:t>
            </a:r>
            <a:endParaRPr lang="en-US" sz="950" dirty="0"/>
          </a:p>
        </p:txBody>
      </p:sp>
      <p:sp>
        <p:nvSpPr>
          <p:cNvPr id="42" name="Text 35"/>
          <p:cNvSpPr/>
          <p:nvPr/>
        </p:nvSpPr>
        <p:spPr>
          <a:xfrm>
            <a:off x="10525658" y="3308299"/>
            <a:ext cx="731520" cy="210312"/>
          </a:xfrm>
          <a:prstGeom prst="rect">
            <a:avLst/>
          </a:prstGeom>
          <a:noFill/>
          <a:ln/>
        </p:spPr>
        <p:txBody>
          <a:bodyPr wrap="square" lIns="0" tIns="0" rIns="0" bIns="0" rtlCol="0" anchor="ctr"/>
          <a:lstStyle/>
          <a:p>
            <a:pPr algn="r" indent="0" marL="0">
              <a:buNone/>
            </a:pPr>
            <a:r>
              <a:rPr lang="en-US" sz="1050" b="1" dirty="0">
                <a:solidFill>
                  <a:srgbClr val="106838"/>
                </a:solidFill>
                <a:latin typeface="Arial" pitchFamily="34" charset="0"/>
                <a:ea typeface="Arial" pitchFamily="34" charset="-122"/>
                <a:cs typeface="Arial" pitchFamily="34" charset="-120"/>
              </a:rPr>
              <a:t>18</a:t>
            </a:r>
            <a:endParaRPr lang="en-US" sz="1050" dirty="0"/>
          </a:p>
        </p:txBody>
      </p:sp>
      <p:sp>
        <p:nvSpPr>
          <p:cNvPr id="43" name="Text 36"/>
          <p:cNvSpPr/>
          <p:nvPr/>
        </p:nvSpPr>
        <p:spPr>
          <a:xfrm>
            <a:off x="7993685" y="3520440"/>
            <a:ext cx="1645920" cy="210312"/>
          </a:xfrm>
          <a:prstGeom prst="rect">
            <a:avLst/>
          </a:prstGeom>
          <a:noFill/>
          <a:ln/>
        </p:spPr>
        <p:txBody>
          <a:bodyPr wrap="square" lIns="0" tIns="0" rIns="0" bIns="0" rtlCol="0" anchor="ctr"/>
          <a:lstStyle/>
          <a:p>
            <a:pPr indent="0" marL="0">
              <a:buNone/>
            </a:pPr>
            <a:r>
              <a:rPr lang="en-US" sz="950" dirty="0">
                <a:solidFill>
                  <a:srgbClr val="0A3D23"/>
                </a:solidFill>
                <a:latin typeface="Yu Gothic" pitchFamily="34" charset="0"/>
                <a:ea typeface="Yu Gothic" pitchFamily="34" charset="-122"/>
                <a:cs typeface="Yu Gothic" pitchFamily="34" charset="-120"/>
              </a:rPr>
              <a:t>東京都</a:t>
            </a:r>
            <a:endParaRPr lang="en-US" sz="950" dirty="0"/>
          </a:p>
        </p:txBody>
      </p:sp>
      <p:sp>
        <p:nvSpPr>
          <p:cNvPr id="44" name="Text 37"/>
          <p:cNvSpPr/>
          <p:nvPr/>
        </p:nvSpPr>
        <p:spPr>
          <a:xfrm>
            <a:off x="10525658" y="3520440"/>
            <a:ext cx="731520" cy="210312"/>
          </a:xfrm>
          <a:prstGeom prst="rect">
            <a:avLst/>
          </a:prstGeom>
          <a:noFill/>
          <a:ln/>
        </p:spPr>
        <p:txBody>
          <a:bodyPr wrap="square" lIns="0" tIns="0" rIns="0" bIns="0" rtlCol="0" anchor="ctr"/>
          <a:lstStyle/>
          <a:p>
            <a:pPr algn="r" indent="0" marL="0">
              <a:buNone/>
            </a:pPr>
            <a:r>
              <a:rPr lang="en-US" sz="1050" b="1" dirty="0">
                <a:solidFill>
                  <a:srgbClr val="106838"/>
                </a:solidFill>
                <a:latin typeface="Arial" pitchFamily="34" charset="0"/>
                <a:ea typeface="Arial" pitchFamily="34" charset="-122"/>
                <a:cs typeface="Arial" pitchFamily="34" charset="-120"/>
              </a:rPr>
              <a:t>7</a:t>
            </a:r>
            <a:endParaRPr lang="en-US" sz="1050" dirty="0"/>
          </a:p>
        </p:txBody>
      </p:sp>
      <p:sp>
        <p:nvSpPr>
          <p:cNvPr id="45" name="Text 38"/>
          <p:cNvSpPr/>
          <p:nvPr/>
        </p:nvSpPr>
        <p:spPr>
          <a:xfrm>
            <a:off x="7993685" y="3732581"/>
            <a:ext cx="1645920" cy="210312"/>
          </a:xfrm>
          <a:prstGeom prst="rect">
            <a:avLst/>
          </a:prstGeom>
          <a:noFill/>
          <a:ln/>
        </p:spPr>
        <p:txBody>
          <a:bodyPr wrap="square" lIns="0" tIns="0" rIns="0" bIns="0" rtlCol="0" anchor="ctr"/>
          <a:lstStyle/>
          <a:p>
            <a:pPr indent="0" marL="0">
              <a:buNone/>
            </a:pPr>
            <a:r>
              <a:rPr lang="en-US" sz="950" dirty="0">
                <a:solidFill>
                  <a:srgbClr val="0A3D23"/>
                </a:solidFill>
                <a:latin typeface="Yu Gothic" pitchFamily="34" charset="0"/>
                <a:ea typeface="Yu Gothic" pitchFamily="34" charset="-122"/>
                <a:cs typeface="Yu Gothic" pitchFamily="34" charset="-120"/>
              </a:rPr>
              <a:t>岩手県</a:t>
            </a:r>
            <a:endParaRPr lang="en-US" sz="950" dirty="0"/>
          </a:p>
        </p:txBody>
      </p:sp>
      <p:sp>
        <p:nvSpPr>
          <p:cNvPr id="46" name="Text 39"/>
          <p:cNvSpPr/>
          <p:nvPr/>
        </p:nvSpPr>
        <p:spPr>
          <a:xfrm>
            <a:off x="10525658" y="3732581"/>
            <a:ext cx="731520" cy="210312"/>
          </a:xfrm>
          <a:prstGeom prst="rect">
            <a:avLst/>
          </a:prstGeom>
          <a:noFill/>
          <a:ln/>
        </p:spPr>
        <p:txBody>
          <a:bodyPr wrap="square" lIns="0" tIns="0" rIns="0" bIns="0" rtlCol="0" anchor="ctr"/>
          <a:lstStyle/>
          <a:p>
            <a:pPr algn="r" indent="0" marL="0">
              <a:buNone/>
            </a:pPr>
            <a:r>
              <a:rPr lang="en-US" sz="1050" b="1" dirty="0">
                <a:solidFill>
                  <a:srgbClr val="106838"/>
                </a:solidFill>
                <a:latin typeface="Arial" pitchFamily="34" charset="0"/>
                <a:ea typeface="Arial" pitchFamily="34" charset="-122"/>
                <a:cs typeface="Arial" pitchFamily="34" charset="-120"/>
              </a:rPr>
              <a:t>2</a:t>
            </a:r>
            <a:endParaRPr lang="en-US" sz="1050" dirty="0"/>
          </a:p>
        </p:txBody>
      </p:sp>
      <p:sp>
        <p:nvSpPr>
          <p:cNvPr id="47" name="Text 40"/>
          <p:cNvSpPr/>
          <p:nvPr/>
        </p:nvSpPr>
        <p:spPr>
          <a:xfrm>
            <a:off x="7993685" y="3944722"/>
            <a:ext cx="1645920" cy="210312"/>
          </a:xfrm>
          <a:prstGeom prst="rect">
            <a:avLst/>
          </a:prstGeom>
          <a:noFill/>
          <a:ln/>
        </p:spPr>
        <p:txBody>
          <a:bodyPr wrap="square" lIns="0" tIns="0" rIns="0" bIns="0" rtlCol="0" anchor="ctr"/>
          <a:lstStyle/>
          <a:p>
            <a:pPr indent="0" marL="0">
              <a:buNone/>
            </a:pPr>
            <a:r>
              <a:rPr lang="en-US" sz="950" dirty="0">
                <a:solidFill>
                  <a:srgbClr val="0A3D23"/>
                </a:solidFill>
                <a:latin typeface="Yu Gothic" pitchFamily="34" charset="0"/>
                <a:ea typeface="Yu Gothic" pitchFamily="34" charset="-122"/>
                <a:cs typeface="Yu Gothic" pitchFamily="34" charset="-120"/>
              </a:rPr>
              <a:t>岐阜県</a:t>
            </a:r>
            <a:endParaRPr lang="en-US" sz="950" dirty="0"/>
          </a:p>
        </p:txBody>
      </p:sp>
      <p:sp>
        <p:nvSpPr>
          <p:cNvPr id="48" name="Text 41"/>
          <p:cNvSpPr/>
          <p:nvPr/>
        </p:nvSpPr>
        <p:spPr>
          <a:xfrm>
            <a:off x="10525658" y="3944722"/>
            <a:ext cx="731520" cy="210312"/>
          </a:xfrm>
          <a:prstGeom prst="rect">
            <a:avLst/>
          </a:prstGeom>
          <a:noFill/>
          <a:ln/>
        </p:spPr>
        <p:txBody>
          <a:bodyPr wrap="square" lIns="0" tIns="0" rIns="0" bIns="0" rtlCol="0" anchor="ctr"/>
          <a:lstStyle/>
          <a:p>
            <a:pPr algn="r" indent="0" marL="0">
              <a:buNone/>
            </a:pPr>
            <a:r>
              <a:rPr lang="en-US" sz="1050" b="1" dirty="0">
                <a:solidFill>
                  <a:srgbClr val="106838"/>
                </a:solidFill>
                <a:latin typeface="Arial" pitchFamily="34" charset="0"/>
                <a:ea typeface="Arial" pitchFamily="34" charset="-122"/>
                <a:cs typeface="Arial" pitchFamily="34" charset="-120"/>
              </a:rPr>
              <a:t>2</a:t>
            </a:r>
            <a:endParaRPr lang="en-US" sz="1050" dirty="0"/>
          </a:p>
        </p:txBody>
      </p:sp>
      <p:sp>
        <p:nvSpPr>
          <p:cNvPr id="49" name="Text 42"/>
          <p:cNvSpPr/>
          <p:nvPr/>
        </p:nvSpPr>
        <p:spPr>
          <a:xfrm>
            <a:off x="7993685" y="4156862"/>
            <a:ext cx="1645920" cy="210312"/>
          </a:xfrm>
          <a:prstGeom prst="rect">
            <a:avLst/>
          </a:prstGeom>
          <a:noFill/>
          <a:ln/>
        </p:spPr>
        <p:txBody>
          <a:bodyPr wrap="square" lIns="0" tIns="0" rIns="0" bIns="0" rtlCol="0" anchor="ctr"/>
          <a:lstStyle/>
          <a:p>
            <a:pPr indent="0" marL="0">
              <a:buNone/>
            </a:pPr>
            <a:r>
              <a:rPr lang="en-US" sz="950" dirty="0">
                <a:solidFill>
                  <a:srgbClr val="0A3D23"/>
                </a:solidFill>
                <a:latin typeface="Yu Gothic" pitchFamily="34" charset="0"/>
                <a:ea typeface="Yu Gothic" pitchFamily="34" charset="-122"/>
                <a:cs typeface="Yu Gothic" pitchFamily="34" charset="-120"/>
              </a:rPr>
              <a:t>埼玉県</a:t>
            </a:r>
            <a:endParaRPr lang="en-US" sz="950" dirty="0"/>
          </a:p>
        </p:txBody>
      </p:sp>
      <p:sp>
        <p:nvSpPr>
          <p:cNvPr id="50" name="Text 43"/>
          <p:cNvSpPr/>
          <p:nvPr/>
        </p:nvSpPr>
        <p:spPr>
          <a:xfrm>
            <a:off x="10525658" y="4156862"/>
            <a:ext cx="731520" cy="210312"/>
          </a:xfrm>
          <a:prstGeom prst="rect">
            <a:avLst/>
          </a:prstGeom>
          <a:noFill/>
          <a:ln/>
        </p:spPr>
        <p:txBody>
          <a:bodyPr wrap="square" lIns="0" tIns="0" rIns="0" bIns="0" rtlCol="0" anchor="ctr"/>
          <a:lstStyle/>
          <a:p>
            <a:pPr algn="r" indent="0" marL="0">
              <a:buNone/>
            </a:pPr>
            <a:r>
              <a:rPr lang="en-US" sz="1050" b="1" dirty="0">
                <a:solidFill>
                  <a:srgbClr val="106838"/>
                </a:solidFill>
                <a:latin typeface="Arial" pitchFamily="34" charset="0"/>
                <a:ea typeface="Arial" pitchFamily="34" charset="-122"/>
                <a:cs typeface="Arial" pitchFamily="34" charset="-120"/>
              </a:rPr>
              <a:t>1</a:t>
            </a:r>
            <a:endParaRPr lang="en-US" sz="1050" dirty="0"/>
          </a:p>
        </p:txBody>
      </p:sp>
      <p:sp>
        <p:nvSpPr>
          <p:cNvPr id="51" name="Text 44"/>
          <p:cNvSpPr/>
          <p:nvPr/>
        </p:nvSpPr>
        <p:spPr>
          <a:xfrm>
            <a:off x="7993685" y="4369003"/>
            <a:ext cx="1645920" cy="210312"/>
          </a:xfrm>
          <a:prstGeom prst="rect">
            <a:avLst/>
          </a:prstGeom>
          <a:noFill/>
          <a:ln/>
        </p:spPr>
        <p:txBody>
          <a:bodyPr wrap="square" lIns="0" tIns="0" rIns="0" bIns="0" rtlCol="0" anchor="ctr"/>
          <a:lstStyle/>
          <a:p>
            <a:pPr indent="0" marL="0">
              <a:buNone/>
            </a:pPr>
            <a:r>
              <a:rPr lang="en-US" sz="950" dirty="0">
                <a:solidFill>
                  <a:srgbClr val="0A3D23"/>
                </a:solidFill>
                <a:latin typeface="Yu Gothic" pitchFamily="34" charset="0"/>
                <a:ea typeface="Yu Gothic" pitchFamily="34" charset="-122"/>
                <a:cs typeface="Yu Gothic" pitchFamily="34" charset="-120"/>
              </a:rPr>
              <a:t>千葉県</a:t>
            </a:r>
            <a:endParaRPr lang="en-US" sz="950" dirty="0"/>
          </a:p>
        </p:txBody>
      </p:sp>
      <p:sp>
        <p:nvSpPr>
          <p:cNvPr id="52" name="Text 45"/>
          <p:cNvSpPr/>
          <p:nvPr/>
        </p:nvSpPr>
        <p:spPr>
          <a:xfrm>
            <a:off x="10525658" y="4369003"/>
            <a:ext cx="731520" cy="210312"/>
          </a:xfrm>
          <a:prstGeom prst="rect">
            <a:avLst/>
          </a:prstGeom>
          <a:noFill/>
          <a:ln/>
        </p:spPr>
        <p:txBody>
          <a:bodyPr wrap="square" lIns="0" tIns="0" rIns="0" bIns="0" rtlCol="0" anchor="ctr"/>
          <a:lstStyle/>
          <a:p>
            <a:pPr algn="r" indent="0" marL="0">
              <a:buNone/>
            </a:pPr>
            <a:r>
              <a:rPr lang="en-US" sz="1050" b="1" dirty="0">
                <a:solidFill>
                  <a:srgbClr val="106838"/>
                </a:solidFill>
                <a:latin typeface="Arial" pitchFamily="34" charset="0"/>
                <a:ea typeface="Arial" pitchFamily="34" charset="-122"/>
                <a:cs typeface="Arial" pitchFamily="34" charset="-120"/>
              </a:rPr>
              <a:t>1</a:t>
            </a:r>
            <a:endParaRPr lang="en-US" sz="1050" dirty="0"/>
          </a:p>
        </p:txBody>
      </p:sp>
      <p:sp>
        <p:nvSpPr>
          <p:cNvPr id="53" name="Text 46"/>
          <p:cNvSpPr/>
          <p:nvPr/>
        </p:nvSpPr>
        <p:spPr>
          <a:xfrm>
            <a:off x="7993685" y="4581144"/>
            <a:ext cx="1645920" cy="210312"/>
          </a:xfrm>
          <a:prstGeom prst="rect">
            <a:avLst/>
          </a:prstGeom>
          <a:noFill/>
          <a:ln/>
        </p:spPr>
        <p:txBody>
          <a:bodyPr wrap="square" lIns="0" tIns="0" rIns="0" bIns="0" rtlCol="0" anchor="ctr"/>
          <a:lstStyle/>
          <a:p>
            <a:pPr indent="0" marL="0">
              <a:buNone/>
            </a:pPr>
            <a:r>
              <a:rPr lang="en-US" sz="950" dirty="0">
                <a:solidFill>
                  <a:srgbClr val="0A3D23"/>
                </a:solidFill>
                <a:latin typeface="Yu Gothic" pitchFamily="34" charset="0"/>
                <a:ea typeface="Yu Gothic" pitchFamily="34" charset="-122"/>
                <a:cs typeface="Yu Gothic" pitchFamily="34" charset="-120"/>
              </a:rPr>
              <a:t>静岡県</a:t>
            </a:r>
            <a:endParaRPr lang="en-US" sz="950" dirty="0"/>
          </a:p>
        </p:txBody>
      </p:sp>
      <p:sp>
        <p:nvSpPr>
          <p:cNvPr id="54" name="Text 47"/>
          <p:cNvSpPr/>
          <p:nvPr/>
        </p:nvSpPr>
        <p:spPr>
          <a:xfrm>
            <a:off x="10525658" y="4581144"/>
            <a:ext cx="731520" cy="210312"/>
          </a:xfrm>
          <a:prstGeom prst="rect">
            <a:avLst/>
          </a:prstGeom>
          <a:noFill/>
          <a:ln/>
        </p:spPr>
        <p:txBody>
          <a:bodyPr wrap="square" lIns="0" tIns="0" rIns="0" bIns="0" rtlCol="0" anchor="ctr"/>
          <a:lstStyle/>
          <a:p>
            <a:pPr algn="r" indent="0" marL="0">
              <a:buNone/>
            </a:pPr>
            <a:r>
              <a:rPr lang="en-US" sz="1050" b="1" dirty="0">
                <a:solidFill>
                  <a:srgbClr val="106838"/>
                </a:solidFill>
                <a:latin typeface="Arial" pitchFamily="34" charset="0"/>
                <a:ea typeface="Arial" pitchFamily="34" charset="-122"/>
                <a:cs typeface="Arial" pitchFamily="34" charset="-120"/>
              </a:rPr>
              <a:t>1</a:t>
            </a:r>
            <a:endParaRPr lang="en-US" sz="1050" dirty="0"/>
          </a:p>
        </p:txBody>
      </p:sp>
      <p:sp>
        <p:nvSpPr>
          <p:cNvPr id="55" name="Text 48"/>
          <p:cNvSpPr/>
          <p:nvPr/>
        </p:nvSpPr>
        <p:spPr>
          <a:xfrm>
            <a:off x="7993685" y="4793285"/>
            <a:ext cx="1645920" cy="210312"/>
          </a:xfrm>
          <a:prstGeom prst="rect">
            <a:avLst/>
          </a:prstGeom>
          <a:noFill/>
          <a:ln/>
        </p:spPr>
        <p:txBody>
          <a:bodyPr wrap="square" lIns="0" tIns="0" rIns="0" bIns="0" rtlCol="0" anchor="ctr"/>
          <a:lstStyle/>
          <a:p>
            <a:pPr indent="0" marL="0">
              <a:buNone/>
            </a:pPr>
            <a:r>
              <a:rPr lang="en-US" sz="950" dirty="0">
                <a:solidFill>
                  <a:srgbClr val="0A3D23"/>
                </a:solidFill>
                <a:latin typeface="Yu Gothic" pitchFamily="34" charset="0"/>
                <a:ea typeface="Yu Gothic" pitchFamily="34" charset="-122"/>
                <a:cs typeface="Yu Gothic" pitchFamily="34" charset="-120"/>
              </a:rPr>
              <a:t>滋賀県</a:t>
            </a:r>
            <a:endParaRPr lang="en-US" sz="950" dirty="0"/>
          </a:p>
        </p:txBody>
      </p:sp>
      <p:sp>
        <p:nvSpPr>
          <p:cNvPr id="56" name="Text 49"/>
          <p:cNvSpPr/>
          <p:nvPr/>
        </p:nvSpPr>
        <p:spPr>
          <a:xfrm>
            <a:off x="10525658" y="4793285"/>
            <a:ext cx="731520" cy="210312"/>
          </a:xfrm>
          <a:prstGeom prst="rect">
            <a:avLst/>
          </a:prstGeom>
          <a:noFill/>
          <a:ln/>
        </p:spPr>
        <p:txBody>
          <a:bodyPr wrap="square" lIns="0" tIns="0" rIns="0" bIns="0" rtlCol="0" anchor="ctr"/>
          <a:lstStyle/>
          <a:p>
            <a:pPr algn="r" indent="0" marL="0">
              <a:buNone/>
            </a:pPr>
            <a:r>
              <a:rPr lang="en-US" sz="1050" b="1" dirty="0">
                <a:solidFill>
                  <a:srgbClr val="106838"/>
                </a:solidFill>
                <a:latin typeface="Arial" pitchFamily="34" charset="0"/>
                <a:ea typeface="Arial" pitchFamily="34" charset="-122"/>
                <a:cs typeface="Arial" pitchFamily="34" charset="-120"/>
              </a:rPr>
              <a:t>1</a:t>
            </a:r>
            <a:endParaRPr lang="en-US" sz="1050" dirty="0"/>
          </a:p>
        </p:txBody>
      </p:sp>
      <p:sp>
        <p:nvSpPr>
          <p:cNvPr id="57" name="Text 50"/>
          <p:cNvSpPr/>
          <p:nvPr/>
        </p:nvSpPr>
        <p:spPr>
          <a:xfrm>
            <a:off x="7993685" y="5005426"/>
            <a:ext cx="1645920" cy="210312"/>
          </a:xfrm>
          <a:prstGeom prst="rect">
            <a:avLst/>
          </a:prstGeom>
          <a:noFill/>
          <a:ln/>
        </p:spPr>
        <p:txBody>
          <a:bodyPr wrap="square" lIns="0" tIns="0" rIns="0" bIns="0" rtlCol="0" anchor="ctr"/>
          <a:lstStyle/>
          <a:p>
            <a:pPr indent="0" marL="0">
              <a:buNone/>
            </a:pPr>
            <a:r>
              <a:rPr lang="en-US" sz="950" dirty="0">
                <a:solidFill>
                  <a:srgbClr val="0A3D23"/>
                </a:solidFill>
                <a:latin typeface="Yu Gothic" pitchFamily="34" charset="0"/>
                <a:ea typeface="Yu Gothic" pitchFamily="34" charset="-122"/>
                <a:cs typeface="Yu Gothic" pitchFamily="34" charset="-120"/>
              </a:rPr>
              <a:t>三重県</a:t>
            </a:r>
            <a:endParaRPr lang="en-US" sz="950" dirty="0"/>
          </a:p>
        </p:txBody>
      </p:sp>
      <p:sp>
        <p:nvSpPr>
          <p:cNvPr id="58" name="Text 51"/>
          <p:cNvSpPr/>
          <p:nvPr/>
        </p:nvSpPr>
        <p:spPr>
          <a:xfrm>
            <a:off x="10525658" y="5005426"/>
            <a:ext cx="731520" cy="210312"/>
          </a:xfrm>
          <a:prstGeom prst="rect">
            <a:avLst/>
          </a:prstGeom>
          <a:noFill/>
          <a:ln/>
        </p:spPr>
        <p:txBody>
          <a:bodyPr wrap="square" lIns="0" tIns="0" rIns="0" bIns="0" rtlCol="0" anchor="ctr"/>
          <a:lstStyle/>
          <a:p>
            <a:pPr algn="r" indent="0" marL="0">
              <a:buNone/>
            </a:pPr>
            <a:r>
              <a:rPr lang="en-US" sz="1050" b="1" dirty="0">
                <a:solidFill>
                  <a:srgbClr val="106838"/>
                </a:solidFill>
                <a:latin typeface="Arial" pitchFamily="34" charset="0"/>
                <a:ea typeface="Arial" pitchFamily="34" charset="-122"/>
                <a:cs typeface="Arial" pitchFamily="34" charset="-120"/>
              </a:rPr>
              <a:t>1</a:t>
            </a:r>
            <a:endParaRPr lang="en-US" sz="1050" dirty="0"/>
          </a:p>
        </p:txBody>
      </p:sp>
      <p:sp>
        <p:nvSpPr>
          <p:cNvPr id="59" name="Text 52"/>
          <p:cNvSpPr/>
          <p:nvPr/>
        </p:nvSpPr>
        <p:spPr>
          <a:xfrm>
            <a:off x="7993685" y="5217566"/>
            <a:ext cx="1645920" cy="210312"/>
          </a:xfrm>
          <a:prstGeom prst="rect">
            <a:avLst/>
          </a:prstGeom>
          <a:noFill/>
          <a:ln/>
        </p:spPr>
        <p:txBody>
          <a:bodyPr wrap="square" lIns="0" tIns="0" rIns="0" bIns="0" rtlCol="0" anchor="ctr"/>
          <a:lstStyle/>
          <a:p>
            <a:pPr indent="0" marL="0">
              <a:buNone/>
            </a:pPr>
            <a:r>
              <a:rPr lang="en-US" sz="950" dirty="0">
                <a:solidFill>
                  <a:srgbClr val="0A3D23"/>
                </a:solidFill>
                <a:latin typeface="Yu Gothic" pitchFamily="34" charset="0"/>
                <a:ea typeface="Yu Gothic" pitchFamily="34" charset="-122"/>
                <a:cs typeface="Yu Gothic" pitchFamily="34" charset="-120"/>
              </a:rPr>
              <a:t>鳥取県</a:t>
            </a:r>
            <a:endParaRPr lang="en-US" sz="950" dirty="0"/>
          </a:p>
        </p:txBody>
      </p:sp>
      <p:sp>
        <p:nvSpPr>
          <p:cNvPr id="60" name="Text 53"/>
          <p:cNvSpPr/>
          <p:nvPr/>
        </p:nvSpPr>
        <p:spPr>
          <a:xfrm>
            <a:off x="10525658" y="5217566"/>
            <a:ext cx="731520" cy="210312"/>
          </a:xfrm>
          <a:prstGeom prst="rect">
            <a:avLst/>
          </a:prstGeom>
          <a:noFill/>
          <a:ln/>
        </p:spPr>
        <p:txBody>
          <a:bodyPr wrap="square" lIns="0" tIns="0" rIns="0" bIns="0" rtlCol="0" anchor="ctr"/>
          <a:lstStyle/>
          <a:p>
            <a:pPr algn="r" indent="0" marL="0">
              <a:buNone/>
            </a:pPr>
            <a:r>
              <a:rPr lang="en-US" sz="1050" b="1" dirty="0">
                <a:solidFill>
                  <a:srgbClr val="106838"/>
                </a:solidFill>
                <a:latin typeface="Arial" pitchFamily="34" charset="0"/>
                <a:ea typeface="Arial" pitchFamily="34" charset="-122"/>
                <a:cs typeface="Arial" pitchFamily="34" charset="-120"/>
              </a:rPr>
              <a:t>1</a:t>
            </a:r>
            <a:endParaRPr lang="en-US" sz="1050" dirty="0"/>
          </a:p>
        </p:txBody>
      </p:sp>
      <p:sp>
        <p:nvSpPr>
          <p:cNvPr id="61" name="Shape 54"/>
          <p:cNvSpPr/>
          <p:nvPr/>
        </p:nvSpPr>
        <p:spPr>
          <a:xfrm>
            <a:off x="7993685" y="5491886"/>
            <a:ext cx="3263494" cy="512064"/>
          </a:xfrm>
          <a:prstGeom prst="roundRect">
            <a:avLst>
              <a:gd name="adj" fmla="val 8929"/>
            </a:avLst>
          </a:prstGeom>
          <a:solidFill>
            <a:srgbClr val="FBF4E4"/>
          </a:solidFill>
          <a:ln/>
        </p:spPr>
      </p:sp>
      <p:sp>
        <p:nvSpPr>
          <p:cNvPr id="62" name="Text 55"/>
          <p:cNvSpPr/>
          <p:nvPr/>
        </p:nvSpPr>
        <p:spPr>
          <a:xfrm>
            <a:off x="8139989" y="5491886"/>
            <a:ext cx="2989174" cy="512064"/>
          </a:xfrm>
          <a:prstGeom prst="rect">
            <a:avLst/>
          </a:prstGeom>
          <a:noFill/>
          <a:ln/>
        </p:spPr>
        <p:txBody>
          <a:bodyPr wrap="square" lIns="0" tIns="0" rIns="0" bIns="0" rtlCol="0" anchor="ctr"/>
          <a:lstStyle/>
          <a:p>
            <a:pPr indent="0" marL="0">
              <a:buNone/>
            </a:pPr>
            <a:r>
              <a:rPr lang="en-US" sz="1000" b="1" dirty="0">
                <a:solidFill>
                  <a:srgbClr val="A8761F"/>
                </a:solidFill>
                <a:latin typeface="Yu Gothic" pitchFamily="34" charset="0"/>
                <a:ea typeface="Yu Gothic" pitchFamily="34" charset="-122"/>
                <a:cs typeface="Yu Gothic" pitchFamily="34" charset="-120"/>
              </a:rPr>
              <a:t>出店予定：年内にさらに10店舗以上</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7"/>
        </a:solidFill>
      </p:bgPr>
    </p:bg>
    <p:spTree>
      <p:nvGrpSpPr>
        <p:cNvPr id="1" name=""/>
        <p:cNvGrpSpPr/>
        <p:nvPr/>
      </p:nvGrpSpPr>
      <p:grpSpPr>
        <a:xfrm>
          <a:off x="0" y="0"/>
          <a:ext cx="0" cy="0"/>
          <a:chOff x="0" y="0"/>
          <a:chExt cx="0" cy="0"/>
        </a:xfrm>
      </p:grpSpPr>
      <p:sp>
        <p:nvSpPr>
          <p:cNvPr id="2" name="Shape 0"/>
          <p:cNvSpPr/>
          <p:nvPr/>
        </p:nvSpPr>
        <p:spPr>
          <a:xfrm>
            <a:off x="660197" y="545897"/>
            <a:ext cx="202997" cy="25603"/>
          </a:xfrm>
          <a:prstGeom prst="rect">
            <a:avLst/>
          </a:prstGeom>
          <a:solidFill>
            <a:srgbClr val="106838"/>
          </a:solidFill>
          <a:ln/>
        </p:spPr>
      </p:sp>
      <p:sp>
        <p:nvSpPr>
          <p:cNvPr id="3" name="Text 1"/>
          <p:cNvSpPr/>
          <p:nvPr/>
        </p:nvSpPr>
        <p:spPr>
          <a:xfrm>
            <a:off x="952805" y="444398"/>
            <a:ext cx="6400800" cy="177394"/>
          </a:xfrm>
          <a:prstGeom prst="rect">
            <a:avLst/>
          </a:prstGeom>
          <a:noFill/>
          <a:ln/>
        </p:spPr>
        <p:txBody>
          <a:bodyPr wrap="square" lIns="0" tIns="0" rIns="0" bIns="0" rtlCol="0" anchor="ctr"/>
          <a:lstStyle/>
          <a:p>
            <a:pPr indent="0" marL="0">
              <a:buNone/>
            </a:pPr>
            <a:r>
              <a:rPr lang="en-US" sz="1050" b="1" dirty="0">
                <a:solidFill>
                  <a:srgbClr val="A8761F"/>
                </a:solidFill>
                <a:latin typeface="Arial" pitchFamily="34" charset="0"/>
                <a:ea typeface="Arial" pitchFamily="34" charset="-122"/>
                <a:cs typeface="Arial" pitchFamily="34" charset="-120"/>
              </a:rPr>
              <a:t>03</a:t>
            </a:r>
            <a:r>
              <a:rPr lang="en-US" sz="1050" b="1" dirty="0">
                <a:solidFill>
                  <a:srgbClr val="1B8149"/>
                </a:solidFill>
                <a:latin typeface="Yu Gothic" pitchFamily="34" charset="0"/>
                <a:ea typeface="Yu Gothic" pitchFamily="34" charset="-122"/>
                <a:cs typeface="Yu Gothic" pitchFamily="34" charset="-120"/>
              </a:rPr>
              <a:t>   スキーム</a:t>
            </a:r>
            <a:endParaRPr lang="en-US" sz="1050" dirty="0"/>
          </a:p>
        </p:txBody>
      </p:sp>
      <p:sp>
        <p:nvSpPr>
          <p:cNvPr id="4" name="Text 2"/>
          <p:cNvSpPr/>
          <p:nvPr/>
        </p:nvSpPr>
        <p:spPr>
          <a:xfrm>
            <a:off x="660197" y="660197"/>
            <a:ext cx="8889797" cy="508406"/>
          </a:xfrm>
          <a:prstGeom prst="rect">
            <a:avLst/>
          </a:prstGeom>
          <a:noFill/>
          <a:ln/>
        </p:spPr>
        <p:txBody>
          <a:bodyPr wrap="square" lIns="0" tIns="0" rIns="0" bIns="0" rtlCol="0" anchor="ctr"/>
          <a:lstStyle/>
          <a:p>
            <a:pPr indent="0" marL="0">
              <a:buNone/>
            </a:pPr>
            <a:r>
              <a:rPr lang="en-US" sz="2900" b="1" dirty="0">
                <a:solidFill>
                  <a:srgbClr val="0A3D23"/>
                </a:solidFill>
                <a:latin typeface="Yu Gothic" pitchFamily="34" charset="0"/>
                <a:ea typeface="Yu Gothic" pitchFamily="34" charset="-122"/>
                <a:cs typeface="Yu Gothic" pitchFamily="34" charset="-120"/>
              </a:rPr>
              <a:t>場所をご提供いただくだけ。運営主体は本部です。</a:t>
            </a:r>
            <a:endParaRPr lang="en-US" sz="2900" dirty="0"/>
          </a:p>
        </p:txBody>
      </p:sp>
      <p:sp>
        <p:nvSpPr>
          <p:cNvPr id="5" name="Text 3"/>
          <p:cNvSpPr/>
          <p:nvPr/>
        </p:nvSpPr>
        <p:spPr>
          <a:xfrm>
            <a:off x="660197" y="1308506"/>
            <a:ext cx="10032797" cy="228600"/>
          </a:xfrm>
          <a:prstGeom prst="rect">
            <a:avLst/>
          </a:prstGeom>
          <a:noFill/>
          <a:ln/>
        </p:spPr>
        <p:txBody>
          <a:bodyPr wrap="square" lIns="0" tIns="0" rIns="0" bIns="0" rtlCol="0" anchor="ctr"/>
          <a:lstStyle/>
          <a:p>
            <a:pPr indent="0" marL="0">
              <a:buNone/>
            </a:pPr>
            <a:r>
              <a:rPr lang="en-US" sz="1250" dirty="0">
                <a:solidFill>
                  <a:srgbClr val="4B5550"/>
                </a:solidFill>
                <a:latin typeface="Yu Gothic" pitchFamily="34" charset="0"/>
                <a:ea typeface="Yu Gothic" pitchFamily="34" charset="-122"/>
                <a:cs typeface="Yu Gothic" pitchFamily="34" charset="-120"/>
              </a:rPr>
              <a:t>通常のFC加盟とは異なり、貴社は独立オーナーとして運営する必要がありません。</a:t>
            </a:r>
            <a:endParaRPr lang="en-US" sz="1250" dirty="0"/>
          </a:p>
        </p:txBody>
      </p:sp>
      <p:pic>
        <p:nvPicPr>
          <p:cNvPr id="6" name="Image 0" descr="/home/user/suzuki-ceo/selfcafe-gyomu-deck/assets/logo-green.png">    </p:cNvPr>
          <p:cNvPicPr>
            <a:picLocks noChangeAspect="1"/>
          </p:cNvPicPr>
          <p:nvPr/>
        </p:nvPicPr>
        <p:blipFill>
          <a:blip r:embed="rId1"/>
          <a:stretch>
            <a:fillRect/>
          </a:stretch>
        </p:blipFill>
        <p:spPr>
          <a:xfrm>
            <a:off x="9855403" y="482803"/>
            <a:ext cx="1676095" cy="238658"/>
          </a:xfrm>
          <a:prstGeom prst="rect">
            <a:avLst/>
          </a:prstGeom>
        </p:spPr>
      </p:pic>
      <p:sp>
        <p:nvSpPr>
          <p:cNvPr id="7" name="Text 4"/>
          <p:cNvSpPr/>
          <p:nvPr/>
        </p:nvSpPr>
        <p:spPr>
          <a:xfrm>
            <a:off x="660197" y="6476695"/>
            <a:ext cx="5080406" cy="152705"/>
          </a:xfrm>
          <a:prstGeom prst="rect">
            <a:avLst/>
          </a:prstGeom>
          <a:noFill/>
          <a:ln/>
        </p:spPr>
        <p:txBody>
          <a:bodyPr wrap="square" lIns="0" tIns="0" rIns="0" bIns="0" rtlCol="0" anchor="ctr"/>
          <a:lstStyle/>
          <a:p>
            <a:pPr indent="0" marL="0">
              <a:buNone/>
            </a:pPr>
            <a:r>
              <a:rPr lang="en-US" sz="900" dirty="0">
                <a:solidFill>
                  <a:srgbClr val="A8B0AA"/>
                </a:solidFill>
                <a:latin typeface="Yu Gothic" pitchFamily="34" charset="0"/>
                <a:ea typeface="Yu Gothic" pitchFamily="34" charset="-122"/>
                <a:cs typeface="Yu Gothic" pitchFamily="34" charset="-120"/>
              </a:rPr>
              <a:t>セルフカフェ 業務委託型制度</a:t>
            </a:r>
            <a:endParaRPr lang="en-US" sz="900" dirty="0"/>
          </a:p>
        </p:txBody>
      </p:sp>
      <p:sp>
        <p:nvSpPr>
          <p:cNvPr id="8" name="Text 5"/>
          <p:cNvSpPr/>
          <p:nvPr/>
        </p:nvSpPr>
        <p:spPr>
          <a:xfrm>
            <a:off x="10261397" y="6463894"/>
            <a:ext cx="1270102" cy="152705"/>
          </a:xfrm>
          <a:prstGeom prst="rect">
            <a:avLst/>
          </a:prstGeom>
          <a:noFill/>
          <a:ln/>
        </p:spPr>
        <p:txBody>
          <a:bodyPr wrap="square" lIns="0" tIns="0" rIns="0" bIns="0" rtlCol="0" anchor="ctr"/>
          <a:lstStyle/>
          <a:p>
            <a:pPr algn="r" indent="0" marL="0">
              <a:buNone/>
            </a:pPr>
            <a:r>
              <a:rPr lang="en-US" sz="1000" b="1" dirty="0">
                <a:solidFill>
                  <a:srgbClr val="7E8882"/>
                </a:solidFill>
                <a:latin typeface="Arial" pitchFamily="34" charset="0"/>
                <a:ea typeface="Arial" pitchFamily="34" charset="-122"/>
                <a:cs typeface="Arial" pitchFamily="34" charset="-120"/>
              </a:rPr>
              <a:t>04</a:t>
            </a:r>
            <a:endParaRPr lang="en-US" sz="1000" dirty="0"/>
          </a:p>
        </p:txBody>
      </p:sp>
      <p:sp>
        <p:nvSpPr>
          <p:cNvPr id="9" name="Shape 6"/>
          <p:cNvSpPr/>
          <p:nvPr/>
        </p:nvSpPr>
        <p:spPr>
          <a:xfrm>
            <a:off x="6695237" y="1724558"/>
            <a:ext cx="4836262" cy="274320"/>
          </a:xfrm>
          <a:prstGeom prst="roundRect">
            <a:avLst>
              <a:gd name="adj" fmla="val 16667"/>
            </a:avLst>
          </a:prstGeom>
          <a:solidFill>
            <a:srgbClr val="A8761F"/>
          </a:solidFill>
          <a:ln/>
        </p:spPr>
      </p:sp>
      <p:sp>
        <p:nvSpPr>
          <p:cNvPr id="10" name="Text 7"/>
          <p:cNvSpPr/>
          <p:nvPr/>
        </p:nvSpPr>
        <p:spPr>
          <a:xfrm>
            <a:off x="6695237" y="1724558"/>
            <a:ext cx="4836262"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Yu Gothic" pitchFamily="34" charset="0"/>
                <a:ea typeface="Yu Gothic" pitchFamily="34" charset="-122"/>
                <a:cs typeface="Yu Gothic" pitchFamily="34" charset="-120"/>
              </a:rPr>
              <a:t>貴社にご提案するのはこちら</a:t>
            </a:r>
            <a:endParaRPr lang="en-US" sz="9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60197" y="2108606"/>
          <a:ext cx="10871302" cy="914400"/>
        </p:xfrm>
        <a:graphic>
          <a:graphicData uri="http://schemas.openxmlformats.org/drawingml/2006/table">
            <a:tbl>
              <a:tblPr/>
              <a:tblGrid>
                <a:gridCol w="1920240"/>
                <a:gridCol w="4114800"/>
                <a:gridCol w="4836262"/>
              </a:tblGrid>
              <a:tr h="365760">
                <a:tc>
                  <a:txBody>
                    <a:bodyPr/>
                    <a:lstStyle/>
                    <a:p>
                      <a:pPr algn="l" indent="0" marL="0">
                        <a:buNone/>
                      </a:pPr>
                      <a:r>
                        <a:rPr lang="en-US" sz="1150" b="1" dirty="0">
                          <a:solidFill>
                            <a:srgbClr val="0A3D23"/>
                          </a:solidFill>
                          <a:latin typeface="Yu Gothic" pitchFamily="34" charset="0"/>
                          <a:ea typeface="Yu Gothic" pitchFamily="34" charset="-122"/>
                          <a:cs typeface="Yu Gothic" pitchFamily="34" charset="-120"/>
                        </a:rPr>
                        <a:t>項目</a:t>
                      </a:r>
                      <a:endParaRPr lang="en-US" sz="1150" dirty="0">
                        <a:latin typeface="Yu Gothic" charset="0"/>
                        <a:ea typeface="Yu Gothic" charset="0"/>
                        <a:cs typeface="Yu Gothic" charset="0"/>
                      </a:endParaRPr>
                    </a:p>
                  </a:txBody>
                  <a:tcPr marL="128016" marR="128016"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4F2EE"/>
                    </a:solidFill>
                  </a:tcPr>
                </a:tc>
                <a:tc>
                  <a:txBody>
                    <a:bodyPr/>
                    <a:lstStyle/>
                    <a:p>
                      <a:pPr algn="l" indent="0" marL="0">
                        <a:buNone/>
                      </a:pPr>
                      <a:r>
                        <a:rPr lang="en-US" sz="1150" b="1" dirty="0">
                          <a:solidFill>
                            <a:srgbClr val="FFFFFF"/>
                          </a:solidFill>
                          <a:latin typeface="Yu Gothic" pitchFamily="34" charset="0"/>
                          <a:ea typeface="Yu Gothic" pitchFamily="34" charset="-122"/>
                          <a:cs typeface="Yu Gothic" pitchFamily="34" charset="-120"/>
                        </a:rPr>
                        <a:t>通常のFC加盟</a:t>
                      </a:r>
                      <a:endParaRPr lang="en-US" sz="1150" dirty="0">
                        <a:latin typeface="Yu Gothic" charset="0"/>
                        <a:ea typeface="Yu Gothic" charset="0"/>
                        <a:cs typeface="Yu Gothic" charset="0"/>
                      </a:endParaRPr>
                    </a:p>
                  </a:txBody>
                  <a:tcPr marL="128016" marR="128016"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8E8B84"/>
                    </a:solidFill>
                  </a:tcPr>
                </a:tc>
                <a:tc>
                  <a:txBody>
                    <a:bodyPr/>
                    <a:lstStyle/>
                    <a:p>
                      <a:pPr algn="l" indent="0" marL="0">
                        <a:buNone/>
                      </a:pPr>
                      <a:r>
                        <a:rPr lang="en-US" sz="1150" b="1" dirty="0">
                          <a:solidFill>
                            <a:srgbClr val="FFFFFF"/>
                          </a:solidFill>
                          <a:latin typeface="Yu Gothic" pitchFamily="34" charset="0"/>
                          <a:ea typeface="Yu Gothic" pitchFamily="34" charset="-122"/>
                          <a:cs typeface="Yu Gothic" pitchFamily="34" charset="-120"/>
                        </a:rPr>
                        <a:t>業務委託型</a:t>
                      </a:r>
                      <a:endParaRPr lang="en-US" sz="1150" dirty="0">
                        <a:latin typeface="Yu Gothic" charset="0"/>
                        <a:ea typeface="Yu Gothic" charset="0"/>
                        <a:cs typeface="Yu Gothic" charset="0"/>
                      </a:endParaRPr>
                    </a:p>
                  </a:txBody>
                  <a:tcPr marL="128016" marR="128016"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0C5230"/>
                    </a:solidFill>
                  </a:tcPr>
                </a:tc>
              </a:tr>
              <a:tr h="457200">
                <a:tc>
                  <a:txBody>
                    <a:bodyPr/>
                    <a:lstStyle/>
                    <a:p>
                      <a:pPr indent="0" marL="0">
                        <a:buNone/>
                      </a:pPr>
                      <a:r>
                        <a:rPr lang="en-US" sz="1200" b="1" dirty="0">
                          <a:solidFill>
                            <a:srgbClr val="0A3D23"/>
                          </a:solidFill>
                          <a:latin typeface="Yu Gothic" pitchFamily="34" charset="0"/>
                          <a:ea typeface="Yu Gothic" pitchFamily="34" charset="-122"/>
                          <a:cs typeface="Yu Gothic" pitchFamily="34" charset="-120"/>
                        </a:rPr>
                        <a:t>運営主体</a:t>
                      </a:r>
                      <a:endParaRPr lang="en-US" sz="1200" dirty="0">
                        <a:latin typeface="Yu Gothic" charset="0"/>
                        <a:ea typeface="Yu Gothic" charset="0"/>
                        <a:cs typeface="Yu Gothic" charset="0"/>
                      </a:endParaRPr>
                    </a:p>
                  </a:txBody>
                  <a:tcPr marL="128016" marR="128016"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4F2EE"/>
                    </a:solidFill>
                  </a:tcPr>
                </a:tc>
                <a:tc>
                  <a:txBody>
                    <a:bodyPr/>
                    <a:lstStyle/>
                    <a:p>
                      <a:pPr indent="0" marL="0">
                        <a:buNone/>
                      </a:pPr>
                      <a:r>
                        <a:rPr lang="en-US" sz="1050" dirty="0">
                          <a:solidFill>
                            <a:srgbClr val="6E6A61"/>
                          </a:solidFill>
                          <a:latin typeface="Yu Gothic" pitchFamily="34" charset="0"/>
                          <a:ea typeface="Yu Gothic" pitchFamily="34" charset="-122"/>
                          <a:cs typeface="Yu Gothic" pitchFamily="34" charset="-120"/>
                        </a:rPr>
                        <a:t>加盟者様が独立オーナーとして運営</a:t>
                      </a:r>
                      <a:endParaRPr lang="en-US" sz="1050" dirty="0">
                        <a:latin typeface="Yu Gothic" charset="0"/>
                        <a:ea typeface="Yu Gothic" charset="0"/>
                        <a:cs typeface="Yu Gothic" charset="0"/>
                      </a:endParaRPr>
                    </a:p>
                  </a:txBody>
                  <a:tcPr marL="146304" marR="146304" marT="54864" marB="54864"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b="1" dirty="0">
                          <a:solidFill>
                            <a:srgbClr val="0A3D23"/>
                          </a:solidFill>
                          <a:latin typeface="Yu Gothic" pitchFamily="34" charset="0"/>
                          <a:ea typeface="Yu Gothic" pitchFamily="34" charset="-122"/>
                          <a:cs typeface="Yu Gothic" pitchFamily="34" charset="-120"/>
                        </a:rPr>
                        <a:t>本部が運営を主導。貴社は場所のご提供のみ</a:t>
                      </a:r>
                      <a:endParaRPr lang="en-US" sz="1100" dirty="0">
                        <a:latin typeface="Yu Gothic" charset="0"/>
                        <a:ea typeface="Yu Gothic" charset="0"/>
                        <a:cs typeface="Yu Gothic" charset="0"/>
                      </a:endParaRPr>
                    </a:p>
                  </a:txBody>
                  <a:tcPr marL="146304" marR="146304" marT="54864" marB="54864"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1F8F3"/>
                    </a:solidFill>
                  </a:tcPr>
                </a:tc>
              </a:tr>
              <a:tr h="658368">
                <a:tc>
                  <a:txBody>
                    <a:bodyPr/>
                    <a:lstStyle/>
                    <a:p>
                      <a:pPr indent="0" marL="0">
                        <a:buNone/>
                      </a:pPr>
                      <a:r>
                        <a:rPr lang="en-US" sz="1200" b="1" dirty="0">
                          <a:solidFill>
                            <a:srgbClr val="0A3D23"/>
                          </a:solidFill>
                          <a:latin typeface="Yu Gothic" pitchFamily="34" charset="0"/>
                          <a:ea typeface="Yu Gothic" pitchFamily="34" charset="-122"/>
                          <a:cs typeface="Yu Gothic" pitchFamily="34" charset="-120"/>
                        </a:rPr>
                        <a:t>初期費用</a:t>
                      </a:r>
                      <a:endParaRPr lang="en-US" sz="1200" dirty="0">
                        <a:latin typeface="Yu Gothic" charset="0"/>
                        <a:ea typeface="Yu Gothic" charset="0"/>
                        <a:cs typeface="Yu Gothic" charset="0"/>
                      </a:endParaRPr>
                    </a:p>
                  </a:txBody>
                  <a:tcPr marL="128016" marR="128016"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4F2EE"/>
                    </a:solidFill>
                  </a:tcPr>
                </a:tc>
                <a:tc>
                  <a:txBody>
                    <a:bodyPr/>
                    <a:lstStyle/>
                    <a:p>
                      <a:pPr indent="0" marL="0">
                        <a:buNone/>
                      </a:pPr>
                      <a:r>
                        <a:rPr lang="en-US" sz="1050" dirty="0">
                          <a:solidFill>
                            <a:srgbClr val="6E6A61"/>
                          </a:solidFill>
                          <a:latin typeface="Yu Gothic" pitchFamily="34" charset="0"/>
                          <a:ea typeface="Yu Gothic" pitchFamily="34" charset="-122"/>
                          <a:cs typeface="Yu Gothic" pitchFamily="34" charset="-120"/>
                        </a:rPr>
                        <a:t>加盟金100万円＋工事費用等</a:t>
                      </a:r>
                      <a:endParaRPr lang="en-US" sz="1050" dirty="0">
                        <a:latin typeface="Yu Gothic" charset="0"/>
                        <a:ea typeface="Yu Gothic" charset="0"/>
                        <a:cs typeface="Yu Gothic" charset="0"/>
                      </a:endParaRPr>
                    </a:p>
                    <a:p>
                      <a:pPr indent="0" marL="0">
                        <a:buNone/>
                      </a:pPr>
                      <a:r>
                        <a:rPr lang="en-US" sz="1050" dirty="0">
                          <a:solidFill>
                            <a:srgbClr val="6E6A61"/>
                          </a:solidFill>
                          <a:latin typeface="Yu Gothic" pitchFamily="34" charset="0"/>
                          <a:ea typeface="Yu Gothic" pitchFamily="34" charset="-122"/>
                          <a:cs typeface="Yu Gothic" pitchFamily="34" charset="-120"/>
                        </a:rPr>
                        <a:t>（開業資金の目安：居抜き750万円〜／スケルトン1,050万円〜）</a:t>
                      </a:r>
                      <a:endParaRPr lang="en-US" sz="1050" dirty="0">
                        <a:latin typeface="Yu Gothic" charset="0"/>
                        <a:ea typeface="Yu Gothic" charset="0"/>
                        <a:cs typeface="Yu Gothic" charset="0"/>
                      </a:endParaRPr>
                    </a:p>
                  </a:txBody>
                  <a:tcPr marL="146304" marR="146304" marT="54864" marB="54864"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b="1" dirty="0">
                          <a:solidFill>
                            <a:srgbClr val="0A3D23"/>
                          </a:solidFill>
                          <a:latin typeface="Yu Gothic" pitchFamily="34" charset="0"/>
                          <a:ea typeface="Yu Gothic" pitchFamily="34" charset="-122"/>
                          <a:cs typeface="Yu Gothic" pitchFamily="34" charset="-120"/>
                        </a:rPr>
                        <a:t>30万〜50万円程度（機器設置費のみ）</a:t>
                      </a:r>
                      <a:endParaRPr lang="en-US" sz="1100" dirty="0">
                        <a:latin typeface="Yu Gothic" charset="0"/>
                        <a:ea typeface="Yu Gothic" charset="0"/>
                        <a:cs typeface="Yu Gothic" charset="0"/>
                      </a:endParaRPr>
                    </a:p>
                  </a:txBody>
                  <a:tcPr marL="146304" marR="146304" marT="54864" marB="54864"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1F8F3"/>
                    </a:solidFill>
                  </a:tcPr>
                </a:tc>
              </a:tr>
              <a:tr h="457200">
                <a:tc>
                  <a:txBody>
                    <a:bodyPr/>
                    <a:lstStyle/>
                    <a:p>
                      <a:pPr indent="0" marL="0">
                        <a:buNone/>
                      </a:pPr>
                      <a:r>
                        <a:rPr lang="en-US" sz="1200" b="1" dirty="0">
                          <a:solidFill>
                            <a:srgbClr val="0A3D23"/>
                          </a:solidFill>
                          <a:latin typeface="Yu Gothic" pitchFamily="34" charset="0"/>
                          <a:ea typeface="Yu Gothic" pitchFamily="34" charset="-122"/>
                          <a:cs typeface="Yu Gothic" pitchFamily="34" charset="-120"/>
                        </a:rPr>
                        <a:t>出店スペース</a:t>
                      </a:r>
                      <a:endParaRPr lang="en-US" sz="1200" dirty="0">
                        <a:latin typeface="Yu Gothic" charset="0"/>
                        <a:ea typeface="Yu Gothic" charset="0"/>
                        <a:cs typeface="Yu Gothic" charset="0"/>
                      </a:endParaRPr>
                    </a:p>
                  </a:txBody>
                  <a:tcPr marL="128016" marR="128016"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4F2EE"/>
                    </a:solidFill>
                  </a:tcPr>
                </a:tc>
                <a:tc>
                  <a:txBody>
                    <a:bodyPr/>
                    <a:lstStyle/>
                    <a:p>
                      <a:pPr indent="0" marL="0">
                        <a:buNone/>
                      </a:pPr>
                      <a:r>
                        <a:rPr lang="en-US" sz="1050" dirty="0">
                          <a:solidFill>
                            <a:srgbClr val="6E6A61"/>
                          </a:solidFill>
                          <a:latin typeface="Yu Gothic" pitchFamily="34" charset="0"/>
                          <a:ea typeface="Yu Gothic" pitchFamily="34" charset="-122"/>
                          <a:cs typeface="Yu Gothic" pitchFamily="34" charset="-120"/>
                        </a:rPr>
                        <a:t>独立した店舗区画（20坪〜）が必要</a:t>
                      </a:r>
                      <a:endParaRPr lang="en-US" sz="1050" dirty="0">
                        <a:latin typeface="Yu Gothic" charset="0"/>
                        <a:ea typeface="Yu Gothic" charset="0"/>
                        <a:cs typeface="Yu Gothic" charset="0"/>
                      </a:endParaRPr>
                    </a:p>
                  </a:txBody>
                  <a:tcPr marL="146304" marR="146304" marT="54864" marB="54864"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b="1" dirty="0">
                          <a:solidFill>
                            <a:srgbClr val="0A3D23"/>
                          </a:solidFill>
                          <a:latin typeface="Yu Gothic" pitchFamily="34" charset="0"/>
                          <a:ea typeface="Yu Gothic" pitchFamily="34" charset="-122"/>
                          <a:cs typeface="Yu Gothic" pitchFamily="34" charset="-120"/>
                        </a:rPr>
                        <a:t>既存スペースの一角に間借り設置が可能</a:t>
                      </a:r>
                      <a:endParaRPr lang="en-US" sz="1100" dirty="0">
                        <a:latin typeface="Yu Gothic" charset="0"/>
                        <a:ea typeface="Yu Gothic" charset="0"/>
                        <a:cs typeface="Yu Gothic" charset="0"/>
                      </a:endParaRPr>
                    </a:p>
                  </a:txBody>
                  <a:tcPr marL="146304" marR="146304" marT="54864" marB="54864"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1F8F3"/>
                    </a:solidFill>
                  </a:tcPr>
                </a:tc>
              </a:tr>
              <a:tr h="512064">
                <a:tc>
                  <a:txBody>
                    <a:bodyPr/>
                    <a:lstStyle/>
                    <a:p>
                      <a:pPr indent="0" marL="0">
                        <a:buNone/>
                      </a:pPr>
                      <a:r>
                        <a:rPr lang="en-US" sz="1200" b="1" dirty="0">
                          <a:solidFill>
                            <a:srgbClr val="0A3D23"/>
                          </a:solidFill>
                          <a:latin typeface="Yu Gothic" pitchFamily="34" charset="0"/>
                          <a:ea typeface="Yu Gothic" pitchFamily="34" charset="-122"/>
                          <a:cs typeface="Yu Gothic" pitchFamily="34" charset="-120"/>
                        </a:rPr>
                        <a:t>日常業務</a:t>
                      </a:r>
                      <a:endParaRPr lang="en-US" sz="1200" dirty="0">
                        <a:latin typeface="Yu Gothic" charset="0"/>
                        <a:ea typeface="Yu Gothic" charset="0"/>
                        <a:cs typeface="Yu Gothic" charset="0"/>
                      </a:endParaRPr>
                    </a:p>
                  </a:txBody>
                  <a:tcPr marL="128016" marR="128016"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4F2EE"/>
                    </a:solidFill>
                  </a:tcPr>
                </a:tc>
                <a:tc>
                  <a:txBody>
                    <a:bodyPr/>
                    <a:lstStyle/>
                    <a:p>
                      <a:pPr indent="0" marL="0">
                        <a:buNone/>
                      </a:pPr>
                      <a:r>
                        <a:rPr lang="en-US" sz="1050" dirty="0">
                          <a:solidFill>
                            <a:srgbClr val="6E6A61"/>
                          </a:solidFill>
                          <a:latin typeface="Yu Gothic" pitchFamily="34" charset="0"/>
                          <a:ea typeface="Yu Gothic" pitchFamily="34" charset="-122"/>
                          <a:cs typeface="Yu Gothic" pitchFamily="34" charset="-120"/>
                        </a:rPr>
                        <a:t>加盟者様が運営全般を担当</a:t>
                      </a:r>
                      <a:endParaRPr lang="en-US" sz="1050" dirty="0">
                        <a:latin typeface="Yu Gothic" charset="0"/>
                        <a:ea typeface="Yu Gothic" charset="0"/>
                        <a:cs typeface="Yu Gothic" charset="0"/>
                      </a:endParaRPr>
                    </a:p>
                  </a:txBody>
                  <a:tcPr marL="146304" marR="146304" marT="54864" marB="54864"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b="1" dirty="0">
                          <a:solidFill>
                            <a:srgbClr val="0A3D23"/>
                          </a:solidFill>
                          <a:latin typeface="Yu Gothic" pitchFamily="34" charset="0"/>
                          <a:ea typeface="Yu Gothic" pitchFamily="34" charset="-122"/>
                          <a:cs typeface="Yu Gothic" pitchFamily="34" charset="-120"/>
                        </a:rPr>
                        <a:t>清掃・補充のみ、1日15分程度（既存スタッフで対応可）</a:t>
                      </a:r>
                      <a:endParaRPr lang="en-US" sz="1100" dirty="0">
                        <a:latin typeface="Yu Gothic" charset="0"/>
                        <a:ea typeface="Yu Gothic" charset="0"/>
                        <a:cs typeface="Yu Gothic" charset="0"/>
                      </a:endParaRPr>
                    </a:p>
                  </a:txBody>
                  <a:tcPr marL="146304" marR="146304" marT="54864" marB="54864"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1F8F3"/>
                    </a:solidFill>
                  </a:tcPr>
                </a:tc>
              </a:tr>
              <a:tr h="658368">
                <a:tc>
                  <a:txBody>
                    <a:bodyPr/>
                    <a:lstStyle/>
                    <a:p>
                      <a:pPr indent="0" marL="0">
                        <a:buNone/>
                      </a:pPr>
                      <a:r>
                        <a:rPr lang="en-US" sz="1200" b="1" dirty="0">
                          <a:solidFill>
                            <a:srgbClr val="0A3D23"/>
                          </a:solidFill>
                          <a:latin typeface="Yu Gothic" pitchFamily="34" charset="0"/>
                          <a:ea typeface="Yu Gothic" pitchFamily="34" charset="-122"/>
                          <a:cs typeface="Yu Gothic" pitchFamily="34" charset="-120"/>
                        </a:rPr>
                        <a:t>売上金の流れ</a:t>
                      </a:r>
                      <a:endParaRPr lang="en-US" sz="1200" dirty="0">
                        <a:latin typeface="Yu Gothic" charset="0"/>
                        <a:ea typeface="Yu Gothic" charset="0"/>
                        <a:cs typeface="Yu Gothic" charset="0"/>
                      </a:endParaRPr>
                    </a:p>
                  </a:txBody>
                  <a:tcPr marL="128016" marR="128016"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4F2EE"/>
                    </a:solidFill>
                  </a:tcPr>
                </a:tc>
                <a:tc>
                  <a:txBody>
                    <a:bodyPr/>
                    <a:lstStyle/>
                    <a:p>
                      <a:pPr indent="0" marL="0">
                        <a:buNone/>
                      </a:pPr>
                      <a:r>
                        <a:rPr lang="en-US" sz="1050" dirty="0">
                          <a:solidFill>
                            <a:srgbClr val="6E6A61"/>
                          </a:solidFill>
                          <a:latin typeface="Yu Gothic" pitchFamily="34" charset="0"/>
                          <a:ea typeface="Yu Gothic" pitchFamily="34" charset="-122"/>
                          <a:cs typeface="Yu Gothic" pitchFamily="34" charset="-120"/>
                        </a:rPr>
                        <a:t>本部が売上金を管理し、ロイヤリティ等を控除した残額を加盟者様へ振込</a:t>
                      </a:r>
                      <a:endParaRPr lang="en-US" sz="1050" dirty="0">
                        <a:latin typeface="Yu Gothic" charset="0"/>
                        <a:ea typeface="Yu Gothic" charset="0"/>
                        <a:cs typeface="Yu Gothic" charset="0"/>
                      </a:endParaRPr>
                    </a:p>
                  </a:txBody>
                  <a:tcPr marL="146304" marR="146304" marT="54864" marB="54864"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b="1" dirty="0">
                          <a:solidFill>
                            <a:srgbClr val="0A3D23"/>
                          </a:solidFill>
                          <a:latin typeface="Yu Gothic" pitchFamily="34" charset="0"/>
                          <a:ea typeface="Yu Gothic" pitchFamily="34" charset="-122"/>
                          <a:cs typeface="Yu Gothic" pitchFamily="34" charset="-120"/>
                        </a:rPr>
                        <a:t>本部が売上金を管理し、営業総利益の25％を業務委託料として貴社へお支払い</a:t>
                      </a:r>
                      <a:endParaRPr lang="en-US" sz="1100" dirty="0">
                        <a:latin typeface="Yu Gothic" charset="0"/>
                        <a:ea typeface="Yu Gothic" charset="0"/>
                        <a:cs typeface="Yu Gothic" charset="0"/>
                      </a:endParaRPr>
                    </a:p>
                  </a:txBody>
                  <a:tcPr marL="146304" marR="146304" marT="54864" marB="54864"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1F8F3"/>
                    </a:solidFill>
                  </a:tcPr>
                </a:tc>
              </a:tr>
              <a:tr h="603504">
                <a:tc>
                  <a:txBody>
                    <a:bodyPr/>
                    <a:lstStyle/>
                    <a:p>
                      <a:pPr indent="0" marL="0">
                        <a:buNone/>
                      </a:pPr>
                      <a:r>
                        <a:rPr lang="en-US" sz="1200" b="1" dirty="0">
                          <a:solidFill>
                            <a:srgbClr val="0A3D23"/>
                          </a:solidFill>
                          <a:latin typeface="Yu Gothic" pitchFamily="34" charset="0"/>
                          <a:ea typeface="Yu Gothic" pitchFamily="34" charset="-122"/>
                          <a:cs typeface="Yu Gothic" pitchFamily="34" charset="-120"/>
                        </a:rPr>
                        <a:t>契約・撤退</a:t>
                      </a:r>
                      <a:endParaRPr lang="en-US" sz="1200" dirty="0">
                        <a:latin typeface="Yu Gothic" charset="0"/>
                        <a:ea typeface="Yu Gothic" charset="0"/>
                        <a:cs typeface="Yu Gothic" charset="0"/>
                      </a:endParaRPr>
                    </a:p>
                  </a:txBody>
                  <a:tcPr marL="128016" marR="128016"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4F2EE"/>
                    </a:solidFill>
                  </a:tcPr>
                </a:tc>
                <a:tc>
                  <a:txBody>
                    <a:bodyPr/>
                    <a:lstStyle/>
                    <a:p>
                      <a:pPr indent="0" marL="0">
                        <a:buNone/>
                      </a:pPr>
                      <a:r>
                        <a:rPr lang="en-US" sz="1050" dirty="0">
                          <a:solidFill>
                            <a:srgbClr val="6E6A61"/>
                          </a:solidFill>
                          <a:latin typeface="Yu Gothic" pitchFamily="34" charset="0"/>
                          <a:ea typeface="Yu Gothic" pitchFamily="34" charset="-122"/>
                          <a:cs typeface="Yu Gothic" pitchFamily="34" charset="-120"/>
                        </a:rPr>
                        <a:t>独立出店が前提の長期契約</a:t>
                      </a:r>
                      <a:endParaRPr lang="en-US" sz="1050" dirty="0">
                        <a:latin typeface="Yu Gothic" charset="0"/>
                        <a:ea typeface="Yu Gothic" charset="0"/>
                        <a:cs typeface="Yu Gothic" charset="0"/>
                      </a:endParaRPr>
                    </a:p>
                  </a:txBody>
                  <a:tcPr marL="146304" marR="146304" marT="54864" marB="54864"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b="1" dirty="0">
                          <a:solidFill>
                            <a:srgbClr val="0A3D23"/>
                          </a:solidFill>
                          <a:latin typeface="Yu Gothic" pitchFamily="34" charset="0"/>
                          <a:ea typeface="Yu Gothic" pitchFamily="34" charset="-122"/>
                          <a:cs typeface="Yu Gothic" pitchFamily="34" charset="-120"/>
                        </a:rPr>
                        <a:t>契約期間の縛りあり（最低3年〜）／本部審査あり。原状回復の負担も小さい</a:t>
                      </a:r>
                      <a:endParaRPr lang="en-US" sz="1100" dirty="0">
                        <a:latin typeface="Yu Gothic" charset="0"/>
                        <a:ea typeface="Yu Gothic" charset="0"/>
                        <a:cs typeface="Yu Gothic" charset="0"/>
                      </a:endParaRPr>
                    </a:p>
                  </a:txBody>
                  <a:tcPr marL="146304" marR="146304" marT="54864" marB="54864"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1F8F3"/>
                    </a:solidFill>
                  </a:tcPr>
                </a:tc>
              </a:tr>
            </a:tbl>
          </a:graphicData>
        </a:graphic>
      </p:graphicFrame>
      <p:sp>
        <p:nvSpPr>
          <p:cNvPr id="12" name="Text 8"/>
          <p:cNvSpPr/>
          <p:nvPr/>
        </p:nvSpPr>
        <p:spPr>
          <a:xfrm>
            <a:off x="660197" y="6077102"/>
            <a:ext cx="10871302" cy="182880"/>
          </a:xfrm>
          <a:prstGeom prst="rect">
            <a:avLst/>
          </a:prstGeom>
          <a:noFill/>
          <a:ln/>
        </p:spPr>
        <p:txBody>
          <a:bodyPr wrap="square" lIns="0" tIns="0" rIns="0" bIns="0" rtlCol="0" anchor="ctr"/>
          <a:lstStyle/>
          <a:p>
            <a:pPr indent="0" marL="0">
              <a:buNone/>
            </a:pPr>
            <a:r>
              <a:rPr lang="en-US" sz="850" dirty="0">
                <a:solidFill>
                  <a:srgbClr val="A8B0AA"/>
                </a:solidFill>
                <a:latin typeface="Yu Gothic" pitchFamily="34" charset="0"/>
                <a:ea typeface="Yu Gothic" pitchFamily="34" charset="-122"/>
                <a:cs typeface="Yu Gothic" pitchFamily="34" charset="-120"/>
              </a:rPr>
              <a:t>※ 金額はすべて税抜・目安です。物件条件により変動します。</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7"/>
        </a:solidFill>
      </p:bgPr>
    </p:bg>
    <p:spTree>
      <p:nvGrpSpPr>
        <p:cNvPr id="1" name=""/>
        <p:cNvGrpSpPr/>
        <p:nvPr/>
      </p:nvGrpSpPr>
      <p:grpSpPr>
        <a:xfrm>
          <a:off x="0" y="0"/>
          <a:ext cx="0" cy="0"/>
          <a:chOff x="0" y="0"/>
          <a:chExt cx="0" cy="0"/>
        </a:xfrm>
      </p:grpSpPr>
      <p:sp>
        <p:nvSpPr>
          <p:cNvPr id="2" name="Shape 0"/>
          <p:cNvSpPr/>
          <p:nvPr/>
        </p:nvSpPr>
        <p:spPr>
          <a:xfrm>
            <a:off x="660197" y="545897"/>
            <a:ext cx="202997" cy="25603"/>
          </a:xfrm>
          <a:prstGeom prst="rect">
            <a:avLst/>
          </a:prstGeom>
          <a:solidFill>
            <a:srgbClr val="106838"/>
          </a:solidFill>
          <a:ln/>
        </p:spPr>
      </p:sp>
      <p:sp>
        <p:nvSpPr>
          <p:cNvPr id="3" name="Text 1"/>
          <p:cNvSpPr/>
          <p:nvPr/>
        </p:nvSpPr>
        <p:spPr>
          <a:xfrm>
            <a:off x="952805" y="444398"/>
            <a:ext cx="6400800" cy="177394"/>
          </a:xfrm>
          <a:prstGeom prst="rect">
            <a:avLst/>
          </a:prstGeom>
          <a:noFill/>
          <a:ln/>
        </p:spPr>
        <p:txBody>
          <a:bodyPr wrap="square" lIns="0" tIns="0" rIns="0" bIns="0" rtlCol="0" anchor="ctr"/>
          <a:lstStyle/>
          <a:p>
            <a:pPr indent="0" marL="0">
              <a:buNone/>
            </a:pPr>
            <a:r>
              <a:rPr lang="en-US" sz="1050" b="1" dirty="0">
                <a:solidFill>
                  <a:srgbClr val="A8761F"/>
                </a:solidFill>
                <a:latin typeface="Arial" pitchFamily="34" charset="0"/>
                <a:ea typeface="Arial" pitchFamily="34" charset="-122"/>
                <a:cs typeface="Arial" pitchFamily="34" charset="-120"/>
              </a:rPr>
              <a:t>04</a:t>
            </a:r>
            <a:r>
              <a:rPr lang="en-US" sz="1050" b="1" dirty="0">
                <a:solidFill>
                  <a:srgbClr val="1B8149"/>
                </a:solidFill>
                <a:latin typeface="Yu Gothic" pitchFamily="34" charset="0"/>
                <a:ea typeface="Yu Gothic" pitchFamily="34" charset="-122"/>
                <a:cs typeface="Yu Gothic" pitchFamily="34" charset="-120"/>
              </a:rPr>
              <a:t>   メリット</a:t>
            </a:r>
            <a:endParaRPr lang="en-US" sz="1050" dirty="0"/>
          </a:p>
        </p:txBody>
      </p:sp>
      <p:sp>
        <p:nvSpPr>
          <p:cNvPr id="4" name="Text 2"/>
          <p:cNvSpPr/>
          <p:nvPr/>
        </p:nvSpPr>
        <p:spPr>
          <a:xfrm>
            <a:off x="660197" y="660197"/>
            <a:ext cx="8889797" cy="508406"/>
          </a:xfrm>
          <a:prstGeom prst="rect">
            <a:avLst/>
          </a:prstGeom>
          <a:noFill/>
          <a:ln/>
        </p:spPr>
        <p:txBody>
          <a:bodyPr wrap="square" lIns="0" tIns="0" rIns="0" bIns="0" rtlCol="0" anchor="ctr"/>
          <a:lstStyle/>
          <a:p>
            <a:pPr indent="0" marL="0">
              <a:buNone/>
            </a:pPr>
            <a:r>
              <a:rPr lang="en-US" sz="2900" b="1" dirty="0">
                <a:solidFill>
                  <a:srgbClr val="0A3D23"/>
                </a:solidFill>
                <a:latin typeface="Yu Gothic" pitchFamily="34" charset="0"/>
                <a:ea typeface="Yu Gothic" pitchFamily="34" charset="-122"/>
                <a:cs typeface="Yu Gothic" pitchFamily="34" charset="-120"/>
              </a:rPr>
              <a:t>既存事業の一角を、負担をかけずに収益資産へ。</a:t>
            </a:r>
            <a:endParaRPr lang="en-US" sz="2900" dirty="0"/>
          </a:p>
        </p:txBody>
      </p:sp>
      <p:sp>
        <p:nvSpPr>
          <p:cNvPr id="5" name="Text 3"/>
          <p:cNvSpPr/>
          <p:nvPr/>
        </p:nvSpPr>
        <p:spPr>
          <a:xfrm>
            <a:off x="660197" y="1308506"/>
            <a:ext cx="10032797" cy="228600"/>
          </a:xfrm>
          <a:prstGeom prst="rect">
            <a:avLst/>
          </a:prstGeom>
          <a:noFill/>
          <a:ln/>
        </p:spPr>
        <p:txBody>
          <a:bodyPr wrap="square" lIns="0" tIns="0" rIns="0" bIns="0" rtlCol="0" anchor="ctr"/>
          <a:lstStyle/>
          <a:p>
            <a:pPr indent="0" marL="0">
              <a:buNone/>
            </a:pPr>
            <a:r>
              <a:rPr lang="en-US" sz="1250" dirty="0">
                <a:solidFill>
                  <a:srgbClr val="4B5550"/>
                </a:solidFill>
                <a:latin typeface="Yu Gothic" pitchFamily="34" charset="0"/>
                <a:ea typeface="Yu Gothic" pitchFamily="34" charset="-122"/>
                <a:cs typeface="Yu Gothic" pitchFamily="34" charset="-120"/>
              </a:rPr>
              <a:t>加盟金なし・運営は本部主導。貴社の負担を最小にしたまま、もう一つの収益源をつくれます。</a:t>
            </a:r>
            <a:endParaRPr lang="en-US" sz="1250" dirty="0"/>
          </a:p>
        </p:txBody>
      </p:sp>
      <p:pic>
        <p:nvPicPr>
          <p:cNvPr id="6" name="Image 0" descr="/home/user/suzuki-ceo/selfcafe-gyomu-deck/assets/logo-green.png">    </p:cNvPr>
          <p:cNvPicPr>
            <a:picLocks noChangeAspect="1"/>
          </p:cNvPicPr>
          <p:nvPr/>
        </p:nvPicPr>
        <p:blipFill>
          <a:blip r:embed="rId1"/>
          <a:stretch>
            <a:fillRect/>
          </a:stretch>
        </p:blipFill>
        <p:spPr>
          <a:xfrm>
            <a:off x="9855403" y="482803"/>
            <a:ext cx="1676095" cy="238658"/>
          </a:xfrm>
          <a:prstGeom prst="rect">
            <a:avLst/>
          </a:prstGeom>
        </p:spPr>
      </p:pic>
      <p:sp>
        <p:nvSpPr>
          <p:cNvPr id="7" name="Text 4"/>
          <p:cNvSpPr/>
          <p:nvPr/>
        </p:nvSpPr>
        <p:spPr>
          <a:xfrm>
            <a:off x="660197" y="6476695"/>
            <a:ext cx="5080406" cy="152705"/>
          </a:xfrm>
          <a:prstGeom prst="rect">
            <a:avLst/>
          </a:prstGeom>
          <a:noFill/>
          <a:ln/>
        </p:spPr>
        <p:txBody>
          <a:bodyPr wrap="square" lIns="0" tIns="0" rIns="0" bIns="0" rtlCol="0" anchor="ctr"/>
          <a:lstStyle/>
          <a:p>
            <a:pPr indent="0" marL="0">
              <a:buNone/>
            </a:pPr>
            <a:r>
              <a:rPr lang="en-US" sz="900" dirty="0">
                <a:solidFill>
                  <a:srgbClr val="A8B0AA"/>
                </a:solidFill>
                <a:latin typeface="Yu Gothic" pitchFamily="34" charset="0"/>
                <a:ea typeface="Yu Gothic" pitchFamily="34" charset="-122"/>
                <a:cs typeface="Yu Gothic" pitchFamily="34" charset="-120"/>
              </a:rPr>
              <a:t>セルフカフェ 業務委託型制度</a:t>
            </a:r>
            <a:endParaRPr lang="en-US" sz="900" dirty="0"/>
          </a:p>
        </p:txBody>
      </p:sp>
      <p:sp>
        <p:nvSpPr>
          <p:cNvPr id="8" name="Text 5"/>
          <p:cNvSpPr/>
          <p:nvPr/>
        </p:nvSpPr>
        <p:spPr>
          <a:xfrm>
            <a:off x="10261397" y="6463894"/>
            <a:ext cx="1270102" cy="152705"/>
          </a:xfrm>
          <a:prstGeom prst="rect">
            <a:avLst/>
          </a:prstGeom>
          <a:noFill/>
          <a:ln/>
        </p:spPr>
        <p:txBody>
          <a:bodyPr wrap="square" lIns="0" tIns="0" rIns="0" bIns="0" rtlCol="0" anchor="ctr"/>
          <a:lstStyle/>
          <a:p>
            <a:pPr algn="r" indent="0" marL="0">
              <a:buNone/>
            </a:pPr>
            <a:r>
              <a:rPr lang="en-US" sz="1000" b="1" dirty="0">
                <a:solidFill>
                  <a:srgbClr val="7E8882"/>
                </a:solidFill>
                <a:latin typeface="Arial" pitchFamily="34" charset="0"/>
                <a:ea typeface="Arial" pitchFamily="34" charset="-122"/>
                <a:cs typeface="Arial" pitchFamily="34" charset="-120"/>
              </a:rPr>
              <a:t>05</a:t>
            </a:r>
            <a:endParaRPr lang="en-US" sz="1000" dirty="0"/>
          </a:p>
        </p:txBody>
      </p:sp>
      <p:sp>
        <p:nvSpPr>
          <p:cNvPr id="9" name="Shape 6"/>
          <p:cNvSpPr/>
          <p:nvPr/>
        </p:nvSpPr>
        <p:spPr>
          <a:xfrm>
            <a:off x="660197" y="1651406"/>
            <a:ext cx="5243627" cy="2121408"/>
          </a:xfrm>
          <a:prstGeom prst="roundRect">
            <a:avLst>
              <a:gd name="adj" fmla="val 2586"/>
            </a:avLst>
          </a:prstGeom>
          <a:solidFill>
            <a:srgbClr val="FFFFFF"/>
          </a:solidFill>
          <a:ln w="9525">
            <a:solidFill>
              <a:srgbClr val="EFEAE0"/>
            </a:solidFill>
            <a:prstDash val="solid"/>
          </a:ln>
        </p:spPr>
      </p:sp>
      <p:sp>
        <p:nvSpPr>
          <p:cNvPr id="10" name="Text 7"/>
          <p:cNvSpPr/>
          <p:nvPr/>
        </p:nvSpPr>
        <p:spPr>
          <a:xfrm>
            <a:off x="934517" y="1889150"/>
            <a:ext cx="1828800" cy="164592"/>
          </a:xfrm>
          <a:prstGeom prst="rect">
            <a:avLst/>
          </a:prstGeom>
          <a:noFill/>
          <a:ln/>
        </p:spPr>
        <p:txBody>
          <a:bodyPr wrap="square" lIns="0" tIns="0" rIns="0" bIns="0" rtlCol="0" anchor="ctr"/>
          <a:lstStyle/>
          <a:p>
            <a:pPr indent="0" marL="0">
              <a:buNone/>
            </a:pPr>
            <a:r>
              <a:rPr lang="en-US" sz="900" b="1" spc="150" kern="0" dirty="0">
                <a:solidFill>
                  <a:srgbClr val="A8761F"/>
                </a:solidFill>
                <a:latin typeface="Arial" pitchFamily="34" charset="0"/>
                <a:ea typeface="Arial" pitchFamily="34" charset="-122"/>
                <a:cs typeface="Arial" pitchFamily="34" charset="-120"/>
              </a:rPr>
              <a:t>01　収益</a:t>
            </a:r>
            <a:endParaRPr lang="en-US" sz="900" dirty="0"/>
          </a:p>
        </p:txBody>
      </p:sp>
      <p:pic>
        <p:nvPicPr>
          <p:cNvPr id="11" name="Image 1" descr="/home/user/suzuki-ceo/selfcafe-gyomu-deck/assets/icons/LuBadgeJapaneseYen-green.png">    </p:cNvPr>
          <p:cNvPicPr>
            <a:picLocks noChangeAspect="1"/>
          </p:cNvPicPr>
          <p:nvPr/>
        </p:nvPicPr>
        <p:blipFill>
          <a:blip r:embed="rId2"/>
          <a:stretch>
            <a:fillRect/>
          </a:stretch>
        </p:blipFill>
        <p:spPr>
          <a:xfrm>
            <a:off x="5135728" y="1870862"/>
            <a:ext cx="384048" cy="384048"/>
          </a:xfrm>
          <a:prstGeom prst="rect">
            <a:avLst/>
          </a:prstGeom>
        </p:spPr>
      </p:pic>
      <p:sp>
        <p:nvSpPr>
          <p:cNvPr id="12" name="Text 8"/>
          <p:cNvSpPr/>
          <p:nvPr/>
        </p:nvSpPr>
        <p:spPr>
          <a:xfrm>
            <a:off x="934517" y="2126894"/>
            <a:ext cx="4329227" cy="384048"/>
          </a:xfrm>
          <a:prstGeom prst="rect">
            <a:avLst/>
          </a:prstGeom>
          <a:noFill/>
          <a:ln/>
        </p:spPr>
        <p:txBody>
          <a:bodyPr wrap="square" lIns="0" tIns="0" rIns="0" bIns="0" rtlCol="0" anchor="ctr"/>
          <a:lstStyle/>
          <a:p>
            <a:pPr indent="0" marL="0">
              <a:buNone/>
            </a:pPr>
            <a:r>
              <a:rPr lang="en-US" sz="1600" b="1" dirty="0">
                <a:solidFill>
                  <a:srgbClr val="0A3D23"/>
                </a:solidFill>
                <a:latin typeface="Yu Gothic" pitchFamily="34" charset="0"/>
                <a:ea typeface="Yu Gothic" pitchFamily="34" charset="-122"/>
                <a:cs typeface="Yu Gothic" pitchFamily="34" charset="-120"/>
              </a:rPr>
              <a:t>遊休スペースが収益化</a:t>
            </a:r>
            <a:endParaRPr lang="en-US" sz="1600" dirty="0"/>
          </a:p>
        </p:txBody>
      </p:sp>
      <p:sp>
        <p:nvSpPr>
          <p:cNvPr id="13" name="Text 9"/>
          <p:cNvSpPr/>
          <p:nvPr/>
        </p:nvSpPr>
        <p:spPr>
          <a:xfrm>
            <a:off x="934517" y="2565806"/>
            <a:ext cx="4694987" cy="292608"/>
          </a:xfrm>
          <a:prstGeom prst="rect">
            <a:avLst/>
          </a:prstGeom>
          <a:noFill/>
          <a:ln/>
        </p:spPr>
        <p:txBody>
          <a:bodyPr wrap="square" lIns="0" tIns="0" rIns="0" bIns="0" rtlCol="0" anchor="ctr"/>
          <a:lstStyle/>
          <a:p>
            <a:pPr indent="0" marL="0">
              <a:buNone/>
            </a:pPr>
            <a:r>
              <a:rPr lang="en-US" sz="1050" dirty="0">
                <a:solidFill>
                  <a:srgbClr val="4B5550"/>
                </a:solidFill>
                <a:latin typeface="Yu Gothic" pitchFamily="34" charset="0"/>
                <a:ea typeface="Yu Gothic" pitchFamily="34" charset="-122"/>
                <a:cs typeface="Yu Gothic" pitchFamily="34" charset="-120"/>
              </a:rPr>
              <a:t>レジ横・待合スペースなどのデッドスペースが、毎月の収益源になります。</a:t>
            </a:r>
            <a:endParaRPr lang="en-US" sz="1050" dirty="0"/>
          </a:p>
        </p:txBody>
      </p:sp>
      <p:sp>
        <p:nvSpPr>
          <p:cNvPr id="14" name="Shape 10"/>
          <p:cNvSpPr/>
          <p:nvPr/>
        </p:nvSpPr>
        <p:spPr>
          <a:xfrm>
            <a:off x="934517" y="2931566"/>
            <a:ext cx="4694987" cy="10058"/>
          </a:xfrm>
          <a:prstGeom prst="rect">
            <a:avLst/>
          </a:prstGeom>
          <a:solidFill>
            <a:srgbClr val="EFEAE0"/>
          </a:solidFill>
          <a:ln/>
        </p:spPr>
      </p:sp>
      <p:pic>
        <p:nvPicPr>
          <p:cNvPr id="15" name="Image 2" descr="/home/user/suzuki-ceo/selfcafe-gyomu-deck/assets/icons/LuCheck-green.png">    </p:cNvPr>
          <p:cNvPicPr>
            <a:picLocks noChangeAspect="1"/>
          </p:cNvPicPr>
          <p:nvPr/>
        </p:nvPicPr>
        <p:blipFill>
          <a:blip r:embed="rId3"/>
          <a:stretch>
            <a:fillRect/>
          </a:stretch>
        </p:blipFill>
        <p:spPr>
          <a:xfrm>
            <a:off x="952805" y="3114446"/>
            <a:ext cx="182880" cy="182880"/>
          </a:xfrm>
          <a:prstGeom prst="rect">
            <a:avLst/>
          </a:prstGeom>
        </p:spPr>
      </p:pic>
      <p:sp>
        <p:nvSpPr>
          <p:cNvPr id="16" name="Text 11"/>
          <p:cNvSpPr/>
          <p:nvPr/>
        </p:nvSpPr>
        <p:spPr>
          <a:xfrm>
            <a:off x="1227125" y="3059582"/>
            <a:ext cx="4402379" cy="292608"/>
          </a:xfrm>
          <a:prstGeom prst="rect">
            <a:avLst/>
          </a:prstGeom>
          <a:noFill/>
          <a:ln/>
        </p:spPr>
        <p:txBody>
          <a:bodyPr wrap="square" lIns="0" tIns="0" rIns="0" bIns="0" rtlCol="0" anchor="ctr"/>
          <a:lstStyle/>
          <a:p>
            <a:pPr indent="0" marL="0">
              <a:buNone/>
            </a:pPr>
            <a:r>
              <a:rPr lang="en-US" sz="1000" dirty="0">
                <a:solidFill>
                  <a:srgbClr val="0A3D23"/>
                </a:solidFill>
                <a:latin typeface="Yu Gothic" pitchFamily="34" charset="0"/>
                <a:ea typeface="Yu Gothic" pitchFamily="34" charset="-122"/>
                <a:cs typeface="Yu Gothic" pitchFamily="34" charset="-120"/>
              </a:rPr>
              <a:t>加盟金なし。機器設置費（30万〜50万円程度）のみで開始</a:t>
            </a:r>
            <a:endParaRPr lang="en-US" sz="1000" dirty="0"/>
          </a:p>
        </p:txBody>
      </p:sp>
      <p:pic>
        <p:nvPicPr>
          <p:cNvPr id="17" name="Image 3" descr="/home/user/suzuki-ceo/selfcafe-gyomu-deck/assets/icons/LuCheck-green.png">    </p:cNvPr>
          <p:cNvPicPr>
            <a:picLocks noChangeAspect="1"/>
          </p:cNvPicPr>
          <p:nvPr/>
        </p:nvPicPr>
        <p:blipFill>
          <a:blip r:embed="rId4"/>
          <a:stretch>
            <a:fillRect/>
          </a:stretch>
        </p:blipFill>
        <p:spPr>
          <a:xfrm>
            <a:off x="952805" y="3443630"/>
            <a:ext cx="182880" cy="182880"/>
          </a:xfrm>
          <a:prstGeom prst="rect">
            <a:avLst/>
          </a:prstGeom>
        </p:spPr>
      </p:pic>
      <p:sp>
        <p:nvSpPr>
          <p:cNvPr id="18" name="Text 12"/>
          <p:cNvSpPr/>
          <p:nvPr/>
        </p:nvSpPr>
        <p:spPr>
          <a:xfrm>
            <a:off x="1227125" y="3388766"/>
            <a:ext cx="4402379" cy="292608"/>
          </a:xfrm>
          <a:prstGeom prst="rect">
            <a:avLst/>
          </a:prstGeom>
          <a:noFill/>
          <a:ln/>
        </p:spPr>
        <p:txBody>
          <a:bodyPr wrap="square" lIns="0" tIns="0" rIns="0" bIns="0" rtlCol="0" anchor="ctr"/>
          <a:lstStyle/>
          <a:p>
            <a:pPr indent="0" marL="0">
              <a:buNone/>
            </a:pPr>
            <a:r>
              <a:rPr lang="en-US" sz="1000" dirty="0">
                <a:solidFill>
                  <a:srgbClr val="0A3D23"/>
                </a:solidFill>
                <a:latin typeface="Yu Gothic" pitchFamily="34" charset="0"/>
                <a:ea typeface="Yu Gothic" pitchFamily="34" charset="-122"/>
                <a:cs typeface="Yu Gothic" pitchFamily="34" charset="-120"/>
              </a:rPr>
              <a:t>営業総利益の25％を業務委託料として毎月お支払い</a:t>
            </a:r>
            <a:endParaRPr lang="en-US" sz="1000" dirty="0"/>
          </a:p>
        </p:txBody>
      </p:sp>
      <p:sp>
        <p:nvSpPr>
          <p:cNvPr id="19" name="Shape 13"/>
          <p:cNvSpPr/>
          <p:nvPr/>
        </p:nvSpPr>
        <p:spPr>
          <a:xfrm>
            <a:off x="6287872" y="1651406"/>
            <a:ext cx="5243627" cy="2121408"/>
          </a:xfrm>
          <a:prstGeom prst="roundRect">
            <a:avLst>
              <a:gd name="adj" fmla="val 2586"/>
            </a:avLst>
          </a:prstGeom>
          <a:solidFill>
            <a:srgbClr val="FFFFFF"/>
          </a:solidFill>
          <a:ln w="9525">
            <a:solidFill>
              <a:srgbClr val="EFEAE0"/>
            </a:solidFill>
            <a:prstDash val="solid"/>
          </a:ln>
        </p:spPr>
      </p:sp>
      <p:sp>
        <p:nvSpPr>
          <p:cNvPr id="20" name="Text 14"/>
          <p:cNvSpPr/>
          <p:nvPr/>
        </p:nvSpPr>
        <p:spPr>
          <a:xfrm>
            <a:off x="6562192" y="1889150"/>
            <a:ext cx="1828800" cy="164592"/>
          </a:xfrm>
          <a:prstGeom prst="rect">
            <a:avLst/>
          </a:prstGeom>
          <a:noFill/>
          <a:ln/>
        </p:spPr>
        <p:txBody>
          <a:bodyPr wrap="square" lIns="0" tIns="0" rIns="0" bIns="0" rtlCol="0" anchor="ctr"/>
          <a:lstStyle/>
          <a:p>
            <a:pPr indent="0" marL="0">
              <a:buNone/>
            </a:pPr>
            <a:r>
              <a:rPr lang="en-US" sz="900" b="1" spc="150" kern="0" dirty="0">
                <a:solidFill>
                  <a:srgbClr val="A8761F"/>
                </a:solidFill>
                <a:latin typeface="Arial" pitchFamily="34" charset="0"/>
                <a:ea typeface="Arial" pitchFamily="34" charset="-122"/>
                <a:cs typeface="Arial" pitchFamily="34" charset="-120"/>
              </a:rPr>
              <a:t>02　運営</a:t>
            </a:r>
            <a:endParaRPr lang="en-US" sz="900" dirty="0"/>
          </a:p>
        </p:txBody>
      </p:sp>
      <p:pic>
        <p:nvPicPr>
          <p:cNvPr id="21" name="Image 4" descr="/home/user/suzuki-ceo/selfcafe-gyomu-deck/assets/icons/LuTimer-green.png">    </p:cNvPr>
          <p:cNvPicPr>
            <a:picLocks noChangeAspect="1"/>
          </p:cNvPicPr>
          <p:nvPr/>
        </p:nvPicPr>
        <p:blipFill>
          <a:blip r:embed="rId5"/>
          <a:stretch>
            <a:fillRect/>
          </a:stretch>
        </p:blipFill>
        <p:spPr>
          <a:xfrm>
            <a:off x="10763402" y="1870862"/>
            <a:ext cx="384048" cy="384048"/>
          </a:xfrm>
          <a:prstGeom prst="rect">
            <a:avLst/>
          </a:prstGeom>
        </p:spPr>
      </p:pic>
      <p:sp>
        <p:nvSpPr>
          <p:cNvPr id="22" name="Text 15"/>
          <p:cNvSpPr/>
          <p:nvPr/>
        </p:nvSpPr>
        <p:spPr>
          <a:xfrm>
            <a:off x="6562192" y="2126894"/>
            <a:ext cx="4329227" cy="384048"/>
          </a:xfrm>
          <a:prstGeom prst="rect">
            <a:avLst/>
          </a:prstGeom>
          <a:noFill/>
          <a:ln/>
        </p:spPr>
        <p:txBody>
          <a:bodyPr wrap="square" lIns="0" tIns="0" rIns="0" bIns="0" rtlCol="0" anchor="ctr"/>
          <a:lstStyle/>
          <a:p>
            <a:pPr indent="0" marL="0">
              <a:buNone/>
            </a:pPr>
            <a:r>
              <a:rPr lang="en-US" sz="1600" b="1" dirty="0">
                <a:solidFill>
                  <a:srgbClr val="0A3D23"/>
                </a:solidFill>
                <a:latin typeface="Yu Gothic" pitchFamily="34" charset="0"/>
                <a:ea typeface="Yu Gothic" pitchFamily="34" charset="-122"/>
                <a:cs typeface="Yu Gothic" pitchFamily="34" charset="-120"/>
              </a:rPr>
              <a:t>運営負担はほぼゼロ</a:t>
            </a:r>
            <a:endParaRPr lang="en-US" sz="1600" dirty="0"/>
          </a:p>
        </p:txBody>
      </p:sp>
      <p:sp>
        <p:nvSpPr>
          <p:cNvPr id="23" name="Text 16"/>
          <p:cNvSpPr/>
          <p:nvPr/>
        </p:nvSpPr>
        <p:spPr>
          <a:xfrm>
            <a:off x="6562192" y="2565806"/>
            <a:ext cx="4694987" cy="292608"/>
          </a:xfrm>
          <a:prstGeom prst="rect">
            <a:avLst/>
          </a:prstGeom>
          <a:noFill/>
          <a:ln/>
        </p:spPr>
        <p:txBody>
          <a:bodyPr wrap="square" lIns="0" tIns="0" rIns="0" bIns="0" rtlCol="0" anchor="ctr"/>
          <a:lstStyle/>
          <a:p>
            <a:pPr indent="0" marL="0">
              <a:buNone/>
            </a:pPr>
            <a:r>
              <a:rPr lang="en-US" sz="1050" dirty="0">
                <a:solidFill>
                  <a:srgbClr val="4B5550"/>
                </a:solidFill>
                <a:latin typeface="Yu Gothic" pitchFamily="34" charset="0"/>
                <a:ea typeface="Yu Gothic" pitchFamily="34" charset="-122"/>
                <a:cs typeface="Yu Gothic" pitchFamily="34" charset="-120"/>
              </a:rPr>
              <a:t>日常業務は清掃・補充のみ、1日15分程度で完結します。</a:t>
            </a:r>
            <a:endParaRPr lang="en-US" sz="1050" dirty="0"/>
          </a:p>
        </p:txBody>
      </p:sp>
      <p:sp>
        <p:nvSpPr>
          <p:cNvPr id="24" name="Shape 17"/>
          <p:cNvSpPr/>
          <p:nvPr/>
        </p:nvSpPr>
        <p:spPr>
          <a:xfrm>
            <a:off x="6562192" y="2931566"/>
            <a:ext cx="4694987" cy="10058"/>
          </a:xfrm>
          <a:prstGeom prst="rect">
            <a:avLst/>
          </a:prstGeom>
          <a:solidFill>
            <a:srgbClr val="EFEAE0"/>
          </a:solidFill>
          <a:ln/>
        </p:spPr>
      </p:sp>
      <p:pic>
        <p:nvPicPr>
          <p:cNvPr id="25" name="Image 5" descr="/home/user/suzuki-ceo/selfcafe-gyomu-deck/assets/icons/LuCheck-green.png">    </p:cNvPr>
          <p:cNvPicPr>
            <a:picLocks noChangeAspect="1"/>
          </p:cNvPicPr>
          <p:nvPr/>
        </p:nvPicPr>
        <p:blipFill>
          <a:blip r:embed="rId6"/>
          <a:stretch>
            <a:fillRect/>
          </a:stretch>
        </p:blipFill>
        <p:spPr>
          <a:xfrm>
            <a:off x="6580480" y="3114446"/>
            <a:ext cx="182880" cy="182880"/>
          </a:xfrm>
          <a:prstGeom prst="rect">
            <a:avLst/>
          </a:prstGeom>
        </p:spPr>
      </p:pic>
      <p:sp>
        <p:nvSpPr>
          <p:cNvPr id="26" name="Text 18"/>
          <p:cNvSpPr/>
          <p:nvPr/>
        </p:nvSpPr>
        <p:spPr>
          <a:xfrm>
            <a:off x="6854800" y="3059582"/>
            <a:ext cx="4402379" cy="292608"/>
          </a:xfrm>
          <a:prstGeom prst="rect">
            <a:avLst/>
          </a:prstGeom>
          <a:noFill/>
          <a:ln/>
        </p:spPr>
        <p:txBody>
          <a:bodyPr wrap="square" lIns="0" tIns="0" rIns="0" bIns="0" rtlCol="0" anchor="ctr"/>
          <a:lstStyle/>
          <a:p>
            <a:pPr indent="0" marL="0">
              <a:buNone/>
            </a:pPr>
            <a:r>
              <a:rPr lang="en-US" sz="1000" dirty="0">
                <a:solidFill>
                  <a:srgbClr val="0A3D23"/>
                </a:solidFill>
                <a:latin typeface="Yu Gothic" pitchFamily="34" charset="0"/>
                <a:ea typeface="Yu Gothic" pitchFamily="34" charset="-122"/>
                <a:cs typeface="Yu Gothic" pitchFamily="34" charset="-120"/>
              </a:rPr>
              <a:t>既存スタッフの稼働内で対応可能、新規採用は不要</a:t>
            </a:r>
            <a:endParaRPr lang="en-US" sz="1000" dirty="0"/>
          </a:p>
        </p:txBody>
      </p:sp>
      <p:pic>
        <p:nvPicPr>
          <p:cNvPr id="27" name="Image 6" descr="/home/user/suzuki-ceo/selfcafe-gyomu-deck/assets/icons/LuCheck-green.png">    </p:cNvPr>
          <p:cNvPicPr>
            <a:picLocks noChangeAspect="1"/>
          </p:cNvPicPr>
          <p:nvPr/>
        </p:nvPicPr>
        <p:blipFill>
          <a:blip r:embed="rId7"/>
          <a:stretch>
            <a:fillRect/>
          </a:stretch>
        </p:blipFill>
        <p:spPr>
          <a:xfrm>
            <a:off x="6580480" y="3443630"/>
            <a:ext cx="182880" cy="182880"/>
          </a:xfrm>
          <a:prstGeom prst="rect">
            <a:avLst/>
          </a:prstGeom>
        </p:spPr>
      </p:pic>
      <p:sp>
        <p:nvSpPr>
          <p:cNvPr id="28" name="Text 19"/>
          <p:cNvSpPr/>
          <p:nvPr/>
        </p:nvSpPr>
        <p:spPr>
          <a:xfrm>
            <a:off x="6854800" y="3388766"/>
            <a:ext cx="4402379" cy="292608"/>
          </a:xfrm>
          <a:prstGeom prst="rect">
            <a:avLst/>
          </a:prstGeom>
          <a:noFill/>
          <a:ln/>
        </p:spPr>
        <p:txBody>
          <a:bodyPr wrap="square" lIns="0" tIns="0" rIns="0" bIns="0" rtlCol="0" anchor="ctr"/>
          <a:lstStyle/>
          <a:p>
            <a:pPr indent="0" marL="0">
              <a:buNone/>
            </a:pPr>
            <a:r>
              <a:rPr lang="en-US" sz="1000" dirty="0">
                <a:solidFill>
                  <a:srgbClr val="0A3D23"/>
                </a:solidFill>
                <a:latin typeface="Yu Gothic" pitchFamily="34" charset="0"/>
                <a:ea typeface="Yu Gothic" pitchFamily="34" charset="-122"/>
                <a:cs typeface="Yu Gothic" pitchFamily="34" charset="-120"/>
              </a:rPr>
              <a:t>トラブル対応も警備会社・遠隔監視で完結</a:t>
            </a:r>
            <a:endParaRPr lang="en-US" sz="1000" dirty="0"/>
          </a:p>
        </p:txBody>
      </p:sp>
      <p:sp>
        <p:nvSpPr>
          <p:cNvPr id="29" name="Shape 20"/>
          <p:cNvSpPr/>
          <p:nvPr/>
        </p:nvSpPr>
        <p:spPr>
          <a:xfrm>
            <a:off x="660197" y="4028846"/>
            <a:ext cx="5243627" cy="2121408"/>
          </a:xfrm>
          <a:prstGeom prst="roundRect">
            <a:avLst>
              <a:gd name="adj" fmla="val 2586"/>
            </a:avLst>
          </a:prstGeom>
          <a:solidFill>
            <a:srgbClr val="FFFFFF"/>
          </a:solidFill>
          <a:ln w="9525">
            <a:solidFill>
              <a:srgbClr val="EFEAE0"/>
            </a:solidFill>
            <a:prstDash val="solid"/>
          </a:ln>
        </p:spPr>
      </p:sp>
      <p:sp>
        <p:nvSpPr>
          <p:cNvPr id="30" name="Text 21"/>
          <p:cNvSpPr/>
          <p:nvPr/>
        </p:nvSpPr>
        <p:spPr>
          <a:xfrm>
            <a:off x="934517" y="4266590"/>
            <a:ext cx="1828800" cy="164592"/>
          </a:xfrm>
          <a:prstGeom prst="rect">
            <a:avLst/>
          </a:prstGeom>
          <a:noFill/>
          <a:ln/>
        </p:spPr>
        <p:txBody>
          <a:bodyPr wrap="square" lIns="0" tIns="0" rIns="0" bIns="0" rtlCol="0" anchor="ctr"/>
          <a:lstStyle/>
          <a:p>
            <a:pPr indent="0" marL="0">
              <a:buNone/>
            </a:pPr>
            <a:r>
              <a:rPr lang="en-US" sz="900" b="1" spc="150" kern="0" dirty="0">
                <a:solidFill>
                  <a:srgbClr val="A8761F"/>
                </a:solidFill>
                <a:latin typeface="Arial" pitchFamily="34" charset="0"/>
                <a:ea typeface="Arial" pitchFamily="34" charset="-122"/>
                <a:cs typeface="Arial" pitchFamily="34" charset="-120"/>
              </a:rPr>
              <a:t>03　集客</a:t>
            </a:r>
            <a:endParaRPr lang="en-US" sz="900" dirty="0"/>
          </a:p>
        </p:txBody>
      </p:sp>
      <p:pic>
        <p:nvPicPr>
          <p:cNvPr id="31" name="Image 7" descr="/home/user/suzuki-ceo/selfcafe-gyomu-deck/assets/icons/LuUsers-green.png">    </p:cNvPr>
          <p:cNvPicPr>
            <a:picLocks noChangeAspect="1"/>
          </p:cNvPicPr>
          <p:nvPr/>
        </p:nvPicPr>
        <p:blipFill>
          <a:blip r:embed="rId8"/>
          <a:stretch>
            <a:fillRect/>
          </a:stretch>
        </p:blipFill>
        <p:spPr>
          <a:xfrm>
            <a:off x="5135728" y="4248302"/>
            <a:ext cx="384048" cy="384048"/>
          </a:xfrm>
          <a:prstGeom prst="rect">
            <a:avLst/>
          </a:prstGeom>
        </p:spPr>
      </p:pic>
      <p:sp>
        <p:nvSpPr>
          <p:cNvPr id="32" name="Text 22"/>
          <p:cNvSpPr/>
          <p:nvPr/>
        </p:nvSpPr>
        <p:spPr>
          <a:xfrm>
            <a:off x="934517" y="4504334"/>
            <a:ext cx="4329227" cy="384048"/>
          </a:xfrm>
          <a:prstGeom prst="rect">
            <a:avLst/>
          </a:prstGeom>
          <a:noFill/>
          <a:ln/>
        </p:spPr>
        <p:txBody>
          <a:bodyPr wrap="square" lIns="0" tIns="0" rIns="0" bIns="0" rtlCol="0" anchor="ctr"/>
          <a:lstStyle/>
          <a:p>
            <a:pPr indent="0" marL="0">
              <a:buNone/>
            </a:pPr>
            <a:r>
              <a:rPr lang="en-US" sz="1600" b="1" dirty="0">
                <a:solidFill>
                  <a:srgbClr val="0A3D23"/>
                </a:solidFill>
                <a:latin typeface="Yu Gothic" pitchFamily="34" charset="0"/>
                <a:ea typeface="Yu Gothic" pitchFamily="34" charset="-122"/>
                <a:cs typeface="Yu Gothic" pitchFamily="34" charset="-120"/>
              </a:rPr>
              <a:t>新しい来店動機に</a:t>
            </a:r>
            <a:endParaRPr lang="en-US" sz="1600" dirty="0"/>
          </a:p>
        </p:txBody>
      </p:sp>
      <p:sp>
        <p:nvSpPr>
          <p:cNvPr id="33" name="Text 23"/>
          <p:cNvSpPr/>
          <p:nvPr/>
        </p:nvSpPr>
        <p:spPr>
          <a:xfrm>
            <a:off x="934517" y="4943246"/>
            <a:ext cx="4694987" cy="292608"/>
          </a:xfrm>
          <a:prstGeom prst="rect">
            <a:avLst/>
          </a:prstGeom>
          <a:noFill/>
          <a:ln/>
        </p:spPr>
        <p:txBody>
          <a:bodyPr wrap="square" lIns="0" tIns="0" rIns="0" bIns="0" rtlCol="0" anchor="ctr"/>
          <a:lstStyle/>
          <a:p>
            <a:pPr indent="0" marL="0">
              <a:buNone/>
            </a:pPr>
            <a:r>
              <a:rPr lang="en-US" sz="1050" dirty="0">
                <a:solidFill>
                  <a:srgbClr val="4B5550"/>
                </a:solidFill>
                <a:latin typeface="Yu Gothic" pitchFamily="34" charset="0"/>
                <a:ea typeface="Yu Gothic" pitchFamily="34" charset="-122"/>
                <a:cs typeface="Yu Gothic" pitchFamily="34" charset="-120"/>
              </a:rPr>
              <a:t>Wi-Fi・電源完備のカフェが、既存事業への新しい接点になります。</a:t>
            </a:r>
            <a:endParaRPr lang="en-US" sz="1050" dirty="0"/>
          </a:p>
        </p:txBody>
      </p:sp>
      <p:sp>
        <p:nvSpPr>
          <p:cNvPr id="34" name="Shape 24"/>
          <p:cNvSpPr/>
          <p:nvPr/>
        </p:nvSpPr>
        <p:spPr>
          <a:xfrm>
            <a:off x="934517" y="5309006"/>
            <a:ext cx="4694987" cy="10058"/>
          </a:xfrm>
          <a:prstGeom prst="rect">
            <a:avLst/>
          </a:prstGeom>
          <a:solidFill>
            <a:srgbClr val="EFEAE0"/>
          </a:solidFill>
          <a:ln/>
        </p:spPr>
      </p:sp>
      <p:pic>
        <p:nvPicPr>
          <p:cNvPr id="35" name="Image 8" descr="/home/user/suzuki-ceo/selfcafe-gyomu-deck/assets/icons/LuCheck-green.png">    </p:cNvPr>
          <p:cNvPicPr>
            <a:picLocks noChangeAspect="1"/>
          </p:cNvPicPr>
          <p:nvPr/>
        </p:nvPicPr>
        <p:blipFill>
          <a:blip r:embed="rId9"/>
          <a:stretch>
            <a:fillRect/>
          </a:stretch>
        </p:blipFill>
        <p:spPr>
          <a:xfrm>
            <a:off x="952805" y="5491886"/>
            <a:ext cx="182880" cy="182880"/>
          </a:xfrm>
          <a:prstGeom prst="rect">
            <a:avLst/>
          </a:prstGeom>
        </p:spPr>
      </p:pic>
      <p:sp>
        <p:nvSpPr>
          <p:cNvPr id="36" name="Text 25"/>
          <p:cNvSpPr/>
          <p:nvPr/>
        </p:nvSpPr>
        <p:spPr>
          <a:xfrm>
            <a:off x="1227125" y="5437022"/>
            <a:ext cx="4402379" cy="292608"/>
          </a:xfrm>
          <a:prstGeom prst="rect">
            <a:avLst/>
          </a:prstGeom>
          <a:noFill/>
          <a:ln/>
        </p:spPr>
        <p:txBody>
          <a:bodyPr wrap="square" lIns="0" tIns="0" rIns="0" bIns="0" rtlCol="0" anchor="ctr"/>
          <a:lstStyle/>
          <a:p>
            <a:pPr indent="0" marL="0">
              <a:buNone/>
            </a:pPr>
            <a:r>
              <a:rPr lang="en-US" sz="1000" dirty="0">
                <a:solidFill>
                  <a:srgbClr val="0A3D23"/>
                </a:solidFill>
                <a:latin typeface="Yu Gothic" pitchFamily="34" charset="0"/>
                <a:ea typeface="Yu Gothic" pitchFamily="34" charset="-122"/>
                <a:cs typeface="Yu Gothic" pitchFamily="34" charset="-120"/>
              </a:rPr>
              <a:t>Googleマップやカフェ検索で「近くのカフェ」を探す人と出会える</a:t>
            </a:r>
            <a:endParaRPr lang="en-US" sz="1000" dirty="0"/>
          </a:p>
        </p:txBody>
      </p:sp>
      <p:pic>
        <p:nvPicPr>
          <p:cNvPr id="37" name="Image 9" descr="/home/user/suzuki-ceo/selfcafe-gyomu-deck/assets/icons/LuCheck-green.png">    </p:cNvPr>
          <p:cNvPicPr>
            <a:picLocks noChangeAspect="1"/>
          </p:cNvPicPr>
          <p:nvPr/>
        </p:nvPicPr>
        <p:blipFill>
          <a:blip r:embed="rId10"/>
          <a:stretch>
            <a:fillRect/>
          </a:stretch>
        </p:blipFill>
        <p:spPr>
          <a:xfrm>
            <a:off x="952805" y="5821070"/>
            <a:ext cx="182880" cy="182880"/>
          </a:xfrm>
          <a:prstGeom prst="rect">
            <a:avLst/>
          </a:prstGeom>
        </p:spPr>
      </p:pic>
      <p:sp>
        <p:nvSpPr>
          <p:cNvPr id="38" name="Text 26"/>
          <p:cNvSpPr/>
          <p:nvPr/>
        </p:nvSpPr>
        <p:spPr>
          <a:xfrm>
            <a:off x="1227125" y="5766206"/>
            <a:ext cx="4402379" cy="292608"/>
          </a:xfrm>
          <a:prstGeom prst="rect">
            <a:avLst/>
          </a:prstGeom>
          <a:noFill/>
          <a:ln/>
        </p:spPr>
        <p:txBody>
          <a:bodyPr wrap="square" lIns="0" tIns="0" rIns="0" bIns="0" rtlCol="0" anchor="ctr"/>
          <a:lstStyle/>
          <a:p>
            <a:pPr indent="0" marL="0">
              <a:buNone/>
            </a:pPr>
            <a:r>
              <a:rPr lang="en-US" sz="1000" dirty="0">
                <a:solidFill>
                  <a:srgbClr val="0A3D23"/>
                </a:solidFill>
                <a:latin typeface="Yu Gothic" pitchFamily="34" charset="0"/>
                <a:ea typeface="Yu Gothic" pitchFamily="34" charset="-122"/>
                <a:cs typeface="Yu Gothic" pitchFamily="34" charset="-120"/>
              </a:rPr>
              <a:t>書店・美容室・整体院・病院の待合と特に好相性</a:t>
            </a:r>
            <a:endParaRPr lang="en-US" sz="1000" dirty="0"/>
          </a:p>
        </p:txBody>
      </p:sp>
      <p:sp>
        <p:nvSpPr>
          <p:cNvPr id="39" name="Shape 27"/>
          <p:cNvSpPr/>
          <p:nvPr/>
        </p:nvSpPr>
        <p:spPr>
          <a:xfrm>
            <a:off x="6287872" y="4028846"/>
            <a:ext cx="5243627" cy="2121408"/>
          </a:xfrm>
          <a:prstGeom prst="roundRect">
            <a:avLst>
              <a:gd name="adj" fmla="val 2586"/>
            </a:avLst>
          </a:prstGeom>
          <a:solidFill>
            <a:srgbClr val="FFFFFF"/>
          </a:solidFill>
          <a:ln w="9525">
            <a:solidFill>
              <a:srgbClr val="EFEAE0"/>
            </a:solidFill>
            <a:prstDash val="solid"/>
          </a:ln>
        </p:spPr>
      </p:sp>
      <p:sp>
        <p:nvSpPr>
          <p:cNvPr id="40" name="Text 28"/>
          <p:cNvSpPr/>
          <p:nvPr/>
        </p:nvSpPr>
        <p:spPr>
          <a:xfrm>
            <a:off x="6562192" y="4266590"/>
            <a:ext cx="1828800" cy="164592"/>
          </a:xfrm>
          <a:prstGeom prst="rect">
            <a:avLst/>
          </a:prstGeom>
          <a:noFill/>
          <a:ln/>
        </p:spPr>
        <p:txBody>
          <a:bodyPr wrap="square" lIns="0" tIns="0" rIns="0" bIns="0" rtlCol="0" anchor="ctr"/>
          <a:lstStyle/>
          <a:p>
            <a:pPr indent="0" marL="0">
              <a:buNone/>
            </a:pPr>
            <a:r>
              <a:rPr lang="en-US" sz="900" b="1" spc="150" kern="0" dirty="0">
                <a:solidFill>
                  <a:srgbClr val="A8761F"/>
                </a:solidFill>
                <a:latin typeface="Arial" pitchFamily="34" charset="0"/>
                <a:ea typeface="Arial" pitchFamily="34" charset="-122"/>
                <a:cs typeface="Arial" pitchFamily="34" charset="-120"/>
              </a:rPr>
              <a:t>04　リスク</a:t>
            </a:r>
            <a:endParaRPr lang="en-US" sz="900" dirty="0"/>
          </a:p>
        </p:txBody>
      </p:sp>
      <p:pic>
        <p:nvPicPr>
          <p:cNvPr id="41" name="Image 10" descr="/home/user/suzuki-ceo/selfcafe-gyomu-deck/assets/icons/LuShieldCheck-green.png">    </p:cNvPr>
          <p:cNvPicPr>
            <a:picLocks noChangeAspect="1"/>
          </p:cNvPicPr>
          <p:nvPr/>
        </p:nvPicPr>
        <p:blipFill>
          <a:blip r:embed="rId11"/>
          <a:stretch>
            <a:fillRect/>
          </a:stretch>
        </p:blipFill>
        <p:spPr>
          <a:xfrm>
            <a:off x="10763402" y="4248302"/>
            <a:ext cx="384048" cy="384048"/>
          </a:xfrm>
          <a:prstGeom prst="rect">
            <a:avLst/>
          </a:prstGeom>
        </p:spPr>
      </p:pic>
      <p:sp>
        <p:nvSpPr>
          <p:cNvPr id="42" name="Text 29"/>
          <p:cNvSpPr/>
          <p:nvPr/>
        </p:nvSpPr>
        <p:spPr>
          <a:xfrm>
            <a:off x="6562192" y="4504334"/>
            <a:ext cx="4329227" cy="384048"/>
          </a:xfrm>
          <a:prstGeom prst="rect">
            <a:avLst/>
          </a:prstGeom>
          <a:noFill/>
          <a:ln/>
        </p:spPr>
        <p:txBody>
          <a:bodyPr wrap="square" lIns="0" tIns="0" rIns="0" bIns="0" rtlCol="0" anchor="ctr"/>
          <a:lstStyle/>
          <a:p>
            <a:pPr indent="0" marL="0">
              <a:buNone/>
            </a:pPr>
            <a:r>
              <a:rPr lang="en-US" sz="1600" b="1" dirty="0">
                <a:solidFill>
                  <a:srgbClr val="0A3D23"/>
                </a:solidFill>
                <a:latin typeface="Yu Gothic" pitchFamily="34" charset="0"/>
                <a:ea typeface="Yu Gothic" pitchFamily="34" charset="-122"/>
                <a:cs typeface="Yu Gothic" pitchFamily="34" charset="-120"/>
              </a:rPr>
              <a:t>低リスクで導入できる</a:t>
            </a:r>
            <a:endParaRPr lang="en-US" sz="1600" dirty="0"/>
          </a:p>
        </p:txBody>
      </p:sp>
      <p:sp>
        <p:nvSpPr>
          <p:cNvPr id="43" name="Text 30"/>
          <p:cNvSpPr/>
          <p:nvPr/>
        </p:nvSpPr>
        <p:spPr>
          <a:xfrm>
            <a:off x="6562192" y="4943246"/>
            <a:ext cx="4694987" cy="292608"/>
          </a:xfrm>
          <a:prstGeom prst="rect">
            <a:avLst/>
          </a:prstGeom>
          <a:noFill/>
          <a:ln/>
        </p:spPr>
        <p:txBody>
          <a:bodyPr wrap="square" lIns="0" tIns="0" rIns="0" bIns="0" rtlCol="0" anchor="ctr"/>
          <a:lstStyle/>
          <a:p>
            <a:pPr indent="0" marL="0">
              <a:buNone/>
            </a:pPr>
            <a:r>
              <a:rPr lang="en-US" sz="1050" dirty="0">
                <a:solidFill>
                  <a:srgbClr val="4B5550"/>
                </a:solidFill>
                <a:latin typeface="Yu Gothic" pitchFamily="34" charset="0"/>
                <a:ea typeface="Yu Gothic" pitchFamily="34" charset="-122"/>
                <a:cs typeface="Yu Gothic" pitchFamily="34" charset="-120"/>
              </a:rPr>
              <a:t>通常のFC加盟（750万円〜）と比べ、意思決定のハードルが大きく下がります。</a:t>
            </a:r>
            <a:endParaRPr lang="en-US" sz="1050" dirty="0"/>
          </a:p>
        </p:txBody>
      </p:sp>
      <p:sp>
        <p:nvSpPr>
          <p:cNvPr id="44" name="Shape 31"/>
          <p:cNvSpPr/>
          <p:nvPr/>
        </p:nvSpPr>
        <p:spPr>
          <a:xfrm>
            <a:off x="6562192" y="5309006"/>
            <a:ext cx="4694987" cy="10058"/>
          </a:xfrm>
          <a:prstGeom prst="rect">
            <a:avLst/>
          </a:prstGeom>
          <a:solidFill>
            <a:srgbClr val="EFEAE0"/>
          </a:solidFill>
          <a:ln/>
        </p:spPr>
      </p:sp>
      <p:pic>
        <p:nvPicPr>
          <p:cNvPr id="45" name="Image 11" descr="/home/user/suzuki-ceo/selfcafe-gyomu-deck/assets/icons/LuCheck-green.png">    </p:cNvPr>
          <p:cNvPicPr>
            <a:picLocks noChangeAspect="1"/>
          </p:cNvPicPr>
          <p:nvPr/>
        </p:nvPicPr>
        <p:blipFill>
          <a:blip r:embed="rId12"/>
          <a:stretch>
            <a:fillRect/>
          </a:stretch>
        </p:blipFill>
        <p:spPr>
          <a:xfrm>
            <a:off x="6580480" y="5491886"/>
            <a:ext cx="182880" cy="182880"/>
          </a:xfrm>
          <a:prstGeom prst="rect">
            <a:avLst/>
          </a:prstGeom>
        </p:spPr>
      </p:pic>
      <p:sp>
        <p:nvSpPr>
          <p:cNvPr id="46" name="Text 32"/>
          <p:cNvSpPr/>
          <p:nvPr/>
        </p:nvSpPr>
        <p:spPr>
          <a:xfrm>
            <a:off x="6854800" y="5437022"/>
            <a:ext cx="4402379" cy="292608"/>
          </a:xfrm>
          <a:prstGeom prst="rect">
            <a:avLst/>
          </a:prstGeom>
          <a:noFill/>
          <a:ln/>
        </p:spPr>
        <p:txBody>
          <a:bodyPr wrap="square" lIns="0" tIns="0" rIns="0" bIns="0" rtlCol="0" anchor="ctr"/>
          <a:lstStyle/>
          <a:p>
            <a:pPr indent="0" marL="0">
              <a:buNone/>
            </a:pPr>
            <a:r>
              <a:rPr lang="en-US" sz="1000" dirty="0">
                <a:solidFill>
                  <a:srgbClr val="0A3D23"/>
                </a:solidFill>
                <a:latin typeface="Yu Gothic" pitchFamily="34" charset="0"/>
                <a:ea typeface="Yu Gothic" pitchFamily="34" charset="-122"/>
                <a:cs typeface="Yu Gothic" pitchFamily="34" charset="-120"/>
              </a:rPr>
              <a:t>独立出店ではないため原状回復の負担も小さい</a:t>
            </a:r>
            <a:endParaRPr lang="en-US" sz="1000" dirty="0"/>
          </a:p>
        </p:txBody>
      </p:sp>
      <p:pic>
        <p:nvPicPr>
          <p:cNvPr id="47" name="Image 12" descr="/home/user/suzuki-ceo/selfcafe-gyomu-deck/assets/icons/LuCheck-green.png">    </p:cNvPr>
          <p:cNvPicPr>
            <a:picLocks noChangeAspect="1"/>
          </p:cNvPicPr>
          <p:nvPr/>
        </p:nvPicPr>
        <p:blipFill>
          <a:blip r:embed="rId13"/>
          <a:stretch>
            <a:fillRect/>
          </a:stretch>
        </p:blipFill>
        <p:spPr>
          <a:xfrm>
            <a:off x="6580480" y="5821070"/>
            <a:ext cx="182880" cy="182880"/>
          </a:xfrm>
          <a:prstGeom prst="rect">
            <a:avLst/>
          </a:prstGeom>
        </p:spPr>
      </p:pic>
      <p:sp>
        <p:nvSpPr>
          <p:cNvPr id="48" name="Text 33"/>
          <p:cNvSpPr/>
          <p:nvPr/>
        </p:nvSpPr>
        <p:spPr>
          <a:xfrm>
            <a:off x="6854800" y="5766206"/>
            <a:ext cx="4402379" cy="292608"/>
          </a:xfrm>
          <a:prstGeom prst="rect">
            <a:avLst/>
          </a:prstGeom>
          <a:noFill/>
          <a:ln/>
        </p:spPr>
        <p:txBody>
          <a:bodyPr wrap="square" lIns="0" tIns="0" rIns="0" bIns="0" rtlCol="0" anchor="ctr"/>
          <a:lstStyle/>
          <a:p>
            <a:pPr indent="0" marL="0">
              <a:buNone/>
            </a:pPr>
            <a:r>
              <a:rPr lang="en-US" sz="1000" dirty="0">
                <a:solidFill>
                  <a:srgbClr val="0A3D23"/>
                </a:solidFill>
                <a:latin typeface="Yu Gothic" pitchFamily="34" charset="0"/>
                <a:ea typeface="Yu Gothic" pitchFamily="34" charset="-122"/>
                <a:cs typeface="Yu Gothic" pitchFamily="34" charset="-120"/>
              </a:rPr>
              <a:t>内装・システム導入まで本部がフルサポート</a:t>
            </a:r>
            <a:endParaRPr lang="en-US" sz="1000" dirty="0"/>
          </a:p>
        </p:txBody>
      </p:sp>
      <p:sp>
        <p:nvSpPr>
          <p:cNvPr id="49" name="Text 34"/>
          <p:cNvSpPr/>
          <p:nvPr/>
        </p:nvSpPr>
        <p:spPr>
          <a:xfrm>
            <a:off x="660197" y="6223406"/>
            <a:ext cx="10871302" cy="182880"/>
          </a:xfrm>
          <a:prstGeom prst="rect">
            <a:avLst/>
          </a:prstGeom>
          <a:noFill/>
          <a:ln/>
        </p:spPr>
        <p:txBody>
          <a:bodyPr wrap="square" lIns="0" tIns="0" rIns="0" bIns="0" rtlCol="0" anchor="ctr"/>
          <a:lstStyle/>
          <a:p>
            <a:pPr indent="0" marL="0">
              <a:buNone/>
            </a:pPr>
            <a:r>
              <a:rPr lang="en-US" sz="850" dirty="0">
                <a:solidFill>
                  <a:srgbClr val="A8B0AA"/>
                </a:solidFill>
                <a:latin typeface="Yu Gothic" pitchFamily="34" charset="0"/>
                <a:ea typeface="Yu Gothic" pitchFamily="34" charset="-122"/>
                <a:cs typeface="Yu Gothic" pitchFamily="34" charset="-120"/>
              </a:rPr>
              <a:t>※ 収益イメージは「収益シミュレーション」のページをご参照ください。</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7"/>
        </a:solidFill>
      </p:bgPr>
    </p:bg>
    <p:spTree>
      <p:nvGrpSpPr>
        <p:cNvPr id="1" name=""/>
        <p:cNvGrpSpPr/>
        <p:nvPr/>
      </p:nvGrpSpPr>
      <p:grpSpPr>
        <a:xfrm>
          <a:off x="0" y="0"/>
          <a:ext cx="0" cy="0"/>
          <a:chOff x="0" y="0"/>
          <a:chExt cx="0" cy="0"/>
        </a:xfrm>
      </p:grpSpPr>
      <p:sp>
        <p:nvSpPr>
          <p:cNvPr id="2" name="Shape 0"/>
          <p:cNvSpPr/>
          <p:nvPr/>
        </p:nvSpPr>
        <p:spPr>
          <a:xfrm>
            <a:off x="660197" y="545897"/>
            <a:ext cx="202997" cy="25603"/>
          </a:xfrm>
          <a:prstGeom prst="rect">
            <a:avLst/>
          </a:prstGeom>
          <a:solidFill>
            <a:srgbClr val="106838"/>
          </a:solidFill>
          <a:ln/>
        </p:spPr>
      </p:sp>
      <p:sp>
        <p:nvSpPr>
          <p:cNvPr id="3" name="Text 1"/>
          <p:cNvSpPr/>
          <p:nvPr/>
        </p:nvSpPr>
        <p:spPr>
          <a:xfrm>
            <a:off x="952805" y="444398"/>
            <a:ext cx="6400800" cy="177394"/>
          </a:xfrm>
          <a:prstGeom prst="rect">
            <a:avLst/>
          </a:prstGeom>
          <a:noFill/>
          <a:ln/>
        </p:spPr>
        <p:txBody>
          <a:bodyPr wrap="square" lIns="0" tIns="0" rIns="0" bIns="0" rtlCol="0" anchor="ctr"/>
          <a:lstStyle/>
          <a:p>
            <a:pPr indent="0" marL="0">
              <a:buNone/>
            </a:pPr>
            <a:r>
              <a:rPr lang="en-US" sz="1050" b="1" dirty="0">
                <a:solidFill>
                  <a:srgbClr val="A8761F"/>
                </a:solidFill>
                <a:latin typeface="Arial" pitchFamily="34" charset="0"/>
                <a:ea typeface="Arial" pitchFamily="34" charset="-122"/>
                <a:cs typeface="Arial" pitchFamily="34" charset="-120"/>
              </a:rPr>
              <a:t>05</a:t>
            </a:r>
            <a:r>
              <a:rPr lang="en-US" sz="1050" b="1" dirty="0">
                <a:solidFill>
                  <a:srgbClr val="1B8149"/>
                </a:solidFill>
                <a:latin typeface="Yu Gothic" pitchFamily="34" charset="0"/>
                <a:ea typeface="Yu Gothic" pitchFamily="34" charset="-122"/>
                <a:cs typeface="Yu Gothic" pitchFamily="34" charset="-120"/>
              </a:rPr>
              <a:t>   シナジー</a:t>
            </a:r>
            <a:endParaRPr lang="en-US" sz="1050" dirty="0"/>
          </a:p>
        </p:txBody>
      </p:sp>
      <p:sp>
        <p:nvSpPr>
          <p:cNvPr id="4" name="Text 2"/>
          <p:cNvSpPr/>
          <p:nvPr/>
        </p:nvSpPr>
        <p:spPr>
          <a:xfrm>
            <a:off x="660197" y="660197"/>
            <a:ext cx="8889797" cy="508406"/>
          </a:xfrm>
          <a:prstGeom prst="rect">
            <a:avLst/>
          </a:prstGeom>
          <a:noFill/>
          <a:ln/>
        </p:spPr>
        <p:txBody>
          <a:bodyPr wrap="square" lIns="0" tIns="0" rIns="0" bIns="0" rtlCol="0" anchor="ctr"/>
          <a:lstStyle/>
          <a:p>
            <a:pPr indent="0" marL="0">
              <a:buNone/>
            </a:pPr>
            <a:r>
              <a:rPr lang="en-US" sz="2900" b="1" dirty="0">
                <a:solidFill>
                  <a:srgbClr val="0A3D23"/>
                </a:solidFill>
                <a:latin typeface="Yu Gothic" pitchFamily="34" charset="0"/>
                <a:ea typeface="Yu Gothic" pitchFamily="34" charset="-122"/>
                <a:cs typeface="Yu Gothic" pitchFamily="34" charset="-120"/>
              </a:rPr>
              <a:t>既存事業とのシナジー</a:t>
            </a:r>
            <a:endParaRPr lang="en-US" sz="2900" dirty="0"/>
          </a:p>
        </p:txBody>
      </p:sp>
      <p:sp>
        <p:nvSpPr>
          <p:cNvPr id="5" name="Text 3"/>
          <p:cNvSpPr/>
          <p:nvPr/>
        </p:nvSpPr>
        <p:spPr>
          <a:xfrm>
            <a:off x="660197" y="1308506"/>
            <a:ext cx="10032797" cy="228600"/>
          </a:xfrm>
          <a:prstGeom prst="rect">
            <a:avLst/>
          </a:prstGeom>
          <a:noFill/>
          <a:ln/>
        </p:spPr>
        <p:txBody>
          <a:bodyPr wrap="square" lIns="0" tIns="0" rIns="0" bIns="0" rtlCol="0" anchor="ctr"/>
          <a:lstStyle/>
          <a:p>
            <a:pPr indent="0" marL="0">
              <a:buNone/>
            </a:pPr>
            <a:r>
              <a:rPr lang="en-US" sz="1250" dirty="0">
                <a:solidFill>
                  <a:srgbClr val="4B5550"/>
                </a:solidFill>
                <a:latin typeface="Yu Gothic" pitchFamily="34" charset="0"/>
                <a:ea typeface="Yu Gothic" pitchFamily="34" charset="-122"/>
                <a:cs typeface="Yu Gothic" pitchFamily="34" charset="-120"/>
              </a:rPr>
              <a:t>「待ち時間」の解消や新規集客のフックとして、カフェは最適の組み合わせです。</a:t>
            </a:r>
            <a:endParaRPr lang="en-US" sz="1250" dirty="0"/>
          </a:p>
        </p:txBody>
      </p:sp>
      <p:pic>
        <p:nvPicPr>
          <p:cNvPr id="6" name="Image 0" descr="/home/user/suzuki-ceo/selfcafe-gyomu-deck/assets/logo-green.png">    </p:cNvPr>
          <p:cNvPicPr>
            <a:picLocks noChangeAspect="1"/>
          </p:cNvPicPr>
          <p:nvPr/>
        </p:nvPicPr>
        <p:blipFill>
          <a:blip r:embed="rId1"/>
          <a:stretch>
            <a:fillRect/>
          </a:stretch>
        </p:blipFill>
        <p:spPr>
          <a:xfrm>
            <a:off x="9855403" y="482803"/>
            <a:ext cx="1676095" cy="238658"/>
          </a:xfrm>
          <a:prstGeom prst="rect">
            <a:avLst/>
          </a:prstGeom>
        </p:spPr>
      </p:pic>
      <p:sp>
        <p:nvSpPr>
          <p:cNvPr id="7" name="Text 4"/>
          <p:cNvSpPr/>
          <p:nvPr/>
        </p:nvSpPr>
        <p:spPr>
          <a:xfrm>
            <a:off x="660197" y="6476695"/>
            <a:ext cx="5080406" cy="152705"/>
          </a:xfrm>
          <a:prstGeom prst="rect">
            <a:avLst/>
          </a:prstGeom>
          <a:noFill/>
          <a:ln/>
        </p:spPr>
        <p:txBody>
          <a:bodyPr wrap="square" lIns="0" tIns="0" rIns="0" bIns="0" rtlCol="0" anchor="ctr"/>
          <a:lstStyle/>
          <a:p>
            <a:pPr indent="0" marL="0">
              <a:buNone/>
            </a:pPr>
            <a:r>
              <a:rPr lang="en-US" sz="900" dirty="0">
                <a:solidFill>
                  <a:srgbClr val="A8B0AA"/>
                </a:solidFill>
                <a:latin typeface="Yu Gothic" pitchFamily="34" charset="0"/>
                <a:ea typeface="Yu Gothic" pitchFamily="34" charset="-122"/>
                <a:cs typeface="Yu Gothic" pitchFamily="34" charset="-120"/>
              </a:rPr>
              <a:t>セルフカフェ 業務委託型制度</a:t>
            </a:r>
            <a:endParaRPr lang="en-US" sz="900" dirty="0"/>
          </a:p>
        </p:txBody>
      </p:sp>
      <p:sp>
        <p:nvSpPr>
          <p:cNvPr id="8" name="Text 5"/>
          <p:cNvSpPr/>
          <p:nvPr/>
        </p:nvSpPr>
        <p:spPr>
          <a:xfrm>
            <a:off x="10261397" y="6463894"/>
            <a:ext cx="1270102" cy="152705"/>
          </a:xfrm>
          <a:prstGeom prst="rect">
            <a:avLst/>
          </a:prstGeom>
          <a:noFill/>
          <a:ln/>
        </p:spPr>
        <p:txBody>
          <a:bodyPr wrap="square" lIns="0" tIns="0" rIns="0" bIns="0" rtlCol="0" anchor="ctr"/>
          <a:lstStyle/>
          <a:p>
            <a:pPr algn="r" indent="0" marL="0">
              <a:buNone/>
            </a:pPr>
            <a:r>
              <a:rPr lang="en-US" sz="1000" b="1" dirty="0">
                <a:solidFill>
                  <a:srgbClr val="7E8882"/>
                </a:solidFill>
                <a:latin typeface="Arial" pitchFamily="34" charset="0"/>
                <a:ea typeface="Arial" pitchFamily="34" charset="-122"/>
                <a:cs typeface="Arial" pitchFamily="34" charset="-120"/>
              </a:rPr>
              <a:t>06</a:t>
            </a:r>
            <a:endParaRPr lang="en-US" sz="1000" dirty="0"/>
          </a:p>
        </p:txBody>
      </p:sp>
      <p:sp>
        <p:nvSpPr>
          <p:cNvPr id="9" name="Shape 6"/>
          <p:cNvSpPr/>
          <p:nvPr/>
        </p:nvSpPr>
        <p:spPr>
          <a:xfrm>
            <a:off x="660197" y="1651406"/>
            <a:ext cx="5243627" cy="1975104"/>
          </a:xfrm>
          <a:prstGeom prst="roundRect">
            <a:avLst>
              <a:gd name="adj" fmla="val 2778"/>
            </a:avLst>
          </a:prstGeom>
          <a:solidFill>
            <a:srgbClr val="FFFFFF"/>
          </a:solidFill>
          <a:ln w="9525">
            <a:solidFill>
              <a:srgbClr val="EFEAE0"/>
            </a:solidFill>
            <a:prstDash val="solid"/>
          </a:ln>
        </p:spPr>
      </p:sp>
      <p:pic>
        <p:nvPicPr>
          <p:cNvPr id="10" name="Image 1" descr="/home/user/suzuki-ceo/selfcafe-gyomu-deck/assets/icons/LuHourglass-green.png">    </p:cNvPr>
          <p:cNvPicPr>
            <a:picLocks noChangeAspect="1"/>
          </p:cNvPicPr>
          <p:nvPr/>
        </p:nvPicPr>
        <p:blipFill>
          <a:blip r:embed="rId2"/>
          <a:stretch>
            <a:fillRect/>
          </a:stretch>
        </p:blipFill>
        <p:spPr>
          <a:xfrm>
            <a:off x="934517" y="1925726"/>
            <a:ext cx="402336" cy="402336"/>
          </a:xfrm>
          <a:prstGeom prst="rect">
            <a:avLst/>
          </a:prstGeom>
        </p:spPr>
      </p:pic>
      <p:sp>
        <p:nvSpPr>
          <p:cNvPr id="11" name="Text 7"/>
          <p:cNvSpPr/>
          <p:nvPr/>
        </p:nvSpPr>
        <p:spPr>
          <a:xfrm>
            <a:off x="1501445" y="1889150"/>
            <a:ext cx="4128059" cy="256032"/>
          </a:xfrm>
          <a:prstGeom prst="rect">
            <a:avLst/>
          </a:prstGeom>
          <a:noFill/>
          <a:ln/>
        </p:spPr>
        <p:txBody>
          <a:bodyPr wrap="square" lIns="0" tIns="0" rIns="0" bIns="0" rtlCol="0" anchor="ctr"/>
          <a:lstStyle/>
          <a:p>
            <a:pPr indent="0" marL="0">
              <a:buNone/>
            </a:pPr>
            <a:r>
              <a:rPr lang="en-US" sz="1100" b="1" dirty="0">
                <a:solidFill>
                  <a:srgbClr val="7E8882"/>
                </a:solidFill>
                <a:latin typeface="Yu Gothic" pitchFamily="34" charset="0"/>
                <a:ea typeface="Yu Gothic" pitchFamily="34" charset="-122"/>
                <a:cs typeface="Yu Gothic" pitchFamily="34" charset="-120"/>
              </a:rPr>
              <a:t>待ち時間の解消</a:t>
            </a:r>
            <a:endParaRPr lang="en-US" sz="1100" dirty="0"/>
          </a:p>
        </p:txBody>
      </p:sp>
      <p:sp>
        <p:nvSpPr>
          <p:cNvPr id="12" name="Text 8"/>
          <p:cNvSpPr/>
          <p:nvPr/>
        </p:nvSpPr>
        <p:spPr>
          <a:xfrm>
            <a:off x="1501445" y="2163470"/>
            <a:ext cx="4128059" cy="347472"/>
          </a:xfrm>
          <a:prstGeom prst="rect">
            <a:avLst/>
          </a:prstGeom>
          <a:noFill/>
          <a:ln/>
        </p:spPr>
        <p:txBody>
          <a:bodyPr wrap="square" lIns="0" tIns="0" rIns="0" bIns="0" rtlCol="0" anchor="ctr"/>
          <a:lstStyle/>
          <a:p>
            <a:pPr indent="0" marL="0">
              <a:buNone/>
            </a:pPr>
            <a:r>
              <a:rPr lang="en-US" sz="1500" b="1" dirty="0">
                <a:solidFill>
                  <a:srgbClr val="0A3D23"/>
                </a:solidFill>
                <a:latin typeface="Yu Gothic" pitchFamily="34" charset="0"/>
                <a:ea typeface="Yu Gothic" pitchFamily="34" charset="-122"/>
                <a:cs typeface="Yu Gothic" pitchFamily="34" charset="-120"/>
              </a:rPr>
              <a:t>「待つ時間」を「くつろぐ時間」へ</a:t>
            </a:r>
            <a:endParaRPr lang="en-US" sz="1500" dirty="0"/>
          </a:p>
        </p:txBody>
      </p:sp>
      <p:sp>
        <p:nvSpPr>
          <p:cNvPr id="13" name="Text 9"/>
          <p:cNvSpPr/>
          <p:nvPr/>
        </p:nvSpPr>
        <p:spPr>
          <a:xfrm>
            <a:off x="934517" y="2620670"/>
            <a:ext cx="4694987" cy="859536"/>
          </a:xfrm>
          <a:prstGeom prst="rect">
            <a:avLst/>
          </a:prstGeom>
          <a:noFill/>
          <a:ln/>
        </p:spPr>
        <p:txBody>
          <a:bodyPr wrap="square" lIns="0" tIns="0" rIns="0" bIns="0" rtlCol="0" anchor="t"/>
          <a:lstStyle/>
          <a:p>
            <a:pPr indent="0" marL="0">
              <a:lnSpc>
                <a:spcPct val="145000"/>
              </a:lnSpc>
              <a:buNone/>
            </a:pPr>
            <a:r>
              <a:rPr lang="en-US" sz="1050" dirty="0">
                <a:solidFill>
                  <a:srgbClr val="4B5550"/>
                </a:solidFill>
                <a:latin typeface="Yu Gothic" pitchFamily="34" charset="0"/>
                <a:ea typeface="Yu Gothic" pitchFamily="34" charset="-122"/>
                <a:cs typeface="Yu Gothic" pitchFamily="34" charset="-120"/>
              </a:rPr>
              <a:t>書店・美容室・整体院・病院の待合・コインランドリーなど、待ち時間が生まれる場所にカフェがあるだけで顧客満足度が上がります。</a:t>
            </a:r>
            <a:endParaRPr lang="en-US" sz="1050" dirty="0"/>
          </a:p>
        </p:txBody>
      </p:sp>
      <p:sp>
        <p:nvSpPr>
          <p:cNvPr id="14" name="Shape 10"/>
          <p:cNvSpPr/>
          <p:nvPr/>
        </p:nvSpPr>
        <p:spPr>
          <a:xfrm>
            <a:off x="6287872" y="1651406"/>
            <a:ext cx="5243627" cy="1975104"/>
          </a:xfrm>
          <a:prstGeom prst="roundRect">
            <a:avLst>
              <a:gd name="adj" fmla="val 2778"/>
            </a:avLst>
          </a:prstGeom>
          <a:solidFill>
            <a:srgbClr val="FFFFFF"/>
          </a:solidFill>
          <a:ln w="9525">
            <a:solidFill>
              <a:srgbClr val="EFEAE0"/>
            </a:solidFill>
            <a:prstDash val="solid"/>
          </a:ln>
        </p:spPr>
      </p:sp>
      <p:pic>
        <p:nvPicPr>
          <p:cNvPr id="15" name="Image 2" descr="/home/user/suzuki-ceo/selfcafe-gyomu-deck/assets/icons/LuSearch-green.png">    </p:cNvPr>
          <p:cNvPicPr>
            <a:picLocks noChangeAspect="1"/>
          </p:cNvPicPr>
          <p:nvPr/>
        </p:nvPicPr>
        <p:blipFill>
          <a:blip r:embed="rId3"/>
          <a:stretch>
            <a:fillRect/>
          </a:stretch>
        </p:blipFill>
        <p:spPr>
          <a:xfrm>
            <a:off x="6562192" y="1925726"/>
            <a:ext cx="402336" cy="402336"/>
          </a:xfrm>
          <a:prstGeom prst="rect">
            <a:avLst/>
          </a:prstGeom>
        </p:spPr>
      </p:pic>
      <p:sp>
        <p:nvSpPr>
          <p:cNvPr id="16" name="Text 11"/>
          <p:cNvSpPr/>
          <p:nvPr/>
        </p:nvSpPr>
        <p:spPr>
          <a:xfrm>
            <a:off x="7129120" y="1889150"/>
            <a:ext cx="4128059" cy="256032"/>
          </a:xfrm>
          <a:prstGeom prst="rect">
            <a:avLst/>
          </a:prstGeom>
          <a:noFill/>
          <a:ln/>
        </p:spPr>
        <p:txBody>
          <a:bodyPr wrap="square" lIns="0" tIns="0" rIns="0" bIns="0" rtlCol="0" anchor="ctr"/>
          <a:lstStyle/>
          <a:p>
            <a:pPr indent="0" marL="0">
              <a:buNone/>
            </a:pPr>
            <a:r>
              <a:rPr lang="en-US" sz="1100" b="1" dirty="0">
                <a:solidFill>
                  <a:srgbClr val="7E8882"/>
                </a:solidFill>
                <a:latin typeface="Yu Gothic" pitchFamily="34" charset="0"/>
                <a:ea typeface="Yu Gothic" pitchFamily="34" charset="-122"/>
                <a:cs typeface="Yu Gothic" pitchFamily="34" charset="-120"/>
              </a:rPr>
              <a:t>新規集客の新しい入り口</a:t>
            </a:r>
            <a:endParaRPr lang="en-US" sz="1100" dirty="0"/>
          </a:p>
        </p:txBody>
      </p:sp>
      <p:sp>
        <p:nvSpPr>
          <p:cNvPr id="17" name="Text 12"/>
          <p:cNvSpPr/>
          <p:nvPr/>
        </p:nvSpPr>
        <p:spPr>
          <a:xfrm>
            <a:off x="7129120" y="2163470"/>
            <a:ext cx="4128059" cy="347472"/>
          </a:xfrm>
          <a:prstGeom prst="rect">
            <a:avLst/>
          </a:prstGeom>
          <a:noFill/>
          <a:ln/>
        </p:spPr>
        <p:txBody>
          <a:bodyPr wrap="square" lIns="0" tIns="0" rIns="0" bIns="0" rtlCol="0" anchor="ctr"/>
          <a:lstStyle/>
          <a:p>
            <a:pPr indent="0" marL="0">
              <a:buNone/>
            </a:pPr>
            <a:r>
              <a:rPr lang="en-US" sz="1500" b="1" dirty="0">
                <a:solidFill>
                  <a:srgbClr val="0A3D23"/>
                </a:solidFill>
                <a:latin typeface="Yu Gothic" pitchFamily="34" charset="0"/>
                <a:ea typeface="Yu Gothic" pitchFamily="34" charset="-122"/>
                <a:cs typeface="Yu Gothic" pitchFamily="34" charset="-120"/>
              </a:rPr>
              <a:t>「カフェ」で検索されて見つかる</a:t>
            </a:r>
            <a:endParaRPr lang="en-US" sz="1500" dirty="0"/>
          </a:p>
        </p:txBody>
      </p:sp>
      <p:sp>
        <p:nvSpPr>
          <p:cNvPr id="18" name="Text 13"/>
          <p:cNvSpPr/>
          <p:nvPr/>
        </p:nvSpPr>
        <p:spPr>
          <a:xfrm>
            <a:off x="6562192" y="2620670"/>
            <a:ext cx="4694987" cy="859536"/>
          </a:xfrm>
          <a:prstGeom prst="rect">
            <a:avLst/>
          </a:prstGeom>
          <a:noFill/>
          <a:ln/>
        </p:spPr>
        <p:txBody>
          <a:bodyPr wrap="square" lIns="0" tIns="0" rIns="0" bIns="0" rtlCol="0" anchor="t"/>
          <a:lstStyle/>
          <a:p>
            <a:pPr indent="0" marL="0">
              <a:lnSpc>
                <a:spcPct val="145000"/>
              </a:lnSpc>
              <a:buNone/>
            </a:pPr>
            <a:r>
              <a:rPr lang="en-US" sz="1050" dirty="0">
                <a:solidFill>
                  <a:srgbClr val="4B5550"/>
                </a:solidFill>
                <a:latin typeface="Yu Gothic" pitchFamily="34" charset="0"/>
                <a:ea typeface="Yu Gothic" pitchFamily="34" charset="-122"/>
                <a:cs typeface="Yu Gothic" pitchFamily="34" charset="-120"/>
              </a:rPr>
              <a:t>Googleマップやカフェ検索アプリ・SNSで「近くのカフェ」を探す人にも見つけてもらえます。カフェ目的で立ち寄った人が、既存事業を知る新しいお客様になります。</a:t>
            </a:r>
            <a:endParaRPr lang="en-US" sz="1050" dirty="0"/>
          </a:p>
        </p:txBody>
      </p:sp>
      <p:sp>
        <p:nvSpPr>
          <p:cNvPr id="19" name="Shape 14"/>
          <p:cNvSpPr/>
          <p:nvPr/>
        </p:nvSpPr>
        <p:spPr>
          <a:xfrm>
            <a:off x="660197" y="3900830"/>
            <a:ext cx="5243627" cy="1975104"/>
          </a:xfrm>
          <a:prstGeom prst="roundRect">
            <a:avLst>
              <a:gd name="adj" fmla="val 2778"/>
            </a:avLst>
          </a:prstGeom>
          <a:solidFill>
            <a:srgbClr val="FFFFFF"/>
          </a:solidFill>
          <a:ln w="9525">
            <a:solidFill>
              <a:srgbClr val="EFEAE0"/>
            </a:solidFill>
            <a:prstDash val="solid"/>
          </a:ln>
        </p:spPr>
      </p:sp>
      <p:pic>
        <p:nvPicPr>
          <p:cNvPr id="20" name="Image 3" descr="/home/user/suzuki-ceo/selfcafe-gyomu-deck/assets/icons/LuShoppingBag-green.png">    </p:cNvPr>
          <p:cNvPicPr>
            <a:picLocks noChangeAspect="1"/>
          </p:cNvPicPr>
          <p:nvPr/>
        </p:nvPicPr>
        <p:blipFill>
          <a:blip r:embed="rId4"/>
          <a:stretch>
            <a:fillRect/>
          </a:stretch>
        </p:blipFill>
        <p:spPr>
          <a:xfrm>
            <a:off x="934517" y="4175150"/>
            <a:ext cx="402336" cy="402336"/>
          </a:xfrm>
          <a:prstGeom prst="rect">
            <a:avLst/>
          </a:prstGeom>
        </p:spPr>
      </p:pic>
      <p:sp>
        <p:nvSpPr>
          <p:cNvPr id="21" name="Text 15"/>
          <p:cNvSpPr/>
          <p:nvPr/>
        </p:nvSpPr>
        <p:spPr>
          <a:xfrm>
            <a:off x="1501445" y="4138574"/>
            <a:ext cx="4128059" cy="256032"/>
          </a:xfrm>
          <a:prstGeom prst="rect">
            <a:avLst/>
          </a:prstGeom>
          <a:noFill/>
          <a:ln/>
        </p:spPr>
        <p:txBody>
          <a:bodyPr wrap="square" lIns="0" tIns="0" rIns="0" bIns="0" rtlCol="0" anchor="ctr"/>
          <a:lstStyle/>
          <a:p>
            <a:pPr indent="0" marL="0">
              <a:buNone/>
            </a:pPr>
            <a:r>
              <a:rPr lang="en-US" sz="1100" b="1" dirty="0">
                <a:solidFill>
                  <a:srgbClr val="7E8882"/>
                </a:solidFill>
                <a:latin typeface="Yu Gothic" pitchFamily="34" charset="0"/>
                <a:ea typeface="Yu Gothic" pitchFamily="34" charset="-122"/>
                <a:cs typeface="Yu Gothic" pitchFamily="34" charset="-120"/>
              </a:rPr>
              <a:t>滞在時間・回遊率アップ</a:t>
            </a:r>
            <a:endParaRPr lang="en-US" sz="1100" dirty="0"/>
          </a:p>
        </p:txBody>
      </p:sp>
      <p:sp>
        <p:nvSpPr>
          <p:cNvPr id="22" name="Text 16"/>
          <p:cNvSpPr/>
          <p:nvPr/>
        </p:nvSpPr>
        <p:spPr>
          <a:xfrm>
            <a:off x="1501445" y="4412894"/>
            <a:ext cx="4128059" cy="347472"/>
          </a:xfrm>
          <a:prstGeom prst="rect">
            <a:avLst/>
          </a:prstGeom>
          <a:noFill/>
          <a:ln/>
        </p:spPr>
        <p:txBody>
          <a:bodyPr wrap="square" lIns="0" tIns="0" rIns="0" bIns="0" rtlCol="0" anchor="ctr"/>
          <a:lstStyle/>
          <a:p>
            <a:pPr indent="0" marL="0">
              <a:buNone/>
            </a:pPr>
            <a:r>
              <a:rPr lang="en-US" sz="1500" b="1" dirty="0">
                <a:solidFill>
                  <a:srgbClr val="0A3D23"/>
                </a:solidFill>
                <a:latin typeface="Yu Gothic" pitchFamily="34" charset="0"/>
                <a:ea typeface="Yu Gothic" pitchFamily="34" charset="-122"/>
                <a:cs typeface="Yu Gothic" pitchFamily="34" charset="-120"/>
              </a:rPr>
              <a:t>「ついで買い」のきっかけに</a:t>
            </a:r>
            <a:endParaRPr lang="en-US" sz="1500" dirty="0"/>
          </a:p>
        </p:txBody>
      </p:sp>
      <p:sp>
        <p:nvSpPr>
          <p:cNvPr id="23" name="Text 17"/>
          <p:cNvSpPr/>
          <p:nvPr/>
        </p:nvSpPr>
        <p:spPr>
          <a:xfrm>
            <a:off x="934517" y="4870094"/>
            <a:ext cx="4694987" cy="859536"/>
          </a:xfrm>
          <a:prstGeom prst="rect">
            <a:avLst/>
          </a:prstGeom>
          <a:noFill/>
          <a:ln/>
        </p:spPr>
        <p:txBody>
          <a:bodyPr wrap="square" lIns="0" tIns="0" rIns="0" bIns="0" rtlCol="0" anchor="t"/>
          <a:lstStyle/>
          <a:p>
            <a:pPr indent="0" marL="0">
              <a:lnSpc>
                <a:spcPct val="145000"/>
              </a:lnSpc>
              <a:buNone/>
            </a:pPr>
            <a:r>
              <a:rPr lang="en-US" sz="1050" dirty="0">
                <a:solidFill>
                  <a:srgbClr val="4B5550"/>
                </a:solidFill>
                <a:latin typeface="Yu Gothic" pitchFamily="34" charset="0"/>
                <a:ea typeface="Yu Gothic" pitchFamily="34" charset="-122"/>
                <a:cs typeface="Yu Gothic" pitchFamily="34" charset="-120"/>
              </a:rPr>
              <a:t>コーヒー片手に店内をゆっくり見て回れるようになり、滞在時間が伸びて追加購入・再来店のきっかけが増えます。</a:t>
            </a:r>
            <a:endParaRPr lang="en-US" sz="1050" dirty="0"/>
          </a:p>
        </p:txBody>
      </p:sp>
      <p:sp>
        <p:nvSpPr>
          <p:cNvPr id="24" name="Shape 18"/>
          <p:cNvSpPr/>
          <p:nvPr/>
        </p:nvSpPr>
        <p:spPr>
          <a:xfrm>
            <a:off x="6287872" y="3900830"/>
            <a:ext cx="5243627" cy="1975104"/>
          </a:xfrm>
          <a:prstGeom prst="roundRect">
            <a:avLst>
              <a:gd name="adj" fmla="val 2778"/>
            </a:avLst>
          </a:prstGeom>
          <a:solidFill>
            <a:srgbClr val="FFFFFF"/>
          </a:solidFill>
          <a:ln w="9525">
            <a:solidFill>
              <a:srgbClr val="EFEAE0"/>
            </a:solidFill>
            <a:prstDash val="solid"/>
          </a:ln>
        </p:spPr>
      </p:sp>
      <p:pic>
        <p:nvPicPr>
          <p:cNvPr id="25" name="Image 4" descr="/home/user/suzuki-ceo/selfcafe-gyomu-deck/assets/icons/LuRuler-green.png">    </p:cNvPr>
          <p:cNvPicPr>
            <a:picLocks noChangeAspect="1"/>
          </p:cNvPicPr>
          <p:nvPr/>
        </p:nvPicPr>
        <p:blipFill>
          <a:blip r:embed="rId5"/>
          <a:stretch>
            <a:fillRect/>
          </a:stretch>
        </p:blipFill>
        <p:spPr>
          <a:xfrm>
            <a:off x="6562192" y="4175150"/>
            <a:ext cx="402336" cy="402336"/>
          </a:xfrm>
          <a:prstGeom prst="rect">
            <a:avLst/>
          </a:prstGeom>
        </p:spPr>
      </p:pic>
      <p:sp>
        <p:nvSpPr>
          <p:cNvPr id="26" name="Text 19"/>
          <p:cNvSpPr/>
          <p:nvPr/>
        </p:nvSpPr>
        <p:spPr>
          <a:xfrm>
            <a:off x="7129120" y="4138574"/>
            <a:ext cx="4128059" cy="256032"/>
          </a:xfrm>
          <a:prstGeom prst="rect">
            <a:avLst/>
          </a:prstGeom>
          <a:noFill/>
          <a:ln/>
        </p:spPr>
        <p:txBody>
          <a:bodyPr wrap="square" lIns="0" tIns="0" rIns="0" bIns="0" rtlCol="0" anchor="ctr"/>
          <a:lstStyle/>
          <a:p>
            <a:pPr indent="0" marL="0">
              <a:buNone/>
            </a:pPr>
            <a:r>
              <a:rPr lang="en-US" sz="1100" b="1" dirty="0">
                <a:solidFill>
                  <a:srgbClr val="7E8882"/>
                </a:solidFill>
                <a:latin typeface="Yu Gothic" pitchFamily="34" charset="0"/>
                <a:ea typeface="Yu Gothic" pitchFamily="34" charset="-122"/>
                <a:cs typeface="Yu Gothic" pitchFamily="34" charset="-120"/>
              </a:rPr>
              <a:t>省スペース・低コスト</a:t>
            </a:r>
            <a:endParaRPr lang="en-US" sz="1100" dirty="0"/>
          </a:p>
        </p:txBody>
      </p:sp>
      <p:sp>
        <p:nvSpPr>
          <p:cNvPr id="27" name="Text 20"/>
          <p:cNvSpPr/>
          <p:nvPr/>
        </p:nvSpPr>
        <p:spPr>
          <a:xfrm>
            <a:off x="7129120" y="4412894"/>
            <a:ext cx="4128059" cy="347472"/>
          </a:xfrm>
          <a:prstGeom prst="rect">
            <a:avLst/>
          </a:prstGeom>
          <a:noFill/>
          <a:ln/>
        </p:spPr>
        <p:txBody>
          <a:bodyPr wrap="square" lIns="0" tIns="0" rIns="0" bIns="0" rtlCol="0" anchor="ctr"/>
          <a:lstStyle/>
          <a:p>
            <a:pPr indent="0" marL="0">
              <a:buNone/>
            </a:pPr>
            <a:r>
              <a:rPr lang="en-US" sz="1500" b="1" dirty="0">
                <a:solidFill>
                  <a:srgbClr val="0A3D23"/>
                </a:solidFill>
                <a:latin typeface="Yu Gothic" pitchFamily="34" charset="0"/>
                <a:ea typeface="Yu Gothic" pitchFamily="34" charset="-122"/>
                <a:cs typeface="Yu Gothic" pitchFamily="34" charset="-120"/>
              </a:rPr>
              <a:t>セルフ型だから始めやすい</a:t>
            </a:r>
            <a:endParaRPr lang="en-US" sz="1500" dirty="0"/>
          </a:p>
        </p:txBody>
      </p:sp>
      <p:sp>
        <p:nvSpPr>
          <p:cNvPr id="28" name="Text 21"/>
          <p:cNvSpPr/>
          <p:nvPr/>
        </p:nvSpPr>
        <p:spPr>
          <a:xfrm>
            <a:off x="6562192" y="4870094"/>
            <a:ext cx="4694987" cy="859536"/>
          </a:xfrm>
          <a:prstGeom prst="rect">
            <a:avLst/>
          </a:prstGeom>
          <a:noFill/>
          <a:ln/>
        </p:spPr>
        <p:txBody>
          <a:bodyPr wrap="square" lIns="0" tIns="0" rIns="0" bIns="0" rtlCol="0" anchor="t"/>
          <a:lstStyle/>
          <a:p>
            <a:pPr indent="0" marL="0">
              <a:lnSpc>
                <a:spcPct val="145000"/>
              </a:lnSpc>
              <a:buNone/>
            </a:pPr>
            <a:r>
              <a:rPr lang="en-US" sz="1050" dirty="0">
                <a:solidFill>
                  <a:srgbClr val="4B5550"/>
                </a:solidFill>
                <a:latin typeface="Yu Gothic" pitchFamily="34" charset="0"/>
                <a:ea typeface="Yu Gothic" pitchFamily="34" charset="-122"/>
                <a:cs typeface="Yu Gothic" pitchFamily="34" charset="-120"/>
              </a:rPr>
              <a:t>専任スタッフ不要。レジ横や待合の小さなスペースに設置でき、大掛かりな工事や人員追加なしで導入できます。</a:t>
            </a:r>
            <a:endParaRPr lang="en-US" sz="1050" dirty="0"/>
          </a:p>
        </p:txBody>
      </p:sp>
      <p:sp>
        <p:nvSpPr>
          <p:cNvPr id="29" name="Text 22"/>
          <p:cNvSpPr/>
          <p:nvPr/>
        </p:nvSpPr>
        <p:spPr>
          <a:xfrm>
            <a:off x="660197" y="5949086"/>
            <a:ext cx="10871302" cy="182880"/>
          </a:xfrm>
          <a:prstGeom prst="rect">
            <a:avLst/>
          </a:prstGeom>
          <a:noFill/>
          <a:ln/>
        </p:spPr>
        <p:txBody>
          <a:bodyPr wrap="square" lIns="0" tIns="0" rIns="0" bIns="0" rtlCol="0" anchor="ctr"/>
          <a:lstStyle/>
          <a:p>
            <a:pPr indent="0" marL="0">
              <a:buNone/>
            </a:pPr>
            <a:r>
              <a:rPr lang="en-US" sz="850" dirty="0">
                <a:solidFill>
                  <a:srgbClr val="A8B0AA"/>
                </a:solidFill>
                <a:latin typeface="Yu Gothic" pitchFamily="34" charset="0"/>
                <a:ea typeface="Yu Gothic" pitchFamily="34" charset="-122"/>
                <a:cs typeface="Yu Gothic" pitchFamily="34" charset="-120"/>
              </a:rPr>
              <a:t>※ 待合スペース・レジ横カウンターなど、限られたスペースでも設置可能です。</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7"/>
        </a:solidFill>
      </p:bgPr>
    </p:bg>
    <p:spTree>
      <p:nvGrpSpPr>
        <p:cNvPr id="1" name=""/>
        <p:cNvGrpSpPr/>
        <p:nvPr/>
      </p:nvGrpSpPr>
      <p:grpSpPr>
        <a:xfrm>
          <a:off x="0" y="0"/>
          <a:ext cx="0" cy="0"/>
          <a:chOff x="0" y="0"/>
          <a:chExt cx="0" cy="0"/>
        </a:xfrm>
      </p:grpSpPr>
      <p:sp>
        <p:nvSpPr>
          <p:cNvPr id="2" name="Shape 0"/>
          <p:cNvSpPr/>
          <p:nvPr/>
        </p:nvSpPr>
        <p:spPr>
          <a:xfrm>
            <a:off x="660197" y="545897"/>
            <a:ext cx="202997" cy="25603"/>
          </a:xfrm>
          <a:prstGeom prst="rect">
            <a:avLst/>
          </a:prstGeom>
          <a:solidFill>
            <a:srgbClr val="106838"/>
          </a:solidFill>
          <a:ln/>
        </p:spPr>
      </p:sp>
      <p:sp>
        <p:nvSpPr>
          <p:cNvPr id="3" name="Text 1"/>
          <p:cNvSpPr/>
          <p:nvPr/>
        </p:nvSpPr>
        <p:spPr>
          <a:xfrm>
            <a:off x="952805" y="444398"/>
            <a:ext cx="6400800" cy="177394"/>
          </a:xfrm>
          <a:prstGeom prst="rect">
            <a:avLst/>
          </a:prstGeom>
          <a:noFill/>
          <a:ln/>
        </p:spPr>
        <p:txBody>
          <a:bodyPr wrap="square" lIns="0" tIns="0" rIns="0" bIns="0" rtlCol="0" anchor="ctr"/>
          <a:lstStyle/>
          <a:p>
            <a:pPr indent="0" marL="0">
              <a:buNone/>
            </a:pPr>
            <a:r>
              <a:rPr lang="en-US" sz="1050" b="1" dirty="0">
                <a:solidFill>
                  <a:srgbClr val="A8761F"/>
                </a:solidFill>
                <a:latin typeface="Arial" pitchFamily="34" charset="0"/>
                <a:ea typeface="Arial" pitchFamily="34" charset="-122"/>
                <a:cs typeface="Arial" pitchFamily="34" charset="-120"/>
              </a:rPr>
              <a:t>06</a:t>
            </a:r>
            <a:r>
              <a:rPr lang="en-US" sz="1050" b="1" dirty="0">
                <a:solidFill>
                  <a:srgbClr val="1B8149"/>
                </a:solidFill>
                <a:latin typeface="Yu Gothic" pitchFamily="34" charset="0"/>
                <a:ea typeface="Yu Gothic" pitchFamily="34" charset="-122"/>
                <a:cs typeface="Yu Gothic" pitchFamily="34" charset="-120"/>
              </a:rPr>
              <a:t>   活用可能性</a:t>
            </a:r>
            <a:endParaRPr lang="en-US" sz="1050" dirty="0"/>
          </a:p>
        </p:txBody>
      </p:sp>
      <p:sp>
        <p:nvSpPr>
          <p:cNvPr id="4" name="Text 2"/>
          <p:cNvSpPr/>
          <p:nvPr/>
        </p:nvSpPr>
        <p:spPr>
          <a:xfrm>
            <a:off x="660197" y="660197"/>
            <a:ext cx="8889797" cy="508406"/>
          </a:xfrm>
          <a:prstGeom prst="rect">
            <a:avLst/>
          </a:prstGeom>
          <a:noFill/>
          <a:ln/>
        </p:spPr>
        <p:txBody>
          <a:bodyPr wrap="square" lIns="0" tIns="0" rIns="0" bIns="0" rtlCol="0" anchor="ctr"/>
          <a:lstStyle/>
          <a:p>
            <a:pPr indent="0" marL="0">
              <a:buNone/>
            </a:pPr>
            <a:r>
              <a:rPr lang="en-US" sz="2900" b="1" dirty="0">
                <a:solidFill>
                  <a:srgbClr val="0A3D23"/>
                </a:solidFill>
                <a:latin typeface="Yu Gothic" pitchFamily="34" charset="0"/>
                <a:ea typeface="Yu Gothic" pitchFamily="34" charset="-122"/>
                <a:cs typeface="Yu Gothic" pitchFamily="34" charset="-120"/>
              </a:rPr>
              <a:t>カフェの先にある、場所の可能性</a:t>
            </a:r>
            <a:endParaRPr lang="en-US" sz="2900" dirty="0"/>
          </a:p>
        </p:txBody>
      </p:sp>
      <p:sp>
        <p:nvSpPr>
          <p:cNvPr id="5" name="Text 3"/>
          <p:cNvSpPr/>
          <p:nvPr/>
        </p:nvSpPr>
        <p:spPr>
          <a:xfrm>
            <a:off x="660197" y="1308506"/>
            <a:ext cx="10032797" cy="228600"/>
          </a:xfrm>
          <a:prstGeom prst="rect">
            <a:avLst/>
          </a:prstGeom>
          <a:noFill/>
          <a:ln/>
        </p:spPr>
        <p:txBody>
          <a:bodyPr wrap="square" lIns="0" tIns="0" rIns="0" bIns="0" rtlCol="0" anchor="ctr"/>
          <a:lstStyle/>
          <a:p>
            <a:pPr indent="0" marL="0">
              <a:buNone/>
            </a:pPr>
            <a:r>
              <a:rPr lang="en-US" sz="1250" dirty="0">
                <a:solidFill>
                  <a:srgbClr val="4B5550"/>
                </a:solidFill>
                <a:latin typeface="Yu Gothic" pitchFamily="34" charset="0"/>
                <a:ea typeface="Yu Gothic" pitchFamily="34" charset="-122"/>
                <a:cs typeface="Yu Gothic" pitchFamily="34" charset="-120"/>
              </a:rPr>
              <a:t>「集客できる」で終わらせず、その場所で何ができるかを一緒に設計します。</a:t>
            </a:r>
            <a:endParaRPr lang="en-US" sz="1250" dirty="0"/>
          </a:p>
        </p:txBody>
      </p:sp>
      <p:pic>
        <p:nvPicPr>
          <p:cNvPr id="6" name="Image 0" descr="/home/user/suzuki-ceo/selfcafe-gyomu-deck/assets/logo-green.png">    </p:cNvPr>
          <p:cNvPicPr>
            <a:picLocks noChangeAspect="1"/>
          </p:cNvPicPr>
          <p:nvPr/>
        </p:nvPicPr>
        <p:blipFill>
          <a:blip r:embed="rId1"/>
          <a:stretch>
            <a:fillRect/>
          </a:stretch>
        </p:blipFill>
        <p:spPr>
          <a:xfrm>
            <a:off x="9855403" y="482803"/>
            <a:ext cx="1676095" cy="238658"/>
          </a:xfrm>
          <a:prstGeom prst="rect">
            <a:avLst/>
          </a:prstGeom>
        </p:spPr>
      </p:pic>
      <p:sp>
        <p:nvSpPr>
          <p:cNvPr id="7" name="Text 4"/>
          <p:cNvSpPr/>
          <p:nvPr/>
        </p:nvSpPr>
        <p:spPr>
          <a:xfrm>
            <a:off x="660197" y="6476695"/>
            <a:ext cx="5080406" cy="152705"/>
          </a:xfrm>
          <a:prstGeom prst="rect">
            <a:avLst/>
          </a:prstGeom>
          <a:noFill/>
          <a:ln/>
        </p:spPr>
        <p:txBody>
          <a:bodyPr wrap="square" lIns="0" tIns="0" rIns="0" bIns="0" rtlCol="0" anchor="ctr"/>
          <a:lstStyle/>
          <a:p>
            <a:pPr indent="0" marL="0">
              <a:buNone/>
            </a:pPr>
            <a:r>
              <a:rPr lang="en-US" sz="900" dirty="0">
                <a:solidFill>
                  <a:srgbClr val="A8B0AA"/>
                </a:solidFill>
                <a:latin typeface="Yu Gothic" pitchFamily="34" charset="0"/>
                <a:ea typeface="Yu Gothic" pitchFamily="34" charset="-122"/>
                <a:cs typeface="Yu Gothic" pitchFamily="34" charset="-120"/>
              </a:rPr>
              <a:t>セルフカフェ 業務委託型制度</a:t>
            </a:r>
            <a:endParaRPr lang="en-US" sz="900" dirty="0"/>
          </a:p>
        </p:txBody>
      </p:sp>
      <p:sp>
        <p:nvSpPr>
          <p:cNvPr id="8" name="Text 5"/>
          <p:cNvSpPr/>
          <p:nvPr/>
        </p:nvSpPr>
        <p:spPr>
          <a:xfrm>
            <a:off x="10261397" y="6463894"/>
            <a:ext cx="1270102" cy="152705"/>
          </a:xfrm>
          <a:prstGeom prst="rect">
            <a:avLst/>
          </a:prstGeom>
          <a:noFill/>
          <a:ln/>
        </p:spPr>
        <p:txBody>
          <a:bodyPr wrap="square" lIns="0" tIns="0" rIns="0" bIns="0" rtlCol="0" anchor="ctr"/>
          <a:lstStyle/>
          <a:p>
            <a:pPr algn="r" indent="0" marL="0">
              <a:buNone/>
            </a:pPr>
            <a:r>
              <a:rPr lang="en-US" sz="1000" b="1" dirty="0">
                <a:solidFill>
                  <a:srgbClr val="7E8882"/>
                </a:solidFill>
                <a:latin typeface="Arial" pitchFamily="34" charset="0"/>
                <a:ea typeface="Arial" pitchFamily="34" charset="-122"/>
                <a:cs typeface="Arial" pitchFamily="34" charset="-120"/>
              </a:rPr>
              <a:t>07</a:t>
            </a:r>
            <a:endParaRPr lang="en-US" sz="1000" dirty="0"/>
          </a:p>
        </p:txBody>
      </p:sp>
      <p:sp>
        <p:nvSpPr>
          <p:cNvPr id="9" name="Shape 6"/>
          <p:cNvSpPr/>
          <p:nvPr/>
        </p:nvSpPr>
        <p:spPr>
          <a:xfrm>
            <a:off x="660197" y="1651406"/>
            <a:ext cx="3453079" cy="2395728"/>
          </a:xfrm>
          <a:prstGeom prst="roundRect">
            <a:avLst>
              <a:gd name="adj" fmla="val 2290"/>
            </a:avLst>
          </a:prstGeom>
          <a:solidFill>
            <a:srgbClr val="FFFFFF"/>
          </a:solidFill>
          <a:ln w="9525">
            <a:solidFill>
              <a:srgbClr val="EFEAE0"/>
            </a:solidFill>
            <a:prstDash val="solid"/>
          </a:ln>
        </p:spPr>
      </p:sp>
      <p:sp>
        <p:nvSpPr>
          <p:cNvPr id="10" name="Text 7"/>
          <p:cNvSpPr/>
          <p:nvPr/>
        </p:nvSpPr>
        <p:spPr>
          <a:xfrm>
            <a:off x="934517" y="1925726"/>
            <a:ext cx="1828800" cy="164592"/>
          </a:xfrm>
          <a:prstGeom prst="rect">
            <a:avLst/>
          </a:prstGeom>
          <a:noFill/>
          <a:ln/>
        </p:spPr>
        <p:txBody>
          <a:bodyPr wrap="square" lIns="0" tIns="0" rIns="0" bIns="0" rtlCol="0" anchor="ctr"/>
          <a:lstStyle/>
          <a:p>
            <a:pPr indent="0" marL="0">
              <a:buNone/>
            </a:pPr>
            <a:r>
              <a:rPr lang="en-US" sz="900" b="1" spc="150" kern="0" dirty="0">
                <a:solidFill>
                  <a:srgbClr val="A8761F"/>
                </a:solidFill>
                <a:latin typeface="Arial" pitchFamily="34" charset="0"/>
                <a:ea typeface="Arial" pitchFamily="34" charset="-122"/>
                <a:cs typeface="Arial" pitchFamily="34" charset="-120"/>
              </a:rPr>
              <a:t>USE 01</a:t>
            </a:r>
            <a:endParaRPr lang="en-US" sz="900" dirty="0"/>
          </a:p>
        </p:txBody>
      </p:sp>
      <p:pic>
        <p:nvPicPr>
          <p:cNvPr id="11" name="Image 1" descr="/home/user/suzuki-ceo/selfcafe-gyomu-deck/assets/icons/LuUsers-green.png">    </p:cNvPr>
          <p:cNvPicPr>
            <a:picLocks noChangeAspect="1"/>
          </p:cNvPicPr>
          <p:nvPr/>
        </p:nvPicPr>
        <p:blipFill>
          <a:blip r:embed="rId2"/>
          <a:stretch>
            <a:fillRect/>
          </a:stretch>
        </p:blipFill>
        <p:spPr>
          <a:xfrm>
            <a:off x="3345180" y="1889150"/>
            <a:ext cx="384048" cy="384048"/>
          </a:xfrm>
          <a:prstGeom prst="rect">
            <a:avLst/>
          </a:prstGeom>
        </p:spPr>
      </p:pic>
      <p:sp>
        <p:nvSpPr>
          <p:cNvPr id="12" name="Text 8"/>
          <p:cNvSpPr/>
          <p:nvPr/>
        </p:nvSpPr>
        <p:spPr>
          <a:xfrm>
            <a:off x="934517" y="2181758"/>
            <a:ext cx="2904439" cy="384048"/>
          </a:xfrm>
          <a:prstGeom prst="rect">
            <a:avLst/>
          </a:prstGeom>
          <a:noFill/>
          <a:ln/>
        </p:spPr>
        <p:txBody>
          <a:bodyPr wrap="square" lIns="0" tIns="0" rIns="0" bIns="0" rtlCol="0" anchor="ctr"/>
          <a:lstStyle/>
          <a:p>
            <a:pPr indent="0" marL="0">
              <a:buNone/>
            </a:pPr>
            <a:r>
              <a:rPr lang="en-US" sz="1550" b="1" dirty="0">
                <a:solidFill>
                  <a:srgbClr val="0A3D23"/>
                </a:solidFill>
                <a:latin typeface="Yu Gothic" pitchFamily="34" charset="0"/>
                <a:ea typeface="Yu Gothic" pitchFamily="34" charset="-122"/>
                <a:cs typeface="Yu Gothic" pitchFamily="34" charset="-120"/>
              </a:rPr>
              <a:t>まちづくり・地域コミュニティ</a:t>
            </a:r>
            <a:endParaRPr lang="en-US" sz="1550" dirty="0"/>
          </a:p>
        </p:txBody>
      </p:sp>
      <p:sp>
        <p:nvSpPr>
          <p:cNvPr id="13" name="Text 9"/>
          <p:cNvSpPr/>
          <p:nvPr/>
        </p:nvSpPr>
        <p:spPr>
          <a:xfrm>
            <a:off x="934517" y="2620670"/>
            <a:ext cx="2904439" cy="512064"/>
          </a:xfrm>
          <a:prstGeom prst="rect">
            <a:avLst/>
          </a:prstGeom>
          <a:noFill/>
          <a:ln/>
        </p:spPr>
        <p:txBody>
          <a:bodyPr wrap="square" lIns="0" tIns="0" rIns="0" bIns="0" rtlCol="0" anchor="t"/>
          <a:lstStyle/>
          <a:p>
            <a:pPr indent="0" marL="0">
              <a:lnSpc>
                <a:spcPct val="140000"/>
              </a:lnSpc>
              <a:buNone/>
            </a:pPr>
            <a:r>
              <a:rPr lang="en-US" sz="1050" dirty="0">
                <a:solidFill>
                  <a:srgbClr val="4B5550"/>
                </a:solidFill>
                <a:latin typeface="Yu Gothic" pitchFamily="34" charset="0"/>
                <a:ea typeface="Yu Gothic" pitchFamily="34" charset="-122"/>
                <a:cs typeface="Yu Gothic" pitchFamily="34" charset="-120"/>
              </a:rPr>
              <a:t>「人が集まる場所」として、地域の拠点になります。</a:t>
            </a:r>
            <a:endParaRPr lang="en-US" sz="1050" dirty="0"/>
          </a:p>
        </p:txBody>
      </p:sp>
      <p:sp>
        <p:nvSpPr>
          <p:cNvPr id="14" name="Shape 10"/>
          <p:cNvSpPr/>
          <p:nvPr/>
        </p:nvSpPr>
        <p:spPr>
          <a:xfrm>
            <a:off x="934517" y="3205886"/>
            <a:ext cx="2904439" cy="10058"/>
          </a:xfrm>
          <a:prstGeom prst="rect">
            <a:avLst/>
          </a:prstGeom>
          <a:solidFill>
            <a:srgbClr val="EFEAE0"/>
          </a:solidFill>
          <a:ln/>
        </p:spPr>
      </p:sp>
      <p:pic>
        <p:nvPicPr>
          <p:cNvPr id="15" name="Image 2" descr="/home/user/suzuki-ceo/selfcafe-gyomu-deck/assets/icons/LuCheck-green.png">    </p:cNvPr>
          <p:cNvPicPr>
            <a:picLocks noChangeAspect="1"/>
          </p:cNvPicPr>
          <p:nvPr/>
        </p:nvPicPr>
        <p:blipFill>
          <a:blip r:embed="rId3"/>
          <a:stretch>
            <a:fillRect/>
          </a:stretch>
        </p:blipFill>
        <p:spPr>
          <a:xfrm>
            <a:off x="952805" y="3370478"/>
            <a:ext cx="173736" cy="173736"/>
          </a:xfrm>
          <a:prstGeom prst="rect">
            <a:avLst/>
          </a:prstGeom>
        </p:spPr>
      </p:pic>
      <p:sp>
        <p:nvSpPr>
          <p:cNvPr id="16" name="Text 11"/>
          <p:cNvSpPr/>
          <p:nvPr/>
        </p:nvSpPr>
        <p:spPr>
          <a:xfrm>
            <a:off x="1208837" y="3333902"/>
            <a:ext cx="2630119" cy="256032"/>
          </a:xfrm>
          <a:prstGeom prst="rect">
            <a:avLst/>
          </a:prstGeom>
          <a:noFill/>
          <a:ln/>
        </p:spPr>
        <p:txBody>
          <a:bodyPr wrap="square" lIns="0" tIns="0" rIns="0" bIns="0" rtlCol="0" anchor="ctr"/>
          <a:lstStyle/>
          <a:p>
            <a:pPr indent="0" marL="0">
              <a:buNone/>
            </a:pPr>
            <a:r>
              <a:rPr lang="en-US" sz="1000" dirty="0">
                <a:solidFill>
                  <a:srgbClr val="0A3D23"/>
                </a:solidFill>
                <a:latin typeface="Yu Gothic" pitchFamily="34" charset="0"/>
                <a:ea typeface="Yu Gothic" pitchFamily="34" charset="-122"/>
                <a:cs typeface="Yu Gothic" pitchFamily="34" charset="-120"/>
              </a:rPr>
              <a:t>世代を越えて人が集まる常設スペース</a:t>
            </a:r>
            <a:endParaRPr lang="en-US" sz="1000" dirty="0"/>
          </a:p>
        </p:txBody>
      </p:sp>
      <p:pic>
        <p:nvPicPr>
          <p:cNvPr id="17" name="Image 3" descr="/home/user/suzuki-ceo/selfcafe-gyomu-deck/assets/icons/LuCheck-green.png">    </p:cNvPr>
          <p:cNvPicPr>
            <a:picLocks noChangeAspect="1"/>
          </p:cNvPicPr>
          <p:nvPr/>
        </p:nvPicPr>
        <p:blipFill>
          <a:blip r:embed="rId4"/>
          <a:stretch>
            <a:fillRect/>
          </a:stretch>
        </p:blipFill>
        <p:spPr>
          <a:xfrm>
            <a:off x="952805" y="3663086"/>
            <a:ext cx="173736" cy="173736"/>
          </a:xfrm>
          <a:prstGeom prst="rect">
            <a:avLst/>
          </a:prstGeom>
        </p:spPr>
      </p:pic>
      <p:sp>
        <p:nvSpPr>
          <p:cNvPr id="18" name="Text 12"/>
          <p:cNvSpPr/>
          <p:nvPr/>
        </p:nvSpPr>
        <p:spPr>
          <a:xfrm>
            <a:off x="1208837" y="3626510"/>
            <a:ext cx="2630119" cy="256032"/>
          </a:xfrm>
          <a:prstGeom prst="rect">
            <a:avLst/>
          </a:prstGeom>
          <a:noFill/>
          <a:ln/>
        </p:spPr>
        <p:txBody>
          <a:bodyPr wrap="square" lIns="0" tIns="0" rIns="0" bIns="0" rtlCol="0" anchor="ctr"/>
          <a:lstStyle/>
          <a:p>
            <a:pPr indent="0" marL="0">
              <a:buNone/>
            </a:pPr>
            <a:r>
              <a:rPr lang="en-US" sz="1000" dirty="0">
                <a:solidFill>
                  <a:srgbClr val="0A3D23"/>
                </a:solidFill>
                <a:latin typeface="Yu Gothic" pitchFamily="34" charset="0"/>
                <a:ea typeface="Yu Gothic" pitchFamily="34" charset="-122"/>
                <a:cs typeface="Yu Gothic" pitchFamily="34" charset="-120"/>
              </a:rPr>
              <a:t>自治体・地域団体との連携の受け皿に</a:t>
            </a:r>
            <a:endParaRPr lang="en-US" sz="1000" dirty="0"/>
          </a:p>
        </p:txBody>
      </p:sp>
      <p:sp>
        <p:nvSpPr>
          <p:cNvPr id="19" name="Shape 13"/>
          <p:cNvSpPr/>
          <p:nvPr/>
        </p:nvSpPr>
        <p:spPr>
          <a:xfrm>
            <a:off x="4369308" y="1651406"/>
            <a:ext cx="3453079" cy="2395728"/>
          </a:xfrm>
          <a:prstGeom prst="roundRect">
            <a:avLst>
              <a:gd name="adj" fmla="val 2290"/>
            </a:avLst>
          </a:prstGeom>
          <a:solidFill>
            <a:srgbClr val="FFFFFF"/>
          </a:solidFill>
          <a:ln w="9525">
            <a:solidFill>
              <a:srgbClr val="EFEAE0"/>
            </a:solidFill>
            <a:prstDash val="solid"/>
          </a:ln>
        </p:spPr>
      </p:sp>
      <p:sp>
        <p:nvSpPr>
          <p:cNvPr id="20" name="Text 14"/>
          <p:cNvSpPr/>
          <p:nvPr/>
        </p:nvSpPr>
        <p:spPr>
          <a:xfrm>
            <a:off x="4643628" y="1925726"/>
            <a:ext cx="1828800" cy="164592"/>
          </a:xfrm>
          <a:prstGeom prst="rect">
            <a:avLst/>
          </a:prstGeom>
          <a:noFill/>
          <a:ln/>
        </p:spPr>
        <p:txBody>
          <a:bodyPr wrap="square" lIns="0" tIns="0" rIns="0" bIns="0" rtlCol="0" anchor="ctr"/>
          <a:lstStyle/>
          <a:p>
            <a:pPr indent="0" marL="0">
              <a:buNone/>
            </a:pPr>
            <a:r>
              <a:rPr lang="en-US" sz="900" b="1" spc="150" kern="0" dirty="0">
                <a:solidFill>
                  <a:srgbClr val="A8761F"/>
                </a:solidFill>
                <a:latin typeface="Arial" pitchFamily="34" charset="0"/>
                <a:ea typeface="Arial" pitchFamily="34" charset="-122"/>
                <a:cs typeface="Arial" pitchFamily="34" charset="-120"/>
              </a:rPr>
              <a:t>USE 02</a:t>
            </a:r>
            <a:endParaRPr lang="en-US" sz="900" dirty="0"/>
          </a:p>
        </p:txBody>
      </p:sp>
      <p:pic>
        <p:nvPicPr>
          <p:cNvPr id="21" name="Image 4" descr="/home/user/suzuki-ceo/selfcafe-gyomu-deck/assets/icons/LuGraduationCap-green.png">    </p:cNvPr>
          <p:cNvPicPr>
            <a:picLocks noChangeAspect="1"/>
          </p:cNvPicPr>
          <p:nvPr/>
        </p:nvPicPr>
        <p:blipFill>
          <a:blip r:embed="rId5"/>
          <a:stretch>
            <a:fillRect/>
          </a:stretch>
        </p:blipFill>
        <p:spPr>
          <a:xfrm>
            <a:off x="7054291" y="1889150"/>
            <a:ext cx="384048" cy="384048"/>
          </a:xfrm>
          <a:prstGeom prst="rect">
            <a:avLst/>
          </a:prstGeom>
        </p:spPr>
      </p:pic>
      <p:sp>
        <p:nvSpPr>
          <p:cNvPr id="22" name="Text 15"/>
          <p:cNvSpPr/>
          <p:nvPr/>
        </p:nvSpPr>
        <p:spPr>
          <a:xfrm>
            <a:off x="4643628" y="2181758"/>
            <a:ext cx="2904439" cy="384048"/>
          </a:xfrm>
          <a:prstGeom prst="rect">
            <a:avLst/>
          </a:prstGeom>
          <a:noFill/>
          <a:ln/>
        </p:spPr>
        <p:txBody>
          <a:bodyPr wrap="square" lIns="0" tIns="0" rIns="0" bIns="0" rtlCol="0" anchor="ctr"/>
          <a:lstStyle/>
          <a:p>
            <a:pPr indent="0" marL="0">
              <a:buNone/>
            </a:pPr>
            <a:r>
              <a:rPr lang="en-US" sz="1550" b="1" dirty="0">
                <a:solidFill>
                  <a:srgbClr val="0A3D23"/>
                </a:solidFill>
                <a:latin typeface="Yu Gothic" pitchFamily="34" charset="0"/>
                <a:ea typeface="Yu Gothic" pitchFamily="34" charset="-122"/>
                <a:cs typeface="Yu Gothic" pitchFamily="34" charset="-120"/>
              </a:rPr>
              <a:t>セミナー・イベント会場</a:t>
            </a:r>
            <a:endParaRPr lang="en-US" sz="1550" dirty="0"/>
          </a:p>
        </p:txBody>
      </p:sp>
      <p:sp>
        <p:nvSpPr>
          <p:cNvPr id="23" name="Text 16"/>
          <p:cNvSpPr/>
          <p:nvPr/>
        </p:nvSpPr>
        <p:spPr>
          <a:xfrm>
            <a:off x="4643628" y="2620670"/>
            <a:ext cx="2904439" cy="512064"/>
          </a:xfrm>
          <a:prstGeom prst="rect">
            <a:avLst/>
          </a:prstGeom>
          <a:noFill/>
          <a:ln/>
        </p:spPr>
        <p:txBody>
          <a:bodyPr wrap="square" lIns="0" tIns="0" rIns="0" bIns="0" rtlCol="0" anchor="t"/>
          <a:lstStyle/>
          <a:p>
            <a:pPr indent="0" marL="0">
              <a:lnSpc>
                <a:spcPct val="140000"/>
              </a:lnSpc>
              <a:buNone/>
            </a:pPr>
            <a:r>
              <a:rPr lang="en-US" sz="1050" dirty="0">
                <a:solidFill>
                  <a:srgbClr val="4B5550"/>
                </a:solidFill>
                <a:latin typeface="Yu Gothic" pitchFamily="34" charset="0"/>
                <a:ea typeface="Yu Gothic" pitchFamily="34" charset="-122"/>
                <a:cs typeface="Yu Gothic" pitchFamily="34" charset="-120"/>
              </a:rPr>
              <a:t>営業時間外や一部区画を、貸しスペースとして二次活用できます。</a:t>
            </a:r>
            <a:endParaRPr lang="en-US" sz="1050" dirty="0"/>
          </a:p>
        </p:txBody>
      </p:sp>
      <p:sp>
        <p:nvSpPr>
          <p:cNvPr id="24" name="Shape 17"/>
          <p:cNvSpPr/>
          <p:nvPr/>
        </p:nvSpPr>
        <p:spPr>
          <a:xfrm>
            <a:off x="4643628" y="3205886"/>
            <a:ext cx="2904439" cy="10058"/>
          </a:xfrm>
          <a:prstGeom prst="rect">
            <a:avLst/>
          </a:prstGeom>
          <a:solidFill>
            <a:srgbClr val="EFEAE0"/>
          </a:solidFill>
          <a:ln/>
        </p:spPr>
      </p:sp>
      <p:pic>
        <p:nvPicPr>
          <p:cNvPr id="25" name="Image 5" descr="/home/user/suzuki-ceo/selfcafe-gyomu-deck/assets/icons/LuCheck-green.png">    </p:cNvPr>
          <p:cNvPicPr>
            <a:picLocks noChangeAspect="1"/>
          </p:cNvPicPr>
          <p:nvPr/>
        </p:nvPicPr>
        <p:blipFill>
          <a:blip r:embed="rId6"/>
          <a:stretch>
            <a:fillRect/>
          </a:stretch>
        </p:blipFill>
        <p:spPr>
          <a:xfrm>
            <a:off x="4661916" y="3370478"/>
            <a:ext cx="173736" cy="173736"/>
          </a:xfrm>
          <a:prstGeom prst="rect">
            <a:avLst/>
          </a:prstGeom>
        </p:spPr>
      </p:pic>
      <p:sp>
        <p:nvSpPr>
          <p:cNvPr id="26" name="Text 18"/>
          <p:cNvSpPr/>
          <p:nvPr/>
        </p:nvSpPr>
        <p:spPr>
          <a:xfrm>
            <a:off x="4917948" y="3333902"/>
            <a:ext cx="2630119" cy="256032"/>
          </a:xfrm>
          <a:prstGeom prst="rect">
            <a:avLst/>
          </a:prstGeom>
          <a:noFill/>
          <a:ln/>
        </p:spPr>
        <p:txBody>
          <a:bodyPr wrap="square" lIns="0" tIns="0" rIns="0" bIns="0" rtlCol="0" anchor="ctr"/>
          <a:lstStyle/>
          <a:p>
            <a:pPr indent="0" marL="0">
              <a:buNone/>
            </a:pPr>
            <a:r>
              <a:rPr lang="en-US" sz="1000" dirty="0">
                <a:solidFill>
                  <a:srgbClr val="0A3D23"/>
                </a:solidFill>
                <a:latin typeface="Yu Gothic" pitchFamily="34" charset="0"/>
                <a:ea typeface="Yu Gothic" pitchFamily="34" charset="-122"/>
                <a:cs typeface="Yu Gothic" pitchFamily="34" charset="-120"/>
              </a:rPr>
              <a:t>勉強会・セミナー・ワークショップ</a:t>
            </a:r>
            <a:endParaRPr lang="en-US" sz="1000" dirty="0"/>
          </a:p>
        </p:txBody>
      </p:sp>
      <p:pic>
        <p:nvPicPr>
          <p:cNvPr id="27" name="Image 6" descr="/home/user/suzuki-ceo/selfcafe-gyomu-deck/assets/icons/LuCheck-green.png">    </p:cNvPr>
          <p:cNvPicPr>
            <a:picLocks noChangeAspect="1"/>
          </p:cNvPicPr>
          <p:nvPr/>
        </p:nvPicPr>
        <p:blipFill>
          <a:blip r:embed="rId7"/>
          <a:stretch>
            <a:fillRect/>
          </a:stretch>
        </p:blipFill>
        <p:spPr>
          <a:xfrm>
            <a:off x="4661916" y="3663086"/>
            <a:ext cx="173736" cy="173736"/>
          </a:xfrm>
          <a:prstGeom prst="rect">
            <a:avLst/>
          </a:prstGeom>
        </p:spPr>
      </p:pic>
      <p:sp>
        <p:nvSpPr>
          <p:cNvPr id="28" name="Text 19"/>
          <p:cNvSpPr/>
          <p:nvPr/>
        </p:nvSpPr>
        <p:spPr>
          <a:xfrm>
            <a:off x="4917948" y="3626510"/>
            <a:ext cx="2630119" cy="256032"/>
          </a:xfrm>
          <a:prstGeom prst="rect">
            <a:avLst/>
          </a:prstGeom>
          <a:noFill/>
          <a:ln/>
        </p:spPr>
        <p:txBody>
          <a:bodyPr wrap="square" lIns="0" tIns="0" rIns="0" bIns="0" rtlCol="0" anchor="ctr"/>
          <a:lstStyle/>
          <a:p>
            <a:pPr indent="0" marL="0">
              <a:buNone/>
            </a:pPr>
            <a:r>
              <a:rPr lang="en-US" sz="1000" dirty="0">
                <a:solidFill>
                  <a:srgbClr val="0A3D23"/>
                </a:solidFill>
                <a:latin typeface="Yu Gothic" pitchFamily="34" charset="0"/>
                <a:ea typeface="Yu Gothic" pitchFamily="34" charset="-122"/>
                <a:cs typeface="Yu Gothic" pitchFamily="34" charset="-120"/>
              </a:rPr>
              <a:t>席・Wi-Fi・電源をそのまま使える</a:t>
            </a:r>
            <a:endParaRPr lang="en-US" sz="1000" dirty="0"/>
          </a:p>
        </p:txBody>
      </p:sp>
      <p:sp>
        <p:nvSpPr>
          <p:cNvPr id="29" name="Shape 20"/>
          <p:cNvSpPr/>
          <p:nvPr/>
        </p:nvSpPr>
        <p:spPr>
          <a:xfrm>
            <a:off x="8078419" y="1651406"/>
            <a:ext cx="3453079" cy="2395728"/>
          </a:xfrm>
          <a:prstGeom prst="roundRect">
            <a:avLst>
              <a:gd name="adj" fmla="val 2290"/>
            </a:avLst>
          </a:prstGeom>
          <a:solidFill>
            <a:srgbClr val="FFFFFF"/>
          </a:solidFill>
          <a:ln w="9525">
            <a:solidFill>
              <a:srgbClr val="EFEAE0"/>
            </a:solidFill>
            <a:prstDash val="solid"/>
          </a:ln>
        </p:spPr>
      </p:sp>
      <p:sp>
        <p:nvSpPr>
          <p:cNvPr id="30" name="Text 21"/>
          <p:cNvSpPr/>
          <p:nvPr/>
        </p:nvSpPr>
        <p:spPr>
          <a:xfrm>
            <a:off x="8352739" y="1925726"/>
            <a:ext cx="1828800" cy="164592"/>
          </a:xfrm>
          <a:prstGeom prst="rect">
            <a:avLst/>
          </a:prstGeom>
          <a:noFill/>
          <a:ln/>
        </p:spPr>
        <p:txBody>
          <a:bodyPr wrap="square" lIns="0" tIns="0" rIns="0" bIns="0" rtlCol="0" anchor="ctr"/>
          <a:lstStyle/>
          <a:p>
            <a:pPr indent="0" marL="0">
              <a:buNone/>
            </a:pPr>
            <a:r>
              <a:rPr lang="en-US" sz="900" b="1" spc="150" kern="0" dirty="0">
                <a:solidFill>
                  <a:srgbClr val="A8761F"/>
                </a:solidFill>
                <a:latin typeface="Arial" pitchFamily="34" charset="0"/>
                <a:ea typeface="Arial" pitchFamily="34" charset="-122"/>
                <a:cs typeface="Arial" pitchFamily="34" charset="-120"/>
              </a:rPr>
              <a:t>USE 03</a:t>
            </a:r>
            <a:endParaRPr lang="en-US" sz="900" dirty="0"/>
          </a:p>
        </p:txBody>
      </p:sp>
      <p:pic>
        <p:nvPicPr>
          <p:cNvPr id="31" name="Image 7" descr="/home/user/suzuki-ceo/selfcafe-gyomu-deck/assets/icons/LuShoppingBag-green.png">    </p:cNvPr>
          <p:cNvPicPr>
            <a:picLocks noChangeAspect="1"/>
          </p:cNvPicPr>
          <p:nvPr/>
        </p:nvPicPr>
        <p:blipFill>
          <a:blip r:embed="rId8"/>
          <a:stretch>
            <a:fillRect/>
          </a:stretch>
        </p:blipFill>
        <p:spPr>
          <a:xfrm>
            <a:off x="10763402" y="1889150"/>
            <a:ext cx="384048" cy="384048"/>
          </a:xfrm>
          <a:prstGeom prst="rect">
            <a:avLst/>
          </a:prstGeom>
        </p:spPr>
      </p:pic>
      <p:sp>
        <p:nvSpPr>
          <p:cNvPr id="32" name="Text 22"/>
          <p:cNvSpPr/>
          <p:nvPr/>
        </p:nvSpPr>
        <p:spPr>
          <a:xfrm>
            <a:off x="8352739" y="2181758"/>
            <a:ext cx="2904439" cy="384048"/>
          </a:xfrm>
          <a:prstGeom prst="rect">
            <a:avLst/>
          </a:prstGeom>
          <a:noFill/>
          <a:ln/>
        </p:spPr>
        <p:txBody>
          <a:bodyPr wrap="square" lIns="0" tIns="0" rIns="0" bIns="0" rtlCol="0" anchor="ctr"/>
          <a:lstStyle/>
          <a:p>
            <a:pPr indent="0" marL="0">
              <a:buNone/>
            </a:pPr>
            <a:r>
              <a:rPr lang="en-US" sz="1550" b="1" dirty="0">
                <a:solidFill>
                  <a:srgbClr val="0A3D23"/>
                </a:solidFill>
                <a:latin typeface="Yu Gothic" pitchFamily="34" charset="0"/>
                <a:ea typeface="Yu Gothic" pitchFamily="34" charset="-122"/>
                <a:cs typeface="Yu Gothic" pitchFamily="34" charset="-120"/>
              </a:rPr>
              <a:t>物販スペース</a:t>
            </a:r>
            <a:endParaRPr lang="en-US" sz="1550" dirty="0"/>
          </a:p>
        </p:txBody>
      </p:sp>
      <p:sp>
        <p:nvSpPr>
          <p:cNvPr id="33" name="Text 23"/>
          <p:cNvSpPr/>
          <p:nvPr/>
        </p:nvSpPr>
        <p:spPr>
          <a:xfrm>
            <a:off x="8352739" y="2620670"/>
            <a:ext cx="2904439" cy="512064"/>
          </a:xfrm>
          <a:prstGeom prst="rect">
            <a:avLst/>
          </a:prstGeom>
          <a:noFill/>
          <a:ln/>
        </p:spPr>
        <p:txBody>
          <a:bodyPr wrap="square" lIns="0" tIns="0" rIns="0" bIns="0" rtlCol="0" anchor="t"/>
          <a:lstStyle/>
          <a:p>
            <a:pPr indent="0" marL="0">
              <a:lnSpc>
                <a:spcPct val="140000"/>
              </a:lnSpc>
              <a:buNone/>
            </a:pPr>
            <a:r>
              <a:rPr lang="en-US" sz="1050" dirty="0">
                <a:solidFill>
                  <a:srgbClr val="4B5550"/>
                </a:solidFill>
                <a:latin typeface="Yu Gothic" pitchFamily="34" charset="0"/>
                <a:ea typeface="Yu Gothic" pitchFamily="34" charset="-122"/>
                <a:cs typeface="Yu Gothic" pitchFamily="34" charset="-120"/>
              </a:rPr>
              <a:t>棚や壁面を使い、物販の売り場としても活用できます。</a:t>
            </a:r>
            <a:endParaRPr lang="en-US" sz="1050" dirty="0"/>
          </a:p>
        </p:txBody>
      </p:sp>
      <p:sp>
        <p:nvSpPr>
          <p:cNvPr id="34" name="Shape 24"/>
          <p:cNvSpPr/>
          <p:nvPr/>
        </p:nvSpPr>
        <p:spPr>
          <a:xfrm>
            <a:off x="8352739" y="3205886"/>
            <a:ext cx="2904439" cy="10058"/>
          </a:xfrm>
          <a:prstGeom prst="rect">
            <a:avLst/>
          </a:prstGeom>
          <a:solidFill>
            <a:srgbClr val="EFEAE0"/>
          </a:solidFill>
          <a:ln/>
        </p:spPr>
      </p:sp>
      <p:pic>
        <p:nvPicPr>
          <p:cNvPr id="35" name="Image 8" descr="/home/user/suzuki-ceo/selfcafe-gyomu-deck/assets/icons/LuCheck-green.png">    </p:cNvPr>
          <p:cNvPicPr>
            <a:picLocks noChangeAspect="1"/>
          </p:cNvPicPr>
          <p:nvPr/>
        </p:nvPicPr>
        <p:blipFill>
          <a:blip r:embed="rId9"/>
          <a:stretch>
            <a:fillRect/>
          </a:stretch>
        </p:blipFill>
        <p:spPr>
          <a:xfrm>
            <a:off x="8371027" y="3370478"/>
            <a:ext cx="173736" cy="173736"/>
          </a:xfrm>
          <a:prstGeom prst="rect">
            <a:avLst/>
          </a:prstGeom>
        </p:spPr>
      </p:pic>
      <p:sp>
        <p:nvSpPr>
          <p:cNvPr id="36" name="Text 25"/>
          <p:cNvSpPr/>
          <p:nvPr/>
        </p:nvSpPr>
        <p:spPr>
          <a:xfrm>
            <a:off x="8627059" y="3333902"/>
            <a:ext cx="2630119" cy="256032"/>
          </a:xfrm>
          <a:prstGeom prst="rect">
            <a:avLst/>
          </a:prstGeom>
          <a:noFill/>
          <a:ln/>
        </p:spPr>
        <p:txBody>
          <a:bodyPr wrap="square" lIns="0" tIns="0" rIns="0" bIns="0" rtlCol="0" anchor="ctr"/>
          <a:lstStyle/>
          <a:p>
            <a:pPr indent="0" marL="0">
              <a:buNone/>
            </a:pPr>
            <a:r>
              <a:rPr lang="en-US" sz="1000" dirty="0">
                <a:solidFill>
                  <a:srgbClr val="0A3D23"/>
                </a:solidFill>
                <a:latin typeface="Yu Gothic" pitchFamily="34" charset="0"/>
                <a:ea typeface="Yu Gothic" pitchFamily="34" charset="-122"/>
                <a:cs typeface="Yu Gothic" pitchFamily="34" charset="-120"/>
              </a:rPr>
              <a:t>地域産品・書籍・自社商品の販売</a:t>
            </a:r>
            <a:endParaRPr lang="en-US" sz="1000" dirty="0"/>
          </a:p>
        </p:txBody>
      </p:sp>
      <p:pic>
        <p:nvPicPr>
          <p:cNvPr id="37" name="Image 9" descr="/home/user/suzuki-ceo/selfcafe-gyomu-deck/assets/icons/LuCheck-green.png">    </p:cNvPr>
          <p:cNvPicPr>
            <a:picLocks noChangeAspect="1"/>
          </p:cNvPicPr>
          <p:nvPr/>
        </p:nvPicPr>
        <p:blipFill>
          <a:blip r:embed="rId10"/>
          <a:stretch>
            <a:fillRect/>
          </a:stretch>
        </p:blipFill>
        <p:spPr>
          <a:xfrm>
            <a:off x="8371027" y="3663086"/>
            <a:ext cx="173736" cy="173736"/>
          </a:xfrm>
          <a:prstGeom prst="rect">
            <a:avLst/>
          </a:prstGeom>
        </p:spPr>
      </p:pic>
      <p:sp>
        <p:nvSpPr>
          <p:cNvPr id="38" name="Text 26"/>
          <p:cNvSpPr/>
          <p:nvPr/>
        </p:nvSpPr>
        <p:spPr>
          <a:xfrm>
            <a:off x="8627059" y="3626510"/>
            <a:ext cx="2630119" cy="256032"/>
          </a:xfrm>
          <a:prstGeom prst="rect">
            <a:avLst/>
          </a:prstGeom>
          <a:noFill/>
          <a:ln/>
        </p:spPr>
        <p:txBody>
          <a:bodyPr wrap="square" lIns="0" tIns="0" rIns="0" bIns="0" rtlCol="0" anchor="ctr"/>
          <a:lstStyle/>
          <a:p>
            <a:pPr indent="0" marL="0">
              <a:buNone/>
            </a:pPr>
            <a:r>
              <a:rPr lang="en-US" sz="1000" dirty="0">
                <a:solidFill>
                  <a:srgbClr val="0A3D23"/>
                </a:solidFill>
                <a:latin typeface="Yu Gothic" pitchFamily="34" charset="0"/>
                <a:ea typeface="Yu Gothic" pitchFamily="34" charset="-122"/>
                <a:cs typeface="Yu Gothic" pitchFamily="34" charset="-120"/>
              </a:rPr>
              <a:t>滞在が長いぶん、商品が目に触れる</a:t>
            </a:r>
            <a:endParaRPr lang="en-US" sz="1000" dirty="0"/>
          </a:p>
        </p:txBody>
      </p:sp>
      <p:sp>
        <p:nvSpPr>
          <p:cNvPr id="39" name="Shape 27"/>
          <p:cNvSpPr/>
          <p:nvPr/>
        </p:nvSpPr>
        <p:spPr>
          <a:xfrm>
            <a:off x="660197" y="4266590"/>
            <a:ext cx="10871302" cy="1773936"/>
          </a:xfrm>
          <a:prstGeom prst="roundRect">
            <a:avLst>
              <a:gd name="adj" fmla="val 3093"/>
            </a:avLst>
          </a:prstGeom>
          <a:solidFill>
            <a:srgbClr val="0C5230"/>
          </a:solidFill>
          <a:ln/>
        </p:spPr>
      </p:sp>
      <p:sp>
        <p:nvSpPr>
          <p:cNvPr id="40" name="Text 28"/>
          <p:cNvSpPr/>
          <p:nvPr/>
        </p:nvSpPr>
        <p:spPr>
          <a:xfrm>
            <a:off x="989381" y="4504334"/>
            <a:ext cx="2194560" cy="164592"/>
          </a:xfrm>
          <a:prstGeom prst="rect">
            <a:avLst/>
          </a:prstGeom>
          <a:noFill/>
          <a:ln/>
        </p:spPr>
        <p:txBody>
          <a:bodyPr wrap="square" lIns="0" tIns="0" rIns="0" bIns="0" rtlCol="0" anchor="ctr"/>
          <a:lstStyle/>
          <a:p>
            <a:pPr indent="0" marL="0">
              <a:buNone/>
            </a:pPr>
            <a:r>
              <a:rPr lang="en-US" sz="900" b="1" spc="150" kern="0" dirty="0">
                <a:solidFill>
                  <a:srgbClr val="8CC5A5"/>
                </a:solidFill>
                <a:latin typeface="Arial" pitchFamily="34" charset="0"/>
                <a:ea typeface="Arial" pitchFamily="34" charset="-122"/>
                <a:cs typeface="Arial" pitchFamily="34" charset="-120"/>
              </a:rPr>
              <a:t>LOCAL ADVANTAGE</a:t>
            </a:r>
            <a:endParaRPr lang="en-US" sz="900" dirty="0"/>
          </a:p>
        </p:txBody>
      </p:sp>
      <p:sp>
        <p:nvSpPr>
          <p:cNvPr id="41" name="Text 29"/>
          <p:cNvSpPr/>
          <p:nvPr/>
        </p:nvSpPr>
        <p:spPr>
          <a:xfrm>
            <a:off x="989381" y="4778654"/>
            <a:ext cx="5852160" cy="457200"/>
          </a:xfrm>
          <a:prstGeom prst="rect">
            <a:avLst/>
          </a:prstGeom>
          <a:noFill/>
          <a:ln/>
        </p:spPr>
        <p:txBody>
          <a:bodyPr wrap="square" lIns="0" tIns="0" rIns="0" bIns="0" rtlCol="0" anchor="ctr"/>
          <a:lstStyle/>
          <a:p>
            <a:pPr indent="0" marL="0">
              <a:buNone/>
            </a:pPr>
            <a:r>
              <a:rPr lang="en-US" sz="2200" b="1" dirty="0">
                <a:solidFill>
                  <a:srgbClr val="FFFFFF"/>
                </a:solidFill>
                <a:latin typeface="Yu Gothic" pitchFamily="34" charset="0"/>
                <a:ea typeface="Yu Gothic" pitchFamily="34" charset="-122"/>
                <a:cs typeface="Yu Gothic" pitchFamily="34" charset="-120"/>
              </a:rPr>
              <a:t>地方都市ほど、競合がいない。</a:t>
            </a:r>
            <a:endParaRPr lang="en-US" sz="2200" dirty="0"/>
          </a:p>
        </p:txBody>
      </p:sp>
      <p:pic>
        <p:nvPicPr>
          <p:cNvPr id="42" name="Image 10" descr="/home/user/suzuki-ceo/selfcafe-gyomu-deck/assets/icons/LuMapPin-pale.png">    </p:cNvPr>
          <p:cNvPicPr>
            <a:picLocks noChangeAspect="1"/>
          </p:cNvPicPr>
          <p:nvPr/>
        </p:nvPicPr>
        <p:blipFill>
          <a:blip r:embed="rId11"/>
          <a:stretch>
            <a:fillRect/>
          </a:stretch>
        </p:blipFill>
        <p:spPr>
          <a:xfrm>
            <a:off x="6695237" y="4796942"/>
            <a:ext cx="420624" cy="420624"/>
          </a:xfrm>
          <a:prstGeom prst="rect">
            <a:avLst/>
          </a:prstGeom>
        </p:spPr>
      </p:pic>
      <p:sp>
        <p:nvSpPr>
          <p:cNvPr id="43" name="Text 30"/>
          <p:cNvSpPr/>
          <p:nvPr/>
        </p:nvSpPr>
        <p:spPr>
          <a:xfrm>
            <a:off x="7426757" y="4577486"/>
            <a:ext cx="3738982" cy="1243584"/>
          </a:xfrm>
          <a:prstGeom prst="rect">
            <a:avLst/>
          </a:prstGeom>
          <a:noFill/>
          <a:ln/>
        </p:spPr>
        <p:txBody>
          <a:bodyPr wrap="square" lIns="0" tIns="0" rIns="0" bIns="0" rtlCol="0" anchor="ctr"/>
          <a:lstStyle/>
          <a:p>
            <a:pPr indent="0" marL="0">
              <a:lnSpc>
                <a:spcPct val="150000"/>
              </a:lnSpc>
              <a:buNone/>
            </a:pPr>
            <a:r>
              <a:rPr lang="en-US" sz="1100" dirty="0">
                <a:solidFill>
                  <a:srgbClr val="AFC2B8"/>
                </a:solidFill>
                <a:latin typeface="Yu Gothic" pitchFamily="34" charset="0"/>
                <a:ea typeface="Yu Gothic" pitchFamily="34" charset="-122"/>
                <a:cs typeface="Yu Gothic" pitchFamily="34" charset="-120"/>
              </a:rPr>
              <a:t>都市部に比べて同種の施設が少なく、開店直後から認知が広がりやすい傾向があります。</a:t>
            </a:r>
            <a:endParaRPr lang="en-US" sz="1100" dirty="0"/>
          </a:p>
          <a:p>
            <a:pPr indent="0" marL="0">
              <a:lnSpc>
                <a:spcPct val="150000"/>
              </a:lnSpc>
              <a:buNone/>
            </a:pPr>
            <a:r>
              <a:rPr lang="en-US" sz="1100" dirty="0">
                <a:solidFill>
                  <a:srgbClr val="AFC2B8"/>
                </a:solidFill>
                <a:latin typeface="Yu Gothic" pitchFamily="34" charset="0"/>
                <a:ea typeface="Yu Gothic" pitchFamily="34" charset="-122"/>
                <a:cs typeface="Yu Gothic" pitchFamily="34" charset="-120"/>
              </a:rPr>
              <a:t>岩手県 盛岡駅前店は1日80杯ペースで稼働しています（出店事例のページ参照）。</a:t>
            </a:r>
            <a:endParaRPr lang="en-US" sz="1100" dirty="0"/>
          </a:p>
        </p:txBody>
      </p:sp>
      <p:sp>
        <p:nvSpPr>
          <p:cNvPr id="44" name="Shape 31"/>
          <p:cNvSpPr/>
          <p:nvPr/>
        </p:nvSpPr>
        <p:spPr>
          <a:xfrm>
            <a:off x="7152437" y="4595774"/>
            <a:ext cx="11887" cy="1115568"/>
          </a:xfrm>
          <a:prstGeom prst="rect">
            <a:avLst/>
          </a:prstGeom>
          <a:solidFill>
            <a:srgbClr val="2A7A4E"/>
          </a:solidFill>
          <a:ln/>
        </p:spPr>
      </p:sp>
      <p:sp>
        <p:nvSpPr>
          <p:cNvPr id="45" name="Text 32"/>
          <p:cNvSpPr/>
          <p:nvPr/>
        </p:nvSpPr>
        <p:spPr>
          <a:xfrm>
            <a:off x="660197" y="6144768"/>
            <a:ext cx="10871302" cy="182880"/>
          </a:xfrm>
          <a:prstGeom prst="rect">
            <a:avLst/>
          </a:prstGeom>
          <a:noFill/>
          <a:ln/>
        </p:spPr>
        <p:txBody>
          <a:bodyPr wrap="square" lIns="0" tIns="0" rIns="0" bIns="0" rtlCol="0" anchor="ctr"/>
          <a:lstStyle/>
          <a:p>
            <a:pPr indent="0" marL="0">
              <a:buNone/>
            </a:pPr>
            <a:r>
              <a:rPr lang="en-US" sz="850" dirty="0">
                <a:solidFill>
                  <a:srgbClr val="A8B0AA"/>
                </a:solidFill>
                <a:latin typeface="Yu Gothic" pitchFamily="34" charset="0"/>
                <a:ea typeface="Yu Gothic" pitchFamily="34" charset="-122"/>
                <a:cs typeface="Yu Gothic" pitchFamily="34" charset="-120"/>
              </a:rPr>
              <a:t>※ 二次利用（貸しスペース・物販）の可否は立地・契約条件により異なります。個別にご相談ください。</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7"/>
        </a:solidFill>
      </p:bgPr>
    </p:bg>
    <p:spTree>
      <p:nvGrpSpPr>
        <p:cNvPr id="1" name=""/>
        <p:cNvGrpSpPr/>
        <p:nvPr/>
      </p:nvGrpSpPr>
      <p:grpSpPr>
        <a:xfrm>
          <a:off x="0" y="0"/>
          <a:ext cx="0" cy="0"/>
          <a:chOff x="0" y="0"/>
          <a:chExt cx="0" cy="0"/>
        </a:xfrm>
      </p:grpSpPr>
      <p:sp>
        <p:nvSpPr>
          <p:cNvPr id="2" name="Shape 0"/>
          <p:cNvSpPr/>
          <p:nvPr/>
        </p:nvSpPr>
        <p:spPr>
          <a:xfrm>
            <a:off x="660197" y="545897"/>
            <a:ext cx="202997" cy="25603"/>
          </a:xfrm>
          <a:prstGeom prst="rect">
            <a:avLst/>
          </a:prstGeom>
          <a:solidFill>
            <a:srgbClr val="106838"/>
          </a:solidFill>
          <a:ln/>
        </p:spPr>
      </p:sp>
      <p:sp>
        <p:nvSpPr>
          <p:cNvPr id="3" name="Text 1"/>
          <p:cNvSpPr/>
          <p:nvPr/>
        </p:nvSpPr>
        <p:spPr>
          <a:xfrm>
            <a:off x="952805" y="444398"/>
            <a:ext cx="6400800" cy="177394"/>
          </a:xfrm>
          <a:prstGeom prst="rect">
            <a:avLst/>
          </a:prstGeom>
          <a:noFill/>
          <a:ln/>
        </p:spPr>
        <p:txBody>
          <a:bodyPr wrap="square" lIns="0" tIns="0" rIns="0" bIns="0" rtlCol="0" anchor="ctr"/>
          <a:lstStyle/>
          <a:p>
            <a:pPr indent="0" marL="0">
              <a:buNone/>
            </a:pPr>
            <a:r>
              <a:rPr lang="en-US" sz="1050" b="1" dirty="0">
                <a:solidFill>
                  <a:srgbClr val="A8761F"/>
                </a:solidFill>
                <a:latin typeface="Arial" pitchFamily="34" charset="0"/>
                <a:ea typeface="Arial" pitchFamily="34" charset="-122"/>
                <a:cs typeface="Arial" pitchFamily="34" charset="-120"/>
              </a:rPr>
              <a:t>07</a:t>
            </a:r>
            <a:r>
              <a:rPr lang="en-US" sz="1050" b="1" dirty="0">
                <a:solidFill>
                  <a:srgbClr val="1B8149"/>
                </a:solidFill>
                <a:latin typeface="Yu Gothic" pitchFamily="34" charset="0"/>
                <a:ea typeface="Yu Gothic" pitchFamily="34" charset="-122"/>
                <a:cs typeface="Yu Gothic" pitchFamily="34" charset="-120"/>
              </a:rPr>
              <a:t>   実績データ</a:t>
            </a:r>
            <a:endParaRPr lang="en-US" sz="1050" dirty="0"/>
          </a:p>
        </p:txBody>
      </p:sp>
      <p:sp>
        <p:nvSpPr>
          <p:cNvPr id="4" name="Text 2"/>
          <p:cNvSpPr/>
          <p:nvPr/>
        </p:nvSpPr>
        <p:spPr>
          <a:xfrm>
            <a:off x="660197" y="660197"/>
            <a:ext cx="8889797" cy="508406"/>
          </a:xfrm>
          <a:prstGeom prst="rect">
            <a:avLst/>
          </a:prstGeom>
          <a:noFill/>
          <a:ln/>
        </p:spPr>
        <p:txBody>
          <a:bodyPr wrap="square" lIns="0" tIns="0" rIns="0" bIns="0" rtlCol="0" anchor="ctr"/>
          <a:lstStyle/>
          <a:p>
            <a:pPr indent="0" marL="0">
              <a:buNone/>
            </a:pPr>
            <a:r>
              <a:rPr lang="en-US" sz="2900" b="1" dirty="0">
                <a:solidFill>
                  <a:srgbClr val="0A3D23"/>
                </a:solidFill>
                <a:latin typeface="Yu Gothic" pitchFamily="34" charset="0"/>
                <a:ea typeface="Yu Gothic" pitchFamily="34" charset="-122"/>
                <a:cs typeface="Yu Gothic" pitchFamily="34" charset="-120"/>
              </a:rPr>
              <a:t>店舗展開数の推移</a:t>
            </a:r>
            <a:endParaRPr lang="en-US" sz="2900" dirty="0"/>
          </a:p>
        </p:txBody>
      </p:sp>
      <p:sp>
        <p:nvSpPr>
          <p:cNvPr id="5" name="Text 3"/>
          <p:cNvSpPr/>
          <p:nvPr/>
        </p:nvSpPr>
        <p:spPr>
          <a:xfrm>
            <a:off x="660197" y="1308506"/>
            <a:ext cx="10032797" cy="228600"/>
          </a:xfrm>
          <a:prstGeom prst="rect">
            <a:avLst/>
          </a:prstGeom>
          <a:noFill/>
          <a:ln/>
        </p:spPr>
        <p:txBody>
          <a:bodyPr wrap="square" lIns="0" tIns="0" rIns="0" bIns="0" rtlCol="0" anchor="ctr"/>
          <a:lstStyle/>
          <a:p>
            <a:pPr indent="0" marL="0">
              <a:buNone/>
            </a:pPr>
            <a:r>
              <a:rPr lang="en-US" sz="1250" dirty="0">
                <a:solidFill>
                  <a:srgbClr val="4B5550"/>
                </a:solidFill>
                <a:latin typeface="Yu Gothic" pitchFamily="34" charset="0"/>
                <a:ea typeface="Yu Gothic" pitchFamily="34" charset="-122"/>
                <a:cs typeface="Yu Gothic" pitchFamily="34" charset="-120"/>
              </a:rPr>
              <a:t>2022年9月の1号店OPENから、驚異的なスピードで出店エリアを拡大。出店は今後も継続していきます。</a:t>
            </a:r>
            <a:endParaRPr lang="en-US" sz="1250" dirty="0"/>
          </a:p>
        </p:txBody>
      </p:sp>
      <p:pic>
        <p:nvPicPr>
          <p:cNvPr id="6" name="Image 0" descr="/home/user/suzuki-ceo/selfcafe-gyomu-deck/assets/logo-green.png">    </p:cNvPr>
          <p:cNvPicPr>
            <a:picLocks noChangeAspect="1"/>
          </p:cNvPicPr>
          <p:nvPr/>
        </p:nvPicPr>
        <p:blipFill>
          <a:blip r:embed="rId1"/>
          <a:stretch>
            <a:fillRect/>
          </a:stretch>
        </p:blipFill>
        <p:spPr>
          <a:xfrm>
            <a:off x="9855403" y="482803"/>
            <a:ext cx="1676095" cy="238658"/>
          </a:xfrm>
          <a:prstGeom prst="rect">
            <a:avLst/>
          </a:prstGeom>
        </p:spPr>
      </p:pic>
      <p:sp>
        <p:nvSpPr>
          <p:cNvPr id="7" name="Text 4"/>
          <p:cNvSpPr/>
          <p:nvPr/>
        </p:nvSpPr>
        <p:spPr>
          <a:xfrm>
            <a:off x="660197" y="6476695"/>
            <a:ext cx="5080406" cy="152705"/>
          </a:xfrm>
          <a:prstGeom prst="rect">
            <a:avLst/>
          </a:prstGeom>
          <a:noFill/>
          <a:ln/>
        </p:spPr>
        <p:txBody>
          <a:bodyPr wrap="square" lIns="0" tIns="0" rIns="0" bIns="0" rtlCol="0" anchor="ctr"/>
          <a:lstStyle/>
          <a:p>
            <a:pPr indent="0" marL="0">
              <a:buNone/>
            </a:pPr>
            <a:r>
              <a:rPr lang="en-US" sz="900" dirty="0">
                <a:solidFill>
                  <a:srgbClr val="A8B0AA"/>
                </a:solidFill>
                <a:latin typeface="Yu Gothic" pitchFamily="34" charset="0"/>
                <a:ea typeface="Yu Gothic" pitchFamily="34" charset="-122"/>
                <a:cs typeface="Yu Gothic" pitchFamily="34" charset="-120"/>
              </a:rPr>
              <a:t>セルフカフェ 業務委託型制度</a:t>
            </a:r>
            <a:endParaRPr lang="en-US" sz="900" dirty="0"/>
          </a:p>
        </p:txBody>
      </p:sp>
      <p:sp>
        <p:nvSpPr>
          <p:cNvPr id="8" name="Text 5"/>
          <p:cNvSpPr/>
          <p:nvPr/>
        </p:nvSpPr>
        <p:spPr>
          <a:xfrm>
            <a:off x="10261397" y="6463894"/>
            <a:ext cx="1270102" cy="152705"/>
          </a:xfrm>
          <a:prstGeom prst="rect">
            <a:avLst/>
          </a:prstGeom>
          <a:noFill/>
          <a:ln/>
        </p:spPr>
        <p:txBody>
          <a:bodyPr wrap="square" lIns="0" tIns="0" rIns="0" bIns="0" rtlCol="0" anchor="ctr"/>
          <a:lstStyle/>
          <a:p>
            <a:pPr algn="r" indent="0" marL="0">
              <a:buNone/>
            </a:pPr>
            <a:r>
              <a:rPr lang="en-US" sz="1000" b="1" dirty="0">
                <a:solidFill>
                  <a:srgbClr val="7E8882"/>
                </a:solidFill>
                <a:latin typeface="Arial" pitchFamily="34" charset="0"/>
                <a:ea typeface="Arial" pitchFamily="34" charset="-122"/>
                <a:cs typeface="Arial" pitchFamily="34" charset="-120"/>
              </a:rPr>
              <a:t>08</a:t>
            </a:r>
            <a:endParaRPr lang="en-US" sz="1000" dirty="0"/>
          </a:p>
        </p:txBody>
      </p:sp>
      <p:sp>
        <p:nvSpPr>
          <p:cNvPr id="9" name="Shape 6"/>
          <p:cNvSpPr/>
          <p:nvPr/>
        </p:nvSpPr>
        <p:spPr>
          <a:xfrm>
            <a:off x="660197" y="1651406"/>
            <a:ext cx="10871302" cy="2798064"/>
          </a:xfrm>
          <a:prstGeom prst="roundRect">
            <a:avLst>
              <a:gd name="adj" fmla="val 1961"/>
            </a:avLst>
          </a:prstGeom>
          <a:solidFill>
            <a:srgbClr val="FFFFFF"/>
          </a:solidFill>
          <a:ln w="9525">
            <a:solidFill>
              <a:srgbClr val="EFEAE0"/>
            </a:solidFill>
            <a:prstDash val="solid"/>
          </a:ln>
        </p:spPr>
      </p:sp>
      <p:sp>
        <p:nvSpPr>
          <p:cNvPr id="10" name="Text 7"/>
          <p:cNvSpPr/>
          <p:nvPr/>
        </p:nvSpPr>
        <p:spPr>
          <a:xfrm>
            <a:off x="934517" y="1834286"/>
            <a:ext cx="4572000" cy="237744"/>
          </a:xfrm>
          <a:prstGeom prst="rect">
            <a:avLst/>
          </a:prstGeom>
          <a:noFill/>
          <a:ln/>
        </p:spPr>
        <p:txBody>
          <a:bodyPr wrap="square" lIns="0" tIns="0" rIns="0" bIns="0" rtlCol="0" anchor="ctr"/>
          <a:lstStyle/>
          <a:p>
            <a:pPr indent="0" marL="0">
              <a:buNone/>
            </a:pPr>
            <a:r>
              <a:rPr lang="en-US" sz="1100" b="1" dirty="0">
                <a:solidFill>
                  <a:srgbClr val="0A3D23"/>
                </a:solidFill>
                <a:latin typeface="Yu Gothic" pitchFamily="34" charset="0"/>
                <a:ea typeface="Yu Gothic" pitchFamily="34" charset="-122"/>
                <a:cs typeface="Yu Gothic" pitchFamily="34" charset="-120"/>
              </a:rPr>
              <a:t>営業中店舗の開店月ベース累計</a:t>
            </a:r>
            <a:endParaRPr lang="en-US" sz="1100" dirty="0"/>
          </a:p>
        </p:txBody>
      </p:sp>
      <p:sp>
        <p:nvSpPr>
          <p:cNvPr id="11" name="Text 8"/>
          <p:cNvSpPr/>
          <p:nvPr/>
        </p:nvSpPr>
        <p:spPr>
          <a:xfrm>
            <a:off x="934517" y="2072030"/>
            <a:ext cx="4572000" cy="201168"/>
          </a:xfrm>
          <a:prstGeom prst="rect">
            <a:avLst/>
          </a:prstGeom>
          <a:noFill/>
          <a:ln/>
        </p:spPr>
        <p:txBody>
          <a:bodyPr wrap="square" lIns="0" tIns="0" rIns="0" bIns="0" rtlCol="0" anchor="ctr"/>
          <a:lstStyle/>
          <a:p>
            <a:pPr indent="0" marL="0">
              <a:buNone/>
            </a:pPr>
            <a:r>
              <a:rPr lang="en-US" sz="900" dirty="0">
                <a:solidFill>
                  <a:srgbClr val="7E8882"/>
                </a:solidFill>
                <a:latin typeface="Yu Gothic" pitchFamily="34" charset="0"/>
                <a:ea typeface="Yu Gothic" pitchFamily="34" charset="-122"/>
                <a:cs typeface="Yu Gothic" pitchFamily="34" charset="-120"/>
              </a:rPr>
              <a:t>2022.09 〜 2026.07（単位：店舗）</a:t>
            </a:r>
            <a:endParaRPr lang="en-US" sz="900" dirty="0"/>
          </a:p>
        </p:txBody>
      </p:sp>
      <p:sp>
        <p:nvSpPr>
          <p:cNvPr id="12" name="Shape 9"/>
          <p:cNvSpPr/>
          <p:nvPr/>
        </p:nvSpPr>
        <p:spPr>
          <a:xfrm>
            <a:off x="7819034" y="1852574"/>
            <a:ext cx="3438144" cy="420624"/>
          </a:xfrm>
          <a:prstGeom prst="roundRect">
            <a:avLst>
              <a:gd name="adj" fmla="val 50000"/>
            </a:avLst>
          </a:prstGeom>
          <a:solidFill>
            <a:srgbClr val="A8761F"/>
          </a:solidFill>
          <a:ln/>
        </p:spPr>
      </p:sp>
      <p:sp>
        <p:nvSpPr>
          <p:cNvPr id="13" name="Text 10"/>
          <p:cNvSpPr/>
          <p:nvPr/>
        </p:nvSpPr>
        <p:spPr>
          <a:xfrm>
            <a:off x="7819034" y="1852574"/>
            <a:ext cx="3438144"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Yu Gothic" pitchFamily="34" charset="0"/>
                <a:ea typeface="Yu Gothic" pitchFamily="34" charset="-122"/>
                <a:cs typeface="Yu Gothic" pitchFamily="34" charset="-120"/>
              </a:rPr>
              <a:t>サービス開始以来、</a:t>
            </a:r>
            <a:r>
              <a:rPr lang="en-US" sz="1500" b="1" dirty="0">
                <a:solidFill>
                  <a:srgbClr val="FFFFFF"/>
                </a:solidFill>
                <a:latin typeface="Arial" pitchFamily="34" charset="0"/>
                <a:ea typeface="Arial" pitchFamily="34" charset="-122"/>
                <a:cs typeface="Arial" pitchFamily="34" charset="-120"/>
              </a:rPr>
              <a:t>47</a:t>
            </a:r>
            <a:r>
              <a:rPr lang="en-US" sz="1100" b="1" dirty="0">
                <a:solidFill>
                  <a:srgbClr val="FFFFFF"/>
                </a:solidFill>
                <a:latin typeface="Yu Gothic" pitchFamily="34" charset="0"/>
                <a:ea typeface="Yu Gothic" pitchFamily="34" charset="-122"/>
                <a:cs typeface="Yu Gothic" pitchFamily="34" charset="-120"/>
              </a:rPr>
              <a:t> ヶ月で </a:t>
            </a:r>
            <a:r>
              <a:rPr lang="en-US" sz="1500" b="1" dirty="0">
                <a:solidFill>
                  <a:srgbClr val="FFFFFF"/>
                </a:solidFill>
                <a:latin typeface="Arial" pitchFamily="34" charset="0"/>
                <a:ea typeface="Arial" pitchFamily="34" charset="-122"/>
                <a:cs typeface="Arial" pitchFamily="34" charset="-120"/>
              </a:rPr>
              <a:t>71</a:t>
            </a:r>
            <a:r>
              <a:rPr lang="en-US" sz="1100" b="1" dirty="0">
                <a:solidFill>
                  <a:srgbClr val="FFFFFF"/>
                </a:solidFill>
                <a:latin typeface="Yu Gothic" pitchFamily="34" charset="0"/>
                <a:ea typeface="Yu Gothic" pitchFamily="34" charset="-122"/>
                <a:cs typeface="Yu Gothic" pitchFamily="34" charset="-120"/>
              </a:rPr>
              <a:t> 店舗</a:t>
            </a:r>
            <a:endParaRPr lang="en-US" sz="1100" dirty="0"/>
          </a:p>
        </p:txBody>
      </p:sp>
      <p:graphicFrame>
        <p:nvGraphicFramePr>
          <p:cNvPr id="14" name="Chart 0" descr=""/>
          <p:cNvGraphicFramePr/>
          <p:nvPr/>
        </p:nvGraphicFramePr>
        <p:xfrm>
          <a:off x="806501" y="2364638"/>
          <a:ext cx="10505542" cy="1883664"/>
        </p:xfrm>
        <a:graphic xmlns:a="http://schemas.openxmlformats.org/drawingml/2006/main">
          <a:graphicData uri="http://schemas.openxmlformats.org/drawingml/2006/chart">
            <c:chart xmlns:c="http://schemas.openxmlformats.org/drawingml/2006/chart" r:id="rId2"/>
          </a:graphicData>
        </a:graphic>
      </p:graphicFrame>
      <p:sp>
        <p:nvSpPr>
          <p:cNvPr id="15" name="Shape 11"/>
          <p:cNvSpPr/>
          <p:nvPr/>
        </p:nvSpPr>
        <p:spPr>
          <a:xfrm flipV="1">
            <a:off x="3921587" y="2620670"/>
            <a:ext cx="6087929" cy="1243584"/>
          </a:xfrm>
          <a:prstGeom prst="line">
            <a:avLst/>
          </a:prstGeom>
          <a:noFill/>
          <a:ln w="57150">
            <a:solidFill>
              <a:srgbClr val="A8761F"/>
            </a:solidFill>
            <a:prstDash val="solid"/>
            <a:tailEnd type="triangle"/>
          </a:ln>
        </p:spPr>
      </p:sp>
      <p:sp>
        <p:nvSpPr>
          <p:cNvPr id="16" name="Shape 12"/>
          <p:cNvSpPr/>
          <p:nvPr/>
        </p:nvSpPr>
        <p:spPr>
          <a:xfrm>
            <a:off x="660197" y="4650638"/>
            <a:ext cx="1689964" cy="841248"/>
          </a:xfrm>
          <a:prstGeom prst="roundRect">
            <a:avLst>
              <a:gd name="adj" fmla="val 5435"/>
            </a:avLst>
          </a:prstGeom>
          <a:solidFill>
            <a:srgbClr val="F1F8F3"/>
          </a:solidFill>
          <a:ln w="9525">
            <a:solidFill>
              <a:srgbClr val="D2E7DA"/>
            </a:solidFill>
            <a:prstDash val="solid"/>
          </a:ln>
        </p:spPr>
      </p:sp>
      <p:sp>
        <p:nvSpPr>
          <p:cNvPr id="17" name="Text 13"/>
          <p:cNvSpPr/>
          <p:nvPr/>
        </p:nvSpPr>
        <p:spPr>
          <a:xfrm>
            <a:off x="660197" y="4760366"/>
            <a:ext cx="1689964" cy="182880"/>
          </a:xfrm>
          <a:prstGeom prst="rect">
            <a:avLst/>
          </a:prstGeom>
          <a:noFill/>
          <a:ln/>
        </p:spPr>
        <p:txBody>
          <a:bodyPr wrap="square" lIns="0" tIns="0" rIns="0" bIns="0" rtlCol="0" anchor="ctr"/>
          <a:lstStyle/>
          <a:p>
            <a:pPr algn="ctr" indent="0" marL="0">
              <a:buNone/>
            </a:pPr>
            <a:r>
              <a:rPr lang="en-US" sz="900" b="1" dirty="0">
                <a:solidFill>
                  <a:srgbClr val="7E8882"/>
                </a:solidFill>
                <a:latin typeface="Arial" pitchFamily="34" charset="0"/>
                <a:ea typeface="Arial" pitchFamily="34" charset="-122"/>
                <a:cs typeface="Arial" pitchFamily="34" charset="-120"/>
              </a:rPr>
              <a:t>2022.09</a:t>
            </a:r>
            <a:endParaRPr lang="en-US" sz="900" dirty="0"/>
          </a:p>
        </p:txBody>
      </p:sp>
      <p:sp>
        <p:nvSpPr>
          <p:cNvPr id="18" name="Text 14"/>
          <p:cNvSpPr/>
          <p:nvPr/>
        </p:nvSpPr>
        <p:spPr>
          <a:xfrm>
            <a:off x="660197" y="4961534"/>
            <a:ext cx="1689964" cy="384048"/>
          </a:xfrm>
          <a:prstGeom prst="rect">
            <a:avLst/>
          </a:prstGeom>
          <a:noFill/>
          <a:ln/>
        </p:spPr>
        <p:txBody>
          <a:bodyPr wrap="square" lIns="0" tIns="0" rIns="0" bIns="0" rtlCol="0" anchor="ctr"/>
          <a:lstStyle/>
          <a:p>
            <a:pPr algn="ctr" indent="0" marL="0">
              <a:buNone/>
            </a:pPr>
            <a:r>
              <a:rPr lang="en-US" sz="1900" b="1" dirty="0">
                <a:solidFill>
                  <a:srgbClr val="0A3D23"/>
                </a:solidFill>
                <a:latin typeface="Arial" pitchFamily="34" charset="0"/>
                <a:ea typeface="Arial" pitchFamily="34" charset="-122"/>
                <a:cs typeface="Arial" pitchFamily="34" charset="-120"/>
              </a:rPr>
              <a:t>1</a:t>
            </a:r>
            <a:r>
              <a:rPr lang="en-US" sz="950" b="1" dirty="0">
                <a:solidFill>
                  <a:srgbClr val="0A3D23"/>
                </a:solidFill>
                <a:latin typeface="Yu Gothic" pitchFamily="34" charset="0"/>
                <a:ea typeface="Yu Gothic" pitchFamily="34" charset="-122"/>
                <a:cs typeface="Yu Gothic" pitchFamily="34" charset="-120"/>
              </a:rPr>
              <a:t> 店舗</a:t>
            </a:r>
            <a:endParaRPr lang="en-US" sz="1900" dirty="0"/>
          </a:p>
        </p:txBody>
      </p:sp>
      <p:sp>
        <p:nvSpPr>
          <p:cNvPr id="19" name="Shape 15"/>
          <p:cNvSpPr/>
          <p:nvPr/>
        </p:nvSpPr>
        <p:spPr>
          <a:xfrm>
            <a:off x="2496464" y="4650638"/>
            <a:ext cx="1689964" cy="841248"/>
          </a:xfrm>
          <a:prstGeom prst="roundRect">
            <a:avLst>
              <a:gd name="adj" fmla="val 5435"/>
            </a:avLst>
          </a:prstGeom>
          <a:solidFill>
            <a:srgbClr val="F1F8F3"/>
          </a:solidFill>
          <a:ln w="9525">
            <a:solidFill>
              <a:srgbClr val="D2E7DA"/>
            </a:solidFill>
            <a:prstDash val="solid"/>
          </a:ln>
        </p:spPr>
      </p:sp>
      <p:sp>
        <p:nvSpPr>
          <p:cNvPr id="20" name="Text 16"/>
          <p:cNvSpPr/>
          <p:nvPr/>
        </p:nvSpPr>
        <p:spPr>
          <a:xfrm>
            <a:off x="2496464" y="4760366"/>
            <a:ext cx="1689964" cy="182880"/>
          </a:xfrm>
          <a:prstGeom prst="rect">
            <a:avLst/>
          </a:prstGeom>
          <a:noFill/>
          <a:ln/>
        </p:spPr>
        <p:txBody>
          <a:bodyPr wrap="square" lIns="0" tIns="0" rIns="0" bIns="0" rtlCol="0" anchor="ctr"/>
          <a:lstStyle/>
          <a:p>
            <a:pPr algn="ctr" indent="0" marL="0">
              <a:buNone/>
            </a:pPr>
            <a:r>
              <a:rPr lang="en-US" sz="900" b="1" dirty="0">
                <a:solidFill>
                  <a:srgbClr val="7E8882"/>
                </a:solidFill>
                <a:latin typeface="Arial" pitchFamily="34" charset="0"/>
                <a:ea typeface="Arial" pitchFamily="34" charset="-122"/>
                <a:cs typeface="Arial" pitchFamily="34" charset="-120"/>
              </a:rPr>
              <a:t>2023.09</a:t>
            </a:r>
            <a:endParaRPr lang="en-US" sz="900" dirty="0"/>
          </a:p>
        </p:txBody>
      </p:sp>
      <p:sp>
        <p:nvSpPr>
          <p:cNvPr id="21" name="Text 17"/>
          <p:cNvSpPr/>
          <p:nvPr/>
        </p:nvSpPr>
        <p:spPr>
          <a:xfrm>
            <a:off x="2496464" y="4961534"/>
            <a:ext cx="1689964" cy="384048"/>
          </a:xfrm>
          <a:prstGeom prst="rect">
            <a:avLst/>
          </a:prstGeom>
          <a:noFill/>
          <a:ln/>
        </p:spPr>
        <p:txBody>
          <a:bodyPr wrap="square" lIns="0" tIns="0" rIns="0" bIns="0" rtlCol="0" anchor="ctr"/>
          <a:lstStyle/>
          <a:p>
            <a:pPr algn="ctr" indent="0" marL="0">
              <a:buNone/>
            </a:pPr>
            <a:r>
              <a:rPr lang="en-US" sz="1900" b="1" dirty="0">
                <a:solidFill>
                  <a:srgbClr val="0A3D23"/>
                </a:solidFill>
                <a:latin typeface="Arial" pitchFamily="34" charset="0"/>
                <a:ea typeface="Arial" pitchFamily="34" charset="-122"/>
                <a:cs typeface="Arial" pitchFamily="34" charset="-120"/>
              </a:rPr>
              <a:t>2</a:t>
            </a:r>
            <a:r>
              <a:rPr lang="en-US" sz="950" b="1" dirty="0">
                <a:solidFill>
                  <a:srgbClr val="0A3D23"/>
                </a:solidFill>
                <a:latin typeface="Yu Gothic" pitchFamily="34" charset="0"/>
                <a:ea typeface="Yu Gothic" pitchFamily="34" charset="-122"/>
                <a:cs typeface="Yu Gothic" pitchFamily="34" charset="-120"/>
              </a:rPr>
              <a:t> 店舗</a:t>
            </a:r>
            <a:endParaRPr lang="en-US" sz="1900" dirty="0"/>
          </a:p>
        </p:txBody>
      </p:sp>
      <p:sp>
        <p:nvSpPr>
          <p:cNvPr id="22" name="Shape 18"/>
          <p:cNvSpPr/>
          <p:nvPr/>
        </p:nvSpPr>
        <p:spPr>
          <a:xfrm>
            <a:off x="4332732" y="4650638"/>
            <a:ext cx="1689964" cy="841248"/>
          </a:xfrm>
          <a:prstGeom prst="roundRect">
            <a:avLst>
              <a:gd name="adj" fmla="val 5435"/>
            </a:avLst>
          </a:prstGeom>
          <a:solidFill>
            <a:srgbClr val="F1F8F3"/>
          </a:solidFill>
          <a:ln w="9525">
            <a:solidFill>
              <a:srgbClr val="D2E7DA"/>
            </a:solidFill>
            <a:prstDash val="solid"/>
          </a:ln>
        </p:spPr>
      </p:sp>
      <p:sp>
        <p:nvSpPr>
          <p:cNvPr id="23" name="Text 19"/>
          <p:cNvSpPr/>
          <p:nvPr/>
        </p:nvSpPr>
        <p:spPr>
          <a:xfrm>
            <a:off x="4332732" y="4760366"/>
            <a:ext cx="1689964" cy="182880"/>
          </a:xfrm>
          <a:prstGeom prst="rect">
            <a:avLst/>
          </a:prstGeom>
          <a:noFill/>
          <a:ln/>
        </p:spPr>
        <p:txBody>
          <a:bodyPr wrap="square" lIns="0" tIns="0" rIns="0" bIns="0" rtlCol="0" anchor="ctr"/>
          <a:lstStyle/>
          <a:p>
            <a:pPr algn="ctr" indent="0" marL="0">
              <a:buNone/>
            </a:pPr>
            <a:r>
              <a:rPr lang="en-US" sz="900" b="1" dirty="0">
                <a:solidFill>
                  <a:srgbClr val="7E8882"/>
                </a:solidFill>
                <a:latin typeface="Arial" pitchFamily="34" charset="0"/>
                <a:ea typeface="Arial" pitchFamily="34" charset="-122"/>
                <a:cs typeface="Arial" pitchFamily="34" charset="-120"/>
              </a:rPr>
              <a:t>2024.09</a:t>
            </a:r>
            <a:endParaRPr lang="en-US" sz="900" dirty="0"/>
          </a:p>
        </p:txBody>
      </p:sp>
      <p:sp>
        <p:nvSpPr>
          <p:cNvPr id="24" name="Text 20"/>
          <p:cNvSpPr/>
          <p:nvPr/>
        </p:nvSpPr>
        <p:spPr>
          <a:xfrm>
            <a:off x="4332732" y="4961534"/>
            <a:ext cx="1689964" cy="384048"/>
          </a:xfrm>
          <a:prstGeom prst="rect">
            <a:avLst/>
          </a:prstGeom>
          <a:noFill/>
          <a:ln/>
        </p:spPr>
        <p:txBody>
          <a:bodyPr wrap="square" lIns="0" tIns="0" rIns="0" bIns="0" rtlCol="0" anchor="ctr"/>
          <a:lstStyle/>
          <a:p>
            <a:pPr algn="ctr" indent="0" marL="0">
              <a:buNone/>
            </a:pPr>
            <a:r>
              <a:rPr lang="en-US" sz="1900" b="1" dirty="0">
                <a:solidFill>
                  <a:srgbClr val="0A3D23"/>
                </a:solidFill>
                <a:latin typeface="Arial" pitchFamily="34" charset="0"/>
                <a:ea typeface="Arial" pitchFamily="34" charset="-122"/>
                <a:cs typeface="Arial" pitchFamily="34" charset="-120"/>
              </a:rPr>
              <a:t>23</a:t>
            </a:r>
            <a:r>
              <a:rPr lang="en-US" sz="950" b="1" dirty="0">
                <a:solidFill>
                  <a:srgbClr val="0A3D23"/>
                </a:solidFill>
                <a:latin typeface="Yu Gothic" pitchFamily="34" charset="0"/>
                <a:ea typeface="Yu Gothic" pitchFamily="34" charset="-122"/>
                <a:cs typeface="Yu Gothic" pitchFamily="34" charset="-120"/>
              </a:rPr>
              <a:t> 店舗</a:t>
            </a:r>
            <a:endParaRPr lang="en-US" sz="1900" dirty="0"/>
          </a:p>
        </p:txBody>
      </p:sp>
      <p:sp>
        <p:nvSpPr>
          <p:cNvPr id="25" name="Shape 21"/>
          <p:cNvSpPr/>
          <p:nvPr/>
        </p:nvSpPr>
        <p:spPr>
          <a:xfrm>
            <a:off x="6169000" y="4650638"/>
            <a:ext cx="1689964" cy="841248"/>
          </a:xfrm>
          <a:prstGeom prst="roundRect">
            <a:avLst>
              <a:gd name="adj" fmla="val 5435"/>
            </a:avLst>
          </a:prstGeom>
          <a:solidFill>
            <a:srgbClr val="F1F8F3"/>
          </a:solidFill>
          <a:ln w="9525">
            <a:solidFill>
              <a:srgbClr val="D2E7DA"/>
            </a:solidFill>
            <a:prstDash val="solid"/>
          </a:ln>
        </p:spPr>
      </p:sp>
      <p:sp>
        <p:nvSpPr>
          <p:cNvPr id="26" name="Text 22"/>
          <p:cNvSpPr/>
          <p:nvPr/>
        </p:nvSpPr>
        <p:spPr>
          <a:xfrm>
            <a:off x="6169000" y="4760366"/>
            <a:ext cx="1689964" cy="182880"/>
          </a:xfrm>
          <a:prstGeom prst="rect">
            <a:avLst/>
          </a:prstGeom>
          <a:noFill/>
          <a:ln/>
        </p:spPr>
        <p:txBody>
          <a:bodyPr wrap="square" lIns="0" tIns="0" rIns="0" bIns="0" rtlCol="0" anchor="ctr"/>
          <a:lstStyle/>
          <a:p>
            <a:pPr algn="ctr" indent="0" marL="0">
              <a:buNone/>
            </a:pPr>
            <a:r>
              <a:rPr lang="en-US" sz="900" b="1" dirty="0">
                <a:solidFill>
                  <a:srgbClr val="7E8882"/>
                </a:solidFill>
                <a:latin typeface="Arial" pitchFamily="34" charset="0"/>
                <a:ea typeface="Arial" pitchFamily="34" charset="-122"/>
                <a:cs typeface="Arial" pitchFamily="34" charset="-120"/>
              </a:rPr>
              <a:t>2025.09</a:t>
            </a:r>
            <a:endParaRPr lang="en-US" sz="900" dirty="0"/>
          </a:p>
        </p:txBody>
      </p:sp>
      <p:sp>
        <p:nvSpPr>
          <p:cNvPr id="27" name="Text 23"/>
          <p:cNvSpPr/>
          <p:nvPr/>
        </p:nvSpPr>
        <p:spPr>
          <a:xfrm>
            <a:off x="6169000" y="4961534"/>
            <a:ext cx="1689964" cy="384048"/>
          </a:xfrm>
          <a:prstGeom prst="rect">
            <a:avLst/>
          </a:prstGeom>
          <a:noFill/>
          <a:ln/>
        </p:spPr>
        <p:txBody>
          <a:bodyPr wrap="square" lIns="0" tIns="0" rIns="0" bIns="0" rtlCol="0" anchor="ctr"/>
          <a:lstStyle/>
          <a:p>
            <a:pPr algn="ctr" indent="0" marL="0">
              <a:buNone/>
            </a:pPr>
            <a:r>
              <a:rPr lang="en-US" sz="1900" b="1" dirty="0">
                <a:solidFill>
                  <a:srgbClr val="0A3D23"/>
                </a:solidFill>
                <a:latin typeface="Arial" pitchFamily="34" charset="0"/>
                <a:ea typeface="Arial" pitchFamily="34" charset="-122"/>
                <a:cs typeface="Arial" pitchFamily="34" charset="-120"/>
              </a:rPr>
              <a:t>48</a:t>
            </a:r>
            <a:r>
              <a:rPr lang="en-US" sz="950" b="1" dirty="0">
                <a:solidFill>
                  <a:srgbClr val="0A3D23"/>
                </a:solidFill>
                <a:latin typeface="Yu Gothic" pitchFamily="34" charset="0"/>
                <a:ea typeface="Yu Gothic" pitchFamily="34" charset="-122"/>
                <a:cs typeface="Yu Gothic" pitchFamily="34" charset="-120"/>
              </a:rPr>
              <a:t> 店舗</a:t>
            </a:r>
            <a:endParaRPr lang="en-US" sz="1900" dirty="0"/>
          </a:p>
        </p:txBody>
      </p:sp>
      <p:sp>
        <p:nvSpPr>
          <p:cNvPr id="28" name="Shape 24"/>
          <p:cNvSpPr/>
          <p:nvPr/>
        </p:nvSpPr>
        <p:spPr>
          <a:xfrm>
            <a:off x="8005267" y="4650638"/>
            <a:ext cx="1689964" cy="841248"/>
          </a:xfrm>
          <a:prstGeom prst="roundRect">
            <a:avLst>
              <a:gd name="adj" fmla="val 5435"/>
            </a:avLst>
          </a:prstGeom>
          <a:solidFill>
            <a:srgbClr val="F1F8F3"/>
          </a:solidFill>
          <a:ln w="9525">
            <a:solidFill>
              <a:srgbClr val="D2E7DA"/>
            </a:solidFill>
            <a:prstDash val="solid"/>
          </a:ln>
        </p:spPr>
      </p:sp>
      <p:sp>
        <p:nvSpPr>
          <p:cNvPr id="29" name="Text 25"/>
          <p:cNvSpPr/>
          <p:nvPr/>
        </p:nvSpPr>
        <p:spPr>
          <a:xfrm>
            <a:off x="8005267" y="4760366"/>
            <a:ext cx="1689964" cy="182880"/>
          </a:xfrm>
          <a:prstGeom prst="rect">
            <a:avLst/>
          </a:prstGeom>
          <a:noFill/>
          <a:ln/>
        </p:spPr>
        <p:txBody>
          <a:bodyPr wrap="square" lIns="0" tIns="0" rIns="0" bIns="0" rtlCol="0" anchor="ctr"/>
          <a:lstStyle/>
          <a:p>
            <a:pPr algn="ctr" indent="0" marL="0">
              <a:buNone/>
            </a:pPr>
            <a:r>
              <a:rPr lang="en-US" sz="900" b="1" dirty="0">
                <a:solidFill>
                  <a:srgbClr val="7E8882"/>
                </a:solidFill>
                <a:latin typeface="Arial" pitchFamily="34" charset="0"/>
                <a:ea typeface="Arial" pitchFamily="34" charset="-122"/>
                <a:cs typeface="Arial" pitchFamily="34" charset="-120"/>
              </a:rPr>
              <a:t>2026.07</a:t>
            </a:r>
            <a:endParaRPr lang="en-US" sz="900" dirty="0"/>
          </a:p>
        </p:txBody>
      </p:sp>
      <p:sp>
        <p:nvSpPr>
          <p:cNvPr id="30" name="Text 26"/>
          <p:cNvSpPr/>
          <p:nvPr/>
        </p:nvSpPr>
        <p:spPr>
          <a:xfrm>
            <a:off x="8005267" y="4961534"/>
            <a:ext cx="1689964" cy="384048"/>
          </a:xfrm>
          <a:prstGeom prst="rect">
            <a:avLst/>
          </a:prstGeom>
          <a:noFill/>
          <a:ln/>
        </p:spPr>
        <p:txBody>
          <a:bodyPr wrap="square" lIns="0" tIns="0" rIns="0" bIns="0" rtlCol="0" anchor="ctr"/>
          <a:lstStyle/>
          <a:p>
            <a:pPr algn="ctr" indent="0" marL="0">
              <a:buNone/>
            </a:pPr>
            <a:r>
              <a:rPr lang="en-US" sz="1900" b="1" dirty="0">
                <a:solidFill>
                  <a:srgbClr val="0A3D23"/>
                </a:solidFill>
                <a:latin typeface="Arial" pitchFamily="34" charset="0"/>
                <a:ea typeface="Arial" pitchFamily="34" charset="-122"/>
                <a:cs typeface="Arial" pitchFamily="34" charset="-120"/>
              </a:rPr>
              <a:t>71</a:t>
            </a:r>
            <a:r>
              <a:rPr lang="en-US" sz="950" b="1" dirty="0">
                <a:solidFill>
                  <a:srgbClr val="0A3D23"/>
                </a:solidFill>
                <a:latin typeface="Yu Gothic" pitchFamily="34" charset="0"/>
                <a:ea typeface="Yu Gothic" pitchFamily="34" charset="-122"/>
                <a:cs typeface="Yu Gothic" pitchFamily="34" charset="-120"/>
              </a:rPr>
              <a:t> 店舗</a:t>
            </a:r>
            <a:endParaRPr lang="en-US" sz="1900" dirty="0"/>
          </a:p>
        </p:txBody>
      </p:sp>
      <p:sp>
        <p:nvSpPr>
          <p:cNvPr id="31" name="Shape 27"/>
          <p:cNvSpPr/>
          <p:nvPr/>
        </p:nvSpPr>
        <p:spPr>
          <a:xfrm>
            <a:off x="9841535" y="4650638"/>
            <a:ext cx="1689964" cy="841248"/>
          </a:xfrm>
          <a:prstGeom prst="roundRect">
            <a:avLst>
              <a:gd name="adj" fmla="val 5435"/>
            </a:avLst>
          </a:prstGeom>
          <a:solidFill>
            <a:srgbClr val="FBF4E4"/>
          </a:solidFill>
          <a:ln w="9525">
            <a:solidFill>
              <a:srgbClr val="E7D3A8"/>
            </a:solidFill>
            <a:prstDash val="solid"/>
          </a:ln>
        </p:spPr>
      </p:sp>
      <p:sp>
        <p:nvSpPr>
          <p:cNvPr id="32" name="Text 28"/>
          <p:cNvSpPr/>
          <p:nvPr/>
        </p:nvSpPr>
        <p:spPr>
          <a:xfrm>
            <a:off x="9841535" y="4760366"/>
            <a:ext cx="1689964" cy="182880"/>
          </a:xfrm>
          <a:prstGeom prst="rect">
            <a:avLst/>
          </a:prstGeom>
          <a:noFill/>
          <a:ln/>
        </p:spPr>
        <p:txBody>
          <a:bodyPr wrap="square" lIns="0" tIns="0" rIns="0" bIns="0" rtlCol="0" anchor="ctr"/>
          <a:lstStyle/>
          <a:p>
            <a:pPr algn="ctr" indent="0" marL="0">
              <a:buNone/>
            </a:pPr>
            <a:r>
              <a:rPr lang="en-US" sz="900" b="1" dirty="0">
                <a:solidFill>
                  <a:srgbClr val="A8761F"/>
                </a:solidFill>
                <a:latin typeface="Yu Gothic" pitchFamily="34" charset="0"/>
                <a:ea typeface="Yu Gothic" pitchFamily="34" charset="-122"/>
                <a:cs typeface="Yu Gothic" pitchFamily="34" charset="-120"/>
              </a:rPr>
              <a:t>年内</a:t>
            </a:r>
            <a:endParaRPr lang="en-US" sz="900" dirty="0"/>
          </a:p>
        </p:txBody>
      </p:sp>
      <p:sp>
        <p:nvSpPr>
          <p:cNvPr id="33" name="Text 29"/>
          <p:cNvSpPr/>
          <p:nvPr/>
        </p:nvSpPr>
        <p:spPr>
          <a:xfrm>
            <a:off x="9841535" y="4961534"/>
            <a:ext cx="1689964" cy="384048"/>
          </a:xfrm>
          <a:prstGeom prst="rect">
            <a:avLst/>
          </a:prstGeom>
          <a:noFill/>
          <a:ln/>
        </p:spPr>
        <p:txBody>
          <a:bodyPr wrap="square" lIns="0" tIns="0" rIns="0" bIns="0" rtlCol="0" anchor="ctr"/>
          <a:lstStyle/>
          <a:p>
            <a:pPr algn="ctr" indent="0" marL="0">
              <a:buNone/>
            </a:pPr>
            <a:r>
              <a:rPr lang="en-US" sz="1900" b="1" dirty="0">
                <a:solidFill>
                  <a:srgbClr val="A8761F"/>
                </a:solidFill>
                <a:latin typeface="Arial" pitchFamily="34" charset="0"/>
                <a:ea typeface="Arial" pitchFamily="34" charset="-122"/>
                <a:cs typeface="Arial" pitchFamily="34" charset="-120"/>
              </a:rPr>
              <a:t>＋10</a:t>
            </a:r>
            <a:r>
              <a:rPr lang="en-US" sz="950" b="1" dirty="0">
                <a:solidFill>
                  <a:srgbClr val="A8761F"/>
                </a:solidFill>
                <a:latin typeface="Yu Gothic" pitchFamily="34" charset="0"/>
                <a:ea typeface="Yu Gothic" pitchFamily="34" charset="-122"/>
                <a:cs typeface="Yu Gothic" pitchFamily="34" charset="-120"/>
              </a:rPr>
              <a:t> 店舗以上</a:t>
            </a:r>
            <a:endParaRPr lang="en-US" sz="1900" dirty="0"/>
          </a:p>
        </p:txBody>
      </p:sp>
      <p:sp>
        <p:nvSpPr>
          <p:cNvPr id="34" name="Text 30"/>
          <p:cNvSpPr/>
          <p:nvPr/>
        </p:nvSpPr>
        <p:spPr>
          <a:xfrm>
            <a:off x="660197" y="5619902"/>
            <a:ext cx="10871302" cy="237744"/>
          </a:xfrm>
          <a:prstGeom prst="rect">
            <a:avLst/>
          </a:prstGeom>
          <a:noFill/>
          <a:ln/>
        </p:spPr>
        <p:txBody>
          <a:bodyPr wrap="square" lIns="0" tIns="0" rIns="0" bIns="0" rtlCol="0" anchor="ctr"/>
          <a:lstStyle/>
          <a:p>
            <a:pPr indent="0" marL="0">
              <a:buNone/>
            </a:pPr>
            <a:r>
              <a:rPr lang="en-US" sz="1200" dirty="0">
                <a:solidFill>
                  <a:srgbClr val="0A3D23"/>
                </a:solidFill>
                <a:latin typeface="Yu Gothic" pitchFamily="34" charset="0"/>
                <a:ea typeface="Yu Gothic" pitchFamily="34" charset="-122"/>
                <a:cs typeface="Yu Gothic" pitchFamily="34" charset="-120"/>
              </a:rPr>
              <a:t>現在は </a:t>
            </a:r>
            <a:r>
              <a:rPr lang="en-US" sz="1200" b="1" dirty="0">
                <a:solidFill>
                  <a:srgbClr val="106838"/>
                </a:solidFill>
                <a:latin typeface="Yu Gothic" pitchFamily="34" charset="0"/>
                <a:ea typeface="Yu Gothic" pitchFamily="34" charset="-122"/>
                <a:cs typeface="Yu Gothic" pitchFamily="34" charset="-120"/>
              </a:rPr>
              <a:t>11都府県・全国71店舗</a:t>
            </a:r>
            <a:r>
              <a:rPr lang="en-US" sz="1200" dirty="0">
                <a:solidFill>
                  <a:srgbClr val="0A3D23"/>
                </a:solidFill>
                <a:latin typeface="Yu Gothic" pitchFamily="34" charset="0"/>
                <a:ea typeface="Yu Gothic" pitchFamily="34" charset="-122"/>
                <a:cs typeface="Yu Gothic" pitchFamily="34" charset="-120"/>
              </a:rPr>
              <a:t>。年内にさらに </a:t>
            </a:r>
            <a:r>
              <a:rPr lang="en-US" sz="1200" b="1" dirty="0">
                <a:solidFill>
                  <a:srgbClr val="106838"/>
                </a:solidFill>
                <a:latin typeface="Yu Gothic" pitchFamily="34" charset="0"/>
                <a:ea typeface="Yu Gothic" pitchFamily="34" charset="-122"/>
                <a:cs typeface="Yu Gothic" pitchFamily="34" charset="-120"/>
              </a:rPr>
              <a:t>10店舗以上</a:t>
            </a:r>
            <a:r>
              <a:rPr lang="en-US" sz="1200" dirty="0">
                <a:solidFill>
                  <a:srgbClr val="0A3D23"/>
                </a:solidFill>
                <a:latin typeface="Yu Gothic" pitchFamily="34" charset="0"/>
                <a:ea typeface="Yu Gothic" pitchFamily="34" charset="-122"/>
                <a:cs typeface="Yu Gothic" pitchFamily="34" charset="-120"/>
              </a:rPr>
              <a:t> の出店を予定。</a:t>
            </a:r>
            <a:endParaRPr lang="en-US" sz="1200" dirty="0"/>
          </a:p>
        </p:txBody>
      </p:sp>
      <p:sp>
        <p:nvSpPr>
          <p:cNvPr id="35" name="Text 31"/>
          <p:cNvSpPr/>
          <p:nvPr/>
        </p:nvSpPr>
        <p:spPr>
          <a:xfrm>
            <a:off x="660197" y="5894222"/>
            <a:ext cx="10871302" cy="182880"/>
          </a:xfrm>
          <a:prstGeom prst="rect">
            <a:avLst/>
          </a:prstGeom>
          <a:noFill/>
          <a:ln/>
        </p:spPr>
        <p:txBody>
          <a:bodyPr wrap="square" lIns="0" tIns="0" rIns="0" bIns="0" rtlCol="0" anchor="ctr"/>
          <a:lstStyle/>
          <a:p>
            <a:pPr indent="0" marL="0">
              <a:buNone/>
            </a:pPr>
            <a:r>
              <a:rPr lang="en-US" sz="850" dirty="0">
                <a:solidFill>
                  <a:srgbClr val="A8B0AA"/>
                </a:solidFill>
                <a:latin typeface="Yu Gothic" pitchFamily="34" charset="0"/>
                <a:ea typeface="Yu Gothic" pitchFamily="34" charset="-122"/>
                <a:cs typeface="Yu Gothic" pitchFamily="34" charset="-120"/>
              </a:rPr>
              <a:t>出典：社内管理台帳（営業中店舗の開店月ベース累計）／2026年7月時点。「年内」は今後の出店予定です。</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7"/>
        </a:solidFill>
      </p:bgPr>
    </p:bg>
    <p:spTree>
      <p:nvGrpSpPr>
        <p:cNvPr id="1" name=""/>
        <p:cNvGrpSpPr/>
        <p:nvPr/>
      </p:nvGrpSpPr>
      <p:grpSpPr>
        <a:xfrm>
          <a:off x="0" y="0"/>
          <a:ext cx="0" cy="0"/>
          <a:chOff x="0" y="0"/>
          <a:chExt cx="0" cy="0"/>
        </a:xfrm>
      </p:grpSpPr>
      <p:sp>
        <p:nvSpPr>
          <p:cNvPr id="2" name="Shape 0"/>
          <p:cNvSpPr/>
          <p:nvPr/>
        </p:nvSpPr>
        <p:spPr>
          <a:xfrm>
            <a:off x="660197" y="545897"/>
            <a:ext cx="202997" cy="25603"/>
          </a:xfrm>
          <a:prstGeom prst="rect">
            <a:avLst/>
          </a:prstGeom>
          <a:solidFill>
            <a:srgbClr val="106838"/>
          </a:solidFill>
          <a:ln/>
        </p:spPr>
      </p:sp>
      <p:sp>
        <p:nvSpPr>
          <p:cNvPr id="3" name="Text 1"/>
          <p:cNvSpPr/>
          <p:nvPr/>
        </p:nvSpPr>
        <p:spPr>
          <a:xfrm>
            <a:off x="952805" y="444398"/>
            <a:ext cx="6400800" cy="177394"/>
          </a:xfrm>
          <a:prstGeom prst="rect">
            <a:avLst/>
          </a:prstGeom>
          <a:noFill/>
          <a:ln/>
        </p:spPr>
        <p:txBody>
          <a:bodyPr wrap="square" lIns="0" tIns="0" rIns="0" bIns="0" rtlCol="0" anchor="ctr"/>
          <a:lstStyle/>
          <a:p>
            <a:pPr indent="0" marL="0">
              <a:buNone/>
            </a:pPr>
            <a:r>
              <a:rPr lang="en-US" sz="1050" b="1" dirty="0">
                <a:solidFill>
                  <a:srgbClr val="A8761F"/>
                </a:solidFill>
                <a:latin typeface="Arial" pitchFamily="34" charset="0"/>
                <a:ea typeface="Arial" pitchFamily="34" charset="-122"/>
                <a:cs typeface="Arial" pitchFamily="34" charset="-120"/>
              </a:rPr>
              <a:t>08</a:t>
            </a:r>
            <a:r>
              <a:rPr lang="en-US" sz="1050" b="1" dirty="0">
                <a:solidFill>
                  <a:srgbClr val="1B8149"/>
                </a:solidFill>
                <a:latin typeface="Yu Gothic" pitchFamily="34" charset="0"/>
                <a:ea typeface="Yu Gothic" pitchFamily="34" charset="-122"/>
                <a:cs typeface="Yu Gothic" pitchFamily="34" charset="-120"/>
              </a:rPr>
              <a:t>   実績データ</a:t>
            </a:r>
            <a:endParaRPr lang="en-US" sz="1050" dirty="0"/>
          </a:p>
        </p:txBody>
      </p:sp>
      <p:sp>
        <p:nvSpPr>
          <p:cNvPr id="4" name="Text 2"/>
          <p:cNvSpPr/>
          <p:nvPr/>
        </p:nvSpPr>
        <p:spPr>
          <a:xfrm>
            <a:off x="660197" y="660197"/>
            <a:ext cx="8889797" cy="508406"/>
          </a:xfrm>
          <a:prstGeom prst="rect">
            <a:avLst/>
          </a:prstGeom>
          <a:noFill/>
          <a:ln/>
        </p:spPr>
        <p:txBody>
          <a:bodyPr wrap="square" lIns="0" tIns="0" rIns="0" bIns="0" rtlCol="0" anchor="ctr"/>
          <a:lstStyle/>
          <a:p>
            <a:pPr indent="0" marL="0">
              <a:buNone/>
            </a:pPr>
            <a:r>
              <a:rPr lang="en-US" sz="2900" b="1" dirty="0">
                <a:solidFill>
                  <a:srgbClr val="0A3D23"/>
                </a:solidFill>
                <a:latin typeface="Yu Gothic" pitchFamily="34" charset="0"/>
                <a:ea typeface="Yu Gothic" pitchFamily="34" charset="-122"/>
                <a:cs typeface="Yu Gothic" pitchFamily="34" charset="-120"/>
              </a:rPr>
              <a:t>月間利用者数の推移</a:t>
            </a:r>
            <a:endParaRPr lang="en-US" sz="2900" dirty="0"/>
          </a:p>
        </p:txBody>
      </p:sp>
      <p:sp>
        <p:nvSpPr>
          <p:cNvPr id="5" name="Text 3"/>
          <p:cNvSpPr/>
          <p:nvPr/>
        </p:nvSpPr>
        <p:spPr>
          <a:xfrm>
            <a:off x="660197" y="1308506"/>
            <a:ext cx="10032797" cy="228600"/>
          </a:xfrm>
          <a:prstGeom prst="rect">
            <a:avLst/>
          </a:prstGeom>
          <a:noFill/>
          <a:ln/>
        </p:spPr>
        <p:txBody>
          <a:bodyPr wrap="square" lIns="0" tIns="0" rIns="0" bIns="0" rtlCol="0" anchor="ctr"/>
          <a:lstStyle/>
          <a:p>
            <a:pPr indent="0" marL="0">
              <a:buNone/>
            </a:pPr>
            <a:r>
              <a:rPr lang="en-US" sz="1250" dirty="0">
                <a:solidFill>
                  <a:srgbClr val="4B5550"/>
                </a:solidFill>
                <a:latin typeface="Yu Gothic" pitchFamily="34" charset="0"/>
                <a:ea typeface="Yu Gothic" pitchFamily="34" charset="-122"/>
                <a:cs typeface="Yu Gothic" pitchFamily="34" charset="-120"/>
              </a:rPr>
              <a:t>ブランドの認知拡大とともに、月間の利用者数は約10万人規模まで拡大しました。</a:t>
            </a:r>
            <a:endParaRPr lang="en-US" sz="1250" dirty="0"/>
          </a:p>
        </p:txBody>
      </p:sp>
      <p:pic>
        <p:nvPicPr>
          <p:cNvPr id="6" name="Image 0" descr="/home/user/suzuki-ceo/selfcafe-gyomu-deck/assets/logo-green.png">    </p:cNvPr>
          <p:cNvPicPr>
            <a:picLocks noChangeAspect="1"/>
          </p:cNvPicPr>
          <p:nvPr/>
        </p:nvPicPr>
        <p:blipFill>
          <a:blip r:embed="rId1"/>
          <a:stretch>
            <a:fillRect/>
          </a:stretch>
        </p:blipFill>
        <p:spPr>
          <a:xfrm>
            <a:off x="9855403" y="482803"/>
            <a:ext cx="1676095" cy="238658"/>
          </a:xfrm>
          <a:prstGeom prst="rect">
            <a:avLst/>
          </a:prstGeom>
        </p:spPr>
      </p:pic>
      <p:sp>
        <p:nvSpPr>
          <p:cNvPr id="7" name="Text 4"/>
          <p:cNvSpPr/>
          <p:nvPr/>
        </p:nvSpPr>
        <p:spPr>
          <a:xfrm>
            <a:off x="660197" y="6476695"/>
            <a:ext cx="5080406" cy="152705"/>
          </a:xfrm>
          <a:prstGeom prst="rect">
            <a:avLst/>
          </a:prstGeom>
          <a:noFill/>
          <a:ln/>
        </p:spPr>
        <p:txBody>
          <a:bodyPr wrap="square" lIns="0" tIns="0" rIns="0" bIns="0" rtlCol="0" anchor="ctr"/>
          <a:lstStyle/>
          <a:p>
            <a:pPr indent="0" marL="0">
              <a:buNone/>
            </a:pPr>
            <a:r>
              <a:rPr lang="en-US" sz="900" dirty="0">
                <a:solidFill>
                  <a:srgbClr val="A8B0AA"/>
                </a:solidFill>
                <a:latin typeface="Yu Gothic" pitchFamily="34" charset="0"/>
                <a:ea typeface="Yu Gothic" pitchFamily="34" charset="-122"/>
                <a:cs typeface="Yu Gothic" pitchFamily="34" charset="-120"/>
              </a:rPr>
              <a:t>セルフカフェ 業務委託型制度</a:t>
            </a:r>
            <a:endParaRPr lang="en-US" sz="900" dirty="0"/>
          </a:p>
        </p:txBody>
      </p:sp>
      <p:sp>
        <p:nvSpPr>
          <p:cNvPr id="8" name="Text 5"/>
          <p:cNvSpPr/>
          <p:nvPr/>
        </p:nvSpPr>
        <p:spPr>
          <a:xfrm>
            <a:off x="10261397" y="6463894"/>
            <a:ext cx="1270102" cy="152705"/>
          </a:xfrm>
          <a:prstGeom prst="rect">
            <a:avLst/>
          </a:prstGeom>
          <a:noFill/>
          <a:ln/>
        </p:spPr>
        <p:txBody>
          <a:bodyPr wrap="square" lIns="0" tIns="0" rIns="0" bIns="0" rtlCol="0" anchor="ctr"/>
          <a:lstStyle/>
          <a:p>
            <a:pPr algn="r" indent="0" marL="0">
              <a:buNone/>
            </a:pPr>
            <a:r>
              <a:rPr lang="en-US" sz="1000" b="1" dirty="0">
                <a:solidFill>
                  <a:srgbClr val="7E8882"/>
                </a:solidFill>
                <a:latin typeface="Arial" pitchFamily="34" charset="0"/>
                <a:ea typeface="Arial" pitchFamily="34" charset="-122"/>
                <a:cs typeface="Arial" pitchFamily="34" charset="-120"/>
              </a:rPr>
              <a:t>09</a:t>
            </a:r>
            <a:endParaRPr lang="en-US" sz="1000" dirty="0"/>
          </a:p>
        </p:txBody>
      </p:sp>
      <p:sp>
        <p:nvSpPr>
          <p:cNvPr id="9" name="Shape 6"/>
          <p:cNvSpPr/>
          <p:nvPr/>
        </p:nvSpPr>
        <p:spPr>
          <a:xfrm>
            <a:off x="660197" y="1651406"/>
            <a:ext cx="7680960" cy="3712464"/>
          </a:xfrm>
          <a:prstGeom prst="roundRect">
            <a:avLst>
              <a:gd name="adj" fmla="val 1478"/>
            </a:avLst>
          </a:prstGeom>
          <a:solidFill>
            <a:srgbClr val="FFFFFF"/>
          </a:solidFill>
          <a:ln w="9525">
            <a:solidFill>
              <a:srgbClr val="EFEAE0"/>
            </a:solidFill>
            <a:prstDash val="solid"/>
          </a:ln>
        </p:spPr>
      </p:sp>
      <p:sp>
        <p:nvSpPr>
          <p:cNvPr id="10" name="Text 7"/>
          <p:cNvSpPr/>
          <p:nvPr/>
        </p:nvSpPr>
        <p:spPr>
          <a:xfrm>
            <a:off x="934517" y="1834286"/>
            <a:ext cx="7132320" cy="237744"/>
          </a:xfrm>
          <a:prstGeom prst="rect">
            <a:avLst/>
          </a:prstGeom>
          <a:noFill/>
          <a:ln/>
        </p:spPr>
        <p:txBody>
          <a:bodyPr wrap="square" lIns="0" tIns="0" rIns="0" bIns="0" rtlCol="0" anchor="ctr"/>
          <a:lstStyle/>
          <a:p>
            <a:pPr indent="0" marL="0">
              <a:buNone/>
            </a:pPr>
            <a:r>
              <a:rPr lang="en-US" sz="1100" b="1" dirty="0">
                <a:solidFill>
                  <a:srgbClr val="0A3D23"/>
                </a:solidFill>
                <a:latin typeface="Yu Gothic" pitchFamily="34" charset="0"/>
                <a:ea typeface="Yu Gothic" pitchFamily="34" charset="-122"/>
                <a:cs typeface="Yu Gothic" pitchFamily="34" charset="-120"/>
              </a:rPr>
              <a:t>全社月間利用者数（各月の合計）／店舗数の拡大に比例して拡大</a:t>
            </a:r>
            <a:endParaRPr lang="en-US" sz="1100" dirty="0"/>
          </a:p>
        </p:txBody>
      </p:sp>
      <p:sp>
        <p:nvSpPr>
          <p:cNvPr id="11" name="Text 8"/>
          <p:cNvSpPr/>
          <p:nvPr/>
        </p:nvSpPr>
        <p:spPr>
          <a:xfrm>
            <a:off x="934517" y="2072030"/>
            <a:ext cx="7132320" cy="201168"/>
          </a:xfrm>
          <a:prstGeom prst="rect">
            <a:avLst/>
          </a:prstGeom>
          <a:noFill/>
          <a:ln/>
        </p:spPr>
        <p:txBody>
          <a:bodyPr wrap="square" lIns="0" tIns="0" rIns="0" bIns="0" rtlCol="0" anchor="ctr"/>
          <a:lstStyle/>
          <a:p>
            <a:pPr indent="0" marL="0">
              <a:buNone/>
            </a:pPr>
            <a:r>
              <a:rPr lang="en-US" sz="900" dirty="0">
                <a:solidFill>
                  <a:srgbClr val="7E8882"/>
                </a:solidFill>
                <a:latin typeface="Yu Gothic" pitchFamily="34" charset="0"/>
                <a:ea typeface="Yu Gothic" pitchFamily="34" charset="-122"/>
                <a:cs typeface="Yu Gothic" pitchFamily="34" charset="-120"/>
              </a:rPr>
              <a:t>2023.01 〜 2026.07（半期ごとの推移）</a:t>
            </a:r>
            <a:endParaRPr lang="en-US" sz="900" dirty="0"/>
          </a:p>
        </p:txBody>
      </p:sp>
      <p:sp>
        <p:nvSpPr>
          <p:cNvPr id="12" name="Shape 9"/>
          <p:cNvSpPr/>
          <p:nvPr/>
        </p:nvSpPr>
        <p:spPr>
          <a:xfrm>
            <a:off x="989381" y="4851806"/>
            <a:ext cx="7022592" cy="12802"/>
          </a:xfrm>
          <a:prstGeom prst="rect">
            <a:avLst/>
          </a:prstGeom>
          <a:solidFill>
            <a:srgbClr val="EFEAE0"/>
          </a:solidFill>
          <a:ln/>
        </p:spPr>
      </p:sp>
      <p:sp>
        <p:nvSpPr>
          <p:cNvPr id="13" name="Shape 10"/>
          <p:cNvSpPr/>
          <p:nvPr/>
        </p:nvSpPr>
        <p:spPr>
          <a:xfrm>
            <a:off x="1183691" y="4819802"/>
            <a:ext cx="585216" cy="32004"/>
          </a:xfrm>
          <a:prstGeom prst="rect">
            <a:avLst/>
          </a:prstGeom>
          <a:solidFill>
            <a:srgbClr val="D8E8DE"/>
          </a:solidFill>
          <a:ln/>
        </p:spPr>
      </p:sp>
      <p:sp>
        <p:nvSpPr>
          <p:cNvPr id="14" name="Text 11"/>
          <p:cNvSpPr/>
          <p:nvPr/>
        </p:nvSpPr>
        <p:spPr>
          <a:xfrm>
            <a:off x="790499" y="4545482"/>
            <a:ext cx="1371600" cy="219456"/>
          </a:xfrm>
          <a:prstGeom prst="rect">
            <a:avLst/>
          </a:prstGeom>
          <a:noFill/>
          <a:ln/>
        </p:spPr>
        <p:txBody>
          <a:bodyPr wrap="square" lIns="0" tIns="0" rIns="0" bIns="0" rtlCol="0" anchor="ctr"/>
          <a:lstStyle/>
          <a:p>
            <a:pPr algn="ctr" indent="0" marL="0">
              <a:buNone/>
            </a:pPr>
            <a:r>
              <a:rPr lang="en-US" sz="1000" b="1" dirty="0">
                <a:solidFill>
                  <a:srgbClr val="7E8882"/>
                </a:solidFill>
                <a:latin typeface="Yu Gothic" pitchFamily="34" charset="0"/>
                <a:ea typeface="Yu Gothic" pitchFamily="34" charset="-122"/>
                <a:cs typeface="Yu Gothic" pitchFamily="34" charset="-120"/>
              </a:rPr>
              <a:t>約900人</a:t>
            </a:r>
            <a:endParaRPr lang="en-US" sz="1000" dirty="0"/>
          </a:p>
        </p:txBody>
      </p:sp>
      <p:sp>
        <p:nvSpPr>
          <p:cNvPr id="15" name="Text 12"/>
          <p:cNvSpPr/>
          <p:nvPr/>
        </p:nvSpPr>
        <p:spPr>
          <a:xfrm>
            <a:off x="1044245" y="4924958"/>
            <a:ext cx="864108" cy="201168"/>
          </a:xfrm>
          <a:prstGeom prst="rect">
            <a:avLst/>
          </a:prstGeom>
          <a:noFill/>
          <a:ln/>
        </p:spPr>
        <p:txBody>
          <a:bodyPr wrap="square" lIns="0" tIns="0" rIns="0" bIns="0" rtlCol="0" anchor="ctr"/>
          <a:lstStyle/>
          <a:p>
            <a:pPr algn="ctr" indent="0" marL="0">
              <a:buNone/>
            </a:pPr>
            <a:r>
              <a:rPr lang="en-US" sz="1050" b="1" dirty="0">
                <a:solidFill>
                  <a:srgbClr val="7E8882"/>
                </a:solidFill>
                <a:latin typeface="Arial" pitchFamily="34" charset="0"/>
                <a:ea typeface="Arial" pitchFamily="34" charset="-122"/>
                <a:cs typeface="Arial" pitchFamily="34" charset="-120"/>
              </a:rPr>
              <a:t>23.01</a:t>
            </a:r>
            <a:endParaRPr lang="en-US" sz="1050" dirty="0"/>
          </a:p>
        </p:txBody>
      </p:sp>
      <p:sp>
        <p:nvSpPr>
          <p:cNvPr id="16" name="Shape 13"/>
          <p:cNvSpPr/>
          <p:nvPr/>
        </p:nvSpPr>
        <p:spPr>
          <a:xfrm>
            <a:off x="2047799" y="4819802"/>
            <a:ext cx="585216" cy="32004"/>
          </a:xfrm>
          <a:prstGeom prst="rect">
            <a:avLst/>
          </a:prstGeom>
          <a:solidFill>
            <a:srgbClr val="CCE0D4"/>
          </a:solidFill>
          <a:ln/>
        </p:spPr>
      </p:sp>
      <p:sp>
        <p:nvSpPr>
          <p:cNvPr id="17" name="Text 14"/>
          <p:cNvSpPr/>
          <p:nvPr/>
        </p:nvSpPr>
        <p:spPr>
          <a:xfrm>
            <a:off x="1654607" y="4545482"/>
            <a:ext cx="1371600" cy="219456"/>
          </a:xfrm>
          <a:prstGeom prst="rect">
            <a:avLst/>
          </a:prstGeom>
          <a:noFill/>
          <a:ln/>
        </p:spPr>
        <p:txBody>
          <a:bodyPr wrap="square" lIns="0" tIns="0" rIns="0" bIns="0" rtlCol="0" anchor="ctr"/>
          <a:lstStyle/>
          <a:p>
            <a:pPr algn="ctr" indent="0" marL="0">
              <a:buNone/>
            </a:pPr>
            <a:r>
              <a:rPr lang="en-US" sz="1000" b="1" dirty="0">
                <a:solidFill>
                  <a:srgbClr val="7E8882"/>
                </a:solidFill>
                <a:latin typeface="Yu Gothic" pitchFamily="34" charset="0"/>
                <a:ea typeface="Yu Gothic" pitchFamily="34" charset="-122"/>
                <a:cs typeface="Yu Gothic" pitchFamily="34" charset="-120"/>
              </a:rPr>
              <a:t>約1,400人</a:t>
            </a:r>
            <a:endParaRPr lang="en-US" sz="1000" dirty="0"/>
          </a:p>
        </p:txBody>
      </p:sp>
      <p:sp>
        <p:nvSpPr>
          <p:cNvPr id="18" name="Text 15"/>
          <p:cNvSpPr/>
          <p:nvPr/>
        </p:nvSpPr>
        <p:spPr>
          <a:xfrm>
            <a:off x="1908353" y="4924958"/>
            <a:ext cx="864108" cy="201168"/>
          </a:xfrm>
          <a:prstGeom prst="rect">
            <a:avLst/>
          </a:prstGeom>
          <a:noFill/>
          <a:ln/>
        </p:spPr>
        <p:txBody>
          <a:bodyPr wrap="square" lIns="0" tIns="0" rIns="0" bIns="0" rtlCol="0" anchor="ctr"/>
          <a:lstStyle/>
          <a:p>
            <a:pPr algn="ctr" indent="0" marL="0">
              <a:buNone/>
            </a:pPr>
            <a:r>
              <a:rPr lang="en-US" sz="1050" b="1" dirty="0">
                <a:solidFill>
                  <a:srgbClr val="7E8882"/>
                </a:solidFill>
                <a:latin typeface="Arial" pitchFamily="34" charset="0"/>
                <a:ea typeface="Arial" pitchFamily="34" charset="-122"/>
                <a:cs typeface="Arial" pitchFamily="34" charset="-120"/>
              </a:rPr>
              <a:t>23.07</a:t>
            </a:r>
            <a:endParaRPr lang="en-US" sz="1050" dirty="0"/>
          </a:p>
        </p:txBody>
      </p:sp>
      <p:sp>
        <p:nvSpPr>
          <p:cNvPr id="19" name="Shape 16"/>
          <p:cNvSpPr/>
          <p:nvPr/>
        </p:nvSpPr>
        <p:spPr>
          <a:xfrm>
            <a:off x="2911907" y="4746731"/>
            <a:ext cx="585216" cy="105076"/>
          </a:xfrm>
          <a:prstGeom prst="rect">
            <a:avLst/>
          </a:prstGeom>
          <a:solidFill>
            <a:srgbClr val="B8D4C2"/>
          </a:solidFill>
          <a:ln/>
        </p:spPr>
      </p:sp>
      <p:sp>
        <p:nvSpPr>
          <p:cNvPr id="20" name="Text 17"/>
          <p:cNvSpPr/>
          <p:nvPr/>
        </p:nvSpPr>
        <p:spPr>
          <a:xfrm>
            <a:off x="2518715" y="4472411"/>
            <a:ext cx="1371600" cy="219456"/>
          </a:xfrm>
          <a:prstGeom prst="rect">
            <a:avLst/>
          </a:prstGeom>
          <a:noFill/>
          <a:ln/>
        </p:spPr>
        <p:txBody>
          <a:bodyPr wrap="square" lIns="0" tIns="0" rIns="0" bIns="0" rtlCol="0" anchor="ctr"/>
          <a:lstStyle/>
          <a:p>
            <a:pPr algn="ctr" indent="0" marL="0">
              <a:buNone/>
            </a:pPr>
            <a:r>
              <a:rPr lang="en-US" sz="1000" b="1" dirty="0">
                <a:solidFill>
                  <a:srgbClr val="7E8882"/>
                </a:solidFill>
                <a:latin typeface="Yu Gothic" pitchFamily="34" charset="0"/>
                <a:ea typeface="Yu Gothic" pitchFamily="34" charset="-122"/>
                <a:cs typeface="Yu Gothic" pitchFamily="34" charset="-120"/>
              </a:rPr>
              <a:t>約9,700人</a:t>
            </a:r>
            <a:endParaRPr lang="en-US" sz="1000" dirty="0"/>
          </a:p>
        </p:txBody>
      </p:sp>
      <p:sp>
        <p:nvSpPr>
          <p:cNvPr id="21" name="Text 18"/>
          <p:cNvSpPr/>
          <p:nvPr/>
        </p:nvSpPr>
        <p:spPr>
          <a:xfrm>
            <a:off x="2772461" y="4924958"/>
            <a:ext cx="864108" cy="201168"/>
          </a:xfrm>
          <a:prstGeom prst="rect">
            <a:avLst/>
          </a:prstGeom>
          <a:noFill/>
          <a:ln/>
        </p:spPr>
        <p:txBody>
          <a:bodyPr wrap="square" lIns="0" tIns="0" rIns="0" bIns="0" rtlCol="0" anchor="ctr"/>
          <a:lstStyle/>
          <a:p>
            <a:pPr algn="ctr" indent="0" marL="0">
              <a:buNone/>
            </a:pPr>
            <a:r>
              <a:rPr lang="en-US" sz="1050" b="1" dirty="0">
                <a:solidFill>
                  <a:srgbClr val="7E8882"/>
                </a:solidFill>
                <a:latin typeface="Arial" pitchFamily="34" charset="0"/>
                <a:ea typeface="Arial" pitchFamily="34" charset="-122"/>
                <a:cs typeface="Arial" pitchFamily="34" charset="-120"/>
              </a:rPr>
              <a:t>24.01</a:t>
            </a:r>
            <a:endParaRPr lang="en-US" sz="1050" dirty="0"/>
          </a:p>
        </p:txBody>
      </p:sp>
      <p:sp>
        <p:nvSpPr>
          <p:cNvPr id="22" name="Shape 19"/>
          <p:cNvSpPr/>
          <p:nvPr/>
        </p:nvSpPr>
        <p:spPr>
          <a:xfrm>
            <a:off x="3776015" y="4467090"/>
            <a:ext cx="585216" cy="384717"/>
          </a:xfrm>
          <a:prstGeom prst="rect">
            <a:avLst/>
          </a:prstGeom>
          <a:solidFill>
            <a:srgbClr val="9CC3AA"/>
          </a:solidFill>
          <a:ln/>
        </p:spPr>
      </p:sp>
      <p:sp>
        <p:nvSpPr>
          <p:cNvPr id="23" name="Text 20"/>
          <p:cNvSpPr/>
          <p:nvPr/>
        </p:nvSpPr>
        <p:spPr>
          <a:xfrm>
            <a:off x="3382823" y="4192770"/>
            <a:ext cx="1371600" cy="219456"/>
          </a:xfrm>
          <a:prstGeom prst="rect">
            <a:avLst/>
          </a:prstGeom>
          <a:noFill/>
          <a:ln/>
        </p:spPr>
        <p:txBody>
          <a:bodyPr wrap="square" lIns="0" tIns="0" rIns="0" bIns="0" rtlCol="0" anchor="ctr"/>
          <a:lstStyle/>
          <a:p>
            <a:pPr algn="ctr" indent="0" marL="0">
              <a:buNone/>
            </a:pPr>
            <a:r>
              <a:rPr lang="en-US" sz="1000" b="1" dirty="0">
                <a:solidFill>
                  <a:srgbClr val="7E8882"/>
                </a:solidFill>
                <a:latin typeface="Yu Gothic" pitchFamily="34" charset="0"/>
                <a:ea typeface="Yu Gothic" pitchFamily="34" charset="-122"/>
                <a:cs typeface="Yu Gothic" pitchFamily="34" charset="-120"/>
              </a:rPr>
              <a:t>約2.6万人</a:t>
            </a:r>
            <a:endParaRPr lang="en-US" sz="1000" dirty="0"/>
          </a:p>
        </p:txBody>
      </p:sp>
      <p:sp>
        <p:nvSpPr>
          <p:cNvPr id="24" name="Text 21"/>
          <p:cNvSpPr/>
          <p:nvPr/>
        </p:nvSpPr>
        <p:spPr>
          <a:xfrm>
            <a:off x="3636569" y="4924958"/>
            <a:ext cx="864108" cy="201168"/>
          </a:xfrm>
          <a:prstGeom prst="rect">
            <a:avLst/>
          </a:prstGeom>
          <a:noFill/>
          <a:ln/>
        </p:spPr>
        <p:txBody>
          <a:bodyPr wrap="square" lIns="0" tIns="0" rIns="0" bIns="0" rtlCol="0" anchor="ctr"/>
          <a:lstStyle/>
          <a:p>
            <a:pPr algn="ctr" indent="0" marL="0">
              <a:buNone/>
            </a:pPr>
            <a:r>
              <a:rPr lang="en-US" sz="1050" b="1" dirty="0">
                <a:solidFill>
                  <a:srgbClr val="7E8882"/>
                </a:solidFill>
                <a:latin typeface="Arial" pitchFamily="34" charset="0"/>
                <a:ea typeface="Arial" pitchFamily="34" charset="-122"/>
                <a:cs typeface="Arial" pitchFamily="34" charset="-120"/>
              </a:rPr>
              <a:t>24.07</a:t>
            </a:r>
            <a:endParaRPr lang="en-US" sz="1050" dirty="0"/>
          </a:p>
        </p:txBody>
      </p:sp>
      <p:sp>
        <p:nvSpPr>
          <p:cNvPr id="25" name="Shape 22"/>
          <p:cNvSpPr/>
          <p:nvPr/>
        </p:nvSpPr>
        <p:spPr>
          <a:xfrm>
            <a:off x="4640123" y="4058915"/>
            <a:ext cx="585216" cy="792891"/>
          </a:xfrm>
          <a:prstGeom prst="rect">
            <a:avLst/>
          </a:prstGeom>
          <a:solidFill>
            <a:srgbClr val="7BAE8F"/>
          </a:solidFill>
          <a:ln/>
        </p:spPr>
      </p:sp>
      <p:sp>
        <p:nvSpPr>
          <p:cNvPr id="26" name="Text 23"/>
          <p:cNvSpPr/>
          <p:nvPr/>
        </p:nvSpPr>
        <p:spPr>
          <a:xfrm>
            <a:off x="4246931" y="3784595"/>
            <a:ext cx="1371600" cy="219456"/>
          </a:xfrm>
          <a:prstGeom prst="rect">
            <a:avLst/>
          </a:prstGeom>
          <a:noFill/>
          <a:ln/>
        </p:spPr>
        <p:txBody>
          <a:bodyPr wrap="square" lIns="0" tIns="0" rIns="0" bIns="0" rtlCol="0" anchor="ctr"/>
          <a:lstStyle/>
          <a:p>
            <a:pPr algn="ctr" indent="0" marL="0">
              <a:buNone/>
            </a:pPr>
            <a:r>
              <a:rPr lang="en-US" sz="1000" b="1" dirty="0">
                <a:solidFill>
                  <a:srgbClr val="106838"/>
                </a:solidFill>
                <a:latin typeface="Yu Gothic" pitchFamily="34" charset="0"/>
                <a:ea typeface="Yu Gothic" pitchFamily="34" charset="-122"/>
                <a:cs typeface="Yu Gothic" pitchFamily="34" charset="-120"/>
              </a:rPr>
              <a:t>約4.6万人</a:t>
            </a:r>
            <a:endParaRPr lang="en-US" sz="1000" dirty="0"/>
          </a:p>
        </p:txBody>
      </p:sp>
      <p:sp>
        <p:nvSpPr>
          <p:cNvPr id="27" name="Text 24"/>
          <p:cNvSpPr/>
          <p:nvPr/>
        </p:nvSpPr>
        <p:spPr>
          <a:xfrm>
            <a:off x="4500677" y="4924958"/>
            <a:ext cx="864108" cy="201168"/>
          </a:xfrm>
          <a:prstGeom prst="rect">
            <a:avLst/>
          </a:prstGeom>
          <a:noFill/>
          <a:ln/>
        </p:spPr>
        <p:txBody>
          <a:bodyPr wrap="square" lIns="0" tIns="0" rIns="0" bIns="0" rtlCol="0" anchor="ctr"/>
          <a:lstStyle/>
          <a:p>
            <a:pPr algn="ctr" indent="0" marL="0">
              <a:buNone/>
            </a:pPr>
            <a:r>
              <a:rPr lang="en-US" sz="1050" b="1" dirty="0">
                <a:solidFill>
                  <a:srgbClr val="7E8882"/>
                </a:solidFill>
                <a:latin typeface="Arial" pitchFamily="34" charset="0"/>
                <a:ea typeface="Arial" pitchFamily="34" charset="-122"/>
                <a:cs typeface="Arial" pitchFamily="34" charset="-120"/>
              </a:rPr>
              <a:t>25.01</a:t>
            </a:r>
            <a:endParaRPr lang="en-US" sz="1050" dirty="0"/>
          </a:p>
        </p:txBody>
      </p:sp>
      <p:sp>
        <p:nvSpPr>
          <p:cNvPr id="28" name="Shape 25"/>
          <p:cNvSpPr/>
          <p:nvPr/>
        </p:nvSpPr>
        <p:spPr>
          <a:xfrm>
            <a:off x="5504231" y="3374736"/>
            <a:ext cx="585216" cy="1477070"/>
          </a:xfrm>
          <a:prstGeom prst="rect">
            <a:avLst/>
          </a:prstGeom>
          <a:solidFill>
            <a:srgbClr val="579970"/>
          </a:solidFill>
          <a:ln/>
        </p:spPr>
      </p:sp>
      <p:sp>
        <p:nvSpPr>
          <p:cNvPr id="29" name="Text 26"/>
          <p:cNvSpPr/>
          <p:nvPr/>
        </p:nvSpPr>
        <p:spPr>
          <a:xfrm>
            <a:off x="5111039" y="3100416"/>
            <a:ext cx="1371600" cy="219456"/>
          </a:xfrm>
          <a:prstGeom prst="rect">
            <a:avLst/>
          </a:prstGeom>
          <a:noFill/>
          <a:ln/>
        </p:spPr>
        <p:txBody>
          <a:bodyPr wrap="square" lIns="0" tIns="0" rIns="0" bIns="0" rtlCol="0" anchor="ctr"/>
          <a:lstStyle/>
          <a:p>
            <a:pPr algn="ctr" indent="0" marL="0">
              <a:buNone/>
            </a:pPr>
            <a:r>
              <a:rPr lang="en-US" sz="1000" b="1" dirty="0">
                <a:solidFill>
                  <a:srgbClr val="106838"/>
                </a:solidFill>
                <a:latin typeface="Yu Gothic" pitchFamily="34" charset="0"/>
                <a:ea typeface="Yu Gothic" pitchFamily="34" charset="-122"/>
                <a:cs typeface="Yu Gothic" pitchFamily="34" charset="-120"/>
              </a:rPr>
              <a:t>約7.4万人</a:t>
            </a:r>
            <a:endParaRPr lang="en-US" sz="1000" dirty="0"/>
          </a:p>
        </p:txBody>
      </p:sp>
      <p:sp>
        <p:nvSpPr>
          <p:cNvPr id="30" name="Text 27"/>
          <p:cNvSpPr/>
          <p:nvPr/>
        </p:nvSpPr>
        <p:spPr>
          <a:xfrm>
            <a:off x="5364785" y="4924958"/>
            <a:ext cx="864108" cy="201168"/>
          </a:xfrm>
          <a:prstGeom prst="rect">
            <a:avLst/>
          </a:prstGeom>
          <a:noFill/>
          <a:ln/>
        </p:spPr>
        <p:txBody>
          <a:bodyPr wrap="square" lIns="0" tIns="0" rIns="0" bIns="0" rtlCol="0" anchor="ctr"/>
          <a:lstStyle/>
          <a:p>
            <a:pPr algn="ctr" indent="0" marL="0">
              <a:buNone/>
            </a:pPr>
            <a:r>
              <a:rPr lang="en-US" sz="1050" b="1" dirty="0">
                <a:solidFill>
                  <a:srgbClr val="7E8882"/>
                </a:solidFill>
                <a:latin typeface="Arial" pitchFamily="34" charset="0"/>
                <a:ea typeface="Arial" pitchFamily="34" charset="-122"/>
                <a:cs typeface="Arial" pitchFamily="34" charset="-120"/>
              </a:rPr>
              <a:t>25.07</a:t>
            </a:r>
            <a:endParaRPr lang="en-US" sz="1050" dirty="0"/>
          </a:p>
        </p:txBody>
      </p:sp>
      <p:sp>
        <p:nvSpPr>
          <p:cNvPr id="31" name="Shape 28"/>
          <p:cNvSpPr/>
          <p:nvPr/>
        </p:nvSpPr>
        <p:spPr>
          <a:xfrm>
            <a:off x="6368339" y="3216871"/>
            <a:ext cx="585216" cy="1634936"/>
          </a:xfrm>
          <a:prstGeom prst="rect">
            <a:avLst/>
          </a:prstGeom>
          <a:solidFill>
            <a:srgbClr val="2E824F"/>
          </a:solidFill>
          <a:ln/>
        </p:spPr>
      </p:sp>
      <p:sp>
        <p:nvSpPr>
          <p:cNvPr id="32" name="Text 29"/>
          <p:cNvSpPr/>
          <p:nvPr/>
        </p:nvSpPr>
        <p:spPr>
          <a:xfrm>
            <a:off x="5975147" y="2942551"/>
            <a:ext cx="1371600" cy="219456"/>
          </a:xfrm>
          <a:prstGeom prst="rect">
            <a:avLst/>
          </a:prstGeom>
          <a:noFill/>
          <a:ln/>
        </p:spPr>
        <p:txBody>
          <a:bodyPr wrap="square" lIns="0" tIns="0" rIns="0" bIns="0" rtlCol="0" anchor="ctr"/>
          <a:lstStyle/>
          <a:p>
            <a:pPr algn="ctr" indent="0" marL="0">
              <a:buNone/>
            </a:pPr>
            <a:r>
              <a:rPr lang="en-US" sz="1000" b="1" dirty="0">
                <a:solidFill>
                  <a:srgbClr val="106838"/>
                </a:solidFill>
                <a:latin typeface="Yu Gothic" pitchFamily="34" charset="0"/>
                <a:ea typeface="Yu Gothic" pitchFamily="34" charset="-122"/>
                <a:cs typeface="Yu Gothic" pitchFamily="34" charset="-120"/>
              </a:rPr>
              <a:t>約8.0万人</a:t>
            </a:r>
            <a:endParaRPr lang="en-US" sz="1000" dirty="0"/>
          </a:p>
        </p:txBody>
      </p:sp>
      <p:sp>
        <p:nvSpPr>
          <p:cNvPr id="33" name="Text 30"/>
          <p:cNvSpPr/>
          <p:nvPr/>
        </p:nvSpPr>
        <p:spPr>
          <a:xfrm>
            <a:off x="6228893" y="4924958"/>
            <a:ext cx="864108" cy="201168"/>
          </a:xfrm>
          <a:prstGeom prst="rect">
            <a:avLst/>
          </a:prstGeom>
          <a:noFill/>
          <a:ln/>
        </p:spPr>
        <p:txBody>
          <a:bodyPr wrap="square" lIns="0" tIns="0" rIns="0" bIns="0" rtlCol="0" anchor="ctr"/>
          <a:lstStyle/>
          <a:p>
            <a:pPr algn="ctr" indent="0" marL="0">
              <a:buNone/>
            </a:pPr>
            <a:r>
              <a:rPr lang="en-US" sz="1050" b="1" dirty="0">
                <a:solidFill>
                  <a:srgbClr val="7E8882"/>
                </a:solidFill>
                <a:latin typeface="Arial" pitchFamily="34" charset="0"/>
                <a:ea typeface="Arial" pitchFamily="34" charset="-122"/>
                <a:cs typeface="Arial" pitchFamily="34" charset="-120"/>
              </a:rPr>
              <a:t>26.01</a:t>
            </a:r>
            <a:endParaRPr lang="en-US" sz="1050" dirty="0"/>
          </a:p>
        </p:txBody>
      </p:sp>
      <p:sp>
        <p:nvSpPr>
          <p:cNvPr id="34" name="Shape 31"/>
          <p:cNvSpPr/>
          <p:nvPr/>
        </p:nvSpPr>
        <p:spPr>
          <a:xfrm>
            <a:off x="7232447" y="2638958"/>
            <a:ext cx="585216" cy="2212848"/>
          </a:xfrm>
          <a:prstGeom prst="rect">
            <a:avLst/>
          </a:prstGeom>
          <a:solidFill>
            <a:srgbClr val="106838"/>
          </a:solidFill>
          <a:ln/>
        </p:spPr>
      </p:sp>
      <p:sp>
        <p:nvSpPr>
          <p:cNvPr id="35" name="Shape 32"/>
          <p:cNvSpPr/>
          <p:nvPr/>
        </p:nvSpPr>
        <p:spPr>
          <a:xfrm>
            <a:off x="6610655" y="2108606"/>
            <a:ext cx="1828800" cy="457200"/>
          </a:xfrm>
          <a:prstGeom prst="roundRect">
            <a:avLst>
              <a:gd name="adj" fmla="val 50000"/>
            </a:avLst>
          </a:prstGeom>
          <a:solidFill>
            <a:srgbClr val="A8761F"/>
          </a:solidFill>
          <a:ln/>
        </p:spPr>
      </p:sp>
      <p:sp>
        <p:nvSpPr>
          <p:cNvPr id="36" name="Text 33"/>
          <p:cNvSpPr/>
          <p:nvPr/>
        </p:nvSpPr>
        <p:spPr>
          <a:xfrm>
            <a:off x="6610655" y="2108606"/>
            <a:ext cx="1828800" cy="457200"/>
          </a:xfrm>
          <a:prstGeom prst="rect">
            <a:avLst/>
          </a:prstGeom>
          <a:noFill/>
          <a:ln/>
        </p:spPr>
        <p:txBody>
          <a:bodyPr wrap="square" lIns="0" tIns="0" rIns="0" bIns="0" rtlCol="0" anchor="ctr"/>
          <a:lstStyle/>
          <a:p>
            <a:pPr algn="ctr" indent="0" marL="0">
              <a:buNone/>
            </a:pPr>
            <a:r>
              <a:rPr lang="en-US" sz="1100" dirty="0">
                <a:solidFill>
                  <a:srgbClr val="FFFFFF"/>
                </a:solidFill>
                <a:latin typeface="Yu Gothic" pitchFamily="34" charset="0"/>
                <a:ea typeface="Yu Gothic" pitchFamily="34" charset="-122"/>
                <a:cs typeface="Yu Gothic" pitchFamily="34" charset="-120"/>
              </a:rPr>
              <a:t>現在 </a:t>
            </a:r>
            <a:r>
              <a:rPr lang="en-US" sz="1600" b="1" dirty="0">
                <a:solidFill>
                  <a:srgbClr val="FFFFFF"/>
                </a:solidFill>
                <a:latin typeface="Yu Gothic" pitchFamily="34" charset="0"/>
                <a:ea typeface="Yu Gothic" pitchFamily="34" charset="-122"/>
                <a:cs typeface="Yu Gothic" pitchFamily="34" charset="-120"/>
              </a:rPr>
              <a:t>約10万人</a:t>
            </a:r>
            <a:endParaRPr lang="en-US" sz="1100" dirty="0"/>
          </a:p>
        </p:txBody>
      </p:sp>
      <p:sp>
        <p:nvSpPr>
          <p:cNvPr id="37" name="Text 34"/>
          <p:cNvSpPr/>
          <p:nvPr/>
        </p:nvSpPr>
        <p:spPr>
          <a:xfrm>
            <a:off x="7093001" y="4924958"/>
            <a:ext cx="864108" cy="201168"/>
          </a:xfrm>
          <a:prstGeom prst="rect">
            <a:avLst/>
          </a:prstGeom>
          <a:noFill/>
          <a:ln/>
        </p:spPr>
        <p:txBody>
          <a:bodyPr wrap="square" lIns="0" tIns="0" rIns="0" bIns="0" rtlCol="0" anchor="ctr"/>
          <a:lstStyle/>
          <a:p>
            <a:pPr algn="ctr" indent="0" marL="0">
              <a:buNone/>
            </a:pPr>
            <a:r>
              <a:rPr lang="en-US" sz="1050" b="1" dirty="0">
                <a:solidFill>
                  <a:srgbClr val="7E8882"/>
                </a:solidFill>
                <a:latin typeface="Arial" pitchFamily="34" charset="0"/>
                <a:ea typeface="Arial" pitchFamily="34" charset="-122"/>
                <a:cs typeface="Arial" pitchFamily="34" charset="-120"/>
              </a:rPr>
              <a:t>26.07</a:t>
            </a:r>
            <a:endParaRPr lang="en-US" sz="1050" dirty="0"/>
          </a:p>
        </p:txBody>
      </p:sp>
      <p:sp>
        <p:nvSpPr>
          <p:cNvPr id="38" name="Text 35"/>
          <p:cNvSpPr/>
          <p:nvPr/>
        </p:nvSpPr>
        <p:spPr>
          <a:xfrm>
            <a:off x="1300277" y="3882542"/>
            <a:ext cx="2377440" cy="182880"/>
          </a:xfrm>
          <a:prstGeom prst="rect">
            <a:avLst/>
          </a:prstGeom>
          <a:noFill/>
          <a:ln/>
        </p:spPr>
        <p:txBody>
          <a:bodyPr wrap="square" lIns="0" tIns="0" rIns="0" bIns="0" rtlCol="0" anchor="ctr"/>
          <a:lstStyle/>
          <a:p>
            <a:pPr indent="0" marL="0">
              <a:buNone/>
            </a:pPr>
            <a:r>
              <a:rPr lang="en-US" sz="950" b="1" dirty="0">
                <a:solidFill>
                  <a:srgbClr val="A8761F"/>
                </a:solidFill>
                <a:latin typeface="Arial" pitchFamily="34" charset="0"/>
                <a:ea typeface="Arial" pitchFamily="34" charset="-122"/>
                <a:cs typeface="Arial" pitchFamily="34" charset="-120"/>
              </a:rPr>
              <a:t>22.09</a:t>
            </a:r>
            <a:endParaRPr lang="en-US" sz="950" dirty="0"/>
          </a:p>
        </p:txBody>
      </p:sp>
      <p:sp>
        <p:nvSpPr>
          <p:cNvPr id="39" name="Text 36"/>
          <p:cNvSpPr/>
          <p:nvPr/>
        </p:nvSpPr>
        <p:spPr>
          <a:xfrm>
            <a:off x="1300277" y="4083710"/>
            <a:ext cx="2377440" cy="182880"/>
          </a:xfrm>
          <a:prstGeom prst="rect">
            <a:avLst/>
          </a:prstGeom>
          <a:noFill/>
          <a:ln/>
        </p:spPr>
        <p:txBody>
          <a:bodyPr wrap="square" lIns="0" tIns="0" rIns="0" bIns="0" rtlCol="0" anchor="ctr"/>
          <a:lstStyle/>
          <a:p>
            <a:pPr indent="0" marL="0">
              <a:buNone/>
            </a:pPr>
            <a:r>
              <a:rPr lang="en-US" sz="1050" b="1" dirty="0">
                <a:solidFill>
                  <a:srgbClr val="0A3D23"/>
                </a:solidFill>
                <a:latin typeface="Yu Gothic" pitchFamily="34" charset="0"/>
                <a:ea typeface="Yu Gothic" pitchFamily="34" charset="-122"/>
                <a:cs typeface="Yu Gothic" pitchFamily="34" charset="-120"/>
              </a:rPr>
              <a:t>1号店・ささしまライブ店 OPEN</a:t>
            </a:r>
            <a:endParaRPr lang="en-US" sz="1050" dirty="0"/>
          </a:p>
        </p:txBody>
      </p:sp>
      <p:sp>
        <p:nvSpPr>
          <p:cNvPr id="40" name="Shape 37"/>
          <p:cNvSpPr/>
          <p:nvPr/>
        </p:nvSpPr>
        <p:spPr>
          <a:xfrm>
            <a:off x="1172261" y="4330598"/>
            <a:ext cx="0" cy="457200"/>
          </a:xfrm>
          <a:prstGeom prst="line">
            <a:avLst/>
          </a:prstGeom>
          <a:noFill/>
          <a:ln w="12700">
            <a:solidFill>
              <a:srgbClr val="A8761F"/>
            </a:solidFill>
            <a:prstDash val="dash"/>
          </a:ln>
        </p:spPr>
      </p:sp>
      <p:sp>
        <p:nvSpPr>
          <p:cNvPr id="41" name="Shape 38"/>
          <p:cNvSpPr/>
          <p:nvPr/>
        </p:nvSpPr>
        <p:spPr>
          <a:xfrm>
            <a:off x="1135685" y="4783226"/>
            <a:ext cx="73152" cy="73152"/>
          </a:xfrm>
          <a:prstGeom prst="ellipse">
            <a:avLst/>
          </a:prstGeom>
          <a:solidFill>
            <a:srgbClr val="A8761F"/>
          </a:solidFill>
          <a:ln/>
        </p:spPr>
      </p:sp>
      <p:sp>
        <p:nvSpPr>
          <p:cNvPr id="42" name="Text 39"/>
          <p:cNvSpPr/>
          <p:nvPr/>
        </p:nvSpPr>
        <p:spPr>
          <a:xfrm>
            <a:off x="2900477" y="3041294"/>
            <a:ext cx="2377440" cy="182880"/>
          </a:xfrm>
          <a:prstGeom prst="rect">
            <a:avLst/>
          </a:prstGeom>
          <a:noFill/>
          <a:ln/>
        </p:spPr>
        <p:txBody>
          <a:bodyPr wrap="square" lIns="0" tIns="0" rIns="0" bIns="0" rtlCol="0" anchor="ctr"/>
          <a:lstStyle/>
          <a:p>
            <a:pPr indent="0" marL="0">
              <a:buNone/>
            </a:pPr>
            <a:r>
              <a:rPr lang="en-US" sz="950" b="1" dirty="0">
                <a:solidFill>
                  <a:srgbClr val="A8761F"/>
                </a:solidFill>
                <a:latin typeface="Arial" pitchFamily="34" charset="0"/>
                <a:ea typeface="Arial" pitchFamily="34" charset="-122"/>
                <a:cs typeface="Arial" pitchFamily="34" charset="-120"/>
              </a:rPr>
              <a:t>23.09</a:t>
            </a:r>
            <a:endParaRPr lang="en-US" sz="950" dirty="0"/>
          </a:p>
        </p:txBody>
      </p:sp>
      <p:sp>
        <p:nvSpPr>
          <p:cNvPr id="43" name="Text 40"/>
          <p:cNvSpPr/>
          <p:nvPr/>
        </p:nvSpPr>
        <p:spPr>
          <a:xfrm>
            <a:off x="2900477" y="3242462"/>
            <a:ext cx="2377440" cy="182880"/>
          </a:xfrm>
          <a:prstGeom prst="rect">
            <a:avLst/>
          </a:prstGeom>
          <a:noFill/>
          <a:ln/>
        </p:spPr>
        <p:txBody>
          <a:bodyPr wrap="square" lIns="0" tIns="0" rIns="0" bIns="0" rtlCol="0" anchor="ctr"/>
          <a:lstStyle/>
          <a:p>
            <a:pPr indent="0" marL="0">
              <a:buNone/>
            </a:pPr>
            <a:r>
              <a:rPr lang="en-US" sz="1050" b="1" dirty="0">
                <a:solidFill>
                  <a:srgbClr val="0A3D23"/>
                </a:solidFill>
                <a:latin typeface="Yu Gothic" pitchFamily="34" charset="0"/>
                <a:ea typeface="Yu Gothic" pitchFamily="34" charset="-122"/>
                <a:cs typeface="Yu Gothic" pitchFamily="34" charset="-120"/>
              </a:rPr>
              <a:t>2店舗目・千種店 OPEN</a:t>
            </a:r>
            <a:endParaRPr lang="en-US" sz="1050" dirty="0"/>
          </a:p>
        </p:txBody>
      </p:sp>
      <p:sp>
        <p:nvSpPr>
          <p:cNvPr id="44" name="Text 41"/>
          <p:cNvSpPr/>
          <p:nvPr/>
        </p:nvSpPr>
        <p:spPr>
          <a:xfrm>
            <a:off x="2900477" y="3443630"/>
            <a:ext cx="2377440" cy="182880"/>
          </a:xfrm>
          <a:prstGeom prst="rect">
            <a:avLst/>
          </a:prstGeom>
          <a:noFill/>
          <a:ln/>
        </p:spPr>
        <p:txBody>
          <a:bodyPr wrap="square" lIns="0" tIns="0" rIns="0" bIns="0" rtlCol="0" anchor="ctr"/>
          <a:lstStyle/>
          <a:p>
            <a:pPr indent="0" marL="0">
              <a:buNone/>
            </a:pPr>
            <a:r>
              <a:rPr lang="en-US" sz="1000" b="1" dirty="0">
                <a:solidFill>
                  <a:srgbClr val="106838"/>
                </a:solidFill>
                <a:latin typeface="Yu Gothic" pitchFamily="34" charset="0"/>
                <a:ea typeface="Yu Gothic" pitchFamily="34" charset="-122"/>
                <a:cs typeface="Yu Gothic" pitchFamily="34" charset="-120"/>
              </a:rPr>
              <a:t>ここから店舗展開開始</a:t>
            </a:r>
            <a:endParaRPr lang="en-US" sz="1000" dirty="0"/>
          </a:p>
        </p:txBody>
      </p:sp>
      <p:sp>
        <p:nvSpPr>
          <p:cNvPr id="45" name="Shape 42"/>
          <p:cNvSpPr/>
          <p:nvPr/>
        </p:nvSpPr>
        <p:spPr>
          <a:xfrm>
            <a:off x="2772461" y="3690518"/>
            <a:ext cx="0" cy="1097280"/>
          </a:xfrm>
          <a:prstGeom prst="line">
            <a:avLst/>
          </a:prstGeom>
          <a:noFill/>
          <a:ln w="12700">
            <a:solidFill>
              <a:srgbClr val="A8761F"/>
            </a:solidFill>
            <a:prstDash val="dash"/>
          </a:ln>
        </p:spPr>
      </p:sp>
      <p:sp>
        <p:nvSpPr>
          <p:cNvPr id="46" name="Shape 43"/>
          <p:cNvSpPr/>
          <p:nvPr/>
        </p:nvSpPr>
        <p:spPr>
          <a:xfrm>
            <a:off x="2735885" y="4783226"/>
            <a:ext cx="73152" cy="73152"/>
          </a:xfrm>
          <a:prstGeom prst="ellipse">
            <a:avLst/>
          </a:prstGeom>
          <a:solidFill>
            <a:srgbClr val="A8761F"/>
          </a:solidFill>
          <a:ln/>
        </p:spPr>
      </p:sp>
      <p:sp>
        <p:nvSpPr>
          <p:cNvPr id="47" name="Shape 44"/>
          <p:cNvSpPr/>
          <p:nvPr/>
        </p:nvSpPr>
        <p:spPr>
          <a:xfrm flipV="1">
            <a:off x="3439973" y="3333902"/>
            <a:ext cx="1956816" cy="786384"/>
          </a:xfrm>
          <a:prstGeom prst="line">
            <a:avLst/>
          </a:prstGeom>
          <a:noFill/>
          <a:ln w="57150">
            <a:solidFill>
              <a:srgbClr val="A8761F"/>
            </a:solidFill>
            <a:prstDash val="solid"/>
            <a:tailEnd type="triangle"/>
          </a:ln>
        </p:spPr>
      </p:sp>
      <p:sp>
        <p:nvSpPr>
          <p:cNvPr id="48" name="Shape 45"/>
          <p:cNvSpPr/>
          <p:nvPr/>
        </p:nvSpPr>
        <p:spPr>
          <a:xfrm>
            <a:off x="8725205" y="1651406"/>
            <a:ext cx="2806294" cy="1133856"/>
          </a:xfrm>
          <a:prstGeom prst="roundRect">
            <a:avLst>
              <a:gd name="adj" fmla="val 4839"/>
            </a:avLst>
          </a:prstGeom>
          <a:solidFill>
            <a:srgbClr val="0C5230"/>
          </a:solidFill>
          <a:ln/>
        </p:spPr>
      </p:sp>
      <p:sp>
        <p:nvSpPr>
          <p:cNvPr id="49" name="Text 46"/>
          <p:cNvSpPr/>
          <p:nvPr/>
        </p:nvSpPr>
        <p:spPr>
          <a:xfrm>
            <a:off x="8962949" y="1834286"/>
            <a:ext cx="2330806" cy="402336"/>
          </a:xfrm>
          <a:prstGeom prst="rect">
            <a:avLst/>
          </a:prstGeom>
          <a:noFill/>
          <a:ln/>
        </p:spPr>
        <p:txBody>
          <a:bodyPr wrap="square" lIns="0" tIns="0" rIns="0" bIns="0" rtlCol="0" anchor="ctr"/>
          <a:lstStyle/>
          <a:p>
            <a:pPr indent="0" marL="0">
              <a:buNone/>
            </a:pPr>
            <a:r>
              <a:rPr lang="en-US" sz="2600" b="1" dirty="0">
                <a:solidFill>
                  <a:srgbClr val="FFFFFF"/>
                </a:solidFill>
                <a:latin typeface="Yu Gothic" pitchFamily="34" charset="0"/>
                <a:ea typeface="Yu Gothic" pitchFamily="34" charset="-122"/>
                <a:cs typeface="Yu Gothic" pitchFamily="34" charset="-120"/>
              </a:rPr>
              <a:t>約10</a:t>
            </a:r>
            <a:r>
              <a:rPr lang="en-US" sz="1200" b="1" dirty="0">
                <a:solidFill>
                  <a:srgbClr val="8CC5A5"/>
                </a:solidFill>
                <a:latin typeface="Yu Gothic" pitchFamily="34" charset="0"/>
                <a:ea typeface="Yu Gothic" pitchFamily="34" charset="-122"/>
                <a:cs typeface="Yu Gothic" pitchFamily="34" charset="-120"/>
              </a:rPr>
              <a:t> 万人</a:t>
            </a:r>
            <a:endParaRPr lang="en-US" sz="2600" dirty="0"/>
          </a:p>
        </p:txBody>
      </p:sp>
      <p:sp>
        <p:nvSpPr>
          <p:cNvPr id="50" name="Text 47"/>
          <p:cNvSpPr/>
          <p:nvPr/>
        </p:nvSpPr>
        <p:spPr>
          <a:xfrm>
            <a:off x="8962949" y="2309774"/>
            <a:ext cx="2330806" cy="365760"/>
          </a:xfrm>
          <a:prstGeom prst="rect">
            <a:avLst/>
          </a:prstGeom>
          <a:noFill/>
          <a:ln/>
        </p:spPr>
        <p:txBody>
          <a:bodyPr wrap="square" lIns="0" tIns="0" rIns="0" bIns="0" rtlCol="0" anchor="t"/>
          <a:lstStyle/>
          <a:p>
            <a:pPr indent="0" marL="0">
              <a:lnSpc>
                <a:spcPct val="120000"/>
              </a:lnSpc>
              <a:buNone/>
            </a:pPr>
            <a:r>
              <a:rPr lang="en-US" sz="1000" dirty="0">
                <a:solidFill>
                  <a:srgbClr val="AFC2B8"/>
                </a:solidFill>
                <a:latin typeface="Yu Gothic" pitchFamily="34" charset="0"/>
                <a:ea typeface="Yu Gothic" pitchFamily="34" charset="-122"/>
                <a:cs typeface="Yu Gothic" pitchFamily="34" charset="-120"/>
              </a:rPr>
              <a:t>2026年7月の月間利用者数</a:t>
            </a:r>
            <a:endParaRPr lang="en-US" sz="1000" dirty="0"/>
          </a:p>
        </p:txBody>
      </p:sp>
      <p:sp>
        <p:nvSpPr>
          <p:cNvPr id="51" name="Shape 48"/>
          <p:cNvSpPr/>
          <p:nvPr/>
        </p:nvSpPr>
        <p:spPr>
          <a:xfrm>
            <a:off x="8725205" y="2949854"/>
            <a:ext cx="2806294" cy="1133856"/>
          </a:xfrm>
          <a:prstGeom prst="roundRect">
            <a:avLst>
              <a:gd name="adj" fmla="val 4839"/>
            </a:avLst>
          </a:prstGeom>
          <a:solidFill>
            <a:srgbClr val="F1F8F3"/>
          </a:solidFill>
          <a:ln w="9525">
            <a:solidFill>
              <a:srgbClr val="D2E7DA"/>
            </a:solidFill>
            <a:prstDash val="solid"/>
          </a:ln>
        </p:spPr>
      </p:sp>
      <p:sp>
        <p:nvSpPr>
          <p:cNvPr id="52" name="Text 49"/>
          <p:cNvSpPr/>
          <p:nvPr/>
        </p:nvSpPr>
        <p:spPr>
          <a:xfrm>
            <a:off x="8962949" y="3132734"/>
            <a:ext cx="2330806" cy="402336"/>
          </a:xfrm>
          <a:prstGeom prst="rect">
            <a:avLst/>
          </a:prstGeom>
          <a:noFill/>
          <a:ln/>
        </p:spPr>
        <p:txBody>
          <a:bodyPr wrap="square" lIns="0" tIns="0" rIns="0" bIns="0" rtlCol="0" anchor="ctr"/>
          <a:lstStyle/>
          <a:p>
            <a:pPr indent="0" marL="0">
              <a:buNone/>
            </a:pPr>
            <a:r>
              <a:rPr lang="en-US" sz="2600" b="1" dirty="0">
                <a:solidFill>
                  <a:srgbClr val="106838"/>
                </a:solidFill>
                <a:latin typeface="Yu Gothic" pitchFamily="34" charset="0"/>
                <a:ea typeface="Yu Gothic" pitchFamily="34" charset="-122"/>
                <a:cs typeface="Yu Gothic" pitchFamily="34" charset="-120"/>
              </a:rPr>
              <a:t>約100</a:t>
            </a:r>
            <a:r>
              <a:rPr lang="en-US" sz="1200" b="1" dirty="0">
                <a:solidFill>
                  <a:srgbClr val="106838"/>
                </a:solidFill>
                <a:latin typeface="Yu Gothic" pitchFamily="34" charset="0"/>
                <a:ea typeface="Yu Gothic" pitchFamily="34" charset="-122"/>
                <a:cs typeface="Yu Gothic" pitchFamily="34" charset="-120"/>
              </a:rPr>
              <a:t> 倍</a:t>
            </a:r>
            <a:endParaRPr lang="en-US" sz="2600" dirty="0"/>
          </a:p>
        </p:txBody>
      </p:sp>
      <p:sp>
        <p:nvSpPr>
          <p:cNvPr id="53" name="Text 50"/>
          <p:cNvSpPr/>
          <p:nvPr/>
        </p:nvSpPr>
        <p:spPr>
          <a:xfrm>
            <a:off x="8962949" y="3608222"/>
            <a:ext cx="2330806" cy="365760"/>
          </a:xfrm>
          <a:prstGeom prst="rect">
            <a:avLst/>
          </a:prstGeom>
          <a:noFill/>
          <a:ln/>
        </p:spPr>
        <p:txBody>
          <a:bodyPr wrap="square" lIns="0" tIns="0" rIns="0" bIns="0" rtlCol="0" anchor="t"/>
          <a:lstStyle/>
          <a:p>
            <a:pPr indent="0" marL="0">
              <a:lnSpc>
                <a:spcPct val="120000"/>
              </a:lnSpc>
              <a:buNone/>
            </a:pPr>
            <a:r>
              <a:rPr lang="en-US" sz="1000" dirty="0">
                <a:solidFill>
                  <a:srgbClr val="7E8882"/>
                </a:solidFill>
                <a:latin typeface="Yu Gothic" pitchFamily="34" charset="0"/>
                <a:ea typeface="Yu Gothic" pitchFamily="34" charset="-122"/>
                <a:cs typeface="Yu Gothic" pitchFamily="34" charset="-120"/>
              </a:rPr>
              <a:t>3年半での月間利用者数の伸び</a:t>
            </a:r>
            <a:endParaRPr lang="en-US" sz="1000" dirty="0"/>
          </a:p>
        </p:txBody>
      </p:sp>
      <p:sp>
        <p:nvSpPr>
          <p:cNvPr id="54" name="Shape 51"/>
          <p:cNvSpPr/>
          <p:nvPr/>
        </p:nvSpPr>
        <p:spPr>
          <a:xfrm>
            <a:off x="8725205" y="4248302"/>
            <a:ext cx="2806294" cy="1133856"/>
          </a:xfrm>
          <a:prstGeom prst="roundRect">
            <a:avLst>
              <a:gd name="adj" fmla="val 4839"/>
            </a:avLst>
          </a:prstGeom>
          <a:solidFill>
            <a:srgbClr val="F1F8F3"/>
          </a:solidFill>
          <a:ln w="9525">
            <a:solidFill>
              <a:srgbClr val="D2E7DA"/>
            </a:solidFill>
            <a:prstDash val="solid"/>
          </a:ln>
        </p:spPr>
      </p:sp>
      <p:sp>
        <p:nvSpPr>
          <p:cNvPr id="55" name="Text 52"/>
          <p:cNvSpPr/>
          <p:nvPr/>
        </p:nvSpPr>
        <p:spPr>
          <a:xfrm>
            <a:off x="8962949" y="4431182"/>
            <a:ext cx="2330806" cy="402336"/>
          </a:xfrm>
          <a:prstGeom prst="rect">
            <a:avLst/>
          </a:prstGeom>
          <a:noFill/>
          <a:ln/>
        </p:spPr>
        <p:txBody>
          <a:bodyPr wrap="square" lIns="0" tIns="0" rIns="0" bIns="0" rtlCol="0" anchor="ctr"/>
          <a:lstStyle/>
          <a:p>
            <a:pPr indent="0" marL="0">
              <a:buNone/>
            </a:pPr>
            <a:r>
              <a:rPr lang="en-US" sz="2600" b="1" dirty="0">
                <a:solidFill>
                  <a:srgbClr val="106838"/>
                </a:solidFill>
                <a:latin typeface="Arial" pitchFamily="34" charset="0"/>
                <a:ea typeface="Arial" pitchFamily="34" charset="-122"/>
                <a:cs typeface="Arial" pitchFamily="34" charset="-120"/>
              </a:rPr>
              <a:t>1,400</a:t>
            </a:r>
            <a:r>
              <a:rPr lang="en-US" sz="1200" b="1" dirty="0">
                <a:solidFill>
                  <a:srgbClr val="106838"/>
                </a:solidFill>
                <a:latin typeface="Yu Gothic" pitchFamily="34" charset="0"/>
                <a:ea typeface="Yu Gothic" pitchFamily="34" charset="-122"/>
                <a:cs typeface="Yu Gothic" pitchFamily="34" charset="-120"/>
              </a:rPr>
              <a:t> 人前後</a:t>
            </a:r>
            <a:endParaRPr lang="en-US" sz="2600" dirty="0"/>
          </a:p>
        </p:txBody>
      </p:sp>
      <p:sp>
        <p:nvSpPr>
          <p:cNvPr id="56" name="Text 53"/>
          <p:cNvSpPr/>
          <p:nvPr/>
        </p:nvSpPr>
        <p:spPr>
          <a:xfrm>
            <a:off x="8962949" y="4906670"/>
            <a:ext cx="2330806" cy="365760"/>
          </a:xfrm>
          <a:prstGeom prst="rect">
            <a:avLst/>
          </a:prstGeom>
          <a:noFill/>
          <a:ln/>
        </p:spPr>
        <p:txBody>
          <a:bodyPr wrap="square" lIns="0" tIns="0" rIns="0" bIns="0" rtlCol="0" anchor="t"/>
          <a:lstStyle/>
          <a:p>
            <a:pPr indent="0" marL="0">
              <a:lnSpc>
                <a:spcPct val="120000"/>
              </a:lnSpc>
              <a:buNone/>
            </a:pPr>
            <a:r>
              <a:rPr lang="en-US" sz="1000" dirty="0">
                <a:solidFill>
                  <a:srgbClr val="7E8882"/>
                </a:solidFill>
                <a:latin typeface="Yu Gothic" pitchFamily="34" charset="0"/>
                <a:ea typeface="Yu Gothic" pitchFamily="34" charset="-122"/>
                <a:cs typeface="Yu Gothic" pitchFamily="34" charset="-120"/>
              </a:rPr>
              <a:t>1店舗あたりの月間利用者数</a:t>
            </a:r>
            <a:endParaRPr lang="en-US" sz="1000" dirty="0"/>
          </a:p>
        </p:txBody>
      </p:sp>
      <p:sp>
        <p:nvSpPr>
          <p:cNvPr id="57" name="Text 54"/>
          <p:cNvSpPr/>
          <p:nvPr/>
        </p:nvSpPr>
        <p:spPr>
          <a:xfrm>
            <a:off x="660197" y="6035040"/>
            <a:ext cx="10871302" cy="182880"/>
          </a:xfrm>
          <a:prstGeom prst="rect">
            <a:avLst/>
          </a:prstGeom>
          <a:noFill/>
          <a:ln/>
        </p:spPr>
        <p:txBody>
          <a:bodyPr wrap="square" lIns="0" tIns="0" rIns="0" bIns="0" rtlCol="0" anchor="ctr"/>
          <a:lstStyle/>
          <a:p>
            <a:pPr indent="0" marL="0">
              <a:buNone/>
            </a:pPr>
            <a:r>
              <a:rPr lang="en-US" sz="850" dirty="0">
                <a:solidFill>
                  <a:srgbClr val="A8B0AA"/>
                </a:solidFill>
                <a:latin typeface="Yu Gothic" pitchFamily="34" charset="0"/>
                <a:ea typeface="Yu Gothic" pitchFamily="34" charset="-122"/>
                <a:cs typeface="Yu Gothic" pitchFamily="34" charset="-120"/>
              </a:rPr>
              <a:t>出典：社内管理台帳（各月の全社利用者数）／2026年7月時点。数値は概数、棒の高さは成長イメージを強調した表現です。</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7"/>
        </a:solidFill>
      </p:bgPr>
    </p:bg>
    <p:spTree>
      <p:nvGrpSpPr>
        <p:cNvPr id="1" name=""/>
        <p:cNvGrpSpPr/>
        <p:nvPr/>
      </p:nvGrpSpPr>
      <p:grpSpPr>
        <a:xfrm>
          <a:off x="0" y="0"/>
          <a:ext cx="0" cy="0"/>
          <a:chOff x="0" y="0"/>
          <a:chExt cx="0" cy="0"/>
        </a:xfrm>
      </p:grpSpPr>
      <p:sp>
        <p:nvSpPr>
          <p:cNvPr id="2" name="Shape 0"/>
          <p:cNvSpPr/>
          <p:nvPr/>
        </p:nvSpPr>
        <p:spPr>
          <a:xfrm>
            <a:off x="660197" y="545897"/>
            <a:ext cx="202997" cy="25603"/>
          </a:xfrm>
          <a:prstGeom prst="rect">
            <a:avLst/>
          </a:prstGeom>
          <a:solidFill>
            <a:srgbClr val="106838"/>
          </a:solidFill>
          <a:ln/>
        </p:spPr>
      </p:sp>
      <p:sp>
        <p:nvSpPr>
          <p:cNvPr id="3" name="Text 1"/>
          <p:cNvSpPr/>
          <p:nvPr/>
        </p:nvSpPr>
        <p:spPr>
          <a:xfrm>
            <a:off x="952805" y="444398"/>
            <a:ext cx="6400800" cy="177394"/>
          </a:xfrm>
          <a:prstGeom prst="rect">
            <a:avLst/>
          </a:prstGeom>
          <a:noFill/>
          <a:ln/>
        </p:spPr>
        <p:txBody>
          <a:bodyPr wrap="square" lIns="0" tIns="0" rIns="0" bIns="0" rtlCol="0" anchor="ctr"/>
          <a:lstStyle/>
          <a:p>
            <a:pPr indent="0" marL="0">
              <a:buNone/>
            </a:pPr>
            <a:r>
              <a:rPr lang="en-US" sz="1050" b="1" dirty="0">
                <a:solidFill>
                  <a:srgbClr val="A8761F"/>
                </a:solidFill>
                <a:latin typeface="Arial" pitchFamily="34" charset="0"/>
                <a:ea typeface="Arial" pitchFamily="34" charset="-122"/>
                <a:cs typeface="Arial" pitchFamily="34" charset="-120"/>
              </a:rPr>
              <a:t>09</a:t>
            </a:r>
            <a:r>
              <a:rPr lang="en-US" sz="1050" b="1" dirty="0">
                <a:solidFill>
                  <a:srgbClr val="1B8149"/>
                </a:solidFill>
                <a:latin typeface="Yu Gothic" pitchFamily="34" charset="0"/>
                <a:ea typeface="Yu Gothic" pitchFamily="34" charset="-122"/>
                <a:cs typeface="Yu Gothic" pitchFamily="34" charset="-120"/>
              </a:rPr>
              <a:t>   実績データ</a:t>
            </a:r>
            <a:endParaRPr lang="en-US" sz="1050" dirty="0"/>
          </a:p>
        </p:txBody>
      </p:sp>
      <p:sp>
        <p:nvSpPr>
          <p:cNvPr id="4" name="Text 2"/>
          <p:cNvSpPr/>
          <p:nvPr/>
        </p:nvSpPr>
        <p:spPr>
          <a:xfrm>
            <a:off x="660197" y="660197"/>
            <a:ext cx="8889797" cy="508406"/>
          </a:xfrm>
          <a:prstGeom prst="rect">
            <a:avLst/>
          </a:prstGeom>
          <a:noFill/>
          <a:ln/>
        </p:spPr>
        <p:txBody>
          <a:bodyPr wrap="square" lIns="0" tIns="0" rIns="0" bIns="0" rtlCol="0" anchor="ctr"/>
          <a:lstStyle/>
          <a:p>
            <a:pPr indent="0" marL="0">
              <a:buNone/>
            </a:pPr>
            <a:r>
              <a:rPr lang="en-US" sz="2900" b="1" dirty="0">
                <a:solidFill>
                  <a:srgbClr val="0A3D23"/>
                </a:solidFill>
                <a:latin typeface="Yu Gothic" pitchFamily="34" charset="0"/>
                <a:ea typeface="Yu Gothic" pitchFamily="34" charset="-122"/>
                <a:cs typeface="Yu Gothic" pitchFamily="34" charset="-120"/>
              </a:rPr>
              <a:t>開業6ヶ月以上の店舗、94.1%が営業黒字</a:t>
            </a:r>
            <a:endParaRPr lang="en-US" sz="2900" dirty="0"/>
          </a:p>
        </p:txBody>
      </p:sp>
      <p:sp>
        <p:nvSpPr>
          <p:cNvPr id="5" name="Text 3"/>
          <p:cNvSpPr/>
          <p:nvPr/>
        </p:nvSpPr>
        <p:spPr>
          <a:xfrm>
            <a:off x="660197" y="1308506"/>
            <a:ext cx="10032797" cy="228600"/>
          </a:xfrm>
          <a:prstGeom prst="rect">
            <a:avLst/>
          </a:prstGeom>
          <a:noFill/>
          <a:ln/>
        </p:spPr>
        <p:txBody>
          <a:bodyPr wrap="square" lIns="0" tIns="0" rIns="0" bIns="0" rtlCol="0" anchor="ctr"/>
          <a:lstStyle/>
          <a:p>
            <a:pPr indent="0" marL="0">
              <a:buNone/>
            </a:pPr>
            <a:r>
              <a:rPr lang="en-US" sz="1250" dirty="0">
                <a:solidFill>
                  <a:srgbClr val="4B5550"/>
                </a:solidFill>
                <a:latin typeface="Yu Gothic" pitchFamily="34" charset="0"/>
                <a:ea typeface="Yu Gothic" pitchFamily="34" charset="-122"/>
                <a:cs typeface="Yu Gothic" pitchFamily="34" charset="-120"/>
              </a:rPr>
              <a:t>成功店1店の話ではなく、既存店全体の「再現性」をご覧ください。</a:t>
            </a:r>
            <a:endParaRPr lang="en-US" sz="1250" dirty="0"/>
          </a:p>
        </p:txBody>
      </p:sp>
      <p:pic>
        <p:nvPicPr>
          <p:cNvPr id="6" name="Image 0" descr="/home/user/suzuki-ceo/selfcafe-gyomu-deck/assets/logo-green.png">    </p:cNvPr>
          <p:cNvPicPr>
            <a:picLocks noChangeAspect="1"/>
          </p:cNvPicPr>
          <p:nvPr/>
        </p:nvPicPr>
        <p:blipFill>
          <a:blip r:embed="rId1"/>
          <a:stretch>
            <a:fillRect/>
          </a:stretch>
        </p:blipFill>
        <p:spPr>
          <a:xfrm>
            <a:off x="9855403" y="482803"/>
            <a:ext cx="1676095" cy="238658"/>
          </a:xfrm>
          <a:prstGeom prst="rect">
            <a:avLst/>
          </a:prstGeom>
        </p:spPr>
      </p:pic>
      <p:sp>
        <p:nvSpPr>
          <p:cNvPr id="7" name="Text 4"/>
          <p:cNvSpPr/>
          <p:nvPr/>
        </p:nvSpPr>
        <p:spPr>
          <a:xfrm>
            <a:off x="660197" y="6476695"/>
            <a:ext cx="5080406" cy="152705"/>
          </a:xfrm>
          <a:prstGeom prst="rect">
            <a:avLst/>
          </a:prstGeom>
          <a:noFill/>
          <a:ln/>
        </p:spPr>
        <p:txBody>
          <a:bodyPr wrap="square" lIns="0" tIns="0" rIns="0" bIns="0" rtlCol="0" anchor="ctr"/>
          <a:lstStyle/>
          <a:p>
            <a:pPr indent="0" marL="0">
              <a:buNone/>
            </a:pPr>
            <a:r>
              <a:rPr lang="en-US" sz="900" dirty="0">
                <a:solidFill>
                  <a:srgbClr val="A8B0AA"/>
                </a:solidFill>
                <a:latin typeface="Yu Gothic" pitchFamily="34" charset="0"/>
                <a:ea typeface="Yu Gothic" pitchFamily="34" charset="-122"/>
                <a:cs typeface="Yu Gothic" pitchFamily="34" charset="-120"/>
              </a:rPr>
              <a:t>セルフカフェ 業務委託型制度</a:t>
            </a:r>
            <a:endParaRPr lang="en-US" sz="900" dirty="0"/>
          </a:p>
        </p:txBody>
      </p:sp>
      <p:sp>
        <p:nvSpPr>
          <p:cNvPr id="8" name="Text 5"/>
          <p:cNvSpPr/>
          <p:nvPr/>
        </p:nvSpPr>
        <p:spPr>
          <a:xfrm>
            <a:off x="10261397" y="6463894"/>
            <a:ext cx="1270102" cy="152705"/>
          </a:xfrm>
          <a:prstGeom prst="rect">
            <a:avLst/>
          </a:prstGeom>
          <a:noFill/>
          <a:ln/>
        </p:spPr>
        <p:txBody>
          <a:bodyPr wrap="square" lIns="0" tIns="0" rIns="0" bIns="0" rtlCol="0" anchor="ctr"/>
          <a:lstStyle/>
          <a:p>
            <a:pPr algn="r" indent="0" marL="0">
              <a:buNone/>
            </a:pPr>
            <a:r>
              <a:rPr lang="en-US" sz="1000" b="1" dirty="0">
                <a:solidFill>
                  <a:srgbClr val="7E8882"/>
                </a:solidFill>
                <a:latin typeface="Arial" pitchFamily="34" charset="0"/>
                <a:ea typeface="Arial" pitchFamily="34" charset="-122"/>
                <a:cs typeface="Arial" pitchFamily="34" charset="-120"/>
              </a:rPr>
              <a:t>10</a:t>
            </a:r>
            <a:endParaRPr lang="en-US" sz="1000" dirty="0"/>
          </a:p>
        </p:txBody>
      </p:sp>
      <p:sp>
        <p:nvSpPr>
          <p:cNvPr id="9" name="Shape 6"/>
          <p:cNvSpPr/>
          <p:nvPr/>
        </p:nvSpPr>
        <p:spPr>
          <a:xfrm>
            <a:off x="660197" y="1651406"/>
            <a:ext cx="4754880" cy="3657600"/>
          </a:xfrm>
          <a:prstGeom prst="roundRect">
            <a:avLst>
              <a:gd name="adj" fmla="val 1500"/>
            </a:avLst>
          </a:prstGeom>
          <a:solidFill>
            <a:srgbClr val="0C5230"/>
          </a:solidFill>
          <a:ln/>
        </p:spPr>
      </p:sp>
      <p:sp>
        <p:nvSpPr>
          <p:cNvPr id="10" name="Text 7"/>
          <p:cNvSpPr/>
          <p:nvPr/>
        </p:nvSpPr>
        <p:spPr>
          <a:xfrm>
            <a:off x="1025957" y="1962302"/>
            <a:ext cx="2743200" cy="164592"/>
          </a:xfrm>
          <a:prstGeom prst="rect">
            <a:avLst/>
          </a:prstGeom>
          <a:noFill/>
          <a:ln/>
        </p:spPr>
        <p:txBody>
          <a:bodyPr wrap="square" lIns="0" tIns="0" rIns="0" bIns="0" rtlCol="0" anchor="ctr"/>
          <a:lstStyle/>
          <a:p>
            <a:pPr indent="0" marL="0">
              <a:buNone/>
            </a:pPr>
            <a:r>
              <a:rPr lang="en-US" sz="900" b="1" spc="150" kern="0" dirty="0">
                <a:solidFill>
                  <a:srgbClr val="8CC5A5"/>
                </a:solidFill>
                <a:latin typeface="Arial" pitchFamily="34" charset="0"/>
                <a:ea typeface="Arial" pitchFamily="34" charset="-122"/>
                <a:cs typeface="Arial" pitchFamily="34" charset="-120"/>
              </a:rPr>
              <a:t>PROFITABILITY</a:t>
            </a:r>
            <a:endParaRPr lang="en-US" sz="900" dirty="0"/>
          </a:p>
        </p:txBody>
      </p:sp>
      <p:sp>
        <p:nvSpPr>
          <p:cNvPr id="11" name="Text 8"/>
          <p:cNvSpPr/>
          <p:nvPr/>
        </p:nvSpPr>
        <p:spPr>
          <a:xfrm>
            <a:off x="1025957" y="2309774"/>
            <a:ext cx="4023360" cy="1005840"/>
          </a:xfrm>
          <a:prstGeom prst="rect">
            <a:avLst/>
          </a:prstGeom>
          <a:noFill/>
          <a:ln/>
        </p:spPr>
        <p:txBody>
          <a:bodyPr wrap="square" lIns="0" tIns="0" rIns="0" bIns="0" rtlCol="0" anchor="ctr"/>
          <a:lstStyle/>
          <a:p>
            <a:pPr indent="0" marL="0">
              <a:buNone/>
            </a:pPr>
            <a:r>
              <a:rPr lang="en-US" sz="6000" b="1" dirty="0">
                <a:solidFill>
                  <a:srgbClr val="FFFFFF"/>
                </a:solidFill>
                <a:latin typeface="Arial" pitchFamily="34" charset="0"/>
                <a:ea typeface="Arial" pitchFamily="34" charset="-122"/>
                <a:cs typeface="Arial" pitchFamily="34" charset="-120"/>
              </a:rPr>
              <a:t>94.1</a:t>
            </a:r>
            <a:r>
              <a:rPr lang="en-US" sz="2600" b="1" dirty="0">
                <a:solidFill>
                  <a:srgbClr val="8CC5A5"/>
                </a:solidFill>
                <a:latin typeface="Arial" pitchFamily="34" charset="0"/>
                <a:ea typeface="Arial" pitchFamily="34" charset="-122"/>
                <a:cs typeface="Arial" pitchFamily="34" charset="-120"/>
              </a:rPr>
              <a:t> %</a:t>
            </a:r>
            <a:endParaRPr lang="en-US" sz="6000" dirty="0"/>
          </a:p>
        </p:txBody>
      </p:sp>
      <p:sp>
        <p:nvSpPr>
          <p:cNvPr id="12" name="Text 9"/>
          <p:cNvSpPr/>
          <p:nvPr/>
        </p:nvSpPr>
        <p:spPr>
          <a:xfrm>
            <a:off x="1025957" y="3425342"/>
            <a:ext cx="4023360" cy="292608"/>
          </a:xfrm>
          <a:prstGeom prst="rect">
            <a:avLst/>
          </a:prstGeom>
          <a:noFill/>
          <a:ln/>
        </p:spPr>
        <p:txBody>
          <a:bodyPr wrap="square" lIns="0" tIns="0" rIns="0" bIns="0" rtlCol="0" anchor="ctr"/>
          <a:lstStyle/>
          <a:p>
            <a:pPr indent="0" marL="0">
              <a:buNone/>
            </a:pPr>
            <a:r>
              <a:rPr lang="en-US" sz="1400" b="1" dirty="0">
                <a:solidFill>
                  <a:srgbClr val="FFFFFF"/>
                </a:solidFill>
                <a:latin typeface="Yu Gothic" pitchFamily="34" charset="0"/>
                <a:ea typeface="Yu Gothic" pitchFamily="34" charset="-122"/>
                <a:cs typeface="Yu Gothic" pitchFamily="34" charset="-120"/>
              </a:rPr>
              <a:t>営業黒字率</a:t>
            </a:r>
            <a:endParaRPr lang="en-US" sz="1400" dirty="0"/>
          </a:p>
        </p:txBody>
      </p:sp>
      <p:sp>
        <p:nvSpPr>
          <p:cNvPr id="13" name="Text 10"/>
          <p:cNvSpPr/>
          <p:nvPr/>
        </p:nvSpPr>
        <p:spPr>
          <a:xfrm>
            <a:off x="1025957" y="3754526"/>
            <a:ext cx="4023360" cy="329184"/>
          </a:xfrm>
          <a:prstGeom prst="rect">
            <a:avLst/>
          </a:prstGeom>
          <a:noFill/>
          <a:ln/>
        </p:spPr>
        <p:txBody>
          <a:bodyPr wrap="square" lIns="0" tIns="0" rIns="0" bIns="0" rtlCol="0" anchor="ctr"/>
          <a:lstStyle/>
          <a:p>
            <a:pPr indent="0" marL="0">
              <a:buNone/>
            </a:pPr>
            <a:r>
              <a:rPr lang="en-US" sz="1700" b="1" dirty="0">
                <a:solidFill>
                  <a:srgbClr val="F0D9A8"/>
                </a:solidFill>
                <a:latin typeface="Arial" pitchFamily="34" charset="0"/>
                <a:ea typeface="Arial" pitchFamily="34" charset="-122"/>
                <a:cs typeface="Arial" pitchFamily="34" charset="-120"/>
              </a:rPr>
              <a:t>48</a:t>
            </a:r>
            <a:r>
              <a:rPr lang="en-US" sz="1200" b="1" dirty="0">
                <a:solidFill>
                  <a:srgbClr val="F0D9A8"/>
                </a:solidFill>
                <a:latin typeface="Yu Gothic" pitchFamily="34" charset="0"/>
                <a:ea typeface="Yu Gothic" pitchFamily="34" charset="-122"/>
                <a:cs typeface="Yu Gothic" pitchFamily="34" charset="-120"/>
              </a:rPr>
              <a:t> ／ 51 店舗</a:t>
            </a:r>
            <a:endParaRPr lang="en-US" sz="1700" dirty="0"/>
          </a:p>
        </p:txBody>
      </p:sp>
      <p:sp>
        <p:nvSpPr>
          <p:cNvPr id="14" name="Shape 11"/>
          <p:cNvSpPr/>
          <p:nvPr/>
        </p:nvSpPr>
        <p:spPr>
          <a:xfrm>
            <a:off x="1025957" y="4339742"/>
            <a:ext cx="4023360" cy="310896"/>
          </a:xfrm>
          <a:prstGeom prst="roundRect">
            <a:avLst>
              <a:gd name="adj" fmla="val 17647"/>
            </a:avLst>
          </a:prstGeom>
          <a:solidFill>
            <a:srgbClr val="3C5F4B"/>
          </a:solidFill>
          <a:ln/>
        </p:spPr>
      </p:sp>
      <p:sp>
        <p:nvSpPr>
          <p:cNvPr id="15" name="Shape 12"/>
          <p:cNvSpPr/>
          <p:nvPr/>
        </p:nvSpPr>
        <p:spPr>
          <a:xfrm>
            <a:off x="1025957" y="4339742"/>
            <a:ext cx="3786692" cy="310896"/>
          </a:xfrm>
          <a:prstGeom prst="roundRect">
            <a:avLst>
              <a:gd name="adj" fmla="val 17647"/>
            </a:avLst>
          </a:prstGeom>
          <a:solidFill>
            <a:srgbClr val="8CC5A5"/>
          </a:solidFill>
          <a:ln/>
        </p:spPr>
      </p:sp>
      <p:sp>
        <p:nvSpPr>
          <p:cNvPr id="16" name="Text 13"/>
          <p:cNvSpPr/>
          <p:nvPr/>
        </p:nvSpPr>
        <p:spPr>
          <a:xfrm>
            <a:off x="1172261" y="4339742"/>
            <a:ext cx="2194560" cy="310896"/>
          </a:xfrm>
          <a:prstGeom prst="rect">
            <a:avLst/>
          </a:prstGeom>
          <a:noFill/>
          <a:ln/>
        </p:spPr>
        <p:txBody>
          <a:bodyPr wrap="square" lIns="0" tIns="0" rIns="0" bIns="0" rtlCol="0" anchor="ctr"/>
          <a:lstStyle/>
          <a:p>
            <a:pPr indent="0" marL="0">
              <a:buNone/>
            </a:pPr>
            <a:r>
              <a:rPr lang="en-US" sz="1000" b="1" dirty="0">
                <a:solidFill>
                  <a:srgbClr val="0C5230"/>
                </a:solidFill>
                <a:latin typeface="Yu Gothic" pitchFamily="34" charset="0"/>
                <a:ea typeface="Yu Gothic" pitchFamily="34" charset="-122"/>
                <a:cs typeface="Yu Gothic" pitchFamily="34" charset="-120"/>
              </a:rPr>
              <a:t>黒字 48店舗</a:t>
            </a:r>
            <a:endParaRPr lang="en-US" sz="1000" dirty="0"/>
          </a:p>
        </p:txBody>
      </p:sp>
      <p:sp>
        <p:nvSpPr>
          <p:cNvPr id="17" name="Text 14"/>
          <p:cNvSpPr/>
          <p:nvPr/>
        </p:nvSpPr>
        <p:spPr>
          <a:xfrm>
            <a:off x="1025957" y="4723790"/>
            <a:ext cx="4023360" cy="219456"/>
          </a:xfrm>
          <a:prstGeom prst="rect">
            <a:avLst/>
          </a:prstGeom>
          <a:noFill/>
          <a:ln/>
        </p:spPr>
        <p:txBody>
          <a:bodyPr wrap="square" lIns="0" tIns="0" rIns="0" bIns="0" rtlCol="0" anchor="ctr"/>
          <a:lstStyle/>
          <a:p>
            <a:pPr algn="r" indent="0" marL="0">
              <a:buNone/>
            </a:pPr>
            <a:r>
              <a:rPr lang="en-US" sz="900" dirty="0">
                <a:solidFill>
                  <a:srgbClr val="AFC2B8"/>
                </a:solidFill>
                <a:latin typeface="Yu Gothic" pitchFamily="34" charset="0"/>
                <a:ea typeface="Yu Gothic" pitchFamily="34" charset="-122"/>
                <a:cs typeface="Yu Gothic" pitchFamily="34" charset="-120"/>
              </a:rPr>
              <a:t>赤字 3店舗</a:t>
            </a:r>
            <a:endParaRPr lang="en-US" sz="900" dirty="0"/>
          </a:p>
        </p:txBody>
      </p:sp>
      <p:sp>
        <p:nvSpPr>
          <p:cNvPr id="18" name="Shape 15"/>
          <p:cNvSpPr/>
          <p:nvPr/>
        </p:nvSpPr>
        <p:spPr>
          <a:xfrm>
            <a:off x="5799125" y="1651406"/>
            <a:ext cx="2756459" cy="1371600"/>
          </a:xfrm>
          <a:prstGeom prst="roundRect">
            <a:avLst>
              <a:gd name="adj" fmla="val 4000"/>
            </a:avLst>
          </a:prstGeom>
          <a:solidFill>
            <a:srgbClr val="F1F8F3"/>
          </a:solidFill>
          <a:ln w="9525">
            <a:solidFill>
              <a:srgbClr val="D2E7DA"/>
            </a:solidFill>
            <a:prstDash val="solid"/>
          </a:ln>
        </p:spPr>
      </p:sp>
      <p:sp>
        <p:nvSpPr>
          <p:cNvPr id="19" name="Text 16"/>
          <p:cNvSpPr/>
          <p:nvPr/>
        </p:nvSpPr>
        <p:spPr>
          <a:xfrm>
            <a:off x="6000293" y="1925726"/>
            <a:ext cx="2354123" cy="457200"/>
          </a:xfrm>
          <a:prstGeom prst="rect">
            <a:avLst/>
          </a:prstGeom>
          <a:noFill/>
          <a:ln/>
        </p:spPr>
        <p:txBody>
          <a:bodyPr wrap="square" lIns="0" tIns="0" rIns="0" bIns="0" rtlCol="0" anchor="ctr"/>
          <a:lstStyle/>
          <a:p>
            <a:pPr indent="0" marL="0">
              <a:buNone/>
            </a:pPr>
            <a:r>
              <a:rPr lang="en-US" sz="2500" b="1" dirty="0">
                <a:solidFill>
                  <a:srgbClr val="106838"/>
                </a:solidFill>
                <a:latin typeface="Arial" pitchFamily="34" charset="0"/>
                <a:ea typeface="Arial" pitchFamily="34" charset="-122"/>
                <a:cs typeface="Arial" pitchFamily="34" charset="-120"/>
              </a:rPr>
              <a:t>20.8</a:t>
            </a:r>
            <a:r>
              <a:rPr lang="en-US" sz="1200" b="1" dirty="0">
                <a:solidFill>
                  <a:srgbClr val="106838"/>
                </a:solidFill>
                <a:latin typeface="Yu Gothic" pitchFamily="34" charset="0"/>
                <a:ea typeface="Yu Gothic" pitchFamily="34" charset="-122"/>
                <a:cs typeface="Yu Gothic" pitchFamily="34" charset="-120"/>
              </a:rPr>
              <a:t> 万円</a:t>
            </a:r>
            <a:endParaRPr lang="en-US" sz="2500" dirty="0"/>
          </a:p>
        </p:txBody>
      </p:sp>
      <p:sp>
        <p:nvSpPr>
          <p:cNvPr id="20" name="Text 17"/>
          <p:cNvSpPr/>
          <p:nvPr/>
        </p:nvSpPr>
        <p:spPr>
          <a:xfrm>
            <a:off x="6000293" y="2437790"/>
            <a:ext cx="2354123" cy="365760"/>
          </a:xfrm>
          <a:prstGeom prst="rect">
            <a:avLst/>
          </a:prstGeom>
          <a:noFill/>
          <a:ln/>
        </p:spPr>
        <p:txBody>
          <a:bodyPr wrap="square" lIns="0" tIns="0" rIns="0" bIns="0" rtlCol="0" anchor="t"/>
          <a:lstStyle/>
          <a:p>
            <a:pPr indent="0" marL="0">
              <a:lnSpc>
                <a:spcPct val="120000"/>
              </a:lnSpc>
              <a:buNone/>
            </a:pPr>
            <a:r>
              <a:rPr lang="en-US" sz="950" dirty="0">
                <a:solidFill>
                  <a:srgbClr val="7E8882"/>
                </a:solidFill>
                <a:latin typeface="Yu Gothic" pitchFamily="34" charset="0"/>
                <a:ea typeface="Yu Gothic" pitchFamily="34" charset="-122"/>
                <a:cs typeface="Yu Gothic" pitchFamily="34" charset="-120"/>
              </a:rPr>
              <a:t>平均営業利益（月）</a:t>
            </a:r>
            <a:endParaRPr lang="en-US" sz="950" dirty="0"/>
          </a:p>
        </p:txBody>
      </p:sp>
      <p:sp>
        <p:nvSpPr>
          <p:cNvPr id="21" name="Shape 18"/>
          <p:cNvSpPr/>
          <p:nvPr/>
        </p:nvSpPr>
        <p:spPr>
          <a:xfrm>
            <a:off x="8775040" y="1651406"/>
            <a:ext cx="2756459" cy="1371600"/>
          </a:xfrm>
          <a:prstGeom prst="roundRect">
            <a:avLst>
              <a:gd name="adj" fmla="val 4000"/>
            </a:avLst>
          </a:prstGeom>
          <a:solidFill>
            <a:srgbClr val="F1F8F3"/>
          </a:solidFill>
          <a:ln w="9525">
            <a:solidFill>
              <a:srgbClr val="D2E7DA"/>
            </a:solidFill>
            <a:prstDash val="solid"/>
          </a:ln>
        </p:spPr>
      </p:sp>
      <p:sp>
        <p:nvSpPr>
          <p:cNvPr id="22" name="Text 19"/>
          <p:cNvSpPr/>
          <p:nvPr/>
        </p:nvSpPr>
        <p:spPr>
          <a:xfrm>
            <a:off x="8976208" y="1925726"/>
            <a:ext cx="2354123" cy="457200"/>
          </a:xfrm>
          <a:prstGeom prst="rect">
            <a:avLst/>
          </a:prstGeom>
          <a:noFill/>
          <a:ln/>
        </p:spPr>
        <p:txBody>
          <a:bodyPr wrap="square" lIns="0" tIns="0" rIns="0" bIns="0" rtlCol="0" anchor="ctr"/>
          <a:lstStyle/>
          <a:p>
            <a:pPr indent="0" marL="0">
              <a:buNone/>
            </a:pPr>
            <a:r>
              <a:rPr lang="en-US" sz="2500" b="1" dirty="0">
                <a:solidFill>
                  <a:srgbClr val="106838"/>
                </a:solidFill>
                <a:latin typeface="Arial" pitchFamily="34" charset="0"/>
                <a:ea typeface="Arial" pitchFamily="34" charset="-122"/>
                <a:cs typeface="Arial" pitchFamily="34" charset="-120"/>
              </a:rPr>
              <a:t>3</a:t>
            </a:r>
            <a:r>
              <a:rPr lang="en-US" sz="1200" b="1" dirty="0">
                <a:solidFill>
                  <a:srgbClr val="106838"/>
                </a:solidFill>
                <a:latin typeface="Yu Gothic" pitchFamily="34" charset="0"/>
                <a:ea typeface="Yu Gothic" pitchFamily="34" charset="-122"/>
                <a:cs typeface="Yu Gothic" pitchFamily="34" charset="-120"/>
              </a:rPr>
              <a:t> 店舗</a:t>
            </a:r>
            <a:endParaRPr lang="en-US" sz="2500" dirty="0"/>
          </a:p>
        </p:txBody>
      </p:sp>
      <p:sp>
        <p:nvSpPr>
          <p:cNvPr id="23" name="Text 20"/>
          <p:cNvSpPr/>
          <p:nvPr/>
        </p:nvSpPr>
        <p:spPr>
          <a:xfrm>
            <a:off x="8976208" y="2437790"/>
            <a:ext cx="2354123" cy="365760"/>
          </a:xfrm>
          <a:prstGeom prst="rect">
            <a:avLst/>
          </a:prstGeom>
          <a:noFill/>
          <a:ln/>
        </p:spPr>
        <p:txBody>
          <a:bodyPr wrap="square" lIns="0" tIns="0" rIns="0" bIns="0" rtlCol="0" anchor="t"/>
          <a:lstStyle/>
          <a:p>
            <a:pPr indent="0" marL="0">
              <a:lnSpc>
                <a:spcPct val="120000"/>
              </a:lnSpc>
              <a:buNone/>
            </a:pPr>
            <a:r>
              <a:rPr lang="en-US" sz="950" dirty="0">
                <a:solidFill>
                  <a:srgbClr val="7E8882"/>
                </a:solidFill>
                <a:latin typeface="Yu Gothic" pitchFamily="34" charset="0"/>
                <a:ea typeface="Yu Gothic" pitchFamily="34" charset="-122"/>
                <a:cs typeface="Yu Gothic" pitchFamily="34" charset="-120"/>
              </a:rPr>
              <a:t>赤字店舗</a:t>
            </a:r>
            <a:endParaRPr lang="en-US" sz="950" dirty="0"/>
          </a:p>
        </p:txBody>
      </p:sp>
      <p:sp>
        <p:nvSpPr>
          <p:cNvPr id="24" name="Shape 21"/>
          <p:cNvSpPr/>
          <p:nvPr/>
        </p:nvSpPr>
        <p:spPr>
          <a:xfrm>
            <a:off x="5799125" y="3205886"/>
            <a:ext cx="5732374" cy="2395728"/>
          </a:xfrm>
          <a:prstGeom prst="roundRect">
            <a:avLst>
              <a:gd name="adj" fmla="val 2290"/>
            </a:avLst>
          </a:prstGeom>
          <a:solidFill>
            <a:srgbClr val="FFFFFF"/>
          </a:solidFill>
          <a:ln w="9525">
            <a:solidFill>
              <a:srgbClr val="EFEAE0"/>
            </a:solidFill>
            <a:prstDash val="solid"/>
          </a:ln>
        </p:spPr>
      </p:sp>
      <p:sp>
        <p:nvSpPr>
          <p:cNvPr id="25" name="Text 22"/>
          <p:cNvSpPr/>
          <p:nvPr/>
        </p:nvSpPr>
        <p:spPr>
          <a:xfrm>
            <a:off x="6073445" y="3443630"/>
            <a:ext cx="1828800" cy="164592"/>
          </a:xfrm>
          <a:prstGeom prst="rect">
            <a:avLst/>
          </a:prstGeom>
          <a:noFill/>
          <a:ln/>
        </p:spPr>
        <p:txBody>
          <a:bodyPr wrap="square" lIns="0" tIns="0" rIns="0" bIns="0" rtlCol="0" anchor="ctr"/>
          <a:lstStyle/>
          <a:p>
            <a:pPr indent="0" marL="0">
              <a:buNone/>
            </a:pPr>
            <a:r>
              <a:rPr lang="en-US" sz="900" b="1" spc="150" kern="0" dirty="0">
                <a:solidFill>
                  <a:srgbClr val="A8761F"/>
                </a:solidFill>
                <a:latin typeface="Arial" pitchFamily="34" charset="0"/>
                <a:ea typeface="Arial" pitchFamily="34" charset="-122"/>
                <a:cs typeface="Arial" pitchFamily="34" charset="-120"/>
              </a:rPr>
              <a:t>DEFINITION</a:t>
            </a:r>
            <a:endParaRPr lang="en-US" sz="900" dirty="0"/>
          </a:p>
        </p:txBody>
      </p:sp>
      <p:sp>
        <p:nvSpPr>
          <p:cNvPr id="26" name="Text 23"/>
          <p:cNvSpPr/>
          <p:nvPr/>
        </p:nvSpPr>
        <p:spPr>
          <a:xfrm>
            <a:off x="6073445" y="3699662"/>
            <a:ext cx="1371600" cy="402336"/>
          </a:xfrm>
          <a:prstGeom prst="rect">
            <a:avLst/>
          </a:prstGeom>
          <a:noFill/>
          <a:ln/>
        </p:spPr>
        <p:txBody>
          <a:bodyPr wrap="square" lIns="0" tIns="0" rIns="0" bIns="0" rtlCol="0" anchor="t"/>
          <a:lstStyle/>
          <a:p>
            <a:pPr indent="0" marL="0">
              <a:buNone/>
            </a:pPr>
            <a:r>
              <a:rPr lang="en-US" sz="1050" b="1" dirty="0">
                <a:solidFill>
                  <a:srgbClr val="106838"/>
                </a:solidFill>
                <a:latin typeface="Yu Gothic" pitchFamily="34" charset="0"/>
                <a:ea typeface="Yu Gothic" pitchFamily="34" charset="-122"/>
                <a:cs typeface="Yu Gothic" pitchFamily="34" charset="-120"/>
              </a:rPr>
              <a:t>母集団</a:t>
            </a:r>
            <a:endParaRPr lang="en-US" sz="1050" dirty="0"/>
          </a:p>
        </p:txBody>
      </p:sp>
      <p:sp>
        <p:nvSpPr>
          <p:cNvPr id="27" name="Text 24"/>
          <p:cNvSpPr/>
          <p:nvPr/>
        </p:nvSpPr>
        <p:spPr>
          <a:xfrm>
            <a:off x="7445045" y="3699662"/>
            <a:ext cx="3812134" cy="438912"/>
          </a:xfrm>
          <a:prstGeom prst="rect">
            <a:avLst/>
          </a:prstGeom>
          <a:noFill/>
          <a:ln/>
        </p:spPr>
        <p:txBody>
          <a:bodyPr wrap="square" lIns="0" tIns="0" rIns="0" bIns="0" rtlCol="0" anchor="t"/>
          <a:lstStyle/>
          <a:p>
            <a:pPr indent="0" marL="0">
              <a:lnSpc>
                <a:spcPct val="125000"/>
              </a:lnSpc>
              <a:buNone/>
            </a:pPr>
            <a:r>
              <a:rPr lang="en-US" sz="1000" dirty="0">
                <a:solidFill>
                  <a:srgbClr val="4B5550"/>
                </a:solidFill>
                <a:latin typeface="Yu Gothic" pitchFamily="34" charset="0"/>
                <a:ea typeface="Yu Gothic" pitchFamily="34" charset="-122"/>
                <a:cs typeface="Yu Gothic" pitchFamily="34" charset="-120"/>
              </a:rPr>
              <a:t>2026年7月末時点で開業6ヶ月以上・営業中の店舗（51店舗）</a:t>
            </a:r>
            <a:endParaRPr lang="en-US" sz="1000" dirty="0"/>
          </a:p>
        </p:txBody>
      </p:sp>
      <p:sp>
        <p:nvSpPr>
          <p:cNvPr id="28" name="Shape 25"/>
          <p:cNvSpPr/>
          <p:nvPr/>
        </p:nvSpPr>
        <p:spPr>
          <a:xfrm>
            <a:off x="6073445" y="4083710"/>
            <a:ext cx="5183734" cy="10058"/>
          </a:xfrm>
          <a:prstGeom prst="rect">
            <a:avLst/>
          </a:prstGeom>
          <a:solidFill>
            <a:srgbClr val="EFEAE0"/>
          </a:solidFill>
          <a:ln/>
        </p:spPr>
      </p:sp>
      <p:sp>
        <p:nvSpPr>
          <p:cNvPr id="29" name="Text 26"/>
          <p:cNvSpPr/>
          <p:nvPr/>
        </p:nvSpPr>
        <p:spPr>
          <a:xfrm>
            <a:off x="6073445" y="4156862"/>
            <a:ext cx="1371600" cy="402336"/>
          </a:xfrm>
          <a:prstGeom prst="rect">
            <a:avLst/>
          </a:prstGeom>
          <a:noFill/>
          <a:ln/>
        </p:spPr>
        <p:txBody>
          <a:bodyPr wrap="square" lIns="0" tIns="0" rIns="0" bIns="0" rtlCol="0" anchor="t"/>
          <a:lstStyle/>
          <a:p>
            <a:pPr indent="0" marL="0">
              <a:buNone/>
            </a:pPr>
            <a:r>
              <a:rPr lang="en-US" sz="1050" b="1" dirty="0">
                <a:solidFill>
                  <a:srgbClr val="106838"/>
                </a:solidFill>
                <a:latin typeface="Yu Gothic" pitchFamily="34" charset="0"/>
                <a:ea typeface="Yu Gothic" pitchFamily="34" charset="-122"/>
                <a:cs typeface="Yu Gothic" pitchFamily="34" charset="-120"/>
              </a:rPr>
              <a:t>判定</a:t>
            </a:r>
            <a:endParaRPr lang="en-US" sz="1050" dirty="0"/>
          </a:p>
        </p:txBody>
      </p:sp>
      <p:sp>
        <p:nvSpPr>
          <p:cNvPr id="30" name="Text 27"/>
          <p:cNvSpPr/>
          <p:nvPr/>
        </p:nvSpPr>
        <p:spPr>
          <a:xfrm>
            <a:off x="7445045" y="4156862"/>
            <a:ext cx="3812134" cy="438912"/>
          </a:xfrm>
          <a:prstGeom prst="rect">
            <a:avLst/>
          </a:prstGeom>
          <a:noFill/>
          <a:ln/>
        </p:spPr>
        <p:txBody>
          <a:bodyPr wrap="square" lIns="0" tIns="0" rIns="0" bIns="0" rtlCol="0" anchor="t"/>
          <a:lstStyle/>
          <a:p>
            <a:pPr indent="0" marL="0">
              <a:lnSpc>
                <a:spcPct val="125000"/>
              </a:lnSpc>
              <a:buNone/>
            </a:pPr>
            <a:r>
              <a:rPr lang="en-US" sz="1000" dirty="0">
                <a:solidFill>
                  <a:srgbClr val="4B5550"/>
                </a:solidFill>
                <a:latin typeface="Yu Gothic" pitchFamily="34" charset="0"/>
                <a:ea typeface="Yu Gothic" pitchFamily="34" charset="-122"/>
                <a:cs typeface="Yu Gothic" pitchFamily="34" charset="-120"/>
              </a:rPr>
              <a:t>2026年7月単月の償却前営業利益 ＞ 0円</a:t>
            </a:r>
            <a:endParaRPr lang="en-US" sz="1000" dirty="0"/>
          </a:p>
        </p:txBody>
      </p:sp>
      <p:sp>
        <p:nvSpPr>
          <p:cNvPr id="31" name="Shape 28"/>
          <p:cNvSpPr/>
          <p:nvPr/>
        </p:nvSpPr>
        <p:spPr>
          <a:xfrm>
            <a:off x="6073445" y="4540910"/>
            <a:ext cx="5183734" cy="10058"/>
          </a:xfrm>
          <a:prstGeom prst="rect">
            <a:avLst/>
          </a:prstGeom>
          <a:solidFill>
            <a:srgbClr val="EFEAE0"/>
          </a:solidFill>
          <a:ln/>
        </p:spPr>
      </p:sp>
      <p:sp>
        <p:nvSpPr>
          <p:cNvPr id="32" name="Text 29"/>
          <p:cNvSpPr/>
          <p:nvPr/>
        </p:nvSpPr>
        <p:spPr>
          <a:xfrm>
            <a:off x="6073445" y="4614062"/>
            <a:ext cx="1371600" cy="402336"/>
          </a:xfrm>
          <a:prstGeom prst="rect">
            <a:avLst/>
          </a:prstGeom>
          <a:noFill/>
          <a:ln/>
        </p:spPr>
        <p:txBody>
          <a:bodyPr wrap="square" lIns="0" tIns="0" rIns="0" bIns="0" rtlCol="0" anchor="t"/>
          <a:lstStyle/>
          <a:p>
            <a:pPr indent="0" marL="0">
              <a:buNone/>
            </a:pPr>
            <a:r>
              <a:rPr lang="en-US" sz="1050" b="1" dirty="0">
                <a:solidFill>
                  <a:srgbClr val="106838"/>
                </a:solidFill>
                <a:latin typeface="Yu Gothic" pitchFamily="34" charset="0"/>
                <a:ea typeface="Yu Gothic" pitchFamily="34" charset="-122"/>
                <a:cs typeface="Yu Gothic" pitchFamily="34" charset="-120"/>
              </a:rPr>
              <a:t>利益の定義</a:t>
            </a:r>
            <a:endParaRPr lang="en-US" sz="1050" dirty="0"/>
          </a:p>
        </p:txBody>
      </p:sp>
      <p:sp>
        <p:nvSpPr>
          <p:cNvPr id="33" name="Text 30"/>
          <p:cNvSpPr/>
          <p:nvPr/>
        </p:nvSpPr>
        <p:spPr>
          <a:xfrm>
            <a:off x="7445045" y="4614062"/>
            <a:ext cx="3812134" cy="438912"/>
          </a:xfrm>
          <a:prstGeom prst="rect">
            <a:avLst/>
          </a:prstGeom>
          <a:noFill/>
          <a:ln/>
        </p:spPr>
        <p:txBody>
          <a:bodyPr wrap="square" lIns="0" tIns="0" rIns="0" bIns="0" rtlCol="0" anchor="t"/>
          <a:lstStyle/>
          <a:p>
            <a:pPr indent="0" marL="0">
              <a:lnSpc>
                <a:spcPct val="125000"/>
              </a:lnSpc>
              <a:buNone/>
            </a:pPr>
            <a:r>
              <a:rPr lang="en-US" sz="1000" dirty="0">
                <a:solidFill>
                  <a:srgbClr val="4B5550"/>
                </a:solidFill>
                <a:latin typeface="Yu Gothic" pitchFamily="34" charset="0"/>
                <a:ea typeface="Yu Gothic" pitchFamily="34" charset="-122"/>
                <a:cs typeface="Yu Gothic" pitchFamily="34" charset="-120"/>
              </a:rPr>
              <a:t>売上 −（原料・家賃・清掃・光熱・機械・警備・ロイヤリティ等）</a:t>
            </a:r>
            <a:endParaRPr lang="en-US" sz="1000" dirty="0"/>
          </a:p>
        </p:txBody>
      </p:sp>
      <p:sp>
        <p:nvSpPr>
          <p:cNvPr id="34" name="Shape 31"/>
          <p:cNvSpPr/>
          <p:nvPr/>
        </p:nvSpPr>
        <p:spPr>
          <a:xfrm>
            <a:off x="6073445" y="4998110"/>
            <a:ext cx="5183734" cy="10058"/>
          </a:xfrm>
          <a:prstGeom prst="rect">
            <a:avLst/>
          </a:prstGeom>
          <a:solidFill>
            <a:srgbClr val="EFEAE0"/>
          </a:solidFill>
          <a:ln/>
        </p:spPr>
      </p:sp>
      <p:sp>
        <p:nvSpPr>
          <p:cNvPr id="35" name="Text 32"/>
          <p:cNvSpPr/>
          <p:nvPr/>
        </p:nvSpPr>
        <p:spPr>
          <a:xfrm>
            <a:off x="6073445" y="5071262"/>
            <a:ext cx="1371600" cy="402336"/>
          </a:xfrm>
          <a:prstGeom prst="rect">
            <a:avLst/>
          </a:prstGeom>
          <a:noFill/>
          <a:ln/>
        </p:spPr>
        <p:txBody>
          <a:bodyPr wrap="square" lIns="0" tIns="0" rIns="0" bIns="0" rtlCol="0" anchor="t"/>
          <a:lstStyle/>
          <a:p>
            <a:pPr indent="0" marL="0">
              <a:buNone/>
            </a:pPr>
            <a:r>
              <a:rPr lang="en-US" sz="1050" b="1" dirty="0">
                <a:solidFill>
                  <a:srgbClr val="106838"/>
                </a:solidFill>
                <a:latin typeface="Yu Gothic" pitchFamily="34" charset="0"/>
                <a:ea typeface="Yu Gothic" pitchFamily="34" charset="-122"/>
                <a:cs typeface="Yu Gothic" pitchFamily="34" charset="-120"/>
              </a:rPr>
              <a:t>人件費</a:t>
            </a:r>
            <a:endParaRPr lang="en-US" sz="1050" dirty="0"/>
          </a:p>
        </p:txBody>
      </p:sp>
      <p:sp>
        <p:nvSpPr>
          <p:cNvPr id="36" name="Text 33"/>
          <p:cNvSpPr/>
          <p:nvPr/>
        </p:nvSpPr>
        <p:spPr>
          <a:xfrm>
            <a:off x="7445045" y="5071262"/>
            <a:ext cx="3812134" cy="438912"/>
          </a:xfrm>
          <a:prstGeom prst="rect">
            <a:avLst/>
          </a:prstGeom>
          <a:noFill/>
          <a:ln/>
        </p:spPr>
        <p:txBody>
          <a:bodyPr wrap="square" lIns="0" tIns="0" rIns="0" bIns="0" rtlCol="0" anchor="t"/>
          <a:lstStyle/>
          <a:p>
            <a:pPr indent="0" marL="0">
              <a:lnSpc>
                <a:spcPct val="125000"/>
              </a:lnSpc>
              <a:buNone/>
            </a:pPr>
            <a:r>
              <a:rPr lang="en-US" sz="1000" dirty="0">
                <a:solidFill>
                  <a:srgbClr val="4B5550"/>
                </a:solidFill>
                <a:latin typeface="Yu Gothic" pitchFamily="34" charset="0"/>
                <a:ea typeface="Yu Gothic" pitchFamily="34" charset="-122"/>
                <a:cs typeface="Yu Gothic" pitchFamily="34" charset="-120"/>
              </a:rPr>
              <a:t>無人運営のため0円（未計上）。この黒字率の高さの主因です</a:t>
            </a:r>
            <a:endParaRPr lang="en-US" sz="1000" dirty="0"/>
          </a:p>
        </p:txBody>
      </p:sp>
      <p:sp>
        <p:nvSpPr>
          <p:cNvPr id="37" name="Text 34"/>
          <p:cNvSpPr/>
          <p:nvPr/>
        </p:nvSpPr>
        <p:spPr>
          <a:xfrm>
            <a:off x="660197" y="5455310"/>
            <a:ext cx="10871302" cy="182880"/>
          </a:xfrm>
          <a:prstGeom prst="rect">
            <a:avLst/>
          </a:prstGeom>
          <a:noFill/>
          <a:ln/>
        </p:spPr>
        <p:txBody>
          <a:bodyPr wrap="square" lIns="0" tIns="0" rIns="0" bIns="0" rtlCol="0" anchor="ctr"/>
          <a:lstStyle/>
          <a:p>
            <a:pPr indent="0" marL="0">
              <a:buNone/>
            </a:pPr>
            <a:r>
              <a:rPr lang="en-US" sz="850" dirty="0">
                <a:solidFill>
                  <a:srgbClr val="A8B0AA"/>
                </a:solidFill>
                <a:latin typeface="Yu Gothic" pitchFamily="34" charset="0"/>
                <a:ea typeface="Yu Gothic" pitchFamily="34" charset="-122"/>
                <a:cs typeface="Yu Gothic" pitchFamily="34" charset="-120"/>
              </a:rPr>
              <a:t>※ 2026年7月速報値（社内管理台帳）。店舗により立地・賃料・面積・運営条件は異なり、将来の収益を保証するものではありません。</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7"/>
        </a:solidFill>
      </p:bgPr>
    </p:bg>
    <p:spTree>
      <p:nvGrpSpPr>
        <p:cNvPr id="1" name=""/>
        <p:cNvGrpSpPr/>
        <p:nvPr/>
      </p:nvGrpSpPr>
      <p:grpSpPr>
        <a:xfrm>
          <a:off x="0" y="0"/>
          <a:ext cx="0" cy="0"/>
          <a:chOff x="0" y="0"/>
          <a:chExt cx="0" cy="0"/>
        </a:xfrm>
      </p:grpSpPr>
      <p:sp>
        <p:nvSpPr>
          <p:cNvPr id="2" name="Shape 0"/>
          <p:cNvSpPr/>
          <p:nvPr/>
        </p:nvSpPr>
        <p:spPr>
          <a:xfrm>
            <a:off x="660197" y="545897"/>
            <a:ext cx="202997" cy="25603"/>
          </a:xfrm>
          <a:prstGeom prst="rect">
            <a:avLst/>
          </a:prstGeom>
          <a:solidFill>
            <a:srgbClr val="106838"/>
          </a:solidFill>
          <a:ln/>
        </p:spPr>
      </p:sp>
      <p:sp>
        <p:nvSpPr>
          <p:cNvPr id="3" name="Text 1"/>
          <p:cNvSpPr/>
          <p:nvPr/>
        </p:nvSpPr>
        <p:spPr>
          <a:xfrm>
            <a:off x="952805" y="444398"/>
            <a:ext cx="6400800" cy="177394"/>
          </a:xfrm>
          <a:prstGeom prst="rect">
            <a:avLst/>
          </a:prstGeom>
          <a:noFill/>
          <a:ln/>
        </p:spPr>
        <p:txBody>
          <a:bodyPr wrap="square" lIns="0" tIns="0" rIns="0" bIns="0" rtlCol="0" anchor="ctr"/>
          <a:lstStyle/>
          <a:p>
            <a:pPr indent="0" marL="0">
              <a:buNone/>
            </a:pPr>
            <a:r>
              <a:rPr lang="en-US" sz="1050" b="1" dirty="0">
                <a:solidFill>
                  <a:srgbClr val="A8761F"/>
                </a:solidFill>
                <a:latin typeface="Arial" pitchFamily="34" charset="0"/>
                <a:ea typeface="Arial" pitchFamily="34" charset="-122"/>
                <a:cs typeface="Arial" pitchFamily="34" charset="-120"/>
              </a:rPr>
              <a:t>10</a:t>
            </a:r>
            <a:r>
              <a:rPr lang="en-US" sz="1050" b="1" dirty="0">
                <a:solidFill>
                  <a:srgbClr val="1B8149"/>
                </a:solidFill>
                <a:latin typeface="Yu Gothic" pitchFamily="34" charset="0"/>
                <a:ea typeface="Yu Gothic" pitchFamily="34" charset="-122"/>
                <a:cs typeface="Yu Gothic" pitchFamily="34" charset="-120"/>
              </a:rPr>
              <a:t>   利用システム</a:t>
            </a:r>
            <a:endParaRPr lang="en-US" sz="1050" dirty="0"/>
          </a:p>
        </p:txBody>
      </p:sp>
      <p:sp>
        <p:nvSpPr>
          <p:cNvPr id="4" name="Text 2"/>
          <p:cNvSpPr/>
          <p:nvPr/>
        </p:nvSpPr>
        <p:spPr>
          <a:xfrm>
            <a:off x="660197" y="660197"/>
            <a:ext cx="8889797" cy="508406"/>
          </a:xfrm>
          <a:prstGeom prst="rect">
            <a:avLst/>
          </a:prstGeom>
          <a:noFill/>
          <a:ln/>
        </p:spPr>
        <p:txBody>
          <a:bodyPr wrap="square" lIns="0" tIns="0" rIns="0" bIns="0" rtlCol="0" anchor="ctr"/>
          <a:lstStyle/>
          <a:p>
            <a:pPr indent="0" marL="0">
              <a:buNone/>
            </a:pPr>
            <a:r>
              <a:rPr lang="en-US" sz="2900" b="1" dirty="0">
                <a:solidFill>
                  <a:srgbClr val="0A3D23"/>
                </a:solidFill>
                <a:latin typeface="Yu Gothic" pitchFamily="34" charset="0"/>
                <a:ea typeface="Yu Gothic" pitchFamily="34" charset="-122"/>
                <a:cs typeface="Yu Gothic" pitchFamily="34" charset="-120"/>
              </a:rPr>
              <a:t>利用システム：究極の利便性と価格</a:t>
            </a:r>
            <a:endParaRPr lang="en-US" sz="2900" dirty="0"/>
          </a:p>
        </p:txBody>
      </p:sp>
      <p:sp>
        <p:nvSpPr>
          <p:cNvPr id="5" name="Text 3"/>
          <p:cNvSpPr/>
          <p:nvPr/>
        </p:nvSpPr>
        <p:spPr>
          <a:xfrm>
            <a:off x="660197" y="1308506"/>
            <a:ext cx="10032797" cy="228600"/>
          </a:xfrm>
          <a:prstGeom prst="rect">
            <a:avLst/>
          </a:prstGeom>
          <a:noFill/>
          <a:ln/>
        </p:spPr>
        <p:txBody>
          <a:bodyPr wrap="square" lIns="0" tIns="0" rIns="0" bIns="0" rtlCol="0" anchor="ctr"/>
          <a:lstStyle/>
          <a:p>
            <a:pPr indent="0" marL="0">
              <a:buNone/>
            </a:pPr>
            <a:r>
              <a:rPr lang="en-US" sz="1250" dirty="0">
                <a:solidFill>
                  <a:srgbClr val="4B5550"/>
                </a:solidFill>
                <a:latin typeface="Yu Gothic" pitchFamily="34" charset="0"/>
                <a:ea typeface="Yu Gothic" pitchFamily="34" charset="-122"/>
                <a:cs typeface="Yu Gothic" pitchFamily="34" charset="-120"/>
              </a:rPr>
              <a:t>ドリンク1杯で、時間制限なし。だから毎日使われ、リピートが積み上がります。</a:t>
            </a:r>
            <a:endParaRPr lang="en-US" sz="1250" dirty="0"/>
          </a:p>
        </p:txBody>
      </p:sp>
      <p:pic>
        <p:nvPicPr>
          <p:cNvPr id="6" name="Image 0" descr="/home/user/suzuki-ceo/selfcafe-gyomu-deck/assets/logo-green.png">    </p:cNvPr>
          <p:cNvPicPr>
            <a:picLocks noChangeAspect="1"/>
          </p:cNvPicPr>
          <p:nvPr/>
        </p:nvPicPr>
        <p:blipFill>
          <a:blip r:embed="rId1"/>
          <a:stretch>
            <a:fillRect/>
          </a:stretch>
        </p:blipFill>
        <p:spPr>
          <a:xfrm>
            <a:off x="9855403" y="482803"/>
            <a:ext cx="1676095" cy="238658"/>
          </a:xfrm>
          <a:prstGeom prst="rect">
            <a:avLst/>
          </a:prstGeom>
        </p:spPr>
      </p:pic>
      <p:sp>
        <p:nvSpPr>
          <p:cNvPr id="7" name="Text 4"/>
          <p:cNvSpPr/>
          <p:nvPr/>
        </p:nvSpPr>
        <p:spPr>
          <a:xfrm>
            <a:off x="660197" y="6476695"/>
            <a:ext cx="5080406" cy="152705"/>
          </a:xfrm>
          <a:prstGeom prst="rect">
            <a:avLst/>
          </a:prstGeom>
          <a:noFill/>
          <a:ln/>
        </p:spPr>
        <p:txBody>
          <a:bodyPr wrap="square" lIns="0" tIns="0" rIns="0" bIns="0" rtlCol="0" anchor="ctr"/>
          <a:lstStyle/>
          <a:p>
            <a:pPr indent="0" marL="0">
              <a:buNone/>
            </a:pPr>
            <a:r>
              <a:rPr lang="en-US" sz="900" dirty="0">
                <a:solidFill>
                  <a:srgbClr val="A8B0AA"/>
                </a:solidFill>
                <a:latin typeface="Yu Gothic" pitchFamily="34" charset="0"/>
                <a:ea typeface="Yu Gothic" pitchFamily="34" charset="-122"/>
                <a:cs typeface="Yu Gothic" pitchFamily="34" charset="-120"/>
              </a:rPr>
              <a:t>セルフカフェ 業務委託型制度</a:t>
            </a:r>
            <a:endParaRPr lang="en-US" sz="900" dirty="0"/>
          </a:p>
        </p:txBody>
      </p:sp>
      <p:sp>
        <p:nvSpPr>
          <p:cNvPr id="8" name="Text 5"/>
          <p:cNvSpPr/>
          <p:nvPr/>
        </p:nvSpPr>
        <p:spPr>
          <a:xfrm>
            <a:off x="10261397" y="6463894"/>
            <a:ext cx="1270102" cy="152705"/>
          </a:xfrm>
          <a:prstGeom prst="rect">
            <a:avLst/>
          </a:prstGeom>
          <a:noFill/>
          <a:ln/>
        </p:spPr>
        <p:txBody>
          <a:bodyPr wrap="square" lIns="0" tIns="0" rIns="0" bIns="0" rtlCol="0" anchor="ctr"/>
          <a:lstStyle/>
          <a:p>
            <a:pPr algn="r" indent="0" marL="0">
              <a:buNone/>
            </a:pPr>
            <a:r>
              <a:rPr lang="en-US" sz="1000" b="1" dirty="0">
                <a:solidFill>
                  <a:srgbClr val="7E8882"/>
                </a:solidFill>
                <a:latin typeface="Arial" pitchFamily="34" charset="0"/>
                <a:ea typeface="Arial" pitchFamily="34" charset="-122"/>
                <a:cs typeface="Arial" pitchFamily="34" charset="-120"/>
              </a:rPr>
              <a:t>11</a:t>
            </a:r>
            <a:endParaRPr lang="en-US" sz="1000" dirty="0"/>
          </a:p>
        </p:txBody>
      </p:sp>
      <p:sp>
        <p:nvSpPr>
          <p:cNvPr id="9" name="Shape 6"/>
          <p:cNvSpPr/>
          <p:nvPr/>
        </p:nvSpPr>
        <p:spPr>
          <a:xfrm>
            <a:off x="660197" y="1651406"/>
            <a:ext cx="2539517" cy="2468880"/>
          </a:xfrm>
          <a:prstGeom prst="roundRect">
            <a:avLst>
              <a:gd name="adj" fmla="val 2222"/>
            </a:avLst>
          </a:prstGeom>
          <a:solidFill>
            <a:srgbClr val="FFFFFF"/>
          </a:solidFill>
          <a:ln w="9525">
            <a:solidFill>
              <a:srgbClr val="EFEAE0"/>
            </a:solidFill>
            <a:prstDash val="solid"/>
          </a:ln>
        </p:spPr>
      </p:sp>
      <p:pic>
        <p:nvPicPr>
          <p:cNvPr id="10" name="Image 1" descr="/home/user/suzuki-ceo/selfcafe-gyomu-deck/assets/icons/LuCoffee-green.png">    </p:cNvPr>
          <p:cNvPicPr>
            <a:picLocks noChangeAspect="1"/>
          </p:cNvPicPr>
          <p:nvPr/>
        </p:nvPicPr>
        <p:blipFill>
          <a:blip r:embed="rId2"/>
          <a:stretch>
            <a:fillRect/>
          </a:stretch>
        </p:blipFill>
        <p:spPr>
          <a:xfrm>
            <a:off x="897941" y="1907438"/>
            <a:ext cx="365760" cy="365760"/>
          </a:xfrm>
          <a:prstGeom prst="rect">
            <a:avLst/>
          </a:prstGeom>
        </p:spPr>
      </p:pic>
      <p:sp>
        <p:nvSpPr>
          <p:cNvPr id="11" name="Text 7"/>
          <p:cNvSpPr/>
          <p:nvPr/>
        </p:nvSpPr>
        <p:spPr>
          <a:xfrm>
            <a:off x="1462354" y="1889150"/>
            <a:ext cx="1499616" cy="347472"/>
          </a:xfrm>
          <a:prstGeom prst="rect">
            <a:avLst/>
          </a:prstGeom>
          <a:noFill/>
          <a:ln/>
        </p:spPr>
        <p:txBody>
          <a:bodyPr wrap="square" lIns="0" tIns="0" rIns="0" bIns="0" rtlCol="0" anchor="ctr"/>
          <a:lstStyle/>
          <a:p>
            <a:pPr algn="r" indent="0" marL="0">
              <a:buNone/>
            </a:pPr>
            <a:r>
              <a:rPr lang="en-US" sz="2000" b="1" dirty="0">
                <a:solidFill>
                  <a:srgbClr val="106838"/>
                </a:solidFill>
                <a:latin typeface="Arial" pitchFamily="34" charset="0"/>
                <a:ea typeface="Arial" pitchFamily="34" charset="-122"/>
                <a:cs typeface="Arial" pitchFamily="34" charset="-120"/>
              </a:rPr>
              <a:t>420円〜</a:t>
            </a:r>
            <a:endParaRPr lang="en-US" sz="2000" dirty="0"/>
          </a:p>
        </p:txBody>
      </p:sp>
      <p:sp>
        <p:nvSpPr>
          <p:cNvPr id="12" name="Text 8"/>
          <p:cNvSpPr/>
          <p:nvPr/>
        </p:nvSpPr>
        <p:spPr>
          <a:xfrm>
            <a:off x="1462354" y="2236622"/>
            <a:ext cx="1499616" cy="182880"/>
          </a:xfrm>
          <a:prstGeom prst="rect">
            <a:avLst/>
          </a:prstGeom>
          <a:noFill/>
          <a:ln/>
        </p:spPr>
        <p:txBody>
          <a:bodyPr wrap="square" lIns="0" tIns="0" rIns="0" bIns="0" rtlCol="0" anchor="ctr"/>
          <a:lstStyle/>
          <a:p>
            <a:pPr algn="r" indent="0" marL="0">
              <a:buNone/>
            </a:pPr>
            <a:r>
              <a:rPr lang="en-US" sz="800" dirty="0">
                <a:solidFill>
                  <a:srgbClr val="7E8882"/>
                </a:solidFill>
                <a:latin typeface="Yu Gothic" pitchFamily="34" charset="0"/>
                <a:ea typeface="Yu Gothic" pitchFamily="34" charset="-122"/>
                <a:cs typeface="Yu Gothic" pitchFamily="34" charset="-120"/>
              </a:rPr>
              <a:t>1杯あたり</a:t>
            </a:r>
            <a:endParaRPr lang="en-US" sz="800" dirty="0"/>
          </a:p>
        </p:txBody>
      </p:sp>
      <p:sp>
        <p:nvSpPr>
          <p:cNvPr id="13" name="Text 9"/>
          <p:cNvSpPr/>
          <p:nvPr/>
        </p:nvSpPr>
        <p:spPr>
          <a:xfrm>
            <a:off x="897941" y="2584094"/>
            <a:ext cx="2064029" cy="365760"/>
          </a:xfrm>
          <a:prstGeom prst="rect">
            <a:avLst/>
          </a:prstGeom>
          <a:noFill/>
          <a:ln/>
        </p:spPr>
        <p:txBody>
          <a:bodyPr wrap="square" lIns="0" tIns="0" rIns="0" bIns="0" rtlCol="0" anchor="ctr"/>
          <a:lstStyle/>
          <a:p>
            <a:pPr indent="0" marL="0">
              <a:buNone/>
            </a:pPr>
            <a:r>
              <a:rPr lang="en-US" sz="1350" b="1" dirty="0">
                <a:solidFill>
                  <a:srgbClr val="0A3D23"/>
                </a:solidFill>
                <a:latin typeface="Yu Gothic" pitchFamily="34" charset="0"/>
                <a:ea typeface="Yu Gothic" pitchFamily="34" charset="-122"/>
                <a:cs typeface="Yu Gothic" pitchFamily="34" charset="-120"/>
              </a:rPr>
              <a:t>ドリンク一杯で入店</a:t>
            </a:r>
            <a:endParaRPr lang="en-US" sz="1350" dirty="0"/>
          </a:p>
        </p:txBody>
      </p:sp>
      <p:sp>
        <p:nvSpPr>
          <p:cNvPr id="14" name="Shape 10"/>
          <p:cNvSpPr/>
          <p:nvPr/>
        </p:nvSpPr>
        <p:spPr>
          <a:xfrm>
            <a:off x="897941" y="3023006"/>
            <a:ext cx="2064029" cy="10058"/>
          </a:xfrm>
          <a:prstGeom prst="rect">
            <a:avLst/>
          </a:prstGeom>
          <a:solidFill>
            <a:srgbClr val="EFEAE0"/>
          </a:solidFill>
          <a:ln/>
        </p:spPr>
      </p:sp>
      <p:sp>
        <p:nvSpPr>
          <p:cNvPr id="15" name="Text 11"/>
          <p:cNvSpPr/>
          <p:nvPr/>
        </p:nvSpPr>
        <p:spPr>
          <a:xfrm>
            <a:off x="897941" y="3151022"/>
            <a:ext cx="2064029" cy="859536"/>
          </a:xfrm>
          <a:prstGeom prst="rect">
            <a:avLst/>
          </a:prstGeom>
          <a:noFill/>
          <a:ln/>
        </p:spPr>
        <p:txBody>
          <a:bodyPr wrap="square" lIns="0" tIns="0" rIns="0" bIns="0" rtlCol="0" anchor="t"/>
          <a:lstStyle/>
          <a:p>
            <a:pPr indent="0" marL="0">
              <a:lnSpc>
                <a:spcPct val="140000"/>
              </a:lnSpc>
              <a:buNone/>
            </a:pPr>
            <a:r>
              <a:rPr lang="en-US" sz="1000" dirty="0">
                <a:solidFill>
                  <a:srgbClr val="4B5550"/>
                </a:solidFill>
                <a:latin typeface="Yu Gothic" pitchFamily="34" charset="0"/>
                <a:ea typeface="Yu Gothic" pitchFamily="34" charset="-122"/>
                <a:cs typeface="Yu Gothic" pitchFamily="34" charset="-120"/>
              </a:rPr>
              <a:t>ドリンク購入だけで、Wi-Fi・電源完備の空間を自由に利用できます。</a:t>
            </a:r>
            <a:endParaRPr lang="en-US" sz="1000" dirty="0"/>
          </a:p>
        </p:txBody>
      </p:sp>
      <p:sp>
        <p:nvSpPr>
          <p:cNvPr id="16" name="Shape 12"/>
          <p:cNvSpPr/>
          <p:nvPr/>
        </p:nvSpPr>
        <p:spPr>
          <a:xfrm>
            <a:off x="3437458" y="1651406"/>
            <a:ext cx="2539517" cy="2468880"/>
          </a:xfrm>
          <a:prstGeom prst="roundRect">
            <a:avLst>
              <a:gd name="adj" fmla="val 2222"/>
            </a:avLst>
          </a:prstGeom>
          <a:solidFill>
            <a:srgbClr val="FFFFFF"/>
          </a:solidFill>
          <a:ln w="9525">
            <a:solidFill>
              <a:srgbClr val="EFEAE0"/>
            </a:solidFill>
            <a:prstDash val="solid"/>
          </a:ln>
        </p:spPr>
      </p:sp>
      <p:pic>
        <p:nvPicPr>
          <p:cNvPr id="17" name="Image 2" descr="/home/user/suzuki-ceo/selfcafe-gyomu-deck/assets/icons/LuBadgeCheck-green.png">    </p:cNvPr>
          <p:cNvPicPr>
            <a:picLocks noChangeAspect="1"/>
          </p:cNvPicPr>
          <p:nvPr/>
        </p:nvPicPr>
        <p:blipFill>
          <a:blip r:embed="rId3"/>
          <a:stretch>
            <a:fillRect/>
          </a:stretch>
        </p:blipFill>
        <p:spPr>
          <a:xfrm>
            <a:off x="3675202" y="1907438"/>
            <a:ext cx="365760" cy="365760"/>
          </a:xfrm>
          <a:prstGeom prst="rect">
            <a:avLst/>
          </a:prstGeom>
        </p:spPr>
      </p:pic>
      <p:sp>
        <p:nvSpPr>
          <p:cNvPr id="18" name="Text 13"/>
          <p:cNvSpPr/>
          <p:nvPr/>
        </p:nvSpPr>
        <p:spPr>
          <a:xfrm>
            <a:off x="4239616" y="1889150"/>
            <a:ext cx="1499616" cy="347472"/>
          </a:xfrm>
          <a:prstGeom prst="rect">
            <a:avLst/>
          </a:prstGeom>
          <a:noFill/>
          <a:ln/>
        </p:spPr>
        <p:txBody>
          <a:bodyPr wrap="square" lIns="0" tIns="0" rIns="0" bIns="0" rtlCol="0" anchor="ctr"/>
          <a:lstStyle/>
          <a:p>
            <a:pPr algn="r" indent="0" marL="0">
              <a:buNone/>
            </a:pPr>
            <a:r>
              <a:rPr lang="en-US" sz="2000" b="1" dirty="0">
                <a:solidFill>
                  <a:srgbClr val="106838"/>
                </a:solidFill>
                <a:latin typeface="Arial" pitchFamily="34" charset="0"/>
                <a:ea typeface="Arial" pitchFamily="34" charset="-122"/>
                <a:cs typeface="Arial" pitchFamily="34" charset="-120"/>
              </a:rPr>
              <a:t>誰でも利用可 手間無し</a:t>
            </a:r>
            <a:endParaRPr lang="en-US" sz="2000" dirty="0"/>
          </a:p>
        </p:txBody>
      </p:sp>
      <p:sp>
        <p:nvSpPr>
          <p:cNvPr id="19" name="Text 14"/>
          <p:cNvSpPr/>
          <p:nvPr/>
        </p:nvSpPr>
        <p:spPr>
          <a:xfrm>
            <a:off x="4239616" y="2236622"/>
            <a:ext cx="1499616" cy="182880"/>
          </a:xfrm>
          <a:prstGeom prst="rect">
            <a:avLst/>
          </a:prstGeom>
          <a:noFill/>
          <a:ln/>
        </p:spPr>
        <p:txBody>
          <a:bodyPr wrap="square" lIns="0" tIns="0" rIns="0" bIns="0" rtlCol="0" anchor="ctr"/>
          <a:lstStyle/>
          <a:p>
            <a:pPr algn="r" indent="0" marL="0">
              <a:buNone/>
            </a:pPr>
            <a:r>
              <a:rPr lang="en-US" sz="800" dirty="0">
                <a:solidFill>
                  <a:srgbClr val="7E8882"/>
                </a:solidFill>
                <a:latin typeface="Yu Gothic" pitchFamily="34" charset="0"/>
                <a:ea typeface="Yu Gothic" pitchFamily="34" charset="-122"/>
                <a:cs typeface="Yu Gothic" pitchFamily="34" charset="-120"/>
              </a:rPr>
              <a:t>会員登録・月会費</a:t>
            </a:r>
            <a:endParaRPr lang="en-US" sz="800" dirty="0"/>
          </a:p>
        </p:txBody>
      </p:sp>
      <p:sp>
        <p:nvSpPr>
          <p:cNvPr id="20" name="Text 15"/>
          <p:cNvSpPr/>
          <p:nvPr/>
        </p:nvSpPr>
        <p:spPr>
          <a:xfrm>
            <a:off x="3675202" y="2584094"/>
            <a:ext cx="2064029" cy="365760"/>
          </a:xfrm>
          <a:prstGeom prst="rect">
            <a:avLst/>
          </a:prstGeom>
          <a:noFill/>
          <a:ln/>
        </p:spPr>
        <p:txBody>
          <a:bodyPr wrap="square" lIns="0" tIns="0" rIns="0" bIns="0" rtlCol="0" anchor="ctr"/>
          <a:lstStyle/>
          <a:p>
            <a:pPr indent="0" marL="0">
              <a:buNone/>
            </a:pPr>
            <a:r>
              <a:rPr lang="en-US" sz="1350" b="1" dirty="0">
                <a:solidFill>
                  <a:srgbClr val="0A3D23"/>
                </a:solidFill>
                <a:latin typeface="Yu Gothic" pitchFamily="34" charset="0"/>
                <a:ea typeface="Yu Gothic" pitchFamily="34" charset="-122"/>
                <a:cs typeface="Yu Gothic" pitchFamily="34" charset="-120"/>
              </a:rPr>
              <a:t>会員登録不要</a:t>
            </a:r>
            <a:endParaRPr lang="en-US" sz="1350" dirty="0"/>
          </a:p>
        </p:txBody>
      </p:sp>
      <p:sp>
        <p:nvSpPr>
          <p:cNvPr id="21" name="Shape 16"/>
          <p:cNvSpPr/>
          <p:nvPr/>
        </p:nvSpPr>
        <p:spPr>
          <a:xfrm>
            <a:off x="3675202" y="3023006"/>
            <a:ext cx="2064029" cy="10058"/>
          </a:xfrm>
          <a:prstGeom prst="rect">
            <a:avLst/>
          </a:prstGeom>
          <a:solidFill>
            <a:srgbClr val="EFEAE0"/>
          </a:solidFill>
          <a:ln/>
        </p:spPr>
      </p:sp>
      <p:sp>
        <p:nvSpPr>
          <p:cNvPr id="22" name="Text 17"/>
          <p:cNvSpPr/>
          <p:nvPr/>
        </p:nvSpPr>
        <p:spPr>
          <a:xfrm>
            <a:off x="3675202" y="3151022"/>
            <a:ext cx="2064029" cy="859536"/>
          </a:xfrm>
          <a:prstGeom prst="rect">
            <a:avLst/>
          </a:prstGeom>
          <a:noFill/>
          <a:ln/>
        </p:spPr>
        <p:txBody>
          <a:bodyPr wrap="square" lIns="0" tIns="0" rIns="0" bIns="0" rtlCol="0" anchor="t"/>
          <a:lstStyle/>
          <a:p>
            <a:pPr indent="0" marL="0">
              <a:lnSpc>
                <a:spcPct val="140000"/>
              </a:lnSpc>
              <a:buNone/>
            </a:pPr>
            <a:r>
              <a:rPr lang="en-US" sz="1000" dirty="0">
                <a:solidFill>
                  <a:srgbClr val="4B5550"/>
                </a:solidFill>
                <a:latin typeface="Yu Gothic" pitchFamily="34" charset="0"/>
                <a:ea typeface="Yu Gothic" pitchFamily="34" charset="-122"/>
                <a:cs typeface="Yu Gothic" pitchFamily="34" charset="-120"/>
              </a:rPr>
              <a:t>面倒な登録手続きなし。誰でも来店してすぐに利用できます。</a:t>
            </a:r>
            <a:endParaRPr lang="en-US" sz="1000" dirty="0"/>
          </a:p>
        </p:txBody>
      </p:sp>
      <p:sp>
        <p:nvSpPr>
          <p:cNvPr id="23" name="Shape 18"/>
          <p:cNvSpPr/>
          <p:nvPr/>
        </p:nvSpPr>
        <p:spPr>
          <a:xfrm>
            <a:off x="6214720" y="1651406"/>
            <a:ext cx="2539517" cy="2468880"/>
          </a:xfrm>
          <a:prstGeom prst="roundRect">
            <a:avLst>
              <a:gd name="adj" fmla="val 2222"/>
            </a:avLst>
          </a:prstGeom>
          <a:solidFill>
            <a:srgbClr val="FFFFFF"/>
          </a:solidFill>
          <a:ln w="9525">
            <a:solidFill>
              <a:srgbClr val="EFEAE0"/>
            </a:solidFill>
            <a:prstDash val="solid"/>
          </a:ln>
        </p:spPr>
      </p:sp>
      <p:pic>
        <p:nvPicPr>
          <p:cNvPr id="24" name="Image 3" descr="/home/user/suzuki-ceo/selfcafe-gyomu-deck/assets/icons/LuClock-green.png">    </p:cNvPr>
          <p:cNvPicPr>
            <a:picLocks noChangeAspect="1"/>
          </p:cNvPicPr>
          <p:nvPr/>
        </p:nvPicPr>
        <p:blipFill>
          <a:blip r:embed="rId4"/>
          <a:stretch>
            <a:fillRect/>
          </a:stretch>
        </p:blipFill>
        <p:spPr>
          <a:xfrm>
            <a:off x="6452464" y="1907438"/>
            <a:ext cx="365760" cy="365760"/>
          </a:xfrm>
          <a:prstGeom prst="rect">
            <a:avLst/>
          </a:prstGeom>
        </p:spPr>
      </p:pic>
      <p:sp>
        <p:nvSpPr>
          <p:cNvPr id="25" name="Text 19"/>
          <p:cNvSpPr/>
          <p:nvPr/>
        </p:nvSpPr>
        <p:spPr>
          <a:xfrm>
            <a:off x="7016877" y="1889150"/>
            <a:ext cx="1499616" cy="347472"/>
          </a:xfrm>
          <a:prstGeom prst="rect">
            <a:avLst/>
          </a:prstGeom>
          <a:noFill/>
          <a:ln/>
        </p:spPr>
        <p:txBody>
          <a:bodyPr wrap="square" lIns="0" tIns="0" rIns="0" bIns="0" rtlCol="0" anchor="ctr"/>
          <a:lstStyle/>
          <a:p>
            <a:pPr algn="r" indent="0" marL="0">
              <a:buNone/>
            </a:pPr>
            <a:r>
              <a:rPr lang="en-US" sz="2000" b="1" dirty="0">
                <a:solidFill>
                  <a:srgbClr val="106838"/>
                </a:solidFill>
                <a:latin typeface="Arial" pitchFamily="34" charset="0"/>
                <a:ea typeface="Arial" pitchFamily="34" charset="-122"/>
                <a:cs typeface="Arial" pitchFamily="34" charset="-120"/>
              </a:rPr>
              <a:t>0円</a:t>
            </a:r>
            <a:endParaRPr lang="en-US" sz="2000" dirty="0"/>
          </a:p>
        </p:txBody>
      </p:sp>
      <p:sp>
        <p:nvSpPr>
          <p:cNvPr id="26" name="Text 20"/>
          <p:cNvSpPr/>
          <p:nvPr/>
        </p:nvSpPr>
        <p:spPr>
          <a:xfrm>
            <a:off x="7016877" y="2236622"/>
            <a:ext cx="1499616" cy="182880"/>
          </a:xfrm>
          <a:prstGeom prst="rect">
            <a:avLst/>
          </a:prstGeom>
          <a:noFill/>
          <a:ln/>
        </p:spPr>
        <p:txBody>
          <a:bodyPr wrap="square" lIns="0" tIns="0" rIns="0" bIns="0" rtlCol="0" anchor="ctr"/>
          <a:lstStyle/>
          <a:p>
            <a:pPr algn="r" indent="0" marL="0">
              <a:buNone/>
            </a:pPr>
            <a:r>
              <a:rPr lang="en-US" sz="800" dirty="0">
                <a:solidFill>
                  <a:srgbClr val="7E8882"/>
                </a:solidFill>
                <a:latin typeface="Yu Gothic" pitchFamily="34" charset="0"/>
                <a:ea typeface="Yu Gothic" pitchFamily="34" charset="-122"/>
                <a:cs typeface="Yu Gothic" pitchFamily="34" charset="-120"/>
              </a:rPr>
              <a:t>延長・追加料金</a:t>
            </a:r>
            <a:endParaRPr lang="en-US" sz="800" dirty="0"/>
          </a:p>
        </p:txBody>
      </p:sp>
      <p:sp>
        <p:nvSpPr>
          <p:cNvPr id="27" name="Text 21"/>
          <p:cNvSpPr/>
          <p:nvPr/>
        </p:nvSpPr>
        <p:spPr>
          <a:xfrm>
            <a:off x="6452464" y="2584094"/>
            <a:ext cx="2064029" cy="365760"/>
          </a:xfrm>
          <a:prstGeom prst="rect">
            <a:avLst/>
          </a:prstGeom>
          <a:noFill/>
          <a:ln/>
        </p:spPr>
        <p:txBody>
          <a:bodyPr wrap="square" lIns="0" tIns="0" rIns="0" bIns="0" rtlCol="0" anchor="ctr"/>
          <a:lstStyle/>
          <a:p>
            <a:pPr indent="0" marL="0">
              <a:buNone/>
            </a:pPr>
            <a:r>
              <a:rPr lang="en-US" sz="1350" b="1" dirty="0">
                <a:solidFill>
                  <a:srgbClr val="0A3D23"/>
                </a:solidFill>
                <a:latin typeface="Yu Gothic" pitchFamily="34" charset="0"/>
                <a:ea typeface="Yu Gothic" pitchFamily="34" charset="-122"/>
                <a:cs typeface="Yu Gothic" pitchFamily="34" charset="-120"/>
              </a:rPr>
              <a:t>滞在時間無制限</a:t>
            </a:r>
            <a:endParaRPr lang="en-US" sz="1350" dirty="0"/>
          </a:p>
        </p:txBody>
      </p:sp>
      <p:sp>
        <p:nvSpPr>
          <p:cNvPr id="28" name="Shape 22"/>
          <p:cNvSpPr/>
          <p:nvPr/>
        </p:nvSpPr>
        <p:spPr>
          <a:xfrm>
            <a:off x="6452464" y="3023006"/>
            <a:ext cx="2064029" cy="10058"/>
          </a:xfrm>
          <a:prstGeom prst="rect">
            <a:avLst/>
          </a:prstGeom>
          <a:solidFill>
            <a:srgbClr val="EFEAE0"/>
          </a:solidFill>
          <a:ln/>
        </p:spPr>
      </p:sp>
      <p:sp>
        <p:nvSpPr>
          <p:cNvPr id="29" name="Text 23"/>
          <p:cNvSpPr/>
          <p:nvPr/>
        </p:nvSpPr>
        <p:spPr>
          <a:xfrm>
            <a:off x="6452464" y="3151022"/>
            <a:ext cx="2064029" cy="859536"/>
          </a:xfrm>
          <a:prstGeom prst="rect">
            <a:avLst/>
          </a:prstGeom>
          <a:noFill/>
          <a:ln/>
        </p:spPr>
        <p:txBody>
          <a:bodyPr wrap="square" lIns="0" tIns="0" rIns="0" bIns="0" rtlCol="0" anchor="t"/>
          <a:lstStyle/>
          <a:p>
            <a:pPr indent="0" marL="0">
              <a:lnSpc>
                <a:spcPct val="140000"/>
              </a:lnSpc>
              <a:buNone/>
            </a:pPr>
            <a:r>
              <a:rPr lang="en-US" sz="1000" dirty="0">
                <a:solidFill>
                  <a:srgbClr val="4B5550"/>
                </a:solidFill>
                <a:latin typeface="Yu Gothic" pitchFamily="34" charset="0"/>
                <a:ea typeface="Yu Gothic" pitchFamily="34" charset="-122"/>
                <a:cs typeface="Yu Gothic" pitchFamily="34" charset="-120"/>
              </a:rPr>
              <a:t>追加料金を気にせず、仕事や勉強に没頭できる環境です。</a:t>
            </a:r>
            <a:endParaRPr lang="en-US" sz="1000" dirty="0"/>
          </a:p>
        </p:txBody>
      </p:sp>
      <p:sp>
        <p:nvSpPr>
          <p:cNvPr id="30" name="Shape 24"/>
          <p:cNvSpPr/>
          <p:nvPr/>
        </p:nvSpPr>
        <p:spPr>
          <a:xfrm>
            <a:off x="8991981" y="1651406"/>
            <a:ext cx="2539517" cy="2468880"/>
          </a:xfrm>
          <a:prstGeom prst="roundRect">
            <a:avLst>
              <a:gd name="adj" fmla="val 2222"/>
            </a:avLst>
          </a:prstGeom>
          <a:solidFill>
            <a:srgbClr val="FFFFFF"/>
          </a:solidFill>
          <a:ln w="9525">
            <a:solidFill>
              <a:srgbClr val="EFEAE0"/>
            </a:solidFill>
            <a:prstDash val="solid"/>
          </a:ln>
        </p:spPr>
      </p:sp>
      <p:pic>
        <p:nvPicPr>
          <p:cNvPr id="31" name="Image 4" descr="/home/user/suzuki-ceo/selfcafe-gyomu-deck/assets/icons/LuSmartphone-green.png">    </p:cNvPr>
          <p:cNvPicPr>
            <a:picLocks noChangeAspect="1"/>
          </p:cNvPicPr>
          <p:nvPr/>
        </p:nvPicPr>
        <p:blipFill>
          <a:blip r:embed="rId5"/>
          <a:stretch>
            <a:fillRect/>
          </a:stretch>
        </p:blipFill>
        <p:spPr>
          <a:xfrm>
            <a:off x="9229725" y="1907438"/>
            <a:ext cx="365760" cy="365760"/>
          </a:xfrm>
          <a:prstGeom prst="rect">
            <a:avLst/>
          </a:prstGeom>
        </p:spPr>
      </p:pic>
      <p:sp>
        <p:nvSpPr>
          <p:cNvPr id="32" name="Text 25"/>
          <p:cNvSpPr/>
          <p:nvPr/>
        </p:nvSpPr>
        <p:spPr>
          <a:xfrm>
            <a:off x="9794138" y="1889150"/>
            <a:ext cx="1499616" cy="347472"/>
          </a:xfrm>
          <a:prstGeom prst="rect">
            <a:avLst/>
          </a:prstGeom>
          <a:noFill/>
          <a:ln/>
        </p:spPr>
        <p:txBody>
          <a:bodyPr wrap="square" lIns="0" tIns="0" rIns="0" bIns="0" rtlCol="0" anchor="ctr"/>
          <a:lstStyle/>
          <a:p>
            <a:pPr algn="r" indent="0" marL="0">
              <a:buNone/>
            </a:pPr>
            <a:r>
              <a:rPr lang="en-US" sz="2000" b="1" dirty="0">
                <a:solidFill>
                  <a:srgbClr val="106838"/>
                </a:solidFill>
                <a:latin typeface="Arial" pitchFamily="34" charset="0"/>
                <a:ea typeface="Arial" pitchFamily="34" charset="-122"/>
                <a:cs typeface="Arial" pitchFamily="34" charset="-120"/>
              </a:rPr>
              <a:t>147円〜</a:t>
            </a:r>
            <a:endParaRPr lang="en-US" sz="2000" dirty="0"/>
          </a:p>
        </p:txBody>
      </p:sp>
      <p:sp>
        <p:nvSpPr>
          <p:cNvPr id="33" name="Text 26"/>
          <p:cNvSpPr/>
          <p:nvPr/>
        </p:nvSpPr>
        <p:spPr>
          <a:xfrm>
            <a:off x="9794138" y="2236622"/>
            <a:ext cx="1499616" cy="182880"/>
          </a:xfrm>
          <a:prstGeom prst="rect">
            <a:avLst/>
          </a:prstGeom>
          <a:noFill/>
          <a:ln/>
        </p:spPr>
        <p:txBody>
          <a:bodyPr wrap="square" lIns="0" tIns="0" rIns="0" bIns="0" rtlCol="0" anchor="ctr"/>
          <a:lstStyle/>
          <a:p>
            <a:pPr algn="r" indent="0" marL="0">
              <a:buNone/>
            </a:pPr>
            <a:r>
              <a:rPr lang="en-US" sz="800" dirty="0">
                <a:solidFill>
                  <a:srgbClr val="7E8882"/>
                </a:solidFill>
                <a:latin typeface="Yu Gothic" pitchFamily="34" charset="0"/>
                <a:ea typeface="Yu Gothic" pitchFamily="34" charset="-122"/>
                <a:cs typeface="Yu Gothic" pitchFamily="34" charset="-120"/>
              </a:rPr>
              <a:t>サブスク1杯換算</a:t>
            </a:r>
            <a:endParaRPr lang="en-US" sz="800" dirty="0"/>
          </a:p>
        </p:txBody>
      </p:sp>
      <p:sp>
        <p:nvSpPr>
          <p:cNvPr id="34" name="Text 27"/>
          <p:cNvSpPr/>
          <p:nvPr/>
        </p:nvSpPr>
        <p:spPr>
          <a:xfrm>
            <a:off x="9229725" y="2584094"/>
            <a:ext cx="2064029" cy="365760"/>
          </a:xfrm>
          <a:prstGeom prst="rect">
            <a:avLst/>
          </a:prstGeom>
          <a:noFill/>
          <a:ln/>
        </p:spPr>
        <p:txBody>
          <a:bodyPr wrap="square" lIns="0" tIns="0" rIns="0" bIns="0" rtlCol="0" anchor="ctr"/>
          <a:lstStyle/>
          <a:p>
            <a:pPr indent="0" marL="0">
              <a:buNone/>
            </a:pPr>
            <a:r>
              <a:rPr lang="en-US" sz="1350" b="1" dirty="0">
                <a:solidFill>
                  <a:srgbClr val="0A3D23"/>
                </a:solidFill>
                <a:latin typeface="Yu Gothic" pitchFamily="34" charset="0"/>
                <a:ea typeface="Yu Gothic" pitchFamily="34" charset="-122"/>
                <a:cs typeface="Yu Gothic" pitchFamily="34" charset="-120"/>
              </a:rPr>
              <a:t>サブスクプラン</a:t>
            </a:r>
            <a:endParaRPr lang="en-US" sz="1350" dirty="0"/>
          </a:p>
        </p:txBody>
      </p:sp>
      <p:sp>
        <p:nvSpPr>
          <p:cNvPr id="35" name="Shape 28"/>
          <p:cNvSpPr/>
          <p:nvPr/>
        </p:nvSpPr>
        <p:spPr>
          <a:xfrm>
            <a:off x="9229725" y="3023006"/>
            <a:ext cx="2064029" cy="10058"/>
          </a:xfrm>
          <a:prstGeom prst="rect">
            <a:avLst/>
          </a:prstGeom>
          <a:solidFill>
            <a:srgbClr val="EFEAE0"/>
          </a:solidFill>
          <a:ln/>
        </p:spPr>
      </p:sp>
      <p:sp>
        <p:nvSpPr>
          <p:cNvPr id="36" name="Text 29"/>
          <p:cNvSpPr/>
          <p:nvPr/>
        </p:nvSpPr>
        <p:spPr>
          <a:xfrm>
            <a:off x="9229725" y="3151022"/>
            <a:ext cx="2064029" cy="859536"/>
          </a:xfrm>
          <a:prstGeom prst="rect">
            <a:avLst/>
          </a:prstGeom>
          <a:noFill/>
          <a:ln/>
        </p:spPr>
        <p:txBody>
          <a:bodyPr wrap="square" lIns="0" tIns="0" rIns="0" bIns="0" rtlCol="0" anchor="t"/>
          <a:lstStyle/>
          <a:p>
            <a:pPr indent="0" marL="0">
              <a:lnSpc>
                <a:spcPct val="140000"/>
              </a:lnSpc>
              <a:buNone/>
            </a:pPr>
            <a:r>
              <a:rPr lang="en-US" sz="1000" dirty="0">
                <a:solidFill>
                  <a:srgbClr val="4B5550"/>
                </a:solidFill>
                <a:latin typeface="Yu Gothic" pitchFamily="34" charset="0"/>
                <a:ea typeface="Yu Gothic" pitchFamily="34" charset="-122"/>
                <a:cs typeface="Yu Gothic" pitchFamily="34" charset="-120"/>
              </a:rPr>
              <a:t>月額定額で通い放題のプランも用意。継続利用を促します。</a:t>
            </a:r>
            <a:endParaRPr lang="en-US" sz="1000" dirty="0"/>
          </a:p>
        </p:txBody>
      </p:sp>
      <p:sp>
        <p:nvSpPr>
          <p:cNvPr id="37" name="Shape 30"/>
          <p:cNvSpPr/>
          <p:nvPr/>
        </p:nvSpPr>
        <p:spPr>
          <a:xfrm>
            <a:off x="660197" y="4394606"/>
            <a:ext cx="1689964" cy="914400"/>
          </a:xfrm>
          <a:prstGeom prst="roundRect">
            <a:avLst>
              <a:gd name="adj" fmla="val 6000"/>
            </a:avLst>
          </a:prstGeom>
          <a:solidFill>
            <a:srgbClr val="F1F8F3"/>
          </a:solidFill>
          <a:ln w="9525">
            <a:solidFill>
              <a:srgbClr val="D2E7DA"/>
            </a:solidFill>
            <a:prstDash val="solid"/>
          </a:ln>
        </p:spPr>
      </p:sp>
      <p:pic>
        <p:nvPicPr>
          <p:cNvPr id="38" name="Image 5" descr="/home/user/suzuki-ceo/selfcafe-gyomu-deck/assets/icons/LuCalendarCheck-green.png">    </p:cNvPr>
          <p:cNvPicPr>
            <a:picLocks noChangeAspect="1"/>
          </p:cNvPicPr>
          <p:nvPr/>
        </p:nvPicPr>
        <p:blipFill>
          <a:blip r:embed="rId6"/>
          <a:stretch>
            <a:fillRect/>
          </a:stretch>
        </p:blipFill>
        <p:spPr>
          <a:xfrm>
            <a:off x="1331443" y="4559198"/>
            <a:ext cx="347472" cy="347472"/>
          </a:xfrm>
          <a:prstGeom prst="rect">
            <a:avLst/>
          </a:prstGeom>
        </p:spPr>
      </p:pic>
      <p:sp>
        <p:nvSpPr>
          <p:cNvPr id="39" name="Text 31"/>
          <p:cNvSpPr/>
          <p:nvPr/>
        </p:nvSpPr>
        <p:spPr>
          <a:xfrm>
            <a:off x="696773" y="4961534"/>
            <a:ext cx="1616812" cy="256032"/>
          </a:xfrm>
          <a:prstGeom prst="rect">
            <a:avLst/>
          </a:prstGeom>
          <a:noFill/>
          <a:ln/>
        </p:spPr>
        <p:txBody>
          <a:bodyPr wrap="square" lIns="0" tIns="0" rIns="0" bIns="0" rtlCol="0" anchor="ctr"/>
          <a:lstStyle/>
          <a:p>
            <a:pPr algn="ctr" indent="0" marL="0">
              <a:buNone/>
            </a:pPr>
            <a:r>
              <a:rPr lang="en-US" sz="1000" b="1" dirty="0">
                <a:solidFill>
                  <a:srgbClr val="106838"/>
                </a:solidFill>
                <a:latin typeface="Yu Gothic" pitchFamily="34" charset="0"/>
                <a:ea typeface="Yu Gothic" pitchFamily="34" charset="-122"/>
                <a:cs typeface="Yu Gothic" pitchFamily="34" charset="-120"/>
              </a:rPr>
              <a:t>無人・年中無休</a:t>
            </a:r>
            <a:endParaRPr lang="en-US" sz="1000" dirty="0"/>
          </a:p>
        </p:txBody>
      </p:sp>
      <p:sp>
        <p:nvSpPr>
          <p:cNvPr id="40" name="Shape 32"/>
          <p:cNvSpPr/>
          <p:nvPr/>
        </p:nvSpPr>
        <p:spPr>
          <a:xfrm>
            <a:off x="2496464" y="4394606"/>
            <a:ext cx="1689964" cy="914400"/>
          </a:xfrm>
          <a:prstGeom prst="roundRect">
            <a:avLst>
              <a:gd name="adj" fmla="val 6000"/>
            </a:avLst>
          </a:prstGeom>
          <a:solidFill>
            <a:srgbClr val="F1F8F3"/>
          </a:solidFill>
          <a:ln w="9525">
            <a:solidFill>
              <a:srgbClr val="D2E7DA"/>
            </a:solidFill>
            <a:prstDash val="solid"/>
          </a:ln>
        </p:spPr>
      </p:sp>
      <p:pic>
        <p:nvPicPr>
          <p:cNvPr id="41" name="Image 6" descr="/home/user/suzuki-ceo/selfcafe-gyomu-deck/assets/icons/LuWifi-green.png">    </p:cNvPr>
          <p:cNvPicPr>
            <a:picLocks noChangeAspect="1"/>
          </p:cNvPicPr>
          <p:nvPr/>
        </p:nvPicPr>
        <p:blipFill>
          <a:blip r:embed="rId7"/>
          <a:stretch>
            <a:fillRect/>
          </a:stretch>
        </p:blipFill>
        <p:spPr>
          <a:xfrm>
            <a:off x="3167710" y="4559198"/>
            <a:ext cx="347472" cy="347472"/>
          </a:xfrm>
          <a:prstGeom prst="rect">
            <a:avLst/>
          </a:prstGeom>
        </p:spPr>
      </p:pic>
      <p:sp>
        <p:nvSpPr>
          <p:cNvPr id="42" name="Text 33"/>
          <p:cNvSpPr/>
          <p:nvPr/>
        </p:nvSpPr>
        <p:spPr>
          <a:xfrm>
            <a:off x="2533040" y="4961534"/>
            <a:ext cx="1616812" cy="256032"/>
          </a:xfrm>
          <a:prstGeom prst="rect">
            <a:avLst/>
          </a:prstGeom>
          <a:noFill/>
          <a:ln/>
        </p:spPr>
        <p:txBody>
          <a:bodyPr wrap="square" lIns="0" tIns="0" rIns="0" bIns="0" rtlCol="0" anchor="ctr"/>
          <a:lstStyle/>
          <a:p>
            <a:pPr algn="ctr" indent="0" marL="0">
              <a:buNone/>
            </a:pPr>
            <a:r>
              <a:rPr lang="en-US" sz="1000" b="1" dirty="0">
                <a:solidFill>
                  <a:srgbClr val="106838"/>
                </a:solidFill>
                <a:latin typeface="Yu Gothic" pitchFamily="34" charset="0"/>
                <a:ea typeface="Yu Gothic" pitchFamily="34" charset="-122"/>
                <a:cs typeface="Yu Gothic" pitchFamily="34" charset="-120"/>
              </a:rPr>
              <a:t>高速Wi-Fi</a:t>
            </a:r>
            <a:endParaRPr lang="en-US" sz="1000" dirty="0"/>
          </a:p>
        </p:txBody>
      </p:sp>
      <p:sp>
        <p:nvSpPr>
          <p:cNvPr id="43" name="Shape 34"/>
          <p:cNvSpPr/>
          <p:nvPr/>
        </p:nvSpPr>
        <p:spPr>
          <a:xfrm>
            <a:off x="4332732" y="4394606"/>
            <a:ext cx="1689964" cy="914400"/>
          </a:xfrm>
          <a:prstGeom prst="roundRect">
            <a:avLst>
              <a:gd name="adj" fmla="val 6000"/>
            </a:avLst>
          </a:prstGeom>
          <a:solidFill>
            <a:srgbClr val="F1F8F3"/>
          </a:solidFill>
          <a:ln w="9525">
            <a:solidFill>
              <a:srgbClr val="D2E7DA"/>
            </a:solidFill>
            <a:prstDash val="solid"/>
          </a:ln>
        </p:spPr>
      </p:sp>
      <p:pic>
        <p:nvPicPr>
          <p:cNvPr id="44" name="Image 7" descr="/home/user/suzuki-ceo/selfcafe-gyomu-deck/assets/icons/LuPlug-green.png">    </p:cNvPr>
          <p:cNvPicPr>
            <a:picLocks noChangeAspect="1"/>
          </p:cNvPicPr>
          <p:nvPr/>
        </p:nvPicPr>
        <p:blipFill>
          <a:blip r:embed="rId8"/>
          <a:stretch>
            <a:fillRect/>
          </a:stretch>
        </p:blipFill>
        <p:spPr>
          <a:xfrm>
            <a:off x="5003978" y="4559198"/>
            <a:ext cx="347472" cy="347472"/>
          </a:xfrm>
          <a:prstGeom prst="rect">
            <a:avLst/>
          </a:prstGeom>
        </p:spPr>
      </p:pic>
      <p:sp>
        <p:nvSpPr>
          <p:cNvPr id="45" name="Text 35"/>
          <p:cNvSpPr/>
          <p:nvPr/>
        </p:nvSpPr>
        <p:spPr>
          <a:xfrm>
            <a:off x="4369308" y="4961534"/>
            <a:ext cx="1616812" cy="256032"/>
          </a:xfrm>
          <a:prstGeom prst="rect">
            <a:avLst/>
          </a:prstGeom>
          <a:noFill/>
          <a:ln/>
        </p:spPr>
        <p:txBody>
          <a:bodyPr wrap="square" lIns="0" tIns="0" rIns="0" bIns="0" rtlCol="0" anchor="ctr"/>
          <a:lstStyle/>
          <a:p>
            <a:pPr algn="ctr" indent="0" marL="0">
              <a:buNone/>
            </a:pPr>
            <a:r>
              <a:rPr lang="en-US" sz="1000" b="1" dirty="0">
                <a:solidFill>
                  <a:srgbClr val="106838"/>
                </a:solidFill>
                <a:latin typeface="Yu Gothic" pitchFamily="34" charset="0"/>
                <a:ea typeface="Yu Gothic" pitchFamily="34" charset="-122"/>
                <a:cs typeface="Yu Gothic" pitchFamily="34" charset="-120"/>
              </a:rPr>
              <a:t>電源完備</a:t>
            </a:r>
            <a:endParaRPr lang="en-US" sz="1000" dirty="0"/>
          </a:p>
        </p:txBody>
      </p:sp>
      <p:sp>
        <p:nvSpPr>
          <p:cNvPr id="46" name="Shape 36"/>
          <p:cNvSpPr/>
          <p:nvPr/>
        </p:nvSpPr>
        <p:spPr>
          <a:xfrm>
            <a:off x="6169000" y="4394606"/>
            <a:ext cx="1689964" cy="914400"/>
          </a:xfrm>
          <a:prstGeom prst="roundRect">
            <a:avLst>
              <a:gd name="adj" fmla="val 6000"/>
            </a:avLst>
          </a:prstGeom>
          <a:solidFill>
            <a:srgbClr val="F1F8F3"/>
          </a:solidFill>
          <a:ln w="9525">
            <a:solidFill>
              <a:srgbClr val="D2E7DA"/>
            </a:solidFill>
            <a:prstDash val="solid"/>
          </a:ln>
        </p:spPr>
      </p:sp>
      <p:pic>
        <p:nvPicPr>
          <p:cNvPr id="47" name="Image 8" descr="/home/user/suzuki-ceo/selfcafe-gyomu-deck/assets/icons/LuClock-green.png">    </p:cNvPr>
          <p:cNvPicPr>
            <a:picLocks noChangeAspect="1"/>
          </p:cNvPicPr>
          <p:nvPr/>
        </p:nvPicPr>
        <p:blipFill>
          <a:blip r:embed="rId9"/>
          <a:stretch>
            <a:fillRect/>
          </a:stretch>
        </p:blipFill>
        <p:spPr>
          <a:xfrm>
            <a:off x="6840245" y="4559198"/>
            <a:ext cx="347472" cy="347472"/>
          </a:xfrm>
          <a:prstGeom prst="rect">
            <a:avLst/>
          </a:prstGeom>
        </p:spPr>
      </p:pic>
      <p:sp>
        <p:nvSpPr>
          <p:cNvPr id="48" name="Text 37"/>
          <p:cNvSpPr/>
          <p:nvPr/>
        </p:nvSpPr>
        <p:spPr>
          <a:xfrm>
            <a:off x="6205576" y="4961534"/>
            <a:ext cx="1616812" cy="256032"/>
          </a:xfrm>
          <a:prstGeom prst="rect">
            <a:avLst/>
          </a:prstGeom>
          <a:noFill/>
          <a:ln/>
        </p:spPr>
        <p:txBody>
          <a:bodyPr wrap="square" lIns="0" tIns="0" rIns="0" bIns="0" rtlCol="0" anchor="ctr"/>
          <a:lstStyle/>
          <a:p>
            <a:pPr algn="ctr" indent="0" marL="0">
              <a:buNone/>
            </a:pPr>
            <a:r>
              <a:rPr lang="en-US" sz="1000" b="1" dirty="0">
                <a:solidFill>
                  <a:srgbClr val="106838"/>
                </a:solidFill>
                <a:latin typeface="Yu Gothic" pitchFamily="34" charset="0"/>
                <a:ea typeface="Yu Gothic" pitchFamily="34" charset="-122"/>
                <a:cs typeface="Yu Gothic" pitchFamily="34" charset="-120"/>
              </a:rPr>
              <a:t>席時間無制限</a:t>
            </a:r>
            <a:endParaRPr lang="en-US" sz="1000" dirty="0"/>
          </a:p>
        </p:txBody>
      </p:sp>
      <p:sp>
        <p:nvSpPr>
          <p:cNvPr id="49" name="Shape 38"/>
          <p:cNvSpPr/>
          <p:nvPr/>
        </p:nvSpPr>
        <p:spPr>
          <a:xfrm>
            <a:off x="8005267" y="4394606"/>
            <a:ext cx="1689964" cy="914400"/>
          </a:xfrm>
          <a:prstGeom prst="roundRect">
            <a:avLst>
              <a:gd name="adj" fmla="val 6000"/>
            </a:avLst>
          </a:prstGeom>
          <a:solidFill>
            <a:srgbClr val="F1F8F3"/>
          </a:solidFill>
          <a:ln w="9525">
            <a:solidFill>
              <a:srgbClr val="D2E7DA"/>
            </a:solidFill>
            <a:prstDash val="solid"/>
          </a:ln>
        </p:spPr>
      </p:sp>
      <p:pic>
        <p:nvPicPr>
          <p:cNvPr id="50" name="Image 9" descr="/home/user/suzuki-ceo/selfcafe-gyomu-deck/assets/icons/LuBookOpen-green.png">    </p:cNvPr>
          <p:cNvPicPr>
            <a:picLocks noChangeAspect="1"/>
          </p:cNvPicPr>
          <p:nvPr/>
        </p:nvPicPr>
        <p:blipFill>
          <a:blip r:embed="rId10"/>
          <a:stretch>
            <a:fillRect/>
          </a:stretch>
        </p:blipFill>
        <p:spPr>
          <a:xfrm>
            <a:off x="8676513" y="4559198"/>
            <a:ext cx="347472" cy="347472"/>
          </a:xfrm>
          <a:prstGeom prst="rect">
            <a:avLst/>
          </a:prstGeom>
        </p:spPr>
      </p:pic>
      <p:sp>
        <p:nvSpPr>
          <p:cNvPr id="51" name="Text 39"/>
          <p:cNvSpPr/>
          <p:nvPr/>
        </p:nvSpPr>
        <p:spPr>
          <a:xfrm>
            <a:off x="8041843" y="4961534"/>
            <a:ext cx="1616812" cy="256032"/>
          </a:xfrm>
          <a:prstGeom prst="rect">
            <a:avLst/>
          </a:prstGeom>
          <a:noFill/>
          <a:ln/>
        </p:spPr>
        <p:txBody>
          <a:bodyPr wrap="square" lIns="0" tIns="0" rIns="0" bIns="0" rtlCol="0" anchor="ctr"/>
          <a:lstStyle/>
          <a:p>
            <a:pPr algn="ctr" indent="0" marL="0">
              <a:buNone/>
            </a:pPr>
            <a:r>
              <a:rPr lang="en-US" sz="1000" b="1" dirty="0">
                <a:solidFill>
                  <a:srgbClr val="106838"/>
                </a:solidFill>
                <a:latin typeface="Yu Gothic" pitchFamily="34" charset="0"/>
                <a:ea typeface="Yu Gothic" pitchFamily="34" charset="-122"/>
                <a:cs typeface="Yu Gothic" pitchFamily="34" charset="-120"/>
              </a:rPr>
              <a:t>仕事・勉強</a:t>
            </a:r>
            <a:endParaRPr lang="en-US" sz="1000" dirty="0"/>
          </a:p>
        </p:txBody>
      </p:sp>
      <p:sp>
        <p:nvSpPr>
          <p:cNvPr id="52" name="Shape 40"/>
          <p:cNvSpPr/>
          <p:nvPr/>
        </p:nvSpPr>
        <p:spPr>
          <a:xfrm>
            <a:off x="9841535" y="4394606"/>
            <a:ext cx="1689964" cy="914400"/>
          </a:xfrm>
          <a:prstGeom prst="roundRect">
            <a:avLst>
              <a:gd name="adj" fmla="val 6000"/>
            </a:avLst>
          </a:prstGeom>
          <a:solidFill>
            <a:srgbClr val="F1F8F3"/>
          </a:solidFill>
          <a:ln w="9525">
            <a:solidFill>
              <a:srgbClr val="D2E7DA"/>
            </a:solidFill>
            <a:prstDash val="solid"/>
          </a:ln>
        </p:spPr>
      </p:sp>
      <p:pic>
        <p:nvPicPr>
          <p:cNvPr id="53" name="Image 10" descr="/home/user/suzuki-ceo/selfcafe-gyomu-deck/assets/icons/LuMessagesSquare-green.png">    </p:cNvPr>
          <p:cNvPicPr>
            <a:picLocks noChangeAspect="1"/>
          </p:cNvPicPr>
          <p:nvPr/>
        </p:nvPicPr>
        <p:blipFill>
          <a:blip r:embed="rId11"/>
          <a:stretch>
            <a:fillRect/>
          </a:stretch>
        </p:blipFill>
        <p:spPr>
          <a:xfrm>
            <a:off x="10512781" y="4559198"/>
            <a:ext cx="347472" cy="347472"/>
          </a:xfrm>
          <a:prstGeom prst="rect">
            <a:avLst/>
          </a:prstGeom>
        </p:spPr>
      </p:pic>
      <p:sp>
        <p:nvSpPr>
          <p:cNvPr id="54" name="Text 41"/>
          <p:cNvSpPr/>
          <p:nvPr/>
        </p:nvSpPr>
        <p:spPr>
          <a:xfrm>
            <a:off x="9878111" y="4961534"/>
            <a:ext cx="1616812" cy="256032"/>
          </a:xfrm>
          <a:prstGeom prst="rect">
            <a:avLst/>
          </a:prstGeom>
          <a:noFill/>
          <a:ln/>
        </p:spPr>
        <p:txBody>
          <a:bodyPr wrap="square" lIns="0" tIns="0" rIns="0" bIns="0" rtlCol="0" anchor="ctr"/>
          <a:lstStyle/>
          <a:p>
            <a:pPr algn="ctr" indent="0" marL="0">
              <a:buNone/>
            </a:pPr>
            <a:r>
              <a:rPr lang="en-US" sz="1000" b="1" dirty="0">
                <a:solidFill>
                  <a:srgbClr val="106838"/>
                </a:solidFill>
                <a:latin typeface="Yu Gothic" pitchFamily="34" charset="0"/>
                <a:ea typeface="Yu Gothic" pitchFamily="34" charset="-122"/>
                <a:cs typeface="Yu Gothic" pitchFamily="34" charset="-120"/>
              </a:rPr>
              <a:t>会話OK</a:t>
            </a:r>
            <a:endParaRPr lang="en-US" sz="1000" dirty="0"/>
          </a:p>
        </p:txBody>
      </p:sp>
      <p:sp>
        <p:nvSpPr>
          <p:cNvPr id="55" name="Text 42"/>
          <p:cNvSpPr/>
          <p:nvPr/>
        </p:nvSpPr>
        <p:spPr>
          <a:xfrm>
            <a:off x="660197" y="5437022"/>
            <a:ext cx="10871302" cy="182880"/>
          </a:xfrm>
          <a:prstGeom prst="rect">
            <a:avLst/>
          </a:prstGeom>
          <a:noFill/>
          <a:ln/>
        </p:spPr>
        <p:txBody>
          <a:bodyPr wrap="square" lIns="0" tIns="0" rIns="0" bIns="0" rtlCol="0" anchor="ctr"/>
          <a:lstStyle/>
          <a:p>
            <a:pPr indent="0" marL="0">
              <a:buNone/>
            </a:pPr>
            <a:r>
              <a:rPr lang="en-US" sz="850" dirty="0">
                <a:solidFill>
                  <a:srgbClr val="A8B0AA"/>
                </a:solidFill>
                <a:latin typeface="Yu Gothic" pitchFamily="34" charset="0"/>
                <a:ea typeface="Yu Gothic" pitchFamily="34" charset="-122"/>
                <a:cs typeface="Yu Gothic" pitchFamily="34" charset="-120"/>
              </a:rPr>
              <a:t>※ 予約不要・登録不要。ドリンク1杯からご利用いただけます。</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7"/>
        </a:solidFill>
      </p:bgPr>
    </p:bg>
    <p:spTree>
      <p:nvGrpSpPr>
        <p:cNvPr id="1" name=""/>
        <p:cNvGrpSpPr/>
        <p:nvPr/>
      </p:nvGrpSpPr>
      <p:grpSpPr>
        <a:xfrm>
          <a:off x="0" y="0"/>
          <a:ext cx="0" cy="0"/>
          <a:chOff x="0" y="0"/>
          <a:chExt cx="0" cy="0"/>
        </a:xfrm>
      </p:grpSpPr>
      <p:sp>
        <p:nvSpPr>
          <p:cNvPr id="2" name="Shape 0"/>
          <p:cNvSpPr/>
          <p:nvPr/>
        </p:nvSpPr>
        <p:spPr>
          <a:xfrm>
            <a:off x="660197" y="545897"/>
            <a:ext cx="202997" cy="25603"/>
          </a:xfrm>
          <a:prstGeom prst="rect">
            <a:avLst/>
          </a:prstGeom>
          <a:solidFill>
            <a:srgbClr val="106838"/>
          </a:solidFill>
          <a:ln/>
        </p:spPr>
      </p:sp>
      <p:sp>
        <p:nvSpPr>
          <p:cNvPr id="3" name="Text 1"/>
          <p:cNvSpPr/>
          <p:nvPr/>
        </p:nvSpPr>
        <p:spPr>
          <a:xfrm>
            <a:off x="952805" y="444398"/>
            <a:ext cx="6400800" cy="177394"/>
          </a:xfrm>
          <a:prstGeom prst="rect">
            <a:avLst/>
          </a:prstGeom>
          <a:noFill/>
          <a:ln/>
        </p:spPr>
        <p:txBody>
          <a:bodyPr wrap="square" lIns="0" tIns="0" rIns="0" bIns="0" rtlCol="0" anchor="ctr"/>
          <a:lstStyle/>
          <a:p>
            <a:pPr indent="0" marL="0">
              <a:buNone/>
            </a:pPr>
            <a:r>
              <a:rPr lang="en-US" sz="1050" b="1" dirty="0">
                <a:solidFill>
                  <a:srgbClr val="A8761F"/>
                </a:solidFill>
                <a:latin typeface="Arial" pitchFamily="34" charset="0"/>
                <a:ea typeface="Arial" pitchFamily="34" charset="-122"/>
                <a:cs typeface="Arial" pitchFamily="34" charset="-120"/>
              </a:rPr>
              <a:t>11</a:t>
            </a:r>
            <a:r>
              <a:rPr lang="en-US" sz="1050" b="1" dirty="0">
                <a:solidFill>
                  <a:srgbClr val="1B8149"/>
                </a:solidFill>
                <a:latin typeface="Yu Gothic" pitchFamily="34" charset="0"/>
                <a:ea typeface="Yu Gothic" pitchFamily="34" charset="-122"/>
                <a:cs typeface="Yu Gothic" pitchFamily="34" charset="-120"/>
              </a:rPr>
              <a:t>   ユーザー層</a:t>
            </a:r>
            <a:endParaRPr lang="en-US" sz="1050" dirty="0"/>
          </a:p>
        </p:txBody>
      </p:sp>
      <p:sp>
        <p:nvSpPr>
          <p:cNvPr id="4" name="Text 2"/>
          <p:cNvSpPr/>
          <p:nvPr/>
        </p:nvSpPr>
        <p:spPr>
          <a:xfrm>
            <a:off x="660197" y="660197"/>
            <a:ext cx="8889797" cy="508406"/>
          </a:xfrm>
          <a:prstGeom prst="rect">
            <a:avLst/>
          </a:prstGeom>
          <a:noFill/>
          <a:ln/>
        </p:spPr>
        <p:txBody>
          <a:bodyPr wrap="square" lIns="0" tIns="0" rIns="0" bIns="0" rtlCol="0" anchor="ctr"/>
          <a:lstStyle/>
          <a:p>
            <a:pPr indent="0" marL="0">
              <a:buNone/>
            </a:pPr>
            <a:r>
              <a:rPr lang="en-US" sz="2900" b="1" dirty="0">
                <a:solidFill>
                  <a:srgbClr val="0A3D23"/>
                </a:solidFill>
                <a:latin typeface="Yu Gothic" pitchFamily="34" charset="0"/>
                <a:ea typeface="Yu Gothic" pitchFamily="34" charset="-122"/>
                <a:cs typeface="Yu Gothic" pitchFamily="34" charset="-120"/>
              </a:rPr>
              <a:t>セルフカフェのユーザー層</a:t>
            </a:r>
            <a:endParaRPr lang="en-US" sz="2900" dirty="0"/>
          </a:p>
        </p:txBody>
      </p:sp>
      <p:sp>
        <p:nvSpPr>
          <p:cNvPr id="5" name="Text 3"/>
          <p:cNvSpPr/>
          <p:nvPr/>
        </p:nvSpPr>
        <p:spPr>
          <a:xfrm>
            <a:off x="660197" y="1308506"/>
            <a:ext cx="10032797" cy="228600"/>
          </a:xfrm>
          <a:prstGeom prst="rect">
            <a:avLst/>
          </a:prstGeom>
          <a:noFill/>
          <a:ln/>
        </p:spPr>
        <p:txBody>
          <a:bodyPr wrap="square" lIns="0" tIns="0" rIns="0" bIns="0" rtlCol="0" anchor="ctr"/>
          <a:lstStyle/>
          <a:p>
            <a:pPr indent="0" marL="0">
              <a:buNone/>
            </a:pPr>
            <a:r>
              <a:rPr lang="en-US" sz="1250" dirty="0">
                <a:solidFill>
                  <a:srgbClr val="4B5550"/>
                </a:solidFill>
                <a:latin typeface="Yu Gothic" pitchFamily="34" charset="0"/>
                <a:ea typeface="Yu Gothic" pitchFamily="34" charset="-122"/>
                <a:cs typeface="Yu Gothic" pitchFamily="34" charset="-120"/>
              </a:rPr>
              <a:t>「勉強」を目的に、若年層が繰り返し来店する——長時間・高頻度の利用構造です。</a:t>
            </a:r>
            <a:endParaRPr lang="en-US" sz="1250" dirty="0"/>
          </a:p>
        </p:txBody>
      </p:sp>
      <p:pic>
        <p:nvPicPr>
          <p:cNvPr id="6" name="Image 0" descr="/home/user/suzuki-ceo/selfcafe-gyomu-deck/assets/logo-green.png">    </p:cNvPr>
          <p:cNvPicPr>
            <a:picLocks noChangeAspect="1"/>
          </p:cNvPicPr>
          <p:nvPr/>
        </p:nvPicPr>
        <p:blipFill>
          <a:blip r:embed="rId1"/>
          <a:stretch>
            <a:fillRect/>
          </a:stretch>
        </p:blipFill>
        <p:spPr>
          <a:xfrm>
            <a:off x="9855403" y="482803"/>
            <a:ext cx="1676095" cy="238658"/>
          </a:xfrm>
          <a:prstGeom prst="rect">
            <a:avLst/>
          </a:prstGeom>
        </p:spPr>
      </p:pic>
      <p:sp>
        <p:nvSpPr>
          <p:cNvPr id="7" name="Text 4"/>
          <p:cNvSpPr/>
          <p:nvPr/>
        </p:nvSpPr>
        <p:spPr>
          <a:xfrm>
            <a:off x="660197" y="6476695"/>
            <a:ext cx="5080406" cy="152705"/>
          </a:xfrm>
          <a:prstGeom prst="rect">
            <a:avLst/>
          </a:prstGeom>
          <a:noFill/>
          <a:ln/>
        </p:spPr>
        <p:txBody>
          <a:bodyPr wrap="square" lIns="0" tIns="0" rIns="0" bIns="0" rtlCol="0" anchor="ctr"/>
          <a:lstStyle/>
          <a:p>
            <a:pPr indent="0" marL="0">
              <a:buNone/>
            </a:pPr>
            <a:r>
              <a:rPr lang="en-US" sz="900" dirty="0">
                <a:solidFill>
                  <a:srgbClr val="A8B0AA"/>
                </a:solidFill>
                <a:latin typeface="Yu Gothic" pitchFamily="34" charset="0"/>
                <a:ea typeface="Yu Gothic" pitchFamily="34" charset="-122"/>
                <a:cs typeface="Yu Gothic" pitchFamily="34" charset="-120"/>
              </a:rPr>
              <a:t>セルフカフェ 業務委託型制度</a:t>
            </a:r>
            <a:endParaRPr lang="en-US" sz="900" dirty="0"/>
          </a:p>
        </p:txBody>
      </p:sp>
      <p:sp>
        <p:nvSpPr>
          <p:cNvPr id="8" name="Text 5"/>
          <p:cNvSpPr/>
          <p:nvPr/>
        </p:nvSpPr>
        <p:spPr>
          <a:xfrm>
            <a:off x="10261397" y="6463894"/>
            <a:ext cx="1270102" cy="152705"/>
          </a:xfrm>
          <a:prstGeom prst="rect">
            <a:avLst/>
          </a:prstGeom>
          <a:noFill/>
          <a:ln/>
        </p:spPr>
        <p:txBody>
          <a:bodyPr wrap="square" lIns="0" tIns="0" rIns="0" bIns="0" rtlCol="0" anchor="ctr"/>
          <a:lstStyle/>
          <a:p>
            <a:pPr algn="r" indent="0" marL="0">
              <a:buNone/>
            </a:pPr>
            <a:r>
              <a:rPr lang="en-US" sz="1000" b="1" dirty="0">
                <a:solidFill>
                  <a:srgbClr val="7E8882"/>
                </a:solidFill>
                <a:latin typeface="Arial" pitchFamily="34" charset="0"/>
                <a:ea typeface="Arial" pitchFamily="34" charset="-122"/>
                <a:cs typeface="Arial" pitchFamily="34" charset="-120"/>
              </a:rPr>
              <a:t>12</a:t>
            </a:r>
            <a:endParaRPr lang="en-US" sz="1000" dirty="0"/>
          </a:p>
        </p:txBody>
      </p:sp>
      <p:sp>
        <p:nvSpPr>
          <p:cNvPr id="9" name="Shape 6"/>
          <p:cNvSpPr/>
          <p:nvPr/>
        </p:nvSpPr>
        <p:spPr>
          <a:xfrm>
            <a:off x="660197" y="1651406"/>
            <a:ext cx="5243627" cy="4315968"/>
          </a:xfrm>
          <a:prstGeom prst="roundRect">
            <a:avLst>
              <a:gd name="adj" fmla="val 1271"/>
            </a:avLst>
          </a:prstGeom>
          <a:solidFill>
            <a:srgbClr val="FFFFFF"/>
          </a:solidFill>
          <a:ln w="9525">
            <a:solidFill>
              <a:srgbClr val="EFEAE0"/>
            </a:solidFill>
            <a:prstDash val="solid"/>
          </a:ln>
        </p:spPr>
      </p:sp>
      <p:sp>
        <p:nvSpPr>
          <p:cNvPr id="10" name="Text 7"/>
          <p:cNvSpPr/>
          <p:nvPr/>
        </p:nvSpPr>
        <p:spPr>
          <a:xfrm>
            <a:off x="934517" y="1889150"/>
            <a:ext cx="310896" cy="310896"/>
          </a:xfrm>
          <a:prstGeom prst="rect">
            <a:avLst/>
          </a:prstGeom>
          <a:noFill/>
          <a:ln/>
        </p:spPr>
        <p:txBody>
          <a:bodyPr wrap="square" lIns="0" tIns="0" rIns="0" bIns="0" rtlCol="0" anchor="ctr"/>
          <a:lstStyle/>
          <a:p>
            <a:pPr indent="0" marL="0">
              <a:buNone/>
            </a:pPr>
            <a:r>
              <a:rPr lang="en-US" sz="2000" b="1" dirty="0">
                <a:solidFill>
                  <a:srgbClr val="A9C6B5"/>
                </a:solidFill>
                <a:latin typeface="Arial" pitchFamily="34" charset="0"/>
                <a:ea typeface="Arial" pitchFamily="34" charset="-122"/>
                <a:cs typeface="Arial" pitchFamily="34" charset="-120"/>
              </a:rPr>
              <a:t>1</a:t>
            </a:r>
            <a:endParaRPr lang="en-US" sz="2000" dirty="0"/>
          </a:p>
        </p:txBody>
      </p:sp>
      <p:sp>
        <p:nvSpPr>
          <p:cNvPr id="11" name="Text 8"/>
          <p:cNvSpPr/>
          <p:nvPr/>
        </p:nvSpPr>
        <p:spPr>
          <a:xfrm>
            <a:off x="1318565" y="1870862"/>
            <a:ext cx="4329227" cy="347472"/>
          </a:xfrm>
          <a:prstGeom prst="rect">
            <a:avLst/>
          </a:prstGeom>
          <a:noFill/>
          <a:ln/>
        </p:spPr>
        <p:txBody>
          <a:bodyPr wrap="square" lIns="0" tIns="0" rIns="0" bIns="0" rtlCol="0" anchor="ctr"/>
          <a:lstStyle/>
          <a:p>
            <a:pPr indent="0" marL="0">
              <a:buNone/>
            </a:pPr>
            <a:r>
              <a:rPr lang="en-US" sz="1700" b="1" dirty="0">
                <a:solidFill>
                  <a:srgbClr val="0A3D23"/>
                </a:solidFill>
                <a:latin typeface="Yu Gothic" pitchFamily="34" charset="0"/>
                <a:ea typeface="Yu Gothic" pitchFamily="34" charset="-122"/>
                <a:cs typeface="Yu Gothic" pitchFamily="34" charset="-120"/>
              </a:rPr>
              <a:t>若年層から絶大な支持</a:t>
            </a:r>
            <a:endParaRPr lang="en-US" sz="1700" dirty="0"/>
          </a:p>
        </p:txBody>
      </p:sp>
      <p:sp>
        <p:nvSpPr>
          <p:cNvPr id="12" name="Text 9"/>
          <p:cNvSpPr/>
          <p:nvPr/>
        </p:nvSpPr>
        <p:spPr>
          <a:xfrm>
            <a:off x="934517" y="2309774"/>
            <a:ext cx="4694987" cy="548640"/>
          </a:xfrm>
          <a:prstGeom prst="rect">
            <a:avLst/>
          </a:prstGeom>
          <a:noFill/>
          <a:ln/>
        </p:spPr>
        <p:txBody>
          <a:bodyPr wrap="square" lIns="0" tIns="0" rIns="0" bIns="0" rtlCol="0" anchor="t"/>
          <a:lstStyle/>
          <a:p>
            <a:pPr indent="0" marL="0">
              <a:lnSpc>
                <a:spcPct val="135000"/>
              </a:lnSpc>
              <a:buNone/>
            </a:pPr>
            <a:r>
              <a:rPr lang="en-US" sz="1050" dirty="0">
                <a:solidFill>
                  <a:srgbClr val="4B5550"/>
                </a:solidFill>
                <a:latin typeface="Yu Gothic" pitchFamily="34" charset="0"/>
                <a:ea typeface="Yu Gothic" pitchFamily="34" charset="-122"/>
                <a:cs typeface="Yu Gothic" pitchFamily="34" charset="-120"/>
              </a:rPr>
              <a:t>29歳までのユーザーが</a:t>
            </a:r>
            <a:r>
              <a:rPr lang="en-US" sz="1050" b="1" dirty="0">
                <a:solidFill>
                  <a:srgbClr val="106838"/>
                </a:solidFill>
                <a:latin typeface="Yu Gothic" pitchFamily="34" charset="0"/>
                <a:ea typeface="Yu Gothic" pitchFamily="34" charset="-122"/>
                <a:cs typeface="Yu Gothic" pitchFamily="34" charset="-120"/>
              </a:rPr>
              <a:t>過半数（56%）</a:t>
            </a:r>
            <a:r>
              <a:rPr lang="en-US" sz="1050" dirty="0">
                <a:solidFill>
                  <a:srgbClr val="4B5550"/>
                </a:solidFill>
                <a:latin typeface="Yu Gothic" pitchFamily="34" charset="0"/>
                <a:ea typeface="Yu Gothic" pitchFamily="34" charset="-122"/>
                <a:cs typeface="Yu Gothic" pitchFamily="34" charset="-120"/>
              </a:rPr>
              <a:t>。デジタルネイティブ世代にとって「無人」は心理的ハードルが低く、快適な空間です。</a:t>
            </a:r>
            <a:endParaRPr lang="en-US" sz="1050" dirty="0"/>
          </a:p>
        </p:txBody>
      </p:sp>
      <p:graphicFrame>
        <p:nvGraphicFramePr>
          <p:cNvPr id="13" name="Chart 0" descr=""/>
          <p:cNvGraphicFramePr/>
          <p:nvPr/>
        </p:nvGraphicFramePr>
        <p:xfrm>
          <a:off x="843077" y="2931566"/>
          <a:ext cx="4877867" cy="2798064"/>
        </p:xfrm>
        <a:graphic xmlns:a="http://schemas.openxmlformats.org/drawingml/2006/main">
          <a:graphicData uri="http://schemas.openxmlformats.org/drawingml/2006/chart">
            <c:chart xmlns:c="http://schemas.openxmlformats.org/drawingml/2006/chart" r:id="rId2"/>
          </a:graphicData>
        </a:graphic>
      </p:graphicFrame>
      <p:sp>
        <p:nvSpPr>
          <p:cNvPr id="14" name="Text 10"/>
          <p:cNvSpPr/>
          <p:nvPr/>
        </p:nvSpPr>
        <p:spPr>
          <a:xfrm>
            <a:off x="4989424" y="5674766"/>
            <a:ext cx="603504" cy="182880"/>
          </a:xfrm>
          <a:prstGeom prst="rect">
            <a:avLst/>
          </a:prstGeom>
          <a:noFill/>
          <a:ln/>
        </p:spPr>
        <p:txBody>
          <a:bodyPr wrap="square" lIns="0" tIns="0" rIns="0" bIns="0" rtlCol="0" anchor="ctr"/>
          <a:lstStyle/>
          <a:p>
            <a:pPr algn="r" indent="0" marL="0">
              <a:buNone/>
            </a:pPr>
            <a:r>
              <a:rPr lang="en-US" sz="850" dirty="0">
                <a:solidFill>
                  <a:srgbClr val="A8B0AA"/>
                </a:solidFill>
                <a:latin typeface="Yu Gothic" pitchFamily="34" charset="0"/>
                <a:ea typeface="Yu Gothic" pitchFamily="34" charset="-122"/>
                <a:cs typeface="Yu Gothic" pitchFamily="34" charset="-120"/>
              </a:rPr>
              <a:t>（歳）</a:t>
            </a:r>
            <a:endParaRPr lang="en-US" sz="850" dirty="0"/>
          </a:p>
        </p:txBody>
      </p:sp>
      <p:sp>
        <p:nvSpPr>
          <p:cNvPr id="15" name="Text 11"/>
          <p:cNvSpPr/>
          <p:nvPr/>
        </p:nvSpPr>
        <p:spPr>
          <a:xfrm>
            <a:off x="660197" y="6089904"/>
            <a:ext cx="10871302" cy="182880"/>
          </a:xfrm>
          <a:prstGeom prst="rect">
            <a:avLst/>
          </a:prstGeom>
          <a:noFill/>
          <a:ln/>
        </p:spPr>
        <p:txBody>
          <a:bodyPr wrap="square" lIns="0" tIns="0" rIns="0" bIns="0" rtlCol="0" anchor="ctr"/>
          <a:lstStyle/>
          <a:p>
            <a:pPr indent="0" marL="0">
              <a:buNone/>
            </a:pPr>
            <a:r>
              <a:rPr lang="en-US" sz="850" dirty="0">
                <a:solidFill>
                  <a:srgbClr val="A8B0AA"/>
                </a:solidFill>
                <a:latin typeface="Yu Gothic" pitchFamily="34" charset="0"/>
                <a:ea typeface="Yu Gothic" pitchFamily="34" charset="-122"/>
                <a:cs typeface="Yu Gothic" pitchFamily="34" charset="-120"/>
              </a:rPr>
              <a:t>出典：自社アンケート調査。年齢構成は未回答（10%）を含む構成比です。</a:t>
            </a:r>
            <a:endParaRPr lang="en-US" sz="850" dirty="0"/>
          </a:p>
        </p:txBody>
      </p:sp>
      <p:sp>
        <p:nvSpPr>
          <p:cNvPr id="16" name="Shape 12"/>
          <p:cNvSpPr/>
          <p:nvPr/>
        </p:nvSpPr>
        <p:spPr>
          <a:xfrm>
            <a:off x="6287872" y="1651406"/>
            <a:ext cx="5243627" cy="4315968"/>
          </a:xfrm>
          <a:prstGeom prst="roundRect">
            <a:avLst>
              <a:gd name="adj" fmla="val 1271"/>
            </a:avLst>
          </a:prstGeom>
          <a:solidFill>
            <a:srgbClr val="FFFFFF"/>
          </a:solidFill>
          <a:ln w="9525">
            <a:solidFill>
              <a:srgbClr val="EFEAE0"/>
            </a:solidFill>
            <a:prstDash val="solid"/>
          </a:ln>
        </p:spPr>
      </p:sp>
      <p:sp>
        <p:nvSpPr>
          <p:cNvPr id="17" name="Text 13"/>
          <p:cNvSpPr/>
          <p:nvPr/>
        </p:nvSpPr>
        <p:spPr>
          <a:xfrm>
            <a:off x="6562192" y="1889150"/>
            <a:ext cx="310896" cy="310896"/>
          </a:xfrm>
          <a:prstGeom prst="rect">
            <a:avLst/>
          </a:prstGeom>
          <a:noFill/>
          <a:ln/>
        </p:spPr>
        <p:txBody>
          <a:bodyPr wrap="square" lIns="0" tIns="0" rIns="0" bIns="0" rtlCol="0" anchor="ctr"/>
          <a:lstStyle/>
          <a:p>
            <a:pPr indent="0" marL="0">
              <a:buNone/>
            </a:pPr>
            <a:r>
              <a:rPr lang="en-US" sz="2000" b="1" dirty="0">
                <a:solidFill>
                  <a:srgbClr val="A9C6B5"/>
                </a:solidFill>
                <a:latin typeface="Arial" pitchFamily="34" charset="0"/>
                <a:ea typeface="Arial" pitchFamily="34" charset="-122"/>
                <a:cs typeface="Arial" pitchFamily="34" charset="-120"/>
              </a:rPr>
              <a:t>2</a:t>
            </a:r>
            <a:endParaRPr lang="en-US" sz="2000" dirty="0"/>
          </a:p>
        </p:txBody>
      </p:sp>
      <p:sp>
        <p:nvSpPr>
          <p:cNvPr id="18" name="Text 14"/>
          <p:cNvSpPr/>
          <p:nvPr/>
        </p:nvSpPr>
        <p:spPr>
          <a:xfrm>
            <a:off x="6946240" y="1870862"/>
            <a:ext cx="4329227" cy="347472"/>
          </a:xfrm>
          <a:prstGeom prst="rect">
            <a:avLst/>
          </a:prstGeom>
          <a:noFill/>
          <a:ln/>
        </p:spPr>
        <p:txBody>
          <a:bodyPr wrap="square" lIns="0" tIns="0" rIns="0" bIns="0" rtlCol="0" anchor="ctr"/>
          <a:lstStyle/>
          <a:p>
            <a:pPr indent="0" marL="0">
              <a:buNone/>
            </a:pPr>
            <a:r>
              <a:rPr lang="en-US" sz="1700" b="1" dirty="0">
                <a:solidFill>
                  <a:srgbClr val="0A3D23"/>
                </a:solidFill>
                <a:latin typeface="Yu Gothic" pitchFamily="34" charset="0"/>
                <a:ea typeface="Yu Gothic" pitchFamily="34" charset="-122"/>
                <a:cs typeface="Yu Gothic" pitchFamily="34" charset="-120"/>
              </a:rPr>
              <a:t>「勉強」が主目的</a:t>
            </a:r>
            <a:endParaRPr lang="en-US" sz="1700" dirty="0"/>
          </a:p>
        </p:txBody>
      </p:sp>
      <p:sp>
        <p:nvSpPr>
          <p:cNvPr id="19" name="Text 15"/>
          <p:cNvSpPr/>
          <p:nvPr/>
        </p:nvSpPr>
        <p:spPr>
          <a:xfrm>
            <a:off x="6562192" y="2309774"/>
            <a:ext cx="4694987" cy="548640"/>
          </a:xfrm>
          <a:prstGeom prst="rect">
            <a:avLst/>
          </a:prstGeom>
          <a:noFill/>
          <a:ln/>
        </p:spPr>
        <p:txBody>
          <a:bodyPr wrap="square" lIns="0" tIns="0" rIns="0" bIns="0" rtlCol="0" anchor="t"/>
          <a:lstStyle/>
          <a:p>
            <a:pPr indent="0" marL="0">
              <a:lnSpc>
                <a:spcPct val="135000"/>
              </a:lnSpc>
              <a:buNone/>
            </a:pPr>
            <a:r>
              <a:rPr lang="en-US" sz="1050" dirty="0">
                <a:solidFill>
                  <a:srgbClr val="4B5550"/>
                </a:solidFill>
                <a:latin typeface="Yu Gothic" pitchFamily="34" charset="0"/>
                <a:ea typeface="Yu Gothic" pitchFamily="34" charset="-122"/>
                <a:cs typeface="Yu Gothic" pitchFamily="34" charset="-120"/>
              </a:rPr>
              <a:t>利用目的の</a:t>
            </a:r>
            <a:r>
              <a:rPr lang="en-US" sz="1050" b="1" dirty="0">
                <a:solidFill>
                  <a:srgbClr val="106838"/>
                </a:solidFill>
                <a:latin typeface="Yu Gothic" pitchFamily="34" charset="0"/>
                <a:ea typeface="Yu Gothic" pitchFamily="34" charset="-122"/>
                <a:cs typeface="Yu Gothic" pitchFamily="34" charset="-120"/>
              </a:rPr>
              <a:t>62.6%が「勉強」</a:t>
            </a:r>
            <a:r>
              <a:rPr lang="en-US" sz="1050" dirty="0">
                <a:solidFill>
                  <a:srgbClr val="4B5550"/>
                </a:solidFill>
                <a:latin typeface="Yu Gothic" pitchFamily="34" charset="0"/>
                <a:ea typeface="Yu Gothic" pitchFamily="34" charset="-122"/>
                <a:cs typeface="Yu Gothic" pitchFamily="34" charset="-120"/>
              </a:rPr>
              <a:t>。一般的なカフェが「休憩」を主目的とするのに対し、高い生産性を求める層が集まります。</a:t>
            </a:r>
            <a:endParaRPr lang="en-US" sz="1050" dirty="0"/>
          </a:p>
        </p:txBody>
      </p:sp>
      <p:graphicFrame>
        <p:nvGraphicFramePr>
          <p:cNvPr id="20" name="Chart 1" descr=""/>
          <p:cNvGraphicFramePr/>
          <p:nvPr/>
        </p:nvGraphicFramePr>
        <p:xfrm>
          <a:off x="6470752" y="2894990"/>
          <a:ext cx="4877867" cy="2889504"/>
        </p:xfrm>
        <a:graphic xmlns:a="http://schemas.openxmlformats.org/drawingml/2006/main">
          <a:graphicData uri="http://schemas.openxmlformats.org/drawingml/2006/chart">
            <c:chart xmlns:c="http://schemas.openxmlformats.org/drawingml/2006/chart" r:id="rId3"/>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7"/>
        </a:solidFill>
      </p:bgPr>
    </p:bg>
    <p:spTree>
      <p:nvGrpSpPr>
        <p:cNvPr id="1" name=""/>
        <p:cNvGrpSpPr/>
        <p:nvPr/>
      </p:nvGrpSpPr>
      <p:grpSpPr>
        <a:xfrm>
          <a:off x="0" y="0"/>
          <a:ext cx="0" cy="0"/>
          <a:chOff x="0" y="0"/>
          <a:chExt cx="0" cy="0"/>
        </a:xfrm>
      </p:grpSpPr>
      <p:sp>
        <p:nvSpPr>
          <p:cNvPr id="2" name="Shape 0"/>
          <p:cNvSpPr/>
          <p:nvPr/>
        </p:nvSpPr>
        <p:spPr>
          <a:xfrm>
            <a:off x="660197" y="545897"/>
            <a:ext cx="202997" cy="25603"/>
          </a:xfrm>
          <a:prstGeom prst="rect">
            <a:avLst/>
          </a:prstGeom>
          <a:solidFill>
            <a:srgbClr val="106838"/>
          </a:solidFill>
          <a:ln/>
        </p:spPr>
      </p:sp>
      <p:sp>
        <p:nvSpPr>
          <p:cNvPr id="3" name="Text 1"/>
          <p:cNvSpPr/>
          <p:nvPr/>
        </p:nvSpPr>
        <p:spPr>
          <a:xfrm>
            <a:off x="952805" y="444398"/>
            <a:ext cx="6400800" cy="177394"/>
          </a:xfrm>
          <a:prstGeom prst="rect">
            <a:avLst/>
          </a:prstGeom>
          <a:noFill/>
          <a:ln/>
        </p:spPr>
        <p:txBody>
          <a:bodyPr wrap="square" lIns="0" tIns="0" rIns="0" bIns="0" rtlCol="0" anchor="ctr"/>
          <a:lstStyle/>
          <a:p>
            <a:pPr indent="0" marL="0">
              <a:buNone/>
            </a:pPr>
            <a:r>
              <a:rPr lang="en-US" sz="1050" b="1" dirty="0">
                <a:solidFill>
                  <a:srgbClr val="A8761F"/>
                </a:solidFill>
                <a:latin typeface="Arial" pitchFamily="34" charset="0"/>
                <a:ea typeface="Arial" pitchFamily="34" charset="-122"/>
                <a:cs typeface="Arial" pitchFamily="34" charset="-120"/>
              </a:rPr>
              <a:t>12</a:t>
            </a:r>
            <a:r>
              <a:rPr lang="en-US" sz="1050" b="1" dirty="0">
                <a:solidFill>
                  <a:srgbClr val="1B8149"/>
                </a:solidFill>
                <a:latin typeface="Yu Gothic" pitchFamily="34" charset="0"/>
                <a:ea typeface="Yu Gothic" pitchFamily="34" charset="-122"/>
                <a:cs typeface="Yu Gothic" pitchFamily="34" charset="-120"/>
              </a:rPr>
              <a:t>   店舗の様子</a:t>
            </a:r>
            <a:endParaRPr lang="en-US" sz="1050" dirty="0"/>
          </a:p>
        </p:txBody>
      </p:sp>
      <p:sp>
        <p:nvSpPr>
          <p:cNvPr id="4" name="Text 2"/>
          <p:cNvSpPr/>
          <p:nvPr/>
        </p:nvSpPr>
        <p:spPr>
          <a:xfrm>
            <a:off x="660197" y="660197"/>
            <a:ext cx="8889797" cy="508406"/>
          </a:xfrm>
          <a:prstGeom prst="rect">
            <a:avLst/>
          </a:prstGeom>
          <a:noFill/>
          <a:ln/>
        </p:spPr>
        <p:txBody>
          <a:bodyPr wrap="square" lIns="0" tIns="0" rIns="0" bIns="0" rtlCol="0" anchor="ctr"/>
          <a:lstStyle/>
          <a:p>
            <a:pPr indent="0" marL="0">
              <a:buNone/>
            </a:pPr>
            <a:r>
              <a:rPr lang="en-US" sz="2900" b="1" dirty="0">
                <a:solidFill>
                  <a:srgbClr val="0A3D23"/>
                </a:solidFill>
                <a:latin typeface="Yu Gothic" pitchFamily="34" charset="0"/>
                <a:ea typeface="Yu Gothic" pitchFamily="34" charset="-122"/>
                <a:cs typeface="Yu Gothic" pitchFamily="34" charset="-120"/>
              </a:rPr>
              <a:t>店舗毎の利用状況 ／ 愛知・千葉エリア</a:t>
            </a:r>
            <a:endParaRPr lang="en-US" sz="2900" dirty="0"/>
          </a:p>
        </p:txBody>
      </p:sp>
      <p:sp>
        <p:nvSpPr>
          <p:cNvPr id="5" name="Text 3"/>
          <p:cNvSpPr/>
          <p:nvPr/>
        </p:nvSpPr>
        <p:spPr>
          <a:xfrm>
            <a:off x="660197" y="1308506"/>
            <a:ext cx="10032797" cy="228600"/>
          </a:xfrm>
          <a:prstGeom prst="rect">
            <a:avLst/>
          </a:prstGeom>
          <a:noFill/>
          <a:ln/>
        </p:spPr>
        <p:txBody>
          <a:bodyPr wrap="square" lIns="0" tIns="0" rIns="0" bIns="0" rtlCol="0" anchor="ctr"/>
          <a:lstStyle/>
          <a:p>
            <a:pPr indent="0" marL="0">
              <a:buNone/>
            </a:pPr>
            <a:r>
              <a:rPr lang="en-US" sz="1250" dirty="0">
                <a:solidFill>
                  <a:srgbClr val="4B5550"/>
                </a:solidFill>
                <a:latin typeface="Yu Gothic" pitchFamily="34" charset="0"/>
                <a:ea typeface="Yu Gothic" pitchFamily="34" charset="-122"/>
                <a:cs typeface="Yu Gothic" pitchFamily="34" charset="-120"/>
              </a:rPr>
              <a:t>店内カメラで見た実際の様子。平日日中でも席が埋まる店舗が多数あります。</a:t>
            </a:r>
            <a:endParaRPr lang="en-US" sz="1250" dirty="0"/>
          </a:p>
        </p:txBody>
      </p:sp>
      <p:pic>
        <p:nvPicPr>
          <p:cNvPr id="6" name="Image 0" descr="/home/user/suzuki-ceo/selfcafe-gyomu-deck/assets/logo-green.png">    </p:cNvPr>
          <p:cNvPicPr>
            <a:picLocks noChangeAspect="1"/>
          </p:cNvPicPr>
          <p:nvPr/>
        </p:nvPicPr>
        <p:blipFill>
          <a:blip r:embed="rId1"/>
          <a:stretch>
            <a:fillRect/>
          </a:stretch>
        </p:blipFill>
        <p:spPr>
          <a:xfrm>
            <a:off x="9855403" y="482803"/>
            <a:ext cx="1676095" cy="238658"/>
          </a:xfrm>
          <a:prstGeom prst="rect">
            <a:avLst/>
          </a:prstGeom>
        </p:spPr>
      </p:pic>
      <p:sp>
        <p:nvSpPr>
          <p:cNvPr id="7" name="Text 4"/>
          <p:cNvSpPr/>
          <p:nvPr/>
        </p:nvSpPr>
        <p:spPr>
          <a:xfrm>
            <a:off x="660197" y="6476695"/>
            <a:ext cx="5080406" cy="152705"/>
          </a:xfrm>
          <a:prstGeom prst="rect">
            <a:avLst/>
          </a:prstGeom>
          <a:noFill/>
          <a:ln/>
        </p:spPr>
        <p:txBody>
          <a:bodyPr wrap="square" lIns="0" tIns="0" rIns="0" bIns="0" rtlCol="0" anchor="ctr"/>
          <a:lstStyle/>
          <a:p>
            <a:pPr indent="0" marL="0">
              <a:buNone/>
            </a:pPr>
            <a:r>
              <a:rPr lang="en-US" sz="900" dirty="0">
                <a:solidFill>
                  <a:srgbClr val="A8B0AA"/>
                </a:solidFill>
                <a:latin typeface="Yu Gothic" pitchFamily="34" charset="0"/>
                <a:ea typeface="Yu Gothic" pitchFamily="34" charset="-122"/>
                <a:cs typeface="Yu Gothic" pitchFamily="34" charset="-120"/>
              </a:rPr>
              <a:t>セルフカフェ 業務委託型制度</a:t>
            </a:r>
            <a:endParaRPr lang="en-US" sz="900" dirty="0"/>
          </a:p>
        </p:txBody>
      </p:sp>
      <p:sp>
        <p:nvSpPr>
          <p:cNvPr id="8" name="Text 5"/>
          <p:cNvSpPr/>
          <p:nvPr/>
        </p:nvSpPr>
        <p:spPr>
          <a:xfrm>
            <a:off x="10261397" y="6463894"/>
            <a:ext cx="1270102" cy="152705"/>
          </a:xfrm>
          <a:prstGeom prst="rect">
            <a:avLst/>
          </a:prstGeom>
          <a:noFill/>
          <a:ln/>
        </p:spPr>
        <p:txBody>
          <a:bodyPr wrap="square" lIns="0" tIns="0" rIns="0" bIns="0" rtlCol="0" anchor="ctr"/>
          <a:lstStyle/>
          <a:p>
            <a:pPr algn="r" indent="0" marL="0">
              <a:buNone/>
            </a:pPr>
            <a:r>
              <a:rPr lang="en-US" sz="1000" b="1" dirty="0">
                <a:solidFill>
                  <a:srgbClr val="7E8882"/>
                </a:solidFill>
                <a:latin typeface="Arial" pitchFamily="34" charset="0"/>
                <a:ea typeface="Arial" pitchFamily="34" charset="-122"/>
                <a:cs typeface="Arial" pitchFamily="34" charset="-120"/>
              </a:rPr>
              <a:t>13</a:t>
            </a:r>
            <a:endParaRPr lang="en-US" sz="1000" dirty="0"/>
          </a:p>
        </p:txBody>
      </p:sp>
      <p:pic>
        <p:nvPicPr>
          <p:cNvPr id="9" name="Image 1" descr="/home/user/suzuki-ceo/selfcafe-gyomu-deck/assets/photos/.crops/store-sasashima-380x206.jpg">    </p:cNvPr>
          <p:cNvPicPr>
            <a:picLocks noChangeAspect="1"/>
          </p:cNvPicPr>
          <p:nvPr/>
        </p:nvPicPr>
        <p:blipFill>
          <a:blip r:embed="rId2"/>
          <a:stretch>
            <a:fillRect/>
          </a:stretch>
        </p:blipFill>
        <p:spPr>
          <a:xfrm>
            <a:off x="660197" y="1651406"/>
            <a:ext cx="3477463" cy="1881378"/>
          </a:xfrm>
          <a:prstGeom prst="rect">
            <a:avLst/>
          </a:prstGeom>
        </p:spPr>
      </p:pic>
      <p:sp>
        <p:nvSpPr>
          <p:cNvPr id="10" name="Shape 6"/>
          <p:cNvSpPr/>
          <p:nvPr/>
        </p:nvSpPr>
        <p:spPr>
          <a:xfrm>
            <a:off x="660197" y="1651406"/>
            <a:ext cx="3477463" cy="1881378"/>
          </a:xfrm>
          <a:prstGeom prst="rect">
            <a:avLst/>
          </a:prstGeom>
          <a:ln w="12700">
            <a:solidFill>
              <a:srgbClr val="D8D2C6"/>
            </a:solidFill>
            <a:prstDash val="solid"/>
          </a:ln>
        </p:spPr>
      </p:sp>
      <p:sp>
        <p:nvSpPr>
          <p:cNvPr id="11" name="Text 7"/>
          <p:cNvSpPr/>
          <p:nvPr/>
        </p:nvSpPr>
        <p:spPr>
          <a:xfrm>
            <a:off x="660197" y="3551072"/>
            <a:ext cx="2288743" cy="237744"/>
          </a:xfrm>
          <a:prstGeom prst="rect">
            <a:avLst/>
          </a:prstGeom>
          <a:noFill/>
          <a:ln/>
        </p:spPr>
        <p:txBody>
          <a:bodyPr wrap="square" lIns="0" tIns="0" rIns="0" bIns="0" rtlCol="0" anchor="ctr"/>
          <a:lstStyle/>
          <a:p>
            <a:pPr indent="0" marL="0">
              <a:buNone/>
            </a:pPr>
            <a:r>
              <a:rPr lang="en-US" sz="1100" b="1" dirty="0">
                <a:solidFill>
                  <a:srgbClr val="0A3D23"/>
                </a:solidFill>
                <a:latin typeface="Yu Gothic" pitchFamily="34" charset="0"/>
                <a:ea typeface="Yu Gothic" pitchFamily="34" charset="-122"/>
                <a:cs typeface="Yu Gothic" pitchFamily="34" charset="-120"/>
              </a:rPr>
              <a:t>ささしまライブ店</a:t>
            </a:r>
            <a:endParaRPr lang="en-US" sz="1100" dirty="0"/>
          </a:p>
        </p:txBody>
      </p:sp>
      <p:sp>
        <p:nvSpPr>
          <p:cNvPr id="12" name="Text 8"/>
          <p:cNvSpPr/>
          <p:nvPr/>
        </p:nvSpPr>
        <p:spPr>
          <a:xfrm>
            <a:off x="2948940" y="3551072"/>
            <a:ext cx="1188720" cy="237744"/>
          </a:xfrm>
          <a:prstGeom prst="rect">
            <a:avLst/>
          </a:prstGeom>
          <a:noFill/>
          <a:ln/>
        </p:spPr>
        <p:txBody>
          <a:bodyPr wrap="square" lIns="0" tIns="0" rIns="0" bIns="0" rtlCol="0" anchor="ctr"/>
          <a:lstStyle/>
          <a:p>
            <a:pPr algn="r" indent="0" marL="0">
              <a:buNone/>
            </a:pPr>
            <a:r>
              <a:rPr lang="en-US" sz="900" dirty="0">
                <a:solidFill>
                  <a:srgbClr val="7E8882"/>
                </a:solidFill>
                <a:latin typeface="Yu Gothic" pitchFamily="34" charset="0"/>
                <a:ea typeface="Yu Gothic" pitchFamily="34" charset="-122"/>
                <a:cs typeface="Yu Gothic" pitchFamily="34" charset="-120"/>
              </a:rPr>
              <a:t>愛知県名古屋市</a:t>
            </a:r>
            <a:endParaRPr lang="en-US" sz="900" dirty="0"/>
          </a:p>
        </p:txBody>
      </p:sp>
      <p:pic>
        <p:nvPicPr>
          <p:cNvPr id="13" name="Image 2" descr="/home/user/suzuki-ceo/selfcafe-gyomu-deck/assets/photos/.crops/store-meieki-380x206.jpg">    </p:cNvPr>
          <p:cNvPicPr>
            <a:picLocks noChangeAspect="1"/>
          </p:cNvPicPr>
          <p:nvPr/>
        </p:nvPicPr>
        <p:blipFill>
          <a:blip r:embed="rId3"/>
          <a:stretch>
            <a:fillRect/>
          </a:stretch>
        </p:blipFill>
        <p:spPr>
          <a:xfrm>
            <a:off x="4357116" y="1651406"/>
            <a:ext cx="3477463" cy="1881378"/>
          </a:xfrm>
          <a:prstGeom prst="rect">
            <a:avLst/>
          </a:prstGeom>
        </p:spPr>
      </p:pic>
      <p:sp>
        <p:nvSpPr>
          <p:cNvPr id="14" name="Shape 9"/>
          <p:cNvSpPr/>
          <p:nvPr/>
        </p:nvSpPr>
        <p:spPr>
          <a:xfrm>
            <a:off x="4357116" y="1651406"/>
            <a:ext cx="3477463" cy="1881378"/>
          </a:xfrm>
          <a:prstGeom prst="rect">
            <a:avLst/>
          </a:prstGeom>
          <a:ln w="12700">
            <a:solidFill>
              <a:srgbClr val="D8D2C6"/>
            </a:solidFill>
            <a:prstDash val="solid"/>
          </a:ln>
        </p:spPr>
      </p:sp>
      <p:sp>
        <p:nvSpPr>
          <p:cNvPr id="15" name="Text 10"/>
          <p:cNvSpPr/>
          <p:nvPr/>
        </p:nvSpPr>
        <p:spPr>
          <a:xfrm>
            <a:off x="4357116" y="3551072"/>
            <a:ext cx="2288743" cy="237744"/>
          </a:xfrm>
          <a:prstGeom prst="rect">
            <a:avLst/>
          </a:prstGeom>
          <a:noFill/>
          <a:ln/>
        </p:spPr>
        <p:txBody>
          <a:bodyPr wrap="square" lIns="0" tIns="0" rIns="0" bIns="0" rtlCol="0" anchor="ctr"/>
          <a:lstStyle/>
          <a:p>
            <a:pPr indent="0" marL="0">
              <a:buNone/>
            </a:pPr>
            <a:r>
              <a:rPr lang="en-US" sz="1100" b="1" dirty="0">
                <a:solidFill>
                  <a:srgbClr val="0A3D23"/>
                </a:solidFill>
                <a:latin typeface="Yu Gothic" pitchFamily="34" charset="0"/>
                <a:ea typeface="Yu Gothic" pitchFamily="34" charset="-122"/>
                <a:cs typeface="Yu Gothic" pitchFamily="34" charset="-120"/>
              </a:rPr>
              <a:t>名駅西口店</a:t>
            </a:r>
            <a:endParaRPr lang="en-US" sz="1100" dirty="0"/>
          </a:p>
        </p:txBody>
      </p:sp>
      <p:sp>
        <p:nvSpPr>
          <p:cNvPr id="16" name="Text 11"/>
          <p:cNvSpPr/>
          <p:nvPr/>
        </p:nvSpPr>
        <p:spPr>
          <a:xfrm>
            <a:off x="6645859" y="3551072"/>
            <a:ext cx="1188720" cy="237744"/>
          </a:xfrm>
          <a:prstGeom prst="rect">
            <a:avLst/>
          </a:prstGeom>
          <a:noFill/>
          <a:ln/>
        </p:spPr>
        <p:txBody>
          <a:bodyPr wrap="square" lIns="0" tIns="0" rIns="0" bIns="0" rtlCol="0" anchor="ctr"/>
          <a:lstStyle/>
          <a:p>
            <a:pPr algn="r" indent="0" marL="0">
              <a:buNone/>
            </a:pPr>
            <a:r>
              <a:rPr lang="en-US" sz="900" dirty="0">
                <a:solidFill>
                  <a:srgbClr val="7E8882"/>
                </a:solidFill>
                <a:latin typeface="Yu Gothic" pitchFamily="34" charset="0"/>
                <a:ea typeface="Yu Gothic" pitchFamily="34" charset="-122"/>
                <a:cs typeface="Yu Gothic" pitchFamily="34" charset="-120"/>
              </a:rPr>
              <a:t>愛知県名古屋市</a:t>
            </a:r>
            <a:endParaRPr lang="en-US" sz="900" dirty="0"/>
          </a:p>
        </p:txBody>
      </p:sp>
      <p:pic>
        <p:nvPicPr>
          <p:cNvPr id="17" name="Image 3" descr="/home/user/suzuki-ceo/selfcafe-gyomu-deck/assets/photos/.crops/store-sakae-380x206.jpg">    </p:cNvPr>
          <p:cNvPicPr>
            <a:picLocks noChangeAspect="1"/>
          </p:cNvPicPr>
          <p:nvPr/>
        </p:nvPicPr>
        <p:blipFill>
          <a:blip r:embed="rId4"/>
          <a:stretch>
            <a:fillRect/>
          </a:stretch>
        </p:blipFill>
        <p:spPr>
          <a:xfrm>
            <a:off x="8054035" y="1651406"/>
            <a:ext cx="3477463" cy="1881378"/>
          </a:xfrm>
          <a:prstGeom prst="rect">
            <a:avLst/>
          </a:prstGeom>
        </p:spPr>
      </p:pic>
      <p:sp>
        <p:nvSpPr>
          <p:cNvPr id="18" name="Shape 12"/>
          <p:cNvSpPr/>
          <p:nvPr/>
        </p:nvSpPr>
        <p:spPr>
          <a:xfrm>
            <a:off x="8054035" y="1651406"/>
            <a:ext cx="3477463" cy="1881378"/>
          </a:xfrm>
          <a:prstGeom prst="rect">
            <a:avLst/>
          </a:prstGeom>
          <a:ln w="12700">
            <a:solidFill>
              <a:srgbClr val="D8D2C6"/>
            </a:solidFill>
            <a:prstDash val="solid"/>
          </a:ln>
        </p:spPr>
      </p:sp>
      <p:sp>
        <p:nvSpPr>
          <p:cNvPr id="19" name="Text 13"/>
          <p:cNvSpPr/>
          <p:nvPr/>
        </p:nvSpPr>
        <p:spPr>
          <a:xfrm>
            <a:off x="8054035" y="3551072"/>
            <a:ext cx="2288743" cy="237744"/>
          </a:xfrm>
          <a:prstGeom prst="rect">
            <a:avLst/>
          </a:prstGeom>
          <a:noFill/>
          <a:ln/>
        </p:spPr>
        <p:txBody>
          <a:bodyPr wrap="square" lIns="0" tIns="0" rIns="0" bIns="0" rtlCol="0" anchor="ctr"/>
          <a:lstStyle/>
          <a:p>
            <a:pPr indent="0" marL="0">
              <a:buNone/>
            </a:pPr>
            <a:r>
              <a:rPr lang="en-US" sz="1100" b="1" dirty="0">
                <a:solidFill>
                  <a:srgbClr val="0A3D23"/>
                </a:solidFill>
                <a:latin typeface="Yu Gothic" pitchFamily="34" charset="0"/>
                <a:ea typeface="Yu Gothic" pitchFamily="34" charset="-122"/>
                <a:cs typeface="Yu Gothic" pitchFamily="34" charset="-120"/>
              </a:rPr>
              <a:t>栄店</a:t>
            </a:r>
            <a:endParaRPr lang="en-US" sz="1100" dirty="0"/>
          </a:p>
        </p:txBody>
      </p:sp>
      <p:sp>
        <p:nvSpPr>
          <p:cNvPr id="20" name="Text 14"/>
          <p:cNvSpPr/>
          <p:nvPr/>
        </p:nvSpPr>
        <p:spPr>
          <a:xfrm>
            <a:off x="10342778" y="3551072"/>
            <a:ext cx="1188720" cy="237744"/>
          </a:xfrm>
          <a:prstGeom prst="rect">
            <a:avLst/>
          </a:prstGeom>
          <a:noFill/>
          <a:ln/>
        </p:spPr>
        <p:txBody>
          <a:bodyPr wrap="square" lIns="0" tIns="0" rIns="0" bIns="0" rtlCol="0" anchor="ctr"/>
          <a:lstStyle/>
          <a:p>
            <a:pPr algn="r" indent="0" marL="0">
              <a:buNone/>
            </a:pPr>
            <a:r>
              <a:rPr lang="en-US" sz="900" dirty="0">
                <a:solidFill>
                  <a:srgbClr val="7E8882"/>
                </a:solidFill>
                <a:latin typeface="Yu Gothic" pitchFamily="34" charset="0"/>
                <a:ea typeface="Yu Gothic" pitchFamily="34" charset="-122"/>
                <a:cs typeface="Yu Gothic" pitchFamily="34" charset="-120"/>
              </a:rPr>
              <a:t>愛知県名古屋市</a:t>
            </a:r>
            <a:endParaRPr lang="en-US" sz="900" dirty="0"/>
          </a:p>
        </p:txBody>
      </p:sp>
      <p:pic>
        <p:nvPicPr>
          <p:cNvPr id="21" name="Image 4" descr="/home/user/suzuki-ceo/selfcafe-gyomu-deck/assets/photos/.crops/store-aratama-380x206.jpg">    </p:cNvPr>
          <p:cNvPicPr>
            <a:picLocks noChangeAspect="1"/>
          </p:cNvPicPr>
          <p:nvPr/>
        </p:nvPicPr>
        <p:blipFill>
          <a:blip r:embed="rId5"/>
          <a:stretch>
            <a:fillRect/>
          </a:stretch>
        </p:blipFill>
        <p:spPr>
          <a:xfrm>
            <a:off x="660197" y="4081424"/>
            <a:ext cx="3477463" cy="1881378"/>
          </a:xfrm>
          <a:prstGeom prst="rect">
            <a:avLst/>
          </a:prstGeom>
        </p:spPr>
      </p:pic>
      <p:sp>
        <p:nvSpPr>
          <p:cNvPr id="22" name="Shape 15"/>
          <p:cNvSpPr/>
          <p:nvPr/>
        </p:nvSpPr>
        <p:spPr>
          <a:xfrm>
            <a:off x="660197" y="4081424"/>
            <a:ext cx="3477463" cy="1881378"/>
          </a:xfrm>
          <a:prstGeom prst="rect">
            <a:avLst/>
          </a:prstGeom>
          <a:ln w="12700">
            <a:solidFill>
              <a:srgbClr val="D8D2C6"/>
            </a:solidFill>
            <a:prstDash val="solid"/>
          </a:ln>
        </p:spPr>
      </p:sp>
      <p:sp>
        <p:nvSpPr>
          <p:cNvPr id="23" name="Text 16"/>
          <p:cNvSpPr/>
          <p:nvPr/>
        </p:nvSpPr>
        <p:spPr>
          <a:xfrm>
            <a:off x="660197" y="5981090"/>
            <a:ext cx="2288743" cy="237744"/>
          </a:xfrm>
          <a:prstGeom prst="rect">
            <a:avLst/>
          </a:prstGeom>
          <a:noFill/>
          <a:ln/>
        </p:spPr>
        <p:txBody>
          <a:bodyPr wrap="square" lIns="0" tIns="0" rIns="0" bIns="0" rtlCol="0" anchor="ctr"/>
          <a:lstStyle/>
          <a:p>
            <a:pPr indent="0" marL="0">
              <a:buNone/>
            </a:pPr>
            <a:r>
              <a:rPr lang="en-US" sz="1100" b="1" dirty="0">
                <a:solidFill>
                  <a:srgbClr val="0A3D23"/>
                </a:solidFill>
                <a:latin typeface="Yu Gothic" pitchFamily="34" charset="0"/>
                <a:ea typeface="Yu Gothic" pitchFamily="34" charset="-122"/>
                <a:cs typeface="Yu Gothic" pitchFamily="34" charset="-120"/>
              </a:rPr>
              <a:t>新瑞橋店</a:t>
            </a:r>
            <a:endParaRPr lang="en-US" sz="1100" dirty="0"/>
          </a:p>
        </p:txBody>
      </p:sp>
      <p:sp>
        <p:nvSpPr>
          <p:cNvPr id="24" name="Text 17"/>
          <p:cNvSpPr/>
          <p:nvPr/>
        </p:nvSpPr>
        <p:spPr>
          <a:xfrm>
            <a:off x="2948940" y="5981090"/>
            <a:ext cx="1188720" cy="237744"/>
          </a:xfrm>
          <a:prstGeom prst="rect">
            <a:avLst/>
          </a:prstGeom>
          <a:noFill/>
          <a:ln/>
        </p:spPr>
        <p:txBody>
          <a:bodyPr wrap="square" lIns="0" tIns="0" rIns="0" bIns="0" rtlCol="0" anchor="ctr"/>
          <a:lstStyle/>
          <a:p>
            <a:pPr algn="r" indent="0" marL="0">
              <a:buNone/>
            </a:pPr>
            <a:r>
              <a:rPr lang="en-US" sz="900" dirty="0">
                <a:solidFill>
                  <a:srgbClr val="7E8882"/>
                </a:solidFill>
                <a:latin typeface="Yu Gothic" pitchFamily="34" charset="0"/>
                <a:ea typeface="Yu Gothic" pitchFamily="34" charset="-122"/>
                <a:cs typeface="Yu Gothic" pitchFamily="34" charset="-120"/>
              </a:rPr>
              <a:t>愛知県名古屋市</a:t>
            </a:r>
            <a:endParaRPr lang="en-US" sz="900" dirty="0"/>
          </a:p>
        </p:txBody>
      </p:sp>
      <p:pic>
        <p:nvPicPr>
          <p:cNvPr id="25" name="Image 5" descr="/home/user/suzuki-ceo/selfcafe-gyomu-deck/assets/photos/.crops/store-gokiso-380x206.jpg">    </p:cNvPr>
          <p:cNvPicPr>
            <a:picLocks noChangeAspect="1"/>
          </p:cNvPicPr>
          <p:nvPr/>
        </p:nvPicPr>
        <p:blipFill>
          <a:blip r:embed="rId6"/>
          <a:stretch>
            <a:fillRect/>
          </a:stretch>
        </p:blipFill>
        <p:spPr>
          <a:xfrm>
            <a:off x="4357116" y="4081424"/>
            <a:ext cx="3477463" cy="1881378"/>
          </a:xfrm>
          <a:prstGeom prst="rect">
            <a:avLst/>
          </a:prstGeom>
        </p:spPr>
      </p:pic>
      <p:sp>
        <p:nvSpPr>
          <p:cNvPr id="26" name="Shape 18"/>
          <p:cNvSpPr/>
          <p:nvPr/>
        </p:nvSpPr>
        <p:spPr>
          <a:xfrm>
            <a:off x="4357116" y="4081424"/>
            <a:ext cx="3477463" cy="1881378"/>
          </a:xfrm>
          <a:prstGeom prst="rect">
            <a:avLst/>
          </a:prstGeom>
          <a:ln w="12700">
            <a:solidFill>
              <a:srgbClr val="D8D2C6"/>
            </a:solidFill>
            <a:prstDash val="solid"/>
          </a:ln>
        </p:spPr>
      </p:sp>
      <p:sp>
        <p:nvSpPr>
          <p:cNvPr id="27" name="Text 19"/>
          <p:cNvSpPr/>
          <p:nvPr/>
        </p:nvSpPr>
        <p:spPr>
          <a:xfrm>
            <a:off x="4357116" y="5981090"/>
            <a:ext cx="2288743" cy="237744"/>
          </a:xfrm>
          <a:prstGeom prst="rect">
            <a:avLst/>
          </a:prstGeom>
          <a:noFill/>
          <a:ln/>
        </p:spPr>
        <p:txBody>
          <a:bodyPr wrap="square" lIns="0" tIns="0" rIns="0" bIns="0" rtlCol="0" anchor="ctr"/>
          <a:lstStyle/>
          <a:p>
            <a:pPr indent="0" marL="0">
              <a:buNone/>
            </a:pPr>
            <a:r>
              <a:rPr lang="en-US" sz="1100" b="1" dirty="0">
                <a:solidFill>
                  <a:srgbClr val="0A3D23"/>
                </a:solidFill>
                <a:latin typeface="Yu Gothic" pitchFamily="34" charset="0"/>
                <a:ea typeface="Yu Gothic" pitchFamily="34" charset="-122"/>
                <a:cs typeface="Yu Gothic" pitchFamily="34" charset="-120"/>
              </a:rPr>
              <a:t>御器所店</a:t>
            </a:r>
            <a:endParaRPr lang="en-US" sz="1100" dirty="0"/>
          </a:p>
        </p:txBody>
      </p:sp>
      <p:sp>
        <p:nvSpPr>
          <p:cNvPr id="28" name="Text 20"/>
          <p:cNvSpPr/>
          <p:nvPr/>
        </p:nvSpPr>
        <p:spPr>
          <a:xfrm>
            <a:off x="6645859" y="5981090"/>
            <a:ext cx="1188720" cy="237744"/>
          </a:xfrm>
          <a:prstGeom prst="rect">
            <a:avLst/>
          </a:prstGeom>
          <a:noFill/>
          <a:ln/>
        </p:spPr>
        <p:txBody>
          <a:bodyPr wrap="square" lIns="0" tIns="0" rIns="0" bIns="0" rtlCol="0" anchor="ctr"/>
          <a:lstStyle/>
          <a:p>
            <a:pPr algn="r" indent="0" marL="0">
              <a:buNone/>
            </a:pPr>
            <a:r>
              <a:rPr lang="en-US" sz="900" dirty="0">
                <a:solidFill>
                  <a:srgbClr val="7E8882"/>
                </a:solidFill>
                <a:latin typeface="Yu Gothic" pitchFamily="34" charset="0"/>
                <a:ea typeface="Yu Gothic" pitchFamily="34" charset="-122"/>
                <a:cs typeface="Yu Gothic" pitchFamily="34" charset="-120"/>
              </a:rPr>
              <a:t>愛知県名古屋市</a:t>
            </a:r>
            <a:endParaRPr lang="en-US" sz="900" dirty="0"/>
          </a:p>
        </p:txBody>
      </p:sp>
      <p:pic>
        <p:nvPicPr>
          <p:cNvPr id="29" name="Image 6" descr="/home/user/suzuki-ceo/selfcafe-gyomu-deck/assets/photos/.crops/store-inzai-380x206.jpg">    </p:cNvPr>
          <p:cNvPicPr>
            <a:picLocks noChangeAspect="1"/>
          </p:cNvPicPr>
          <p:nvPr/>
        </p:nvPicPr>
        <p:blipFill>
          <a:blip r:embed="rId7"/>
          <a:stretch>
            <a:fillRect/>
          </a:stretch>
        </p:blipFill>
        <p:spPr>
          <a:xfrm>
            <a:off x="8054035" y="4081424"/>
            <a:ext cx="3477463" cy="1881378"/>
          </a:xfrm>
          <a:prstGeom prst="rect">
            <a:avLst/>
          </a:prstGeom>
        </p:spPr>
      </p:pic>
      <p:sp>
        <p:nvSpPr>
          <p:cNvPr id="30" name="Shape 21"/>
          <p:cNvSpPr/>
          <p:nvPr/>
        </p:nvSpPr>
        <p:spPr>
          <a:xfrm>
            <a:off x="8054035" y="4081424"/>
            <a:ext cx="3477463" cy="1881378"/>
          </a:xfrm>
          <a:prstGeom prst="rect">
            <a:avLst/>
          </a:prstGeom>
          <a:ln w="12700">
            <a:solidFill>
              <a:srgbClr val="D8D2C6"/>
            </a:solidFill>
            <a:prstDash val="solid"/>
          </a:ln>
        </p:spPr>
      </p:sp>
      <p:sp>
        <p:nvSpPr>
          <p:cNvPr id="31" name="Text 22"/>
          <p:cNvSpPr/>
          <p:nvPr/>
        </p:nvSpPr>
        <p:spPr>
          <a:xfrm>
            <a:off x="8054035" y="5981090"/>
            <a:ext cx="2288743" cy="237744"/>
          </a:xfrm>
          <a:prstGeom prst="rect">
            <a:avLst/>
          </a:prstGeom>
          <a:noFill/>
          <a:ln/>
        </p:spPr>
        <p:txBody>
          <a:bodyPr wrap="square" lIns="0" tIns="0" rIns="0" bIns="0" rtlCol="0" anchor="ctr"/>
          <a:lstStyle/>
          <a:p>
            <a:pPr indent="0" marL="0">
              <a:buNone/>
            </a:pPr>
            <a:r>
              <a:rPr lang="en-US" sz="1100" b="1" dirty="0">
                <a:solidFill>
                  <a:srgbClr val="0A3D23"/>
                </a:solidFill>
                <a:latin typeface="Yu Gothic" pitchFamily="34" charset="0"/>
                <a:ea typeface="Yu Gothic" pitchFamily="34" charset="-122"/>
                <a:cs typeface="Yu Gothic" pitchFamily="34" charset="-120"/>
              </a:rPr>
              <a:t>印西牧の原店</a:t>
            </a:r>
            <a:endParaRPr lang="en-US" sz="1100" dirty="0"/>
          </a:p>
        </p:txBody>
      </p:sp>
      <p:sp>
        <p:nvSpPr>
          <p:cNvPr id="32" name="Text 23"/>
          <p:cNvSpPr/>
          <p:nvPr/>
        </p:nvSpPr>
        <p:spPr>
          <a:xfrm>
            <a:off x="10342778" y="5981090"/>
            <a:ext cx="1188720" cy="237744"/>
          </a:xfrm>
          <a:prstGeom prst="rect">
            <a:avLst/>
          </a:prstGeom>
          <a:noFill/>
          <a:ln/>
        </p:spPr>
        <p:txBody>
          <a:bodyPr wrap="square" lIns="0" tIns="0" rIns="0" bIns="0" rtlCol="0" anchor="ctr"/>
          <a:lstStyle/>
          <a:p>
            <a:pPr algn="r" indent="0" marL="0">
              <a:buNone/>
            </a:pPr>
            <a:r>
              <a:rPr lang="en-US" sz="900" dirty="0">
                <a:solidFill>
                  <a:srgbClr val="7E8882"/>
                </a:solidFill>
                <a:latin typeface="Yu Gothic" pitchFamily="34" charset="0"/>
                <a:ea typeface="Yu Gothic" pitchFamily="34" charset="-122"/>
                <a:cs typeface="Yu Gothic" pitchFamily="34" charset="-120"/>
              </a:rPr>
              <a:t>千葉県印西市</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7"/>
        </a:solidFill>
      </p:bgPr>
    </p:bg>
    <p:spTree>
      <p:nvGrpSpPr>
        <p:cNvPr id="1" name=""/>
        <p:cNvGrpSpPr/>
        <p:nvPr/>
      </p:nvGrpSpPr>
      <p:grpSpPr>
        <a:xfrm>
          <a:off x="0" y="0"/>
          <a:ext cx="0" cy="0"/>
          <a:chOff x="0" y="0"/>
          <a:chExt cx="0" cy="0"/>
        </a:xfrm>
      </p:grpSpPr>
      <p:sp>
        <p:nvSpPr>
          <p:cNvPr id="2" name="Shape 0"/>
          <p:cNvSpPr/>
          <p:nvPr/>
        </p:nvSpPr>
        <p:spPr>
          <a:xfrm>
            <a:off x="660197" y="545897"/>
            <a:ext cx="202997" cy="25603"/>
          </a:xfrm>
          <a:prstGeom prst="rect">
            <a:avLst/>
          </a:prstGeom>
          <a:solidFill>
            <a:srgbClr val="106838"/>
          </a:solidFill>
          <a:ln/>
        </p:spPr>
      </p:sp>
      <p:sp>
        <p:nvSpPr>
          <p:cNvPr id="3" name="Text 1"/>
          <p:cNvSpPr/>
          <p:nvPr/>
        </p:nvSpPr>
        <p:spPr>
          <a:xfrm>
            <a:off x="952805" y="444398"/>
            <a:ext cx="6400800" cy="177394"/>
          </a:xfrm>
          <a:prstGeom prst="rect">
            <a:avLst/>
          </a:prstGeom>
          <a:noFill/>
          <a:ln/>
        </p:spPr>
        <p:txBody>
          <a:bodyPr wrap="square" lIns="0" tIns="0" rIns="0" bIns="0" rtlCol="0" anchor="ctr"/>
          <a:lstStyle/>
          <a:p>
            <a:pPr indent="0" marL="0">
              <a:buNone/>
            </a:pPr>
            <a:r>
              <a:rPr lang="en-US" sz="1050" b="1" dirty="0">
                <a:solidFill>
                  <a:srgbClr val="A8761F"/>
                </a:solidFill>
                <a:latin typeface="Arial" pitchFamily="34" charset="0"/>
                <a:ea typeface="Arial" pitchFamily="34" charset="-122"/>
                <a:cs typeface="Arial" pitchFamily="34" charset="-120"/>
              </a:rPr>
              <a:t>13</a:t>
            </a:r>
            <a:r>
              <a:rPr lang="en-US" sz="1050" b="1" dirty="0">
                <a:solidFill>
                  <a:srgbClr val="1B8149"/>
                </a:solidFill>
                <a:latin typeface="Yu Gothic" pitchFamily="34" charset="0"/>
                <a:ea typeface="Yu Gothic" pitchFamily="34" charset="-122"/>
                <a:cs typeface="Yu Gothic" pitchFamily="34" charset="-120"/>
              </a:rPr>
              <a:t>   店舗の様子</a:t>
            </a:r>
            <a:endParaRPr lang="en-US" sz="1050" dirty="0"/>
          </a:p>
        </p:txBody>
      </p:sp>
      <p:sp>
        <p:nvSpPr>
          <p:cNvPr id="4" name="Text 2"/>
          <p:cNvSpPr/>
          <p:nvPr/>
        </p:nvSpPr>
        <p:spPr>
          <a:xfrm>
            <a:off x="660197" y="660197"/>
            <a:ext cx="8889797" cy="508406"/>
          </a:xfrm>
          <a:prstGeom prst="rect">
            <a:avLst/>
          </a:prstGeom>
          <a:noFill/>
          <a:ln/>
        </p:spPr>
        <p:txBody>
          <a:bodyPr wrap="square" lIns="0" tIns="0" rIns="0" bIns="0" rtlCol="0" anchor="ctr"/>
          <a:lstStyle/>
          <a:p>
            <a:pPr indent="0" marL="0">
              <a:buNone/>
            </a:pPr>
            <a:r>
              <a:rPr lang="en-US" sz="2900" b="1" dirty="0">
                <a:solidFill>
                  <a:srgbClr val="0A3D23"/>
                </a:solidFill>
                <a:latin typeface="Yu Gothic" pitchFamily="34" charset="0"/>
                <a:ea typeface="Yu Gothic" pitchFamily="34" charset="-122"/>
                <a:cs typeface="Yu Gothic" pitchFamily="34" charset="-120"/>
              </a:rPr>
              <a:t>店舗毎の利用状況 ／ 岩手・静岡・大阪エリア</a:t>
            </a:r>
            <a:endParaRPr lang="en-US" sz="2900" dirty="0"/>
          </a:p>
        </p:txBody>
      </p:sp>
      <p:sp>
        <p:nvSpPr>
          <p:cNvPr id="5" name="Text 3"/>
          <p:cNvSpPr/>
          <p:nvPr/>
        </p:nvSpPr>
        <p:spPr>
          <a:xfrm>
            <a:off x="660197" y="1308506"/>
            <a:ext cx="10032797" cy="228600"/>
          </a:xfrm>
          <a:prstGeom prst="rect">
            <a:avLst/>
          </a:prstGeom>
          <a:noFill/>
          <a:ln/>
        </p:spPr>
        <p:txBody>
          <a:bodyPr wrap="square" lIns="0" tIns="0" rIns="0" bIns="0" rtlCol="0" anchor="ctr"/>
          <a:lstStyle/>
          <a:p>
            <a:pPr indent="0" marL="0">
              <a:buNone/>
            </a:pPr>
            <a:r>
              <a:rPr lang="en-US" sz="1250" dirty="0">
                <a:solidFill>
                  <a:srgbClr val="4B5550"/>
                </a:solidFill>
                <a:latin typeface="Yu Gothic" pitchFamily="34" charset="0"/>
                <a:ea typeface="Yu Gothic" pitchFamily="34" charset="-122"/>
                <a:cs typeface="Yu Gothic" pitchFamily="34" charset="-120"/>
              </a:rPr>
              <a:t>店内カメラで見た実際の様子。平日日中でも席が埋まる店舗が多数あります。</a:t>
            </a:r>
            <a:endParaRPr lang="en-US" sz="1250" dirty="0"/>
          </a:p>
        </p:txBody>
      </p:sp>
      <p:pic>
        <p:nvPicPr>
          <p:cNvPr id="6" name="Image 0" descr="/home/user/suzuki-ceo/selfcafe-gyomu-deck/assets/logo-green.png">    </p:cNvPr>
          <p:cNvPicPr>
            <a:picLocks noChangeAspect="1"/>
          </p:cNvPicPr>
          <p:nvPr/>
        </p:nvPicPr>
        <p:blipFill>
          <a:blip r:embed="rId1"/>
          <a:stretch>
            <a:fillRect/>
          </a:stretch>
        </p:blipFill>
        <p:spPr>
          <a:xfrm>
            <a:off x="9855403" y="482803"/>
            <a:ext cx="1676095" cy="238658"/>
          </a:xfrm>
          <a:prstGeom prst="rect">
            <a:avLst/>
          </a:prstGeom>
        </p:spPr>
      </p:pic>
      <p:sp>
        <p:nvSpPr>
          <p:cNvPr id="7" name="Text 4"/>
          <p:cNvSpPr/>
          <p:nvPr/>
        </p:nvSpPr>
        <p:spPr>
          <a:xfrm>
            <a:off x="660197" y="6476695"/>
            <a:ext cx="5080406" cy="152705"/>
          </a:xfrm>
          <a:prstGeom prst="rect">
            <a:avLst/>
          </a:prstGeom>
          <a:noFill/>
          <a:ln/>
        </p:spPr>
        <p:txBody>
          <a:bodyPr wrap="square" lIns="0" tIns="0" rIns="0" bIns="0" rtlCol="0" anchor="ctr"/>
          <a:lstStyle/>
          <a:p>
            <a:pPr indent="0" marL="0">
              <a:buNone/>
            </a:pPr>
            <a:r>
              <a:rPr lang="en-US" sz="900" dirty="0">
                <a:solidFill>
                  <a:srgbClr val="A8B0AA"/>
                </a:solidFill>
                <a:latin typeface="Yu Gothic" pitchFamily="34" charset="0"/>
                <a:ea typeface="Yu Gothic" pitchFamily="34" charset="-122"/>
                <a:cs typeface="Yu Gothic" pitchFamily="34" charset="-120"/>
              </a:rPr>
              <a:t>セルフカフェ 業務委託型制度</a:t>
            </a:r>
            <a:endParaRPr lang="en-US" sz="900" dirty="0"/>
          </a:p>
        </p:txBody>
      </p:sp>
      <p:sp>
        <p:nvSpPr>
          <p:cNvPr id="8" name="Text 5"/>
          <p:cNvSpPr/>
          <p:nvPr/>
        </p:nvSpPr>
        <p:spPr>
          <a:xfrm>
            <a:off x="10261397" y="6463894"/>
            <a:ext cx="1270102" cy="152705"/>
          </a:xfrm>
          <a:prstGeom prst="rect">
            <a:avLst/>
          </a:prstGeom>
          <a:noFill/>
          <a:ln/>
        </p:spPr>
        <p:txBody>
          <a:bodyPr wrap="square" lIns="0" tIns="0" rIns="0" bIns="0" rtlCol="0" anchor="ctr"/>
          <a:lstStyle/>
          <a:p>
            <a:pPr algn="r" indent="0" marL="0">
              <a:buNone/>
            </a:pPr>
            <a:r>
              <a:rPr lang="en-US" sz="1000" b="1" dirty="0">
                <a:solidFill>
                  <a:srgbClr val="7E8882"/>
                </a:solidFill>
                <a:latin typeface="Arial" pitchFamily="34" charset="0"/>
                <a:ea typeface="Arial" pitchFamily="34" charset="-122"/>
                <a:cs typeface="Arial" pitchFamily="34" charset="-120"/>
              </a:rPr>
              <a:t>14</a:t>
            </a:r>
            <a:endParaRPr lang="en-US" sz="1000" dirty="0"/>
          </a:p>
        </p:txBody>
      </p:sp>
      <p:pic>
        <p:nvPicPr>
          <p:cNvPr id="9" name="Image 1" descr="/home/user/suzuki-ceo/selfcafe-gyomu-deck/assets/photos/.crops/store-morioka-380x206.jpg">    </p:cNvPr>
          <p:cNvPicPr>
            <a:picLocks noChangeAspect="1"/>
          </p:cNvPicPr>
          <p:nvPr/>
        </p:nvPicPr>
        <p:blipFill>
          <a:blip r:embed="rId2"/>
          <a:stretch>
            <a:fillRect/>
          </a:stretch>
        </p:blipFill>
        <p:spPr>
          <a:xfrm>
            <a:off x="660197" y="1651406"/>
            <a:ext cx="3477463" cy="1881378"/>
          </a:xfrm>
          <a:prstGeom prst="rect">
            <a:avLst/>
          </a:prstGeom>
        </p:spPr>
      </p:pic>
      <p:sp>
        <p:nvSpPr>
          <p:cNvPr id="10" name="Shape 6"/>
          <p:cNvSpPr/>
          <p:nvPr/>
        </p:nvSpPr>
        <p:spPr>
          <a:xfrm>
            <a:off x="660197" y="1651406"/>
            <a:ext cx="3477463" cy="1881378"/>
          </a:xfrm>
          <a:prstGeom prst="rect">
            <a:avLst/>
          </a:prstGeom>
          <a:ln w="12700">
            <a:solidFill>
              <a:srgbClr val="D8D2C6"/>
            </a:solidFill>
            <a:prstDash val="solid"/>
          </a:ln>
        </p:spPr>
      </p:sp>
      <p:sp>
        <p:nvSpPr>
          <p:cNvPr id="11" name="Text 7"/>
          <p:cNvSpPr/>
          <p:nvPr/>
        </p:nvSpPr>
        <p:spPr>
          <a:xfrm>
            <a:off x="660197" y="3551072"/>
            <a:ext cx="2288743" cy="237744"/>
          </a:xfrm>
          <a:prstGeom prst="rect">
            <a:avLst/>
          </a:prstGeom>
          <a:noFill/>
          <a:ln/>
        </p:spPr>
        <p:txBody>
          <a:bodyPr wrap="square" lIns="0" tIns="0" rIns="0" bIns="0" rtlCol="0" anchor="ctr"/>
          <a:lstStyle/>
          <a:p>
            <a:pPr indent="0" marL="0">
              <a:buNone/>
            </a:pPr>
            <a:r>
              <a:rPr lang="en-US" sz="1100" b="1" dirty="0">
                <a:solidFill>
                  <a:srgbClr val="0A3D23"/>
                </a:solidFill>
                <a:latin typeface="Yu Gothic" pitchFamily="34" charset="0"/>
                <a:ea typeface="Yu Gothic" pitchFamily="34" charset="-122"/>
                <a:cs typeface="Yu Gothic" pitchFamily="34" charset="-120"/>
              </a:rPr>
              <a:t>盛岡駅前店</a:t>
            </a:r>
            <a:endParaRPr lang="en-US" sz="1100" dirty="0"/>
          </a:p>
        </p:txBody>
      </p:sp>
      <p:sp>
        <p:nvSpPr>
          <p:cNvPr id="12" name="Text 8"/>
          <p:cNvSpPr/>
          <p:nvPr/>
        </p:nvSpPr>
        <p:spPr>
          <a:xfrm>
            <a:off x="2948940" y="3551072"/>
            <a:ext cx="1188720" cy="237744"/>
          </a:xfrm>
          <a:prstGeom prst="rect">
            <a:avLst/>
          </a:prstGeom>
          <a:noFill/>
          <a:ln/>
        </p:spPr>
        <p:txBody>
          <a:bodyPr wrap="square" lIns="0" tIns="0" rIns="0" bIns="0" rtlCol="0" anchor="ctr"/>
          <a:lstStyle/>
          <a:p>
            <a:pPr algn="r" indent="0" marL="0">
              <a:buNone/>
            </a:pPr>
            <a:r>
              <a:rPr lang="en-US" sz="900" dirty="0">
                <a:solidFill>
                  <a:srgbClr val="7E8882"/>
                </a:solidFill>
                <a:latin typeface="Yu Gothic" pitchFamily="34" charset="0"/>
                <a:ea typeface="Yu Gothic" pitchFamily="34" charset="-122"/>
                <a:cs typeface="Yu Gothic" pitchFamily="34" charset="-120"/>
              </a:rPr>
              <a:t>岩手県盛岡市</a:t>
            </a:r>
            <a:endParaRPr lang="en-US" sz="900" dirty="0"/>
          </a:p>
        </p:txBody>
      </p:sp>
      <p:pic>
        <p:nvPicPr>
          <p:cNvPr id="13" name="Image 2" descr="/home/user/suzuki-ceo/selfcafe-gyomu-deck/assets/photos/.crops/store-hamamatsu-380x206.jpg">    </p:cNvPr>
          <p:cNvPicPr>
            <a:picLocks noChangeAspect="1"/>
          </p:cNvPicPr>
          <p:nvPr/>
        </p:nvPicPr>
        <p:blipFill>
          <a:blip r:embed="rId3"/>
          <a:stretch>
            <a:fillRect/>
          </a:stretch>
        </p:blipFill>
        <p:spPr>
          <a:xfrm>
            <a:off x="4357116" y="1651406"/>
            <a:ext cx="3477463" cy="1881378"/>
          </a:xfrm>
          <a:prstGeom prst="rect">
            <a:avLst/>
          </a:prstGeom>
        </p:spPr>
      </p:pic>
      <p:sp>
        <p:nvSpPr>
          <p:cNvPr id="14" name="Shape 9"/>
          <p:cNvSpPr/>
          <p:nvPr/>
        </p:nvSpPr>
        <p:spPr>
          <a:xfrm>
            <a:off x="4357116" y="1651406"/>
            <a:ext cx="3477463" cy="1881378"/>
          </a:xfrm>
          <a:prstGeom prst="rect">
            <a:avLst/>
          </a:prstGeom>
          <a:ln w="12700">
            <a:solidFill>
              <a:srgbClr val="D8D2C6"/>
            </a:solidFill>
            <a:prstDash val="solid"/>
          </a:ln>
        </p:spPr>
      </p:sp>
      <p:sp>
        <p:nvSpPr>
          <p:cNvPr id="15" name="Text 10"/>
          <p:cNvSpPr/>
          <p:nvPr/>
        </p:nvSpPr>
        <p:spPr>
          <a:xfrm>
            <a:off x="4357116" y="3551072"/>
            <a:ext cx="2288743" cy="237744"/>
          </a:xfrm>
          <a:prstGeom prst="rect">
            <a:avLst/>
          </a:prstGeom>
          <a:noFill/>
          <a:ln/>
        </p:spPr>
        <p:txBody>
          <a:bodyPr wrap="square" lIns="0" tIns="0" rIns="0" bIns="0" rtlCol="0" anchor="ctr"/>
          <a:lstStyle/>
          <a:p>
            <a:pPr indent="0" marL="0">
              <a:buNone/>
            </a:pPr>
            <a:r>
              <a:rPr lang="en-US" sz="1100" b="1" dirty="0">
                <a:solidFill>
                  <a:srgbClr val="0A3D23"/>
                </a:solidFill>
                <a:latin typeface="Yu Gothic" pitchFamily="34" charset="0"/>
                <a:ea typeface="Yu Gothic" pitchFamily="34" charset="-122"/>
                <a:cs typeface="Yu Gothic" pitchFamily="34" charset="-120"/>
              </a:rPr>
              <a:t>浜松新橋店</a:t>
            </a:r>
            <a:endParaRPr lang="en-US" sz="1100" dirty="0"/>
          </a:p>
        </p:txBody>
      </p:sp>
      <p:sp>
        <p:nvSpPr>
          <p:cNvPr id="16" name="Text 11"/>
          <p:cNvSpPr/>
          <p:nvPr/>
        </p:nvSpPr>
        <p:spPr>
          <a:xfrm>
            <a:off x="6645859" y="3551072"/>
            <a:ext cx="1188720" cy="237744"/>
          </a:xfrm>
          <a:prstGeom prst="rect">
            <a:avLst/>
          </a:prstGeom>
          <a:noFill/>
          <a:ln/>
        </p:spPr>
        <p:txBody>
          <a:bodyPr wrap="square" lIns="0" tIns="0" rIns="0" bIns="0" rtlCol="0" anchor="ctr"/>
          <a:lstStyle/>
          <a:p>
            <a:pPr algn="r" indent="0" marL="0">
              <a:buNone/>
            </a:pPr>
            <a:r>
              <a:rPr lang="en-US" sz="900" dirty="0">
                <a:solidFill>
                  <a:srgbClr val="7E8882"/>
                </a:solidFill>
                <a:latin typeface="Yu Gothic" pitchFamily="34" charset="0"/>
                <a:ea typeface="Yu Gothic" pitchFamily="34" charset="-122"/>
                <a:cs typeface="Yu Gothic" pitchFamily="34" charset="-120"/>
              </a:rPr>
              <a:t>静岡県浜松市</a:t>
            </a:r>
            <a:endParaRPr lang="en-US" sz="900" dirty="0"/>
          </a:p>
        </p:txBody>
      </p:sp>
      <p:pic>
        <p:nvPicPr>
          <p:cNvPr id="17" name="Image 3" descr="/home/user/suzuki-ceo/selfcafe-gyomu-deck/assets/photos/.crops/store-aikawa-380x206.jpg">    </p:cNvPr>
          <p:cNvPicPr>
            <a:picLocks noChangeAspect="1"/>
          </p:cNvPicPr>
          <p:nvPr/>
        </p:nvPicPr>
        <p:blipFill>
          <a:blip r:embed="rId4"/>
          <a:stretch>
            <a:fillRect/>
          </a:stretch>
        </p:blipFill>
        <p:spPr>
          <a:xfrm>
            <a:off x="8054035" y="1651406"/>
            <a:ext cx="3477463" cy="1881378"/>
          </a:xfrm>
          <a:prstGeom prst="rect">
            <a:avLst/>
          </a:prstGeom>
        </p:spPr>
      </p:pic>
      <p:sp>
        <p:nvSpPr>
          <p:cNvPr id="18" name="Shape 12"/>
          <p:cNvSpPr/>
          <p:nvPr/>
        </p:nvSpPr>
        <p:spPr>
          <a:xfrm>
            <a:off x="8054035" y="1651406"/>
            <a:ext cx="3477463" cy="1881378"/>
          </a:xfrm>
          <a:prstGeom prst="rect">
            <a:avLst/>
          </a:prstGeom>
          <a:ln w="12700">
            <a:solidFill>
              <a:srgbClr val="D8D2C6"/>
            </a:solidFill>
            <a:prstDash val="solid"/>
          </a:ln>
        </p:spPr>
      </p:sp>
      <p:sp>
        <p:nvSpPr>
          <p:cNvPr id="19" name="Text 13"/>
          <p:cNvSpPr/>
          <p:nvPr/>
        </p:nvSpPr>
        <p:spPr>
          <a:xfrm>
            <a:off x="8054035" y="3551072"/>
            <a:ext cx="2288743" cy="237744"/>
          </a:xfrm>
          <a:prstGeom prst="rect">
            <a:avLst/>
          </a:prstGeom>
          <a:noFill/>
          <a:ln/>
        </p:spPr>
        <p:txBody>
          <a:bodyPr wrap="square" lIns="0" tIns="0" rIns="0" bIns="0" rtlCol="0" anchor="ctr"/>
          <a:lstStyle/>
          <a:p>
            <a:pPr indent="0" marL="0">
              <a:buNone/>
            </a:pPr>
            <a:r>
              <a:rPr lang="en-US" sz="1100" b="1" dirty="0">
                <a:solidFill>
                  <a:srgbClr val="0A3D23"/>
                </a:solidFill>
                <a:latin typeface="Yu Gothic" pitchFamily="34" charset="0"/>
                <a:ea typeface="Yu Gothic" pitchFamily="34" charset="-122"/>
                <a:cs typeface="Yu Gothic" pitchFamily="34" charset="-120"/>
              </a:rPr>
              <a:t>相川駅前店</a:t>
            </a:r>
            <a:endParaRPr lang="en-US" sz="1100" dirty="0"/>
          </a:p>
        </p:txBody>
      </p:sp>
      <p:sp>
        <p:nvSpPr>
          <p:cNvPr id="20" name="Text 14"/>
          <p:cNvSpPr/>
          <p:nvPr/>
        </p:nvSpPr>
        <p:spPr>
          <a:xfrm>
            <a:off x="10342778" y="3551072"/>
            <a:ext cx="1188720" cy="237744"/>
          </a:xfrm>
          <a:prstGeom prst="rect">
            <a:avLst/>
          </a:prstGeom>
          <a:noFill/>
          <a:ln/>
        </p:spPr>
        <p:txBody>
          <a:bodyPr wrap="square" lIns="0" tIns="0" rIns="0" bIns="0" rtlCol="0" anchor="ctr"/>
          <a:lstStyle/>
          <a:p>
            <a:pPr algn="r" indent="0" marL="0">
              <a:buNone/>
            </a:pPr>
            <a:r>
              <a:rPr lang="en-US" sz="900" dirty="0">
                <a:solidFill>
                  <a:srgbClr val="7E8882"/>
                </a:solidFill>
                <a:latin typeface="Yu Gothic" pitchFamily="34" charset="0"/>
                <a:ea typeface="Yu Gothic" pitchFamily="34" charset="-122"/>
                <a:cs typeface="Yu Gothic" pitchFamily="34" charset="-120"/>
              </a:rPr>
              <a:t>大阪府大阪市</a:t>
            </a:r>
            <a:endParaRPr lang="en-US" sz="900" dirty="0"/>
          </a:p>
        </p:txBody>
      </p:sp>
      <p:pic>
        <p:nvPicPr>
          <p:cNvPr id="21" name="Image 4" descr="/home/user/suzuki-ceo/selfcafe-gyomu-deck/assets/photos/.crops/store-tenma-380x206.jpg">    </p:cNvPr>
          <p:cNvPicPr>
            <a:picLocks noChangeAspect="1"/>
          </p:cNvPicPr>
          <p:nvPr/>
        </p:nvPicPr>
        <p:blipFill>
          <a:blip r:embed="rId5"/>
          <a:stretch>
            <a:fillRect/>
          </a:stretch>
        </p:blipFill>
        <p:spPr>
          <a:xfrm>
            <a:off x="660197" y="4081424"/>
            <a:ext cx="3477463" cy="1881378"/>
          </a:xfrm>
          <a:prstGeom prst="rect">
            <a:avLst/>
          </a:prstGeom>
        </p:spPr>
      </p:pic>
      <p:sp>
        <p:nvSpPr>
          <p:cNvPr id="22" name="Shape 15"/>
          <p:cNvSpPr/>
          <p:nvPr/>
        </p:nvSpPr>
        <p:spPr>
          <a:xfrm>
            <a:off x="660197" y="4081424"/>
            <a:ext cx="3477463" cy="1881378"/>
          </a:xfrm>
          <a:prstGeom prst="rect">
            <a:avLst/>
          </a:prstGeom>
          <a:ln w="12700">
            <a:solidFill>
              <a:srgbClr val="D8D2C6"/>
            </a:solidFill>
            <a:prstDash val="solid"/>
          </a:ln>
        </p:spPr>
      </p:sp>
      <p:sp>
        <p:nvSpPr>
          <p:cNvPr id="23" name="Text 16"/>
          <p:cNvSpPr/>
          <p:nvPr/>
        </p:nvSpPr>
        <p:spPr>
          <a:xfrm>
            <a:off x="660197" y="5981090"/>
            <a:ext cx="2288743" cy="237744"/>
          </a:xfrm>
          <a:prstGeom prst="rect">
            <a:avLst/>
          </a:prstGeom>
          <a:noFill/>
          <a:ln/>
        </p:spPr>
        <p:txBody>
          <a:bodyPr wrap="square" lIns="0" tIns="0" rIns="0" bIns="0" rtlCol="0" anchor="ctr"/>
          <a:lstStyle/>
          <a:p>
            <a:pPr indent="0" marL="0">
              <a:buNone/>
            </a:pPr>
            <a:r>
              <a:rPr lang="en-US" sz="1100" b="1" dirty="0">
                <a:solidFill>
                  <a:srgbClr val="0A3D23"/>
                </a:solidFill>
                <a:latin typeface="Yu Gothic" pitchFamily="34" charset="0"/>
                <a:ea typeface="Yu Gothic" pitchFamily="34" charset="-122"/>
                <a:cs typeface="Yu Gothic" pitchFamily="34" charset="-120"/>
              </a:rPr>
              <a:t>天満店</a:t>
            </a:r>
            <a:endParaRPr lang="en-US" sz="1100" dirty="0"/>
          </a:p>
        </p:txBody>
      </p:sp>
      <p:sp>
        <p:nvSpPr>
          <p:cNvPr id="24" name="Text 17"/>
          <p:cNvSpPr/>
          <p:nvPr/>
        </p:nvSpPr>
        <p:spPr>
          <a:xfrm>
            <a:off x="2948940" y="5981090"/>
            <a:ext cx="1188720" cy="237744"/>
          </a:xfrm>
          <a:prstGeom prst="rect">
            <a:avLst/>
          </a:prstGeom>
          <a:noFill/>
          <a:ln/>
        </p:spPr>
        <p:txBody>
          <a:bodyPr wrap="square" lIns="0" tIns="0" rIns="0" bIns="0" rtlCol="0" anchor="ctr"/>
          <a:lstStyle/>
          <a:p>
            <a:pPr algn="r" indent="0" marL="0">
              <a:buNone/>
            </a:pPr>
            <a:r>
              <a:rPr lang="en-US" sz="900" dirty="0">
                <a:solidFill>
                  <a:srgbClr val="7E8882"/>
                </a:solidFill>
                <a:latin typeface="Yu Gothic" pitchFamily="34" charset="0"/>
                <a:ea typeface="Yu Gothic" pitchFamily="34" charset="-122"/>
                <a:cs typeface="Yu Gothic" pitchFamily="34" charset="-120"/>
              </a:rPr>
              <a:t>大阪府大阪市</a:t>
            </a:r>
            <a:endParaRPr lang="en-US" sz="900" dirty="0"/>
          </a:p>
        </p:txBody>
      </p:sp>
      <p:pic>
        <p:nvPicPr>
          <p:cNvPr id="25" name="Image 5" descr="/home/user/suzuki-ceo/selfcafe-gyomu-deck/assets/photos/.crops/store-abeno-380x206.jpg">    </p:cNvPr>
          <p:cNvPicPr>
            <a:picLocks noChangeAspect="1"/>
          </p:cNvPicPr>
          <p:nvPr/>
        </p:nvPicPr>
        <p:blipFill>
          <a:blip r:embed="rId6"/>
          <a:stretch>
            <a:fillRect/>
          </a:stretch>
        </p:blipFill>
        <p:spPr>
          <a:xfrm>
            <a:off x="4357116" y="4081424"/>
            <a:ext cx="3477463" cy="1881378"/>
          </a:xfrm>
          <a:prstGeom prst="rect">
            <a:avLst/>
          </a:prstGeom>
        </p:spPr>
      </p:pic>
      <p:sp>
        <p:nvSpPr>
          <p:cNvPr id="26" name="Shape 18"/>
          <p:cNvSpPr/>
          <p:nvPr/>
        </p:nvSpPr>
        <p:spPr>
          <a:xfrm>
            <a:off x="4357116" y="4081424"/>
            <a:ext cx="3477463" cy="1881378"/>
          </a:xfrm>
          <a:prstGeom prst="rect">
            <a:avLst/>
          </a:prstGeom>
          <a:ln w="12700">
            <a:solidFill>
              <a:srgbClr val="D8D2C6"/>
            </a:solidFill>
            <a:prstDash val="solid"/>
          </a:ln>
        </p:spPr>
      </p:sp>
      <p:sp>
        <p:nvSpPr>
          <p:cNvPr id="27" name="Text 19"/>
          <p:cNvSpPr/>
          <p:nvPr/>
        </p:nvSpPr>
        <p:spPr>
          <a:xfrm>
            <a:off x="4357116" y="5981090"/>
            <a:ext cx="2288743" cy="237744"/>
          </a:xfrm>
          <a:prstGeom prst="rect">
            <a:avLst/>
          </a:prstGeom>
          <a:noFill/>
          <a:ln/>
        </p:spPr>
        <p:txBody>
          <a:bodyPr wrap="square" lIns="0" tIns="0" rIns="0" bIns="0" rtlCol="0" anchor="ctr"/>
          <a:lstStyle/>
          <a:p>
            <a:pPr indent="0" marL="0">
              <a:buNone/>
            </a:pPr>
            <a:r>
              <a:rPr lang="en-US" sz="1100" b="1" dirty="0">
                <a:solidFill>
                  <a:srgbClr val="0A3D23"/>
                </a:solidFill>
                <a:latin typeface="Yu Gothic" pitchFamily="34" charset="0"/>
                <a:ea typeface="Yu Gothic" pitchFamily="34" charset="-122"/>
                <a:cs typeface="Yu Gothic" pitchFamily="34" charset="-120"/>
              </a:rPr>
              <a:t>あべの南店</a:t>
            </a:r>
            <a:endParaRPr lang="en-US" sz="1100" dirty="0"/>
          </a:p>
        </p:txBody>
      </p:sp>
      <p:sp>
        <p:nvSpPr>
          <p:cNvPr id="28" name="Text 20"/>
          <p:cNvSpPr/>
          <p:nvPr/>
        </p:nvSpPr>
        <p:spPr>
          <a:xfrm>
            <a:off x="6645859" y="5981090"/>
            <a:ext cx="1188720" cy="237744"/>
          </a:xfrm>
          <a:prstGeom prst="rect">
            <a:avLst/>
          </a:prstGeom>
          <a:noFill/>
          <a:ln/>
        </p:spPr>
        <p:txBody>
          <a:bodyPr wrap="square" lIns="0" tIns="0" rIns="0" bIns="0" rtlCol="0" anchor="ctr"/>
          <a:lstStyle/>
          <a:p>
            <a:pPr algn="r" indent="0" marL="0">
              <a:buNone/>
            </a:pPr>
            <a:r>
              <a:rPr lang="en-US" sz="900" dirty="0">
                <a:solidFill>
                  <a:srgbClr val="7E8882"/>
                </a:solidFill>
                <a:latin typeface="Yu Gothic" pitchFamily="34" charset="0"/>
                <a:ea typeface="Yu Gothic" pitchFamily="34" charset="-122"/>
                <a:cs typeface="Yu Gothic" pitchFamily="34" charset="-120"/>
              </a:rPr>
              <a:t>大阪府大阪市</a:t>
            </a:r>
            <a:endParaRPr lang="en-US" sz="900" dirty="0"/>
          </a:p>
        </p:txBody>
      </p:sp>
      <p:pic>
        <p:nvPicPr>
          <p:cNvPr id="29" name="Image 6" descr="/home/user/suzuki-ceo/selfcafe-gyomu-deck/assets/photos/.crops/store-tanimachi-380x206.jpg">    </p:cNvPr>
          <p:cNvPicPr>
            <a:picLocks noChangeAspect="1"/>
          </p:cNvPicPr>
          <p:nvPr/>
        </p:nvPicPr>
        <p:blipFill>
          <a:blip r:embed="rId7"/>
          <a:stretch>
            <a:fillRect/>
          </a:stretch>
        </p:blipFill>
        <p:spPr>
          <a:xfrm>
            <a:off x="8054035" y="4081424"/>
            <a:ext cx="3477463" cy="1881378"/>
          </a:xfrm>
          <a:prstGeom prst="rect">
            <a:avLst/>
          </a:prstGeom>
        </p:spPr>
      </p:pic>
      <p:sp>
        <p:nvSpPr>
          <p:cNvPr id="30" name="Shape 21"/>
          <p:cNvSpPr/>
          <p:nvPr/>
        </p:nvSpPr>
        <p:spPr>
          <a:xfrm>
            <a:off x="8054035" y="4081424"/>
            <a:ext cx="3477463" cy="1881378"/>
          </a:xfrm>
          <a:prstGeom prst="rect">
            <a:avLst/>
          </a:prstGeom>
          <a:ln w="12700">
            <a:solidFill>
              <a:srgbClr val="D8D2C6"/>
            </a:solidFill>
            <a:prstDash val="solid"/>
          </a:ln>
        </p:spPr>
      </p:sp>
      <p:sp>
        <p:nvSpPr>
          <p:cNvPr id="31" name="Text 22"/>
          <p:cNvSpPr/>
          <p:nvPr/>
        </p:nvSpPr>
        <p:spPr>
          <a:xfrm>
            <a:off x="8054035" y="5981090"/>
            <a:ext cx="2288743" cy="237744"/>
          </a:xfrm>
          <a:prstGeom prst="rect">
            <a:avLst/>
          </a:prstGeom>
          <a:noFill/>
          <a:ln/>
        </p:spPr>
        <p:txBody>
          <a:bodyPr wrap="square" lIns="0" tIns="0" rIns="0" bIns="0" rtlCol="0" anchor="ctr"/>
          <a:lstStyle/>
          <a:p>
            <a:pPr indent="0" marL="0">
              <a:buNone/>
            </a:pPr>
            <a:r>
              <a:rPr lang="en-US" sz="1100" b="1" dirty="0">
                <a:solidFill>
                  <a:srgbClr val="0A3D23"/>
                </a:solidFill>
                <a:latin typeface="Yu Gothic" pitchFamily="34" charset="0"/>
                <a:ea typeface="Yu Gothic" pitchFamily="34" charset="-122"/>
                <a:cs typeface="Yu Gothic" pitchFamily="34" charset="-120"/>
              </a:rPr>
              <a:t>谷町九丁目店</a:t>
            </a:r>
            <a:endParaRPr lang="en-US" sz="1100" dirty="0"/>
          </a:p>
        </p:txBody>
      </p:sp>
      <p:sp>
        <p:nvSpPr>
          <p:cNvPr id="32" name="Text 23"/>
          <p:cNvSpPr/>
          <p:nvPr/>
        </p:nvSpPr>
        <p:spPr>
          <a:xfrm>
            <a:off x="10342778" y="5981090"/>
            <a:ext cx="1188720" cy="237744"/>
          </a:xfrm>
          <a:prstGeom prst="rect">
            <a:avLst/>
          </a:prstGeom>
          <a:noFill/>
          <a:ln/>
        </p:spPr>
        <p:txBody>
          <a:bodyPr wrap="square" lIns="0" tIns="0" rIns="0" bIns="0" rtlCol="0" anchor="ctr"/>
          <a:lstStyle/>
          <a:p>
            <a:pPr algn="r" indent="0" marL="0">
              <a:buNone/>
            </a:pPr>
            <a:r>
              <a:rPr lang="en-US" sz="900" dirty="0">
                <a:solidFill>
                  <a:srgbClr val="7E8882"/>
                </a:solidFill>
                <a:latin typeface="Yu Gothic" pitchFamily="34" charset="0"/>
                <a:ea typeface="Yu Gothic" pitchFamily="34" charset="-122"/>
                <a:cs typeface="Yu Gothic" pitchFamily="34" charset="-120"/>
              </a:rPr>
              <a:t>大阪府大阪市</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7"/>
        </a:solidFill>
      </p:bgPr>
    </p:bg>
    <p:spTree>
      <p:nvGrpSpPr>
        <p:cNvPr id="1" name=""/>
        <p:cNvGrpSpPr/>
        <p:nvPr/>
      </p:nvGrpSpPr>
      <p:grpSpPr>
        <a:xfrm>
          <a:off x="0" y="0"/>
          <a:ext cx="0" cy="0"/>
          <a:chOff x="0" y="0"/>
          <a:chExt cx="0" cy="0"/>
        </a:xfrm>
      </p:grpSpPr>
      <p:sp>
        <p:nvSpPr>
          <p:cNvPr id="2" name="Shape 0"/>
          <p:cNvSpPr/>
          <p:nvPr/>
        </p:nvSpPr>
        <p:spPr>
          <a:xfrm>
            <a:off x="660197" y="545897"/>
            <a:ext cx="202997" cy="25603"/>
          </a:xfrm>
          <a:prstGeom prst="rect">
            <a:avLst/>
          </a:prstGeom>
          <a:solidFill>
            <a:srgbClr val="106838"/>
          </a:solidFill>
          <a:ln/>
        </p:spPr>
      </p:sp>
      <p:sp>
        <p:nvSpPr>
          <p:cNvPr id="3" name="Text 1"/>
          <p:cNvSpPr/>
          <p:nvPr/>
        </p:nvSpPr>
        <p:spPr>
          <a:xfrm>
            <a:off x="952805" y="444398"/>
            <a:ext cx="6400800" cy="177394"/>
          </a:xfrm>
          <a:prstGeom prst="rect">
            <a:avLst/>
          </a:prstGeom>
          <a:noFill/>
          <a:ln/>
        </p:spPr>
        <p:txBody>
          <a:bodyPr wrap="square" lIns="0" tIns="0" rIns="0" bIns="0" rtlCol="0" anchor="ctr"/>
          <a:lstStyle/>
          <a:p>
            <a:pPr indent="0" marL="0">
              <a:buNone/>
            </a:pPr>
            <a:r>
              <a:rPr lang="en-US" sz="1050" b="1" dirty="0">
                <a:solidFill>
                  <a:srgbClr val="A8761F"/>
                </a:solidFill>
                <a:latin typeface="Arial" pitchFamily="34" charset="0"/>
                <a:ea typeface="Arial" pitchFamily="34" charset="-122"/>
                <a:cs typeface="Arial" pitchFamily="34" charset="-120"/>
              </a:rPr>
              <a:t>14</a:t>
            </a:r>
            <a:r>
              <a:rPr lang="en-US" sz="1050" b="1" dirty="0">
                <a:solidFill>
                  <a:srgbClr val="1B8149"/>
                </a:solidFill>
                <a:latin typeface="Yu Gothic" pitchFamily="34" charset="0"/>
                <a:ea typeface="Yu Gothic" pitchFamily="34" charset="-122"/>
                <a:cs typeface="Yu Gothic" pitchFamily="34" charset="-120"/>
              </a:rPr>
              <a:t>   ポジショニング</a:t>
            </a:r>
            <a:endParaRPr lang="en-US" sz="1050" dirty="0"/>
          </a:p>
        </p:txBody>
      </p:sp>
      <p:sp>
        <p:nvSpPr>
          <p:cNvPr id="4" name="Text 2"/>
          <p:cNvSpPr/>
          <p:nvPr/>
        </p:nvSpPr>
        <p:spPr>
          <a:xfrm>
            <a:off x="660197" y="660197"/>
            <a:ext cx="8889797" cy="508406"/>
          </a:xfrm>
          <a:prstGeom prst="rect">
            <a:avLst/>
          </a:prstGeom>
          <a:noFill/>
          <a:ln/>
        </p:spPr>
        <p:txBody>
          <a:bodyPr wrap="square" lIns="0" tIns="0" rIns="0" bIns="0" rtlCol="0" anchor="ctr"/>
          <a:lstStyle/>
          <a:p>
            <a:pPr indent="0" marL="0">
              <a:buNone/>
            </a:pPr>
            <a:r>
              <a:rPr lang="en-US" sz="2900" b="1" dirty="0">
                <a:solidFill>
                  <a:srgbClr val="0A3D23"/>
                </a:solidFill>
                <a:latin typeface="Yu Gothic" pitchFamily="34" charset="0"/>
                <a:ea typeface="Yu Gothic" pitchFamily="34" charset="-122"/>
                <a:cs typeface="Yu Gothic" pitchFamily="34" charset="-120"/>
              </a:rPr>
              <a:t>比較表：いいところ取りのビジネスモデル</a:t>
            </a:r>
            <a:endParaRPr lang="en-US" sz="2900" dirty="0"/>
          </a:p>
        </p:txBody>
      </p:sp>
      <p:sp>
        <p:nvSpPr>
          <p:cNvPr id="5" name="Text 3"/>
          <p:cNvSpPr/>
          <p:nvPr/>
        </p:nvSpPr>
        <p:spPr>
          <a:xfrm>
            <a:off x="660197" y="1308506"/>
            <a:ext cx="10032797" cy="228600"/>
          </a:xfrm>
          <a:prstGeom prst="rect">
            <a:avLst/>
          </a:prstGeom>
          <a:noFill/>
          <a:ln/>
        </p:spPr>
        <p:txBody>
          <a:bodyPr wrap="square" lIns="0" tIns="0" rIns="0" bIns="0" rtlCol="0" anchor="ctr"/>
          <a:lstStyle/>
          <a:p>
            <a:pPr indent="0" marL="0">
              <a:buNone/>
            </a:pPr>
            <a:r>
              <a:rPr lang="en-US" sz="1250" dirty="0">
                <a:solidFill>
                  <a:srgbClr val="4B5550"/>
                </a:solidFill>
                <a:latin typeface="Yu Gothic" pitchFamily="34" charset="0"/>
                <a:ea typeface="Yu Gothic" pitchFamily="34" charset="-122"/>
                <a:cs typeface="Yu Gothic" pitchFamily="34" charset="-120"/>
              </a:rPr>
              <a:t>カフェの「気軽さ」とオフィスの「機能」、その両方を満たす選択肢がありませんでした。</a:t>
            </a:r>
            <a:endParaRPr lang="en-US" sz="1250" dirty="0"/>
          </a:p>
        </p:txBody>
      </p:sp>
      <p:pic>
        <p:nvPicPr>
          <p:cNvPr id="6" name="Image 0" descr="/home/user/suzuki-ceo/selfcafe-gyomu-deck/assets/logo-green.png">    </p:cNvPr>
          <p:cNvPicPr>
            <a:picLocks noChangeAspect="1"/>
          </p:cNvPicPr>
          <p:nvPr/>
        </p:nvPicPr>
        <p:blipFill>
          <a:blip r:embed="rId1"/>
          <a:stretch>
            <a:fillRect/>
          </a:stretch>
        </p:blipFill>
        <p:spPr>
          <a:xfrm>
            <a:off x="9855403" y="482803"/>
            <a:ext cx="1676095" cy="238658"/>
          </a:xfrm>
          <a:prstGeom prst="rect">
            <a:avLst/>
          </a:prstGeom>
        </p:spPr>
      </p:pic>
      <p:sp>
        <p:nvSpPr>
          <p:cNvPr id="7" name="Text 4"/>
          <p:cNvSpPr/>
          <p:nvPr/>
        </p:nvSpPr>
        <p:spPr>
          <a:xfrm>
            <a:off x="660197" y="6476695"/>
            <a:ext cx="5080406" cy="152705"/>
          </a:xfrm>
          <a:prstGeom prst="rect">
            <a:avLst/>
          </a:prstGeom>
          <a:noFill/>
          <a:ln/>
        </p:spPr>
        <p:txBody>
          <a:bodyPr wrap="square" lIns="0" tIns="0" rIns="0" bIns="0" rtlCol="0" anchor="ctr"/>
          <a:lstStyle/>
          <a:p>
            <a:pPr indent="0" marL="0">
              <a:buNone/>
            </a:pPr>
            <a:r>
              <a:rPr lang="en-US" sz="900" dirty="0">
                <a:solidFill>
                  <a:srgbClr val="A8B0AA"/>
                </a:solidFill>
                <a:latin typeface="Yu Gothic" pitchFamily="34" charset="0"/>
                <a:ea typeface="Yu Gothic" pitchFamily="34" charset="-122"/>
                <a:cs typeface="Yu Gothic" pitchFamily="34" charset="-120"/>
              </a:rPr>
              <a:t>セルフカフェ 業務委託型制度</a:t>
            </a:r>
            <a:endParaRPr lang="en-US" sz="900" dirty="0"/>
          </a:p>
        </p:txBody>
      </p:sp>
      <p:sp>
        <p:nvSpPr>
          <p:cNvPr id="8" name="Text 5"/>
          <p:cNvSpPr/>
          <p:nvPr/>
        </p:nvSpPr>
        <p:spPr>
          <a:xfrm>
            <a:off x="10261397" y="6463894"/>
            <a:ext cx="1270102" cy="152705"/>
          </a:xfrm>
          <a:prstGeom prst="rect">
            <a:avLst/>
          </a:prstGeom>
          <a:noFill/>
          <a:ln/>
        </p:spPr>
        <p:txBody>
          <a:bodyPr wrap="square" lIns="0" tIns="0" rIns="0" bIns="0" rtlCol="0" anchor="ctr"/>
          <a:lstStyle/>
          <a:p>
            <a:pPr algn="r" indent="0" marL="0">
              <a:buNone/>
            </a:pPr>
            <a:r>
              <a:rPr lang="en-US" sz="1000" b="1" dirty="0">
                <a:solidFill>
                  <a:srgbClr val="7E8882"/>
                </a:solidFill>
                <a:latin typeface="Arial" pitchFamily="34" charset="0"/>
                <a:ea typeface="Arial" pitchFamily="34" charset="-122"/>
                <a:cs typeface="Arial" pitchFamily="34" charset="-120"/>
              </a:rPr>
              <a:t>15</a:t>
            </a:r>
            <a:endParaRPr lang="en-US" sz="1000" dirty="0"/>
          </a:p>
        </p:txBody>
      </p:sp>
      <p:sp>
        <p:nvSpPr>
          <p:cNvPr id="9" name="Shape 6"/>
          <p:cNvSpPr/>
          <p:nvPr/>
        </p:nvSpPr>
        <p:spPr>
          <a:xfrm>
            <a:off x="2397557" y="1742846"/>
            <a:ext cx="3291840" cy="4224528"/>
          </a:xfrm>
          <a:prstGeom prst="roundRect">
            <a:avLst>
              <a:gd name="adj" fmla="val 1389"/>
            </a:avLst>
          </a:prstGeom>
          <a:solidFill>
            <a:srgbClr val="F1F8F3"/>
          </a:solidFill>
          <a:ln/>
        </p:spPr>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60197" y="1742846"/>
          <a:ext cx="10871302" cy="914400"/>
        </p:xfrm>
        <a:graphic>
          <a:graphicData uri="http://schemas.openxmlformats.org/drawingml/2006/table">
            <a:tbl>
              <a:tblPr/>
              <a:tblGrid>
                <a:gridCol w="1737360"/>
                <a:gridCol w="3291840"/>
                <a:gridCol w="2926080"/>
                <a:gridCol w="2916022"/>
              </a:tblGrid>
              <a:tr h="384048">
                <a:tc>
                  <a:txBody>
                    <a:bodyPr/>
                    <a:lstStyle/>
                    <a:p>
                      <a:pPr algn="l" indent="0" marL="0">
                        <a:buNone/>
                      </a:pPr>
                      <a:r>
                        <a:rPr lang="en-US" sz="1150" b="1" dirty="0">
                          <a:solidFill>
                            <a:srgbClr val="0A3D23"/>
                          </a:solidFill>
                          <a:latin typeface="Yu Gothic" pitchFamily="34" charset="0"/>
                          <a:ea typeface="Yu Gothic" pitchFamily="34" charset="-122"/>
                          <a:cs typeface="Yu Gothic" pitchFamily="34" charset="-120"/>
                        </a:rPr>
                        <a:t>比較項目</a:t>
                      </a:r>
                      <a:endParaRPr lang="en-US" sz="1150" dirty="0">
                        <a:latin typeface="Yu Gothic" charset="0"/>
                        <a:ea typeface="Yu Gothic" charset="0"/>
                        <a:cs typeface="Yu Gothic" charset="0"/>
                      </a:endParaRPr>
                    </a:p>
                  </a:txBody>
                  <a:tcPr marL="128016" marR="128016"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4F2EE"/>
                    </a:solidFill>
                  </a:tcPr>
                </a:tc>
                <a:tc>
                  <a:txBody>
                    <a:bodyPr/>
                    <a:lstStyle/>
                    <a:p>
                      <a:pPr algn="l" indent="0" marL="0">
                        <a:buNone/>
                      </a:pPr>
                      <a:r>
                        <a:rPr lang="en-US" sz="1150" b="1" dirty="0">
                          <a:solidFill>
                            <a:srgbClr val="FFFFFF"/>
                          </a:solidFill>
                          <a:latin typeface="Yu Gothic" pitchFamily="34" charset="0"/>
                          <a:ea typeface="Yu Gothic" pitchFamily="34" charset="-122"/>
                          <a:cs typeface="Yu Gothic" pitchFamily="34" charset="-120"/>
                        </a:rPr>
                        <a:t>セルフカフェ</a:t>
                      </a:r>
                      <a:endParaRPr lang="en-US" sz="1150" dirty="0">
                        <a:latin typeface="Yu Gothic" charset="0"/>
                        <a:ea typeface="Yu Gothic" charset="0"/>
                        <a:cs typeface="Yu Gothic" charset="0"/>
                      </a:endParaRPr>
                    </a:p>
                  </a:txBody>
                  <a:tcPr marL="128016" marR="128016"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0C5230"/>
                    </a:solidFill>
                  </a:tcPr>
                </a:tc>
                <a:tc>
                  <a:txBody>
                    <a:bodyPr/>
                    <a:lstStyle/>
                    <a:p>
                      <a:pPr algn="l" indent="0" marL="0">
                        <a:buNone/>
                      </a:pPr>
                      <a:r>
                        <a:rPr lang="en-US" sz="1150" b="1" dirty="0">
                          <a:solidFill>
                            <a:srgbClr val="FFFFFF"/>
                          </a:solidFill>
                          <a:latin typeface="Yu Gothic" pitchFamily="34" charset="0"/>
                          <a:ea typeface="Yu Gothic" pitchFamily="34" charset="-122"/>
                          <a:cs typeface="Yu Gothic" pitchFamily="34" charset="-120"/>
                        </a:rPr>
                        <a:t>コワーキング</a:t>
                      </a:r>
                      <a:endParaRPr lang="en-US" sz="1150" dirty="0">
                        <a:latin typeface="Yu Gothic" charset="0"/>
                        <a:ea typeface="Yu Gothic" charset="0"/>
                        <a:cs typeface="Yu Gothic" charset="0"/>
                      </a:endParaRPr>
                    </a:p>
                  </a:txBody>
                  <a:tcPr marL="128016" marR="128016"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8E8B84"/>
                    </a:solidFill>
                  </a:tcPr>
                </a:tc>
                <a:tc>
                  <a:txBody>
                    <a:bodyPr/>
                    <a:lstStyle/>
                    <a:p>
                      <a:pPr algn="l" indent="0" marL="0">
                        <a:buNone/>
                      </a:pPr>
                      <a:r>
                        <a:rPr lang="en-US" sz="1150" b="1" dirty="0">
                          <a:solidFill>
                            <a:srgbClr val="FFFFFF"/>
                          </a:solidFill>
                          <a:latin typeface="Yu Gothic" pitchFamily="34" charset="0"/>
                          <a:ea typeface="Yu Gothic" pitchFamily="34" charset="-122"/>
                          <a:cs typeface="Yu Gothic" pitchFamily="34" charset="-120"/>
                        </a:rPr>
                        <a:t>シェアオフィス</a:t>
                      </a:r>
                      <a:endParaRPr lang="en-US" sz="1150" dirty="0">
                        <a:latin typeface="Yu Gothic" charset="0"/>
                        <a:ea typeface="Yu Gothic" charset="0"/>
                        <a:cs typeface="Yu Gothic" charset="0"/>
                      </a:endParaRPr>
                    </a:p>
                  </a:txBody>
                  <a:tcPr marL="128016" marR="128016"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8E8B84"/>
                    </a:solidFill>
                  </a:tcPr>
                </a:tc>
              </a:tr>
              <a:tr h="713232">
                <a:tc>
                  <a:txBody>
                    <a:bodyPr/>
                    <a:lstStyle/>
                    <a:p>
                      <a:pPr indent="0" marL="0">
                        <a:buNone/>
                      </a:pPr>
                      <a:r>
                        <a:rPr lang="en-US" sz="1200" b="1" dirty="0">
                          <a:solidFill>
                            <a:srgbClr val="0A3D23"/>
                          </a:solidFill>
                          <a:latin typeface="Yu Gothic" pitchFamily="34" charset="0"/>
                          <a:ea typeface="Yu Gothic" pitchFamily="34" charset="-122"/>
                          <a:cs typeface="Yu Gothic" pitchFamily="34" charset="-120"/>
                        </a:rPr>
                        <a:t>利用の手軽さ</a:t>
                      </a:r>
                      <a:endParaRPr lang="en-US" sz="1200" dirty="0">
                        <a:latin typeface="Yu Gothic" charset="0"/>
                        <a:ea typeface="Yu Gothic" charset="0"/>
                        <a:cs typeface="Yu Gothic" charset="0"/>
                      </a:endParaRPr>
                    </a:p>
                  </a:txBody>
                  <a:tcPr marL="128016" marR="128016"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4F2EE"/>
                    </a:solidFill>
                  </a:tcPr>
                </a:tc>
                <a:tc>
                  <a:txBody>
                    <a:bodyPr/>
                    <a:lstStyle/>
                    <a:p>
                      <a:pPr indent="0" marL="0">
                        <a:buNone/>
                      </a:pPr>
                      <a:r>
                        <a:rPr lang="en-US" sz="1250" b="1" dirty="0">
                          <a:solidFill>
                            <a:srgbClr val="106838"/>
                          </a:solidFill>
                          <a:latin typeface="Yu Gothic" pitchFamily="34" charset="0"/>
                          <a:ea typeface="Yu Gothic" pitchFamily="34" charset="-122"/>
                          <a:cs typeface="Yu Gothic" pitchFamily="34" charset="-120"/>
                        </a:rPr>
                        <a:t>◎ </a:t>
                      </a:r>
                      <a:r>
                        <a:rPr lang="en-US" sz="1050" b="1" dirty="0">
                          <a:solidFill>
                            <a:srgbClr val="106838"/>
                          </a:solidFill>
                          <a:latin typeface="Yu Gothic" pitchFamily="34" charset="0"/>
                          <a:ea typeface="Yu Gothic" pitchFamily="34" charset="-122"/>
                          <a:cs typeface="Yu Gothic" pitchFamily="34" charset="-120"/>
                        </a:rPr>
                        <a:t>予約不要・1杯〜</a:t>
                      </a:r>
                      <a:endParaRPr lang="en-US" sz="1200" dirty="0">
                        <a:latin typeface="Yu Gothic" charset="0"/>
                        <a:ea typeface="Yu Gothic" charset="0"/>
                        <a:cs typeface="Yu Gothic" charset="0"/>
                      </a:endParaRPr>
                    </a:p>
                  </a:txBody>
                  <a:tcPr marL="146304" marR="146304"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1F8F3"/>
                    </a:solidFill>
                  </a:tcPr>
                </a:tc>
                <a:tc>
                  <a:txBody>
                    <a:bodyPr/>
                    <a:lstStyle/>
                    <a:p>
                      <a:pPr indent="0" marL="0">
                        <a:buNone/>
                      </a:pPr>
                      <a:r>
                        <a:rPr lang="en-US" sz="1250" b="1" dirty="0">
                          <a:solidFill>
                            <a:srgbClr val="A8761F"/>
                          </a:solidFill>
                          <a:latin typeface="Yu Gothic" pitchFamily="34" charset="0"/>
                          <a:ea typeface="Yu Gothic" pitchFamily="34" charset="-122"/>
                          <a:cs typeface="Yu Gothic" pitchFamily="34" charset="-120"/>
                        </a:rPr>
                        <a:t>△ </a:t>
                      </a:r>
                      <a:r>
                        <a:rPr lang="en-US" sz="1000" dirty="0">
                          <a:solidFill>
                            <a:srgbClr val="6E6A61"/>
                          </a:solidFill>
                          <a:latin typeface="Yu Gothic" pitchFamily="34" charset="0"/>
                          <a:ea typeface="Yu Gothic" pitchFamily="34" charset="-122"/>
                          <a:cs typeface="Yu Gothic" pitchFamily="34" charset="-120"/>
                        </a:rPr>
                        <a:t>登録や予約が必要</a:t>
                      </a:r>
                      <a:endParaRPr lang="en-US" sz="1200" dirty="0">
                        <a:latin typeface="Yu Gothic" charset="0"/>
                        <a:ea typeface="Yu Gothic" charset="0"/>
                        <a:cs typeface="Yu Gothic" charset="0"/>
                      </a:endParaRPr>
                    </a:p>
                  </a:txBody>
                  <a:tcPr marL="146304" marR="146304"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250" b="1" dirty="0">
                          <a:solidFill>
                            <a:srgbClr val="B0553F"/>
                          </a:solidFill>
                          <a:latin typeface="Yu Gothic" pitchFamily="34" charset="0"/>
                          <a:ea typeface="Yu Gothic" pitchFamily="34" charset="-122"/>
                          <a:cs typeface="Yu Gothic" pitchFamily="34" charset="-120"/>
                        </a:rPr>
                        <a:t>× </a:t>
                      </a:r>
                      <a:r>
                        <a:rPr lang="en-US" sz="1000" dirty="0">
                          <a:solidFill>
                            <a:srgbClr val="6E6A61"/>
                          </a:solidFill>
                          <a:latin typeface="Yu Gothic" pitchFamily="34" charset="0"/>
                          <a:ea typeface="Yu Gothic" pitchFamily="34" charset="-122"/>
                          <a:cs typeface="Yu Gothic" pitchFamily="34" charset="-120"/>
                        </a:rPr>
                        <a:t>法人契約がメイン</a:t>
                      </a:r>
                      <a:endParaRPr lang="en-US" sz="1200" dirty="0">
                        <a:latin typeface="Yu Gothic" charset="0"/>
                        <a:ea typeface="Yu Gothic" charset="0"/>
                        <a:cs typeface="Yu Gothic" charset="0"/>
                      </a:endParaRPr>
                    </a:p>
                  </a:txBody>
                  <a:tcPr marL="146304" marR="146304"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FFFFF"/>
                    </a:solidFill>
                  </a:tcPr>
                </a:tc>
              </a:tr>
              <a:tr h="713232">
                <a:tc>
                  <a:txBody>
                    <a:bodyPr/>
                    <a:lstStyle/>
                    <a:p>
                      <a:pPr indent="0" marL="0">
                        <a:buNone/>
                      </a:pPr>
                      <a:r>
                        <a:rPr lang="en-US" sz="1200" b="1" dirty="0">
                          <a:solidFill>
                            <a:srgbClr val="0A3D23"/>
                          </a:solidFill>
                          <a:latin typeface="Yu Gothic" pitchFamily="34" charset="0"/>
                          <a:ea typeface="Yu Gothic" pitchFamily="34" charset="-122"/>
                          <a:cs typeface="Yu Gothic" pitchFamily="34" charset="-120"/>
                        </a:rPr>
                        <a:t>空間の雰囲気</a:t>
                      </a:r>
                      <a:endParaRPr lang="en-US" sz="1200" dirty="0">
                        <a:latin typeface="Yu Gothic" charset="0"/>
                        <a:ea typeface="Yu Gothic" charset="0"/>
                        <a:cs typeface="Yu Gothic" charset="0"/>
                      </a:endParaRPr>
                    </a:p>
                  </a:txBody>
                  <a:tcPr marL="128016" marR="128016"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4F2EE"/>
                    </a:solidFill>
                  </a:tcPr>
                </a:tc>
                <a:tc>
                  <a:txBody>
                    <a:bodyPr/>
                    <a:lstStyle/>
                    <a:p>
                      <a:pPr indent="0" marL="0">
                        <a:buNone/>
                      </a:pPr>
                      <a:r>
                        <a:rPr lang="en-US" sz="1250" b="1" dirty="0">
                          <a:solidFill>
                            <a:srgbClr val="106838"/>
                          </a:solidFill>
                          <a:latin typeface="Yu Gothic" pitchFamily="34" charset="0"/>
                          <a:ea typeface="Yu Gothic" pitchFamily="34" charset="-122"/>
                          <a:cs typeface="Yu Gothic" pitchFamily="34" charset="-120"/>
                        </a:rPr>
                        <a:t>◎ </a:t>
                      </a:r>
                      <a:r>
                        <a:rPr lang="en-US" sz="1050" b="1" dirty="0">
                          <a:solidFill>
                            <a:srgbClr val="106838"/>
                          </a:solidFill>
                          <a:latin typeface="Yu Gothic" pitchFamily="34" charset="0"/>
                          <a:ea typeface="Yu Gothic" pitchFamily="34" charset="-122"/>
                          <a:cs typeface="Yu Gothic" pitchFamily="34" charset="-120"/>
                        </a:rPr>
                        <a:t>適度な賑わい</a:t>
                      </a:r>
                      <a:endParaRPr lang="en-US" sz="1200" dirty="0">
                        <a:latin typeface="Yu Gothic" charset="0"/>
                        <a:ea typeface="Yu Gothic" charset="0"/>
                        <a:cs typeface="Yu Gothic" charset="0"/>
                      </a:endParaRPr>
                    </a:p>
                  </a:txBody>
                  <a:tcPr marL="146304" marR="146304"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1F8F3"/>
                    </a:solidFill>
                  </a:tcPr>
                </a:tc>
                <a:tc>
                  <a:txBody>
                    <a:bodyPr/>
                    <a:lstStyle/>
                    <a:p>
                      <a:pPr indent="0" marL="0">
                        <a:buNone/>
                      </a:pPr>
                      <a:r>
                        <a:rPr lang="en-US" sz="1250" b="1" dirty="0">
                          <a:solidFill>
                            <a:srgbClr val="A8761F"/>
                          </a:solidFill>
                          <a:latin typeface="Yu Gothic" pitchFamily="34" charset="0"/>
                          <a:ea typeface="Yu Gothic" pitchFamily="34" charset="-122"/>
                          <a:cs typeface="Yu Gothic" pitchFamily="34" charset="-120"/>
                        </a:rPr>
                        <a:t>△ </a:t>
                      </a:r>
                      <a:r>
                        <a:rPr lang="en-US" sz="1000" dirty="0">
                          <a:solidFill>
                            <a:srgbClr val="6E6A61"/>
                          </a:solidFill>
                          <a:latin typeface="Yu Gothic" pitchFamily="34" charset="0"/>
                          <a:ea typeface="Yu Gothic" pitchFamily="34" charset="-122"/>
                          <a:cs typeface="Yu Gothic" pitchFamily="34" charset="-120"/>
                        </a:rPr>
                        <a:t>静かすぎて緊張する</a:t>
                      </a:r>
                      <a:endParaRPr lang="en-US" sz="1200" dirty="0">
                        <a:latin typeface="Yu Gothic" charset="0"/>
                        <a:ea typeface="Yu Gothic" charset="0"/>
                        <a:cs typeface="Yu Gothic" charset="0"/>
                      </a:endParaRPr>
                    </a:p>
                  </a:txBody>
                  <a:tcPr marL="146304" marR="146304"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250" b="1" dirty="0">
                          <a:solidFill>
                            <a:srgbClr val="B0553F"/>
                          </a:solidFill>
                          <a:latin typeface="Yu Gothic" pitchFamily="34" charset="0"/>
                          <a:ea typeface="Yu Gothic" pitchFamily="34" charset="-122"/>
                          <a:cs typeface="Yu Gothic" pitchFamily="34" charset="-120"/>
                        </a:rPr>
                        <a:t>× </a:t>
                      </a:r>
                      <a:r>
                        <a:rPr lang="en-US" sz="1000" dirty="0">
                          <a:solidFill>
                            <a:srgbClr val="6E6A61"/>
                          </a:solidFill>
                          <a:latin typeface="Yu Gothic" pitchFamily="34" charset="0"/>
                          <a:ea typeface="Yu Gothic" pitchFamily="34" charset="-122"/>
                          <a:cs typeface="Yu Gothic" pitchFamily="34" charset="-120"/>
                        </a:rPr>
                        <a:t>閉鎖的な個室中心</a:t>
                      </a:r>
                      <a:endParaRPr lang="en-US" sz="1200" dirty="0">
                        <a:latin typeface="Yu Gothic" charset="0"/>
                        <a:ea typeface="Yu Gothic" charset="0"/>
                        <a:cs typeface="Yu Gothic" charset="0"/>
                      </a:endParaRPr>
                    </a:p>
                  </a:txBody>
                  <a:tcPr marL="146304" marR="146304"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FFFFF"/>
                    </a:solidFill>
                  </a:tcPr>
                </a:tc>
              </a:tr>
              <a:tr h="713232">
                <a:tc>
                  <a:txBody>
                    <a:bodyPr/>
                    <a:lstStyle/>
                    <a:p>
                      <a:pPr indent="0" marL="0">
                        <a:buNone/>
                      </a:pPr>
                      <a:r>
                        <a:rPr lang="en-US" sz="1200" b="1" dirty="0">
                          <a:solidFill>
                            <a:srgbClr val="0A3D23"/>
                          </a:solidFill>
                          <a:latin typeface="Yu Gothic" pitchFamily="34" charset="0"/>
                          <a:ea typeface="Yu Gothic" pitchFamily="34" charset="-122"/>
                          <a:cs typeface="Yu Gothic" pitchFamily="34" charset="-120"/>
                        </a:rPr>
                        <a:t>ドリンクの質</a:t>
                      </a:r>
                      <a:endParaRPr lang="en-US" sz="1200" dirty="0">
                        <a:latin typeface="Yu Gothic" charset="0"/>
                        <a:ea typeface="Yu Gothic" charset="0"/>
                        <a:cs typeface="Yu Gothic" charset="0"/>
                      </a:endParaRPr>
                    </a:p>
                  </a:txBody>
                  <a:tcPr marL="128016" marR="128016"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4F2EE"/>
                    </a:solidFill>
                  </a:tcPr>
                </a:tc>
                <a:tc>
                  <a:txBody>
                    <a:bodyPr/>
                    <a:lstStyle/>
                    <a:p>
                      <a:pPr indent="0" marL="0">
                        <a:buNone/>
                      </a:pPr>
                      <a:r>
                        <a:rPr lang="en-US" sz="1250" b="1" dirty="0">
                          <a:solidFill>
                            <a:srgbClr val="106838"/>
                          </a:solidFill>
                          <a:latin typeface="Yu Gothic" pitchFamily="34" charset="0"/>
                          <a:ea typeface="Yu Gothic" pitchFamily="34" charset="-122"/>
                          <a:cs typeface="Yu Gothic" pitchFamily="34" charset="-120"/>
                        </a:rPr>
                        <a:t>◎ </a:t>
                      </a:r>
                      <a:r>
                        <a:rPr lang="en-US" sz="1050" b="1" dirty="0">
                          <a:solidFill>
                            <a:srgbClr val="106838"/>
                          </a:solidFill>
                          <a:latin typeface="Yu Gothic" pitchFamily="34" charset="0"/>
                          <a:ea typeface="Yu Gothic" pitchFamily="34" charset="-122"/>
                          <a:cs typeface="Yu Gothic" pitchFamily="34" charset="-120"/>
                        </a:rPr>
                        <a:t>本格コーヒー</a:t>
                      </a:r>
                      <a:endParaRPr lang="en-US" sz="1200" dirty="0">
                        <a:latin typeface="Yu Gothic" charset="0"/>
                        <a:ea typeface="Yu Gothic" charset="0"/>
                        <a:cs typeface="Yu Gothic" charset="0"/>
                      </a:endParaRPr>
                    </a:p>
                  </a:txBody>
                  <a:tcPr marL="146304" marR="146304"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1F8F3"/>
                    </a:solidFill>
                  </a:tcPr>
                </a:tc>
                <a:tc>
                  <a:txBody>
                    <a:bodyPr/>
                    <a:lstStyle/>
                    <a:p>
                      <a:pPr indent="0" marL="0">
                        <a:buNone/>
                      </a:pPr>
                      <a:r>
                        <a:rPr lang="en-US" sz="1250" b="1" dirty="0">
                          <a:solidFill>
                            <a:srgbClr val="A8761F"/>
                          </a:solidFill>
                          <a:latin typeface="Yu Gothic" pitchFamily="34" charset="0"/>
                          <a:ea typeface="Yu Gothic" pitchFamily="34" charset="-122"/>
                          <a:cs typeface="Yu Gothic" pitchFamily="34" charset="-120"/>
                        </a:rPr>
                        <a:t>△ </a:t>
                      </a:r>
                      <a:r>
                        <a:rPr lang="en-US" sz="1000" dirty="0">
                          <a:solidFill>
                            <a:srgbClr val="6E6A61"/>
                          </a:solidFill>
                          <a:latin typeface="Yu Gothic" pitchFamily="34" charset="0"/>
                          <a:ea typeface="Yu Gothic" pitchFamily="34" charset="-122"/>
                          <a:cs typeface="Yu Gothic" pitchFamily="34" charset="-120"/>
                        </a:rPr>
                        <a:t>サーバーが中心</a:t>
                      </a:r>
                      <a:endParaRPr lang="en-US" sz="1200" dirty="0">
                        <a:latin typeface="Yu Gothic" charset="0"/>
                        <a:ea typeface="Yu Gothic" charset="0"/>
                        <a:cs typeface="Yu Gothic" charset="0"/>
                      </a:endParaRPr>
                    </a:p>
                  </a:txBody>
                  <a:tcPr marL="146304" marR="146304"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250" b="1" dirty="0">
                          <a:solidFill>
                            <a:srgbClr val="B0553F"/>
                          </a:solidFill>
                          <a:latin typeface="Yu Gothic" pitchFamily="34" charset="0"/>
                          <a:ea typeface="Yu Gothic" pitchFamily="34" charset="-122"/>
                          <a:cs typeface="Yu Gothic" pitchFamily="34" charset="-120"/>
                        </a:rPr>
                        <a:t>× </a:t>
                      </a:r>
                      <a:r>
                        <a:rPr lang="en-US" sz="1000" dirty="0">
                          <a:solidFill>
                            <a:srgbClr val="6E6A61"/>
                          </a:solidFill>
                          <a:latin typeface="Yu Gothic" pitchFamily="34" charset="0"/>
                          <a:ea typeface="Yu Gothic" pitchFamily="34" charset="-122"/>
                          <a:cs typeface="Yu Gothic" pitchFamily="34" charset="-120"/>
                        </a:rPr>
                        <a:t>持ち込みが基本</a:t>
                      </a:r>
                      <a:endParaRPr lang="en-US" sz="1200" dirty="0">
                        <a:latin typeface="Yu Gothic" charset="0"/>
                        <a:ea typeface="Yu Gothic" charset="0"/>
                        <a:cs typeface="Yu Gothic" charset="0"/>
                      </a:endParaRPr>
                    </a:p>
                  </a:txBody>
                  <a:tcPr marL="146304" marR="146304"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FFFFF"/>
                    </a:solidFill>
                  </a:tcPr>
                </a:tc>
              </a:tr>
              <a:tr h="713232">
                <a:tc>
                  <a:txBody>
                    <a:bodyPr/>
                    <a:lstStyle/>
                    <a:p>
                      <a:pPr indent="0" marL="0">
                        <a:buNone/>
                      </a:pPr>
                      <a:r>
                        <a:rPr lang="en-US" sz="1200" b="1" dirty="0">
                          <a:solidFill>
                            <a:srgbClr val="0A3D23"/>
                          </a:solidFill>
                          <a:latin typeface="Yu Gothic" pitchFamily="34" charset="0"/>
                          <a:ea typeface="Yu Gothic" pitchFamily="34" charset="-122"/>
                          <a:cs typeface="Yu Gothic" pitchFamily="34" charset="-120"/>
                        </a:rPr>
                        <a:t>運営人員</a:t>
                      </a:r>
                      <a:endParaRPr lang="en-US" sz="1200" dirty="0">
                        <a:latin typeface="Yu Gothic" charset="0"/>
                        <a:ea typeface="Yu Gothic" charset="0"/>
                        <a:cs typeface="Yu Gothic" charset="0"/>
                      </a:endParaRPr>
                    </a:p>
                  </a:txBody>
                  <a:tcPr marL="128016" marR="128016"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4F2EE"/>
                    </a:solidFill>
                  </a:tcPr>
                </a:tc>
                <a:tc>
                  <a:txBody>
                    <a:bodyPr/>
                    <a:lstStyle/>
                    <a:p>
                      <a:pPr indent="0" marL="0">
                        <a:buNone/>
                      </a:pPr>
                      <a:r>
                        <a:rPr lang="en-US" sz="1250" b="1" dirty="0">
                          <a:solidFill>
                            <a:srgbClr val="106838"/>
                          </a:solidFill>
                          <a:latin typeface="Yu Gothic" pitchFamily="34" charset="0"/>
                          <a:ea typeface="Yu Gothic" pitchFamily="34" charset="-122"/>
                          <a:cs typeface="Yu Gothic" pitchFamily="34" charset="-120"/>
                        </a:rPr>
                        <a:t>◎ </a:t>
                      </a:r>
                      <a:r>
                        <a:rPr lang="en-US" sz="1050" b="1" dirty="0">
                          <a:solidFill>
                            <a:srgbClr val="106838"/>
                          </a:solidFill>
                          <a:latin typeface="Yu Gothic" pitchFamily="34" charset="0"/>
                          <a:ea typeface="Yu Gothic" pitchFamily="34" charset="-122"/>
                          <a:cs typeface="Yu Gothic" pitchFamily="34" charset="-120"/>
                        </a:rPr>
                        <a:t>完全無人</a:t>
                      </a:r>
                      <a:endParaRPr lang="en-US" sz="1200" dirty="0">
                        <a:latin typeface="Yu Gothic" charset="0"/>
                        <a:ea typeface="Yu Gothic" charset="0"/>
                        <a:cs typeface="Yu Gothic" charset="0"/>
                      </a:endParaRPr>
                    </a:p>
                  </a:txBody>
                  <a:tcPr marL="146304" marR="146304"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1F8F3"/>
                    </a:solidFill>
                  </a:tcPr>
                </a:tc>
                <a:tc>
                  <a:txBody>
                    <a:bodyPr/>
                    <a:lstStyle/>
                    <a:p>
                      <a:pPr indent="0" marL="0">
                        <a:buNone/>
                      </a:pPr>
                      <a:r>
                        <a:rPr lang="en-US" sz="1250" b="1" dirty="0">
                          <a:solidFill>
                            <a:srgbClr val="A8761F"/>
                          </a:solidFill>
                          <a:latin typeface="Yu Gothic" pitchFamily="34" charset="0"/>
                          <a:ea typeface="Yu Gothic" pitchFamily="34" charset="-122"/>
                          <a:cs typeface="Yu Gothic" pitchFamily="34" charset="-120"/>
                        </a:rPr>
                        <a:t>△ </a:t>
                      </a:r>
                      <a:r>
                        <a:rPr lang="en-US" sz="1000" dirty="0">
                          <a:solidFill>
                            <a:srgbClr val="6E6A61"/>
                          </a:solidFill>
                          <a:latin typeface="Yu Gothic" pitchFamily="34" charset="0"/>
                          <a:ea typeface="Yu Gothic" pitchFamily="34" charset="-122"/>
                          <a:cs typeface="Yu Gothic" pitchFamily="34" charset="-120"/>
                        </a:rPr>
                        <a:t>スタッフ常駐</a:t>
                      </a:r>
                      <a:endParaRPr lang="en-US" sz="1200" dirty="0">
                        <a:latin typeface="Yu Gothic" charset="0"/>
                        <a:ea typeface="Yu Gothic" charset="0"/>
                        <a:cs typeface="Yu Gothic" charset="0"/>
                      </a:endParaRPr>
                    </a:p>
                  </a:txBody>
                  <a:tcPr marL="146304" marR="146304"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250" b="1" dirty="0">
                          <a:solidFill>
                            <a:srgbClr val="A8761F"/>
                          </a:solidFill>
                          <a:latin typeface="Yu Gothic" pitchFamily="34" charset="0"/>
                          <a:ea typeface="Yu Gothic" pitchFamily="34" charset="-122"/>
                          <a:cs typeface="Yu Gothic" pitchFamily="34" charset="-120"/>
                        </a:rPr>
                        <a:t>△ </a:t>
                      </a:r>
                      <a:r>
                        <a:rPr lang="en-US" sz="1000" dirty="0">
                          <a:solidFill>
                            <a:srgbClr val="6E6A61"/>
                          </a:solidFill>
                          <a:latin typeface="Yu Gothic" pitchFamily="34" charset="0"/>
                          <a:ea typeface="Yu Gothic" pitchFamily="34" charset="-122"/>
                          <a:cs typeface="Yu Gothic" pitchFamily="34" charset="-120"/>
                        </a:rPr>
                        <a:t>管理人が必要</a:t>
                      </a:r>
                      <a:endParaRPr lang="en-US" sz="1200" dirty="0">
                        <a:latin typeface="Yu Gothic" charset="0"/>
                        <a:ea typeface="Yu Gothic" charset="0"/>
                        <a:cs typeface="Yu Gothic" charset="0"/>
                      </a:endParaRPr>
                    </a:p>
                  </a:txBody>
                  <a:tcPr marL="146304" marR="146304"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FFFFF"/>
                    </a:solidFill>
                  </a:tcPr>
                </a:tc>
              </a:tr>
              <a:tr h="713232">
                <a:tc>
                  <a:txBody>
                    <a:bodyPr/>
                    <a:lstStyle/>
                    <a:p>
                      <a:pPr indent="0" marL="0">
                        <a:buNone/>
                      </a:pPr>
                      <a:r>
                        <a:rPr lang="en-US" sz="1200" b="1" dirty="0">
                          <a:solidFill>
                            <a:srgbClr val="0A3D23"/>
                          </a:solidFill>
                          <a:latin typeface="Yu Gothic" pitchFamily="34" charset="0"/>
                          <a:ea typeface="Yu Gothic" pitchFamily="34" charset="-122"/>
                          <a:cs typeface="Yu Gothic" pitchFamily="34" charset="-120"/>
                        </a:rPr>
                        <a:t>導入コスト</a:t>
                      </a:r>
                      <a:endParaRPr lang="en-US" sz="1200" dirty="0">
                        <a:latin typeface="Yu Gothic" charset="0"/>
                        <a:ea typeface="Yu Gothic" charset="0"/>
                        <a:cs typeface="Yu Gothic" charset="0"/>
                      </a:endParaRPr>
                    </a:p>
                  </a:txBody>
                  <a:tcPr marL="128016" marR="128016"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4F2EE"/>
                    </a:solidFill>
                  </a:tcPr>
                </a:tc>
                <a:tc>
                  <a:txBody>
                    <a:bodyPr/>
                    <a:lstStyle/>
                    <a:p>
                      <a:pPr indent="0" marL="0">
                        <a:buNone/>
                      </a:pPr>
                      <a:r>
                        <a:rPr lang="en-US" sz="1250" b="1" dirty="0">
                          <a:solidFill>
                            <a:srgbClr val="106838"/>
                          </a:solidFill>
                          <a:latin typeface="Yu Gothic" pitchFamily="34" charset="0"/>
                          <a:ea typeface="Yu Gothic" pitchFamily="34" charset="-122"/>
                          <a:cs typeface="Yu Gothic" pitchFamily="34" charset="-120"/>
                        </a:rPr>
                        <a:t>◎ </a:t>
                      </a:r>
                      <a:r>
                        <a:rPr lang="en-US" sz="1050" b="1" dirty="0">
                          <a:solidFill>
                            <a:srgbClr val="106838"/>
                          </a:solidFill>
                          <a:latin typeface="Yu Gothic" pitchFamily="34" charset="0"/>
                          <a:ea typeface="Yu Gothic" pitchFamily="34" charset="-122"/>
                          <a:cs typeface="Yu Gothic" pitchFamily="34" charset="-120"/>
                        </a:rPr>
                        <a:t>低投資パッケージ</a:t>
                      </a:r>
                      <a:endParaRPr lang="en-US" sz="1200" dirty="0">
                        <a:latin typeface="Yu Gothic" charset="0"/>
                        <a:ea typeface="Yu Gothic" charset="0"/>
                        <a:cs typeface="Yu Gothic" charset="0"/>
                      </a:endParaRPr>
                    </a:p>
                  </a:txBody>
                  <a:tcPr marL="146304" marR="146304"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1F8F3"/>
                    </a:solidFill>
                  </a:tcPr>
                </a:tc>
                <a:tc>
                  <a:txBody>
                    <a:bodyPr/>
                    <a:lstStyle/>
                    <a:p>
                      <a:pPr indent="0" marL="0">
                        <a:buNone/>
                      </a:pPr>
                      <a:r>
                        <a:rPr lang="en-US" sz="1250" b="1" dirty="0">
                          <a:solidFill>
                            <a:srgbClr val="B0553F"/>
                          </a:solidFill>
                          <a:latin typeface="Yu Gothic" pitchFamily="34" charset="0"/>
                          <a:ea typeface="Yu Gothic" pitchFamily="34" charset="-122"/>
                          <a:cs typeface="Yu Gothic" pitchFamily="34" charset="-120"/>
                        </a:rPr>
                        <a:t>× </a:t>
                      </a:r>
                      <a:r>
                        <a:rPr lang="en-US" sz="1000" dirty="0">
                          <a:solidFill>
                            <a:srgbClr val="6E6A61"/>
                          </a:solidFill>
                          <a:latin typeface="Yu Gothic" pitchFamily="34" charset="0"/>
                          <a:ea typeface="Yu Gothic" pitchFamily="34" charset="-122"/>
                          <a:cs typeface="Yu Gothic" pitchFamily="34" charset="-120"/>
                        </a:rPr>
                        <a:t>高額な内装・設備</a:t>
                      </a:r>
                      <a:endParaRPr lang="en-US" sz="1200" dirty="0">
                        <a:latin typeface="Yu Gothic" charset="0"/>
                        <a:ea typeface="Yu Gothic" charset="0"/>
                        <a:cs typeface="Yu Gothic" charset="0"/>
                      </a:endParaRPr>
                    </a:p>
                  </a:txBody>
                  <a:tcPr marL="146304" marR="146304"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250" b="1" dirty="0">
                          <a:solidFill>
                            <a:srgbClr val="B0553F"/>
                          </a:solidFill>
                          <a:latin typeface="Yu Gothic" pitchFamily="34" charset="0"/>
                          <a:ea typeface="Yu Gothic" pitchFamily="34" charset="-122"/>
                          <a:cs typeface="Yu Gothic" pitchFamily="34" charset="-120"/>
                        </a:rPr>
                        <a:t>× </a:t>
                      </a:r>
                      <a:r>
                        <a:rPr lang="en-US" sz="1000" dirty="0">
                          <a:solidFill>
                            <a:srgbClr val="6E6A61"/>
                          </a:solidFill>
                          <a:latin typeface="Yu Gothic" pitchFamily="34" charset="0"/>
                          <a:ea typeface="Yu Gothic" pitchFamily="34" charset="-122"/>
                          <a:cs typeface="Yu Gothic" pitchFamily="34" charset="-120"/>
                        </a:rPr>
                        <a:t>莫大な建築コスト</a:t>
                      </a:r>
                      <a:endParaRPr lang="en-US" sz="1200" dirty="0">
                        <a:latin typeface="Yu Gothic" charset="0"/>
                        <a:ea typeface="Yu Gothic" charset="0"/>
                        <a:cs typeface="Yu Gothic" charset="0"/>
                      </a:endParaRPr>
                    </a:p>
                  </a:txBody>
                  <a:tcPr marL="146304" marR="146304"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FFFFF"/>
                    </a:solidFill>
                  </a:tcPr>
                </a:tc>
              </a:tr>
            </a:tbl>
          </a:graphicData>
        </a:graphic>
      </p:graphicFrame>
      <p:sp>
        <p:nvSpPr>
          <p:cNvPr id="11" name="Shape 7"/>
          <p:cNvSpPr/>
          <p:nvPr/>
        </p:nvSpPr>
        <p:spPr>
          <a:xfrm>
            <a:off x="660197" y="5742432"/>
            <a:ext cx="10871302" cy="475488"/>
          </a:xfrm>
          <a:prstGeom prst="roundRect">
            <a:avLst>
              <a:gd name="adj" fmla="val 9615"/>
            </a:avLst>
          </a:prstGeom>
          <a:solidFill>
            <a:srgbClr val="0C5230"/>
          </a:solidFill>
          <a:ln/>
        </p:spPr>
      </p:sp>
      <p:sp>
        <p:nvSpPr>
          <p:cNvPr id="12" name="Text 8"/>
          <p:cNvSpPr/>
          <p:nvPr/>
        </p:nvSpPr>
        <p:spPr>
          <a:xfrm>
            <a:off x="934517" y="5742432"/>
            <a:ext cx="10322662" cy="475488"/>
          </a:xfrm>
          <a:prstGeom prst="rect">
            <a:avLst/>
          </a:prstGeom>
          <a:noFill/>
          <a:ln/>
        </p:spPr>
        <p:txBody>
          <a:bodyPr wrap="square" lIns="0" tIns="0" rIns="0" bIns="0" rtlCol="0" anchor="ctr"/>
          <a:lstStyle/>
          <a:p>
            <a:pPr indent="0" marL="0">
              <a:buNone/>
            </a:pPr>
            <a:r>
              <a:rPr lang="en-US" sz="1250" b="1" dirty="0">
                <a:solidFill>
                  <a:srgbClr val="FFFFFF"/>
                </a:solidFill>
                <a:latin typeface="Yu Gothic" pitchFamily="34" charset="0"/>
                <a:ea typeface="Yu Gothic" pitchFamily="34" charset="-122"/>
                <a:cs typeface="Yu Gothic" pitchFamily="34" charset="-120"/>
              </a:rPr>
              <a:t>カフェの「気軽さ」とオフィスの「機能」を融合させた、唯一無二のポジション。</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7"/>
        </a:solidFill>
      </p:bgPr>
    </p:bg>
    <p:spTree>
      <p:nvGrpSpPr>
        <p:cNvPr id="1" name=""/>
        <p:cNvGrpSpPr/>
        <p:nvPr/>
      </p:nvGrpSpPr>
      <p:grpSpPr>
        <a:xfrm>
          <a:off x="0" y="0"/>
          <a:ext cx="0" cy="0"/>
          <a:chOff x="0" y="0"/>
          <a:chExt cx="0" cy="0"/>
        </a:xfrm>
      </p:grpSpPr>
      <p:sp>
        <p:nvSpPr>
          <p:cNvPr id="2" name="Shape 0"/>
          <p:cNvSpPr/>
          <p:nvPr/>
        </p:nvSpPr>
        <p:spPr>
          <a:xfrm>
            <a:off x="660197" y="545897"/>
            <a:ext cx="202997" cy="25603"/>
          </a:xfrm>
          <a:prstGeom prst="rect">
            <a:avLst/>
          </a:prstGeom>
          <a:solidFill>
            <a:srgbClr val="106838"/>
          </a:solidFill>
          <a:ln/>
        </p:spPr>
      </p:sp>
      <p:sp>
        <p:nvSpPr>
          <p:cNvPr id="3" name="Text 1"/>
          <p:cNvSpPr/>
          <p:nvPr/>
        </p:nvSpPr>
        <p:spPr>
          <a:xfrm>
            <a:off x="952805" y="444398"/>
            <a:ext cx="6400800" cy="177394"/>
          </a:xfrm>
          <a:prstGeom prst="rect">
            <a:avLst/>
          </a:prstGeom>
          <a:noFill/>
          <a:ln/>
        </p:spPr>
        <p:txBody>
          <a:bodyPr wrap="square" lIns="0" tIns="0" rIns="0" bIns="0" rtlCol="0" anchor="ctr"/>
          <a:lstStyle/>
          <a:p>
            <a:pPr indent="0" marL="0">
              <a:buNone/>
            </a:pPr>
            <a:r>
              <a:rPr lang="en-US" sz="1050" b="1" dirty="0">
                <a:solidFill>
                  <a:srgbClr val="A8761F"/>
                </a:solidFill>
                <a:latin typeface="Arial" pitchFamily="34" charset="0"/>
                <a:ea typeface="Arial" pitchFamily="34" charset="-122"/>
                <a:cs typeface="Arial" pitchFamily="34" charset="-120"/>
              </a:rPr>
              <a:t>15</a:t>
            </a:r>
            <a:r>
              <a:rPr lang="en-US" sz="1050" b="1" dirty="0">
                <a:solidFill>
                  <a:srgbClr val="1B8149"/>
                </a:solidFill>
                <a:latin typeface="Yu Gothic" pitchFamily="34" charset="0"/>
                <a:ea typeface="Yu Gothic" pitchFamily="34" charset="-122"/>
                <a:cs typeface="Yu Gothic" pitchFamily="34" charset="-120"/>
              </a:rPr>
              <a:t>   運営システム</a:t>
            </a:r>
            <a:endParaRPr lang="en-US" sz="1050" dirty="0"/>
          </a:p>
        </p:txBody>
      </p:sp>
      <p:sp>
        <p:nvSpPr>
          <p:cNvPr id="4" name="Text 2"/>
          <p:cNvSpPr/>
          <p:nvPr/>
        </p:nvSpPr>
        <p:spPr>
          <a:xfrm>
            <a:off x="660197" y="660197"/>
            <a:ext cx="8889797" cy="508406"/>
          </a:xfrm>
          <a:prstGeom prst="rect">
            <a:avLst/>
          </a:prstGeom>
          <a:noFill/>
          <a:ln/>
        </p:spPr>
        <p:txBody>
          <a:bodyPr wrap="square" lIns="0" tIns="0" rIns="0" bIns="0" rtlCol="0" anchor="ctr"/>
          <a:lstStyle/>
          <a:p>
            <a:pPr indent="0" marL="0">
              <a:buNone/>
            </a:pPr>
            <a:r>
              <a:rPr lang="en-US" sz="2900" b="1" dirty="0">
                <a:solidFill>
                  <a:srgbClr val="0A3D23"/>
                </a:solidFill>
                <a:latin typeface="Yu Gothic" pitchFamily="34" charset="0"/>
                <a:ea typeface="Yu Gothic" pitchFamily="34" charset="-122"/>
                <a:cs typeface="Yu Gothic" pitchFamily="34" charset="-120"/>
              </a:rPr>
              <a:t>独自の無人開閉店システム</a:t>
            </a:r>
            <a:endParaRPr lang="en-US" sz="2900" dirty="0"/>
          </a:p>
        </p:txBody>
      </p:sp>
      <p:sp>
        <p:nvSpPr>
          <p:cNvPr id="5" name="Text 3"/>
          <p:cNvSpPr/>
          <p:nvPr/>
        </p:nvSpPr>
        <p:spPr>
          <a:xfrm>
            <a:off x="660197" y="1308506"/>
            <a:ext cx="10032797" cy="228600"/>
          </a:xfrm>
          <a:prstGeom prst="rect">
            <a:avLst/>
          </a:prstGeom>
          <a:noFill/>
          <a:ln/>
        </p:spPr>
        <p:txBody>
          <a:bodyPr wrap="square" lIns="0" tIns="0" rIns="0" bIns="0" rtlCol="0" anchor="ctr"/>
          <a:lstStyle/>
          <a:p>
            <a:pPr indent="0" marL="0">
              <a:buNone/>
            </a:pPr>
            <a:r>
              <a:rPr lang="en-US" sz="1250" dirty="0">
                <a:solidFill>
                  <a:srgbClr val="4B5550"/>
                </a:solidFill>
                <a:latin typeface="Yu Gothic" pitchFamily="34" charset="0"/>
                <a:ea typeface="Yu Gothic" pitchFamily="34" charset="-122"/>
                <a:cs typeface="Yu Gothic" pitchFamily="34" charset="-120"/>
              </a:rPr>
              <a:t>警備会社と連携した安心の自動化。オーナー様が現地に足を運ぶ必要はありません。</a:t>
            </a:r>
            <a:endParaRPr lang="en-US" sz="1250" dirty="0"/>
          </a:p>
        </p:txBody>
      </p:sp>
      <p:pic>
        <p:nvPicPr>
          <p:cNvPr id="6" name="Image 0" descr="/home/user/suzuki-ceo/selfcafe-gyomu-deck/assets/logo-green.png">    </p:cNvPr>
          <p:cNvPicPr>
            <a:picLocks noChangeAspect="1"/>
          </p:cNvPicPr>
          <p:nvPr/>
        </p:nvPicPr>
        <p:blipFill>
          <a:blip r:embed="rId1"/>
          <a:stretch>
            <a:fillRect/>
          </a:stretch>
        </p:blipFill>
        <p:spPr>
          <a:xfrm>
            <a:off x="9855403" y="482803"/>
            <a:ext cx="1676095" cy="238658"/>
          </a:xfrm>
          <a:prstGeom prst="rect">
            <a:avLst/>
          </a:prstGeom>
        </p:spPr>
      </p:pic>
      <p:sp>
        <p:nvSpPr>
          <p:cNvPr id="7" name="Text 4"/>
          <p:cNvSpPr/>
          <p:nvPr/>
        </p:nvSpPr>
        <p:spPr>
          <a:xfrm>
            <a:off x="660197" y="6476695"/>
            <a:ext cx="5080406" cy="152705"/>
          </a:xfrm>
          <a:prstGeom prst="rect">
            <a:avLst/>
          </a:prstGeom>
          <a:noFill/>
          <a:ln/>
        </p:spPr>
        <p:txBody>
          <a:bodyPr wrap="square" lIns="0" tIns="0" rIns="0" bIns="0" rtlCol="0" anchor="ctr"/>
          <a:lstStyle/>
          <a:p>
            <a:pPr indent="0" marL="0">
              <a:buNone/>
            </a:pPr>
            <a:r>
              <a:rPr lang="en-US" sz="900" dirty="0">
                <a:solidFill>
                  <a:srgbClr val="A8B0AA"/>
                </a:solidFill>
                <a:latin typeface="Yu Gothic" pitchFamily="34" charset="0"/>
                <a:ea typeface="Yu Gothic" pitchFamily="34" charset="-122"/>
                <a:cs typeface="Yu Gothic" pitchFamily="34" charset="-120"/>
              </a:rPr>
              <a:t>セルフカフェ 業務委託型制度</a:t>
            </a:r>
            <a:endParaRPr lang="en-US" sz="900" dirty="0"/>
          </a:p>
        </p:txBody>
      </p:sp>
      <p:sp>
        <p:nvSpPr>
          <p:cNvPr id="8" name="Text 5"/>
          <p:cNvSpPr/>
          <p:nvPr/>
        </p:nvSpPr>
        <p:spPr>
          <a:xfrm>
            <a:off x="10261397" y="6463894"/>
            <a:ext cx="1270102" cy="152705"/>
          </a:xfrm>
          <a:prstGeom prst="rect">
            <a:avLst/>
          </a:prstGeom>
          <a:noFill/>
          <a:ln/>
        </p:spPr>
        <p:txBody>
          <a:bodyPr wrap="square" lIns="0" tIns="0" rIns="0" bIns="0" rtlCol="0" anchor="ctr"/>
          <a:lstStyle/>
          <a:p>
            <a:pPr algn="r" indent="0" marL="0">
              <a:buNone/>
            </a:pPr>
            <a:r>
              <a:rPr lang="en-US" sz="1000" b="1" dirty="0">
                <a:solidFill>
                  <a:srgbClr val="7E8882"/>
                </a:solidFill>
                <a:latin typeface="Arial" pitchFamily="34" charset="0"/>
                <a:ea typeface="Arial" pitchFamily="34" charset="-122"/>
                <a:cs typeface="Arial" pitchFamily="34" charset="-120"/>
              </a:rPr>
              <a:t>16</a:t>
            </a:r>
            <a:endParaRPr lang="en-US" sz="1000" dirty="0"/>
          </a:p>
        </p:txBody>
      </p:sp>
      <p:sp>
        <p:nvSpPr>
          <p:cNvPr id="9" name="Shape 6"/>
          <p:cNvSpPr/>
          <p:nvPr/>
        </p:nvSpPr>
        <p:spPr>
          <a:xfrm>
            <a:off x="660197" y="1651406"/>
            <a:ext cx="5120640" cy="4315968"/>
          </a:xfrm>
          <a:prstGeom prst="roundRect">
            <a:avLst>
              <a:gd name="adj" fmla="val 1271"/>
            </a:avLst>
          </a:prstGeom>
          <a:solidFill>
            <a:srgbClr val="0C5230"/>
          </a:solidFill>
          <a:ln/>
        </p:spPr>
      </p:sp>
      <p:pic>
        <p:nvPicPr>
          <p:cNvPr id="10" name="Image 1" descr="/home/user/suzuki-ceo/selfcafe-gyomu-deck/assets/icons/LuKeyRound-white.png">    </p:cNvPr>
          <p:cNvPicPr>
            <a:picLocks noChangeAspect="1"/>
          </p:cNvPicPr>
          <p:nvPr/>
        </p:nvPicPr>
        <p:blipFill>
          <a:blip r:embed="rId2"/>
          <a:stretch>
            <a:fillRect/>
          </a:stretch>
        </p:blipFill>
        <p:spPr>
          <a:xfrm>
            <a:off x="1062533" y="2017166"/>
            <a:ext cx="402336" cy="402336"/>
          </a:xfrm>
          <a:prstGeom prst="rect">
            <a:avLst/>
          </a:prstGeom>
        </p:spPr>
      </p:pic>
      <p:sp>
        <p:nvSpPr>
          <p:cNvPr id="11" name="Text 7"/>
          <p:cNvSpPr/>
          <p:nvPr/>
        </p:nvSpPr>
        <p:spPr>
          <a:xfrm>
            <a:off x="1062533" y="2565806"/>
            <a:ext cx="4315968" cy="1005840"/>
          </a:xfrm>
          <a:prstGeom prst="rect">
            <a:avLst/>
          </a:prstGeom>
          <a:noFill/>
          <a:ln/>
        </p:spPr>
        <p:txBody>
          <a:bodyPr wrap="square" lIns="0" tIns="0" rIns="0" bIns="0" rtlCol="0" anchor="t"/>
          <a:lstStyle/>
          <a:p>
            <a:pPr indent="0" marL="0">
              <a:lnSpc>
                <a:spcPct val="130000"/>
              </a:lnSpc>
              <a:buNone/>
            </a:pPr>
            <a:r>
              <a:rPr lang="en-US" sz="2100" b="1" dirty="0">
                <a:solidFill>
                  <a:srgbClr val="FFFFFF"/>
                </a:solidFill>
                <a:latin typeface="Yu Gothic" pitchFamily="34" charset="0"/>
                <a:ea typeface="Yu Gothic" pitchFamily="34" charset="-122"/>
                <a:cs typeface="Yu Gothic" pitchFamily="34" charset="-120"/>
              </a:rPr>
              <a:t>スマートロックで、</a:t>
            </a:r>
            <a:endParaRPr lang="en-US" sz="2100" dirty="0"/>
          </a:p>
          <a:p>
            <a:pPr indent="0" marL="0">
              <a:lnSpc>
                <a:spcPct val="130000"/>
              </a:lnSpc>
              <a:buNone/>
            </a:pPr>
            <a:r>
              <a:rPr lang="en-US" sz="2100" b="1" dirty="0">
                <a:solidFill>
                  <a:srgbClr val="FFFFFF"/>
                </a:solidFill>
                <a:latin typeface="Yu Gothic" pitchFamily="34" charset="0"/>
                <a:ea typeface="Yu Gothic" pitchFamily="34" charset="-122"/>
                <a:cs typeface="Yu Gothic" pitchFamily="34" charset="-120"/>
              </a:rPr>
              <a:t>開錠／施錠を完全自動化</a:t>
            </a:r>
            <a:endParaRPr lang="en-US" sz="2100" dirty="0"/>
          </a:p>
        </p:txBody>
      </p:sp>
      <p:sp>
        <p:nvSpPr>
          <p:cNvPr id="12" name="Text 8"/>
          <p:cNvSpPr/>
          <p:nvPr/>
        </p:nvSpPr>
        <p:spPr>
          <a:xfrm>
            <a:off x="1062533" y="3699662"/>
            <a:ext cx="4315968" cy="914400"/>
          </a:xfrm>
          <a:prstGeom prst="rect">
            <a:avLst/>
          </a:prstGeom>
          <a:noFill/>
          <a:ln/>
        </p:spPr>
        <p:txBody>
          <a:bodyPr wrap="square" lIns="0" tIns="0" rIns="0" bIns="0" rtlCol="0" anchor="t"/>
          <a:lstStyle/>
          <a:p>
            <a:pPr indent="0" marL="0">
              <a:lnSpc>
                <a:spcPct val="145000"/>
              </a:lnSpc>
              <a:buNone/>
            </a:pPr>
            <a:r>
              <a:rPr lang="en-US" sz="1100" dirty="0">
                <a:solidFill>
                  <a:srgbClr val="AFC2B8"/>
                </a:solidFill>
                <a:latin typeface="Yu Gothic" pitchFamily="34" charset="0"/>
                <a:ea typeface="Yu Gothic" pitchFamily="34" charset="-122"/>
                <a:cs typeface="Yu Gothic" pitchFamily="34" charset="-120"/>
              </a:rPr>
              <a:t>独自のスマートロックシステムにより、店舗の開錠／施錠を遠隔で完全自動化。現地に足を運ばずに営業時間を管理できます。</a:t>
            </a:r>
            <a:endParaRPr lang="en-US" sz="1100" dirty="0"/>
          </a:p>
        </p:txBody>
      </p:sp>
      <p:sp>
        <p:nvSpPr>
          <p:cNvPr id="13" name="Text 9"/>
          <p:cNvSpPr/>
          <p:nvPr/>
        </p:nvSpPr>
        <p:spPr>
          <a:xfrm>
            <a:off x="1062533" y="4705502"/>
            <a:ext cx="219456" cy="274320"/>
          </a:xfrm>
          <a:prstGeom prst="rect">
            <a:avLst/>
          </a:prstGeom>
          <a:noFill/>
          <a:ln/>
        </p:spPr>
        <p:txBody>
          <a:bodyPr wrap="square" lIns="0" tIns="0" rIns="0" bIns="0" rtlCol="0" anchor="ctr"/>
          <a:lstStyle/>
          <a:p>
            <a:pPr indent="0" marL="0">
              <a:buNone/>
            </a:pPr>
            <a:r>
              <a:rPr lang="en-US" sz="1100" b="1" dirty="0">
                <a:solidFill>
                  <a:srgbClr val="8CC5A5"/>
                </a:solidFill>
                <a:latin typeface="Arial" pitchFamily="34" charset="0"/>
                <a:ea typeface="Arial" pitchFamily="34" charset="-122"/>
                <a:cs typeface="Arial" pitchFamily="34" charset="-120"/>
              </a:rPr>
              <a:t>1</a:t>
            </a:r>
            <a:endParaRPr lang="en-US" sz="1100" dirty="0"/>
          </a:p>
        </p:txBody>
      </p:sp>
      <p:sp>
        <p:nvSpPr>
          <p:cNvPr id="14" name="Text 10"/>
          <p:cNvSpPr/>
          <p:nvPr/>
        </p:nvSpPr>
        <p:spPr>
          <a:xfrm>
            <a:off x="1355141" y="4705502"/>
            <a:ext cx="4023360" cy="274320"/>
          </a:xfrm>
          <a:prstGeom prst="rect">
            <a:avLst/>
          </a:prstGeom>
          <a:noFill/>
          <a:ln/>
        </p:spPr>
        <p:txBody>
          <a:bodyPr wrap="square" lIns="0" tIns="0" rIns="0" bIns="0" rtlCol="0" anchor="ctr"/>
          <a:lstStyle/>
          <a:p>
            <a:pPr indent="0" marL="0">
              <a:buNone/>
            </a:pPr>
            <a:r>
              <a:rPr lang="en-US" sz="1100" b="1" dirty="0">
                <a:solidFill>
                  <a:srgbClr val="FFFFFF"/>
                </a:solidFill>
                <a:latin typeface="Yu Gothic" pitchFamily="34" charset="0"/>
                <a:ea typeface="Yu Gothic" pitchFamily="34" charset="-122"/>
                <a:cs typeface="Yu Gothic" pitchFamily="34" charset="-120"/>
              </a:rPr>
              <a:t>任意の営業時間を分単位でコントロール</a:t>
            </a:r>
            <a:endParaRPr lang="en-US" sz="1100" dirty="0"/>
          </a:p>
        </p:txBody>
      </p:sp>
      <p:sp>
        <p:nvSpPr>
          <p:cNvPr id="15" name="Text 11"/>
          <p:cNvSpPr/>
          <p:nvPr/>
        </p:nvSpPr>
        <p:spPr>
          <a:xfrm>
            <a:off x="1062533" y="5107838"/>
            <a:ext cx="219456" cy="274320"/>
          </a:xfrm>
          <a:prstGeom prst="rect">
            <a:avLst/>
          </a:prstGeom>
          <a:noFill/>
          <a:ln/>
        </p:spPr>
        <p:txBody>
          <a:bodyPr wrap="square" lIns="0" tIns="0" rIns="0" bIns="0" rtlCol="0" anchor="ctr"/>
          <a:lstStyle/>
          <a:p>
            <a:pPr indent="0" marL="0">
              <a:buNone/>
            </a:pPr>
            <a:r>
              <a:rPr lang="en-US" sz="1100" b="1" dirty="0">
                <a:solidFill>
                  <a:srgbClr val="8CC5A5"/>
                </a:solidFill>
                <a:latin typeface="Arial" pitchFamily="34" charset="0"/>
                <a:ea typeface="Arial" pitchFamily="34" charset="-122"/>
                <a:cs typeface="Arial" pitchFamily="34" charset="-120"/>
              </a:rPr>
              <a:t>2</a:t>
            </a:r>
            <a:endParaRPr lang="en-US" sz="1100" dirty="0"/>
          </a:p>
        </p:txBody>
      </p:sp>
      <p:sp>
        <p:nvSpPr>
          <p:cNvPr id="16" name="Text 12"/>
          <p:cNvSpPr/>
          <p:nvPr/>
        </p:nvSpPr>
        <p:spPr>
          <a:xfrm>
            <a:off x="1355141" y="5107838"/>
            <a:ext cx="4023360" cy="274320"/>
          </a:xfrm>
          <a:prstGeom prst="rect">
            <a:avLst/>
          </a:prstGeom>
          <a:noFill/>
          <a:ln/>
        </p:spPr>
        <p:txBody>
          <a:bodyPr wrap="square" lIns="0" tIns="0" rIns="0" bIns="0" rtlCol="0" anchor="ctr"/>
          <a:lstStyle/>
          <a:p>
            <a:pPr indent="0" marL="0">
              <a:buNone/>
            </a:pPr>
            <a:r>
              <a:rPr lang="en-US" sz="1100" b="1" dirty="0">
                <a:solidFill>
                  <a:srgbClr val="FFFFFF"/>
                </a:solidFill>
                <a:latin typeface="Yu Gothic" pitchFamily="34" charset="0"/>
                <a:ea typeface="Yu Gothic" pitchFamily="34" charset="-122"/>
                <a:cs typeface="Yu Gothic" pitchFamily="34" charset="-120"/>
              </a:rPr>
              <a:t>不審者の侵入を防ぐセキュリティと連携</a:t>
            </a:r>
            <a:endParaRPr lang="en-US" sz="1100" dirty="0"/>
          </a:p>
        </p:txBody>
      </p:sp>
      <p:sp>
        <p:nvSpPr>
          <p:cNvPr id="17" name="Text 13"/>
          <p:cNvSpPr/>
          <p:nvPr/>
        </p:nvSpPr>
        <p:spPr>
          <a:xfrm>
            <a:off x="1062533" y="5510174"/>
            <a:ext cx="219456" cy="274320"/>
          </a:xfrm>
          <a:prstGeom prst="rect">
            <a:avLst/>
          </a:prstGeom>
          <a:noFill/>
          <a:ln/>
        </p:spPr>
        <p:txBody>
          <a:bodyPr wrap="square" lIns="0" tIns="0" rIns="0" bIns="0" rtlCol="0" anchor="ctr"/>
          <a:lstStyle/>
          <a:p>
            <a:pPr indent="0" marL="0">
              <a:buNone/>
            </a:pPr>
            <a:r>
              <a:rPr lang="en-US" sz="1100" b="1" dirty="0">
                <a:solidFill>
                  <a:srgbClr val="8CC5A5"/>
                </a:solidFill>
                <a:latin typeface="Arial" pitchFamily="34" charset="0"/>
                <a:ea typeface="Arial" pitchFamily="34" charset="-122"/>
                <a:cs typeface="Arial" pitchFamily="34" charset="-120"/>
              </a:rPr>
              <a:t>3</a:t>
            </a:r>
            <a:endParaRPr lang="en-US" sz="1100" dirty="0"/>
          </a:p>
        </p:txBody>
      </p:sp>
      <p:sp>
        <p:nvSpPr>
          <p:cNvPr id="18" name="Text 14"/>
          <p:cNvSpPr/>
          <p:nvPr/>
        </p:nvSpPr>
        <p:spPr>
          <a:xfrm>
            <a:off x="1355141" y="5510174"/>
            <a:ext cx="4023360" cy="274320"/>
          </a:xfrm>
          <a:prstGeom prst="rect">
            <a:avLst/>
          </a:prstGeom>
          <a:noFill/>
          <a:ln/>
        </p:spPr>
        <p:txBody>
          <a:bodyPr wrap="square" lIns="0" tIns="0" rIns="0" bIns="0" rtlCol="0" anchor="ctr"/>
          <a:lstStyle/>
          <a:p>
            <a:pPr indent="0" marL="0">
              <a:buNone/>
            </a:pPr>
            <a:r>
              <a:rPr lang="en-US" sz="1100" b="1" dirty="0">
                <a:solidFill>
                  <a:srgbClr val="FFFFFF"/>
                </a:solidFill>
                <a:latin typeface="Yu Gothic" pitchFamily="34" charset="0"/>
                <a:ea typeface="Yu Gothic" pitchFamily="34" charset="-122"/>
                <a:cs typeface="Yu Gothic" pitchFamily="34" charset="-120"/>
              </a:rPr>
              <a:t>無人ならではの24時間営業も容易</a:t>
            </a:r>
            <a:endParaRPr lang="en-US" sz="1100" dirty="0"/>
          </a:p>
        </p:txBody>
      </p:sp>
      <p:sp>
        <p:nvSpPr>
          <p:cNvPr id="19" name="Shape 15"/>
          <p:cNvSpPr/>
          <p:nvPr/>
        </p:nvSpPr>
        <p:spPr>
          <a:xfrm>
            <a:off x="6164885" y="1651406"/>
            <a:ext cx="2573579" cy="2048256"/>
          </a:xfrm>
          <a:prstGeom prst="roundRect">
            <a:avLst>
              <a:gd name="adj" fmla="val 2679"/>
            </a:avLst>
          </a:prstGeom>
          <a:solidFill>
            <a:srgbClr val="FFFFFF"/>
          </a:solidFill>
          <a:ln w="9525">
            <a:solidFill>
              <a:srgbClr val="EFEAE0"/>
            </a:solidFill>
            <a:prstDash val="solid"/>
          </a:ln>
        </p:spPr>
      </p:sp>
      <p:pic>
        <p:nvPicPr>
          <p:cNvPr id="20" name="Image 2" descr="/home/user/suzuki-ceo/selfcafe-gyomu-deck/assets/icons/LuBellRing-green.png">    </p:cNvPr>
          <p:cNvPicPr>
            <a:picLocks noChangeAspect="1"/>
          </p:cNvPicPr>
          <p:nvPr/>
        </p:nvPicPr>
        <p:blipFill>
          <a:blip r:embed="rId3"/>
          <a:stretch>
            <a:fillRect/>
          </a:stretch>
        </p:blipFill>
        <p:spPr>
          <a:xfrm>
            <a:off x="6402629" y="1889150"/>
            <a:ext cx="347472" cy="347472"/>
          </a:xfrm>
          <a:prstGeom prst="rect">
            <a:avLst/>
          </a:prstGeom>
        </p:spPr>
      </p:pic>
      <p:sp>
        <p:nvSpPr>
          <p:cNvPr id="21" name="Text 16"/>
          <p:cNvSpPr/>
          <p:nvPr/>
        </p:nvSpPr>
        <p:spPr>
          <a:xfrm>
            <a:off x="6402629" y="2346350"/>
            <a:ext cx="2098091" cy="274320"/>
          </a:xfrm>
          <a:prstGeom prst="rect">
            <a:avLst/>
          </a:prstGeom>
          <a:noFill/>
          <a:ln/>
        </p:spPr>
        <p:txBody>
          <a:bodyPr wrap="square" lIns="0" tIns="0" rIns="0" bIns="0" rtlCol="0" anchor="ctr"/>
          <a:lstStyle/>
          <a:p>
            <a:pPr indent="0" marL="0">
              <a:buNone/>
            </a:pPr>
            <a:r>
              <a:rPr lang="en-US" sz="1300" b="1" dirty="0">
                <a:solidFill>
                  <a:srgbClr val="0A3D23"/>
                </a:solidFill>
                <a:latin typeface="Yu Gothic" pitchFamily="34" charset="0"/>
                <a:ea typeface="Yu Gothic" pitchFamily="34" charset="-122"/>
                <a:cs typeface="Yu Gothic" pitchFamily="34" charset="-120"/>
              </a:rPr>
              <a:t>非常ボタン</a:t>
            </a:r>
            <a:endParaRPr lang="en-US" sz="1300" dirty="0"/>
          </a:p>
        </p:txBody>
      </p:sp>
      <p:sp>
        <p:nvSpPr>
          <p:cNvPr id="22" name="Text 17"/>
          <p:cNvSpPr/>
          <p:nvPr/>
        </p:nvSpPr>
        <p:spPr>
          <a:xfrm>
            <a:off x="6402629" y="2657246"/>
            <a:ext cx="2098091" cy="914400"/>
          </a:xfrm>
          <a:prstGeom prst="rect">
            <a:avLst/>
          </a:prstGeom>
          <a:noFill/>
          <a:ln/>
        </p:spPr>
        <p:txBody>
          <a:bodyPr wrap="square" lIns="0" tIns="0" rIns="0" bIns="0" rtlCol="0" anchor="t"/>
          <a:lstStyle/>
          <a:p>
            <a:pPr indent="0" marL="0">
              <a:lnSpc>
                <a:spcPct val="135000"/>
              </a:lnSpc>
              <a:buNone/>
            </a:pPr>
            <a:r>
              <a:rPr lang="en-US" sz="1000" dirty="0">
                <a:solidFill>
                  <a:srgbClr val="4B5550"/>
                </a:solidFill>
                <a:latin typeface="Yu Gothic" pitchFamily="34" charset="0"/>
                <a:ea typeface="Yu Gothic" pitchFamily="34" charset="-122"/>
                <a:cs typeface="Yu Gothic" pitchFamily="34" charset="-120"/>
              </a:rPr>
              <a:t>非常・緊急時に押すと、警備員が駆け付けます。</a:t>
            </a:r>
            <a:endParaRPr lang="en-US" sz="1000" dirty="0"/>
          </a:p>
        </p:txBody>
      </p:sp>
      <p:sp>
        <p:nvSpPr>
          <p:cNvPr id="23" name="Shape 18"/>
          <p:cNvSpPr/>
          <p:nvPr/>
        </p:nvSpPr>
        <p:spPr>
          <a:xfrm>
            <a:off x="8957920" y="1651406"/>
            <a:ext cx="2573579" cy="2048256"/>
          </a:xfrm>
          <a:prstGeom prst="roundRect">
            <a:avLst>
              <a:gd name="adj" fmla="val 2679"/>
            </a:avLst>
          </a:prstGeom>
          <a:solidFill>
            <a:srgbClr val="FFFFFF"/>
          </a:solidFill>
          <a:ln w="9525">
            <a:solidFill>
              <a:srgbClr val="EFEAE0"/>
            </a:solidFill>
            <a:prstDash val="solid"/>
          </a:ln>
        </p:spPr>
      </p:sp>
      <p:pic>
        <p:nvPicPr>
          <p:cNvPr id="24" name="Image 3" descr="/home/user/suzuki-ceo/selfcafe-gyomu-deck/assets/icons/LuCctv-green.png">    </p:cNvPr>
          <p:cNvPicPr>
            <a:picLocks noChangeAspect="1"/>
          </p:cNvPicPr>
          <p:nvPr/>
        </p:nvPicPr>
        <p:blipFill>
          <a:blip r:embed="rId4"/>
          <a:stretch>
            <a:fillRect/>
          </a:stretch>
        </p:blipFill>
        <p:spPr>
          <a:xfrm>
            <a:off x="9195664" y="1889150"/>
            <a:ext cx="347472" cy="347472"/>
          </a:xfrm>
          <a:prstGeom prst="rect">
            <a:avLst/>
          </a:prstGeom>
        </p:spPr>
      </p:pic>
      <p:sp>
        <p:nvSpPr>
          <p:cNvPr id="25" name="Text 19"/>
          <p:cNvSpPr/>
          <p:nvPr/>
        </p:nvSpPr>
        <p:spPr>
          <a:xfrm>
            <a:off x="9195664" y="2346350"/>
            <a:ext cx="2098091" cy="274320"/>
          </a:xfrm>
          <a:prstGeom prst="rect">
            <a:avLst/>
          </a:prstGeom>
          <a:noFill/>
          <a:ln/>
        </p:spPr>
        <p:txBody>
          <a:bodyPr wrap="square" lIns="0" tIns="0" rIns="0" bIns="0" rtlCol="0" anchor="ctr"/>
          <a:lstStyle/>
          <a:p>
            <a:pPr indent="0" marL="0">
              <a:buNone/>
            </a:pPr>
            <a:r>
              <a:rPr lang="en-US" sz="1300" b="1" dirty="0">
                <a:solidFill>
                  <a:srgbClr val="0A3D23"/>
                </a:solidFill>
                <a:latin typeface="Yu Gothic" pitchFamily="34" charset="0"/>
                <a:ea typeface="Yu Gothic" pitchFamily="34" charset="-122"/>
                <a:cs typeface="Yu Gothic" pitchFamily="34" charset="-120"/>
              </a:rPr>
              <a:t>画像センサー</a:t>
            </a:r>
            <a:endParaRPr lang="en-US" sz="1300" dirty="0"/>
          </a:p>
        </p:txBody>
      </p:sp>
      <p:sp>
        <p:nvSpPr>
          <p:cNvPr id="26" name="Text 20"/>
          <p:cNvSpPr/>
          <p:nvPr/>
        </p:nvSpPr>
        <p:spPr>
          <a:xfrm>
            <a:off x="9195664" y="2657246"/>
            <a:ext cx="2098091" cy="914400"/>
          </a:xfrm>
          <a:prstGeom prst="rect">
            <a:avLst/>
          </a:prstGeom>
          <a:noFill/>
          <a:ln/>
        </p:spPr>
        <p:txBody>
          <a:bodyPr wrap="square" lIns="0" tIns="0" rIns="0" bIns="0" rtlCol="0" anchor="t"/>
          <a:lstStyle/>
          <a:p>
            <a:pPr indent="0" marL="0">
              <a:lnSpc>
                <a:spcPct val="135000"/>
              </a:lnSpc>
              <a:buNone/>
            </a:pPr>
            <a:r>
              <a:rPr lang="en-US" sz="1000" dirty="0">
                <a:solidFill>
                  <a:srgbClr val="4B5550"/>
                </a:solidFill>
                <a:latin typeface="Yu Gothic" pitchFamily="34" charset="0"/>
                <a:ea typeface="Yu Gothic" pitchFamily="34" charset="-122"/>
                <a:cs typeface="Yu Gothic" pitchFamily="34" charset="-120"/>
              </a:rPr>
              <a:t>非常時の映像を監視センターへ送信。スピーカーで威嚇可能。閉店後は侵入者を感知して通報します。</a:t>
            </a:r>
            <a:endParaRPr lang="en-US" sz="1000" dirty="0"/>
          </a:p>
        </p:txBody>
      </p:sp>
      <p:sp>
        <p:nvSpPr>
          <p:cNvPr id="27" name="Shape 21"/>
          <p:cNvSpPr/>
          <p:nvPr/>
        </p:nvSpPr>
        <p:spPr>
          <a:xfrm>
            <a:off x="6164885" y="3919118"/>
            <a:ext cx="2573579" cy="2048256"/>
          </a:xfrm>
          <a:prstGeom prst="roundRect">
            <a:avLst>
              <a:gd name="adj" fmla="val 2679"/>
            </a:avLst>
          </a:prstGeom>
          <a:solidFill>
            <a:srgbClr val="FFFFFF"/>
          </a:solidFill>
          <a:ln w="9525">
            <a:solidFill>
              <a:srgbClr val="EFEAE0"/>
            </a:solidFill>
            <a:prstDash val="solid"/>
          </a:ln>
        </p:spPr>
      </p:sp>
      <p:pic>
        <p:nvPicPr>
          <p:cNvPr id="28" name="Image 4" descr="/home/user/suzuki-ceo/selfcafe-gyomu-deck/assets/icons/LuFlame-green.png">    </p:cNvPr>
          <p:cNvPicPr>
            <a:picLocks noChangeAspect="1"/>
          </p:cNvPicPr>
          <p:nvPr/>
        </p:nvPicPr>
        <p:blipFill>
          <a:blip r:embed="rId5"/>
          <a:stretch>
            <a:fillRect/>
          </a:stretch>
        </p:blipFill>
        <p:spPr>
          <a:xfrm>
            <a:off x="6402629" y="4156862"/>
            <a:ext cx="347472" cy="347472"/>
          </a:xfrm>
          <a:prstGeom prst="rect">
            <a:avLst/>
          </a:prstGeom>
        </p:spPr>
      </p:pic>
      <p:sp>
        <p:nvSpPr>
          <p:cNvPr id="29" name="Text 22"/>
          <p:cNvSpPr/>
          <p:nvPr/>
        </p:nvSpPr>
        <p:spPr>
          <a:xfrm>
            <a:off x="6402629" y="4614062"/>
            <a:ext cx="2098091" cy="274320"/>
          </a:xfrm>
          <a:prstGeom prst="rect">
            <a:avLst/>
          </a:prstGeom>
          <a:noFill/>
          <a:ln/>
        </p:spPr>
        <p:txBody>
          <a:bodyPr wrap="square" lIns="0" tIns="0" rIns="0" bIns="0" rtlCol="0" anchor="ctr"/>
          <a:lstStyle/>
          <a:p>
            <a:pPr indent="0" marL="0">
              <a:buNone/>
            </a:pPr>
            <a:r>
              <a:rPr lang="en-US" sz="1300" b="1" dirty="0">
                <a:solidFill>
                  <a:srgbClr val="0A3D23"/>
                </a:solidFill>
                <a:latin typeface="Yu Gothic" pitchFamily="34" charset="0"/>
                <a:ea typeface="Yu Gothic" pitchFamily="34" charset="-122"/>
                <a:cs typeface="Yu Gothic" pitchFamily="34" charset="-120"/>
              </a:rPr>
              <a:t>火災センサー</a:t>
            </a:r>
            <a:endParaRPr lang="en-US" sz="1300" dirty="0"/>
          </a:p>
        </p:txBody>
      </p:sp>
      <p:sp>
        <p:nvSpPr>
          <p:cNvPr id="30" name="Text 23"/>
          <p:cNvSpPr/>
          <p:nvPr/>
        </p:nvSpPr>
        <p:spPr>
          <a:xfrm>
            <a:off x="6402629" y="4924958"/>
            <a:ext cx="2098091" cy="914400"/>
          </a:xfrm>
          <a:prstGeom prst="rect">
            <a:avLst/>
          </a:prstGeom>
          <a:noFill/>
          <a:ln/>
        </p:spPr>
        <p:txBody>
          <a:bodyPr wrap="square" lIns="0" tIns="0" rIns="0" bIns="0" rtlCol="0" anchor="t"/>
          <a:lstStyle/>
          <a:p>
            <a:pPr indent="0" marL="0">
              <a:lnSpc>
                <a:spcPct val="135000"/>
              </a:lnSpc>
              <a:buNone/>
            </a:pPr>
            <a:r>
              <a:rPr lang="en-US" sz="1000" dirty="0">
                <a:solidFill>
                  <a:srgbClr val="4B5550"/>
                </a:solidFill>
                <a:latin typeface="Yu Gothic" pitchFamily="34" charset="0"/>
                <a:ea typeface="Yu Gothic" pitchFamily="34" charset="-122"/>
                <a:cs typeface="Yu Gothic" pitchFamily="34" charset="-120"/>
              </a:rPr>
              <a:t>火災の発生を感知して、警備員が駆け付けます。</a:t>
            </a:r>
            <a:endParaRPr lang="en-US" sz="1000" dirty="0"/>
          </a:p>
        </p:txBody>
      </p:sp>
      <p:sp>
        <p:nvSpPr>
          <p:cNvPr id="31" name="Shape 24"/>
          <p:cNvSpPr/>
          <p:nvPr/>
        </p:nvSpPr>
        <p:spPr>
          <a:xfrm>
            <a:off x="8957920" y="3919118"/>
            <a:ext cx="2573579" cy="2048256"/>
          </a:xfrm>
          <a:prstGeom prst="roundRect">
            <a:avLst>
              <a:gd name="adj" fmla="val 2679"/>
            </a:avLst>
          </a:prstGeom>
          <a:solidFill>
            <a:srgbClr val="FFFFFF"/>
          </a:solidFill>
          <a:ln w="9525">
            <a:solidFill>
              <a:srgbClr val="EFEAE0"/>
            </a:solidFill>
            <a:prstDash val="solid"/>
          </a:ln>
        </p:spPr>
      </p:sp>
      <p:pic>
        <p:nvPicPr>
          <p:cNvPr id="32" name="Image 5" descr="/home/user/suzuki-ceo/selfcafe-gyomu-deck/assets/icons/LuKeyRound-green.png">    </p:cNvPr>
          <p:cNvPicPr>
            <a:picLocks noChangeAspect="1"/>
          </p:cNvPicPr>
          <p:nvPr/>
        </p:nvPicPr>
        <p:blipFill>
          <a:blip r:embed="rId6"/>
          <a:stretch>
            <a:fillRect/>
          </a:stretch>
        </p:blipFill>
        <p:spPr>
          <a:xfrm>
            <a:off x="9195664" y="4156862"/>
            <a:ext cx="347472" cy="347472"/>
          </a:xfrm>
          <a:prstGeom prst="rect">
            <a:avLst/>
          </a:prstGeom>
        </p:spPr>
      </p:pic>
      <p:sp>
        <p:nvSpPr>
          <p:cNvPr id="33" name="Text 25"/>
          <p:cNvSpPr/>
          <p:nvPr/>
        </p:nvSpPr>
        <p:spPr>
          <a:xfrm>
            <a:off x="9195664" y="4614062"/>
            <a:ext cx="2098091" cy="274320"/>
          </a:xfrm>
          <a:prstGeom prst="rect">
            <a:avLst/>
          </a:prstGeom>
          <a:noFill/>
          <a:ln/>
        </p:spPr>
        <p:txBody>
          <a:bodyPr wrap="square" lIns="0" tIns="0" rIns="0" bIns="0" rtlCol="0" anchor="ctr"/>
          <a:lstStyle/>
          <a:p>
            <a:pPr indent="0" marL="0">
              <a:buNone/>
            </a:pPr>
            <a:r>
              <a:rPr lang="en-US" sz="1300" b="1" dirty="0">
                <a:solidFill>
                  <a:srgbClr val="0A3D23"/>
                </a:solidFill>
                <a:latin typeface="Yu Gothic" pitchFamily="34" charset="0"/>
                <a:ea typeface="Yu Gothic" pitchFamily="34" charset="-122"/>
                <a:cs typeface="Yu Gothic" pitchFamily="34" charset="-120"/>
              </a:rPr>
              <a:t>出入口の管理</a:t>
            </a:r>
            <a:endParaRPr lang="en-US" sz="1300" dirty="0"/>
          </a:p>
        </p:txBody>
      </p:sp>
      <p:sp>
        <p:nvSpPr>
          <p:cNvPr id="34" name="Text 26"/>
          <p:cNvSpPr/>
          <p:nvPr/>
        </p:nvSpPr>
        <p:spPr>
          <a:xfrm>
            <a:off x="9195664" y="4924958"/>
            <a:ext cx="2098091" cy="914400"/>
          </a:xfrm>
          <a:prstGeom prst="rect">
            <a:avLst/>
          </a:prstGeom>
          <a:noFill/>
          <a:ln/>
        </p:spPr>
        <p:txBody>
          <a:bodyPr wrap="square" lIns="0" tIns="0" rIns="0" bIns="0" rtlCol="0" anchor="t"/>
          <a:lstStyle/>
          <a:p>
            <a:pPr indent="0" marL="0">
              <a:lnSpc>
                <a:spcPct val="135000"/>
              </a:lnSpc>
              <a:buNone/>
            </a:pPr>
            <a:r>
              <a:rPr lang="en-US" sz="1000" dirty="0">
                <a:solidFill>
                  <a:srgbClr val="4B5550"/>
                </a:solidFill>
                <a:latin typeface="Yu Gothic" pitchFamily="34" charset="0"/>
                <a:ea typeface="Yu Gothic" pitchFamily="34" charset="-122"/>
                <a:cs typeface="Yu Gothic" pitchFamily="34" charset="-120"/>
              </a:rPr>
              <a:t>電気錠・電磁錠や自動ドアと連携し、閉店／開店時間に自動施錠・開錠。閉店時は自動で侵入警戒をセットします。</a:t>
            </a:r>
            <a:endParaRPr lang="en-US" sz="1000" dirty="0"/>
          </a:p>
        </p:txBody>
      </p:sp>
      <p:sp>
        <p:nvSpPr>
          <p:cNvPr id="35" name="Text 27"/>
          <p:cNvSpPr/>
          <p:nvPr/>
        </p:nvSpPr>
        <p:spPr>
          <a:xfrm>
            <a:off x="660197" y="6053328"/>
            <a:ext cx="10871302" cy="182880"/>
          </a:xfrm>
          <a:prstGeom prst="rect">
            <a:avLst/>
          </a:prstGeom>
          <a:noFill/>
          <a:ln/>
        </p:spPr>
        <p:txBody>
          <a:bodyPr wrap="square" lIns="0" tIns="0" rIns="0" bIns="0" rtlCol="0" anchor="ctr"/>
          <a:lstStyle/>
          <a:p>
            <a:pPr indent="0" marL="0">
              <a:buNone/>
            </a:pPr>
            <a:r>
              <a:rPr lang="en-US" sz="850" dirty="0">
                <a:solidFill>
                  <a:srgbClr val="A8B0AA"/>
                </a:solidFill>
                <a:latin typeface="Yu Gothic" pitchFamily="34" charset="0"/>
                <a:ea typeface="Yu Gothic" pitchFamily="34" charset="-122"/>
                <a:cs typeface="Yu Gothic" pitchFamily="34" charset="-120"/>
              </a:rPr>
              <a:t>※ 警備会社は環境により異なる場合がございます。</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7"/>
        </a:solidFill>
      </p:bgPr>
    </p:bg>
    <p:spTree>
      <p:nvGrpSpPr>
        <p:cNvPr id="1" name=""/>
        <p:cNvGrpSpPr/>
        <p:nvPr/>
      </p:nvGrpSpPr>
      <p:grpSpPr>
        <a:xfrm>
          <a:off x="0" y="0"/>
          <a:ext cx="0" cy="0"/>
          <a:chOff x="0" y="0"/>
          <a:chExt cx="0" cy="0"/>
        </a:xfrm>
      </p:grpSpPr>
      <p:sp>
        <p:nvSpPr>
          <p:cNvPr id="2" name="Shape 0"/>
          <p:cNvSpPr/>
          <p:nvPr/>
        </p:nvSpPr>
        <p:spPr>
          <a:xfrm>
            <a:off x="660197" y="545897"/>
            <a:ext cx="202997" cy="25603"/>
          </a:xfrm>
          <a:prstGeom prst="rect">
            <a:avLst/>
          </a:prstGeom>
          <a:solidFill>
            <a:srgbClr val="106838"/>
          </a:solidFill>
          <a:ln/>
        </p:spPr>
      </p:sp>
      <p:sp>
        <p:nvSpPr>
          <p:cNvPr id="3" name="Text 1"/>
          <p:cNvSpPr/>
          <p:nvPr/>
        </p:nvSpPr>
        <p:spPr>
          <a:xfrm>
            <a:off x="952805" y="444398"/>
            <a:ext cx="6400800" cy="177394"/>
          </a:xfrm>
          <a:prstGeom prst="rect">
            <a:avLst/>
          </a:prstGeom>
          <a:noFill/>
          <a:ln/>
        </p:spPr>
        <p:txBody>
          <a:bodyPr wrap="square" lIns="0" tIns="0" rIns="0" bIns="0" rtlCol="0" anchor="ctr"/>
          <a:lstStyle/>
          <a:p>
            <a:pPr indent="0" marL="0">
              <a:buNone/>
            </a:pPr>
            <a:r>
              <a:rPr lang="en-US" sz="1050" b="1" dirty="0">
                <a:solidFill>
                  <a:srgbClr val="A8761F"/>
                </a:solidFill>
                <a:latin typeface="Arial" pitchFamily="34" charset="0"/>
                <a:ea typeface="Arial" pitchFamily="34" charset="-122"/>
                <a:cs typeface="Arial" pitchFamily="34" charset="-120"/>
              </a:rPr>
              <a:t>16</a:t>
            </a:r>
            <a:r>
              <a:rPr lang="en-US" sz="1050" b="1" dirty="0">
                <a:solidFill>
                  <a:srgbClr val="1B8149"/>
                </a:solidFill>
                <a:latin typeface="Yu Gothic" pitchFamily="34" charset="0"/>
                <a:ea typeface="Yu Gothic" pitchFamily="34" charset="-122"/>
                <a:cs typeface="Yu Gothic" pitchFamily="34" charset="-120"/>
              </a:rPr>
              <a:t>   運営システム</a:t>
            </a:r>
            <a:endParaRPr lang="en-US" sz="1050" dirty="0"/>
          </a:p>
        </p:txBody>
      </p:sp>
      <p:sp>
        <p:nvSpPr>
          <p:cNvPr id="4" name="Text 2"/>
          <p:cNvSpPr/>
          <p:nvPr/>
        </p:nvSpPr>
        <p:spPr>
          <a:xfrm>
            <a:off x="660197" y="660197"/>
            <a:ext cx="8889797" cy="508406"/>
          </a:xfrm>
          <a:prstGeom prst="rect">
            <a:avLst/>
          </a:prstGeom>
          <a:noFill/>
          <a:ln/>
        </p:spPr>
        <p:txBody>
          <a:bodyPr wrap="square" lIns="0" tIns="0" rIns="0" bIns="0" rtlCol="0" anchor="ctr"/>
          <a:lstStyle/>
          <a:p>
            <a:pPr indent="0" marL="0">
              <a:buNone/>
            </a:pPr>
            <a:r>
              <a:rPr lang="en-US" sz="2900" b="1" dirty="0">
                <a:solidFill>
                  <a:srgbClr val="0A3D23"/>
                </a:solidFill>
                <a:latin typeface="Yu Gothic" pitchFamily="34" charset="0"/>
                <a:ea typeface="Yu Gothic" pitchFamily="34" charset="-122"/>
                <a:cs typeface="Yu Gothic" pitchFamily="34" charset="-120"/>
              </a:rPr>
              <a:t>店内モニタリング＆サポート基盤</a:t>
            </a:r>
            <a:endParaRPr lang="en-US" sz="2900" dirty="0"/>
          </a:p>
        </p:txBody>
      </p:sp>
      <p:sp>
        <p:nvSpPr>
          <p:cNvPr id="5" name="Text 3"/>
          <p:cNvSpPr/>
          <p:nvPr/>
        </p:nvSpPr>
        <p:spPr>
          <a:xfrm>
            <a:off x="660197" y="1308506"/>
            <a:ext cx="10032797" cy="228600"/>
          </a:xfrm>
          <a:prstGeom prst="rect">
            <a:avLst/>
          </a:prstGeom>
          <a:noFill/>
          <a:ln/>
        </p:spPr>
        <p:txBody>
          <a:bodyPr wrap="square" lIns="0" tIns="0" rIns="0" bIns="0" rtlCol="0" anchor="ctr"/>
          <a:lstStyle/>
          <a:p>
            <a:pPr indent="0" marL="0">
              <a:buNone/>
            </a:pPr>
            <a:r>
              <a:rPr lang="en-US" sz="1250" dirty="0">
                <a:solidFill>
                  <a:srgbClr val="4B5550"/>
                </a:solidFill>
                <a:latin typeface="Yu Gothic" pitchFamily="34" charset="0"/>
                <a:ea typeface="Yu Gothic" pitchFamily="34" charset="-122"/>
                <a:cs typeface="Yu Gothic" pitchFamily="34" charset="-120"/>
              </a:rPr>
              <a:t>緊急時に強い、安心のサポート体制で無人運営を支えます。</a:t>
            </a:r>
            <a:endParaRPr lang="en-US" sz="1250" dirty="0"/>
          </a:p>
        </p:txBody>
      </p:sp>
      <p:pic>
        <p:nvPicPr>
          <p:cNvPr id="6" name="Image 0" descr="/home/user/suzuki-ceo/selfcafe-gyomu-deck/assets/logo-green.png">    </p:cNvPr>
          <p:cNvPicPr>
            <a:picLocks noChangeAspect="1"/>
          </p:cNvPicPr>
          <p:nvPr/>
        </p:nvPicPr>
        <p:blipFill>
          <a:blip r:embed="rId1"/>
          <a:stretch>
            <a:fillRect/>
          </a:stretch>
        </p:blipFill>
        <p:spPr>
          <a:xfrm>
            <a:off x="9855403" y="482803"/>
            <a:ext cx="1676095" cy="238658"/>
          </a:xfrm>
          <a:prstGeom prst="rect">
            <a:avLst/>
          </a:prstGeom>
        </p:spPr>
      </p:pic>
      <p:sp>
        <p:nvSpPr>
          <p:cNvPr id="7" name="Text 4"/>
          <p:cNvSpPr/>
          <p:nvPr/>
        </p:nvSpPr>
        <p:spPr>
          <a:xfrm>
            <a:off x="660197" y="6476695"/>
            <a:ext cx="5080406" cy="152705"/>
          </a:xfrm>
          <a:prstGeom prst="rect">
            <a:avLst/>
          </a:prstGeom>
          <a:noFill/>
          <a:ln/>
        </p:spPr>
        <p:txBody>
          <a:bodyPr wrap="square" lIns="0" tIns="0" rIns="0" bIns="0" rtlCol="0" anchor="ctr"/>
          <a:lstStyle/>
          <a:p>
            <a:pPr indent="0" marL="0">
              <a:buNone/>
            </a:pPr>
            <a:r>
              <a:rPr lang="en-US" sz="900" dirty="0">
                <a:solidFill>
                  <a:srgbClr val="A8B0AA"/>
                </a:solidFill>
                <a:latin typeface="Yu Gothic" pitchFamily="34" charset="0"/>
                <a:ea typeface="Yu Gothic" pitchFamily="34" charset="-122"/>
                <a:cs typeface="Yu Gothic" pitchFamily="34" charset="-120"/>
              </a:rPr>
              <a:t>セルフカフェ 業務委託型制度</a:t>
            </a:r>
            <a:endParaRPr lang="en-US" sz="900" dirty="0"/>
          </a:p>
        </p:txBody>
      </p:sp>
      <p:sp>
        <p:nvSpPr>
          <p:cNvPr id="8" name="Text 5"/>
          <p:cNvSpPr/>
          <p:nvPr/>
        </p:nvSpPr>
        <p:spPr>
          <a:xfrm>
            <a:off x="10261397" y="6463894"/>
            <a:ext cx="1270102" cy="152705"/>
          </a:xfrm>
          <a:prstGeom prst="rect">
            <a:avLst/>
          </a:prstGeom>
          <a:noFill/>
          <a:ln/>
        </p:spPr>
        <p:txBody>
          <a:bodyPr wrap="square" lIns="0" tIns="0" rIns="0" bIns="0" rtlCol="0" anchor="ctr"/>
          <a:lstStyle/>
          <a:p>
            <a:pPr algn="r" indent="0" marL="0">
              <a:buNone/>
            </a:pPr>
            <a:r>
              <a:rPr lang="en-US" sz="1000" b="1" dirty="0">
                <a:solidFill>
                  <a:srgbClr val="7E8882"/>
                </a:solidFill>
                <a:latin typeface="Arial" pitchFamily="34" charset="0"/>
                <a:ea typeface="Arial" pitchFamily="34" charset="-122"/>
                <a:cs typeface="Arial" pitchFamily="34" charset="-120"/>
              </a:rPr>
              <a:t>17</a:t>
            </a:r>
            <a:endParaRPr lang="en-US" sz="1000" dirty="0"/>
          </a:p>
        </p:txBody>
      </p:sp>
      <p:sp>
        <p:nvSpPr>
          <p:cNvPr id="9" name="Shape 6"/>
          <p:cNvSpPr/>
          <p:nvPr/>
        </p:nvSpPr>
        <p:spPr>
          <a:xfrm>
            <a:off x="660197" y="1651406"/>
            <a:ext cx="5120640" cy="2798064"/>
          </a:xfrm>
          <a:prstGeom prst="roundRect">
            <a:avLst>
              <a:gd name="adj" fmla="val 1961"/>
            </a:avLst>
          </a:prstGeom>
          <a:solidFill>
            <a:srgbClr val="0C5230"/>
          </a:solidFill>
          <a:ln/>
        </p:spPr>
      </p:sp>
      <p:sp>
        <p:nvSpPr>
          <p:cNvPr id="10" name="Text 7"/>
          <p:cNvSpPr/>
          <p:nvPr/>
        </p:nvSpPr>
        <p:spPr>
          <a:xfrm>
            <a:off x="1062533" y="1944014"/>
            <a:ext cx="1828800" cy="164592"/>
          </a:xfrm>
          <a:prstGeom prst="rect">
            <a:avLst/>
          </a:prstGeom>
          <a:noFill/>
          <a:ln/>
        </p:spPr>
        <p:txBody>
          <a:bodyPr wrap="square" lIns="0" tIns="0" rIns="0" bIns="0" rtlCol="0" anchor="ctr"/>
          <a:lstStyle/>
          <a:p>
            <a:pPr indent="0" marL="0">
              <a:buNone/>
            </a:pPr>
            <a:r>
              <a:rPr lang="en-US" sz="900" b="1" spc="150" kern="0" dirty="0">
                <a:solidFill>
                  <a:srgbClr val="8CC5A5"/>
                </a:solidFill>
                <a:latin typeface="Arial" pitchFamily="34" charset="0"/>
                <a:ea typeface="Arial" pitchFamily="34" charset="-122"/>
                <a:cs typeface="Arial" pitchFamily="34" charset="-120"/>
              </a:rPr>
              <a:t>SUPPORT</a:t>
            </a:r>
            <a:endParaRPr lang="en-US" sz="900" dirty="0"/>
          </a:p>
        </p:txBody>
      </p:sp>
      <p:sp>
        <p:nvSpPr>
          <p:cNvPr id="11" name="Text 8"/>
          <p:cNvSpPr/>
          <p:nvPr/>
        </p:nvSpPr>
        <p:spPr>
          <a:xfrm>
            <a:off x="1062533" y="2273198"/>
            <a:ext cx="4315968" cy="914400"/>
          </a:xfrm>
          <a:prstGeom prst="rect">
            <a:avLst/>
          </a:prstGeom>
          <a:noFill/>
          <a:ln/>
        </p:spPr>
        <p:txBody>
          <a:bodyPr wrap="square" lIns="0" tIns="0" rIns="0" bIns="0" rtlCol="0" anchor="t"/>
          <a:lstStyle/>
          <a:p>
            <a:pPr indent="0" marL="0">
              <a:lnSpc>
                <a:spcPct val="130000"/>
              </a:lnSpc>
              <a:buNone/>
            </a:pPr>
            <a:r>
              <a:rPr lang="en-US" sz="1900" b="1" dirty="0">
                <a:solidFill>
                  <a:srgbClr val="FFFFFF"/>
                </a:solidFill>
                <a:latin typeface="Yu Gothic" pitchFamily="34" charset="0"/>
                <a:ea typeface="Yu Gothic" pitchFamily="34" charset="-122"/>
                <a:cs typeface="Yu Gothic" pitchFamily="34" charset="-120"/>
              </a:rPr>
              <a:t>災害・体調不良・不審者。</a:t>
            </a:r>
            <a:endParaRPr lang="en-US" sz="1900" dirty="0"/>
          </a:p>
          <a:p>
            <a:pPr indent="0" marL="0">
              <a:lnSpc>
                <a:spcPct val="130000"/>
              </a:lnSpc>
              <a:buNone/>
            </a:pPr>
            <a:r>
              <a:rPr lang="en-US" sz="1900" b="1" dirty="0">
                <a:solidFill>
                  <a:srgbClr val="FFFFFF"/>
                </a:solidFill>
                <a:latin typeface="Yu Gothic" pitchFamily="34" charset="0"/>
                <a:ea typeface="Yu Gothic" pitchFamily="34" charset="-122"/>
                <a:cs typeface="Yu Gothic" pitchFamily="34" charset="-120"/>
              </a:rPr>
              <a:t>あらゆる緊急事態に備える。</a:t>
            </a:r>
            <a:endParaRPr lang="en-US" sz="1900" dirty="0"/>
          </a:p>
        </p:txBody>
      </p:sp>
      <p:sp>
        <p:nvSpPr>
          <p:cNvPr id="12" name="Text 9"/>
          <p:cNvSpPr/>
          <p:nvPr/>
        </p:nvSpPr>
        <p:spPr>
          <a:xfrm>
            <a:off x="1062533" y="3315614"/>
            <a:ext cx="4315968" cy="658368"/>
          </a:xfrm>
          <a:prstGeom prst="rect">
            <a:avLst/>
          </a:prstGeom>
          <a:noFill/>
          <a:ln/>
        </p:spPr>
        <p:txBody>
          <a:bodyPr wrap="square" lIns="0" tIns="0" rIns="0" bIns="0" rtlCol="0" anchor="t"/>
          <a:lstStyle/>
          <a:p>
            <a:pPr indent="0" marL="0">
              <a:lnSpc>
                <a:spcPct val="145000"/>
              </a:lnSpc>
              <a:buNone/>
            </a:pPr>
            <a:r>
              <a:rPr lang="en-US" sz="1050" dirty="0">
                <a:solidFill>
                  <a:srgbClr val="AFC2B8"/>
                </a:solidFill>
                <a:latin typeface="Yu Gothic" pitchFamily="34" charset="0"/>
                <a:ea typeface="Yu Gothic" pitchFamily="34" charset="-122"/>
                <a:cs typeface="Yu Gothic" pitchFamily="34" charset="-120"/>
              </a:rPr>
              <a:t>店内の各所に非常ボタンを設置し、お客様同士のトラブルまで幅広く対応。6台以上のカメラによるモニタリングで、お問い合わせにも即時対応します。</a:t>
            </a:r>
            <a:endParaRPr lang="en-US" sz="1050" dirty="0"/>
          </a:p>
        </p:txBody>
      </p:sp>
      <p:pic>
        <p:nvPicPr>
          <p:cNvPr id="13" name="Image 1" descr="/home/user/suzuki-ceo/selfcafe-gyomu-deck/assets/icons/LuBellRing-pale.png">    </p:cNvPr>
          <p:cNvPicPr>
            <a:picLocks noChangeAspect="1"/>
          </p:cNvPicPr>
          <p:nvPr/>
        </p:nvPicPr>
        <p:blipFill>
          <a:blip r:embed="rId2"/>
          <a:stretch>
            <a:fillRect/>
          </a:stretch>
        </p:blipFill>
        <p:spPr>
          <a:xfrm>
            <a:off x="1382573" y="3955694"/>
            <a:ext cx="274320" cy="274320"/>
          </a:xfrm>
          <a:prstGeom prst="rect">
            <a:avLst/>
          </a:prstGeom>
        </p:spPr>
      </p:pic>
      <p:sp>
        <p:nvSpPr>
          <p:cNvPr id="14" name="Text 10"/>
          <p:cNvSpPr/>
          <p:nvPr/>
        </p:nvSpPr>
        <p:spPr>
          <a:xfrm>
            <a:off x="833933" y="4248302"/>
            <a:ext cx="1371600" cy="146304"/>
          </a:xfrm>
          <a:prstGeom prst="rect">
            <a:avLst/>
          </a:prstGeom>
          <a:noFill/>
          <a:ln/>
        </p:spPr>
        <p:txBody>
          <a:bodyPr wrap="square" lIns="0" tIns="0" rIns="0" bIns="0" rtlCol="0" anchor="ctr"/>
          <a:lstStyle/>
          <a:p>
            <a:pPr algn="ctr" indent="0" marL="0">
              <a:buNone/>
            </a:pPr>
            <a:r>
              <a:rPr lang="en-US" sz="800" dirty="0">
                <a:solidFill>
                  <a:srgbClr val="8CC5A5"/>
                </a:solidFill>
                <a:latin typeface="Yu Gothic" pitchFamily="34" charset="0"/>
                <a:ea typeface="Yu Gothic" pitchFamily="34" charset="-122"/>
                <a:cs typeface="Yu Gothic" pitchFamily="34" charset="-120"/>
              </a:rPr>
              <a:t>非常ボタン</a:t>
            </a:r>
            <a:endParaRPr lang="en-US" sz="800" dirty="0"/>
          </a:p>
        </p:txBody>
      </p:sp>
      <p:pic>
        <p:nvPicPr>
          <p:cNvPr id="15" name="Image 2" descr="/home/user/suzuki-ceo/selfcafe-gyomu-deck/assets/icons/LuCctv-pale.png">    </p:cNvPr>
          <p:cNvPicPr>
            <a:picLocks noChangeAspect="1"/>
          </p:cNvPicPr>
          <p:nvPr/>
        </p:nvPicPr>
        <p:blipFill>
          <a:blip r:embed="rId3"/>
          <a:stretch>
            <a:fillRect/>
          </a:stretch>
        </p:blipFill>
        <p:spPr>
          <a:xfrm>
            <a:off x="2918765" y="3955694"/>
            <a:ext cx="274320" cy="274320"/>
          </a:xfrm>
          <a:prstGeom prst="rect">
            <a:avLst/>
          </a:prstGeom>
        </p:spPr>
      </p:pic>
      <p:sp>
        <p:nvSpPr>
          <p:cNvPr id="16" name="Text 11"/>
          <p:cNvSpPr/>
          <p:nvPr/>
        </p:nvSpPr>
        <p:spPr>
          <a:xfrm>
            <a:off x="2370125" y="4248302"/>
            <a:ext cx="1371600" cy="146304"/>
          </a:xfrm>
          <a:prstGeom prst="rect">
            <a:avLst/>
          </a:prstGeom>
          <a:noFill/>
          <a:ln/>
        </p:spPr>
        <p:txBody>
          <a:bodyPr wrap="square" lIns="0" tIns="0" rIns="0" bIns="0" rtlCol="0" anchor="ctr"/>
          <a:lstStyle/>
          <a:p>
            <a:pPr algn="ctr" indent="0" marL="0">
              <a:buNone/>
            </a:pPr>
            <a:r>
              <a:rPr lang="en-US" sz="800" dirty="0">
                <a:solidFill>
                  <a:srgbClr val="8CC5A5"/>
                </a:solidFill>
                <a:latin typeface="Yu Gothic" pitchFamily="34" charset="0"/>
                <a:ea typeface="Yu Gothic" pitchFamily="34" charset="-122"/>
                <a:cs typeface="Yu Gothic" pitchFamily="34" charset="-120"/>
              </a:rPr>
              <a:t>常時モニタリング</a:t>
            </a:r>
            <a:endParaRPr lang="en-US" sz="800" dirty="0"/>
          </a:p>
        </p:txBody>
      </p:sp>
      <p:pic>
        <p:nvPicPr>
          <p:cNvPr id="17" name="Image 3" descr="/home/user/suzuki-ceo/selfcafe-gyomu-deck/assets/icons/LuFlame-pale.png">    </p:cNvPr>
          <p:cNvPicPr>
            <a:picLocks noChangeAspect="1"/>
          </p:cNvPicPr>
          <p:nvPr/>
        </p:nvPicPr>
        <p:blipFill>
          <a:blip r:embed="rId4"/>
          <a:stretch>
            <a:fillRect/>
          </a:stretch>
        </p:blipFill>
        <p:spPr>
          <a:xfrm>
            <a:off x="4454957" y="3955694"/>
            <a:ext cx="274320" cy="274320"/>
          </a:xfrm>
          <a:prstGeom prst="rect">
            <a:avLst/>
          </a:prstGeom>
        </p:spPr>
      </p:pic>
      <p:sp>
        <p:nvSpPr>
          <p:cNvPr id="18" name="Text 12"/>
          <p:cNvSpPr/>
          <p:nvPr/>
        </p:nvSpPr>
        <p:spPr>
          <a:xfrm>
            <a:off x="3906317" y="4248302"/>
            <a:ext cx="1371600" cy="146304"/>
          </a:xfrm>
          <a:prstGeom prst="rect">
            <a:avLst/>
          </a:prstGeom>
          <a:noFill/>
          <a:ln/>
        </p:spPr>
        <p:txBody>
          <a:bodyPr wrap="square" lIns="0" tIns="0" rIns="0" bIns="0" rtlCol="0" anchor="ctr"/>
          <a:lstStyle/>
          <a:p>
            <a:pPr algn="ctr" indent="0" marL="0">
              <a:buNone/>
            </a:pPr>
            <a:r>
              <a:rPr lang="en-US" sz="800" dirty="0">
                <a:solidFill>
                  <a:srgbClr val="8CC5A5"/>
                </a:solidFill>
                <a:latin typeface="Yu Gothic" pitchFamily="34" charset="0"/>
                <a:ea typeface="Yu Gothic" pitchFamily="34" charset="-122"/>
                <a:cs typeface="Yu Gothic" pitchFamily="34" charset="-120"/>
              </a:rPr>
              <a:t>火災センサー</a:t>
            </a:r>
            <a:endParaRPr lang="en-US" sz="800" dirty="0"/>
          </a:p>
        </p:txBody>
      </p:sp>
      <p:sp>
        <p:nvSpPr>
          <p:cNvPr id="19" name="Shape 13"/>
          <p:cNvSpPr/>
          <p:nvPr/>
        </p:nvSpPr>
        <p:spPr>
          <a:xfrm>
            <a:off x="660197" y="4595774"/>
            <a:ext cx="5120640" cy="1371600"/>
          </a:xfrm>
          <a:prstGeom prst="roundRect">
            <a:avLst>
              <a:gd name="adj" fmla="val 4000"/>
            </a:avLst>
          </a:prstGeom>
          <a:solidFill>
            <a:srgbClr val="F1F8F3"/>
          </a:solidFill>
          <a:ln w="9525">
            <a:solidFill>
              <a:srgbClr val="D2E7DA"/>
            </a:solidFill>
            <a:prstDash val="solid"/>
          </a:ln>
        </p:spPr>
      </p:sp>
      <p:pic>
        <p:nvPicPr>
          <p:cNvPr id="20" name="Image 4" descr="/home/user/suzuki-ceo/selfcafe-gyomu-deck/assets/icons/LuShieldCheck-green.png">    </p:cNvPr>
          <p:cNvPicPr>
            <a:picLocks noChangeAspect="1"/>
          </p:cNvPicPr>
          <p:nvPr/>
        </p:nvPicPr>
        <p:blipFill>
          <a:blip r:embed="rId5"/>
          <a:stretch>
            <a:fillRect/>
          </a:stretch>
        </p:blipFill>
        <p:spPr>
          <a:xfrm>
            <a:off x="934517" y="4851806"/>
            <a:ext cx="457200" cy="457200"/>
          </a:xfrm>
          <a:prstGeom prst="rect">
            <a:avLst/>
          </a:prstGeom>
        </p:spPr>
      </p:pic>
      <p:sp>
        <p:nvSpPr>
          <p:cNvPr id="21" name="Text 14"/>
          <p:cNvSpPr/>
          <p:nvPr/>
        </p:nvSpPr>
        <p:spPr>
          <a:xfrm>
            <a:off x="1574597" y="4778654"/>
            <a:ext cx="3931920" cy="274320"/>
          </a:xfrm>
          <a:prstGeom prst="rect">
            <a:avLst/>
          </a:prstGeom>
          <a:noFill/>
          <a:ln/>
        </p:spPr>
        <p:txBody>
          <a:bodyPr wrap="square" lIns="0" tIns="0" rIns="0" bIns="0" rtlCol="0" anchor="ctr"/>
          <a:lstStyle/>
          <a:p>
            <a:pPr indent="0" marL="0">
              <a:buNone/>
            </a:pPr>
            <a:r>
              <a:rPr lang="en-US" sz="1300" b="1" dirty="0">
                <a:solidFill>
                  <a:srgbClr val="0A3D23"/>
                </a:solidFill>
                <a:latin typeface="Yu Gothic" pitchFamily="34" charset="0"/>
                <a:ea typeface="Yu Gothic" pitchFamily="34" charset="-122"/>
                <a:cs typeface="Yu Gothic" pitchFamily="34" charset="-120"/>
              </a:rPr>
              <a:t>警備会社と連携（ALSOK・SECOM 等）</a:t>
            </a:r>
            <a:endParaRPr lang="en-US" sz="1300" dirty="0"/>
          </a:p>
        </p:txBody>
      </p:sp>
      <p:sp>
        <p:nvSpPr>
          <p:cNvPr id="22" name="Text 15"/>
          <p:cNvSpPr/>
          <p:nvPr/>
        </p:nvSpPr>
        <p:spPr>
          <a:xfrm>
            <a:off x="1574597" y="5071262"/>
            <a:ext cx="3931920" cy="512064"/>
          </a:xfrm>
          <a:prstGeom prst="rect">
            <a:avLst/>
          </a:prstGeom>
          <a:noFill/>
          <a:ln/>
        </p:spPr>
        <p:txBody>
          <a:bodyPr wrap="square" lIns="0" tIns="0" rIns="0" bIns="0" rtlCol="0" anchor="t"/>
          <a:lstStyle/>
          <a:p>
            <a:pPr indent="0" marL="0">
              <a:lnSpc>
                <a:spcPct val="135000"/>
              </a:lnSpc>
              <a:buNone/>
            </a:pPr>
            <a:r>
              <a:rPr lang="en-US" sz="1000" dirty="0">
                <a:solidFill>
                  <a:srgbClr val="4B5550"/>
                </a:solidFill>
                <a:latin typeface="Yu Gothic" pitchFamily="34" charset="0"/>
                <a:ea typeface="Yu Gothic" pitchFamily="34" charset="-122"/>
                <a:cs typeface="Yu Gothic" pitchFamily="34" charset="-120"/>
              </a:rPr>
              <a:t>非常時には警備員が駆けつけ。スマートロック・侵入検知と連動した警備体制です。</a:t>
            </a:r>
            <a:endParaRPr lang="en-US" sz="1000" dirty="0"/>
          </a:p>
        </p:txBody>
      </p:sp>
      <p:sp>
        <p:nvSpPr>
          <p:cNvPr id="23" name="Text 16"/>
          <p:cNvSpPr/>
          <p:nvPr/>
        </p:nvSpPr>
        <p:spPr>
          <a:xfrm>
            <a:off x="1574597" y="5638190"/>
            <a:ext cx="3931920" cy="182880"/>
          </a:xfrm>
          <a:prstGeom prst="rect">
            <a:avLst/>
          </a:prstGeom>
          <a:noFill/>
          <a:ln/>
        </p:spPr>
        <p:txBody>
          <a:bodyPr wrap="square" lIns="0" tIns="0" rIns="0" bIns="0" rtlCol="0" anchor="ctr"/>
          <a:lstStyle/>
          <a:p>
            <a:pPr indent="0" marL="0">
              <a:buNone/>
            </a:pPr>
            <a:r>
              <a:rPr lang="en-US" sz="800" dirty="0">
                <a:solidFill>
                  <a:srgbClr val="7E8882"/>
                </a:solidFill>
                <a:latin typeface="Yu Gothic" pitchFamily="34" charset="0"/>
                <a:ea typeface="Yu Gothic" pitchFamily="34" charset="-122"/>
                <a:cs typeface="Yu Gothic" pitchFamily="34" charset="-120"/>
              </a:rPr>
              <a:t>※ 連携する警備会社は物件・環境により異なります。</a:t>
            </a:r>
            <a:endParaRPr lang="en-US" sz="800" dirty="0"/>
          </a:p>
        </p:txBody>
      </p:sp>
      <p:sp>
        <p:nvSpPr>
          <p:cNvPr id="24" name="Shape 17"/>
          <p:cNvSpPr/>
          <p:nvPr/>
        </p:nvSpPr>
        <p:spPr>
          <a:xfrm>
            <a:off x="6164885" y="1651406"/>
            <a:ext cx="5366614" cy="1316736"/>
          </a:xfrm>
          <a:prstGeom prst="roundRect">
            <a:avLst>
              <a:gd name="adj" fmla="val 4167"/>
            </a:avLst>
          </a:prstGeom>
          <a:solidFill>
            <a:srgbClr val="FFFFFF"/>
          </a:solidFill>
          <a:ln w="9525">
            <a:solidFill>
              <a:srgbClr val="EFEAE0"/>
            </a:solidFill>
            <a:prstDash val="solid"/>
          </a:ln>
        </p:spPr>
      </p:sp>
      <p:pic>
        <p:nvPicPr>
          <p:cNvPr id="25" name="Image 5" descr="/home/user/suzuki-ceo/selfcafe-gyomu-deck/assets/icons/LuVideo-green.png">    </p:cNvPr>
          <p:cNvPicPr>
            <a:picLocks noChangeAspect="1"/>
          </p:cNvPicPr>
          <p:nvPr/>
        </p:nvPicPr>
        <p:blipFill>
          <a:blip r:embed="rId6"/>
          <a:stretch>
            <a:fillRect/>
          </a:stretch>
        </p:blipFill>
        <p:spPr>
          <a:xfrm>
            <a:off x="6420917" y="1889150"/>
            <a:ext cx="329184" cy="329184"/>
          </a:xfrm>
          <a:prstGeom prst="rect">
            <a:avLst/>
          </a:prstGeom>
        </p:spPr>
      </p:pic>
      <p:sp>
        <p:nvSpPr>
          <p:cNvPr id="26" name="Text 18"/>
          <p:cNvSpPr/>
          <p:nvPr/>
        </p:nvSpPr>
        <p:spPr>
          <a:xfrm>
            <a:off x="6896405" y="1870862"/>
            <a:ext cx="4360774" cy="365760"/>
          </a:xfrm>
          <a:prstGeom prst="rect">
            <a:avLst/>
          </a:prstGeom>
          <a:noFill/>
          <a:ln/>
        </p:spPr>
        <p:txBody>
          <a:bodyPr wrap="square" lIns="0" tIns="0" rIns="0" bIns="0" rtlCol="0" anchor="ctr"/>
          <a:lstStyle/>
          <a:p>
            <a:pPr indent="0" marL="0">
              <a:buNone/>
            </a:pPr>
            <a:r>
              <a:rPr lang="en-US" sz="1800" b="1" dirty="0">
                <a:solidFill>
                  <a:srgbClr val="106838"/>
                </a:solidFill>
                <a:latin typeface="Arial" pitchFamily="34" charset="0"/>
                <a:ea typeface="Arial" pitchFamily="34" charset="-122"/>
                <a:cs typeface="Arial" pitchFamily="34" charset="-120"/>
              </a:rPr>
              <a:t>6台以上</a:t>
            </a:r>
            <a:r>
              <a:rPr lang="en-US" sz="1300" b="1" dirty="0">
                <a:solidFill>
                  <a:srgbClr val="0A3D23"/>
                </a:solidFill>
                <a:latin typeface="Yu Gothic" pitchFamily="34" charset="0"/>
                <a:ea typeface="Yu Gothic" pitchFamily="34" charset="-122"/>
                <a:cs typeface="Yu Gothic" pitchFamily="34" charset="-120"/>
              </a:rPr>
              <a:t>  カメラモニタリング</a:t>
            </a:r>
            <a:endParaRPr lang="en-US" sz="1800" dirty="0"/>
          </a:p>
        </p:txBody>
      </p:sp>
      <p:sp>
        <p:nvSpPr>
          <p:cNvPr id="27" name="Text 19"/>
          <p:cNvSpPr/>
          <p:nvPr/>
        </p:nvSpPr>
        <p:spPr>
          <a:xfrm>
            <a:off x="6896405" y="2273198"/>
            <a:ext cx="4360774" cy="548640"/>
          </a:xfrm>
          <a:prstGeom prst="rect">
            <a:avLst/>
          </a:prstGeom>
          <a:noFill/>
          <a:ln/>
        </p:spPr>
        <p:txBody>
          <a:bodyPr wrap="square" lIns="0" tIns="0" rIns="0" bIns="0" rtlCol="0" anchor="t"/>
          <a:lstStyle/>
          <a:p>
            <a:pPr indent="0" marL="0">
              <a:lnSpc>
                <a:spcPct val="135000"/>
              </a:lnSpc>
              <a:buNone/>
            </a:pPr>
            <a:r>
              <a:rPr lang="en-US" sz="1000" dirty="0">
                <a:solidFill>
                  <a:srgbClr val="4B5550"/>
                </a:solidFill>
                <a:latin typeface="Yu Gothic" pitchFamily="34" charset="0"/>
                <a:ea typeface="Yu Gothic" pitchFamily="34" charset="-122"/>
                <a:cs typeface="Yu Gothic" pitchFamily="34" charset="-120"/>
              </a:rPr>
              <a:t>店内を多角的に常時監視。死角を作らない配置で異常を早期に把握します。</a:t>
            </a:r>
            <a:endParaRPr lang="en-US" sz="1000" dirty="0"/>
          </a:p>
        </p:txBody>
      </p:sp>
      <p:sp>
        <p:nvSpPr>
          <p:cNvPr id="28" name="Shape 20"/>
          <p:cNvSpPr/>
          <p:nvPr/>
        </p:nvSpPr>
        <p:spPr>
          <a:xfrm>
            <a:off x="6164885" y="3151022"/>
            <a:ext cx="5366614" cy="1316736"/>
          </a:xfrm>
          <a:prstGeom prst="roundRect">
            <a:avLst>
              <a:gd name="adj" fmla="val 4167"/>
            </a:avLst>
          </a:prstGeom>
          <a:solidFill>
            <a:srgbClr val="FFFFFF"/>
          </a:solidFill>
          <a:ln w="9525">
            <a:solidFill>
              <a:srgbClr val="EFEAE0"/>
            </a:solidFill>
            <a:prstDash val="solid"/>
          </a:ln>
        </p:spPr>
      </p:sp>
      <p:pic>
        <p:nvPicPr>
          <p:cNvPr id="29" name="Image 6" descr="/home/user/suzuki-ceo/selfcafe-gyomu-deck/assets/icons/LuMic-green.png">    </p:cNvPr>
          <p:cNvPicPr>
            <a:picLocks noChangeAspect="1"/>
          </p:cNvPicPr>
          <p:nvPr/>
        </p:nvPicPr>
        <p:blipFill>
          <a:blip r:embed="rId7"/>
          <a:stretch>
            <a:fillRect/>
          </a:stretch>
        </p:blipFill>
        <p:spPr>
          <a:xfrm>
            <a:off x="6420917" y="3388766"/>
            <a:ext cx="329184" cy="329184"/>
          </a:xfrm>
          <a:prstGeom prst="rect">
            <a:avLst/>
          </a:prstGeom>
        </p:spPr>
      </p:pic>
      <p:sp>
        <p:nvSpPr>
          <p:cNvPr id="30" name="Text 21"/>
          <p:cNvSpPr/>
          <p:nvPr/>
        </p:nvSpPr>
        <p:spPr>
          <a:xfrm>
            <a:off x="6896405" y="3370478"/>
            <a:ext cx="4360774" cy="365760"/>
          </a:xfrm>
          <a:prstGeom prst="rect">
            <a:avLst/>
          </a:prstGeom>
          <a:noFill/>
          <a:ln/>
        </p:spPr>
        <p:txBody>
          <a:bodyPr wrap="square" lIns="0" tIns="0" rIns="0" bIns="0" rtlCol="0" anchor="ctr"/>
          <a:lstStyle/>
          <a:p>
            <a:pPr indent="0" marL="0">
              <a:buNone/>
            </a:pPr>
            <a:r>
              <a:rPr lang="en-US" sz="1800" b="1" dirty="0">
                <a:solidFill>
                  <a:srgbClr val="106838"/>
                </a:solidFill>
                <a:latin typeface="Arial" pitchFamily="34" charset="0"/>
                <a:ea typeface="Arial" pitchFamily="34" charset="-122"/>
                <a:cs typeface="Arial" pitchFamily="34" charset="-120"/>
              </a:rPr>
              <a:t>双方向</a:t>
            </a:r>
            <a:r>
              <a:rPr lang="en-US" sz="1300" b="1" dirty="0">
                <a:solidFill>
                  <a:srgbClr val="0A3D23"/>
                </a:solidFill>
                <a:latin typeface="Yu Gothic" pitchFamily="34" charset="0"/>
                <a:ea typeface="Yu Gothic" pitchFamily="34" charset="-122"/>
                <a:cs typeface="Yu Gothic" pitchFamily="34" charset="-120"/>
              </a:rPr>
              <a:t>  音声対応</a:t>
            </a:r>
            <a:endParaRPr lang="en-US" sz="1800" dirty="0"/>
          </a:p>
        </p:txBody>
      </p:sp>
      <p:sp>
        <p:nvSpPr>
          <p:cNvPr id="31" name="Text 22"/>
          <p:cNvSpPr/>
          <p:nvPr/>
        </p:nvSpPr>
        <p:spPr>
          <a:xfrm>
            <a:off x="6896405" y="3772814"/>
            <a:ext cx="4360774" cy="548640"/>
          </a:xfrm>
          <a:prstGeom prst="rect">
            <a:avLst/>
          </a:prstGeom>
          <a:noFill/>
          <a:ln/>
        </p:spPr>
        <p:txBody>
          <a:bodyPr wrap="square" lIns="0" tIns="0" rIns="0" bIns="0" rtlCol="0" anchor="t"/>
          <a:lstStyle/>
          <a:p>
            <a:pPr indent="0" marL="0">
              <a:lnSpc>
                <a:spcPct val="135000"/>
              </a:lnSpc>
              <a:buNone/>
            </a:pPr>
            <a:r>
              <a:rPr lang="en-US" sz="1000" dirty="0">
                <a:solidFill>
                  <a:srgbClr val="4B5550"/>
                </a:solidFill>
                <a:latin typeface="Yu Gothic" pitchFamily="34" charset="0"/>
                <a:ea typeface="Yu Gothic" pitchFamily="34" charset="-122"/>
                <a:cs typeface="Yu Gothic" pitchFamily="34" charset="-120"/>
              </a:rPr>
              <a:t>カメラはスタッフとお客様が直接やり取りできる双方向音声に対応。その場で声がけやサポートを行えます。</a:t>
            </a:r>
            <a:endParaRPr lang="en-US" sz="1000" dirty="0"/>
          </a:p>
        </p:txBody>
      </p:sp>
      <p:sp>
        <p:nvSpPr>
          <p:cNvPr id="32" name="Shape 23"/>
          <p:cNvSpPr/>
          <p:nvPr/>
        </p:nvSpPr>
        <p:spPr>
          <a:xfrm>
            <a:off x="6164885" y="4650638"/>
            <a:ext cx="5366614" cy="1316736"/>
          </a:xfrm>
          <a:prstGeom prst="roundRect">
            <a:avLst>
              <a:gd name="adj" fmla="val 4167"/>
            </a:avLst>
          </a:prstGeom>
          <a:solidFill>
            <a:srgbClr val="FFFFFF"/>
          </a:solidFill>
          <a:ln w="9525">
            <a:solidFill>
              <a:srgbClr val="EFEAE0"/>
            </a:solidFill>
            <a:prstDash val="solid"/>
          </a:ln>
        </p:spPr>
      </p:sp>
      <p:pic>
        <p:nvPicPr>
          <p:cNvPr id="33" name="Image 7" descr="/home/user/suzuki-ceo/selfcafe-gyomu-deck/assets/icons/LuMessageCircle-green.png">    </p:cNvPr>
          <p:cNvPicPr>
            <a:picLocks noChangeAspect="1"/>
          </p:cNvPicPr>
          <p:nvPr/>
        </p:nvPicPr>
        <p:blipFill>
          <a:blip r:embed="rId8"/>
          <a:stretch>
            <a:fillRect/>
          </a:stretch>
        </p:blipFill>
        <p:spPr>
          <a:xfrm>
            <a:off x="6420917" y="4888382"/>
            <a:ext cx="329184" cy="329184"/>
          </a:xfrm>
          <a:prstGeom prst="rect">
            <a:avLst/>
          </a:prstGeom>
        </p:spPr>
      </p:pic>
      <p:sp>
        <p:nvSpPr>
          <p:cNvPr id="34" name="Text 24"/>
          <p:cNvSpPr/>
          <p:nvPr/>
        </p:nvSpPr>
        <p:spPr>
          <a:xfrm>
            <a:off x="6896405" y="4870094"/>
            <a:ext cx="4360774" cy="365760"/>
          </a:xfrm>
          <a:prstGeom prst="rect">
            <a:avLst/>
          </a:prstGeom>
          <a:noFill/>
          <a:ln/>
        </p:spPr>
        <p:txBody>
          <a:bodyPr wrap="square" lIns="0" tIns="0" rIns="0" bIns="0" rtlCol="0" anchor="ctr"/>
          <a:lstStyle/>
          <a:p>
            <a:pPr indent="0" marL="0">
              <a:buNone/>
            </a:pPr>
            <a:r>
              <a:rPr lang="en-US" sz="1800" b="1" dirty="0">
                <a:solidFill>
                  <a:srgbClr val="106838"/>
                </a:solidFill>
                <a:latin typeface="Arial" pitchFamily="34" charset="0"/>
                <a:ea typeface="Arial" pitchFamily="34" charset="-122"/>
                <a:cs typeface="Arial" pitchFamily="34" charset="-120"/>
              </a:rPr>
              <a:t>即時</a:t>
            </a:r>
            <a:r>
              <a:rPr lang="en-US" sz="1300" b="1" dirty="0">
                <a:solidFill>
                  <a:srgbClr val="0A3D23"/>
                </a:solidFill>
                <a:latin typeface="Yu Gothic" pitchFamily="34" charset="0"/>
                <a:ea typeface="Yu Gothic" pitchFamily="34" charset="-122"/>
                <a:cs typeface="Yu Gothic" pitchFamily="34" charset="-120"/>
              </a:rPr>
              <a:t>  LINEチャット対応</a:t>
            </a:r>
            <a:endParaRPr lang="en-US" sz="1800" dirty="0"/>
          </a:p>
        </p:txBody>
      </p:sp>
      <p:sp>
        <p:nvSpPr>
          <p:cNvPr id="35" name="Text 25"/>
          <p:cNvSpPr/>
          <p:nvPr/>
        </p:nvSpPr>
        <p:spPr>
          <a:xfrm>
            <a:off x="6896405" y="5272430"/>
            <a:ext cx="4360774" cy="548640"/>
          </a:xfrm>
          <a:prstGeom prst="rect">
            <a:avLst/>
          </a:prstGeom>
          <a:noFill/>
          <a:ln/>
        </p:spPr>
        <p:txBody>
          <a:bodyPr wrap="square" lIns="0" tIns="0" rIns="0" bIns="0" rtlCol="0" anchor="t"/>
          <a:lstStyle/>
          <a:p>
            <a:pPr indent="0" marL="0">
              <a:lnSpc>
                <a:spcPct val="135000"/>
              </a:lnSpc>
              <a:buNone/>
            </a:pPr>
            <a:r>
              <a:rPr lang="en-US" sz="1000" dirty="0">
                <a:solidFill>
                  <a:srgbClr val="4B5550"/>
                </a:solidFill>
                <a:latin typeface="Yu Gothic" pitchFamily="34" charset="0"/>
                <a:ea typeface="Yu Gothic" pitchFamily="34" charset="-122"/>
                <a:cs typeface="Yu Gothic" pitchFamily="34" charset="-120"/>
              </a:rPr>
              <a:t>お客様からのお問い合わせに即時対応。※パートナー店では営業サポートプラン（有料オプション）として提供します。</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7"/>
        </a:solidFill>
      </p:bgPr>
    </p:bg>
    <p:spTree>
      <p:nvGrpSpPr>
        <p:cNvPr id="1" name=""/>
        <p:cNvGrpSpPr/>
        <p:nvPr/>
      </p:nvGrpSpPr>
      <p:grpSpPr>
        <a:xfrm>
          <a:off x="0" y="0"/>
          <a:ext cx="0" cy="0"/>
          <a:chOff x="0" y="0"/>
          <a:chExt cx="0" cy="0"/>
        </a:xfrm>
      </p:grpSpPr>
      <p:sp>
        <p:nvSpPr>
          <p:cNvPr id="2" name="Shape 0"/>
          <p:cNvSpPr/>
          <p:nvPr/>
        </p:nvSpPr>
        <p:spPr>
          <a:xfrm>
            <a:off x="660197" y="545897"/>
            <a:ext cx="202997" cy="25603"/>
          </a:xfrm>
          <a:prstGeom prst="rect">
            <a:avLst/>
          </a:prstGeom>
          <a:solidFill>
            <a:srgbClr val="106838"/>
          </a:solidFill>
          <a:ln/>
        </p:spPr>
      </p:sp>
      <p:sp>
        <p:nvSpPr>
          <p:cNvPr id="3" name="Text 1"/>
          <p:cNvSpPr/>
          <p:nvPr/>
        </p:nvSpPr>
        <p:spPr>
          <a:xfrm>
            <a:off x="952805" y="444398"/>
            <a:ext cx="6400800" cy="177394"/>
          </a:xfrm>
          <a:prstGeom prst="rect">
            <a:avLst/>
          </a:prstGeom>
          <a:noFill/>
          <a:ln/>
        </p:spPr>
        <p:txBody>
          <a:bodyPr wrap="square" lIns="0" tIns="0" rIns="0" bIns="0" rtlCol="0" anchor="ctr"/>
          <a:lstStyle/>
          <a:p>
            <a:pPr indent="0" marL="0">
              <a:buNone/>
            </a:pPr>
            <a:r>
              <a:rPr lang="en-US" sz="1050" b="1" dirty="0">
                <a:solidFill>
                  <a:srgbClr val="A8761F"/>
                </a:solidFill>
                <a:latin typeface="Arial" pitchFamily="34" charset="0"/>
                <a:ea typeface="Arial" pitchFamily="34" charset="-122"/>
                <a:cs typeface="Arial" pitchFamily="34" charset="-120"/>
              </a:rPr>
              <a:t>17</a:t>
            </a:r>
            <a:r>
              <a:rPr lang="en-US" sz="1050" b="1" dirty="0">
                <a:solidFill>
                  <a:srgbClr val="1B8149"/>
                </a:solidFill>
                <a:latin typeface="Yu Gothic" pitchFamily="34" charset="0"/>
                <a:ea typeface="Yu Gothic" pitchFamily="34" charset="-122"/>
                <a:cs typeface="Yu Gothic" pitchFamily="34" charset="-120"/>
              </a:rPr>
              <a:t>   貴社の業務</a:t>
            </a:r>
            <a:endParaRPr lang="en-US" sz="1050" dirty="0"/>
          </a:p>
        </p:txBody>
      </p:sp>
      <p:sp>
        <p:nvSpPr>
          <p:cNvPr id="4" name="Text 2"/>
          <p:cNvSpPr/>
          <p:nvPr/>
        </p:nvSpPr>
        <p:spPr>
          <a:xfrm>
            <a:off x="660197" y="660197"/>
            <a:ext cx="8889797" cy="508406"/>
          </a:xfrm>
          <a:prstGeom prst="rect">
            <a:avLst/>
          </a:prstGeom>
          <a:noFill/>
          <a:ln/>
        </p:spPr>
        <p:txBody>
          <a:bodyPr wrap="square" lIns="0" tIns="0" rIns="0" bIns="0" rtlCol="0" anchor="ctr"/>
          <a:lstStyle/>
          <a:p>
            <a:pPr indent="0" marL="0">
              <a:buNone/>
            </a:pPr>
            <a:r>
              <a:rPr lang="en-US" sz="2900" b="1" dirty="0">
                <a:solidFill>
                  <a:srgbClr val="0A3D23"/>
                </a:solidFill>
                <a:latin typeface="Yu Gothic" pitchFamily="34" charset="0"/>
                <a:ea typeface="Yu Gothic" pitchFamily="34" charset="-122"/>
                <a:cs typeface="Yu Gothic" pitchFamily="34" charset="-120"/>
              </a:rPr>
              <a:t>やることは清掃と補充だけ。1日約15分。</a:t>
            </a:r>
            <a:endParaRPr lang="en-US" sz="2900" dirty="0"/>
          </a:p>
        </p:txBody>
      </p:sp>
      <p:sp>
        <p:nvSpPr>
          <p:cNvPr id="5" name="Text 3"/>
          <p:cNvSpPr/>
          <p:nvPr/>
        </p:nvSpPr>
        <p:spPr>
          <a:xfrm>
            <a:off x="660197" y="1308506"/>
            <a:ext cx="10032797" cy="228600"/>
          </a:xfrm>
          <a:prstGeom prst="rect">
            <a:avLst/>
          </a:prstGeom>
          <a:noFill/>
          <a:ln/>
        </p:spPr>
        <p:txBody>
          <a:bodyPr wrap="square" lIns="0" tIns="0" rIns="0" bIns="0" rtlCol="0" anchor="ctr"/>
          <a:lstStyle/>
          <a:p>
            <a:pPr indent="0" marL="0">
              <a:buNone/>
            </a:pPr>
            <a:r>
              <a:rPr lang="en-US" sz="1250" dirty="0">
                <a:solidFill>
                  <a:srgbClr val="4B5550"/>
                </a:solidFill>
                <a:latin typeface="Yu Gothic" pitchFamily="34" charset="0"/>
                <a:ea typeface="Yu Gothic" pitchFamily="34" charset="-122"/>
                <a:cs typeface="Yu Gothic" pitchFamily="34" charset="-120"/>
              </a:rPr>
              <a:t>運営主体は本部です。貴社の業務は既存スタッフの稼働内で完結し、それすら委託できます。</a:t>
            </a:r>
            <a:endParaRPr lang="en-US" sz="1250" dirty="0"/>
          </a:p>
        </p:txBody>
      </p:sp>
      <p:pic>
        <p:nvPicPr>
          <p:cNvPr id="6" name="Image 0" descr="/home/user/suzuki-ceo/selfcafe-gyomu-deck/assets/logo-green.png">    </p:cNvPr>
          <p:cNvPicPr>
            <a:picLocks noChangeAspect="1"/>
          </p:cNvPicPr>
          <p:nvPr/>
        </p:nvPicPr>
        <p:blipFill>
          <a:blip r:embed="rId1"/>
          <a:stretch>
            <a:fillRect/>
          </a:stretch>
        </p:blipFill>
        <p:spPr>
          <a:xfrm>
            <a:off x="9855403" y="482803"/>
            <a:ext cx="1676095" cy="238658"/>
          </a:xfrm>
          <a:prstGeom prst="rect">
            <a:avLst/>
          </a:prstGeom>
        </p:spPr>
      </p:pic>
      <p:sp>
        <p:nvSpPr>
          <p:cNvPr id="7" name="Text 4"/>
          <p:cNvSpPr/>
          <p:nvPr/>
        </p:nvSpPr>
        <p:spPr>
          <a:xfrm>
            <a:off x="660197" y="6476695"/>
            <a:ext cx="5080406" cy="152705"/>
          </a:xfrm>
          <a:prstGeom prst="rect">
            <a:avLst/>
          </a:prstGeom>
          <a:noFill/>
          <a:ln/>
        </p:spPr>
        <p:txBody>
          <a:bodyPr wrap="square" lIns="0" tIns="0" rIns="0" bIns="0" rtlCol="0" anchor="ctr"/>
          <a:lstStyle/>
          <a:p>
            <a:pPr indent="0" marL="0">
              <a:buNone/>
            </a:pPr>
            <a:r>
              <a:rPr lang="en-US" sz="900" dirty="0">
                <a:solidFill>
                  <a:srgbClr val="A8B0AA"/>
                </a:solidFill>
                <a:latin typeface="Yu Gothic" pitchFamily="34" charset="0"/>
                <a:ea typeface="Yu Gothic" pitchFamily="34" charset="-122"/>
                <a:cs typeface="Yu Gothic" pitchFamily="34" charset="-120"/>
              </a:rPr>
              <a:t>セルフカフェ 業務委託型制度</a:t>
            </a:r>
            <a:endParaRPr lang="en-US" sz="900" dirty="0"/>
          </a:p>
        </p:txBody>
      </p:sp>
      <p:sp>
        <p:nvSpPr>
          <p:cNvPr id="8" name="Text 5"/>
          <p:cNvSpPr/>
          <p:nvPr/>
        </p:nvSpPr>
        <p:spPr>
          <a:xfrm>
            <a:off x="10261397" y="6463894"/>
            <a:ext cx="1270102" cy="152705"/>
          </a:xfrm>
          <a:prstGeom prst="rect">
            <a:avLst/>
          </a:prstGeom>
          <a:noFill/>
          <a:ln/>
        </p:spPr>
        <p:txBody>
          <a:bodyPr wrap="square" lIns="0" tIns="0" rIns="0" bIns="0" rtlCol="0" anchor="ctr"/>
          <a:lstStyle/>
          <a:p>
            <a:pPr algn="r" indent="0" marL="0">
              <a:buNone/>
            </a:pPr>
            <a:r>
              <a:rPr lang="en-US" sz="1000" b="1" dirty="0">
                <a:solidFill>
                  <a:srgbClr val="7E8882"/>
                </a:solidFill>
                <a:latin typeface="Arial" pitchFamily="34" charset="0"/>
                <a:ea typeface="Arial" pitchFamily="34" charset="-122"/>
                <a:cs typeface="Arial" pitchFamily="34" charset="-120"/>
              </a:rPr>
              <a:t>18</a:t>
            </a:r>
            <a:endParaRPr lang="en-US" sz="1000" dirty="0"/>
          </a:p>
        </p:txBody>
      </p:sp>
      <p:sp>
        <p:nvSpPr>
          <p:cNvPr id="9" name="Text 6"/>
          <p:cNvSpPr/>
          <p:nvPr/>
        </p:nvSpPr>
        <p:spPr>
          <a:xfrm>
            <a:off x="660197" y="1651406"/>
            <a:ext cx="6309360" cy="658368"/>
          </a:xfrm>
          <a:prstGeom prst="rect">
            <a:avLst/>
          </a:prstGeom>
          <a:noFill/>
          <a:ln/>
        </p:spPr>
        <p:txBody>
          <a:bodyPr wrap="square" lIns="0" tIns="0" rIns="0" bIns="0" rtlCol="0" anchor="ctr"/>
          <a:lstStyle/>
          <a:p>
            <a:pPr indent="0" marL="0">
              <a:buNone/>
            </a:pPr>
            <a:r>
              <a:rPr lang="en-US" sz="4000" b="1" dirty="0">
                <a:solidFill>
                  <a:srgbClr val="106838"/>
                </a:solidFill>
                <a:latin typeface="Yu Gothic" pitchFamily="34" charset="0"/>
                <a:ea typeface="Yu Gothic" pitchFamily="34" charset="-122"/>
                <a:cs typeface="Yu Gothic" pitchFamily="34" charset="-120"/>
              </a:rPr>
              <a:t>約15分</a:t>
            </a:r>
            <a:r>
              <a:rPr lang="en-US" sz="1800" b="1" dirty="0">
                <a:solidFill>
                  <a:srgbClr val="106838"/>
                </a:solidFill>
                <a:latin typeface="Yu Gothic" pitchFamily="34" charset="0"/>
                <a:ea typeface="Yu Gothic" pitchFamily="34" charset="-122"/>
                <a:cs typeface="Yu Gothic" pitchFamily="34" charset="-120"/>
              </a:rPr>
              <a:t> ／日</a:t>
            </a:r>
            <a:endParaRPr lang="en-US" sz="4000" dirty="0"/>
          </a:p>
        </p:txBody>
      </p:sp>
      <p:sp>
        <p:nvSpPr>
          <p:cNvPr id="10" name="Shape 7"/>
          <p:cNvSpPr/>
          <p:nvPr/>
        </p:nvSpPr>
        <p:spPr>
          <a:xfrm>
            <a:off x="660197" y="2474366"/>
            <a:ext cx="6309360" cy="786384"/>
          </a:xfrm>
          <a:prstGeom prst="roundRect">
            <a:avLst>
              <a:gd name="adj" fmla="val 6977"/>
            </a:avLst>
          </a:prstGeom>
          <a:solidFill>
            <a:srgbClr val="F1F8F3"/>
          </a:solidFill>
          <a:ln w="9525">
            <a:solidFill>
              <a:srgbClr val="D2E7DA"/>
            </a:solidFill>
            <a:prstDash val="solid"/>
          </a:ln>
        </p:spPr>
      </p:sp>
      <p:sp>
        <p:nvSpPr>
          <p:cNvPr id="11" name="Text 8"/>
          <p:cNvSpPr/>
          <p:nvPr/>
        </p:nvSpPr>
        <p:spPr>
          <a:xfrm>
            <a:off x="934517" y="2584094"/>
            <a:ext cx="5760720" cy="274320"/>
          </a:xfrm>
          <a:prstGeom prst="rect">
            <a:avLst/>
          </a:prstGeom>
          <a:noFill/>
          <a:ln/>
        </p:spPr>
        <p:txBody>
          <a:bodyPr wrap="square" lIns="0" tIns="0" rIns="0" bIns="0" rtlCol="0" anchor="ctr"/>
          <a:lstStyle/>
          <a:p>
            <a:pPr indent="0" marL="0">
              <a:buNone/>
            </a:pPr>
            <a:r>
              <a:rPr lang="en-US" sz="1250" b="1" dirty="0">
                <a:solidFill>
                  <a:srgbClr val="106838"/>
                </a:solidFill>
                <a:latin typeface="Yu Gothic" pitchFamily="34" charset="0"/>
                <a:ea typeface="Yu Gothic" pitchFamily="34" charset="-122"/>
                <a:cs typeface="Yu Gothic" pitchFamily="34" charset="-120"/>
              </a:rPr>
              <a:t>① 店内清掃</a:t>
            </a:r>
            <a:endParaRPr lang="en-US" sz="1250" dirty="0"/>
          </a:p>
        </p:txBody>
      </p:sp>
      <p:sp>
        <p:nvSpPr>
          <p:cNvPr id="12" name="Text 9"/>
          <p:cNvSpPr/>
          <p:nvPr/>
        </p:nvSpPr>
        <p:spPr>
          <a:xfrm>
            <a:off x="934517" y="2876702"/>
            <a:ext cx="5760720" cy="292608"/>
          </a:xfrm>
          <a:prstGeom prst="rect">
            <a:avLst/>
          </a:prstGeom>
          <a:noFill/>
          <a:ln/>
        </p:spPr>
        <p:txBody>
          <a:bodyPr wrap="square" lIns="0" tIns="0" rIns="0" bIns="0" rtlCol="0" anchor="ctr"/>
          <a:lstStyle/>
          <a:p>
            <a:pPr indent="0" marL="0">
              <a:buNone/>
            </a:pPr>
            <a:r>
              <a:rPr lang="en-US" sz="1050" dirty="0">
                <a:solidFill>
                  <a:srgbClr val="4B5550"/>
                </a:solidFill>
                <a:latin typeface="Yu Gothic" pitchFamily="34" charset="0"/>
                <a:ea typeface="Yu Gothic" pitchFamily="34" charset="-122"/>
                <a:cs typeface="Yu Gothic" pitchFamily="34" charset="-120"/>
              </a:rPr>
              <a:t>テーブル・床・トイレの清掃、ゴミ回収。営業前後の都合の良い時間でOK。</a:t>
            </a:r>
            <a:endParaRPr lang="en-US" sz="1050" dirty="0"/>
          </a:p>
        </p:txBody>
      </p:sp>
      <p:sp>
        <p:nvSpPr>
          <p:cNvPr id="13" name="Shape 10"/>
          <p:cNvSpPr/>
          <p:nvPr/>
        </p:nvSpPr>
        <p:spPr>
          <a:xfrm>
            <a:off x="660197" y="3370478"/>
            <a:ext cx="6309360" cy="786384"/>
          </a:xfrm>
          <a:prstGeom prst="roundRect">
            <a:avLst>
              <a:gd name="adj" fmla="val 6977"/>
            </a:avLst>
          </a:prstGeom>
          <a:solidFill>
            <a:srgbClr val="F1F8F3"/>
          </a:solidFill>
          <a:ln w="9525">
            <a:solidFill>
              <a:srgbClr val="D2E7DA"/>
            </a:solidFill>
            <a:prstDash val="solid"/>
          </a:ln>
        </p:spPr>
      </p:sp>
      <p:sp>
        <p:nvSpPr>
          <p:cNvPr id="14" name="Text 11"/>
          <p:cNvSpPr/>
          <p:nvPr/>
        </p:nvSpPr>
        <p:spPr>
          <a:xfrm>
            <a:off x="934517" y="3480206"/>
            <a:ext cx="5760720" cy="274320"/>
          </a:xfrm>
          <a:prstGeom prst="rect">
            <a:avLst/>
          </a:prstGeom>
          <a:noFill/>
          <a:ln/>
        </p:spPr>
        <p:txBody>
          <a:bodyPr wrap="square" lIns="0" tIns="0" rIns="0" bIns="0" rtlCol="0" anchor="ctr"/>
          <a:lstStyle/>
          <a:p>
            <a:pPr indent="0" marL="0">
              <a:buNone/>
            </a:pPr>
            <a:r>
              <a:rPr lang="en-US" sz="1250" b="1" dirty="0">
                <a:solidFill>
                  <a:srgbClr val="106838"/>
                </a:solidFill>
                <a:latin typeface="Yu Gothic" pitchFamily="34" charset="0"/>
                <a:ea typeface="Yu Gothic" pitchFamily="34" charset="-122"/>
                <a:cs typeface="Yu Gothic" pitchFamily="34" charset="-120"/>
              </a:rPr>
              <a:t>② 原料・備品の補充</a:t>
            </a:r>
            <a:endParaRPr lang="en-US" sz="1250" dirty="0"/>
          </a:p>
        </p:txBody>
      </p:sp>
      <p:sp>
        <p:nvSpPr>
          <p:cNvPr id="15" name="Text 12"/>
          <p:cNvSpPr/>
          <p:nvPr/>
        </p:nvSpPr>
        <p:spPr>
          <a:xfrm>
            <a:off x="934517" y="3772814"/>
            <a:ext cx="5760720" cy="292608"/>
          </a:xfrm>
          <a:prstGeom prst="rect">
            <a:avLst/>
          </a:prstGeom>
          <a:noFill/>
          <a:ln/>
        </p:spPr>
        <p:txBody>
          <a:bodyPr wrap="square" lIns="0" tIns="0" rIns="0" bIns="0" rtlCol="0" anchor="ctr"/>
          <a:lstStyle/>
          <a:p>
            <a:pPr indent="0" marL="0">
              <a:buNone/>
            </a:pPr>
            <a:r>
              <a:rPr lang="en-US" sz="1050" dirty="0">
                <a:solidFill>
                  <a:srgbClr val="4B5550"/>
                </a:solidFill>
                <a:latin typeface="Yu Gothic" pitchFamily="34" charset="0"/>
                <a:ea typeface="Yu Gothic" pitchFamily="34" charset="-122"/>
                <a:cs typeface="Yu Gothic" pitchFamily="34" charset="-120"/>
              </a:rPr>
              <a:t>コーヒー豆・カップ等の補充。在庫は本部から定期配送。</a:t>
            </a:r>
            <a:endParaRPr lang="en-US" sz="1050" dirty="0"/>
          </a:p>
        </p:txBody>
      </p:sp>
      <p:sp>
        <p:nvSpPr>
          <p:cNvPr id="16" name="Shape 13"/>
          <p:cNvSpPr/>
          <p:nvPr/>
        </p:nvSpPr>
        <p:spPr>
          <a:xfrm>
            <a:off x="660197" y="4266590"/>
            <a:ext cx="6309360" cy="786384"/>
          </a:xfrm>
          <a:prstGeom prst="roundRect">
            <a:avLst>
              <a:gd name="adj" fmla="val 6977"/>
            </a:avLst>
          </a:prstGeom>
          <a:solidFill>
            <a:srgbClr val="F1F8F3"/>
          </a:solidFill>
          <a:ln w="9525">
            <a:solidFill>
              <a:srgbClr val="D2E7DA"/>
            </a:solidFill>
            <a:prstDash val="solid"/>
          </a:ln>
        </p:spPr>
      </p:sp>
      <p:sp>
        <p:nvSpPr>
          <p:cNvPr id="17" name="Text 14"/>
          <p:cNvSpPr/>
          <p:nvPr/>
        </p:nvSpPr>
        <p:spPr>
          <a:xfrm>
            <a:off x="934517" y="4376318"/>
            <a:ext cx="5760720" cy="274320"/>
          </a:xfrm>
          <a:prstGeom prst="rect">
            <a:avLst/>
          </a:prstGeom>
          <a:noFill/>
          <a:ln/>
        </p:spPr>
        <p:txBody>
          <a:bodyPr wrap="square" lIns="0" tIns="0" rIns="0" bIns="0" rtlCol="0" anchor="ctr"/>
          <a:lstStyle/>
          <a:p>
            <a:pPr indent="0" marL="0">
              <a:buNone/>
            </a:pPr>
            <a:r>
              <a:rPr lang="en-US" sz="1250" b="1" dirty="0">
                <a:solidFill>
                  <a:srgbClr val="106838"/>
                </a:solidFill>
                <a:latin typeface="Yu Gothic" pitchFamily="34" charset="0"/>
                <a:ea typeface="Yu Gothic" pitchFamily="34" charset="-122"/>
                <a:cs typeface="Yu Gothic" pitchFamily="34" charset="-120"/>
              </a:rPr>
              <a:t>③ 発注・棚卸（月1〜2回程度）</a:t>
            </a:r>
            <a:endParaRPr lang="en-US" sz="1250" dirty="0"/>
          </a:p>
        </p:txBody>
      </p:sp>
      <p:sp>
        <p:nvSpPr>
          <p:cNvPr id="18" name="Text 15"/>
          <p:cNvSpPr/>
          <p:nvPr/>
        </p:nvSpPr>
        <p:spPr>
          <a:xfrm>
            <a:off x="934517" y="4668926"/>
            <a:ext cx="5760720" cy="292608"/>
          </a:xfrm>
          <a:prstGeom prst="rect">
            <a:avLst/>
          </a:prstGeom>
          <a:noFill/>
          <a:ln/>
        </p:spPr>
        <p:txBody>
          <a:bodyPr wrap="square" lIns="0" tIns="0" rIns="0" bIns="0" rtlCol="0" anchor="ctr"/>
          <a:lstStyle/>
          <a:p>
            <a:pPr indent="0" marL="0">
              <a:buNone/>
            </a:pPr>
            <a:r>
              <a:rPr lang="en-US" sz="1050" dirty="0">
                <a:solidFill>
                  <a:srgbClr val="4B5550"/>
                </a:solidFill>
                <a:latin typeface="Yu Gothic" pitchFamily="34" charset="0"/>
                <a:ea typeface="Yu Gothic" pitchFamily="34" charset="-122"/>
                <a:cs typeface="Yu Gothic" pitchFamily="34" charset="-120"/>
              </a:rPr>
              <a:t>定期配送に合わせた発注と在庫の棚卸のみ。</a:t>
            </a:r>
            <a:endParaRPr lang="en-US" sz="1050" dirty="0"/>
          </a:p>
        </p:txBody>
      </p:sp>
      <p:sp>
        <p:nvSpPr>
          <p:cNvPr id="19" name="Shape 16"/>
          <p:cNvSpPr/>
          <p:nvPr/>
        </p:nvSpPr>
        <p:spPr>
          <a:xfrm>
            <a:off x="660197" y="5217566"/>
            <a:ext cx="6309360" cy="859536"/>
          </a:xfrm>
          <a:prstGeom prst="roundRect">
            <a:avLst>
              <a:gd name="adj" fmla="val 6383"/>
            </a:avLst>
          </a:prstGeom>
          <a:solidFill>
            <a:srgbClr val="0C5230"/>
          </a:solidFill>
          <a:ln/>
        </p:spPr>
      </p:sp>
      <p:pic>
        <p:nvPicPr>
          <p:cNvPr id="20" name="Image 1" descr="/home/user/suzuki-ceo/selfcafe-gyomu-deck/assets/icons/LuLifeBuoy-pale.png">    </p:cNvPr>
          <p:cNvPicPr>
            <a:picLocks noChangeAspect="1"/>
          </p:cNvPicPr>
          <p:nvPr/>
        </p:nvPicPr>
        <p:blipFill>
          <a:blip r:embed="rId2"/>
          <a:stretch>
            <a:fillRect/>
          </a:stretch>
        </p:blipFill>
        <p:spPr>
          <a:xfrm>
            <a:off x="934517" y="5491886"/>
            <a:ext cx="329184" cy="329184"/>
          </a:xfrm>
          <a:prstGeom prst="rect">
            <a:avLst/>
          </a:prstGeom>
        </p:spPr>
      </p:pic>
      <p:sp>
        <p:nvSpPr>
          <p:cNvPr id="21" name="Text 17"/>
          <p:cNvSpPr/>
          <p:nvPr/>
        </p:nvSpPr>
        <p:spPr>
          <a:xfrm>
            <a:off x="1428293" y="5345582"/>
            <a:ext cx="5266944" cy="658368"/>
          </a:xfrm>
          <a:prstGeom prst="rect">
            <a:avLst/>
          </a:prstGeom>
          <a:noFill/>
          <a:ln/>
        </p:spPr>
        <p:txBody>
          <a:bodyPr wrap="square" lIns="0" tIns="0" rIns="0" bIns="0" rtlCol="0" anchor="ctr"/>
          <a:lstStyle/>
          <a:p>
            <a:pPr indent="0" marL="0">
              <a:lnSpc>
                <a:spcPct val="135000"/>
              </a:lnSpc>
              <a:buNone/>
            </a:pPr>
            <a:r>
              <a:rPr lang="en-US" sz="1050" b="1" dirty="0">
                <a:solidFill>
                  <a:srgbClr val="FFFFFF"/>
                </a:solidFill>
                <a:latin typeface="Yu Gothic" pitchFamily="34" charset="0"/>
                <a:ea typeface="Yu Gothic" pitchFamily="34" charset="-122"/>
                <a:cs typeface="Yu Gothic" pitchFamily="34" charset="-120"/>
              </a:rPr>
              <a:t>自分でやらない選択肢も。清掃パートナーへの委託 月3万円程度（収支モデルに計上済み）。営業サポートプランを選べば、お客様からの問い合わせもすべて本部が対応します。</a:t>
            </a:r>
            <a:endParaRPr lang="en-US" sz="1050" dirty="0"/>
          </a:p>
        </p:txBody>
      </p:sp>
      <p:pic>
        <p:nvPicPr>
          <p:cNvPr id="22" name="Image 2" descr="/home/user/suzuki-ceo/selfcafe-gyomu-deck/assets/photos/.crops/p05-woman-457x184.jpg">    </p:cNvPr>
          <p:cNvPicPr>
            <a:picLocks noChangeAspect="1"/>
          </p:cNvPicPr>
          <p:nvPr/>
        </p:nvPicPr>
        <p:blipFill>
          <a:blip r:embed="rId3"/>
          <a:stretch>
            <a:fillRect/>
          </a:stretch>
        </p:blipFill>
        <p:spPr>
          <a:xfrm>
            <a:off x="7353605" y="1651406"/>
            <a:ext cx="4177894" cy="1682496"/>
          </a:xfrm>
          <a:prstGeom prst="rect">
            <a:avLst/>
          </a:prstGeom>
        </p:spPr>
      </p:pic>
      <p:sp>
        <p:nvSpPr>
          <p:cNvPr id="23" name="Shape 18"/>
          <p:cNvSpPr/>
          <p:nvPr/>
        </p:nvSpPr>
        <p:spPr>
          <a:xfrm>
            <a:off x="7353605" y="1651406"/>
            <a:ext cx="4177894" cy="1682496"/>
          </a:xfrm>
          <a:prstGeom prst="rect">
            <a:avLst/>
          </a:prstGeom>
          <a:ln w="12700">
            <a:solidFill>
              <a:srgbClr val="D8D2C6"/>
            </a:solidFill>
            <a:prstDash val="solid"/>
          </a:ln>
        </p:spPr>
      </p:sp>
      <p:sp>
        <p:nvSpPr>
          <p:cNvPr id="24" name="Shape 19"/>
          <p:cNvSpPr/>
          <p:nvPr/>
        </p:nvSpPr>
        <p:spPr>
          <a:xfrm>
            <a:off x="7353605" y="3516782"/>
            <a:ext cx="4177894" cy="2560320"/>
          </a:xfrm>
          <a:prstGeom prst="roundRect">
            <a:avLst>
              <a:gd name="adj" fmla="val 2143"/>
            </a:avLst>
          </a:prstGeom>
          <a:solidFill>
            <a:srgbClr val="FFFFFF"/>
          </a:solidFill>
          <a:ln w="9525">
            <a:solidFill>
              <a:srgbClr val="EFEAE0"/>
            </a:solidFill>
            <a:prstDash val="solid"/>
          </a:ln>
        </p:spPr>
      </p:sp>
      <p:sp>
        <p:nvSpPr>
          <p:cNvPr id="25" name="Text 20"/>
          <p:cNvSpPr/>
          <p:nvPr/>
        </p:nvSpPr>
        <p:spPr>
          <a:xfrm>
            <a:off x="7627925" y="3754526"/>
            <a:ext cx="2377440" cy="164592"/>
          </a:xfrm>
          <a:prstGeom prst="rect">
            <a:avLst/>
          </a:prstGeom>
          <a:noFill/>
          <a:ln/>
        </p:spPr>
        <p:txBody>
          <a:bodyPr wrap="square" lIns="0" tIns="0" rIns="0" bIns="0" rtlCol="0" anchor="ctr"/>
          <a:lstStyle/>
          <a:p>
            <a:pPr indent="0" marL="0">
              <a:buNone/>
            </a:pPr>
            <a:r>
              <a:rPr lang="en-US" sz="900" b="1" spc="150" kern="0" dirty="0">
                <a:solidFill>
                  <a:srgbClr val="A8761F"/>
                </a:solidFill>
                <a:latin typeface="Arial" pitchFamily="34" charset="0"/>
                <a:ea typeface="Arial" pitchFamily="34" charset="-122"/>
                <a:cs typeface="Arial" pitchFamily="34" charset="-120"/>
              </a:rPr>
              <a:t>GOOD TO KNOW</a:t>
            </a:r>
            <a:endParaRPr lang="en-US" sz="900" dirty="0"/>
          </a:p>
        </p:txBody>
      </p:sp>
      <p:pic>
        <p:nvPicPr>
          <p:cNvPr id="26" name="Image 3" descr="/home/user/suzuki-ceo/selfcafe-gyomu-deck/assets/icons/LuFileCheck-green.png">    </p:cNvPr>
          <p:cNvPicPr>
            <a:picLocks noChangeAspect="1"/>
          </p:cNvPicPr>
          <p:nvPr/>
        </p:nvPicPr>
        <p:blipFill>
          <a:blip r:embed="rId4"/>
          <a:stretch>
            <a:fillRect/>
          </a:stretch>
        </p:blipFill>
        <p:spPr>
          <a:xfrm>
            <a:off x="7627925" y="4074566"/>
            <a:ext cx="274320" cy="274320"/>
          </a:xfrm>
          <a:prstGeom prst="rect">
            <a:avLst/>
          </a:prstGeom>
        </p:spPr>
      </p:pic>
      <p:sp>
        <p:nvSpPr>
          <p:cNvPr id="27" name="Text 21"/>
          <p:cNvSpPr/>
          <p:nvPr/>
        </p:nvSpPr>
        <p:spPr>
          <a:xfrm>
            <a:off x="8030261" y="4047134"/>
            <a:ext cx="3263494" cy="512064"/>
          </a:xfrm>
          <a:prstGeom prst="rect">
            <a:avLst/>
          </a:prstGeom>
          <a:noFill/>
          <a:ln/>
        </p:spPr>
        <p:txBody>
          <a:bodyPr wrap="square" lIns="0" tIns="0" rIns="0" bIns="0" rtlCol="0" anchor="t"/>
          <a:lstStyle/>
          <a:p>
            <a:pPr indent="0" marL="0">
              <a:lnSpc>
                <a:spcPct val="125000"/>
              </a:lnSpc>
              <a:buNone/>
            </a:pPr>
            <a:r>
              <a:rPr lang="en-US" sz="1050" b="1" dirty="0">
                <a:solidFill>
                  <a:srgbClr val="0A3D23"/>
                </a:solidFill>
                <a:latin typeface="Yu Gothic" pitchFamily="34" charset="0"/>
                <a:ea typeface="Yu Gothic" pitchFamily="34" charset="-122"/>
                <a:cs typeface="Yu Gothic" pitchFamily="34" charset="-120"/>
              </a:rPr>
              <a:t>営業届の申請は本部が実施</a:t>
            </a:r>
            <a:endParaRPr lang="en-US" sz="1050" dirty="0"/>
          </a:p>
        </p:txBody>
      </p:sp>
      <p:pic>
        <p:nvPicPr>
          <p:cNvPr id="28" name="Image 4" descr="/home/user/suzuki-ceo/selfcafe-gyomu-deck/assets/icons/LuGraduationCap-green.png">    </p:cNvPr>
          <p:cNvPicPr>
            <a:picLocks noChangeAspect="1"/>
          </p:cNvPicPr>
          <p:nvPr/>
        </p:nvPicPr>
        <p:blipFill>
          <a:blip r:embed="rId5"/>
          <a:stretch>
            <a:fillRect/>
          </a:stretch>
        </p:blipFill>
        <p:spPr>
          <a:xfrm>
            <a:off x="7627925" y="4696358"/>
            <a:ext cx="274320" cy="274320"/>
          </a:xfrm>
          <a:prstGeom prst="rect">
            <a:avLst/>
          </a:prstGeom>
        </p:spPr>
      </p:pic>
      <p:sp>
        <p:nvSpPr>
          <p:cNvPr id="29" name="Text 22"/>
          <p:cNvSpPr/>
          <p:nvPr/>
        </p:nvSpPr>
        <p:spPr>
          <a:xfrm>
            <a:off x="8030261" y="4668926"/>
            <a:ext cx="3263494" cy="512064"/>
          </a:xfrm>
          <a:prstGeom prst="rect">
            <a:avLst/>
          </a:prstGeom>
          <a:noFill/>
          <a:ln/>
        </p:spPr>
        <p:txBody>
          <a:bodyPr wrap="square" lIns="0" tIns="0" rIns="0" bIns="0" rtlCol="0" anchor="t"/>
          <a:lstStyle/>
          <a:p>
            <a:pPr indent="0" marL="0">
              <a:lnSpc>
                <a:spcPct val="125000"/>
              </a:lnSpc>
              <a:buNone/>
            </a:pPr>
            <a:r>
              <a:rPr lang="en-US" sz="1050" b="1" dirty="0">
                <a:solidFill>
                  <a:srgbClr val="0A3D23"/>
                </a:solidFill>
                <a:latin typeface="Yu Gothic" pitchFamily="34" charset="0"/>
                <a:ea typeface="Yu Gothic" pitchFamily="34" charset="-122"/>
                <a:cs typeface="Yu Gothic" pitchFamily="34" charset="-120"/>
              </a:rPr>
              <a:t>食品衛生責任者は本部にて設置</a:t>
            </a:r>
            <a:endParaRPr lang="en-US" sz="1050" dirty="0"/>
          </a:p>
        </p:txBody>
      </p:sp>
      <p:pic>
        <p:nvPicPr>
          <p:cNvPr id="30" name="Image 5" descr="/home/user/suzuki-ceo/selfcafe-gyomu-deck/assets/icons/LuTimer-green.png">    </p:cNvPr>
          <p:cNvPicPr>
            <a:picLocks noChangeAspect="1"/>
          </p:cNvPicPr>
          <p:nvPr/>
        </p:nvPicPr>
        <p:blipFill>
          <a:blip r:embed="rId6"/>
          <a:stretch>
            <a:fillRect/>
          </a:stretch>
        </p:blipFill>
        <p:spPr>
          <a:xfrm>
            <a:off x="7627925" y="5318150"/>
            <a:ext cx="274320" cy="274320"/>
          </a:xfrm>
          <a:prstGeom prst="rect">
            <a:avLst/>
          </a:prstGeom>
        </p:spPr>
      </p:pic>
      <p:sp>
        <p:nvSpPr>
          <p:cNvPr id="31" name="Text 23"/>
          <p:cNvSpPr/>
          <p:nvPr/>
        </p:nvSpPr>
        <p:spPr>
          <a:xfrm>
            <a:off x="8030261" y="5290718"/>
            <a:ext cx="3263494" cy="512064"/>
          </a:xfrm>
          <a:prstGeom prst="rect">
            <a:avLst/>
          </a:prstGeom>
          <a:noFill/>
          <a:ln/>
        </p:spPr>
        <p:txBody>
          <a:bodyPr wrap="square" lIns="0" tIns="0" rIns="0" bIns="0" rtlCol="0" anchor="t"/>
          <a:lstStyle/>
          <a:p>
            <a:pPr indent="0" marL="0">
              <a:lnSpc>
                <a:spcPct val="125000"/>
              </a:lnSpc>
              <a:buNone/>
            </a:pPr>
            <a:r>
              <a:rPr lang="en-US" sz="1050" b="1" dirty="0">
                <a:solidFill>
                  <a:srgbClr val="0A3D23"/>
                </a:solidFill>
                <a:latin typeface="Yu Gothic" pitchFamily="34" charset="0"/>
                <a:ea typeface="Yu Gothic" pitchFamily="34" charset="-122"/>
                <a:cs typeface="Yu Gothic" pitchFamily="34" charset="-120"/>
              </a:rPr>
              <a:t>所要時間は店舗規模・営業時間で変動</a:t>
            </a:r>
            <a:endParaRPr lang="en-US" sz="1050" dirty="0"/>
          </a:p>
        </p:txBody>
      </p:sp>
      <p:sp>
        <p:nvSpPr>
          <p:cNvPr id="32" name="Text 24"/>
          <p:cNvSpPr/>
          <p:nvPr/>
        </p:nvSpPr>
        <p:spPr>
          <a:xfrm>
            <a:off x="660197" y="6327648"/>
            <a:ext cx="10871302" cy="182880"/>
          </a:xfrm>
          <a:prstGeom prst="rect">
            <a:avLst/>
          </a:prstGeom>
          <a:noFill/>
          <a:ln/>
        </p:spPr>
        <p:txBody>
          <a:bodyPr wrap="square" lIns="0" tIns="0" rIns="0" bIns="0" rtlCol="0" anchor="ctr"/>
          <a:lstStyle/>
          <a:p>
            <a:pPr indent="0" marL="0">
              <a:buNone/>
            </a:pPr>
            <a:r>
              <a:rPr lang="en-US" sz="850" dirty="0">
                <a:solidFill>
                  <a:srgbClr val="A8B0AA"/>
                </a:solidFill>
                <a:latin typeface="Yu Gothic" pitchFamily="34" charset="0"/>
                <a:ea typeface="Yu Gothic" pitchFamily="34" charset="-122"/>
                <a:cs typeface="Yu Gothic" pitchFamily="34" charset="-120"/>
              </a:rPr>
              <a:t>※ 委託費用・サポートプランの料金は有料オプション一覧のページをご参照ください。</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7"/>
        </a:solidFill>
      </p:bgPr>
    </p:bg>
    <p:spTree>
      <p:nvGrpSpPr>
        <p:cNvPr id="1" name=""/>
        <p:cNvGrpSpPr/>
        <p:nvPr/>
      </p:nvGrpSpPr>
      <p:grpSpPr>
        <a:xfrm>
          <a:off x="0" y="0"/>
          <a:ext cx="0" cy="0"/>
          <a:chOff x="0" y="0"/>
          <a:chExt cx="0" cy="0"/>
        </a:xfrm>
      </p:grpSpPr>
      <p:sp>
        <p:nvSpPr>
          <p:cNvPr id="2" name="Shape 0"/>
          <p:cNvSpPr/>
          <p:nvPr/>
        </p:nvSpPr>
        <p:spPr>
          <a:xfrm>
            <a:off x="660197" y="545897"/>
            <a:ext cx="202997" cy="25603"/>
          </a:xfrm>
          <a:prstGeom prst="rect">
            <a:avLst/>
          </a:prstGeom>
          <a:solidFill>
            <a:srgbClr val="106838"/>
          </a:solidFill>
          <a:ln/>
        </p:spPr>
      </p:sp>
      <p:sp>
        <p:nvSpPr>
          <p:cNvPr id="3" name="Text 1"/>
          <p:cNvSpPr/>
          <p:nvPr/>
        </p:nvSpPr>
        <p:spPr>
          <a:xfrm>
            <a:off x="952805" y="444398"/>
            <a:ext cx="6400800" cy="177394"/>
          </a:xfrm>
          <a:prstGeom prst="rect">
            <a:avLst/>
          </a:prstGeom>
          <a:noFill/>
          <a:ln/>
        </p:spPr>
        <p:txBody>
          <a:bodyPr wrap="square" lIns="0" tIns="0" rIns="0" bIns="0" rtlCol="0" anchor="ctr"/>
          <a:lstStyle/>
          <a:p>
            <a:pPr indent="0" marL="0">
              <a:buNone/>
            </a:pPr>
            <a:r>
              <a:rPr lang="en-US" sz="1050" b="1" dirty="0">
                <a:solidFill>
                  <a:srgbClr val="A8761F"/>
                </a:solidFill>
                <a:latin typeface="Arial" pitchFamily="34" charset="0"/>
                <a:ea typeface="Arial" pitchFamily="34" charset="-122"/>
                <a:cs typeface="Arial" pitchFamily="34" charset="-120"/>
              </a:rPr>
              <a:t>18</a:t>
            </a:r>
            <a:r>
              <a:rPr lang="en-US" sz="1050" b="1" dirty="0">
                <a:solidFill>
                  <a:srgbClr val="1B8149"/>
                </a:solidFill>
                <a:latin typeface="Yu Gothic" pitchFamily="34" charset="0"/>
                <a:ea typeface="Yu Gothic" pitchFamily="34" charset="-122"/>
                <a:cs typeface="Yu Gothic" pitchFamily="34" charset="-120"/>
              </a:rPr>
              <a:t>   業務委託型制度</a:t>
            </a:r>
            <a:endParaRPr lang="en-US" sz="1050" dirty="0"/>
          </a:p>
        </p:txBody>
      </p:sp>
      <p:sp>
        <p:nvSpPr>
          <p:cNvPr id="4" name="Text 2"/>
          <p:cNvSpPr/>
          <p:nvPr/>
        </p:nvSpPr>
        <p:spPr>
          <a:xfrm>
            <a:off x="660197" y="660197"/>
            <a:ext cx="8889797" cy="508406"/>
          </a:xfrm>
          <a:prstGeom prst="rect">
            <a:avLst/>
          </a:prstGeom>
          <a:noFill/>
          <a:ln/>
        </p:spPr>
        <p:txBody>
          <a:bodyPr wrap="square" lIns="0" tIns="0" rIns="0" bIns="0" rtlCol="0" anchor="ctr"/>
          <a:lstStyle/>
          <a:p>
            <a:pPr indent="0" marL="0">
              <a:buNone/>
            </a:pPr>
            <a:r>
              <a:rPr lang="en-US" sz="2900" b="1" dirty="0">
                <a:solidFill>
                  <a:srgbClr val="0A3D23"/>
                </a:solidFill>
                <a:latin typeface="Yu Gothic" pitchFamily="34" charset="0"/>
                <a:ea typeface="Yu Gothic" pitchFamily="34" charset="-122"/>
                <a:cs typeface="Yu Gothic" pitchFamily="34" charset="-120"/>
              </a:rPr>
              <a:t>業務委託型制度の3つの特徴</a:t>
            </a:r>
            <a:endParaRPr lang="en-US" sz="2900" dirty="0"/>
          </a:p>
        </p:txBody>
      </p:sp>
      <p:sp>
        <p:nvSpPr>
          <p:cNvPr id="5" name="Text 3"/>
          <p:cNvSpPr/>
          <p:nvPr/>
        </p:nvSpPr>
        <p:spPr>
          <a:xfrm>
            <a:off x="660197" y="1308506"/>
            <a:ext cx="10032797" cy="228600"/>
          </a:xfrm>
          <a:prstGeom prst="rect">
            <a:avLst/>
          </a:prstGeom>
          <a:noFill/>
          <a:ln/>
        </p:spPr>
        <p:txBody>
          <a:bodyPr wrap="square" lIns="0" tIns="0" rIns="0" bIns="0" rtlCol="0" anchor="ctr"/>
          <a:lstStyle/>
          <a:p>
            <a:pPr indent="0" marL="0">
              <a:buNone/>
            </a:pPr>
            <a:r>
              <a:rPr lang="en-US" sz="1250" dirty="0">
                <a:solidFill>
                  <a:srgbClr val="4B5550"/>
                </a:solidFill>
                <a:latin typeface="Yu Gothic" pitchFamily="34" charset="0"/>
                <a:ea typeface="Yu Gothic" pitchFamily="34" charset="-122"/>
                <a:cs typeface="Yu Gothic" pitchFamily="34" charset="-120"/>
              </a:rPr>
              <a:t>低コスト・遊休スペース活用・省人力運営の3点が、導入判断のハードルを下げます。</a:t>
            </a:r>
            <a:endParaRPr lang="en-US" sz="1250" dirty="0"/>
          </a:p>
        </p:txBody>
      </p:sp>
      <p:pic>
        <p:nvPicPr>
          <p:cNvPr id="6" name="Image 0" descr="/home/user/suzuki-ceo/selfcafe-gyomu-deck/assets/logo-green.png">    </p:cNvPr>
          <p:cNvPicPr>
            <a:picLocks noChangeAspect="1"/>
          </p:cNvPicPr>
          <p:nvPr/>
        </p:nvPicPr>
        <p:blipFill>
          <a:blip r:embed="rId1"/>
          <a:stretch>
            <a:fillRect/>
          </a:stretch>
        </p:blipFill>
        <p:spPr>
          <a:xfrm>
            <a:off x="9855403" y="482803"/>
            <a:ext cx="1676095" cy="238658"/>
          </a:xfrm>
          <a:prstGeom prst="rect">
            <a:avLst/>
          </a:prstGeom>
        </p:spPr>
      </p:pic>
      <p:sp>
        <p:nvSpPr>
          <p:cNvPr id="7" name="Text 4"/>
          <p:cNvSpPr/>
          <p:nvPr/>
        </p:nvSpPr>
        <p:spPr>
          <a:xfrm>
            <a:off x="660197" y="6476695"/>
            <a:ext cx="5080406" cy="152705"/>
          </a:xfrm>
          <a:prstGeom prst="rect">
            <a:avLst/>
          </a:prstGeom>
          <a:noFill/>
          <a:ln/>
        </p:spPr>
        <p:txBody>
          <a:bodyPr wrap="square" lIns="0" tIns="0" rIns="0" bIns="0" rtlCol="0" anchor="ctr"/>
          <a:lstStyle/>
          <a:p>
            <a:pPr indent="0" marL="0">
              <a:buNone/>
            </a:pPr>
            <a:r>
              <a:rPr lang="en-US" sz="900" dirty="0">
                <a:solidFill>
                  <a:srgbClr val="A8B0AA"/>
                </a:solidFill>
                <a:latin typeface="Yu Gothic" pitchFamily="34" charset="0"/>
                <a:ea typeface="Yu Gothic" pitchFamily="34" charset="-122"/>
                <a:cs typeface="Yu Gothic" pitchFamily="34" charset="-120"/>
              </a:rPr>
              <a:t>セルフカフェ 業務委託型制度</a:t>
            </a:r>
            <a:endParaRPr lang="en-US" sz="900" dirty="0"/>
          </a:p>
        </p:txBody>
      </p:sp>
      <p:sp>
        <p:nvSpPr>
          <p:cNvPr id="8" name="Text 5"/>
          <p:cNvSpPr/>
          <p:nvPr/>
        </p:nvSpPr>
        <p:spPr>
          <a:xfrm>
            <a:off x="10261397" y="6463894"/>
            <a:ext cx="1270102" cy="152705"/>
          </a:xfrm>
          <a:prstGeom prst="rect">
            <a:avLst/>
          </a:prstGeom>
          <a:noFill/>
          <a:ln/>
        </p:spPr>
        <p:txBody>
          <a:bodyPr wrap="square" lIns="0" tIns="0" rIns="0" bIns="0" rtlCol="0" anchor="ctr"/>
          <a:lstStyle/>
          <a:p>
            <a:pPr algn="r" indent="0" marL="0">
              <a:buNone/>
            </a:pPr>
            <a:r>
              <a:rPr lang="en-US" sz="1000" b="1" dirty="0">
                <a:solidFill>
                  <a:srgbClr val="7E8882"/>
                </a:solidFill>
                <a:latin typeface="Arial" pitchFamily="34" charset="0"/>
                <a:ea typeface="Arial" pitchFamily="34" charset="-122"/>
                <a:cs typeface="Arial" pitchFamily="34" charset="-120"/>
              </a:rPr>
              <a:t>19</a:t>
            </a:r>
            <a:endParaRPr lang="en-US" sz="1000" dirty="0"/>
          </a:p>
        </p:txBody>
      </p:sp>
      <p:sp>
        <p:nvSpPr>
          <p:cNvPr id="9" name="Shape 6"/>
          <p:cNvSpPr/>
          <p:nvPr/>
        </p:nvSpPr>
        <p:spPr>
          <a:xfrm>
            <a:off x="660197" y="1651406"/>
            <a:ext cx="3440887" cy="3877056"/>
          </a:xfrm>
          <a:prstGeom prst="roundRect">
            <a:avLst>
              <a:gd name="adj" fmla="val 1594"/>
            </a:avLst>
          </a:prstGeom>
          <a:solidFill>
            <a:srgbClr val="FFFFFF"/>
          </a:solidFill>
          <a:ln w="9525">
            <a:solidFill>
              <a:srgbClr val="EFEAE0"/>
            </a:solidFill>
            <a:prstDash val="solid"/>
          </a:ln>
        </p:spPr>
      </p:sp>
      <p:sp>
        <p:nvSpPr>
          <p:cNvPr id="10" name="Text 7"/>
          <p:cNvSpPr/>
          <p:nvPr/>
        </p:nvSpPr>
        <p:spPr>
          <a:xfrm>
            <a:off x="934517" y="1925726"/>
            <a:ext cx="1828800" cy="164592"/>
          </a:xfrm>
          <a:prstGeom prst="rect">
            <a:avLst/>
          </a:prstGeom>
          <a:noFill/>
          <a:ln/>
        </p:spPr>
        <p:txBody>
          <a:bodyPr wrap="square" lIns="0" tIns="0" rIns="0" bIns="0" rtlCol="0" anchor="ctr"/>
          <a:lstStyle/>
          <a:p>
            <a:pPr indent="0" marL="0">
              <a:buNone/>
            </a:pPr>
            <a:r>
              <a:rPr lang="en-US" sz="900" b="1" spc="150" kern="0" dirty="0">
                <a:solidFill>
                  <a:srgbClr val="A8761F"/>
                </a:solidFill>
                <a:latin typeface="Arial" pitchFamily="34" charset="0"/>
                <a:ea typeface="Arial" pitchFamily="34" charset="-122"/>
                <a:cs typeface="Arial" pitchFamily="34" charset="-120"/>
              </a:rPr>
              <a:t>POINT 01</a:t>
            </a:r>
            <a:endParaRPr lang="en-US" sz="900" dirty="0"/>
          </a:p>
        </p:txBody>
      </p:sp>
      <p:pic>
        <p:nvPicPr>
          <p:cNvPr id="11" name="Image 1" descr="/home/user/suzuki-ceo/selfcafe-gyomu-deck/assets/icons/LuWallet-green.png">    </p:cNvPr>
          <p:cNvPicPr>
            <a:picLocks noChangeAspect="1"/>
          </p:cNvPicPr>
          <p:nvPr/>
        </p:nvPicPr>
        <p:blipFill>
          <a:blip r:embed="rId2"/>
          <a:stretch>
            <a:fillRect/>
          </a:stretch>
        </p:blipFill>
        <p:spPr>
          <a:xfrm>
            <a:off x="3351276" y="1889150"/>
            <a:ext cx="365760" cy="365760"/>
          </a:xfrm>
          <a:prstGeom prst="rect">
            <a:avLst/>
          </a:prstGeom>
        </p:spPr>
      </p:pic>
      <p:sp>
        <p:nvSpPr>
          <p:cNvPr id="12" name="Text 8"/>
          <p:cNvSpPr/>
          <p:nvPr/>
        </p:nvSpPr>
        <p:spPr>
          <a:xfrm>
            <a:off x="934517" y="2218334"/>
            <a:ext cx="2892247" cy="457200"/>
          </a:xfrm>
          <a:prstGeom prst="rect">
            <a:avLst/>
          </a:prstGeom>
          <a:noFill/>
          <a:ln/>
        </p:spPr>
        <p:txBody>
          <a:bodyPr wrap="square" lIns="0" tIns="0" rIns="0" bIns="0" rtlCol="0" anchor="ctr"/>
          <a:lstStyle/>
          <a:p>
            <a:pPr indent="0" marL="0">
              <a:buNone/>
            </a:pPr>
            <a:r>
              <a:rPr lang="en-US" sz="2400" b="1" dirty="0">
                <a:solidFill>
                  <a:srgbClr val="106838"/>
                </a:solidFill>
                <a:latin typeface="Yu Gothic" pitchFamily="34" charset="0"/>
                <a:ea typeface="Yu Gothic" pitchFamily="34" charset="-122"/>
                <a:cs typeface="Yu Gothic" pitchFamily="34" charset="-120"/>
              </a:rPr>
              <a:t>30〜50 万円</a:t>
            </a:r>
            <a:endParaRPr lang="en-US" sz="2400" dirty="0"/>
          </a:p>
        </p:txBody>
      </p:sp>
      <p:sp>
        <p:nvSpPr>
          <p:cNvPr id="13" name="Text 9"/>
          <p:cNvSpPr/>
          <p:nvPr/>
        </p:nvSpPr>
        <p:spPr>
          <a:xfrm>
            <a:off x="934517" y="2730398"/>
            <a:ext cx="2892247" cy="329184"/>
          </a:xfrm>
          <a:prstGeom prst="rect">
            <a:avLst/>
          </a:prstGeom>
          <a:noFill/>
          <a:ln/>
        </p:spPr>
        <p:txBody>
          <a:bodyPr wrap="square" lIns="0" tIns="0" rIns="0" bIns="0" rtlCol="0" anchor="ctr"/>
          <a:lstStyle/>
          <a:p>
            <a:pPr indent="0" marL="0">
              <a:buNone/>
            </a:pPr>
            <a:r>
              <a:rPr lang="en-US" sz="1500" b="1" dirty="0">
                <a:solidFill>
                  <a:srgbClr val="0A3D23"/>
                </a:solidFill>
                <a:latin typeface="Yu Gothic" pitchFamily="34" charset="0"/>
                <a:ea typeface="Yu Gothic" pitchFamily="34" charset="-122"/>
                <a:cs typeface="Yu Gothic" pitchFamily="34" charset="-120"/>
              </a:rPr>
              <a:t>低初期コスト</a:t>
            </a:r>
            <a:endParaRPr lang="en-US" sz="1500" dirty="0"/>
          </a:p>
        </p:txBody>
      </p:sp>
      <p:sp>
        <p:nvSpPr>
          <p:cNvPr id="14" name="Shape 10"/>
          <p:cNvSpPr/>
          <p:nvPr/>
        </p:nvSpPr>
        <p:spPr>
          <a:xfrm>
            <a:off x="934517" y="3151022"/>
            <a:ext cx="2892247" cy="10058"/>
          </a:xfrm>
          <a:prstGeom prst="rect">
            <a:avLst/>
          </a:prstGeom>
          <a:solidFill>
            <a:srgbClr val="EFEAE0"/>
          </a:solidFill>
          <a:ln/>
        </p:spPr>
      </p:sp>
      <p:sp>
        <p:nvSpPr>
          <p:cNvPr id="15" name="Text 11"/>
          <p:cNvSpPr/>
          <p:nvPr/>
        </p:nvSpPr>
        <p:spPr>
          <a:xfrm>
            <a:off x="934517" y="3279038"/>
            <a:ext cx="2892247" cy="1371600"/>
          </a:xfrm>
          <a:prstGeom prst="rect">
            <a:avLst/>
          </a:prstGeom>
          <a:noFill/>
          <a:ln/>
        </p:spPr>
        <p:txBody>
          <a:bodyPr wrap="square" lIns="0" tIns="0" rIns="0" bIns="0" rtlCol="0" anchor="t"/>
          <a:lstStyle/>
          <a:p>
            <a:pPr indent="0" marL="0">
              <a:lnSpc>
                <a:spcPct val="150000"/>
              </a:lnSpc>
              <a:buNone/>
            </a:pPr>
            <a:r>
              <a:rPr lang="en-US" sz="1100" dirty="0">
                <a:solidFill>
                  <a:srgbClr val="4B5550"/>
                </a:solidFill>
                <a:latin typeface="Yu Gothic" pitchFamily="34" charset="0"/>
                <a:ea typeface="Yu Gothic" pitchFamily="34" charset="-122"/>
                <a:cs typeface="Yu Gothic" pitchFamily="34" charset="-120"/>
              </a:rPr>
              <a:t>加盟金はありません。必要なのは機器設置費のみで、通常のFC加盟（750万円〜）の1/15以下で始められます。</a:t>
            </a:r>
            <a:endParaRPr lang="en-US" sz="1100" dirty="0"/>
          </a:p>
        </p:txBody>
      </p:sp>
      <p:sp>
        <p:nvSpPr>
          <p:cNvPr id="16" name="Shape 12"/>
          <p:cNvSpPr/>
          <p:nvPr/>
        </p:nvSpPr>
        <p:spPr>
          <a:xfrm>
            <a:off x="934517" y="4961534"/>
            <a:ext cx="1014984" cy="292608"/>
          </a:xfrm>
          <a:prstGeom prst="roundRect">
            <a:avLst>
              <a:gd name="adj" fmla="val 50000"/>
            </a:avLst>
          </a:prstGeom>
          <a:solidFill>
            <a:srgbClr val="F1F8F3"/>
          </a:solidFill>
          <a:ln w="9525">
            <a:solidFill>
              <a:srgbClr val="D2E7DA"/>
            </a:solidFill>
            <a:prstDash val="solid"/>
          </a:ln>
        </p:spPr>
      </p:sp>
      <p:sp>
        <p:nvSpPr>
          <p:cNvPr id="17" name="Text 13"/>
          <p:cNvSpPr/>
          <p:nvPr/>
        </p:nvSpPr>
        <p:spPr>
          <a:xfrm>
            <a:off x="934517" y="4961534"/>
            <a:ext cx="1014984" cy="292608"/>
          </a:xfrm>
          <a:prstGeom prst="rect">
            <a:avLst/>
          </a:prstGeom>
          <a:noFill/>
          <a:ln/>
        </p:spPr>
        <p:txBody>
          <a:bodyPr wrap="square" lIns="0" tIns="0" rIns="0" bIns="0" rtlCol="0" anchor="ctr"/>
          <a:lstStyle/>
          <a:p>
            <a:pPr algn="ctr" indent="0" marL="0">
              <a:buNone/>
            </a:pPr>
            <a:r>
              <a:rPr lang="en-US" sz="900" b="1" dirty="0">
                <a:solidFill>
                  <a:srgbClr val="106838"/>
                </a:solidFill>
                <a:latin typeface="Yu Gothic" pitchFamily="34" charset="0"/>
                <a:ea typeface="Yu Gothic" pitchFamily="34" charset="-122"/>
                <a:cs typeface="Yu Gothic" pitchFamily="34" charset="-120"/>
              </a:rPr>
              <a:t>加盟金 0円</a:t>
            </a:r>
            <a:endParaRPr lang="en-US" sz="900" dirty="0"/>
          </a:p>
        </p:txBody>
      </p:sp>
      <p:sp>
        <p:nvSpPr>
          <p:cNvPr id="18" name="Shape 14"/>
          <p:cNvSpPr/>
          <p:nvPr/>
        </p:nvSpPr>
        <p:spPr>
          <a:xfrm>
            <a:off x="2077517" y="4961534"/>
            <a:ext cx="1138428" cy="292608"/>
          </a:xfrm>
          <a:prstGeom prst="roundRect">
            <a:avLst>
              <a:gd name="adj" fmla="val 50000"/>
            </a:avLst>
          </a:prstGeom>
          <a:solidFill>
            <a:srgbClr val="F1F8F3"/>
          </a:solidFill>
          <a:ln w="9525">
            <a:solidFill>
              <a:srgbClr val="D2E7DA"/>
            </a:solidFill>
            <a:prstDash val="solid"/>
          </a:ln>
        </p:spPr>
      </p:sp>
      <p:sp>
        <p:nvSpPr>
          <p:cNvPr id="19" name="Text 15"/>
          <p:cNvSpPr/>
          <p:nvPr/>
        </p:nvSpPr>
        <p:spPr>
          <a:xfrm>
            <a:off x="2077517" y="4961534"/>
            <a:ext cx="1138428" cy="292608"/>
          </a:xfrm>
          <a:prstGeom prst="rect">
            <a:avLst/>
          </a:prstGeom>
          <a:noFill/>
          <a:ln/>
        </p:spPr>
        <p:txBody>
          <a:bodyPr wrap="square" lIns="0" tIns="0" rIns="0" bIns="0" rtlCol="0" anchor="ctr"/>
          <a:lstStyle/>
          <a:p>
            <a:pPr algn="ctr" indent="0" marL="0">
              <a:buNone/>
            </a:pPr>
            <a:r>
              <a:rPr lang="en-US" sz="900" b="1" dirty="0">
                <a:solidFill>
                  <a:srgbClr val="106838"/>
                </a:solidFill>
                <a:latin typeface="Yu Gothic" pitchFamily="34" charset="0"/>
                <a:ea typeface="Yu Gothic" pitchFamily="34" charset="-122"/>
                <a:cs typeface="Yu Gothic" pitchFamily="34" charset="-120"/>
              </a:rPr>
              <a:t>機器設置費のみ</a:t>
            </a:r>
            <a:endParaRPr lang="en-US" sz="900" dirty="0"/>
          </a:p>
        </p:txBody>
      </p:sp>
      <p:sp>
        <p:nvSpPr>
          <p:cNvPr id="20" name="Shape 16"/>
          <p:cNvSpPr/>
          <p:nvPr/>
        </p:nvSpPr>
        <p:spPr>
          <a:xfrm>
            <a:off x="4375404" y="1651406"/>
            <a:ext cx="3440887" cy="3877056"/>
          </a:xfrm>
          <a:prstGeom prst="roundRect">
            <a:avLst>
              <a:gd name="adj" fmla="val 1594"/>
            </a:avLst>
          </a:prstGeom>
          <a:solidFill>
            <a:srgbClr val="FFFFFF"/>
          </a:solidFill>
          <a:ln w="9525">
            <a:solidFill>
              <a:srgbClr val="EFEAE0"/>
            </a:solidFill>
            <a:prstDash val="solid"/>
          </a:ln>
        </p:spPr>
      </p:sp>
      <p:sp>
        <p:nvSpPr>
          <p:cNvPr id="21" name="Text 17"/>
          <p:cNvSpPr/>
          <p:nvPr/>
        </p:nvSpPr>
        <p:spPr>
          <a:xfrm>
            <a:off x="4649724" y="1925726"/>
            <a:ext cx="1828800" cy="164592"/>
          </a:xfrm>
          <a:prstGeom prst="rect">
            <a:avLst/>
          </a:prstGeom>
          <a:noFill/>
          <a:ln/>
        </p:spPr>
        <p:txBody>
          <a:bodyPr wrap="square" lIns="0" tIns="0" rIns="0" bIns="0" rtlCol="0" anchor="ctr"/>
          <a:lstStyle/>
          <a:p>
            <a:pPr indent="0" marL="0">
              <a:buNone/>
            </a:pPr>
            <a:r>
              <a:rPr lang="en-US" sz="900" b="1" spc="150" kern="0" dirty="0">
                <a:solidFill>
                  <a:srgbClr val="A8761F"/>
                </a:solidFill>
                <a:latin typeface="Arial" pitchFamily="34" charset="0"/>
                <a:ea typeface="Arial" pitchFamily="34" charset="-122"/>
                <a:cs typeface="Arial" pitchFamily="34" charset="-120"/>
              </a:rPr>
              <a:t>POINT 02</a:t>
            </a:r>
            <a:endParaRPr lang="en-US" sz="900" dirty="0"/>
          </a:p>
        </p:txBody>
      </p:sp>
      <p:pic>
        <p:nvPicPr>
          <p:cNvPr id="22" name="Image 2" descr="/home/user/suzuki-ceo/selfcafe-gyomu-deck/assets/icons/LuBuilding2-green.png">    </p:cNvPr>
          <p:cNvPicPr>
            <a:picLocks noChangeAspect="1"/>
          </p:cNvPicPr>
          <p:nvPr/>
        </p:nvPicPr>
        <p:blipFill>
          <a:blip r:embed="rId3"/>
          <a:stretch>
            <a:fillRect/>
          </a:stretch>
        </p:blipFill>
        <p:spPr>
          <a:xfrm>
            <a:off x="7066483" y="1889150"/>
            <a:ext cx="365760" cy="365760"/>
          </a:xfrm>
          <a:prstGeom prst="rect">
            <a:avLst/>
          </a:prstGeom>
        </p:spPr>
      </p:pic>
      <p:sp>
        <p:nvSpPr>
          <p:cNvPr id="23" name="Text 18"/>
          <p:cNvSpPr/>
          <p:nvPr/>
        </p:nvSpPr>
        <p:spPr>
          <a:xfrm>
            <a:off x="4649724" y="2218334"/>
            <a:ext cx="2892247" cy="457200"/>
          </a:xfrm>
          <a:prstGeom prst="rect">
            <a:avLst/>
          </a:prstGeom>
          <a:noFill/>
          <a:ln/>
        </p:spPr>
        <p:txBody>
          <a:bodyPr wrap="square" lIns="0" tIns="0" rIns="0" bIns="0" rtlCol="0" anchor="ctr"/>
          <a:lstStyle/>
          <a:p>
            <a:pPr indent="0" marL="0">
              <a:buNone/>
            </a:pPr>
            <a:r>
              <a:rPr lang="en-US" sz="2400" b="1" dirty="0">
                <a:solidFill>
                  <a:srgbClr val="106838"/>
                </a:solidFill>
                <a:latin typeface="Yu Gothic" pitchFamily="34" charset="0"/>
                <a:ea typeface="Yu Gothic" pitchFamily="34" charset="-122"/>
                <a:cs typeface="Yu Gothic" pitchFamily="34" charset="-120"/>
              </a:rPr>
              <a:t>売上の 25%</a:t>
            </a:r>
            <a:endParaRPr lang="en-US" sz="2400" dirty="0"/>
          </a:p>
        </p:txBody>
      </p:sp>
      <p:sp>
        <p:nvSpPr>
          <p:cNvPr id="24" name="Text 19"/>
          <p:cNvSpPr/>
          <p:nvPr/>
        </p:nvSpPr>
        <p:spPr>
          <a:xfrm>
            <a:off x="4649724" y="2730398"/>
            <a:ext cx="2892247" cy="329184"/>
          </a:xfrm>
          <a:prstGeom prst="rect">
            <a:avLst/>
          </a:prstGeom>
          <a:noFill/>
          <a:ln/>
        </p:spPr>
        <p:txBody>
          <a:bodyPr wrap="square" lIns="0" tIns="0" rIns="0" bIns="0" rtlCol="0" anchor="ctr"/>
          <a:lstStyle/>
          <a:p>
            <a:pPr indent="0" marL="0">
              <a:buNone/>
            </a:pPr>
            <a:r>
              <a:rPr lang="en-US" sz="1500" b="1" dirty="0">
                <a:solidFill>
                  <a:srgbClr val="0A3D23"/>
                </a:solidFill>
                <a:latin typeface="Yu Gothic" pitchFamily="34" charset="0"/>
                <a:ea typeface="Yu Gothic" pitchFamily="34" charset="-122"/>
                <a:cs typeface="Yu Gothic" pitchFamily="34" charset="-120"/>
              </a:rPr>
              <a:t>遊休スペースの活用</a:t>
            </a:r>
            <a:endParaRPr lang="en-US" sz="1500" dirty="0"/>
          </a:p>
        </p:txBody>
      </p:sp>
      <p:sp>
        <p:nvSpPr>
          <p:cNvPr id="25" name="Shape 20"/>
          <p:cNvSpPr/>
          <p:nvPr/>
        </p:nvSpPr>
        <p:spPr>
          <a:xfrm>
            <a:off x="4649724" y="3151022"/>
            <a:ext cx="2892247" cy="10058"/>
          </a:xfrm>
          <a:prstGeom prst="rect">
            <a:avLst/>
          </a:prstGeom>
          <a:solidFill>
            <a:srgbClr val="EFEAE0"/>
          </a:solidFill>
          <a:ln/>
        </p:spPr>
      </p:sp>
      <p:sp>
        <p:nvSpPr>
          <p:cNvPr id="26" name="Text 21"/>
          <p:cNvSpPr/>
          <p:nvPr/>
        </p:nvSpPr>
        <p:spPr>
          <a:xfrm>
            <a:off x="4649724" y="3279038"/>
            <a:ext cx="2892247" cy="1371600"/>
          </a:xfrm>
          <a:prstGeom prst="rect">
            <a:avLst/>
          </a:prstGeom>
          <a:noFill/>
          <a:ln/>
        </p:spPr>
        <p:txBody>
          <a:bodyPr wrap="square" lIns="0" tIns="0" rIns="0" bIns="0" rtlCol="0" anchor="t"/>
          <a:lstStyle/>
          <a:p>
            <a:pPr indent="0" marL="0">
              <a:lnSpc>
                <a:spcPct val="150000"/>
              </a:lnSpc>
              <a:buNone/>
            </a:pPr>
            <a:r>
              <a:rPr lang="en-US" sz="1100" dirty="0">
                <a:solidFill>
                  <a:srgbClr val="4B5550"/>
                </a:solidFill>
                <a:latin typeface="Yu Gothic" pitchFamily="34" charset="0"/>
                <a:ea typeface="Yu Gothic" pitchFamily="34" charset="-122"/>
                <a:cs typeface="Yu Gothic" pitchFamily="34" charset="-120"/>
              </a:rPr>
              <a:t>既存店の空室やデッドスペースを収益資産へ。営業総利益の25％が業務委託料として毎月入ります。</a:t>
            </a:r>
            <a:endParaRPr lang="en-US" sz="1100" dirty="0"/>
          </a:p>
        </p:txBody>
      </p:sp>
      <p:sp>
        <p:nvSpPr>
          <p:cNvPr id="27" name="Shape 22"/>
          <p:cNvSpPr/>
          <p:nvPr/>
        </p:nvSpPr>
        <p:spPr>
          <a:xfrm>
            <a:off x="4649724" y="4961534"/>
            <a:ext cx="644652" cy="292608"/>
          </a:xfrm>
          <a:prstGeom prst="roundRect">
            <a:avLst>
              <a:gd name="adj" fmla="val 50000"/>
            </a:avLst>
          </a:prstGeom>
          <a:solidFill>
            <a:srgbClr val="F1F8F3"/>
          </a:solidFill>
          <a:ln w="9525">
            <a:solidFill>
              <a:srgbClr val="D2E7DA"/>
            </a:solidFill>
            <a:prstDash val="solid"/>
          </a:ln>
        </p:spPr>
      </p:sp>
      <p:sp>
        <p:nvSpPr>
          <p:cNvPr id="28" name="Text 23"/>
          <p:cNvSpPr/>
          <p:nvPr/>
        </p:nvSpPr>
        <p:spPr>
          <a:xfrm>
            <a:off x="4649724" y="4961534"/>
            <a:ext cx="644652" cy="292608"/>
          </a:xfrm>
          <a:prstGeom prst="rect">
            <a:avLst/>
          </a:prstGeom>
          <a:noFill/>
          <a:ln/>
        </p:spPr>
        <p:txBody>
          <a:bodyPr wrap="square" lIns="0" tIns="0" rIns="0" bIns="0" rtlCol="0" anchor="ctr"/>
          <a:lstStyle/>
          <a:p>
            <a:pPr algn="ctr" indent="0" marL="0">
              <a:buNone/>
            </a:pPr>
            <a:r>
              <a:rPr lang="en-US" sz="900" b="1" dirty="0">
                <a:solidFill>
                  <a:srgbClr val="106838"/>
                </a:solidFill>
                <a:latin typeface="Yu Gothic" pitchFamily="34" charset="0"/>
                <a:ea typeface="Yu Gothic" pitchFamily="34" charset="-122"/>
                <a:cs typeface="Yu Gothic" pitchFamily="34" charset="-120"/>
              </a:rPr>
              <a:t>レジ横</a:t>
            </a:r>
            <a:endParaRPr lang="en-US" sz="900" dirty="0"/>
          </a:p>
        </p:txBody>
      </p:sp>
      <p:sp>
        <p:nvSpPr>
          <p:cNvPr id="29" name="Shape 24"/>
          <p:cNvSpPr/>
          <p:nvPr/>
        </p:nvSpPr>
        <p:spPr>
          <a:xfrm>
            <a:off x="5422392" y="4961534"/>
            <a:ext cx="1014984" cy="292608"/>
          </a:xfrm>
          <a:prstGeom prst="roundRect">
            <a:avLst>
              <a:gd name="adj" fmla="val 50000"/>
            </a:avLst>
          </a:prstGeom>
          <a:solidFill>
            <a:srgbClr val="F1F8F3"/>
          </a:solidFill>
          <a:ln w="9525">
            <a:solidFill>
              <a:srgbClr val="D2E7DA"/>
            </a:solidFill>
            <a:prstDash val="solid"/>
          </a:ln>
        </p:spPr>
      </p:sp>
      <p:sp>
        <p:nvSpPr>
          <p:cNvPr id="30" name="Text 25"/>
          <p:cNvSpPr/>
          <p:nvPr/>
        </p:nvSpPr>
        <p:spPr>
          <a:xfrm>
            <a:off x="5422392" y="4961534"/>
            <a:ext cx="1014984" cy="292608"/>
          </a:xfrm>
          <a:prstGeom prst="rect">
            <a:avLst/>
          </a:prstGeom>
          <a:noFill/>
          <a:ln/>
        </p:spPr>
        <p:txBody>
          <a:bodyPr wrap="square" lIns="0" tIns="0" rIns="0" bIns="0" rtlCol="0" anchor="ctr"/>
          <a:lstStyle/>
          <a:p>
            <a:pPr algn="ctr" indent="0" marL="0">
              <a:buNone/>
            </a:pPr>
            <a:r>
              <a:rPr lang="en-US" sz="900" b="1" dirty="0">
                <a:solidFill>
                  <a:srgbClr val="106838"/>
                </a:solidFill>
                <a:latin typeface="Yu Gothic" pitchFamily="34" charset="0"/>
                <a:ea typeface="Yu Gothic" pitchFamily="34" charset="-122"/>
                <a:cs typeface="Yu Gothic" pitchFamily="34" charset="-120"/>
              </a:rPr>
              <a:t>待合スペース</a:t>
            </a:r>
            <a:endParaRPr lang="en-US" sz="900" dirty="0"/>
          </a:p>
        </p:txBody>
      </p:sp>
      <p:sp>
        <p:nvSpPr>
          <p:cNvPr id="31" name="Shape 26"/>
          <p:cNvSpPr/>
          <p:nvPr/>
        </p:nvSpPr>
        <p:spPr>
          <a:xfrm>
            <a:off x="6565392" y="4961534"/>
            <a:ext cx="768096" cy="292608"/>
          </a:xfrm>
          <a:prstGeom prst="roundRect">
            <a:avLst>
              <a:gd name="adj" fmla="val 50000"/>
            </a:avLst>
          </a:prstGeom>
          <a:solidFill>
            <a:srgbClr val="F1F8F3"/>
          </a:solidFill>
          <a:ln w="9525">
            <a:solidFill>
              <a:srgbClr val="D2E7DA"/>
            </a:solidFill>
            <a:prstDash val="solid"/>
          </a:ln>
        </p:spPr>
      </p:sp>
      <p:sp>
        <p:nvSpPr>
          <p:cNvPr id="32" name="Text 27"/>
          <p:cNvSpPr/>
          <p:nvPr/>
        </p:nvSpPr>
        <p:spPr>
          <a:xfrm>
            <a:off x="6565392" y="4961534"/>
            <a:ext cx="768096" cy="292608"/>
          </a:xfrm>
          <a:prstGeom prst="rect">
            <a:avLst/>
          </a:prstGeom>
          <a:noFill/>
          <a:ln/>
        </p:spPr>
        <p:txBody>
          <a:bodyPr wrap="square" lIns="0" tIns="0" rIns="0" bIns="0" rtlCol="0" anchor="ctr"/>
          <a:lstStyle/>
          <a:p>
            <a:pPr algn="ctr" indent="0" marL="0">
              <a:buNone/>
            </a:pPr>
            <a:r>
              <a:rPr lang="en-US" sz="900" b="1" dirty="0">
                <a:solidFill>
                  <a:srgbClr val="106838"/>
                </a:solidFill>
                <a:latin typeface="Yu Gothic" pitchFamily="34" charset="0"/>
                <a:ea typeface="Yu Gothic" pitchFamily="34" charset="-122"/>
                <a:cs typeface="Yu Gothic" pitchFamily="34" charset="-120"/>
              </a:rPr>
              <a:t>空き区画</a:t>
            </a:r>
            <a:endParaRPr lang="en-US" sz="900" dirty="0"/>
          </a:p>
        </p:txBody>
      </p:sp>
      <p:sp>
        <p:nvSpPr>
          <p:cNvPr id="33" name="Shape 28"/>
          <p:cNvSpPr/>
          <p:nvPr/>
        </p:nvSpPr>
        <p:spPr>
          <a:xfrm>
            <a:off x="8090611" y="1651406"/>
            <a:ext cx="3440887" cy="3877056"/>
          </a:xfrm>
          <a:prstGeom prst="roundRect">
            <a:avLst>
              <a:gd name="adj" fmla="val 1594"/>
            </a:avLst>
          </a:prstGeom>
          <a:solidFill>
            <a:srgbClr val="FFFFFF"/>
          </a:solidFill>
          <a:ln w="9525">
            <a:solidFill>
              <a:srgbClr val="EFEAE0"/>
            </a:solidFill>
            <a:prstDash val="solid"/>
          </a:ln>
        </p:spPr>
      </p:sp>
      <p:sp>
        <p:nvSpPr>
          <p:cNvPr id="34" name="Text 29"/>
          <p:cNvSpPr/>
          <p:nvPr/>
        </p:nvSpPr>
        <p:spPr>
          <a:xfrm>
            <a:off x="8364931" y="1925726"/>
            <a:ext cx="1828800" cy="164592"/>
          </a:xfrm>
          <a:prstGeom prst="rect">
            <a:avLst/>
          </a:prstGeom>
          <a:noFill/>
          <a:ln/>
        </p:spPr>
        <p:txBody>
          <a:bodyPr wrap="square" lIns="0" tIns="0" rIns="0" bIns="0" rtlCol="0" anchor="ctr"/>
          <a:lstStyle/>
          <a:p>
            <a:pPr indent="0" marL="0">
              <a:buNone/>
            </a:pPr>
            <a:r>
              <a:rPr lang="en-US" sz="900" b="1" spc="150" kern="0" dirty="0">
                <a:solidFill>
                  <a:srgbClr val="A8761F"/>
                </a:solidFill>
                <a:latin typeface="Arial" pitchFamily="34" charset="0"/>
                <a:ea typeface="Arial" pitchFamily="34" charset="-122"/>
                <a:cs typeface="Arial" pitchFamily="34" charset="-120"/>
              </a:rPr>
              <a:t>POINT 03</a:t>
            </a:r>
            <a:endParaRPr lang="en-US" sz="900" dirty="0"/>
          </a:p>
        </p:txBody>
      </p:sp>
      <p:pic>
        <p:nvPicPr>
          <p:cNvPr id="35" name="Image 3" descr="/home/user/suzuki-ceo/selfcafe-gyomu-deck/assets/icons/LuTimer-green.png">    </p:cNvPr>
          <p:cNvPicPr>
            <a:picLocks noChangeAspect="1"/>
          </p:cNvPicPr>
          <p:nvPr/>
        </p:nvPicPr>
        <p:blipFill>
          <a:blip r:embed="rId4"/>
          <a:stretch>
            <a:fillRect/>
          </a:stretch>
        </p:blipFill>
        <p:spPr>
          <a:xfrm>
            <a:off x="10781690" y="1889150"/>
            <a:ext cx="365760" cy="365760"/>
          </a:xfrm>
          <a:prstGeom prst="rect">
            <a:avLst/>
          </a:prstGeom>
        </p:spPr>
      </p:pic>
      <p:sp>
        <p:nvSpPr>
          <p:cNvPr id="36" name="Text 30"/>
          <p:cNvSpPr/>
          <p:nvPr/>
        </p:nvSpPr>
        <p:spPr>
          <a:xfrm>
            <a:off x="8364931" y="2218334"/>
            <a:ext cx="2892247" cy="457200"/>
          </a:xfrm>
          <a:prstGeom prst="rect">
            <a:avLst/>
          </a:prstGeom>
          <a:noFill/>
          <a:ln/>
        </p:spPr>
        <p:txBody>
          <a:bodyPr wrap="square" lIns="0" tIns="0" rIns="0" bIns="0" rtlCol="0" anchor="ctr"/>
          <a:lstStyle/>
          <a:p>
            <a:pPr indent="0" marL="0">
              <a:buNone/>
            </a:pPr>
            <a:r>
              <a:rPr lang="en-US" sz="2400" b="1" dirty="0">
                <a:solidFill>
                  <a:srgbClr val="106838"/>
                </a:solidFill>
                <a:latin typeface="Yu Gothic" pitchFamily="34" charset="0"/>
                <a:ea typeface="Yu Gothic" pitchFamily="34" charset="-122"/>
                <a:cs typeface="Yu Gothic" pitchFamily="34" charset="-120"/>
              </a:rPr>
              <a:t>15 分／日</a:t>
            </a:r>
            <a:endParaRPr lang="en-US" sz="2400" dirty="0"/>
          </a:p>
        </p:txBody>
      </p:sp>
      <p:sp>
        <p:nvSpPr>
          <p:cNvPr id="37" name="Text 31"/>
          <p:cNvSpPr/>
          <p:nvPr/>
        </p:nvSpPr>
        <p:spPr>
          <a:xfrm>
            <a:off x="8364931" y="2730398"/>
            <a:ext cx="2892247" cy="329184"/>
          </a:xfrm>
          <a:prstGeom prst="rect">
            <a:avLst/>
          </a:prstGeom>
          <a:noFill/>
          <a:ln/>
        </p:spPr>
        <p:txBody>
          <a:bodyPr wrap="square" lIns="0" tIns="0" rIns="0" bIns="0" rtlCol="0" anchor="ctr"/>
          <a:lstStyle/>
          <a:p>
            <a:pPr indent="0" marL="0">
              <a:buNone/>
            </a:pPr>
            <a:r>
              <a:rPr lang="en-US" sz="1500" b="1" dirty="0">
                <a:solidFill>
                  <a:srgbClr val="0A3D23"/>
                </a:solidFill>
                <a:latin typeface="Yu Gothic" pitchFamily="34" charset="0"/>
                <a:ea typeface="Yu Gothic" pitchFamily="34" charset="-122"/>
                <a:cs typeface="Yu Gothic" pitchFamily="34" charset="-120"/>
              </a:rPr>
              <a:t>1日15分程度の運営</a:t>
            </a:r>
            <a:endParaRPr lang="en-US" sz="1500" dirty="0"/>
          </a:p>
        </p:txBody>
      </p:sp>
      <p:sp>
        <p:nvSpPr>
          <p:cNvPr id="38" name="Shape 32"/>
          <p:cNvSpPr/>
          <p:nvPr/>
        </p:nvSpPr>
        <p:spPr>
          <a:xfrm>
            <a:off x="8364931" y="3151022"/>
            <a:ext cx="2892247" cy="10058"/>
          </a:xfrm>
          <a:prstGeom prst="rect">
            <a:avLst/>
          </a:prstGeom>
          <a:solidFill>
            <a:srgbClr val="EFEAE0"/>
          </a:solidFill>
          <a:ln/>
        </p:spPr>
      </p:sp>
      <p:sp>
        <p:nvSpPr>
          <p:cNvPr id="39" name="Text 33"/>
          <p:cNvSpPr/>
          <p:nvPr/>
        </p:nvSpPr>
        <p:spPr>
          <a:xfrm>
            <a:off x="8364931" y="3279038"/>
            <a:ext cx="2892247" cy="1371600"/>
          </a:xfrm>
          <a:prstGeom prst="rect">
            <a:avLst/>
          </a:prstGeom>
          <a:noFill/>
          <a:ln/>
        </p:spPr>
        <p:txBody>
          <a:bodyPr wrap="square" lIns="0" tIns="0" rIns="0" bIns="0" rtlCol="0" anchor="t"/>
          <a:lstStyle/>
          <a:p>
            <a:pPr indent="0" marL="0">
              <a:lnSpc>
                <a:spcPct val="150000"/>
              </a:lnSpc>
              <a:buNone/>
            </a:pPr>
            <a:r>
              <a:rPr lang="en-US" sz="1100" dirty="0">
                <a:solidFill>
                  <a:srgbClr val="4B5550"/>
                </a:solidFill>
                <a:latin typeface="Yu Gothic" pitchFamily="34" charset="0"/>
                <a:ea typeface="Yu Gothic" pitchFamily="34" charset="-122"/>
                <a:cs typeface="Yu Gothic" pitchFamily="34" charset="-120"/>
              </a:rPr>
              <a:t>清掃・補充のみ。運営主体は本部のため、貴社に運営ノウハウは不要です。既存スタッフの稼働内で対応できます。</a:t>
            </a:r>
            <a:endParaRPr lang="en-US" sz="1100" dirty="0"/>
          </a:p>
        </p:txBody>
      </p:sp>
      <p:sp>
        <p:nvSpPr>
          <p:cNvPr id="40" name="Shape 34"/>
          <p:cNvSpPr/>
          <p:nvPr/>
        </p:nvSpPr>
        <p:spPr>
          <a:xfrm>
            <a:off x="8364931" y="4961534"/>
            <a:ext cx="521208" cy="292608"/>
          </a:xfrm>
          <a:prstGeom prst="roundRect">
            <a:avLst>
              <a:gd name="adj" fmla="val 50000"/>
            </a:avLst>
          </a:prstGeom>
          <a:solidFill>
            <a:srgbClr val="F1F8F3"/>
          </a:solidFill>
          <a:ln w="9525">
            <a:solidFill>
              <a:srgbClr val="D2E7DA"/>
            </a:solidFill>
            <a:prstDash val="solid"/>
          </a:ln>
        </p:spPr>
      </p:sp>
      <p:sp>
        <p:nvSpPr>
          <p:cNvPr id="41" name="Text 35"/>
          <p:cNvSpPr/>
          <p:nvPr/>
        </p:nvSpPr>
        <p:spPr>
          <a:xfrm>
            <a:off x="8364931" y="4961534"/>
            <a:ext cx="521208" cy="292608"/>
          </a:xfrm>
          <a:prstGeom prst="rect">
            <a:avLst/>
          </a:prstGeom>
          <a:noFill/>
          <a:ln/>
        </p:spPr>
        <p:txBody>
          <a:bodyPr wrap="square" lIns="0" tIns="0" rIns="0" bIns="0" rtlCol="0" anchor="ctr"/>
          <a:lstStyle/>
          <a:p>
            <a:pPr algn="ctr" indent="0" marL="0">
              <a:buNone/>
            </a:pPr>
            <a:r>
              <a:rPr lang="en-US" sz="900" b="1" dirty="0">
                <a:solidFill>
                  <a:srgbClr val="106838"/>
                </a:solidFill>
                <a:latin typeface="Yu Gothic" pitchFamily="34" charset="0"/>
                <a:ea typeface="Yu Gothic" pitchFamily="34" charset="-122"/>
                <a:cs typeface="Yu Gothic" pitchFamily="34" charset="-120"/>
              </a:rPr>
              <a:t>清掃</a:t>
            </a:r>
            <a:endParaRPr lang="en-US" sz="900" dirty="0"/>
          </a:p>
        </p:txBody>
      </p:sp>
      <p:sp>
        <p:nvSpPr>
          <p:cNvPr id="42" name="Shape 36"/>
          <p:cNvSpPr/>
          <p:nvPr/>
        </p:nvSpPr>
        <p:spPr>
          <a:xfrm>
            <a:off x="9014155" y="4961534"/>
            <a:ext cx="768096" cy="292608"/>
          </a:xfrm>
          <a:prstGeom prst="roundRect">
            <a:avLst>
              <a:gd name="adj" fmla="val 50000"/>
            </a:avLst>
          </a:prstGeom>
          <a:solidFill>
            <a:srgbClr val="F1F8F3"/>
          </a:solidFill>
          <a:ln w="9525">
            <a:solidFill>
              <a:srgbClr val="D2E7DA"/>
            </a:solidFill>
            <a:prstDash val="solid"/>
          </a:ln>
        </p:spPr>
      </p:sp>
      <p:sp>
        <p:nvSpPr>
          <p:cNvPr id="43" name="Text 37"/>
          <p:cNvSpPr/>
          <p:nvPr/>
        </p:nvSpPr>
        <p:spPr>
          <a:xfrm>
            <a:off x="9014155" y="4961534"/>
            <a:ext cx="768096" cy="292608"/>
          </a:xfrm>
          <a:prstGeom prst="rect">
            <a:avLst/>
          </a:prstGeom>
          <a:noFill/>
          <a:ln/>
        </p:spPr>
        <p:txBody>
          <a:bodyPr wrap="square" lIns="0" tIns="0" rIns="0" bIns="0" rtlCol="0" anchor="ctr"/>
          <a:lstStyle/>
          <a:p>
            <a:pPr algn="ctr" indent="0" marL="0">
              <a:buNone/>
            </a:pPr>
            <a:r>
              <a:rPr lang="en-US" sz="900" b="1" dirty="0">
                <a:solidFill>
                  <a:srgbClr val="106838"/>
                </a:solidFill>
                <a:latin typeface="Yu Gothic" pitchFamily="34" charset="0"/>
                <a:ea typeface="Yu Gothic" pitchFamily="34" charset="-122"/>
                <a:cs typeface="Yu Gothic" pitchFamily="34" charset="-120"/>
              </a:rPr>
              <a:t>原料補充</a:t>
            </a:r>
            <a:endParaRPr lang="en-US" sz="900" dirty="0"/>
          </a:p>
        </p:txBody>
      </p:sp>
      <p:sp>
        <p:nvSpPr>
          <p:cNvPr id="44" name="Shape 38"/>
          <p:cNvSpPr/>
          <p:nvPr/>
        </p:nvSpPr>
        <p:spPr>
          <a:xfrm>
            <a:off x="660197" y="5711342"/>
            <a:ext cx="10871302" cy="566928"/>
          </a:xfrm>
          <a:prstGeom prst="roundRect">
            <a:avLst>
              <a:gd name="adj" fmla="val 9677"/>
            </a:avLst>
          </a:prstGeom>
          <a:solidFill>
            <a:srgbClr val="0C5230"/>
          </a:solidFill>
          <a:ln/>
        </p:spPr>
      </p:sp>
      <p:pic>
        <p:nvPicPr>
          <p:cNvPr id="45" name="Image 4" descr="/home/user/suzuki-ceo/selfcafe-gyomu-deck/assets/icons/LuUsers-pale.png">    </p:cNvPr>
          <p:cNvPicPr>
            <a:picLocks noChangeAspect="1"/>
          </p:cNvPicPr>
          <p:nvPr/>
        </p:nvPicPr>
        <p:blipFill>
          <a:blip r:embed="rId5"/>
          <a:stretch>
            <a:fillRect/>
          </a:stretch>
        </p:blipFill>
        <p:spPr>
          <a:xfrm>
            <a:off x="1117397" y="5857646"/>
            <a:ext cx="274320" cy="274320"/>
          </a:xfrm>
          <a:prstGeom prst="rect">
            <a:avLst/>
          </a:prstGeom>
        </p:spPr>
      </p:pic>
      <p:sp>
        <p:nvSpPr>
          <p:cNvPr id="46" name="Text 39"/>
          <p:cNvSpPr/>
          <p:nvPr/>
        </p:nvSpPr>
        <p:spPr>
          <a:xfrm>
            <a:off x="1501445" y="5711342"/>
            <a:ext cx="2709367" cy="566928"/>
          </a:xfrm>
          <a:prstGeom prst="rect">
            <a:avLst/>
          </a:prstGeom>
          <a:noFill/>
          <a:ln/>
        </p:spPr>
        <p:txBody>
          <a:bodyPr wrap="square" lIns="0" tIns="0" rIns="0" bIns="0" rtlCol="0" anchor="ctr"/>
          <a:lstStyle/>
          <a:p>
            <a:pPr indent="0" marL="0">
              <a:buNone/>
            </a:pPr>
            <a:r>
              <a:rPr lang="en-US" sz="1200" b="1" dirty="0">
                <a:solidFill>
                  <a:srgbClr val="FFFFFF"/>
                </a:solidFill>
                <a:latin typeface="Yu Gothic" pitchFamily="34" charset="0"/>
                <a:ea typeface="Yu Gothic" pitchFamily="34" charset="-122"/>
                <a:cs typeface="Yu Gothic" pitchFamily="34" charset="-120"/>
              </a:rPr>
              <a:t>新規採用は不要</a:t>
            </a:r>
            <a:endParaRPr lang="en-US" sz="1200" dirty="0"/>
          </a:p>
        </p:txBody>
      </p:sp>
      <p:pic>
        <p:nvPicPr>
          <p:cNvPr id="47" name="Image 5" descr="/home/user/suzuki-ceo/selfcafe-gyomu-deck/assets/icons/LuStore-pale.png">    </p:cNvPr>
          <p:cNvPicPr>
            <a:picLocks noChangeAspect="1"/>
          </p:cNvPicPr>
          <p:nvPr/>
        </p:nvPicPr>
        <p:blipFill>
          <a:blip r:embed="rId6"/>
          <a:stretch>
            <a:fillRect/>
          </a:stretch>
        </p:blipFill>
        <p:spPr>
          <a:xfrm>
            <a:off x="4741164" y="5857646"/>
            <a:ext cx="274320" cy="274320"/>
          </a:xfrm>
          <a:prstGeom prst="rect">
            <a:avLst/>
          </a:prstGeom>
        </p:spPr>
      </p:pic>
      <p:sp>
        <p:nvSpPr>
          <p:cNvPr id="48" name="Text 40"/>
          <p:cNvSpPr/>
          <p:nvPr/>
        </p:nvSpPr>
        <p:spPr>
          <a:xfrm>
            <a:off x="5125212" y="5711342"/>
            <a:ext cx="2709367" cy="566928"/>
          </a:xfrm>
          <a:prstGeom prst="rect">
            <a:avLst/>
          </a:prstGeom>
          <a:noFill/>
          <a:ln/>
        </p:spPr>
        <p:txBody>
          <a:bodyPr wrap="square" lIns="0" tIns="0" rIns="0" bIns="0" rtlCol="0" anchor="ctr"/>
          <a:lstStyle/>
          <a:p>
            <a:pPr indent="0" marL="0">
              <a:buNone/>
            </a:pPr>
            <a:r>
              <a:rPr lang="en-US" sz="1200" b="1" dirty="0">
                <a:solidFill>
                  <a:srgbClr val="FFFFFF"/>
                </a:solidFill>
                <a:latin typeface="Yu Gothic" pitchFamily="34" charset="0"/>
                <a:ea typeface="Yu Gothic" pitchFamily="34" charset="-122"/>
                <a:cs typeface="Yu Gothic" pitchFamily="34" charset="-120"/>
              </a:rPr>
              <a:t>既存スペースをそのまま活用</a:t>
            </a:r>
            <a:endParaRPr lang="en-US" sz="1200" dirty="0"/>
          </a:p>
        </p:txBody>
      </p:sp>
      <p:pic>
        <p:nvPicPr>
          <p:cNvPr id="49" name="Image 6" descr="/home/user/suzuki-ceo/selfcafe-gyomu-deck/assets/icons/LuBadgeJapaneseYen-pale.png">    </p:cNvPr>
          <p:cNvPicPr>
            <a:picLocks noChangeAspect="1"/>
          </p:cNvPicPr>
          <p:nvPr/>
        </p:nvPicPr>
        <p:blipFill>
          <a:blip r:embed="rId7"/>
          <a:stretch>
            <a:fillRect/>
          </a:stretch>
        </p:blipFill>
        <p:spPr>
          <a:xfrm>
            <a:off x="8364931" y="5857646"/>
            <a:ext cx="274320" cy="274320"/>
          </a:xfrm>
          <a:prstGeom prst="rect">
            <a:avLst/>
          </a:prstGeom>
        </p:spPr>
      </p:pic>
      <p:sp>
        <p:nvSpPr>
          <p:cNvPr id="50" name="Text 41"/>
          <p:cNvSpPr/>
          <p:nvPr/>
        </p:nvSpPr>
        <p:spPr>
          <a:xfrm>
            <a:off x="8748979" y="5711342"/>
            <a:ext cx="2709367" cy="566928"/>
          </a:xfrm>
          <a:prstGeom prst="rect">
            <a:avLst/>
          </a:prstGeom>
          <a:noFill/>
          <a:ln/>
        </p:spPr>
        <p:txBody>
          <a:bodyPr wrap="square" lIns="0" tIns="0" rIns="0" bIns="0" rtlCol="0" anchor="ctr"/>
          <a:lstStyle/>
          <a:p>
            <a:pPr indent="0" marL="0">
              <a:buNone/>
            </a:pPr>
            <a:r>
              <a:rPr lang="en-US" sz="1200" b="1" dirty="0">
                <a:solidFill>
                  <a:srgbClr val="FFFFFF"/>
                </a:solidFill>
                <a:latin typeface="Yu Gothic" pitchFamily="34" charset="0"/>
                <a:ea typeface="Yu Gothic" pitchFamily="34" charset="-122"/>
                <a:cs typeface="Yu Gothic" pitchFamily="34" charset="-120"/>
              </a:rPr>
              <a:t>加盟金なしで開始</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7"/>
        </a:solidFill>
      </p:bgPr>
    </p:bg>
    <p:spTree>
      <p:nvGrpSpPr>
        <p:cNvPr id="1" name=""/>
        <p:cNvGrpSpPr/>
        <p:nvPr/>
      </p:nvGrpSpPr>
      <p:grpSpPr>
        <a:xfrm>
          <a:off x="0" y="0"/>
          <a:ext cx="0" cy="0"/>
          <a:chOff x="0" y="0"/>
          <a:chExt cx="0" cy="0"/>
        </a:xfrm>
      </p:grpSpPr>
      <p:sp>
        <p:nvSpPr>
          <p:cNvPr id="2" name="Shape 0"/>
          <p:cNvSpPr/>
          <p:nvPr/>
        </p:nvSpPr>
        <p:spPr>
          <a:xfrm>
            <a:off x="660197" y="545897"/>
            <a:ext cx="202997" cy="25603"/>
          </a:xfrm>
          <a:prstGeom prst="rect">
            <a:avLst/>
          </a:prstGeom>
          <a:solidFill>
            <a:srgbClr val="106838"/>
          </a:solidFill>
          <a:ln/>
        </p:spPr>
      </p:sp>
      <p:sp>
        <p:nvSpPr>
          <p:cNvPr id="3" name="Text 1"/>
          <p:cNvSpPr/>
          <p:nvPr/>
        </p:nvSpPr>
        <p:spPr>
          <a:xfrm>
            <a:off x="952805" y="444398"/>
            <a:ext cx="6400800" cy="177394"/>
          </a:xfrm>
          <a:prstGeom prst="rect">
            <a:avLst/>
          </a:prstGeom>
          <a:noFill/>
          <a:ln/>
        </p:spPr>
        <p:txBody>
          <a:bodyPr wrap="square" lIns="0" tIns="0" rIns="0" bIns="0" rtlCol="0" anchor="ctr"/>
          <a:lstStyle/>
          <a:p>
            <a:pPr indent="0" marL="0">
              <a:buNone/>
            </a:pPr>
            <a:r>
              <a:rPr lang="en-US" sz="1050" b="1" dirty="0">
                <a:solidFill>
                  <a:srgbClr val="A8761F"/>
                </a:solidFill>
                <a:latin typeface="Arial" pitchFamily="34" charset="0"/>
                <a:ea typeface="Arial" pitchFamily="34" charset="-122"/>
                <a:cs typeface="Arial" pitchFamily="34" charset="-120"/>
              </a:rPr>
              <a:t>19</a:t>
            </a:r>
            <a:r>
              <a:rPr lang="en-US" sz="1050" b="1" dirty="0">
                <a:solidFill>
                  <a:srgbClr val="1B8149"/>
                </a:solidFill>
                <a:latin typeface="Yu Gothic" pitchFamily="34" charset="0"/>
                <a:ea typeface="Yu Gothic" pitchFamily="34" charset="-122"/>
                <a:cs typeface="Yu Gothic" pitchFamily="34" charset="-120"/>
              </a:rPr>
              <a:t>   収益</a:t>
            </a:r>
            <a:endParaRPr lang="en-US" sz="1050" dirty="0"/>
          </a:p>
        </p:txBody>
      </p:sp>
      <p:sp>
        <p:nvSpPr>
          <p:cNvPr id="4" name="Text 2"/>
          <p:cNvSpPr/>
          <p:nvPr/>
        </p:nvSpPr>
        <p:spPr>
          <a:xfrm>
            <a:off x="660197" y="660197"/>
            <a:ext cx="8889797" cy="508406"/>
          </a:xfrm>
          <a:prstGeom prst="rect">
            <a:avLst/>
          </a:prstGeom>
          <a:noFill/>
          <a:ln/>
        </p:spPr>
        <p:txBody>
          <a:bodyPr wrap="square" lIns="0" tIns="0" rIns="0" bIns="0" rtlCol="0" anchor="ctr"/>
          <a:lstStyle/>
          <a:p>
            <a:pPr indent="0" marL="0">
              <a:buNone/>
            </a:pPr>
            <a:r>
              <a:rPr lang="en-US" sz="2900" b="1" dirty="0">
                <a:solidFill>
                  <a:srgbClr val="0A3D23"/>
                </a:solidFill>
                <a:latin typeface="Yu Gothic" pitchFamily="34" charset="0"/>
                <a:ea typeface="Yu Gothic" pitchFamily="34" charset="-122"/>
                <a:cs typeface="Yu Gothic" pitchFamily="34" charset="-120"/>
              </a:rPr>
              <a:t>貴社の受取イメージ：月22万〜35万円</a:t>
            </a:r>
            <a:endParaRPr lang="en-US" sz="2900" dirty="0"/>
          </a:p>
        </p:txBody>
      </p:sp>
      <p:sp>
        <p:nvSpPr>
          <p:cNvPr id="5" name="Text 3"/>
          <p:cNvSpPr/>
          <p:nvPr/>
        </p:nvSpPr>
        <p:spPr>
          <a:xfrm>
            <a:off x="660197" y="1308506"/>
            <a:ext cx="10032797" cy="228600"/>
          </a:xfrm>
          <a:prstGeom prst="rect">
            <a:avLst/>
          </a:prstGeom>
          <a:noFill/>
          <a:ln/>
        </p:spPr>
        <p:txBody>
          <a:bodyPr wrap="square" lIns="0" tIns="0" rIns="0" bIns="0" rtlCol="0" anchor="ctr"/>
          <a:lstStyle/>
          <a:p>
            <a:pPr indent="0" marL="0">
              <a:buNone/>
            </a:pPr>
            <a:r>
              <a:rPr lang="en-US" sz="1250" dirty="0">
                <a:solidFill>
                  <a:srgbClr val="4B5550"/>
                </a:solidFill>
                <a:latin typeface="Yu Gothic" pitchFamily="34" charset="0"/>
                <a:ea typeface="Yu Gothic" pitchFamily="34" charset="-122"/>
                <a:cs typeface="Yu Gothic" pitchFamily="34" charset="-120"/>
              </a:rPr>
              <a:t>既存店の営業総利益（売上−原価）をもとに、25坪・70坪の2パターンで試算しました。</a:t>
            </a:r>
            <a:endParaRPr lang="en-US" sz="1250" dirty="0"/>
          </a:p>
        </p:txBody>
      </p:sp>
      <p:pic>
        <p:nvPicPr>
          <p:cNvPr id="6" name="Image 0" descr="/home/user/suzuki-ceo/selfcafe-gyomu-deck/assets/logo-green.png">    </p:cNvPr>
          <p:cNvPicPr>
            <a:picLocks noChangeAspect="1"/>
          </p:cNvPicPr>
          <p:nvPr/>
        </p:nvPicPr>
        <p:blipFill>
          <a:blip r:embed="rId1"/>
          <a:stretch>
            <a:fillRect/>
          </a:stretch>
        </p:blipFill>
        <p:spPr>
          <a:xfrm>
            <a:off x="9855403" y="482803"/>
            <a:ext cx="1676095" cy="238658"/>
          </a:xfrm>
          <a:prstGeom prst="rect">
            <a:avLst/>
          </a:prstGeom>
        </p:spPr>
      </p:pic>
      <p:sp>
        <p:nvSpPr>
          <p:cNvPr id="7" name="Text 4"/>
          <p:cNvSpPr/>
          <p:nvPr/>
        </p:nvSpPr>
        <p:spPr>
          <a:xfrm>
            <a:off x="660197" y="6476695"/>
            <a:ext cx="5080406" cy="152705"/>
          </a:xfrm>
          <a:prstGeom prst="rect">
            <a:avLst/>
          </a:prstGeom>
          <a:noFill/>
          <a:ln/>
        </p:spPr>
        <p:txBody>
          <a:bodyPr wrap="square" lIns="0" tIns="0" rIns="0" bIns="0" rtlCol="0" anchor="ctr"/>
          <a:lstStyle/>
          <a:p>
            <a:pPr indent="0" marL="0">
              <a:buNone/>
            </a:pPr>
            <a:r>
              <a:rPr lang="en-US" sz="900" dirty="0">
                <a:solidFill>
                  <a:srgbClr val="A8B0AA"/>
                </a:solidFill>
                <a:latin typeface="Yu Gothic" pitchFamily="34" charset="0"/>
                <a:ea typeface="Yu Gothic" pitchFamily="34" charset="-122"/>
                <a:cs typeface="Yu Gothic" pitchFamily="34" charset="-120"/>
              </a:rPr>
              <a:t>セルフカフェ 業務委託型制度</a:t>
            </a:r>
            <a:endParaRPr lang="en-US" sz="900" dirty="0"/>
          </a:p>
        </p:txBody>
      </p:sp>
      <p:sp>
        <p:nvSpPr>
          <p:cNvPr id="8" name="Text 5"/>
          <p:cNvSpPr/>
          <p:nvPr/>
        </p:nvSpPr>
        <p:spPr>
          <a:xfrm>
            <a:off x="10261397" y="6463894"/>
            <a:ext cx="1270102" cy="152705"/>
          </a:xfrm>
          <a:prstGeom prst="rect">
            <a:avLst/>
          </a:prstGeom>
          <a:noFill/>
          <a:ln/>
        </p:spPr>
        <p:txBody>
          <a:bodyPr wrap="square" lIns="0" tIns="0" rIns="0" bIns="0" rtlCol="0" anchor="ctr"/>
          <a:lstStyle/>
          <a:p>
            <a:pPr algn="r" indent="0" marL="0">
              <a:buNone/>
            </a:pPr>
            <a:r>
              <a:rPr lang="en-US" sz="1000" b="1" dirty="0">
                <a:solidFill>
                  <a:srgbClr val="7E8882"/>
                </a:solidFill>
                <a:latin typeface="Arial" pitchFamily="34" charset="0"/>
                <a:ea typeface="Arial" pitchFamily="34" charset="-122"/>
                <a:cs typeface="Arial" pitchFamily="34" charset="-120"/>
              </a:rPr>
              <a:t>20</a:t>
            </a:r>
            <a:endParaRPr lang="en-US" sz="1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60197" y="1651406"/>
          <a:ext cx="7406640" cy="914400"/>
        </p:xfrm>
        <a:graphic>
          <a:graphicData uri="http://schemas.openxmlformats.org/drawingml/2006/table">
            <a:tbl>
              <a:tblPr/>
              <a:tblGrid>
                <a:gridCol w="3749040"/>
                <a:gridCol w="1828800"/>
                <a:gridCol w="1828800"/>
              </a:tblGrid>
              <a:tr h="384048">
                <a:tc>
                  <a:txBody>
                    <a:bodyPr/>
                    <a:lstStyle/>
                    <a:p>
                      <a:pPr algn="l" indent="0" marL="0">
                        <a:buNone/>
                      </a:pPr>
                      <a:r>
                        <a:rPr lang="en-US" sz="1150" b="1" dirty="0">
                          <a:solidFill>
                            <a:srgbClr val="FFFFFF"/>
                          </a:solidFill>
                          <a:latin typeface="Yu Gothic" pitchFamily="34" charset="0"/>
                          <a:ea typeface="Yu Gothic" pitchFamily="34" charset="-122"/>
                          <a:cs typeface="Yu Gothic" pitchFamily="34" charset="-120"/>
                        </a:rPr>
                        <a:t>項目（月次・円／税抜）</a:t>
                      </a:r>
                      <a:endParaRPr lang="en-US" sz="1150" dirty="0">
                        <a:latin typeface="Yu Gothic" charset="0"/>
                        <a:ea typeface="Yu Gothic" charset="0"/>
                        <a:cs typeface="Yu Gothic" charset="0"/>
                      </a:endParaRPr>
                    </a:p>
                  </a:txBody>
                  <a:tcPr marL="128016" marR="128016"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0C5230"/>
                    </a:solidFill>
                  </a:tcPr>
                </a:tc>
                <a:tc>
                  <a:txBody>
                    <a:bodyPr/>
                    <a:lstStyle/>
                    <a:p>
                      <a:pPr algn="r" indent="0" marL="0">
                        <a:buNone/>
                      </a:pPr>
                      <a:r>
                        <a:rPr lang="en-US" sz="1150" b="1" dirty="0">
                          <a:solidFill>
                            <a:srgbClr val="FFFFFF"/>
                          </a:solidFill>
                          <a:latin typeface="Yu Gothic" pitchFamily="34" charset="0"/>
                          <a:ea typeface="Yu Gothic" pitchFamily="34" charset="-122"/>
                          <a:cs typeface="Yu Gothic" pitchFamily="34" charset="-120"/>
                        </a:rPr>
                        <a:t>25坪パターン</a:t>
                      </a:r>
                      <a:endParaRPr lang="en-US" sz="1150" dirty="0">
                        <a:latin typeface="Yu Gothic" charset="0"/>
                        <a:ea typeface="Yu Gothic" charset="0"/>
                        <a:cs typeface="Yu Gothic" charset="0"/>
                      </a:endParaRPr>
                    </a:p>
                  </a:txBody>
                  <a:tcPr marL="128016" marR="128016"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0C5230"/>
                    </a:solidFill>
                  </a:tcPr>
                </a:tc>
                <a:tc>
                  <a:txBody>
                    <a:bodyPr/>
                    <a:lstStyle/>
                    <a:p>
                      <a:pPr algn="r" indent="0" marL="0">
                        <a:buNone/>
                      </a:pPr>
                      <a:r>
                        <a:rPr lang="en-US" sz="1150" b="1" dirty="0">
                          <a:solidFill>
                            <a:srgbClr val="FFFFFF"/>
                          </a:solidFill>
                          <a:latin typeface="Yu Gothic" pitchFamily="34" charset="0"/>
                          <a:ea typeface="Yu Gothic" pitchFamily="34" charset="-122"/>
                          <a:cs typeface="Yu Gothic" pitchFamily="34" charset="-120"/>
                        </a:rPr>
                        <a:t>70坪パターン</a:t>
                      </a:r>
                      <a:endParaRPr lang="en-US" sz="1150" dirty="0">
                        <a:latin typeface="Yu Gothic" charset="0"/>
                        <a:ea typeface="Yu Gothic" charset="0"/>
                        <a:cs typeface="Yu Gothic" charset="0"/>
                      </a:endParaRPr>
                    </a:p>
                  </a:txBody>
                  <a:tcPr marL="128016" marR="128016"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0C5230"/>
                    </a:solidFill>
                  </a:tcPr>
                </a:tc>
              </a:tr>
              <a:tr h="566928">
                <a:tc>
                  <a:txBody>
                    <a:bodyPr/>
                    <a:lstStyle/>
                    <a:p>
                      <a:pPr indent="0" marL="0">
                        <a:buNone/>
                      </a:pPr>
                      <a:r>
                        <a:rPr lang="en-US" sz="1200" b="1" dirty="0">
                          <a:solidFill>
                            <a:srgbClr val="0A3D23"/>
                          </a:solidFill>
                          <a:latin typeface="Yu Gothic" pitchFamily="34" charset="0"/>
                          <a:ea typeface="Yu Gothic" pitchFamily="34" charset="-122"/>
                          <a:cs typeface="Yu Gothic" pitchFamily="34" charset="-120"/>
                        </a:rPr>
                        <a:t>営業総利益（売上−原価）</a:t>
                      </a:r>
                      <a:endParaRPr lang="en-US" sz="1200" dirty="0">
                        <a:latin typeface="Yu Gothic" charset="0"/>
                        <a:ea typeface="Yu Gothic" charset="0"/>
                        <a:cs typeface="Yu Gothic" charset="0"/>
                      </a:endParaRPr>
                    </a:p>
                  </a:txBody>
                  <a:tcPr marL="128016" marR="128016"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4F2EE"/>
                    </a:solidFill>
                  </a:tcPr>
                </a:tc>
                <a:tc>
                  <a:txBody>
                    <a:bodyPr/>
                    <a:lstStyle/>
                    <a:p>
                      <a:pPr algn="r" indent="0" marL="0">
                        <a:buNone/>
                      </a:pPr>
                      <a:r>
                        <a:rPr lang="en-US" sz="1150" dirty="0">
                          <a:solidFill>
                            <a:srgbClr val="4B5550"/>
                          </a:solidFill>
                          <a:latin typeface="Arial" pitchFamily="34" charset="0"/>
                          <a:ea typeface="Arial" pitchFamily="34" charset="-122"/>
                          <a:cs typeface="Arial" pitchFamily="34" charset="-120"/>
                        </a:rPr>
                        <a:t>888,100</a:t>
                      </a:r>
                      <a:endParaRPr lang="en-US" sz="1150" dirty="0">
                        <a:latin typeface="Arial" charset="0"/>
                        <a:ea typeface="Arial" charset="0"/>
                        <a:cs typeface="Arial" charset="0"/>
                      </a:endParaRPr>
                    </a:p>
                  </a:txBody>
                  <a:tcPr marL="146304" marR="146304"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FFFFF"/>
                    </a:solidFill>
                  </a:tcPr>
                </a:tc>
                <a:tc>
                  <a:txBody>
                    <a:bodyPr/>
                    <a:lstStyle/>
                    <a:p>
                      <a:pPr algn="r" indent="0" marL="0">
                        <a:buNone/>
                      </a:pPr>
                      <a:r>
                        <a:rPr lang="en-US" sz="1150" dirty="0">
                          <a:solidFill>
                            <a:srgbClr val="4B5550"/>
                          </a:solidFill>
                          <a:latin typeface="Arial" pitchFamily="34" charset="0"/>
                          <a:ea typeface="Arial" pitchFamily="34" charset="-122"/>
                          <a:cs typeface="Arial" pitchFamily="34" charset="-120"/>
                        </a:rPr>
                        <a:t>1,387,600</a:t>
                      </a:r>
                      <a:endParaRPr lang="en-US" sz="1150" dirty="0">
                        <a:latin typeface="Arial" charset="0"/>
                        <a:ea typeface="Arial" charset="0"/>
                        <a:cs typeface="Arial" charset="0"/>
                      </a:endParaRPr>
                    </a:p>
                  </a:txBody>
                  <a:tcPr marL="146304" marR="146304"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FFFFF"/>
                    </a:solidFill>
                  </a:tcPr>
                </a:tc>
              </a:tr>
              <a:tr h="676656">
                <a:tc>
                  <a:txBody>
                    <a:bodyPr/>
                    <a:lstStyle/>
                    <a:p>
                      <a:pPr indent="0" marL="0">
                        <a:buNone/>
                      </a:pPr>
                      <a:r>
                        <a:rPr lang="en-US" sz="1200" b="1" dirty="0">
                          <a:solidFill>
                            <a:srgbClr val="0A3D23"/>
                          </a:solidFill>
                          <a:latin typeface="Yu Gothic" pitchFamily="34" charset="0"/>
                          <a:ea typeface="Yu Gothic" pitchFamily="34" charset="-122"/>
                          <a:cs typeface="Yu Gothic" pitchFamily="34" charset="-120"/>
                        </a:rPr>
                        <a:t>業務委託料（25％）</a:t>
                      </a:r>
                      <a:endParaRPr lang="en-US" sz="1200" dirty="0">
                        <a:latin typeface="Yu Gothic" charset="0"/>
                        <a:ea typeface="Yu Gothic" charset="0"/>
                        <a:cs typeface="Yu Gothic" charset="0"/>
                      </a:endParaRPr>
                    </a:p>
                  </a:txBody>
                  <a:tcPr marL="146304" marR="146304"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1F8F3"/>
                    </a:solidFill>
                  </a:tcPr>
                </a:tc>
                <a:tc>
                  <a:txBody>
                    <a:bodyPr/>
                    <a:lstStyle/>
                    <a:p>
                      <a:pPr algn="r" indent="0" marL="0">
                        <a:buNone/>
                      </a:pPr>
                      <a:r>
                        <a:rPr lang="en-US" sz="1500" b="1" dirty="0">
                          <a:solidFill>
                            <a:srgbClr val="106838"/>
                          </a:solidFill>
                          <a:latin typeface="Arial" pitchFamily="34" charset="0"/>
                          <a:ea typeface="Arial" pitchFamily="34" charset="-122"/>
                          <a:cs typeface="Arial" pitchFamily="34" charset="-120"/>
                        </a:rPr>
                        <a:t>222,025</a:t>
                      </a:r>
                      <a:endParaRPr lang="en-US" sz="1500" dirty="0">
                        <a:latin typeface="Arial" charset="0"/>
                        <a:ea typeface="Arial" charset="0"/>
                        <a:cs typeface="Arial" charset="0"/>
                      </a:endParaRPr>
                    </a:p>
                  </a:txBody>
                  <a:tcPr marL="146304" marR="146304"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1F8F3"/>
                    </a:solidFill>
                  </a:tcPr>
                </a:tc>
                <a:tc>
                  <a:txBody>
                    <a:bodyPr/>
                    <a:lstStyle/>
                    <a:p>
                      <a:pPr algn="r" indent="0" marL="0">
                        <a:buNone/>
                      </a:pPr>
                      <a:r>
                        <a:rPr lang="en-US" sz="1500" b="1" dirty="0">
                          <a:solidFill>
                            <a:srgbClr val="106838"/>
                          </a:solidFill>
                          <a:latin typeface="Arial" pitchFamily="34" charset="0"/>
                          <a:ea typeface="Arial" pitchFamily="34" charset="-122"/>
                          <a:cs typeface="Arial" pitchFamily="34" charset="-120"/>
                        </a:rPr>
                        <a:t>346,900</a:t>
                      </a:r>
                      <a:endParaRPr lang="en-US" sz="1500" dirty="0">
                        <a:latin typeface="Arial" charset="0"/>
                        <a:ea typeface="Arial" charset="0"/>
                        <a:cs typeface="Arial" charset="0"/>
                      </a:endParaRPr>
                    </a:p>
                  </a:txBody>
                  <a:tcPr marL="146304" marR="146304"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1F8F3"/>
                    </a:solidFill>
                  </a:tcPr>
                </a:tc>
              </a:tr>
              <a:tr h="566928">
                <a:tc>
                  <a:txBody>
                    <a:bodyPr/>
                    <a:lstStyle/>
                    <a:p>
                      <a:pPr indent="0" marL="0">
                        <a:buNone/>
                      </a:pPr>
                      <a:r>
                        <a:rPr lang="en-US" sz="1200" b="1" dirty="0">
                          <a:solidFill>
                            <a:srgbClr val="0A3D23"/>
                          </a:solidFill>
                          <a:latin typeface="Yu Gothic" pitchFamily="34" charset="0"/>
                          <a:ea typeface="Yu Gothic" pitchFamily="34" charset="-122"/>
                          <a:cs typeface="Yu Gothic" pitchFamily="34" charset="-120"/>
                        </a:rPr>
                        <a:t>年間換算</a:t>
                      </a:r>
                      <a:endParaRPr lang="en-US" sz="1200" dirty="0">
                        <a:latin typeface="Yu Gothic" charset="0"/>
                        <a:ea typeface="Yu Gothic" charset="0"/>
                        <a:cs typeface="Yu Gothic" charset="0"/>
                      </a:endParaRPr>
                    </a:p>
                  </a:txBody>
                  <a:tcPr marL="128016" marR="128016"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4F2EE"/>
                    </a:solidFill>
                  </a:tcPr>
                </a:tc>
                <a:tc>
                  <a:txBody>
                    <a:bodyPr/>
                    <a:lstStyle/>
                    <a:p>
                      <a:pPr algn="r" indent="0" marL="0">
                        <a:buNone/>
                      </a:pPr>
                      <a:r>
                        <a:rPr lang="en-US" sz="1300" b="1" dirty="0">
                          <a:solidFill>
                            <a:srgbClr val="106838"/>
                          </a:solidFill>
                          <a:latin typeface="Arial" pitchFamily="34" charset="0"/>
                          <a:ea typeface="Arial" pitchFamily="34" charset="-122"/>
                          <a:cs typeface="Arial" pitchFamily="34" charset="-120"/>
                        </a:rPr>
                        <a:t>2,664,300</a:t>
                      </a:r>
                      <a:endParaRPr lang="en-US" sz="1300" dirty="0">
                        <a:latin typeface="Arial" charset="0"/>
                        <a:ea typeface="Arial" charset="0"/>
                        <a:cs typeface="Arial" charset="0"/>
                      </a:endParaRPr>
                    </a:p>
                  </a:txBody>
                  <a:tcPr marL="146304" marR="146304"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FFFFF"/>
                    </a:solidFill>
                  </a:tcPr>
                </a:tc>
                <a:tc>
                  <a:txBody>
                    <a:bodyPr/>
                    <a:lstStyle/>
                    <a:p>
                      <a:pPr algn="r" indent="0" marL="0">
                        <a:buNone/>
                      </a:pPr>
                      <a:r>
                        <a:rPr lang="en-US" sz="1300" b="1" dirty="0">
                          <a:solidFill>
                            <a:srgbClr val="106838"/>
                          </a:solidFill>
                          <a:latin typeface="Arial" pitchFamily="34" charset="0"/>
                          <a:ea typeface="Arial" pitchFamily="34" charset="-122"/>
                          <a:cs typeface="Arial" pitchFamily="34" charset="-120"/>
                        </a:rPr>
                        <a:t>4,162,800</a:t>
                      </a:r>
                      <a:endParaRPr lang="en-US" sz="1300" dirty="0">
                        <a:latin typeface="Arial" charset="0"/>
                        <a:ea typeface="Arial" charset="0"/>
                        <a:cs typeface="Arial" charset="0"/>
                      </a:endParaRPr>
                    </a:p>
                  </a:txBody>
                  <a:tcPr marL="146304" marR="146304"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FFFFF"/>
                    </a:solidFill>
                  </a:tcPr>
                </a:tc>
              </a:tr>
            </a:tbl>
          </a:graphicData>
        </a:graphic>
      </p:graphicFrame>
      <p:sp>
        <p:nvSpPr>
          <p:cNvPr id="10" name="Shape 6"/>
          <p:cNvSpPr/>
          <p:nvPr/>
        </p:nvSpPr>
        <p:spPr>
          <a:xfrm>
            <a:off x="660197" y="4047134"/>
            <a:ext cx="7406640" cy="1920240"/>
          </a:xfrm>
          <a:prstGeom prst="roundRect">
            <a:avLst>
              <a:gd name="adj" fmla="val 2857"/>
            </a:avLst>
          </a:prstGeom>
          <a:solidFill>
            <a:srgbClr val="FFFFFF"/>
          </a:solidFill>
          <a:ln w="9525">
            <a:solidFill>
              <a:srgbClr val="EFEAE0"/>
            </a:solidFill>
            <a:prstDash val="solid"/>
          </a:ln>
        </p:spPr>
      </p:sp>
      <p:sp>
        <p:nvSpPr>
          <p:cNvPr id="11" name="Text 7"/>
          <p:cNvSpPr/>
          <p:nvPr/>
        </p:nvSpPr>
        <p:spPr>
          <a:xfrm>
            <a:off x="934517" y="4230014"/>
            <a:ext cx="6858000" cy="256032"/>
          </a:xfrm>
          <a:prstGeom prst="rect">
            <a:avLst/>
          </a:prstGeom>
          <a:noFill/>
          <a:ln/>
        </p:spPr>
        <p:txBody>
          <a:bodyPr wrap="square" lIns="0" tIns="0" rIns="0" bIns="0" rtlCol="0" anchor="ctr"/>
          <a:lstStyle/>
          <a:p>
            <a:pPr indent="0" marL="0">
              <a:buNone/>
            </a:pPr>
            <a:r>
              <a:rPr lang="en-US" sz="1150" b="1" dirty="0">
                <a:solidFill>
                  <a:srgbClr val="0A3D23"/>
                </a:solidFill>
                <a:latin typeface="Yu Gothic" pitchFamily="34" charset="0"/>
                <a:ea typeface="Yu Gothic" pitchFamily="34" charset="-122"/>
                <a:cs typeface="Yu Gothic" pitchFamily="34" charset="-120"/>
              </a:rPr>
              <a:t>計算の前提</a:t>
            </a:r>
            <a:endParaRPr lang="en-US" sz="1150" dirty="0"/>
          </a:p>
        </p:txBody>
      </p:sp>
      <p:pic>
        <p:nvPicPr>
          <p:cNvPr id="12" name="Image 1" descr="/home/user/suzuki-ceo/selfcafe-gyomu-deck/assets/icons/LuCheck-green.png">    </p:cNvPr>
          <p:cNvPicPr>
            <a:picLocks noChangeAspect="1"/>
          </p:cNvPicPr>
          <p:nvPr/>
        </p:nvPicPr>
        <p:blipFill>
          <a:blip r:embed="rId2"/>
          <a:stretch>
            <a:fillRect/>
          </a:stretch>
        </p:blipFill>
        <p:spPr>
          <a:xfrm>
            <a:off x="952805" y="4604918"/>
            <a:ext cx="182880" cy="182880"/>
          </a:xfrm>
          <a:prstGeom prst="rect">
            <a:avLst/>
          </a:prstGeom>
        </p:spPr>
      </p:pic>
      <p:sp>
        <p:nvSpPr>
          <p:cNvPr id="13" name="Text 8"/>
          <p:cNvSpPr/>
          <p:nvPr/>
        </p:nvSpPr>
        <p:spPr>
          <a:xfrm>
            <a:off x="1245413" y="4559198"/>
            <a:ext cx="6547104" cy="292608"/>
          </a:xfrm>
          <a:prstGeom prst="rect">
            <a:avLst/>
          </a:prstGeom>
          <a:noFill/>
          <a:ln/>
        </p:spPr>
        <p:txBody>
          <a:bodyPr wrap="square" lIns="0" tIns="0" rIns="0" bIns="0" rtlCol="0" anchor="ctr"/>
          <a:lstStyle/>
          <a:p>
            <a:pPr indent="0" marL="0">
              <a:buNone/>
            </a:pPr>
            <a:r>
              <a:rPr lang="en-US" sz="1050" dirty="0">
                <a:solidFill>
                  <a:srgbClr val="0A3D23"/>
                </a:solidFill>
                <a:latin typeface="Yu Gothic" pitchFamily="34" charset="0"/>
                <a:ea typeface="Yu Gothic" pitchFamily="34" charset="-122"/>
                <a:cs typeface="Yu Gothic" pitchFamily="34" charset="-120"/>
              </a:rPr>
              <a:t>営業総利益（売上−原価）の25％を業務委託料としてお支払い</a:t>
            </a:r>
            <a:endParaRPr lang="en-US" sz="1050" dirty="0"/>
          </a:p>
        </p:txBody>
      </p:sp>
      <p:pic>
        <p:nvPicPr>
          <p:cNvPr id="14" name="Image 2" descr="/home/user/suzuki-ceo/selfcafe-gyomu-deck/assets/icons/LuCheck-green.png">    </p:cNvPr>
          <p:cNvPicPr>
            <a:picLocks noChangeAspect="1"/>
          </p:cNvPicPr>
          <p:nvPr/>
        </p:nvPicPr>
        <p:blipFill>
          <a:blip r:embed="rId3"/>
          <a:stretch>
            <a:fillRect/>
          </a:stretch>
        </p:blipFill>
        <p:spPr>
          <a:xfrm>
            <a:off x="952805" y="4988966"/>
            <a:ext cx="182880" cy="182880"/>
          </a:xfrm>
          <a:prstGeom prst="rect">
            <a:avLst/>
          </a:prstGeom>
        </p:spPr>
      </p:pic>
      <p:sp>
        <p:nvSpPr>
          <p:cNvPr id="15" name="Text 9"/>
          <p:cNvSpPr/>
          <p:nvPr/>
        </p:nvSpPr>
        <p:spPr>
          <a:xfrm>
            <a:off x="1245413" y="4943246"/>
            <a:ext cx="6547104" cy="292608"/>
          </a:xfrm>
          <a:prstGeom prst="rect">
            <a:avLst/>
          </a:prstGeom>
          <a:noFill/>
          <a:ln/>
        </p:spPr>
        <p:txBody>
          <a:bodyPr wrap="square" lIns="0" tIns="0" rIns="0" bIns="0" rtlCol="0" anchor="ctr"/>
          <a:lstStyle/>
          <a:p>
            <a:pPr indent="0" marL="0">
              <a:buNone/>
            </a:pPr>
            <a:r>
              <a:rPr lang="en-US" sz="1050" dirty="0">
                <a:solidFill>
                  <a:srgbClr val="0A3D23"/>
                </a:solidFill>
                <a:latin typeface="Yu Gothic" pitchFamily="34" charset="0"/>
                <a:ea typeface="Yu Gothic" pitchFamily="34" charset="-122"/>
                <a:cs typeface="Yu Gothic" pitchFamily="34" charset="-120"/>
              </a:rPr>
              <a:t>売上金の管理は本部が実施</a:t>
            </a:r>
            <a:endParaRPr lang="en-US" sz="1050" dirty="0"/>
          </a:p>
        </p:txBody>
      </p:sp>
      <p:pic>
        <p:nvPicPr>
          <p:cNvPr id="16" name="Image 3" descr="/home/user/suzuki-ceo/selfcafe-gyomu-deck/assets/icons/LuCheck-green.png">    </p:cNvPr>
          <p:cNvPicPr>
            <a:picLocks noChangeAspect="1"/>
          </p:cNvPicPr>
          <p:nvPr/>
        </p:nvPicPr>
        <p:blipFill>
          <a:blip r:embed="rId4"/>
          <a:stretch>
            <a:fillRect/>
          </a:stretch>
        </p:blipFill>
        <p:spPr>
          <a:xfrm>
            <a:off x="952805" y="5373014"/>
            <a:ext cx="182880" cy="182880"/>
          </a:xfrm>
          <a:prstGeom prst="rect">
            <a:avLst/>
          </a:prstGeom>
        </p:spPr>
      </p:pic>
      <p:sp>
        <p:nvSpPr>
          <p:cNvPr id="17" name="Text 10"/>
          <p:cNvSpPr/>
          <p:nvPr/>
        </p:nvSpPr>
        <p:spPr>
          <a:xfrm>
            <a:off x="1245413" y="5327294"/>
            <a:ext cx="6547104" cy="292608"/>
          </a:xfrm>
          <a:prstGeom prst="rect">
            <a:avLst/>
          </a:prstGeom>
          <a:noFill/>
          <a:ln/>
        </p:spPr>
        <p:txBody>
          <a:bodyPr wrap="square" lIns="0" tIns="0" rIns="0" bIns="0" rtlCol="0" anchor="ctr"/>
          <a:lstStyle/>
          <a:p>
            <a:pPr indent="0" marL="0">
              <a:buNone/>
            </a:pPr>
            <a:r>
              <a:rPr lang="en-US" sz="1050" dirty="0">
                <a:solidFill>
                  <a:srgbClr val="0A3D23"/>
                </a:solidFill>
                <a:latin typeface="Yu Gothic" pitchFamily="34" charset="0"/>
                <a:ea typeface="Yu Gothic" pitchFamily="34" charset="-122"/>
                <a:cs typeface="Yu Gothic" pitchFamily="34" charset="-120"/>
              </a:rPr>
              <a:t>上記は既存店の実績をもとにした試算値です</a:t>
            </a:r>
            <a:endParaRPr lang="en-US" sz="1050" dirty="0"/>
          </a:p>
        </p:txBody>
      </p:sp>
      <p:sp>
        <p:nvSpPr>
          <p:cNvPr id="18" name="Shape 11"/>
          <p:cNvSpPr/>
          <p:nvPr/>
        </p:nvSpPr>
        <p:spPr>
          <a:xfrm>
            <a:off x="8450885" y="1651406"/>
            <a:ext cx="3080614" cy="2103120"/>
          </a:xfrm>
          <a:prstGeom prst="roundRect">
            <a:avLst>
              <a:gd name="adj" fmla="val 2609"/>
            </a:avLst>
          </a:prstGeom>
          <a:solidFill>
            <a:srgbClr val="0C5230"/>
          </a:solidFill>
          <a:ln/>
        </p:spPr>
      </p:sp>
      <p:sp>
        <p:nvSpPr>
          <p:cNvPr id="19" name="Text 12"/>
          <p:cNvSpPr/>
          <p:nvPr/>
        </p:nvSpPr>
        <p:spPr>
          <a:xfrm>
            <a:off x="8706917" y="1870862"/>
            <a:ext cx="2377440" cy="164592"/>
          </a:xfrm>
          <a:prstGeom prst="rect">
            <a:avLst/>
          </a:prstGeom>
          <a:noFill/>
          <a:ln/>
        </p:spPr>
        <p:txBody>
          <a:bodyPr wrap="square" lIns="0" tIns="0" rIns="0" bIns="0" rtlCol="0" anchor="ctr"/>
          <a:lstStyle/>
          <a:p>
            <a:pPr indent="0" marL="0">
              <a:buNone/>
            </a:pPr>
            <a:r>
              <a:rPr lang="en-US" sz="900" b="1" spc="150" kern="0" dirty="0">
                <a:solidFill>
                  <a:srgbClr val="8CC5A5"/>
                </a:solidFill>
                <a:latin typeface="Arial" pitchFamily="34" charset="0"/>
                <a:ea typeface="Arial" pitchFamily="34" charset="-122"/>
                <a:cs typeface="Arial" pitchFamily="34" charset="-120"/>
              </a:rPr>
              <a:t>YOUR REVENUE</a:t>
            </a:r>
            <a:endParaRPr lang="en-US" sz="900" dirty="0"/>
          </a:p>
        </p:txBody>
      </p:sp>
      <p:sp>
        <p:nvSpPr>
          <p:cNvPr id="20" name="Text 13"/>
          <p:cNvSpPr/>
          <p:nvPr/>
        </p:nvSpPr>
        <p:spPr>
          <a:xfrm>
            <a:off x="8706917" y="2108606"/>
            <a:ext cx="2568550" cy="256032"/>
          </a:xfrm>
          <a:prstGeom prst="rect">
            <a:avLst/>
          </a:prstGeom>
          <a:noFill/>
          <a:ln/>
        </p:spPr>
        <p:txBody>
          <a:bodyPr wrap="square" lIns="0" tIns="0" rIns="0" bIns="0" rtlCol="0" anchor="ctr"/>
          <a:lstStyle/>
          <a:p>
            <a:pPr indent="0" marL="0">
              <a:buNone/>
            </a:pPr>
            <a:r>
              <a:rPr lang="en-US" sz="1100" dirty="0">
                <a:solidFill>
                  <a:srgbClr val="AFC2B8"/>
                </a:solidFill>
                <a:latin typeface="Yu Gothic" pitchFamily="34" charset="0"/>
                <a:ea typeface="Yu Gothic" pitchFamily="34" charset="-122"/>
                <a:cs typeface="Yu Gothic" pitchFamily="34" charset="-120"/>
              </a:rPr>
              <a:t>貴社の受取イメージ</a:t>
            </a:r>
            <a:endParaRPr lang="en-US" sz="1100" dirty="0"/>
          </a:p>
        </p:txBody>
      </p:sp>
      <p:sp>
        <p:nvSpPr>
          <p:cNvPr id="21" name="Text 14"/>
          <p:cNvSpPr/>
          <p:nvPr/>
        </p:nvSpPr>
        <p:spPr>
          <a:xfrm>
            <a:off x="8706917" y="2419502"/>
            <a:ext cx="2568550" cy="640080"/>
          </a:xfrm>
          <a:prstGeom prst="rect">
            <a:avLst/>
          </a:prstGeom>
          <a:noFill/>
          <a:ln/>
        </p:spPr>
        <p:txBody>
          <a:bodyPr wrap="square" lIns="0" tIns="0" rIns="0" bIns="0" rtlCol="0" anchor="ctr"/>
          <a:lstStyle/>
          <a:p>
            <a:pPr indent="0" marL="0">
              <a:buNone/>
            </a:pPr>
            <a:r>
              <a:rPr lang="en-US" sz="1300" dirty="0">
                <a:solidFill>
                  <a:srgbClr val="FFFFFF"/>
                </a:solidFill>
                <a:latin typeface="Yu Gothic" pitchFamily="34" charset="0"/>
                <a:ea typeface="Yu Gothic" pitchFamily="34" charset="-122"/>
                <a:cs typeface="Yu Gothic" pitchFamily="34" charset="-120"/>
              </a:rPr>
              <a:t>月 </a:t>
            </a:r>
            <a:r>
              <a:rPr lang="en-US" sz="3200" b="1" dirty="0">
                <a:solidFill>
                  <a:srgbClr val="F0C05A"/>
                </a:solidFill>
                <a:latin typeface="Arial" pitchFamily="34" charset="0"/>
                <a:ea typeface="Arial" pitchFamily="34" charset="-122"/>
                <a:cs typeface="Arial" pitchFamily="34" charset="-120"/>
              </a:rPr>
              <a:t>22〜35</a:t>
            </a:r>
            <a:r>
              <a:rPr lang="en-US" sz="1400" b="1" dirty="0">
                <a:solidFill>
                  <a:srgbClr val="F0C05A"/>
                </a:solidFill>
                <a:latin typeface="Yu Gothic" pitchFamily="34" charset="0"/>
                <a:ea typeface="Yu Gothic" pitchFamily="34" charset="-122"/>
                <a:cs typeface="Yu Gothic" pitchFamily="34" charset="-120"/>
              </a:rPr>
              <a:t> 万円</a:t>
            </a:r>
            <a:endParaRPr lang="en-US" sz="1300" dirty="0"/>
          </a:p>
        </p:txBody>
      </p:sp>
      <p:sp>
        <p:nvSpPr>
          <p:cNvPr id="22" name="Shape 15"/>
          <p:cNvSpPr/>
          <p:nvPr/>
        </p:nvSpPr>
        <p:spPr>
          <a:xfrm>
            <a:off x="8706917" y="3132734"/>
            <a:ext cx="2568550" cy="10058"/>
          </a:xfrm>
          <a:prstGeom prst="rect">
            <a:avLst/>
          </a:prstGeom>
          <a:solidFill>
            <a:srgbClr val="2A7A4E"/>
          </a:solidFill>
          <a:ln/>
        </p:spPr>
      </p:sp>
      <p:sp>
        <p:nvSpPr>
          <p:cNvPr id="23" name="Text 16"/>
          <p:cNvSpPr/>
          <p:nvPr/>
        </p:nvSpPr>
        <p:spPr>
          <a:xfrm>
            <a:off x="8706917" y="3242462"/>
            <a:ext cx="2568550" cy="365760"/>
          </a:xfrm>
          <a:prstGeom prst="rect">
            <a:avLst/>
          </a:prstGeom>
          <a:noFill/>
          <a:ln/>
        </p:spPr>
        <p:txBody>
          <a:bodyPr wrap="square" lIns="0" tIns="0" rIns="0" bIns="0" rtlCol="0" anchor="ctr"/>
          <a:lstStyle/>
          <a:p>
            <a:pPr indent="0" marL="0">
              <a:buNone/>
            </a:pPr>
            <a:r>
              <a:rPr lang="en-US" sz="1400" b="1" dirty="0">
                <a:solidFill>
                  <a:srgbClr val="FFFFFF"/>
                </a:solidFill>
                <a:latin typeface="Yu Gothic" pitchFamily="34" charset="0"/>
                <a:ea typeface="Yu Gothic" pitchFamily="34" charset="-122"/>
                <a:cs typeface="Yu Gothic" pitchFamily="34" charset="-120"/>
              </a:rPr>
              <a:t>年 266万〜416万円</a:t>
            </a:r>
            <a:endParaRPr lang="en-US" sz="1400" dirty="0"/>
          </a:p>
        </p:txBody>
      </p:sp>
      <p:sp>
        <p:nvSpPr>
          <p:cNvPr id="24" name="Shape 17"/>
          <p:cNvSpPr/>
          <p:nvPr/>
        </p:nvSpPr>
        <p:spPr>
          <a:xfrm>
            <a:off x="8450885" y="3937406"/>
            <a:ext cx="3080614" cy="2029968"/>
          </a:xfrm>
          <a:prstGeom prst="roundRect">
            <a:avLst>
              <a:gd name="adj" fmla="val 2703"/>
            </a:avLst>
          </a:prstGeom>
          <a:solidFill>
            <a:srgbClr val="F1F8F3"/>
          </a:solidFill>
          <a:ln w="9525">
            <a:solidFill>
              <a:srgbClr val="D2E7DA"/>
            </a:solidFill>
            <a:prstDash val="solid"/>
          </a:ln>
        </p:spPr>
      </p:sp>
      <p:sp>
        <p:nvSpPr>
          <p:cNvPr id="25" name="Text 18"/>
          <p:cNvSpPr/>
          <p:nvPr/>
        </p:nvSpPr>
        <p:spPr>
          <a:xfrm>
            <a:off x="8706917" y="4120286"/>
            <a:ext cx="2568550" cy="256032"/>
          </a:xfrm>
          <a:prstGeom prst="rect">
            <a:avLst/>
          </a:prstGeom>
          <a:noFill/>
          <a:ln/>
        </p:spPr>
        <p:txBody>
          <a:bodyPr wrap="square" lIns="0" tIns="0" rIns="0" bIns="0" rtlCol="0" anchor="ctr"/>
          <a:lstStyle/>
          <a:p>
            <a:pPr indent="0" marL="0">
              <a:buNone/>
            </a:pPr>
            <a:r>
              <a:rPr lang="en-US" sz="1100" b="1" dirty="0">
                <a:solidFill>
                  <a:srgbClr val="106838"/>
                </a:solidFill>
                <a:latin typeface="Yu Gothic" pitchFamily="34" charset="0"/>
                <a:ea typeface="Yu Gothic" pitchFamily="34" charset="-122"/>
                <a:cs typeface="Yu Gothic" pitchFamily="34" charset="-120"/>
              </a:rPr>
              <a:t>貴社にご負担いただく経費</a:t>
            </a:r>
            <a:endParaRPr lang="en-US" sz="1100" dirty="0"/>
          </a:p>
        </p:txBody>
      </p:sp>
      <p:pic>
        <p:nvPicPr>
          <p:cNvPr id="26" name="Image 4" descr="/home/user/suzuki-ceo/selfcafe-gyomu-deck/assets/icons/LuMinus-green.png">    </p:cNvPr>
          <p:cNvPicPr>
            <a:picLocks noChangeAspect="1"/>
          </p:cNvPicPr>
          <p:nvPr/>
        </p:nvPicPr>
        <p:blipFill>
          <a:blip r:embed="rId5"/>
          <a:stretch>
            <a:fillRect/>
          </a:stretch>
        </p:blipFill>
        <p:spPr>
          <a:xfrm>
            <a:off x="8725205" y="4486046"/>
            <a:ext cx="164592" cy="164592"/>
          </a:xfrm>
          <a:prstGeom prst="rect">
            <a:avLst/>
          </a:prstGeom>
        </p:spPr>
      </p:pic>
      <p:sp>
        <p:nvSpPr>
          <p:cNvPr id="27" name="Text 19"/>
          <p:cNvSpPr/>
          <p:nvPr/>
        </p:nvSpPr>
        <p:spPr>
          <a:xfrm>
            <a:off x="8999525" y="4431182"/>
            <a:ext cx="2257654" cy="274320"/>
          </a:xfrm>
          <a:prstGeom prst="rect">
            <a:avLst/>
          </a:prstGeom>
          <a:noFill/>
          <a:ln/>
        </p:spPr>
        <p:txBody>
          <a:bodyPr wrap="square" lIns="0" tIns="0" rIns="0" bIns="0" rtlCol="0" anchor="ctr"/>
          <a:lstStyle/>
          <a:p>
            <a:pPr indent="0" marL="0">
              <a:buNone/>
            </a:pPr>
            <a:r>
              <a:rPr lang="en-US" sz="1000" dirty="0">
                <a:solidFill>
                  <a:srgbClr val="0A3D23"/>
                </a:solidFill>
                <a:latin typeface="Yu Gothic" pitchFamily="34" charset="0"/>
                <a:ea typeface="Yu Gothic" pitchFamily="34" charset="-122"/>
                <a:cs typeface="Yu Gothic" pitchFamily="34" charset="-120"/>
              </a:rPr>
              <a:t>水道光熱費</a:t>
            </a:r>
            <a:endParaRPr lang="en-US" sz="1000" dirty="0"/>
          </a:p>
        </p:txBody>
      </p:sp>
      <p:pic>
        <p:nvPicPr>
          <p:cNvPr id="28" name="Image 5" descr="/home/user/suzuki-ceo/selfcafe-gyomu-deck/assets/icons/LuMinus-green.png">    </p:cNvPr>
          <p:cNvPicPr>
            <a:picLocks noChangeAspect="1"/>
          </p:cNvPicPr>
          <p:nvPr/>
        </p:nvPicPr>
        <p:blipFill>
          <a:blip r:embed="rId6"/>
          <a:stretch>
            <a:fillRect/>
          </a:stretch>
        </p:blipFill>
        <p:spPr>
          <a:xfrm>
            <a:off x="8725205" y="4815230"/>
            <a:ext cx="164592" cy="164592"/>
          </a:xfrm>
          <a:prstGeom prst="rect">
            <a:avLst/>
          </a:prstGeom>
        </p:spPr>
      </p:pic>
      <p:sp>
        <p:nvSpPr>
          <p:cNvPr id="29" name="Text 20"/>
          <p:cNvSpPr/>
          <p:nvPr/>
        </p:nvSpPr>
        <p:spPr>
          <a:xfrm>
            <a:off x="8999525" y="4760366"/>
            <a:ext cx="2257654" cy="274320"/>
          </a:xfrm>
          <a:prstGeom prst="rect">
            <a:avLst/>
          </a:prstGeom>
          <a:noFill/>
          <a:ln/>
        </p:spPr>
        <p:txBody>
          <a:bodyPr wrap="square" lIns="0" tIns="0" rIns="0" bIns="0" rtlCol="0" anchor="ctr"/>
          <a:lstStyle/>
          <a:p>
            <a:pPr indent="0" marL="0">
              <a:buNone/>
            </a:pPr>
            <a:r>
              <a:rPr lang="en-US" sz="1000" dirty="0">
                <a:solidFill>
                  <a:srgbClr val="0A3D23"/>
                </a:solidFill>
                <a:latin typeface="Yu Gothic" pitchFamily="34" charset="0"/>
                <a:ea typeface="Yu Gothic" pitchFamily="34" charset="-122"/>
                <a:cs typeface="Yu Gothic" pitchFamily="34" charset="-120"/>
              </a:rPr>
              <a:t>通信費</a:t>
            </a:r>
            <a:endParaRPr lang="en-US" sz="1000" dirty="0"/>
          </a:p>
        </p:txBody>
      </p:sp>
      <p:pic>
        <p:nvPicPr>
          <p:cNvPr id="30" name="Image 6" descr="/home/user/suzuki-ceo/selfcafe-gyomu-deck/assets/icons/LuMinus-green.png">    </p:cNvPr>
          <p:cNvPicPr>
            <a:picLocks noChangeAspect="1"/>
          </p:cNvPicPr>
          <p:nvPr/>
        </p:nvPicPr>
        <p:blipFill>
          <a:blip r:embed="rId7"/>
          <a:stretch>
            <a:fillRect/>
          </a:stretch>
        </p:blipFill>
        <p:spPr>
          <a:xfrm>
            <a:off x="8725205" y="5144414"/>
            <a:ext cx="164592" cy="164592"/>
          </a:xfrm>
          <a:prstGeom prst="rect">
            <a:avLst/>
          </a:prstGeom>
        </p:spPr>
      </p:pic>
      <p:sp>
        <p:nvSpPr>
          <p:cNvPr id="31" name="Text 21"/>
          <p:cNvSpPr/>
          <p:nvPr/>
        </p:nvSpPr>
        <p:spPr>
          <a:xfrm>
            <a:off x="8999525" y="5089550"/>
            <a:ext cx="2257654" cy="274320"/>
          </a:xfrm>
          <a:prstGeom prst="rect">
            <a:avLst/>
          </a:prstGeom>
          <a:noFill/>
          <a:ln/>
        </p:spPr>
        <p:txBody>
          <a:bodyPr wrap="square" lIns="0" tIns="0" rIns="0" bIns="0" rtlCol="0" anchor="ctr"/>
          <a:lstStyle/>
          <a:p>
            <a:pPr indent="0" marL="0">
              <a:buNone/>
            </a:pPr>
            <a:r>
              <a:rPr lang="en-US" sz="1000" dirty="0">
                <a:solidFill>
                  <a:srgbClr val="0A3D23"/>
                </a:solidFill>
                <a:latin typeface="Yu Gothic" pitchFamily="34" charset="0"/>
                <a:ea typeface="Yu Gothic" pitchFamily="34" charset="-122"/>
                <a:cs typeface="Yu Gothic" pitchFamily="34" charset="-120"/>
              </a:rPr>
              <a:t>人件費（清掃・補充ぶん）</a:t>
            </a:r>
            <a:endParaRPr lang="en-US" sz="1000" dirty="0"/>
          </a:p>
        </p:txBody>
      </p:sp>
      <p:pic>
        <p:nvPicPr>
          <p:cNvPr id="32" name="Image 7" descr="/home/user/suzuki-ceo/selfcafe-gyomu-deck/assets/icons/LuMinus-green.png">    </p:cNvPr>
          <p:cNvPicPr>
            <a:picLocks noChangeAspect="1"/>
          </p:cNvPicPr>
          <p:nvPr/>
        </p:nvPicPr>
        <p:blipFill>
          <a:blip r:embed="rId8"/>
          <a:stretch>
            <a:fillRect/>
          </a:stretch>
        </p:blipFill>
        <p:spPr>
          <a:xfrm>
            <a:off x="8725205" y="5473598"/>
            <a:ext cx="164592" cy="164592"/>
          </a:xfrm>
          <a:prstGeom prst="rect">
            <a:avLst/>
          </a:prstGeom>
        </p:spPr>
      </p:pic>
      <p:sp>
        <p:nvSpPr>
          <p:cNvPr id="33" name="Text 22"/>
          <p:cNvSpPr/>
          <p:nvPr/>
        </p:nvSpPr>
        <p:spPr>
          <a:xfrm>
            <a:off x="8999525" y="5418734"/>
            <a:ext cx="2257654" cy="274320"/>
          </a:xfrm>
          <a:prstGeom prst="rect">
            <a:avLst/>
          </a:prstGeom>
          <a:noFill/>
          <a:ln/>
        </p:spPr>
        <p:txBody>
          <a:bodyPr wrap="square" lIns="0" tIns="0" rIns="0" bIns="0" rtlCol="0" anchor="ctr"/>
          <a:lstStyle/>
          <a:p>
            <a:pPr indent="0" marL="0">
              <a:buNone/>
            </a:pPr>
            <a:r>
              <a:rPr lang="en-US" sz="1000" dirty="0">
                <a:solidFill>
                  <a:srgbClr val="0A3D23"/>
                </a:solidFill>
                <a:latin typeface="Yu Gothic" pitchFamily="34" charset="0"/>
                <a:ea typeface="Yu Gothic" pitchFamily="34" charset="-122"/>
                <a:cs typeface="Yu Gothic" pitchFamily="34" charset="-120"/>
              </a:rPr>
              <a:t>その他雑費</a:t>
            </a:r>
            <a:endParaRPr lang="en-US" sz="1000" dirty="0"/>
          </a:p>
        </p:txBody>
      </p:sp>
      <p:sp>
        <p:nvSpPr>
          <p:cNvPr id="34" name="Text 23"/>
          <p:cNvSpPr/>
          <p:nvPr/>
        </p:nvSpPr>
        <p:spPr>
          <a:xfrm>
            <a:off x="8706917" y="5766206"/>
            <a:ext cx="2568550" cy="219456"/>
          </a:xfrm>
          <a:prstGeom prst="rect">
            <a:avLst/>
          </a:prstGeom>
          <a:noFill/>
          <a:ln/>
        </p:spPr>
        <p:txBody>
          <a:bodyPr wrap="square" lIns="0" tIns="0" rIns="0" bIns="0" rtlCol="0" anchor="ctr"/>
          <a:lstStyle/>
          <a:p>
            <a:pPr indent="0" marL="0">
              <a:buNone/>
            </a:pPr>
            <a:r>
              <a:rPr lang="en-US" sz="850" dirty="0">
                <a:solidFill>
                  <a:srgbClr val="7E8882"/>
                </a:solidFill>
                <a:latin typeface="Yu Gothic" pitchFamily="34" charset="0"/>
                <a:ea typeface="Yu Gothic" pitchFamily="34" charset="-122"/>
                <a:cs typeface="Yu Gothic" pitchFamily="34" charset="-120"/>
              </a:rPr>
              <a:t>いずれも実費精算。金額は店舗の稼働状況により変動します。</a:t>
            </a:r>
            <a:endParaRPr lang="en-US" sz="850" dirty="0"/>
          </a:p>
        </p:txBody>
      </p:sp>
      <p:sp>
        <p:nvSpPr>
          <p:cNvPr id="35" name="Text 24"/>
          <p:cNvSpPr/>
          <p:nvPr/>
        </p:nvSpPr>
        <p:spPr>
          <a:xfrm>
            <a:off x="660197" y="6199632"/>
            <a:ext cx="10871302" cy="182880"/>
          </a:xfrm>
          <a:prstGeom prst="rect">
            <a:avLst/>
          </a:prstGeom>
          <a:noFill/>
          <a:ln/>
        </p:spPr>
        <p:txBody>
          <a:bodyPr wrap="square" lIns="0" tIns="0" rIns="0" bIns="0" rtlCol="0" anchor="ctr"/>
          <a:lstStyle/>
          <a:p>
            <a:pPr indent="0" marL="0">
              <a:buNone/>
            </a:pPr>
            <a:r>
              <a:rPr lang="en-US" sz="850" dirty="0">
                <a:solidFill>
                  <a:srgbClr val="A8B0AA"/>
                </a:solidFill>
                <a:latin typeface="Yu Gothic" pitchFamily="34" charset="0"/>
                <a:ea typeface="Yu Gothic" pitchFamily="34" charset="-122"/>
                <a:cs typeface="Yu Gothic" pitchFamily="34" charset="-120"/>
              </a:rPr>
              <a:t>※ 既存店の実績に基づく試算であり、売上・利益を保証するものではありません。金額はすべて税抜です。</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7"/>
        </a:solidFill>
      </p:bgPr>
    </p:bg>
    <p:spTree>
      <p:nvGrpSpPr>
        <p:cNvPr id="1" name=""/>
        <p:cNvGrpSpPr/>
        <p:nvPr/>
      </p:nvGrpSpPr>
      <p:grpSpPr>
        <a:xfrm>
          <a:off x="0" y="0"/>
          <a:ext cx="0" cy="0"/>
          <a:chOff x="0" y="0"/>
          <a:chExt cx="0" cy="0"/>
        </a:xfrm>
      </p:grpSpPr>
      <p:sp>
        <p:nvSpPr>
          <p:cNvPr id="2" name="Shape 0"/>
          <p:cNvSpPr/>
          <p:nvPr/>
        </p:nvSpPr>
        <p:spPr>
          <a:xfrm>
            <a:off x="660197" y="545897"/>
            <a:ext cx="202997" cy="25603"/>
          </a:xfrm>
          <a:prstGeom prst="rect">
            <a:avLst/>
          </a:prstGeom>
          <a:solidFill>
            <a:srgbClr val="106838"/>
          </a:solidFill>
          <a:ln/>
        </p:spPr>
      </p:sp>
      <p:sp>
        <p:nvSpPr>
          <p:cNvPr id="3" name="Text 1"/>
          <p:cNvSpPr/>
          <p:nvPr/>
        </p:nvSpPr>
        <p:spPr>
          <a:xfrm>
            <a:off x="952805" y="444398"/>
            <a:ext cx="6400800" cy="177394"/>
          </a:xfrm>
          <a:prstGeom prst="rect">
            <a:avLst/>
          </a:prstGeom>
          <a:noFill/>
          <a:ln/>
        </p:spPr>
        <p:txBody>
          <a:bodyPr wrap="square" lIns="0" tIns="0" rIns="0" bIns="0" rtlCol="0" anchor="ctr"/>
          <a:lstStyle/>
          <a:p>
            <a:pPr indent="0" marL="0">
              <a:buNone/>
            </a:pPr>
            <a:r>
              <a:rPr lang="en-US" sz="1050" b="1" dirty="0">
                <a:solidFill>
                  <a:srgbClr val="A8761F"/>
                </a:solidFill>
                <a:latin typeface="Arial" pitchFamily="34" charset="0"/>
                <a:ea typeface="Arial" pitchFamily="34" charset="-122"/>
                <a:cs typeface="Arial" pitchFamily="34" charset="-120"/>
              </a:rPr>
              <a:t>20</a:t>
            </a:r>
            <a:r>
              <a:rPr lang="en-US" sz="1050" b="1" dirty="0">
                <a:solidFill>
                  <a:srgbClr val="1B8149"/>
                </a:solidFill>
                <a:latin typeface="Yu Gothic" pitchFamily="34" charset="0"/>
                <a:ea typeface="Yu Gothic" pitchFamily="34" charset="-122"/>
                <a:cs typeface="Yu Gothic" pitchFamily="34" charset="-120"/>
              </a:rPr>
              <a:t>   オプション</a:t>
            </a:r>
            <a:endParaRPr lang="en-US" sz="1050" dirty="0"/>
          </a:p>
        </p:txBody>
      </p:sp>
      <p:sp>
        <p:nvSpPr>
          <p:cNvPr id="4" name="Text 2"/>
          <p:cNvSpPr/>
          <p:nvPr/>
        </p:nvSpPr>
        <p:spPr>
          <a:xfrm>
            <a:off x="660197" y="660197"/>
            <a:ext cx="8889797" cy="508406"/>
          </a:xfrm>
          <a:prstGeom prst="rect">
            <a:avLst/>
          </a:prstGeom>
          <a:noFill/>
          <a:ln/>
        </p:spPr>
        <p:txBody>
          <a:bodyPr wrap="square" lIns="0" tIns="0" rIns="0" bIns="0" rtlCol="0" anchor="ctr"/>
          <a:lstStyle/>
          <a:p>
            <a:pPr indent="0" marL="0">
              <a:buNone/>
            </a:pPr>
            <a:r>
              <a:rPr lang="en-US" sz="2900" b="1" dirty="0">
                <a:solidFill>
                  <a:srgbClr val="0A3D23"/>
                </a:solidFill>
                <a:latin typeface="Yu Gothic" pitchFamily="34" charset="0"/>
                <a:ea typeface="Yu Gothic" pitchFamily="34" charset="-122"/>
                <a:cs typeface="Yu Gothic" pitchFamily="34" charset="-120"/>
              </a:rPr>
              <a:t>有料オプション一覧</a:t>
            </a:r>
            <a:endParaRPr lang="en-US" sz="2900" dirty="0"/>
          </a:p>
        </p:txBody>
      </p:sp>
      <p:sp>
        <p:nvSpPr>
          <p:cNvPr id="5" name="Text 3"/>
          <p:cNvSpPr/>
          <p:nvPr/>
        </p:nvSpPr>
        <p:spPr>
          <a:xfrm>
            <a:off x="660197" y="1308506"/>
            <a:ext cx="10032797" cy="228600"/>
          </a:xfrm>
          <a:prstGeom prst="rect">
            <a:avLst/>
          </a:prstGeom>
          <a:noFill/>
          <a:ln/>
        </p:spPr>
        <p:txBody>
          <a:bodyPr wrap="square" lIns="0" tIns="0" rIns="0" bIns="0" rtlCol="0" anchor="ctr"/>
          <a:lstStyle/>
          <a:p>
            <a:pPr indent="0" marL="0">
              <a:buNone/>
            </a:pPr>
            <a:r>
              <a:rPr lang="en-US" sz="1250" dirty="0">
                <a:solidFill>
                  <a:srgbClr val="4B5550"/>
                </a:solidFill>
                <a:latin typeface="Yu Gothic" pitchFamily="34" charset="0"/>
                <a:ea typeface="Yu Gothic" pitchFamily="34" charset="-122"/>
                <a:cs typeface="Yu Gothic" pitchFamily="34" charset="-120"/>
              </a:rPr>
              <a:t>必要に応じて追加できるオプションです（金額は税抜き）。</a:t>
            </a:r>
            <a:endParaRPr lang="en-US" sz="1250" dirty="0"/>
          </a:p>
        </p:txBody>
      </p:sp>
      <p:pic>
        <p:nvPicPr>
          <p:cNvPr id="6" name="Image 0" descr="/home/user/suzuki-ceo/selfcafe-gyomu-deck/assets/logo-green.png">    </p:cNvPr>
          <p:cNvPicPr>
            <a:picLocks noChangeAspect="1"/>
          </p:cNvPicPr>
          <p:nvPr/>
        </p:nvPicPr>
        <p:blipFill>
          <a:blip r:embed="rId1"/>
          <a:stretch>
            <a:fillRect/>
          </a:stretch>
        </p:blipFill>
        <p:spPr>
          <a:xfrm>
            <a:off x="9855403" y="482803"/>
            <a:ext cx="1676095" cy="238658"/>
          </a:xfrm>
          <a:prstGeom prst="rect">
            <a:avLst/>
          </a:prstGeom>
        </p:spPr>
      </p:pic>
      <p:sp>
        <p:nvSpPr>
          <p:cNvPr id="7" name="Text 4"/>
          <p:cNvSpPr/>
          <p:nvPr/>
        </p:nvSpPr>
        <p:spPr>
          <a:xfrm>
            <a:off x="660197" y="6476695"/>
            <a:ext cx="5080406" cy="152705"/>
          </a:xfrm>
          <a:prstGeom prst="rect">
            <a:avLst/>
          </a:prstGeom>
          <a:noFill/>
          <a:ln/>
        </p:spPr>
        <p:txBody>
          <a:bodyPr wrap="square" lIns="0" tIns="0" rIns="0" bIns="0" rtlCol="0" anchor="ctr"/>
          <a:lstStyle/>
          <a:p>
            <a:pPr indent="0" marL="0">
              <a:buNone/>
            </a:pPr>
            <a:r>
              <a:rPr lang="en-US" sz="900" dirty="0">
                <a:solidFill>
                  <a:srgbClr val="A8B0AA"/>
                </a:solidFill>
                <a:latin typeface="Yu Gothic" pitchFamily="34" charset="0"/>
                <a:ea typeface="Yu Gothic" pitchFamily="34" charset="-122"/>
                <a:cs typeface="Yu Gothic" pitchFamily="34" charset="-120"/>
              </a:rPr>
              <a:t>セルフカフェ 業務委託型制度</a:t>
            </a:r>
            <a:endParaRPr lang="en-US" sz="900" dirty="0"/>
          </a:p>
        </p:txBody>
      </p:sp>
      <p:sp>
        <p:nvSpPr>
          <p:cNvPr id="8" name="Text 5"/>
          <p:cNvSpPr/>
          <p:nvPr/>
        </p:nvSpPr>
        <p:spPr>
          <a:xfrm>
            <a:off x="10261397" y="6463894"/>
            <a:ext cx="1270102" cy="152705"/>
          </a:xfrm>
          <a:prstGeom prst="rect">
            <a:avLst/>
          </a:prstGeom>
          <a:noFill/>
          <a:ln/>
        </p:spPr>
        <p:txBody>
          <a:bodyPr wrap="square" lIns="0" tIns="0" rIns="0" bIns="0" rtlCol="0" anchor="ctr"/>
          <a:lstStyle/>
          <a:p>
            <a:pPr algn="r" indent="0" marL="0">
              <a:buNone/>
            </a:pPr>
            <a:r>
              <a:rPr lang="en-US" sz="1000" b="1" dirty="0">
                <a:solidFill>
                  <a:srgbClr val="7E8882"/>
                </a:solidFill>
                <a:latin typeface="Arial" pitchFamily="34" charset="0"/>
                <a:ea typeface="Arial" pitchFamily="34" charset="-122"/>
                <a:cs typeface="Arial" pitchFamily="34" charset="-120"/>
              </a:rPr>
              <a:t>21</a:t>
            </a:r>
            <a:endParaRPr lang="en-US" sz="10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660197" y="1651406"/>
          <a:ext cx="10871302" cy="914400"/>
        </p:xfrm>
        <a:graphic>
          <a:graphicData uri="http://schemas.openxmlformats.org/drawingml/2006/table">
            <a:tbl>
              <a:tblPr/>
              <a:tblGrid>
                <a:gridCol w="2286000"/>
                <a:gridCol w="1371600"/>
                <a:gridCol w="1371600"/>
                <a:gridCol w="5842102"/>
              </a:tblGrid>
              <a:tr h="402336">
                <a:tc>
                  <a:txBody>
                    <a:bodyPr/>
                    <a:lstStyle/>
                    <a:p>
                      <a:pPr algn="l" indent="0" marL="0">
                        <a:buNone/>
                      </a:pPr>
                      <a:r>
                        <a:rPr lang="en-US" sz="1150" b="1" dirty="0">
                          <a:solidFill>
                            <a:srgbClr val="0A3D23"/>
                          </a:solidFill>
                          <a:latin typeface="Yu Gothic" pitchFamily="34" charset="0"/>
                          <a:ea typeface="Yu Gothic" pitchFamily="34" charset="-122"/>
                          <a:cs typeface="Yu Gothic" pitchFamily="34" charset="-120"/>
                        </a:rPr>
                        <a:t>項目</a:t>
                      </a:r>
                      <a:endParaRPr lang="en-US" sz="1150" dirty="0">
                        <a:latin typeface="Yu Gothic" charset="0"/>
                        <a:ea typeface="Yu Gothic" charset="0"/>
                        <a:cs typeface="Yu Gothic" charset="0"/>
                      </a:endParaRPr>
                    </a:p>
                  </a:txBody>
                  <a:tcPr marL="128016" marR="128016"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4F2EE"/>
                    </a:solidFill>
                  </a:tcPr>
                </a:tc>
                <a:tc>
                  <a:txBody>
                    <a:bodyPr/>
                    <a:lstStyle/>
                    <a:p>
                      <a:pPr algn="r" indent="0" marL="0">
                        <a:buNone/>
                      </a:pPr>
                      <a:r>
                        <a:rPr lang="en-US" sz="1150" b="1" dirty="0">
                          <a:solidFill>
                            <a:srgbClr val="FFFFFF"/>
                          </a:solidFill>
                          <a:latin typeface="Yu Gothic" pitchFamily="34" charset="0"/>
                          <a:ea typeface="Yu Gothic" pitchFamily="34" charset="-122"/>
                          <a:cs typeface="Yu Gothic" pitchFamily="34" charset="-120"/>
                        </a:rPr>
                        <a:t>初期費用</a:t>
                      </a:r>
                      <a:endParaRPr lang="en-US" sz="1150" dirty="0">
                        <a:latin typeface="Yu Gothic" charset="0"/>
                        <a:ea typeface="Yu Gothic" charset="0"/>
                        <a:cs typeface="Yu Gothic" charset="0"/>
                      </a:endParaRPr>
                    </a:p>
                  </a:txBody>
                  <a:tcPr marL="128016" marR="128016"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0C5230"/>
                    </a:solidFill>
                  </a:tcPr>
                </a:tc>
                <a:tc>
                  <a:txBody>
                    <a:bodyPr/>
                    <a:lstStyle/>
                    <a:p>
                      <a:pPr algn="r" indent="0" marL="0">
                        <a:buNone/>
                      </a:pPr>
                      <a:r>
                        <a:rPr lang="en-US" sz="1150" b="1" dirty="0">
                          <a:solidFill>
                            <a:srgbClr val="FFFFFF"/>
                          </a:solidFill>
                          <a:latin typeface="Yu Gothic" pitchFamily="34" charset="0"/>
                          <a:ea typeface="Yu Gothic" pitchFamily="34" charset="-122"/>
                          <a:cs typeface="Yu Gothic" pitchFamily="34" charset="-120"/>
                        </a:rPr>
                        <a:t>月額費用</a:t>
                      </a:r>
                      <a:endParaRPr lang="en-US" sz="1150" dirty="0">
                        <a:latin typeface="Yu Gothic" charset="0"/>
                        <a:ea typeface="Yu Gothic" charset="0"/>
                        <a:cs typeface="Yu Gothic" charset="0"/>
                      </a:endParaRPr>
                    </a:p>
                  </a:txBody>
                  <a:tcPr marL="128016" marR="128016"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0C5230"/>
                    </a:solidFill>
                  </a:tcPr>
                </a:tc>
                <a:tc>
                  <a:txBody>
                    <a:bodyPr/>
                    <a:lstStyle/>
                    <a:p>
                      <a:pPr algn="l" indent="0" marL="0">
                        <a:buNone/>
                      </a:pPr>
                      <a:r>
                        <a:rPr lang="en-US" sz="1150" b="1" dirty="0">
                          <a:solidFill>
                            <a:srgbClr val="FFFFFF"/>
                          </a:solidFill>
                          <a:latin typeface="Yu Gothic" pitchFamily="34" charset="0"/>
                          <a:ea typeface="Yu Gothic" pitchFamily="34" charset="-122"/>
                          <a:cs typeface="Yu Gothic" pitchFamily="34" charset="-120"/>
                        </a:rPr>
                        <a:t>内容・備考</a:t>
                      </a:r>
                      <a:endParaRPr lang="en-US" sz="1150" dirty="0">
                        <a:latin typeface="Yu Gothic" charset="0"/>
                        <a:ea typeface="Yu Gothic" charset="0"/>
                        <a:cs typeface="Yu Gothic" charset="0"/>
                      </a:endParaRPr>
                    </a:p>
                  </a:txBody>
                  <a:tcPr marL="128016" marR="128016"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0C5230"/>
                    </a:solidFill>
                  </a:tcPr>
                </a:tc>
              </a:tr>
              <a:tr h="1188720">
                <a:tc>
                  <a:txBody>
                    <a:bodyPr/>
                    <a:lstStyle/>
                    <a:p>
                      <a:pPr indent="0" marL="0">
                        <a:buNone/>
                      </a:pPr>
                      <a:r>
                        <a:rPr lang="en-US" sz="1200" b="1" dirty="0">
                          <a:solidFill>
                            <a:srgbClr val="0A3D23"/>
                          </a:solidFill>
                          <a:latin typeface="Yu Gothic" pitchFamily="34" charset="0"/>
                          <a:ea typeface="Yu Gothic" pitchFamily="34" charset="-122"/>
                          <a:cs typeface="Yu Gothic" pitchFamily="34" charset="-120"/>
                        </a:rPr>
                        <a:t>公式LINE作成</a:t>
                      </a:r>
                      <a:endParaRPr lang="en-US" sz="1200" dirty="0">
                        <a:latin typeface="Yu Gothic" charset="0"/>
                        <a:ea typeface="Yu Gothic" charset="0"/>
                        <a:cs typeface="Yu Gothic" charset="0"/>
                      </a:endParaRPr>
                    </a:p>
                  </a:txBody>
                  <a:tcPr marL="128016" marR="128016"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4F2EE"/>
                    </a:solidFill>
                  </a:tcPr>
                </a:tc>
                <a:tc>
                  <a:txBody>
                    <a:bodyPr/>
                    <a:lstStyle/>
                    <a:p>
                      <a:pPr algn="r" indent="0" marL="0">
                        <a:buNone/>
                      </a:pPr>
                      <a:r>
                        <a:rPr lang="en-US" sz="1150" b="1" dirty="0">
                          <a:solidFill>
                            <a:srgbClr val="106838"/>
                          </a:solidFill>
                          <a:latin typeface="Arial" pitchFamily="34" charset="0"/>
                          <a:ea typeface="Arial" pitchFamily="34" charset="-122"/>
                          <a:cs typeface="Arial" pitchFamily="34" charset="-120"/>
                        </a:rPr>
                        <a:t>15,000円</a:t>
                      </a:r>
                      <a:endParaRPr lang="en-US" sz="1150" dirty="0">
                        <a:latin typeface="Arial" charset="0"/>
                        <a:ea typeface="Arial" charset="0"/>
                        <a:cs typeface="Arial" charset="0"/>
                      </a:endParaRPr>
                    </a:p>
                  </a:txBody>
                  <a:tcPr marL="128016" marR="128016"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FFFFF"/>
                    </a:solidFill>
                  </a:tcPr>
                </a:tc>
                <a:tc>
                  <a:txBody>
                    <a:bodyPr/>
                    <a:lstStyle/>
                    <a:p>
                      <a:pPr algn="r" indent="0" marL="0">
                        <a:buNone/>
                      </a:pPr>
                      <a:r>
                        <a:rPr lang="en-US" sz="1150" dirty="0">
                          <a:solidFill>
                            <a:srgbClr val="7E8882"/>
                          </a:solidFill>
                          <a:latin typeface="Arial" pitchFamily="34" charset="0"/>
                          <a:ea typeface="Arial" pitchFamily="34" charset="-122"/>
                          <a:cs typeface="Arial" pitchFamily="34" charset="-120"/>
                        </a:rPr>
                        <a:t>0円</a:t>
                      </a:r>
                      <a:endParaRPr lang="en-US" sz="1150" dirty="0">
                        <a:latin typeface="Arial" charset="0"/>
                        <a:ea typeface="Arial" charset="0"/>
                        <a:cs typeface="Arial" charset="0"/>
                      </a:endParaRPr>
                    </a:p>
                  </a:txBody>
                  <a:tcPr marL="128016" marR="128016"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b="1" dirty="0">
                          <a:solidFill>
                            <a:srgbClr val="106838"/>
                          </a:solidFill>
                          <a:latin typeface="Yu Gothic" pitchFamily="34" charset="0"/>
                          <a:ea typeface="Yu Gothic" pitchFamily="34" charset="-122"/>
                          <a:cs typeface="Yu Gothic" pitchFamily="34" charset="-120"/>
                        </a:rPr>
                        <a:t>貴社専用の公式LINEを新規作成できます。</a:t>
                      </a:r>
                      <a:endParaRPr lang="en-US" sz="1200" dirty="0">
                        <a:latin typeface="Yu Gothic" charset="0"/>
                        <a:ea typeface="Yu Gothic" charset="0"/>
                        <a:cs typeface="Yu Gothic" charset="0"/>
                      </a:endParaRPr>
                    </a:p>
                    <a:p>
                      <a:pPr indent="0" marL="0">
                        <a:buNone/>
                      </a:pPr>
                      <a:r>
                        <a:rPr lang="en-US" sz="950" dirty="0">
                          <a:solidFill>
                            <a:srgbClr val="4B5550"/>
                          </a:solidFill>
                          <a:latin typeface="Yu Gothic" pitchFamily="34" charset="0"/>
                          <a:ea typeface="Yu Gothic" pitchFamily="34" charset="-122"/>
                          <a:cs typeface="Yu Gothic" pitchFamily="34" charset="-120"/>
                        </a:rPr>
                        <a:t>メリット：独自の発信や告知、広告が打てます。</a:t>
                      </a:r>
                      <a:endParaRPr lang="en-US" sz="1200" dirty="0">
                        <a:latin typeface="Yu Gothic" charset="0"/>
                        <a:ea typeface="Yu Gothic" charset="0"/>
                        <a:cs typeface="Yu Gothic" charset="0"/>
                      </a:endParaRPr>
                    </a:p>
                    <a:p>
                      <a:pPr indent="0" marL="0">
                        <a:buNone/>
                      </a:pPr>
                      <a:r>
                        <a:rPr lang="en-US" sz="950" dirty="0">
                          <a:solidFill>
                            <a:srgbClr val="4B5550"/>
                          </a:solidFill>
                          <a:latin typeface="Yu Gothic" pitchFamily="34" charset="0"/>
                          <a:ea typeface="Yu Gothic" pitchFamily="34" charset="-122"/>
                          <a:cs typeface="Yu Gothic" pitchFamily="34" charset="-120"/>
                        </a:rPr>
                        <a:t>デメリット：セルフカフェ公式LINEから切り離されるため問い合わせが直に届き、本部情報の発信も都度貴社側で行う必要があります。</a:t>
                      </a:r>
                      <a:endParaRPr lang="en-US" sz="1200" dirty="0">
                        <a:latin typeface="Yu Gothic" charset="0"/>
                        <a:ea typeface="Yu Gothic" charset="0"/>
                        <a:cs typeface="Yu Gothic" charset="0"/>
                      </a:endParaRPr>
                    </a:p>
                    <a:p>
                      <a:pPr indent="0" marL="0">
                        <a:buNone/>
                      </a:pPr>
                      <a:r>
                        <a:rPr lang="en-US" sz="950" dirty="0">
                          <a:solidFill>
                            <a:srgbClr val="4B5550"/>
                          </a:solidFill>
                          <a:latin typeface="Yu Gothic" pitchFamily="34" charset="0"/>
                          <a:ea typeface="Yu Gothic" pitchFamily="34" charset="-122"/>
                          <a:cs typeface="Yu Gothic" pitchFamily="34" charset="-120"/>
                        </a:rPr>
                        <a:t>※ 貴社にて契約（配信数によって別途費用が発生します）</a:t>
                      </a:r>
                      <a:endParaRPr lang="en-US" sz="1200" dirty="0">
                        <a:latin typeface="Yu Gothic" charset="0"/>
                        <a:ea typeface="Yu Gothic" charset="0"/>
                        <a:cs typeface="Yu Gothic" charset="0"/>
                      </a:endParaRPr>
                    </a:p>
                  </a:txBody>
                  <a:tcPr marL="146304" marR="146304" marT="54864" marB="54864"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FFFFF"/>
                    </a:solidFill>
                  </a:tcPr>
                </a:tc>
              </a:tr>
              <a:tr h="786384">
                <a:tc>
                  <a:txBody>
                    <a:bodyPr/>
                    <a:lstStyle/>
                    <a:p>
                      <a:pPr indent="0" marL="0">
                        <a:buNone/>
                      </a:pPr>
                      <a:r>
                        <a:rPr lang="en-US" sz="1200" b="1" dirty="0">
                          <a:solidFill>
                            <a:srgbClr val="0A3D23"/>
                          </a:solidFill>
                          <a:latin typeface="Yu Gothic" pitchFamily="34" charset="0"/>
                          <a:ea typeface="Yu Gothic" pitchFamily="34" charset="-122"/>
                          <a:cs typeface="Yu Gothic" pitchFamily="34" charset="-120"/>
                        </a:rPr>
                        <a:t>顧客用コピー機</a:t>
                      </a:r>
                      <a:endParaRPr lang="en-US" sz="1200" dirty="0">
                        <a:latin typeface="Yu Gothic" charset="0"/>
                        <a:ea typeface="Yu Gothic" charset="0"/>
                        <a:cs typeface="Yu Gothic" charset="0"/>
                      </a:endParaRPr>
                    </a:p>
                    <a:p>
                      <a:pPr indent="0" marL="0">
                        <a:buNone/>
                      </a:pPr>
                      <a:r>
                        <a:rPr lang="en-US" sz="1200" b="1" dirty="0">
                          <a:solidFill>
                            <a:srgbClr val="0A3D23"/>
                          </a:solidFill>
                          <a:latin typeface="Yu Gothic" pitchFamily="34" charset="0"/>
                          <a:ea typeface="Yu Gothic" pitchFamily="34" charset="-122"/>
                          <a:cs typeface="Yu Gothic" pitchFamily="34" charset="-120"/>
                        </a:rPr>
                        <a:t>（A3対応）</a:t>
                      </a:r>
                      <a:endParaRPr lang="en-US" sz="1200" dirty="0">
                        <a:latin typeface="Yu Gothic" charset="0"/>
                        <a:ea typeface="Yu Gothic" charset="0"/>
                        <a:cs typeface="Yu Gothic" charset="0"/>
                      </a:endParaRPr>
                    </a:p>
                  </a:txBody>
                  <a:tcPr marL="128016" marR="128016"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4F2EE"/>
                    </a:solidFill>
                  </a:tcPr>
                </a:tc>
                <a:tc>
                  <a:txBody>
                    <a:bodyPr/>
                    <a:lstStyle/>
                    <a:p>
                      <a:pPr algn="r" indent="0" marL="0">
                        <a:buNone/>
                      </a:pPr>
                      <a:r>
                        <a:rPr lang="en-US" sz="1150" b="1" dirty="0">
                          <a:solidFill>
                            <a:srgbClr val="106838"/>
                          </a:solidFill>
                          <a:latin typeface="Arial" pitchFamily="34" charset="0"/>
                          <a:ea typeface="Arial" pitchFamily="34" charset="-122"/>
                          <a:cs typeface="Arial" pitchFamily="34" charset="-120"/>
                        </a:rPr>
                        <a:t>50,000円</a:t>
                      </a:r>
                      <a:endParaRPr lang="en-US" sz="1150" dirty="0">
                        <a:latin typeface="Arial" charset="0"/>
                        <a:ea typeface="Arial" charset="0"/>
                        <a:cs typeface="Arial" charset="0"/>
                      </a:endParaRPr>
                    </a:p>
                  </a:txBody>
                  <a:tcPr marL="128016" marR="128016"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FFFFF"/>
                    </a:solidFill>
                  </a:tcPr>
                </a:tc>
                <a:tc>
                  <a:txBody>
                    <a:bodyPr/>
                    <a:lstStyle/>
                    <a:p>
                      <a:pPr algn="r" indent="0" marL="0">
                        <a:buNone/>
                      </a:pPr>
                      <a:r>
                        <a:rPr lang="en-US" sz="1150" b="1" dirty="0">
                          <a:solidFill>
                            <a:srgbClr val="106838"/>
                          </a:solidFill>
                          <a:latin typeface="Arial" pitchFamily="34" charset="0"/>
                          <a:ea typeface="Arial" pitchFamily="34" charset="-122"/>
                          <a:cs typeface="Arial" pitchFamily="34" charset="-120"/>
                        </a:rPr>
                        <a:t>30,000円</a:t>
                      </a:r>
                      <a:endParaRPr lang="en-US" sz="1150" dirty="0">
                        <a:latin typeface="Arial" charset="0"/>
                        <a:ea typeface="Arial" charset="0"/>
                        <a:cs typeface="Arial" charset="0"/>
                      </a:endParaRPr>
                    </a:p>
                  </a:txBody>
                  <a:tcPr marL="128016" marR="128016"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b="1" dirty="0">
                          <a:solidFill>
                            <a:srgbClr val="106838"/>
                          </a:solidFill>
                          <a:latin typeface="Yu Gothic" pitchFamily="34" charset="0"/>
                          <a:ea typeface="Yu Gothic" pitchFamily="34" charset="-122"/>
                          <a:cs typeface="Yu Gothic" pitchFamily="34" charset="-120"/>
                        </a:rPr>
                        <a:t>PayPay決済のみ</a:t>
                      </a:r>
                      <a:endParaRPr lang="en-US" sz="1200" dirty="0">
                        <a:latin typeface="Yu Gothic" charset="0"/>
                        <a:ea typeface="Yu Gothic" charset="0"/>
                        <a:cs typeface="Yu Gothic" charset="0"/>
                      </a:endParaRPr>
                    </a:p>
                    <a:p>
                      <a:pPr indent="0" marL="0">
                        <a:buNone/>
                      </a:pPr>
                      <a:r>
                        <a:rPr lang="en-US" sz="950" dirty="0">
                          <a:solidFill>
                            <a:srgbClr val="4B5550"/>
                          </a:solidFill>
                          <a:latin typeface="Yu Gothic" pitchFamily="34" charset="0"/>
                          <a:ea typeface="Yu Gothic" pitchFamily="34" charset="-122"/>
                          <a:cs typeface="Yu Gothic" pitchFamily="34" charset="-120"/>
                        </a:rPr>
                        <a:t>※ 本体代は別途</a:t>
                      </a:r>
                      <a:endParaRPr lang="en-US" sz="1200" dirty="0">
                        <a:latin typeface="Yu Gothic" charset="0"/>
                        <a:ea typeface="Yu Gothic" charset="0"/>
                        <a:cs typeface="Yu Gothic" charset="0"/>
                      </a:endParaRPr>
                    </a:p>
                    <a:p>
                      <a:pPr indent="0" marL="0">
                        <a:buNone/>
                      </a:pPr>
                      <a:r>
                        <a:rPr lang="en-US" sz="950" dirty="0">
                          <a:solidFill>
                            <a:srgbClr val="4B5550"/>
                          </a:solidFill>
                          <a:latin typeface="Yu Gothic" pitchFamily="34" charset="0"/>
                          <a:ea typeface="Yu Gothic" pitchFamily="34" charset="-122"/>
                          <a:cs typeface="Yu Gothic" pitchFamily="34" charset="-120"/>
                        </a:rPr>
                        <a:t>※ グローバルIPの取得が必要です</a:t>
                      </a:r>
                      <a:endParaRPr lang="en-US" sz="1200" dirty="0">
                        <a:latin typeface="Yu Gothic" charset="0"/>
                        <a:ea typeface="Yu Gothic" charset="0"/>
                        <a:cs typeface="Yu Gothic" charset="0"/>
                      </a:endParaRPr>
                    </a:p>
                  </a:txBody>
                  <a:tcPr marL="146304" marR="146304" marT="54864" marB="54864"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FFFFF"/>
                    </a:solidFill>
                  </a:tcPr>
                </a:tc>
              </a:tr>
              <a:tr h="914400">
                <a:tc>
                  <a:txBody>
                    <a:bodyPr/>
                    <a:lstStyle/>
                    <a:p>
                      <a:pPr indent="0" marL="0">
                        <a:buNone/>
                      </a:pPr>
                      <a:r>
                        <a:rPr lang="en-US" sz="1200" b="1" dirty="0">
                          <a:solidFill>
                            <a:srgbClr val="0A3D23"/>
                          </a:solidFill>
                          <a:latin typeface="Yu Gothic" pitchFamily="34" charset="0"/>
                          <a:ea typeface="Yu Gothic" pitchFamily="34" charset="-122"/>
                          <a:cs typeface="Yu Gothic" pitchFamily="34" charset="-120"/>
                        </a:rPr>
                        <a:t>営業サポートプラン</a:t>
                      </a:r>
                      <a:endParaRPr lang="en-US" sz="1200" dirty="0">
                        <a:latin typeface="Yu Gothic" charset="0"/>
                        <a:ea typeface="Yu Gothic" charset="0"/>
                        <a:cs typeface="Yu Gothic" charset="0"/>
                      </a:endParaRPr>
                    </a:p>
                    <a:p>
                      <a:pPr indent="0" marL="0">
                        <a:buNone/>
                      </a:pPr>
                      <a:r>
                        <a:rPr lang="en-US" sz="1200" b="1" dirty="0">
                          <a:solidFill>
                            <a:srgbClr val="0A3D23"/>
                          </a:solidFill>
                          <a:latin typeface="Yu Gothic" pitchFamily="34" charset="0"/>
                          <a:ea typeface="Yu Gothic" pitchFamily="34" charset="-122"/>
                          <a:cs typeface="Yu Gothic" pitchFamily="34" charset="-120"/>
                        </a:rPr>
                        <a:t>（フルサポート）</a:t>
                      </a:r>
                      <a:endParaRPr lang="en-US" sz="1200" dirty="0">
                        <a:latin typeface="Yu Gothic" charset="0"/>
                        <a:ea typeface="Yu Gothic" charset="0"/>
                        <a:cs typeface="Yu Gothic" charset="0"/>
                      </a:endParaRPr>
                    </a:p>
                  </a:txBody>
                  <a:tcPr marL="128016" marR="128016"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4F2EE"/>
                    </a:solidFill>
                  </a:tcPr>
                </a:tc>
                <a:tc>
                  <a:txBody>
                    <a:bodyPr/>
                    <a:lstStyle/>
                    <a:p>
                      <a:pPr algn="r" indent="0" marL="0">
                        <a:buNone/>
                      </a:pPr>
                      <a:r>
                        <a:rPr lang="en-US" sz="1150" dirty="0">
                          <a:solidFill>
                            <a:srgbClr val="7E8882"/>
                          </a:solidFill>
                          <a:latin typeface="Arial" pitchFamily="34" charset="0"/>
                          <a:ea typeface="Arial" pitchFamily="34" charset="-122"/>
                          <a:cs typeface="Arial" pitchFamily="34" charset="-120"/>
                        </a:rPr>
                        <a:t>0円</a:t>
                      </a:r>
                      <a:endParaRPr lang="en-US" sz="1150" dirty="0">
                        <a:latin typeface="Arial" charset="0"/>
                        <a:ea typeface="Arial" charset="0"/>
                        <a:cs typeface="Arial" charset="0"/>
                      </a:endParaRPr>
                    </a:p>
                  </a:txBody>
                  <a:tcPr marL="128016" marR="128016"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FFFFF"/>
                    </a:solidFill>
                  </a:tcPr>
                </a:tc>
                <a:tc>
                  <a:txBody>
                    <a:bodyPr/>
                    <a:lstStyle/>
                    <a:p>
                      <a:pPr algn="r" indent="0" marL="0">
                        <a:buNone/>
                      </a:pPr>
                      <a:r>
                        <a:rPr lang="en-US" sz="1150" b="1" dirty="0">
                          <a:solidFill>
                            <a:srgbClr val="106838"/>
                          </a:solidFill>
                          <a:latin typeface="Arial" pitchFamily="34" charset="0"/>
                          <a:ea typeface="Arial" pitchFamily="34" charset="-122"/>
                          <a:cs typeface="Arial" pitchFamily="34" charset="-120"/>
                        </a:rPr>
                        <a:t>50,000円</a:t>
                      </a:r>
                      <a:endParaRPr lang="en-US" sz="1150" dirty="0">
                        <a:latin typeface="Arial" charset="0"/>
                        <a:ea typeface="Arial" charset="0"/>
                        <a:cs typeface="Arial" charset="0"/>
                      </a:endParaRPr>
                    </a:p>
                  </a:txBody>
                  <a:tcPr marL="128016" marR="128016"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b="1" dirty="0">
                          <a:solidFill>
                            <a:srgbClr val="106838"/>
                          </a:solidFill>
                          <a:latin typeface="Yu Gothic" pitchFamily="34" charset="0"/>
                          <a:ea typeface="Yu Gothic" pitchFamily="34" charset="-122"/>
                          <a:cs typeface="Yu Gothic" pitchFamily="34" charset="-120"/>
                        </a:rPr>
                        <a:t>顧客チャット対応</a:t>
                      </a:r>
                      <a:endParaRPr lang="en-US" sz="1200" dirty="0">
                        <a:latin typeface="Yu Gothic" charset="0"/>
                        <a:ea typeface="Yu Gothic" charset="0"/>
                        <a:cs typeface="Yu Gothic" charset="0"/>
                      </a:endParaRPr>
                    </a:p>
                    <a:p>
                      <a:pPr indent="0" marL="0">
                        <a:buNone/>
                      </a:pPr>
                      <a:r>
                        <a:rPr lang="en-US" sz="950" dirty="0">
                          <a:solidFill>
                            <a:srgbClr val="4B5550"/>
                          </a:solidFill>
                          <a:latin typeface="Yu Gothic" pitchFamily="34" charset="0"/>
                          <a:ea typeface="Yu Gothic" pitchFamily="34" charset="-122"/>
                          <a:cs typeface="Yu Gothic" pitchFamily="34" charset="-120"/>
                        </a:rPr>
                        <a:t>セルフカフェ公式LINEやHPからの問い合わせに対応</a:t>
                      </a:r>
                      <a:endParaRPr lang="en-US" sz="1200" dirty="0">
                        <a:latin typeface="Yu Gothic" charset="0"/>
                        <a:ea typeface="Yu Gothic" charset="0"/>
                        <a:cs typeface="Yu Gothic" charset="0"/>
                      </a:endParaRPr>
                    </a:p>
                    <a:p>
                      <a:pPr indent="0" marL="0">
                        <a:buNone/>
                      </a:pPr>
                      <a:r>
                        <a:rPr lang="en-US" sz="1000" b="1" dirty="0">
                          <a:solidFill>
                            <a:srgbClr val="106838"/>
                          </a:solidFill>
                          <a:latin typeface="Yu Gothic" pitchFamily="34" charset="0"/>
                          <a:ea typeface="Yu Gothic" pitchFamily="34" charset="-122"/>
                          <a:cs typeface="Yu Gothic" pitchFamily="34" charset="-120"/>
                        </a:rPr>
                        <a:t>マシンメンテナンス</a:t>
                      </a:r>
                      <a:endParaRPr lang="en-US" sz="1200" dirty="0">
                        <a:latin typeface="Yu Gothic" charset="0"/>
                        <a:ea typeface="Yu Gothic" charset="0"/>
                        <a:cs typeface="Yu Gothic" charset="0"/>
                      </a:endParaRPr>
                    </a:p>
                    <a:p>
                      <a:pPr indent="0" marL="0">
                        <a:buNone/>
                      </a:pPr>
                      <a:r>
                        <a:rPr lang="en-US" sz="950" dirty="0">
                          <a:solidFill>
                            <a:srgbClr val="4B5550"/>
                          </a:solidFill>
                          <a:latin typeface="Yu Gothic" pitchFamily="34" charset="0"/>
                          <a:ea typeface="Yu Gothic" pitchFamily="34" charset="-122"/>
                          <a:cs typeface="Yu Gothic" pitchFamily="34" charset="-120"/>
                        </a:rPr>
                        <a:t>マシン清掃・原料補充等。店内清掃は含まれず、マシンのみの対応です。</a:t>
                      </a:r>
                      <a:endParaRPr lang="en-US" sz="1200" dirty="0">
                        <a:latin typeface="Yu Gothic" charset="0"/>
                        <a:ea typeface="Yu Gothic" charset="0"/>
                        <a:cs typeface="Yu Gothic" charset="0"/>
                      </a:endParaRPr>
                    </a:p>
                  </a:txBody>
                  <a:tcPr marL="146304" marR="146304" marT="54864" marB="54864"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FFFFF"/>
                    </a:solidFill>
                  </a:tcPr>
                </a:tc>
              </a:tr>
              <a:tr h="658368">
                <a:tc>
                  <a:txBody>
                    <a:bodyPr/>
                    <a:lstStyle/>
                    <a:p>
                      <a:pPr indent="0" marL="0">
                        <a:buNone/>
                      </a:pPr>
                      <a:r>
                        <a:rPr lang="en-US" sz="1200" b="1" dirty="0">
                          <a:solidFill>
                            <a:srgbClr val="0A3D23"/>
                          </a:solidFill>
                          <a:latin typeface="Yu Gothic" pitchFamily="34" charset="0"/>
                          <a:ea typeface="Yu Gothic" pitchFamily="34" charset="-122"/>
                          <a:cs typeface="Yu Gothic" pitchFamily="34" charset="-120"/>
                        </a:rPr>
                        <a:t>営業サポートプラン</a:t>
                      </a:r>
                      <a:endParaRPr lang="en-US" sz="1200" dirty="0">
                        <a:latin typeface="Yu Gothic" charset="0"/>
                        <a:ea typeface="Yu Gothic" charset="0"/>
                        <a:cs typeface="Yu Gothic" charset="0"/>
                      </a:endParaRPr>
                    </a:p>
                    <a:p>
                      <a:pPr indent="0" marL="0">
                        <a:buNone/>
                      </a:pPr>
                      <a:r>
                        <a:rPr lang="en-US" sz="1200" b="1" dirty="0">
                          <a:solidFill>
                            <a:srgbClr val="0A3D23"/>
                          </a:solidFill>
                          <a:latin typeface="Yu Gothic" pitchFamily="34" charset="0"/>
                          <a:ea typeface="Yu Gothic" pitchFamily="34" charset="-122"/>
                          <a:cs typeface="Yu Gothic" pitchFamily="34" charset="-120"/>
                        </a:rPr>
                        <a:t>（ミニマムサポート）</a:t>
                      </a:r>
                      <a:endParaRPr lang="en-US" sz="1200" dirty="0">
                        <a:latin typeface="Yu Gothic" charset="0"/>
                        <a:ea typeface="Yu Gothic" charset="0"/>
                        <a:cs typeface="Yu Gothic" charset="0"/>
                      </a:endParaRPr>
                    </a:p>
                  </a:txBody>
                  <a:tcPr marL="128016" marR="128016"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4F2EE"/>
                    </a:solidFill>
                  </a:tcPr>
                </a:tc>
                <a:tc>
                  <a:txBody>
                    <a:bodyPr/>
                    <a:lstStyle/>
                    <a:p>
                      <a:pPr algn="r" indent="0" marL="0">
                        <a:buNone/>
                      </a:pPr>
                      <a:r>
                        <a:rPr lang="en-US" sz="1150" dirty="0">
                          <a:solidFill>
                            <a:srgbClr val="7E8882"/>
                          </a:solidFill>
                          <a:latin typeface="Arial" pitchFamily="34" charset="0"/>
                          <a:ea typeface="Arial" pitchFamily="34" charset="-122"/>
                          <a:cs typeface="Arial" pitchFamily="34" charset="-120"/>
                        </a:rPr>
                        <a:t>0円</a:t>
                      </a:r>
                      <a:endParaRPr lang="en-US" sz="1150" dirty="0">
                        <a:latin typeface="Arial" charset="0"/>
                        <a:ea typeface="Arial" charset="0"/>
                        <a:cs typeface="Arial" charset="0"/>
                      </a:endParaRPr>
                    </a:p>
                  </a:txBody>
                  <a:tcPr marL="128016" marR="128016"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FFFFF"/>
                    </a:solidFill>
                  </a:tcPr>
                </a:tc>
                <a:tc>
                  <a:txBody>
                    <a:bodyPr/>
                    <a:lstStyle/>
                    <a:p>
                      <a:pPr algn="r" indent="0" marL="0">
                        <a:buNone/>
                      </a:pPr>
                      <a:r>
                        <a:rPr lang="en-US" sz="1150" b="1" dirty="0">
                          <a:solidFill>
                            <a:srgbClr val="106838"/>
                          </a:solidFill>
                          <a:latin typeface="Arial" pitchFamily="34" charset="0"/>
                          <a:ea typeface="Arial" pitchFamily="34" charset="-122"/>
                          <a:cs typeface="Arial" pitchFamily="34" charset="-120"/>
                        </a:rPr>
                        <a:t>15,000円</a:t>
                      </a:r>
                      <a:endParaRPr lang="en-US" sz="1150" dirty="0">
                        <a:latin typeface="Arial" charset="0"/>
                        <a:ea typeface="Arial" charset="0"/>
                        <a:cs typeface="Arial" charset="0"/>
                      </a:endParaRPr>
                    </a:p>
                  </a:txBody>
                  <a:tcPr marL="128016" marR="128016"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b="1" dirty="0">
                          <a:solidFill>
                            <a:srgbClr val="106838"/>
                          </a:solidFill>
                          <a:latin typeface="Yu Gothic" pitchFamily="34" charset="0"/>
                          <a:ea typeface="Yu Gothic" pitchFamily="34" charset="-122"/>
                          <a:cs typeface="Yu Gothic" pitchFamily="34" charset="-120"/>
                        </a:rPr>
                        <a:t>顧客チャット対応</a:t>
                      </a:r>
                      <a:endParaRPr lang="en-US" sz="1200" dirty="0">
                        <a:latin typeface="Yu Gothic" charset="0"/>
                        <a:ea typeface="Yu Gothic" charset="0"/>
                        <a:cs typeface="Yu Gothic" charset="0"/>
                      </a:endParaRPr>
                    </a:p>
                    <a:p>
                      <a:pPr indent="0" marL="0">
                        <a:buNone/>
                      </a:pPr>
                      <a:r>
                        <a:rPr lang="en-US" sz="950" dirty="0">
                          <a:solidFill>
                            <a:srgbClr val="4B5550"/>
                          </a:solidFill>
                          <a:latin typeface="Yu Gothic" pitchFamily="34" charset="0"/>
                          <a:ea typeface="Yu Gothic" pitchFamily="34" charset="-122"/>
                          <a:cs typeface="Yu Gothic" pitchFamily="34" charset="-120"/>
                        </a:rPr>
                        <a:t>セルフカフェ公式LINEやHPからの問い合わせに対応</a:t>
                      </a:r>
                      <a:endParaRPr lang="en-US" sz="1200" dirty="0">
                        <a:latin typeface="Yu Gothic" charset="0"/>
                        <a:ea typeface="Yu Gothic" charset="0"/>
                        <a:cs typeface="Yu Gothic" charset="0"/>
                      </a:endParaRPr>
                    </a:p>
                  </a:txBody>
                  <a:tcPr marL="146304" marR="146304" marT="54864" marB="54864"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7"/>
        </a:solidFill>
      </p:bgPr>
    </p:bg>
    <p:spTree>
      <p:nvGrpSpPr>
        <p:cNvPr id="1" name=""/>
        <p:cNvGrpSpPr/>
        <p:nvPr/>
      </p:nvGrpSpPr>
      <p:grpSpPr>
        <a:xfrm>
          <a:off x="0" y="0"/>
          <a:ext cx="0" cy="0"/>
          <a:chOff x="0" y="0"/>
          <a:chExt cx="0" cy="0"/>
        </a:xfrm>
      </p:grpSpPr>
      <p:sp>
        <p:nvSpPr>
          <p:cNvPr id="2" name="Shape 0"/>
          <p:cNvSpPr/>
          <p:nvPr/>
        </p:nvSpPr>
        <p:spPr>
          <a:xfrm>
            <a:off x="660197" y="545897"/>
            <a:ext cx="202997" cy="25603"/>
          </a:xfrm>
          <a:prstGeom prst="rect">
            <a:avLst/>
          </a:prstGeom>
          <a:solidFill>
            <a:srgbClr val="106838"/>
          </a:solidFill>
          <a:ln/>
        </p:spPr>
      </p:sp>
      <p:sp>
        <p:nvSpPr>
          <p:cNvPr id="3" name="Text 1"/>
          <p:cNvSpPr/>
          <p:nvPr/>
        </p:nvSpPr>
        <p:spPr>
          <a:xfrm>
            <a:off x="952805" y="444398"/>
            <a:ext cx="6400800" cy="177394"/>
          </a:xfrm>
          <a:prstGeom prst="rect">
            <a:avLst/>
          </a:prstGeom>
          <a:noFill/>
          <a:ln/>
        </p:spPr>
        <p:txBody>
          <a:bodyPr wrap="square" lIns="0" tIns="0" rIns="0" bIns="0" rtlCol="0" anchor="ctr"/>
          <a:lstStyle/>
          <a:p>
            <a:pPr indent="0" marL="0">
              <a:buNone/>
            </a:pPr>
            <a:r>
              <a:rPr lang="en-US" sz="1050" b="1" dirty="0">
                <a:solidFill>
                  <a:srgbClr val="A8761F"/>
                </a:solidFill>
                <a:latin typeface="Arial" pitchFamily="34" charset="0"/>
                <a:ea typeface="Arial" pitchFamily="34" charset="-122"/>
                <a:cs typeface="Arial" pitchFamily="34" charset="-120"/>
              </a:rPr>
              <a:t>21</a:t>
            </a:r>
            <a:r>
              <a:rPr lang="en-US" sz="1050" b="1" dirty="0">
                <a:solidFill>
                  <a:srgbClr val="1B8149"/>
                </a:solidFill>
                <a:latin typeface="Yu Gothic" pitchFamily="34" charset="0"/>
                <a:ea typeface="Yu Gothic" pitchFamily="34" charset="-122"/>
                <a:cs typeface="Yu Gothic" pitchFamily="34" charset="-120"/>
              </a:rPr>
              <a:t>   設備</a:t>
            </a:r>
            <a:endParaRPr lang="en-US" sz="1050" dirty="0"/>
          </a:p>
        </p:txBody>
      </p:sp>
      <p:sp>
        <p:nvSpPr>
          <p:cNvPr id="4" name="Text 2"/>
          <p:cNvSpPr/>
          <p:nvPr/>
        </p:nvSpPr>
        <p:spPr>
          <a:xfrm>
            <a:off x="660197" y="660197"/>
            <a:ext cx="8889797" cy="508406"/>
          </a:xfrm>
          <a:prstGeom prst="rect">
            <a:avLst/>
          </a:prstGeom>
          <a:noFill/>
          <a:ln/>
        </p:spPr>
        <p:txBody>
          <a:bodyPr wrap="square" lIns="0" tIns="0" rIns="0" bIns="0" rtlCol="0" anchor="ctr"/>
          <a:lstStyle/>
          <a:p>
            <a:pPr indent="0" marL="0">
              <a:buNone/>
            </a:pPr>
            <a:r>
              <a:rPr lang="en-US" sz="2900" b="1" dirty="0">
                <a:solidFill>
                  <a:srgbClr val="0A3D23"/>
                </a:solidFill>
                <a:latin typeface="Yu Gothic" pitchFamily="34" charset="0"/>
                <a:ea typeface="Yu Gothic" pitchFamily="34" charset="-122"/>
                <a:cs typeface="Yu Gothic" pitchFamily="34" charset="-120"/>
              </a:rPr>
              <a:t>ドリンクマシンに関して</a:t>
            </a:r>
            <a:endParaRPr lang="en-US" sz="2900" dirty="0"/>
          </a:p>
        </p:txBody>
      </p:sp>
      <p:sp>
        <p:nvSpPr>
          <p:cNvPr id="5" name="Text 3"/>
          <p:cNvSpPr/>
          <p:nvPr/>
        </p:nvSpPr>
        <p:spPr>
          <a:xfrm>
            <a:off x="660197" y="1308506"/>
            <a:ext cx="10032797" cy="228600"/>
          </a:xfrm>
          <a:prstGeom prst="rect">
            <a:avLst/>
          </a:prstGeom>
          <a:noFill/>
          <a:ln/>
        </p:spPr>
        <p:txBody>
          <a:bodyPr wrap="square" lIns="0" tIns="0" rIns="0" bIns="0" rtlCol="0" anchor="ctr"/>
          <a:lstStyle/>
          <a:p>
            <a:pPr indent="0" marL="0">
              <a:buNone/>
            </a:pPr>
            <a:r>
              <a:rPr lang="en-US" sz="1250" dirty="0">
                <a:solidFill>
                  <a:srgbClr val="4B5550"/>
                </a:solidFill>
                <a:latin typeface="Yu Gothic" pitchFamily="34" charset="0"/>
                <a:ea typeface="Yu Gothic" pitchFamily="34" charset="-122"/>
                <a:cs typeface="Yu Gothic" pitchFamily="34" charset="-120"/>
              </a:rPr>
              <a:t>マシン・備品・メンテナンスまで含めたトータルサポートパックでご提供します。</a:t>
            </a:r>
            <a:endParaRPr lang="en-US" sz="1250" dirty="0"/>
          </a:p>
        </p:txBody>
      </p:sp>
      <p:pic>
        <p:nvPicPr>
          <p:cNvPr id="6" name="Image 0" descr="/home/user/suzuki-ceo/selfcafe-gyomu-deck/assets/logo-green.png">    </p:cNvPr>
          <p:cNvPicPr>
            <a:picLocks noChangeAspect="1"/>
          </p:cNvPicPr>
          <p:nvPr/>
        </p:nvPicPr>
        <p:blipFill>
          <a:blip r:embed="rId1"/>
          <a:stretch>
            <a:fillRect/>
          </a:stretch>
        </p:blipFill>
        <p:spPr>
          <a:xfrm>
            <a:off x="9855403" y="482803"/>
            <a:ext cx="1676095" cy="238658"/>
          </a:xfrm>
          <a:prstGeom prst="rect">
            <a:avLst/>
          </a:prstGeom>
        </p:spPr>
      </p:pic>
      <p:sp>
        <p:nvSpPr>
          <p:cNvPr id="7" name="Text 4"/>
          <p:cNvSpPr/>
          <p:nvPr/>
        </p:nvSpPr>
        <p:spPr>
          <a:xfrm>
            <a:off x="660197" y="6476695"/>
            <a:ext cx="5080406" cy="152705"/>
          </a:xfrm>
          <a:prstGeom prst="rect">
            <a:avLst/>
          </a:prstGeom>
          <a:noFill/>
          <a:ln/>
        </p:spPr>
        <p:txBody>
          <a:bodyPr wrap="square" lIns="0" tIns="0" rIns="0" bIns="0" rtlCol="0" anchor="ctr"/>
          <a:lstStyle/>
          <a:p>
            <a:pPr indent="0" marL="0">
              <a:buNone/>
            </a:pPr>
            <a:r>
              <a:rPr lang="en-US" sz="900" dirty="0">
                <a:solidFill>
                  <a:srgbClr val="A8B0AA"/>
                </a:solidFill>
                <a:latin typeface="Yu Gothic" pitchFamily="34" charset="0"/>
                <a:ea typeface="Yu Gothic" pitchFamily="34" charset="-122"/>
                <a:cs typeface="Yu Gothic" pitchFamily="34" charset="-120"/>
              </a:rPr>
              <a:t>セルフカフェ 業務委託型制度</a:t>
            </a:r>
            <a:endParaRPr lang="en-US" sz="900" dirty="0"/>
          </a:p>
        </p:txBody>
      </p:sp>
      <p:sp>
        <p:nvSpPr>
          <p:cNvPr id="8" name="Text 5"/>
          <p:cNvSpPr/>
          <p:nvPr/>
        </p:nvSpPr>
        <p:spPr>
          <a:xfrm>
            <a:off x="10261397" y="6463894"/>
            <a:ext cx="1270102" cy="152705"/>
          </a:xfrm>
          <a:prstGeom prst="rect">
            <a:avLst/>
          </a:prstGeom>
          <a:noFill/>
          <a:ln/>
        </p:spPr>
        <p:txBody>
          <a:bodyPr wrap="square" lIns="0" tIns="0" rIns="0" bIns="0" rtlCol="0" anchor="ctr"/>
          <a:lstStyle/>
          <a:p>
            <a:pPr algn="r" indent="0" marL="0">
              <a:buNone/>
            </a:pPr>
            <a:r>
              <a:rPr lang="en-US" sz="1000" b="1" dirty="0">
                <a:solidFill>
                  <a:srgbClr val="7E8882"/>
                </a:solidFill>
                <a:latin typeface="Arial" pitchFamily="34" charset="0"/>
                <a:ea typeface="Arial" pitchFamily="34" charset="-122"/>
                <a:cs typeface="Arial" pitchFamily="34" charset="-120"/>
              </a:rPr>
              <a:t>22</a:t>
            </a:r>
            <a:endParaRPr lang="en-US" sz="1000" dirty="0"/>
          </a:p>
        </p:txBody>
      </p:sp>
      <p:sp>
        <p:nvSpPr>
          <p:cNvPr id="9" name="Shape 6"/>
          <p:cNvSpPr/>
          <p:nvPr/>
        </p:nvSpPr>
        <p:spPr>
          <a:xfrm>
            <a:off x="660197" y="1651406"/>
            <a:ext cx="4206240" cy="4315968"/>
          </a:xfrm>
          <a:prstGeom prst="roundRect">
            <a:avLst>
              <a:gd name="adj" fmla="val 1304"/>
            </a:avLst>
          </a:prstGeom>
          <a:solidFill>
            <a:srgbClr val="FFFFFF"/>
          </a:solidFill>
          <a:ln w="9525">
            <a:solidFill>
              <a:srgbClr val="EFEAE0"/>
            </a:solidFill>
            <a:prstDash val="solid"/>
          </a:ln>
        </p:spPr>
      </p:sp>
      <p:sp>
        <p:nvSpPr>
          <p:cNvPr id="10" name="Shape 7"/>
          <p:cNvSpPr/>
          <p:nvPr/>
        </p:nvSpPr>
        <p:spPr>
          <a:xfrm>
            <a:off x="934517" y="1907438"/>
            <a:ext cx="3657600" cy="457200"/>
          </a:xfrm>
          <a:prstGeom prst="roundRect">
            <a:avLst>
              <a:gd name="adj" fmla="val 50000"/>
            </a:avLst>
          </a:prstGeom>
          <a:solidFill>
            <a:srgbClr val="0C5230"/>
          </a:solidFill>
          <a:ln/>
        </p:spPr>
      </p:sp>
      <p:pic>
        <p:nvPicPr>
          <p:cNvPr id="11" name="Image 1" descr="/home/user/suzuki-ceo/selfcafe-gyomu-deck/assets/icons/LuCoffee-white.png">    </p:cNvPr>
          <p:cNvPicPr>
            <a:picLocks noChangeAspect="1"/>
          </p:cNvPicPr>
          <p:nvPr/>
        </p:nvPicPr>
        <p:blipFill>
          <a:blip r:embed="rId2"/>
          <a:stretch>
            <a:fillRect/>
          </a:stretch>
        </p:blipFill>
        <p:spPr>
          <a:xfrm>
            <a:off x="1135685" y="1989734"/>
            <a:ext cx="292608" cy="292608"/>
          </a:xfrm>
          <a:prstGeom prst="rect">
            <a:avLst/>
          </a:prstGeom>
        </p:spPr>
      </p:pic>
      <p:sp>
        <p:nvSpPr>
          <p:cNvPr id="12" name="Text 8"/>
          <p:cNvSpPr/>
          <p:nvPr/>
        </p:nvSpPr>
        <p:spPr>
          <a:xfrm>
            <a:off x="1501445" y="1907438"/>
            <a:ext cx="3090672" cy="457200"/>
          </a:xfrm>
          <a:prstGeom prst="rect">
            <a:avLst/>
          </a:prstGeom>
          <a:noFill/>
          <a:ln/>
        </p:spPr>
        <p:txBody>
          <a:bodyPr wrap="square" lIns="0" tIns="0" rIns="0" bIns="0" rtlCol="0" anchor="ctr"/>
          <a:lstStyle/>
          <a:p>
            <a:pPr indent="0" marL="0">
              <a:buNone/>
            </a:pPr>
            <a:r>
              <a:rPr lang="en-US" sz="1300" b="1" dirty="0">
                <a:solidFill>
                  <a:srgbClr val="FFFFFF"/>
                </a:solidFill>
                <a:latin typeface="Yu Gothic" pitchFamily="34" charset="0"/>
                <a:ea typeface="Yu Gothic" pitchFamily="34" charset="-122"/>
                <a:cs typeface="Yu Gothic" pitchFamily="34" charset="-120"/>
              </a:rPr>
              <a:t>トータルサポートパック</a:t>
            </a:r>
            <a:endParaRPr lang="en-US" sz="1300" dirty="0"/>
          </a:p>
        </p:txBody>
      </p:sp>
      <p:sp>
        <p:nvSpPr>
          <p:cNvPr id="13" name="Text 9"/>
          <p:cNvSpPr/>
          <p:nvPr/>
        </p:nvSpPr>
        <p:spPr>
          <a:xfrm>
            <a:off x="934517" y="2547518"/>
            <a:ext cx="1188720" cy="292608"/>
          </a:xfrm>
          <a:prstGeom prst="rect">
            <a:avLst/>
          </a:prstGeom>
          <a:noFill/>
          <a:ln/>
        </p:spPr>
        <p:txBody>
          <a:bodyPr wrap="square" lIns="0" tIns="0" rIns="0" bIns="0" rtlCol="0" anchor="ctr"/>
          <a:lstStyle/>
          <a:p>
            <a:pPr indent="0" marL="0">
              <a:buNone/>
            </a:pPr>
            <a:r>
              <a:rPr lang="en-US" sz="950" dirty="0">
                <a:solidFill>
                  <a:srgbClr val="7E8882"/>
                </a:solidFill>
                <a:latin typeface="Yu Gothic" pitchFamily="34" charset="0"/>
                <a:ea typeface="Yu Gothic" pitchFamily="34" charset="-122"/>
                <a:cs typeface="Yu Gothic" pitchFamily="34" charset="-120"/>
              </a:rPr>
              <a:t>マシン型番</a:t>
            </a:r>
            <a:endParaRPr lang="en-US" sz="950" dirty="0"/>
          </a:p>
        </p:txBody>
      </p:sp>
      <p:sp>
        <p:nvSpPr>
          <p:cNvPr id="14" name="Text 10"/>
          <p:cNvSpPr/>
          <p:nvPr/>
        </p:nvSpPr>
        <p:spPr>
          <a:xfrm>
            <a:off x="2159813" y="2547518"/>
            <a:ext cx="2432304" cy="292608"/>
          </a:xfrm>
          <a:prstGeom prst="rect">
            <a:avLst/>
          </a:prstGeom>
          <a:noFill/>
          <a:ln/>
        </p:spPr>
        <p:txBody>
          <a:bodyPr wrap="square" lIns="0" tIns="0" rIns="0" bIns="0" rtlCol="0" anchor="ctr"/>
          <a:lstStyle/>
          <a:p>
            <a:pPr indent="0" marL="0">
              <a:buNone/>
            </a:pPr>
            <a:r>
              <a:rPr lang="en-US" sz="1150" dirty="0">
                <a:solidFill>
                  <a:srgbClr val="0A3D23"/>
                </a:solidFill>
                <a:latin typeface="Yu Gothic" pitchFamily="34" charset="0"/>
                <a:ea typeface="Yu Gothic" pitchFamily="34" charset="-122"/>
                <a:cs typeface="Yu Gothic" pitchFamily="34" charset="-120"/>
              </a:rPr>
              <a:t>100RS</a:t>
            </a:r>
            <a:endParaRPr lang="en-US" sz="1150" dirty="0"/>
          </a:p>
        </p:txBody>
      </p:sp>
      <p:sp>
        <p:nvSpPr>
          <p:cNvPr id="15" name="Shape 11"/>
          <p:cNvSpPr/>
          <p:nvPr/>
        </p:nvSpPr>
        <p:spPr>
          <a:xfrm>
            <a:off x="934517" y="2894990"/>
            <a:ext cx="3657600" cy="10058"/>
          </a:xfrm>
          <a:prstGeom prst="rect">
            <a:avLst/>
          </a:prstGeom>
          <a:solidFill>
            <a:srgbClr val="EFEAE0"/>
          </a:solidFill>
          <a:ln/>
        </p:spPr>
      </p:sp>
      <p:sp>
        <p:nvSpPr>
          <p:cNvPr id="16" name="Text 12"/>
          <p:cNvSpPr/>
          <p:nvPr/>
        </p:nvSpPr>
        <p:spPr>
          <a:xfrm>
            <a:off x="934517" y="3096158"/>
            <a:ext cx="1188720" cy="292608"/>
          </a:xfrm>
          <a:prstGeom prst="rect">
            <a:avLst/>
          </a:prstGeom>
          <a:noFill/>
          <a:ln/>
        </p:spPr>
        <p:txBody>
          <a:bodyPr wrap="square" lIns="0" tIns="0" rIns="0" bIns="0" rtlCol="0" anchor="ctr"/>
          <a:lstStyle/>
          <a:p>
            <a:pPr indent="0" marL="0">
              <a:buNone/>
            </a:pPr>
            <a:r>
              <a:rPr lang="en-US" sz="950" dirty="0">
                <a:solidFill>
                  <a:srgbClr val="7E8882"/>
                </a:solidFill>
                <a:latin typeface="Yu Gothic" pitchFamily="34" charset="0"/>
                <a:ea typeface="Yu Gothic" pitchFamily="34" charset="-122"/>
                <a:cs typeface="Yu Gothic" pitchFamily="34" charset="-120"/>
              </a:rPr>
              <a:t>付属</a:t>
            </a:r>
            <a:endParaRPr lang="en-US" sz="950" dirty="0"/>
          </a:p>
        </p:txBody>
      </p:sp>
      <p:sp>
        <p:nvSpPr>
          <p:cNvPr id="17" name="Text 13"/>
          <p:cNvSpPr/>
          <p:nvPr/>
        </p:nvSpPr>
        <p:spPr>
          <a:xfrm>
            <a:off x="2159813" y="3096158"/>
            <a:ext cx="2432304" cy="292608"/>
          </a:xfrm>
          <a:prstGeom prst="rect">
            <a:avLst/>
          </a:prstGeom>
          <a:noFill/>
          <a:ln/>
        </p:spPr>
        <p:txBody>
          <a:bodyPr wrap="square" lIns="0" tIns="0" rIns="0" bIns="0" rtlCol="0" anchor="ctr"/>
          <a:lstStyle/>
          <a:p>
            <a:pPr indent="0" marL="0">
              <a:buNone/>
            </a:pPr>
            <a:r>
              <a:rPr lang="en-US" sz="1150" dirty="0">
                <a:solidFill>
                  <a:srgbClr val="0A3D23"/>
                </a:solidFill>
                <a:latin typeface="Yu Gothic" pitchFamily="34" charset="0"/>
                <a:ea typeface="Yu Gothic" pitchFamily="34" charset="-122"/>
                <a:cs typeface="Yu Gothic" pitchFamily="34" charset="-120"/>
              </a:rPr>
              <a:t>コーヒーサーバー、備品ラック</a:t>
            </a:r>
            <a:endParaRPr lang="en-US" sz="1150" dirty="0"/>
          </a:p>
        </p:txBody>
      </p:sp>
      <p:sp>
        <p:nvSpPr>
          <p:cNvPr id="18" name="Shape 14"/>
          <p:cNvSpPr/>
          <p:nvPr/>
        </p:nvSpPr>
        <p:spPr>
          <a:xfrm>
            <a:off x="934517" y="3443630"/>
            <a:ext cx="3657600" cy="10058"/>
          </a:xfrm>
          <a:prstGeom prst="rect">
            <a:avLst/>
          </a:prstGeom>
          <a:solidFill>
            <a:srgbClr val="EFEAE0"/>
          </a:solidFill>
          <a:ln/>
        </p:spPr>
      </p:sp>
      <p:sp>
        <p:nvSpPr>
          <p:cNvPr id="19" name="Text 15"/>
          <p:cNvSpPr/>
          <p:nvPr/>
        </p:nvSpPr>
        <p:spPr>
          <a:xfrm>
            <a:off x="934517" y="3644798"/>
            <a:ext cx="1188720" cy="292608"/>
          </a:xfrm>
          <a:prstGeom prst="rect">
            <a:avLst/>
          </a:prstGeom>
          <a:noFill/>
          <a:ln/>
        </p:spPr>
        <p:txBody>
          <a:bodyPr wrap="square" lIns="0" tIns="0" rIns="0" bIns="0" rtlCol="0" anchor="ctr"/>
          <a:lstStyle/>
          <a:p>
            <a:pPr indent="0" marL="0">
              <a:buNone/>
            </a:pPr>
            <a:r>
              <a:rPr lang="en-US" sz="950" dirty="0">
                <a:solidFill>
                  <a:srgbClr val="7E8882"/>
                </a:solidFill>
                <a:latin typeface="Yu Gothic" pitchFamily="34" charset="0"/>
                <a:ea typeface="Yu Gothic" pitchFamily="34" charset="-122"/>
                <a:cs typeface="Yu Gothic" pitchFamily="34" charset="-120"/>
              </a:rPr>
              <a:t>メンテナンス</a:t>
            </a:r>
            <a:endParaRPr lang="en-US" sz="950" dirty="0"/>
          </a:p>
        </p:txBody>
      </p:sp>
      <p:sp>
        <p:nvSpPr>
          <p:cNvPr id="20" name="Text 16"/>
          <p:cNvSpPr/>
          <p:nvPr/>
        </p:nvSpPr>
        <p:spPr>
          <a:xfrm>
            <a:off x="2159813" y="3644798"/>
            <a:ext cx="2432304" cy="292608"/>
          </a:xfrm>
          <a:prstGeom prst="rect">
            <a:avLst/>
          </a:prstGeom>
          <a:noFill/>
          <a:ln/>
        </p:spPr>
        <p:txBody>
          <a:bodyPr wrap="square" lIns="0" tIns="0" rIns="0" bIns="0" rtlCol="0" anchor="ctr"/>
          <a:lstStyle/>
          <a:p>
            <a:pPr indent="0" marL="0">
              <a:buNone/>
            </a:pPr>
            <a:r>
              <a:rPr lang="en-US" sz="1150" dirty="0">
                <a:solidFill>
                  <a:srgbClr val="0A3D23"/>
                </a:solidFill>
                <a:latin typeface="Yu Gothic" pitchFamily="34" charset="0"/>
                <a:ea typeface="Yu Gothic" pitchFamily="34" charset="-122"/>
                <a:cs typeface="Yu Gothic" pitchFamily="34" charset="-120"/>
              </a:rPr>
              <a:t>月1回</a:t>
            </a:r>
            <a:endParaRPr lang="en-US" sz="1150" dirty="0"/>
          </a:p>
        </p:txBody>
      </p:sp>
      <p:sp>
        <p:nvSpPr>
          <p:cNvPr id="21" name="Shape 17"/>
          <p:cNvSpPr/>
          <p:nvPr/>
        </p:nvSpPr>
        <p:spPr>
          <a:xfrm>
            <a:off x="934517" y="3992270"/>
            <a:ext cx="3657600" cy="10058"/>
          </a:xfrm>
          <a:prstGeom prst="rect">
            <a:avLst/>
          </a:prstGeom>
          <a:solidFill>
            <a:srgbClr val="EFEAE0"/>
          </a:solidFill>
          <a:ln/>
        </p:spPr>
      </p:sp>
      <p:sp>
        <p:nvSpPr>
          <p:cNvPr id="22" name="Shape 18"/>
          <p:cNvSpPr/>
          <p:nvPr/>
        </p:nvSpPr>
        <p:spPr>
          <a:xfrm>
            <a:off x="934517" y="4266590"/>
            <a:ext cx="3657600" cy="1463040"/>
          </a:xfrm>
          <a:prstGeom prst="roundRect">
            <a:avLst>
              <a:gd name="adj" fmla="val 3750"/>
            </a:avLst>
          </a:prstGeom>
          <a:solidFill>
            <a:srgbClr val="F1F8F3"/>
          </a:solidFill>
          <a:ln w="9525">
            <a:solidFill>
              <a:srgbClr val="D2E7DA"/>
            </a:solidFill>
            <a:prstDash val="solid"/>
          </a:ln>
        </p:spPr>
      </p:sp>
      <p:pic>
        <p:nvPicPr>
          <p:cNvPr id="23" name="Image 2" descr="/home/user/suzuki-ceo/selfcafe-gyomu-deck/assets/icons/LuCoffee-green.png">    </p:cNvPr>
          <p:cNvPicPr>
            <a:picLocks noChangeAspect="1"/>
          </p:cNvPicPr>
          <p:nvPr/>
        </p:nvPicPr>
        <p:blipFill>
          <a:blip r:embed="rId3"/>
          <a:stretch>
            <a:fillRect/>
          </a:stretch>
        </p:blipFill>
        <p:spPr>
          <a:xfrm>
            <a:off x="1135685" y="4440326"/>
            <a:ext cx="237744" cy="237744"/>
          </a:xfrm>
          <a:prstGeom prst="rect">
            <a:avLst/>
          </a:prstGeom>
        </p:spPr>
      </p:pic>
      <p:sp>
        <p:nvSpPr>
          <p:cNvPr id="24" name="Text 19"/>
          <p:cNvSpPr/>
          <p:nvPr/>
        </p:nvSpPr>
        <p:spPr>
          <a:xfrm>
            <a:off x="1483157" y="4412894"/>
            <a:ext cx="3017520" cy="292608"/>
          </a:xfrm>
          <a:prstGeom prst="rect">
            <a:avLst/>
          </a:prstGeom>
          <a:noFill/>
          <a:ln/>
        </p:spPr>
        <p:txBody>
          <a:bodyPr wrap="square" lIns="0" tIns="0" rIns="0" bIns="0" rtlCol="0" anchor="ctr"/>
          <a:lstStyle/>
          <a:p>
            <a:pPr indent="0" marL="0">
              <a:buNone/>
            </a:pPr>
            <a:r>
              <a:rPr lang="en-US" sz="1050" b="1" dirty="0">
                <a:solidFill>
                  <a:srgbClr val="0A3D23"/>
                </a:solidFill>
                <a:latin typeface="Yu Gothic" pitchFamily="34" charset="0"/>
                <a:ea typeface="Yu Gothic" pitchFamily="34" charset="-122"/>
                <a:cs typeface="Yu Gothic" pitchFamily="34" charset="-120"/>
              </a:rPr>
              <a:t>挽きたての豆から1杯ずつ抽出</a:t>
            </a:r>
            <a:endParaRPr lang="en-US" sz="1050" dirty="0"/>
          </a:p>
        </p:txBody>
      </p:sp>
      <p:pic>
        <p:nvPicPr>
          <p:cNvPr id="25" name="Image 3" descr="/home/user/suzuki-ceo/selfcafe-gyomu-deck/assets/icons/LuTimer-green.png">    </p:cNvPr>
          <p:cNvPicPr>
            <a:picLocks noChangeAspect="1"/>
          </p:cNvPicPr>
          <p:nvPr/>
        </p:nvPicPr>
        <p:blipFill>
          <a:blip r:embed="rId4"/>
          <a:stretch>
            <a:fillRect/>
          </a:stretch>
        </p:blipFill>
        <p:spPr>
          <a:xfrm>
            <a:off x="1135685" y="4842662"/>
            <a:ext cx="237744" cy="237744"/>
          </a:xfrm>
          <a:prstGeom prst="rect">
            <a:avLst/>
          </a:prstGeom>
        </p:spPr>
      </p:pic>
      <p:sp>
        <p:nvSpPr>
          <p:cNvPr id="26" name="Text 20"/>
          <p:cNvSpPr/>
          <p:nvPr/>
        </p:nvSpPr>
        <p:spPr>
          <a:xfrm>
            <a:off x="1483157" y="4815230"/>
            <a:ext cx="3017520" cy="292608"/>
          </a:xfrm>
          <a:prstGeom prst="rect">
            <a:avLst/>
          </a:prstGeom>
          <a:noFill/>
          <a:ln/>
        </p:spPr>
        <p:txBody>
          <a:bodyPr wrap="square" lIns="0" tIns="0" rIns="0" bIns="0" rtlCol="0" anchor="ctr"/>
          <a:lstStyle/>
          <a:p>
            <a:pPr indent="0" marL="0">
              <a:buNone/>
            </a:pPr>
            <a:r>
              <a:rPr lang="en-US" sz="1050" b="1" dirty="0">
                <a:solidFill>
                  <a:srgbClr val="0A3D23"/>
                </a:solidFill>
                <a:latin typeface="Yu Gothic" pitchFamily="34" charset="0"/>
                <a:ea typeface="Yu Gothic" pitchFamily="34" charset="-122"/>
                <a:cs typeface="Yu Gothic" pitchFamily="34" charset="-120"/>
              </a:rPr>
              <a:t>月1回の定期メンテナンス込み</a:t>
            </a:r>
            <a:endParaRPr lang="en-US" sz="1050" dirty="0"/>
          </a:p>
        </p:txBody>
      </p:sp>
      <p:pic>
        <p:nvPicPr>
          <p:cNvPr id="27" name="Image 4" descr="/home/user/suzuki-ceo/selfcafe-gyomu-deck/assets/icons/LuLifeBuoy-green.png">    </p:cNvPr>
          <p:cNvPicPr>
            <a:picLocks noChangeAspect="1"/>
          </p:cNvPicPr>
          <p:nvPr/>
        </p:nvPicPr>
        <p:blipFill>
          <a:blip r:embed="rId5"/>
          <a:stretch>
            <a:fillRect/>
          </a:stretch>
        </p:blipFill>
        <p:spPr>
          <a:xfrm>
            <a:off x="1135685" y="5244998"/>
            <a:ext cx="237744" cy="237744"/>
          </a:xfrm>
          <a:prstGeom prst="rect">
            <a:avLst/>
          </a:prstGeom>
        </p:spPr>
      </p:pic>
      <p:sp>
        <p:nvSpPr>
          <p:cNvPr id="28" name="Text 21"/>
          <p:cNvSpPr/>
          <p:nvPr/>
        </p:nvSpPr>
        <p:spPr>
          <a:xfrm>
            <a:off x="1483157" y="5217566"/>
            <a:ext cx="3017520" cy="292608"/>
          </a:xfrm>
          <a:prstGeom prst="rect">
            <a:avLst/>
          </a:prstGeom>
          <a:noFill/>
          <a:ln/>
        </p:spPr>
        <p:txBody>
          <a:bodyPr wrap="square" lIns="0" tIns="0" rIns="0" bIns="0" rtlCol="0" anchor="ctr"/>
          <a:lstStyle/>
          <a:p>
            <a:pPr indent="0" marL="0">
              <a:buNone/>
            </a:pPr>
            <a:r>
              <a:rPr lang="en-US" sz="1050" b="1" dirty="0">
                <a:solidFill>
                  <a:srgbClr val="0A3D23"/>
                </a:solidFill>
                <a:latin typeface="Yu Gothic" pitchFamily="34" charset="0"/>
                <a:ea typeface="Yu Gothic" pitchFamily="34" charset="-122"/>
                <a:cs typeface="Yu Gothic" pitchFamily="34" charset="-120"/>
              </a:rPr>
              <a:t>故障・不具合時は本部がサポート</a:t>
            </a:r>
            <a:endParaRPr lang="en-US" sz="1050" dirty="0"/>
          </a:p>
        </p:txBody>
      </p:sp>
      <p:sp>
        <p:nvSpPr>
          <p:cNvPr id="29" name="Text 22"/>
          <p:cNvSpPr/>
          <p:nvPr/>
        </p:nvSpPr>
        <p:spPr>
          <a:xfrm>
            <a:off x="5250485" y="1651406"/>
            <a:ext cx="6281014" cy="274320"/>
          </a:xfrm>
          <a:prstGeom prst="rect">
            <a:avLst/>
          </a:prstGeom>
          <a:noFill/>
          <a:ln/>
        </p:spPr>
        <p:txBody>
          <a:bodyPr wrap="square" lIns="0" tIns="0" rIns="0" bIns="0" rtlCol="0" anchor="ctr"/>
          <a:lstStyle/>
          <a:p>
            <a:pPr indent="0" marL="0">
              <a:buNone/>
            </a:pPr>
            <a:r>
              <a:rPr lang="en-US" sz="1200" b="1" dirty="0">
                <a:solidFill>
                  <a:srgbClr val="0A3D23"/>
                </a:solidFill>
                <a:latin typeface="Yu Gothic" pitchFamily="34" charset="0"/>
                <a:ea typeface="Yu Gothic" pitchFamily="34" charset="-122"/>
                <a:cs typeface="Yu Gothic" pitchFamily="34" charset="-120"/>
              </a:rPr>
              <a:t>＜設置イメージ＞</a:t>
            </a:r>
            <a:endParaRPr lang="en-US" sz="1200" dirty="0"/>
          </a:p>
        </p:txBody>
      </p:sp>
      <p:pic>
        <p:nvPicPr>
          <p:cNvPr id="30" name="Image 5" descr="/home/user/suzuki-ceo/selfcafe-gyomu-deck/assets/photos/.crops/p24-install-687x366.jpg">    </p:cNvPr>
          <p:cNvPicPr>
            <a:picLocks noChangeAspect="1"/>
          </p:cNvPicPr>
          <p:nvPr/>
        </p:nvPicPr>
        <p:blipFill>
          <a:blip r:embed="rId6"/>
          <a:stretch>
            <a:fillRect/>
          </a:stretch>
        </p:blipFill>
        <p:spPr>
          <a:xfrm>
            <a:off x="5250485" y="2017166"/>
            <a:ext cx="6281014" cy="3346704"/>
          </a:xfrm>
          <a:prstGeom prst="rect">
            <a:avLst/>
          </a:prstGeom>
        </p:spPr>
      </p:pic>
      <p:sp>
        <p:nvSpPr>
          <p:cNvPr id="31" name="Shape 23"/>
          <p:cNvSpPr/>
          <p:nvPr/>
        </p:nvSpPr>
        <p:spPr>
          <a:xfrm>
            <a:off x="5250485" y="2017166"/>
            <a:ext cx="6281014" cy="3346704"/>
          </a:xfrm>
          <a:prstGeom prst="rect">
            <a:avLst/>
          </a:prstGeom>
          <a:ln w="12700">
            <a:solidFill>
              <a:srgbClr val="D8D2C6"/>
            </a:solidFill>
            <a:prstDash val="solid"/>
          </a:ln>
        </p:spPr>
      </p:sp>
      <p:sp>
        <p:nvSpPr>
          <p:cNvPr id="32" name="Shape 24"/>
          <p:cNvSpPr/>
          <p:nvPr/>
        </p:nvSpPr>
        <p:spPr>
          <a:xfrm>
            <a:off x="5378501" y="4906670"/>
            <a:ext cx="2344674" cy="329184"/>
          </a:xfrm>
          <a:prstGeom prst="roundRect">
            <a:avLst>
              <a:gd name="adj" fmla="val 13889"/>
            </a:avLst>
          </a:prstGeom>
          <a:solidFill>
            <a:srgbClr val="FFFFFF">
              <a:alpha val="90000"/>
            </a:srgbClr>
          </a:solidFill>
          <a:ln/>
        </p:spPr>
      </p:sp>
      <p:sp>
        <p:nvSpPr>
          <p:cNvPr id="33" name="Text 25"/>
          <p:cNvSpPr/>
          <p:nvPr/>
        </p:nvSpPr>
        <p:spPr>
          <a:xfrm>
            <a:off x="5543093" y="4906670"/>
            <a:ext cx="2070354" cy="329184"/>
          </a:xfrm>
          <a:prstGeom prst="rect">
            <a:avLst/>
          </a:prstGeom>
          <a:noFill/>
          <a:ln/>
        </p:spPr>
        <p:txBody>
          <a:bodyPr wrap="square" lIns="0" tIns="0" rIns="0" bIns="0" rtlCol="0" anchor="ctr"/>
          <a:lstStyle/>
          <a:p>
            <a:pPr indent="0" marL="0">
              <a:buNone/>
            </a:pPr>
            <a:r>
              <a:rPr lang="en-US" sz="1050" b="1" dirty="0">
                <a:solidFill>
                  <a:srgbClr val="0A3D23"/>
                </a:solidFill>
                <a:latin typeface="Yu Gothic" pitchFamily="34" charset="0"/>
                <a:ea typeface="Yu Gothic" pitchFamily="34" charset="-122"/>
                <a:cs typeface="Yu Gothic" pitchFamily="34" charset="-120"/>
              </a:rPr>
              <a:t>店内に設置したドリンクマシン</a:t>
            </a:r>
            <a:endParaRPr lang="en-US" sz="1050" dirty="0"/>
          </a:p>
        </p:txBody>
      </p:sp>
      <p:sp>
        <p:nvSpPr>
          <p:cNvPr id="34" name="Shape 26"/>
          <p:cNvSpPr/>
          <p:nvPr/>
        </p:nvSpPr>
        <p:spPr>
          <a:xfrm>
            <a:off x="5250485" y="5491886"/>
            <a:ext cx="6281014" cy="475488"/>
          </a:xfrm>
          <a:prstGeom prst="roundRect">
            <a:avLst>
              <a:gd name="adj" fmla="val 9615"/>
            </a:avLst>
          </a:prstGeom>
          <a:solidFill>
            <a:srgbClr val="F1F8F3"/>
          </a:solidFill>
          <a:ln/>
        </p:spPr>
      </p:sp>
      <p:sp>
        <p:nvSpPr>
          <p:cNvPr id="35" name="Text 27"/>
          <p:cNvSpPr/>
          <p:nvPr/>
        </p:nvSpPr>
        <p:spPr>
          <a:xfrm>
            <a:off x="5488229" y="5491886"/>
            <a:ext cx="5805526" cy="475488"/>
          </a:xfrm>
          <a:prstGeom prst="rect">
            <a:avLst/>
          </a:prstGeom>
          <a:noFill/>
          <a:ln/>
        </p:spPr>
        <p:txBody>
          <a:bodyPr wrap="square" lIns="0" tIns="0" rIns="0" bIns="0" rtlCol="0" anchor="ctr"/>
          <a:lstStyle/>
          <a:p>
            <a:pPr indent="0" marL="0">
              <a:buNone/>
            </a:pPr>
            <a:r>
              <a:rPr lang="en-US" sz="1100" b="1" dirty="0">
                <a:solidFill>
                  <a:srgbClr val="106838"/>
                </a:solidFill>
                <a:latin typeface="Yu Gothic" pitchFamily="34" charset="0"/>
                <a:ea typeface="Yu Gothic" pitchFamily="34" charset="-122"/>
                <a:cs typeface="Yu Gothic" pitchFamily="34" charset="-120"/>
              </a:rPr>
              <a:t>ドリンクマシンは2台設置が基本。既存スペースの一角にも収まります。</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7"/>
        </a:solidFill>
      </p:bgPr>
    </p:bg>
    <p:spTree>
      <p:nvGrpSpPr>
        <p:cNvPr id="1" name=""/>
        <p:cNvGrpSpPr/>
        <p:nvPr/>
      </p:nvGrpSpPr>
      <p:grpSpPr>
        <a:xfrm>
          <a:off x="0" y="0"/>
          <a:ext cx="0" cy="0"/>
          <a:chOff x="0" y="0"/>
          <a:chExt cx="0" cy="0"/>
        </a:xfrm>
      </p:grpSpPr>
      <p:sp>
        <p:nvSpPr>
          <p:cNvPr id="2" name="Shape 0"/>
          <p:cNvSpPr/>
          <p:nvPr/>
        </p:nvSpPr>
        <p:spPr>
          <a:xfrm>
            <a:off x="660197" y="545897"/>
            <a:ext cx="202997" cy="25603"/>
          </a:xfrm>
          <a:prstGeom prst="rect">
            <a:avLst/>
          </a:prstGeom>
          <a:solidFill>
            <a:srgbClr val="106838"/>
          </a:solidFill>
          <a:ln/>
        </p:spPr>
      </p:sp>
      <p:sp>
        <p:nvSpPr>
          <p:cNvPr id="3" name="Text 1"/>
          <p:cNvSpPr/>
          <p:nvPr/>
        </p:nvSpPr>
        <p:spPr>
          <a:xfrm>
            <a:off x="952805" y="444398"/>
            <a:ext cx="6400800" cy="177394"/>
          </a:xfrm>
          <a:prstGeom prst="rect">
            <a:avLst/>
          </a:prstGeom>
          <a:noFill/>
          <a:ln/>
        </p:spPr>
        <p:txBody>
          <a:bodyPr wrap="square" lIns="0" tIns="0" rIns="0" bIns="0" rtlCol="0" anchor="ctr"/>
          <a:lstStyle/>
          <a:p>
            <a:pPr indent="0" marL="0">
              <a:buNone/>
            </a:pPr>
            <a:r>
              <a:rPr lang="en-US" sz="1050" b="1" dirty="0">
                <a:solidFill>
                  <a:srgbClr val="A8761F"/>
                </a:solidFill>
                <a:latin typeface="Arial" pitchFamily="34" charset="0"/>
                <a:ea typeface="Arial" pitchFamily="34" charset="-122"/>
                <a:cs typeface="Arial" pitchFamily="34" charset="-120"/>
              </a:rPr>
              <a:t>22</a:t>
            </a:r>
            <a:r>
              <a:rPr lang="en-US" sz="1050" b="1" dirty="0">
                <a:solidFill>
                  <a:srgbClr val="1B8149"/>
                </a:solidFill>
                <a:latin typeface="Yu Gothic" pitchFamily="34" charset="0"/>
                <a:ea typeface="Yu Gothic" pitchFamily="34" charset="-122"/>
                <a:cs typeface="Yu Gothic" pitchFamily="34" charset="-120"/>
              </a:rPr>
              <a:t>   FAQ</a:t>
            </a:r>
            <a:endParaRPr lang="en-US" sz="1050" dirty="0"/>
          </a:p>
        </p:txBody>
      </p:sp>
      <p:sp>
        <p:nvSpPr>
          <p:cNvPr id="4" name="Text 2"/>
          <p:cNvSpPr/>
          <p:nvPr/>
        </p:nvSpPr>
        <p:spPr>
          <a:xfrm>
            <a:off x="660197" y="660197"/>
            <a:ext cx="8889797" cy="508406"/>
          </a:xfrm>
          <a:prstGeom prst="rect">
            <a:avLst/>
          </a:prstGeom>
          <a:noFill/>
          <a:ln/>
        </p:spPr>
        <p:txBody>
          <a:bodyPr wrap="square" lIns="0" tIns="0" rIns="0" bIns="0" rtlCol="0" anchor="ctr"/>
          <a:lstStyle/>
          <a:p>
            <a:pPr indent="0" marL="0">
              <a:buNone/>
            </a:pPr>
            <a:r>
              <a:rPr lang="en-US" sz="2900" b="1" dirty="0">
                <a:solidFill>
                  <a:srgbClr val="0A3D23"/>
                </a:solidFill>
                <a:latin typeface="Yu Gothic" pitchFamily="34" charset="0"/>
                <a:ea typeface="Yu Gothic" pitchFamily="34" charset="-122"/>
                <a:cs typeface="Yu Gothic" pitchFamily="34" charset="-120"/>
              </a:rPr>
              <a:t>よくある質問</a:t>
            </a:r>
            <a:endParaRPr lang="en-US" sz="2900" dirty="0"/>
          </a:p>
        </p:txBody>
      </p:sp>
      <p:sp>
        <p:nvSpPr>
          <p:cNvPr id="5" name="Text 3"/>
          <p:cNvSpPr/>
          <p:nvPr/>
        </p:nvSpPr>
        <p:spPr>
          <a:xfrm>
            <a:off x="660197" y="1308506"/>
            <a:ext cx="10032797" cy="228600"/>
          </a:xfrm>
          <a:prstGeom prst="rect">
            <a:avLst/>
          </a:prstGeom>
          <a:noFill/>
          <a:ln/>
        </p:spPr>
        <p:txBody>
          <a:bodyPr wrap="square" lIns="0" tIns="0" rIns="0" bIns="0" rtlCol="0" anchor="ctr"/>
          <a:lstStyle/>
          <a:p>
            <a:pPr indent="0" marL="0">
              <a:buNone/>
            </a:pPr>
            <a:r>
              <a:rPr lang="en-US" sz="1250" dirty="0">
                <a:solidFill>
                  <a:srgbClr val="4B5550"/>
                </a:solidFill>
                <a:latin typeface="Yu Gothic" pitchFamily="34" charset="0"/>
                <a:ea typeface="Yu Gothic" pitchFamily="34" charset="-122"/>
                <a:cs typeface="Yu Gothic" pitchFamily="34" charset="-120"/>
              </a:rPr>
              <a:t>導入をご検討いただく際に、よくいただくご質問をまとめました。</a:t>
            </a:r>
            <a:endParaRPr lang="en-US" sz="1250" dirty="0"/>
          </a:p>
        </p:txBody>
      </p:sp>
      <p:pic>
        <p:nvPicPr>
          <p:cNvPr id="6" name="Image 0" descr="/home/user/suzuki-ceo/selfcafe-gyomu-deck/assets/logo-green.png">    </p:cNvPr>
          <p:cNvPicPr>
            <a:picLocks noChangeAspect="1"/>
          </p:cNvPicPr>
          <p:nvPr/>
        </p:nvPicPr>
        <p:blipFill>
          <a:blip r:embed="rId1"/>
          <a:stretch>
            <a:fillRect/>
          </a:stretch>
        </p:blipFill>
        <p:spPr>
          <a:xfrm>
            <a:off x="9855403" y="482803"/>
            <a:ext cx="1676095" cy="238658"/>
          </a:xfrm>
          <a:prstGeom prst="rect">
            <a:avLst/>
          </a:prstGeom>
        </p:spPr>
      </p:pic>
      <p:sp>
        <p:nvSpPr>
          <p:cNvPr id="7" name="Text 4"/>
          <p:cNvSpPr/>
          <p:nvPr/>
        </p:nvSpPr>
        <p:spPr>
          <a:xfrm>
            <a:off x="660197" y="6476695"/>
            <a:ext cx="5080406" cy="152705"/>
          </a:xfrm>
          <a:prstGeom prst="rect">
            <a:avLst/>
          </a:prstGeom>
          <a:noFill/>
          <a:ln/>
        </p:spPr>
        <p:txBody>
          <a:bodyPr wrap="square" lIns="0" tIns="0" rIns="0" bIns="0" rtlCol="0" anchor="ctr"/>
          <a:lstStyle/>
          <a:p>
            <a:pPr indent="0" marL="0">
              <a:buNone/>
            </a:pPr>
            <a:r>
              <a:rPr lang="en-US" sz="900" dirty="0">
                <a:solidFill>
                  <a:srgbClr val="A8B0AA"/>
                </a:solidFill>
                <a:latin typeface="Yu Gothic" pitchFamily="34" charset="0"/>
                <a:ea typeface="Yu Gothic" pitchFamily="34" charset="-122"/>
                <a:cs typeface="Yu Gothic" pitchFamily="34" charset="-120"/>
              </a:rPr>
              <a:t>セルフカフェ 業務委託型制度</a:t>
            </a:r>
            <a:endParaRPr lang="en-US" sz="900" dirty="0"/>
          </a:p>
        </p:txBody>
      </p:sp>
      <p:sp>
        <p:nvSpPr>
          <p:cNvPr id="8" name="Text 5"/>
          <p:cNvSpPr/>
          <p:nvPr/>
        </p:nvSpPr>
        <p:spPr>
          <a:xfrm>
            <a:off x="10261397" y="6463894"/>
            <a:ext cx="1270102" cy="152705"/>
          </a:xfrm>
          <a:prstGeom prst="rect">
            <a:avLst/>
          </a:prstGeom>
          <a:noFill/>
          <a:ln/>
        </p:spPr>
        <p:txBody>
          <a:bodyPr wrap="square" lIns="0" tIns="0" rIns="0" bIns="0" rtlCol="0" anchor="ctr"/>
          <a:lstStyle/>
          <a:p>
            <a:pPr algn="r" indent="0" marL="0">
              <a:buNone/>
            </a:pPr>
            <a:r>
              <a:rPr lang="en-US" sz="1000" b="1" dirty="0">
                <a:solidFill>
                  <a:srgbClr val="7E8882"/>
                </a:solidFill>
                <a:latin typeface="Arial" pitchFamily="34" charset="0"/>
                <a:ea typeface="Arial" pitchFamily="34" charset="-122"/>
                <a:cs typeface="Arial" pitchFamily="34" charset="-120"/>
              </a:rPr>
              <a:t>23</a:t>
            </a:r>
            <a:endParaRPr lang="en-US" sz="1000" dirty="0"/>
          </a:p>
        </p:txBody>
      </p:sp>
      <p:sp>
        <p:nvSpPr>
          <p:cNvPr id="9" name="Shape 6"/>
          <p:cNvSpPr/>
          <p:nvPr/>
        </p:nvSpPr>
        <p:spPr>
          <a:xfrm>
            <a:off x="660197" y="1651406"/>
            <a:ext cx="5243627" cy="1426464"/>
          </a:xfrm>
          <a:prstGeom prst="roundRect">
            <a:avLst>
              <a:gd name="adj" fmla="val 3846"/>
            </a:avLst>
          </a:prstGeom>
          <a:solidFill>
            <a:srgbClr val="FFFFFF"/>
          </a:solidFill>
          <a:ln w="9525">
            <a:solidFill>
              <a:srgbClr val="EFEAE0"/>
            </a:solidFill>
            <a:prstDash val="solid"/>
          </a:ln>
        </p:spPr>
      </p:sp>
      <p:sp>
        <p:nvSpPr>
          <p:cNvPr id="10" name="Text 7"/>
          <p:cNvSpPr/>
          <p:nvPr/>
        </p:nvSpPr>
        <p:spPr>
          <a:xfrm>
            <a:off x="934517" y="1834286"/>
            <a:ext cx="2377440" cy="164592"/>
          </a:xfrm>
          <a:prstGeom prst="rect">
            <a:avLst/>
          </a:prstGeom>
          <a:noFill/>
          <a:ln/>
        </p:spPr>
        <p:txBody>
          <a:bodyPr wrap="square" lIns="0" tIns="0" rIns="0" bIns="0" rtlCol="0" anchor="ctr"/>
          <a:lstStyle/>
          <a:p>
            <a:pPr indent="0" marL="0">
              <a:buNone/>
            </a:pPr>
            <a:r>
              <a:rPr lang="en-US" sz="900" b="1" spc="150" kern="0" dirty="0">
                <a:solidFill>
                  <a:srgbClr val="1B8149"/>
                </a:solidFill>
                <a:latin typeface="Arial" pitchFamily="34" charset="0"/>
                <a:ea typeface="Arial" pitchFamily="34" charset="-122"/>
                <a:cs typeface="Arial" pitchFamily="34" charset="-120"/>
              </a:rPr>
              <a:t>準備</a:t>
            </a:r>
            <a:endParaRPr lang="en-US" sz="900" dirty="0"/>
          </a:p>
        </p:txBody>
      </p:sp>
      <p:sp>
        <p:nvSpPr>
          <p:cNvPr id="11" name="Text 8"/>
          <p:cNvSpPr/>
          <p:nvPr/>
        </p:nvSpPr>
        <p:spPr>
          <a:xfrm>
            <a:off x="934517" y="2035454"/>
            <a:ext cx="329184" cy="292608"/>
          </a:xfrm>
          <a:prstGeom prst="rect">
            <a:avLst/>
          </a:prstGeom>
          <a:noFill/>
          <a:ln/>
        </p:spPr>
        <p:txBody>
          <a:bodyPr wrap="square" lIns="0" tIns="0" rIns="0" bIns="0" rtlCol="0" anchor="ctr"/>
          <a:lstStyle/>
          <a:p>
            <a:pPr indent="0" marL="0">
              <a:buNone/>
            </a:pPr>
            <a:r>
              <a:rPr lang="en-US" sz="1300" b="1" dirty="0">
                <a:solidFill>
                  <a:srgbClr val="A8761F"/>
                </a:solidFill>
                <a:latin typeface="Arial" pitchFamily="34" charset="0"/>
                <a:ea typeface="Arial" pitchFamily="34" charset="-122"/>
                <a:cs typeface="Arial" pitchFamily="34" charset="-120"/>
              </a:rPr>
              <a:t>Q.</a:t>
            </a:r>
            <a:endParaRPr lang="en-US" sz="1300" dirty="0"/>
          </a:p>
        </p:txBody>
      </p:sp>
      <p:sp>
        <p:nvSpPr>
          <p:cNvPr id="12" name="Text 9"/>
          <p:cNvSpPr/>
          <p:nvPr/>
        </p:nvSpPr>
        <p:spPr>
          <a:xfrm>
            <a:off x="1300277" y="2017166"/>
            <a:ext cx="4329227" cy="310896"/>
          </a:xfrm>
          <a:prstGeom prst="rect">
            <a:avLst/>
          </a:prstGeom>
          <a:noFill/>
          <a:ln/>
        </p:spPr>
        <p:txBody>
          <a:bodyPr wrap="square" lIns="0" tIns="0" rIns="0" bIns="0" rtlCol="0" anchor="ctr"/>
          <a:lstStyle/>
          <a:p>
            <a:pPr indent="0" marL="0">
              <a:buNone/>
            </a:pPr>
            <a:r>
              <a:rPr lang="en-US" sz="1450" b="1" dirty="0">
                <a:solidFill>
                  <a:srgbClr val="0A3D23"/>
                </a:solidFill>
                <a:latin typeface="Yu Gothic" pitchFamily="34" charset="0"/>
                <a:ea typeface="Yu Gothic" pitchFamily="34" charset="-122"/>
                <a:cs typeface="Yu Gothic" pitchFamily="34" charset="-120"/>
              </a:rPr>
              <a:t>準備は難しいですか？</a:t>
            </a:r>
            <a:endParaRPr lang="en-US" sz="1450" dirty="0"/>
          </a:p>
        </p:txBody>
      </p:sp>
      <p:sp>
        <p:nvSpPr>
          <p:cNvPr id="13" name="Shape 10"/>
          <p:cNvSpPr/>
          <p:nvPr/>
        </p:nvSpPr>
        <p:spPr>
          <a:xfrm>
            <a:off x="934517" y="2401214"/>
            <a:ext cx="4694987" cy="10058"/>
          </a:xfrm>
          <a:prstGeom prst="rect">
            <a:avLst/>
          </a:prstGeom>
          <a:solidFill>
            <a:srgbClr val="EFEAE0"/>
          </a:solidFill>
          <a:ln/>
        </p:spPr>
      </p:sp>
      <p:sp>
        <p:nvSpPr>
          <p:cNvPr id="14" name="Text 11"/>
          <p:cNvSpPr/>
          <p:nvPr/>
        </p:nvSpPr>
        <p:spPr>
          <a:xfrm>
            <a:off x="934517" y="2492654"/>
            <a:ext cx="329184" cy="237744"/>
          </a:xfrm>
          <a:prstGeom prst="rect">
            <a:avLst/>
          </a:prstGeom>
          <a:noFill/>
          <a:ln/>
        </p:spPr>
        <p:txBody>
          <a:bodyPr wrap="square" lIns="0" tIns="0" rIns="0" bIns="0" rtlCol="0" anchor="ctr"/>
          <a:lstStyle/>
          <a:p>
            <a:pPr indent="0" marL="0">
              <a:buNone/>
            </a:pPr>
            <a:r>
              <a:rPr lang="en-US" sz="1150" b="1" dirty="0">
                <a:solidFill>
                  <a:srgbClr val="106838"/>
                </a:solidFill>
                <a:latin typeface="Arial" pitchFamily="34" charset="0"/>
                <a:ea typeface="Arial" pitchFamily="34" charset="-122"/>
                <a:cs typeface="Arial" pitchFamily="34" charset="-120"/>
              </a:rPr>
              <a:t>A.</a:t>
            </a:r>
            <a:endParaRPr lang="en-US" sz="1150" dirty="0"/>
          </a:p>
        </p:txBody>
      </p:sp>
      <p:sp>
        <p:nvSpPr>
          <p:cNvPr id="15" name="Text 12"/>
          <p:cNvSpPr/>
          <p:nvPr/>
        </p:nvSpPr>
        <p:spPr>
          <a:xfrm>
            <a:off x="1300277" y="2474366"/>
            <a:ext cx="4329227" cy="566928"/>
          </a:xfrm>
          <a:prstGeom prst="rect">
            <a:avLst/>
          </a:prstGeom>
          <a:noFill/>
          <a:ln/>
        </p:spPr>
        <p:txBody>
          <a:bodyPr wrap="square" lIns="0" tIns="0" rIns="0" bIns="0" rtlCol="0" anchor="t"/>
          <a:lstStyle/>
          <a:p>
            <a:pPr indent="0" marL="0">
              <a:lnSpc>
                <a:spcPct val="130000"/>
              </a:lnSpc>
              <a:buNone/>
            </a:pPr>
            <a:r>
              <a:rPr lang="en-US" sz="950" dirty="0">
                <a:solidFill>
                  <a:srgbClr val="4B5550"/>
                </a:solidFill>
                <a:latin typeface="Yu Gothic" pitchFamily="34" charset="0"/>
                <a:ea typeface="Yu Gothic" pitchFamily="34" charset="-122"/>
                <a:cs typeface="Yu Gothic" pitchFamily="34" charset="-120"/>
              </a:rPr>
              <a:t>内装・システム導入まで本部が実施します。運営主体も本部のため、初めての方でも安心です。</a:t>
            </a:r>
            <a:endParaRPr lang="en-US" sz="950" dirty="0"/>
          </a:p>
        </p:txBody>
      </p:sp>
      <p:sp>
        <p:nvSpPr>
          <p:cNvPr id="16" name="Shape 13"/>
          <p:cNvSpPr/>
          <p:nvPr/>
        </p:nvSpPr>
        <p:spPr>
          <a:xfrm>
            <a:off x="6287872" y="1651406"/>
            <a:ext cx="5243627" cy="1426464"/>
          </a:xfrm>
          <a:prstGeom prst="roundRect">
            <a:avLst>
              <a:gd name="adj" fmla="val 3846"/>
            </a:avLst>
          </a:prstGeom>
          <a:solidFill>
            <a:srgbClr val="FFFFFF"/>
          </a:solidFill>
          <a:ln w="9525">
            <a:solidFill>
              <a:srgbClr val="EFEAE0"/>
            </a:solidFill>
            <a:prstDash val="solid"/>
          </a:ln>
        </p:spPr>
      </p:sp>
      <p:sp>
        <p:nvSpPr>
          <p:cNvPr id="17" name="Text 14"/>
          <p:cNvSpPr/>
          <p:nvPr/>
        </p:nvSpPr>
        <p:spPr>
          <a:xfrm>
            <a:off x="6562192" y="1834286"/>
            <a:ext cx="2377440" cy="164592"/>
          </a:xfrm>
          <a:prstGeom prst="rect">
            <a:avLst/>
          </a:prstGeom>
          <a:noFill/>
          <a:ln/>
        </p:spPr>
        <p:txBody>
          <a:bodyPr wrap="square" lIns="0" tIns="0" rIns="0" bIns="0" rtlCol="0" anchor="ctr"/>
          <a:lstStyle/>
          <a:p>
            <a:pPr indent="0" marL="0">
              <a:buNone/>
            </a:pPr>
            <a:r>
              <a:rPr lang="en-US" sz="900" b="1" spc="150" kern="0" dirty="0">
                <a:solidFill>
                  <a:srgbClr val="1B8149"/>
                </a:solidFill>
                <a:latin typeface="Arial" pitchFamily="34" charset="0"/>
                <a:ea typeface="Arial" pitchFamily="34" charset="-122"/>
                <a:cs typeface="Arial" pitchFamily="34" charset="-120"/>
              </a:rPr>
              <a:t>トラブル対応</a:t>
            </a:r>
            <a:endParaRPr lang="en-US" sz="900" dirty="0"/>
          </a:p>
        </p:txBody>
      </p:sp>
      <p:sp>
        <p:nvSpPr>
          <p:cNvPr id="18" name="Text 15"/>
          <p:cNvSpPr/>
          <p:nvPr/>
        </p:nvSpPr>
        <p:spPr>
          <a:xfrm>
            <a:off x="6562192" y="2035454"/>
            <a:ext cx="329184" cy="292608"/>
          </a:xfrm>
          <a:prstGeom prst="rect">
            <a:avLst/>
          </a:prstGeom>
          <a:noFill/>
          <a:ln/>
        </p:spPr>
        <p:txBody>
          <a:bodyPr wrap="square" lIns="0" tIns="0" rIns="0" bIns="0" rtlCol="0" anchor="ctr"/>
          <a:lstStyle/>
          <a:p>
            <a:pPr indent="0" marL="0">
              <a:buNone/>
            </a:pPr>
            <a:r>
              <a:rPr lang="en-US" sz="1300" b="1" dirty="0">
                <a:solidFill>
                  <a:srgbClr val="A8761F"/>
                </a:solidFill>
                <a:latin typeface="Arial" pitchFamily="34" charset="0"/>
                <a:ea typeface="Arial" pitchFamily="34" charset="-122"/>
                <a:cs typeface="Arial" pitchFamily="34" charset="-120"/>
              </a:rPr>
              <a:t>Q.</a:t>
            </a:r>
            <a:endParaRPr lang="en-US" sz="1300" dirty="0"/>
          </a:p>
        </p:txBody>
      </p:sp>
      <p:sp>
        <p:nvSpPr>
          <p:cNvPr id="19" name="Text 16"/>
          <p:cNvSpPr/>
          <p:nvPr/>
        </p:nvSpPr>
        <p:spPr>
          <a:xfrm>
            <a:off x="6927952" y="2017166"/>
            <a:ext cx="4329227" cy="310896"/>
          </a:xfrm>
          <a:prstGeom prst="rect">
            <a:avLst/>
          </a:prstGeom>
          <a:noFill/>
          <a:ln/>
        </p:spPr>
        <p:txBody>
          <a:bodyPr wrap="square" lIns="0" tIns="0" rIns="0" bIns="0" rtlCol="0" anchor="ctr"/>
          <a:lstStyle/>
          <a:p>
            <a:pPr indent="0" marL="0">
              <a:buNone/>
            </a:pPr>
            <a:r>
              <a:rPr lang="en-US" sz="1450" b="1" dirty="0">
                <a:solidFill>
                  <a:srgbClr val="0A3D23"/>
                </a:solidFill>
                <a:latin typeface="Yu Gothic" pitchFamily="34" charset="0"/>
                <a:ea typeface="Yu Gothic" pitchFamily="34" charset="-122"/>
                <a:cs typeface="Yu Gothic" pitchFamily="34" charset="-120"/>
              </a:rPr>
              <a:t>トラブル時の対応は？</a:t>
            </a:r>
            <a:endParaRPr lang="en-US" sz="1450" dirty="0"/>
          </a:p>
        </p:txBody>
      </p:sp>
      <p:sp>
        <p:nvSpPr>
          <p:cNvPr id="20" name="Shape 17"/>
          <p:cNvSpPr/>
          <p:nvPr/>
        </p:nvSpPr>
        <p:spPr>
          <a:xfrm>
            <a:off x="6562192" y="2401214"/>
            <a:ext cx="4694987" cy="10058"/>
          </a:xfrm>
          <a:prstGeom prst="rect">
            <a:avLst/>
          </a:prstGeom>
          <a:solidFill>
            <a:srgbClr val="EFEAE0"/>
          </a:solidFill>
          <a:ln/>
        </p:spPr>
      </p:sp>
      <p:sp>
        <p:nvSpPr>
          <p:cNvPr id="21" name="Text 18"/>
          <p:cNvSpPr/>
          <p:nvPr/>
        </p:nvSpPr>
        <p:spPr>
          <a:xfrm>
            <a:off x="6562192" y="2492654"/>
            <a:ext cx="329184" cy="237744"/>
          </a:xfrm>
          <a:prstGeom prst="rect">
            <a:avLst/>
          </a:prstGeom>
          <a:noFill/>
          <a:ln/>
        </p:spPr>
        <p:txBody>
          <a:bodyPr wrap="square" lIns="0" tIns="0" rIns="0" bIns="0" rtlCol="0" anchor="ctr"/>
          <a:lstStyle/>
          <a:p>
            <a:pPr indent="0" marL="0">
              <a:buNone/>
            </a:pPr>
            <a:r>
              <a:rPr lang="en-US" sz="1150" b="1" dirty="0">
                <a:solidFill>
                  <a:srgbClr val="106838"/>
                </a:solidFill>
                <a:latin typeface="Arial" pitchFamily="34" charset="0"/>
                <a:ea typeface="Arial" pitchFamily="34" charset="-122"/>
                <a:cs typeface="Arial" pitchFamily="34" charset="-120"/>
              </a:rPr>
              <a:t>A.</a:t>
            </a:r>
            <a:endParaRPr lang="en-US" sz="1150" dirty="0"/>
          </a:p>
        </p:txBody>
      </p:sp>
      <p:sp>
        <p:nvSpPr>
          <p:cNvPr id="22" name="Text 19"/>
          <p:cNvSpPr/>
          <p:nvPr/>
        </p:nvSpPr>
        <p:spPr>
          <a:xfrm>
            <a:off x="6927952" y="2474366"/>
            <a:ext cx="4329227" cy="566928"/>
          </a:xfrm>
          <a:prstGeom prst="rect">
            <a:avLst/>
          </a:prstGeom>
          <a:noFill/>
          <a:ln/>
        </p:spPr>
        <p:txBody>
          <a:bodyPr wrap="square" lIns="0" tIns="0" rIns="0" bIns="0" rtlCol="0" anchor="t"/>
          <a:lstStyle/>
          <a:p>
            <a:pPr indent="0" marL="0">
              <a:lnSpc>
                <a:spcPct val="130000"/>
              </a:lnSpc>
              <a:buNone/>
            </a:pPr>
            <a:r>
              <a:rPr lang="en-US" sz="950" dirty="0">
                <a:solidFill>
                  <a:srgbClr val="4B5550"/>
                </a:solidFill>
                <a:latin typeface="Yu Gothic" pitchFamily="34" charset="0"/>
                <a:ea typeface="Yu Gothic" pitchFamily="34" charset="-122"/>
                <a:cs typeface="Yu Gothic" pitchFamily="34" charset="-120"/>
              </a:rPr>
              <a:t>24時間体制の警備会社と遠隔監視システムにより、貴社が現場に駆けつける必要はほぼありません。顧客からの問い合わせも本部のLINEチャットで対応します。</a:t>
            </a:r>
            <a:endParaRPr lang="en-US" sz="950" dirty="0"/>
          </a:p>
        </p:txBody>
      </p:sp>
      <p:sp>
        <p:nvSpPr>
          <p:cNvPr id="23" name="Shape 20"/>
          <p:cNvSpPr/>
          <p:nvPr/>
        </p:nvSpPr>
        <p:spPr>
          <a:xfrm>
            <a:off x="660197" y="3242462"/>
            <a:ext cx="5243627" cy="1426464"/>
          </a:xfrm>
          <a:prstGeom prst="roundRect">
            <a:avLst>
              <a:gd name="adj" fmla="val 3846"/>
            </a:avLst>
          </a:prstGeom>
          <a:solidFill>
            <a:srgbClr val="FFFFFF"/>
          </a:solidFill>
          <a:ln w="9525">
            <a:solidFill>
              <a:srgbClr val="EFEAE0"/>
            </a:solidFill>
            <a:prstDash val="solid"/>
          </a:ln>
        </p:spPr>
      </p:sp>
      <p:sp>
        <p:nvSpPr>
          <p:cNvPr id="24" name="Text 21"/>
          <p:cNvSpPr/>
          <p:nvPr/>
        </p:nvSpPr>
        <p:spPr>
          <a:xfrm>
            <a:off x="934517" y="3425342"/>
            <a:ext cx="2377440" cy="164592"/>
          </a:xfrm>
          <a:prstGeom prst="rect">
            <a:avLst/>
          </a:prstGeom>
          <a:noFill/>
          <a:ln/>
        </p:spPr>
        <p:txBody>
          <a:bodyPr wrap="square" lIns="0" tIns="0" rIns="0" bIns="0" rtlCol="0" anchor="ctr"/>
          <a:lstStyle/>
          <a:p>
            <a:pPr indent="0" marL="0">
              <a:buNone/>
            </a:pPr>
            <a:r>
              <a:rPr lang="en-US" sz="900" b="1" spc="150" kern="0" dirty="0">
                <a:solidFill>
                  <a:srgbClr val="1B8149"/>
                </a:solidFill>
                <a:latin typeface="Arial" pitchFamily="34" charset="0"/>
                <a:ea typeface="Arial" pitchFamily="34" charset="-122"/>
                <a:cs typeface="Arial" pitchFamily="34" charset="-120"/>
              </a:rPr>
              <a:t>人材</a:t>
            </a:r>
            <a:endParaRPr lang="en-US" sz="900" dirty="0"/>
          </a:p>
        </p:txBody>
      </p:sp>
      <p:sp>
        <p:nvSpPr>
          <p:cNvPr id="25" name="Text 22"/>
          <p:cNvSpPr/>
          <p:nvPr/>
        </p:nvSpPr>
        <p:spPr>
          <a:xfrm>
            <a:off x="934517" y="3626510"/>
            <a:ext cx="329184" cy="292608"/>
          </a:xfrm>
          <a:prstGeom prst="rect">
            <a:avLst/>
          </a:prstGeom>
          <a:noFill/>
          <a:ln/>
        </p:spPr>
        <p:txBody>
          <a:bodyPr wrap="square" lIns="0" tIns="0" rIns="0" bIns="0" rtlCol="0" anchor="ctr"/>
          <a:lstStyle/>
          <a:p>
            <a:pPr indent="0" marL="0">
              <a:buNone/>
            </a:pPr>
            <a:r>
              <a:rPr lang="en-US" sz="1300" b="1" dirty="0">
                <a:solidFill>
                  <a:srgbClr val="A8761F"/>
                </a:solidFill>
                <a:latin typeface="Arial" pitchFamily="34" charset="0"/>
                <a:ea typeface="Arial" pitchFamily="34" charset="-122"/>
                <a:cs typeface="Arial" pitchFamily="34" charset="-120"/>
              </a:rPr>
              <a:t>Q.</a:t>
            </a:r>
            <a:endParaRPr lang="en-US" sz="1300" dirty="0"/>
          </a:p>
        </p:txBody>
      </p:sp>
      <p:sp>
        <p:nvSpPr>
          <p:cNvPr id="26" name="Text 23"/>
          <p:cNvSpPr/>
          <p:nvPr/>
        </p:nvSpPr>
        <p:spPr>
          <a:xfrm>
            <a:off x="1300277" y="3608222"/>
            <a:ext cx="4329227" cy="310896"/>
          </a:xfrm>
          <a:prstGeom prst="rect">
            <a:avLst/>
          </a:prstGeom>
          <a:noFill/>
          <a:ln/>
        </p:spPr>
        <p:txBody>
          <a:bodyPr wrap="square" lIns="0" tIns="0" rIns="0" bIns="0" rtlCol="0" anchor="ctr"/>
          <a:lstStyle/>
          <a:p>
            <a:pPr indent="0" marL="0">
              <a:buNone/>
            </a:pPr>
            <a:r>
              <a:rPr lang="en-US" sz="1450" b="1" dirty="0">
                <a:solidFill>
                  <a:srgbClr val="0A3D23"/>
                </a:solidFill>
                <a:latin typeface="Yu Gothic" pitchFamily="34" charset="0"/>
                <a:ea typeface="Yu Gothic" pitchFamily="34" charset="-122"/>
                <a:cs typeface="Yu Gothic" pitchFamily="34" charset="-120"/>
              </a:rPr>
              <a:t>人材採用については？</a:t>
            </a:r>
            <a:endParaRPr lang="en-US" sz="1450" dirty="0"/>
          </a:p>
        </p:txBody>
      </p:sp>
      <p:sp>
        <p:nvSpPr>
          <p:cNvPr id="27" name="Shape 24"/>
          <p:cNvSpPr/>
          <p:nvPr/>
        </p:nvSpPr>
        <p:spPr>
          <a:xfrm>
            <a:off x="934517" y="3992270"/>
            <a:ext cx="4694987" cy="10058"/>
          </a:xfrm>
          <a:prstGeom prst="rect">
            <a:avLst/>
          </a:prstGeom>
          <a:solidFill>
            <a:srgbClr val="EFEAE0"/>
          </a:solidFill>
          <a:ln/>
        </p:spPr>
      </p:sp>
      <p:sp>
        <p:nvSpPr>
          <p:cNvPr id="28" name="Text 25"/>
          <p:cNvSpPr/>
          <p:nvPr/>
        </p:nvSpPr>
        <p:spPr>
          <a:xfrm>
            <a:off x="934517" y="4083710"/>
            <a:ext cx="329184" cy="237744"/>
          </a:xfrm>
          <a:prstGeom prst="rect">
            <a:avLst/>
          </a:prstGeom>
          <a:noFill/>
          <a:ln/>
        </p:spPr>
        <p:txBody>
          <a:bodyPr wrap="square" lIns="0" tIns="0" rIns="0" bIns="0" rtlCol="0" anchor="ctr"/>
          <a:lstStyle/>
          <a:p>
            <a:pPr indent="0" marL="0">
              <a:buNone/>
            </a:pPr>
            <a:r>
              <a:rPr lang="en-US" sz="1150" b="1" dirty="0">
                <a:solidFill>
                  <a:srgbClr val="106838"/>
                </a:solidFill>
                <a:latin typeface="Arial" pitchFamily="34" charset="0"/>
                <a:ea typeface="Arial" pitchFamily="34" charset="-122"/>
                <a:cs typeface="Arial" pitchFamily="34" charset="-120"/>
              </a:rPr>
              <a:t>A.</a:t>
            </a:r>
            <a:endParaRPr lang="en-US" sz="1150" dirty="0"/>
          </a:p>
        </p:txBody>
      </p:sp>
      <p:sp>
        <p:nvSpPr>
          <p:cNvPr id="29" name="Text 26"/>
          <p:cNvSpPr/>
          <p:nvPr/>
        </p:nvSpPr>
        <p:spPr>
          <a:xfrm>
            <a:off x="1300277" y="4065422"/>
            <a:ext cx="4329227" cy="566928"/>
          </a:xfrm>
          <a:prstGeom prst="rect">
            <a:avLst/>
          </a:prstGeom>
          <a:noFill/>
          <a:ln/>
        </p:spPr>
        <p:txBody>
          <a:bodyPr wrap="square" lIns="0" tIns="0" rIns="0" bIns="0" rtlCol="0" anchor="t"/>
          <a:lstStyle/>
          <a:p>
            <a:pPr indent="0" marL="0">
              <a:lnSpc>
                <a:spcPct val="130000"/>
              </a:lnSpc>
              <a:buNone/>
            </a:pPr>
            <a:r>
              <a:rPr lang="en-US" sz="950" dirty="0">
                <a:solidFill>
                  <a:srgbClr val="4B5550"/>
                </a:solidFill>
                <a:latin typeface="Yu Gothic" pitchFamily="34" charset="0"/>
                <a:ea typeface="Yu Gothic" pitchFamily="34" charset="-122"/>
                <a:cs typeface="Yu Gothic" pitchFamily="34" charset="-120"/>
              </a:rPr>
              <a:t>新しく人材を採用する必要はありません。清掃・原料補充は既存スタッフで対応でき、外部委託も可能です。</a:t>
            </a:r>
            <a:endParaRPr lang="en-US" sz="950" dirty="0"/>
          </a:p>
        </p:txBody>
      </p:sp>
      <p:sp>
        <p:nvSpPr>
          <p:cNvPr id="30" name="Shape 27"/>
          <p:cNvSpPr/>
          <p:nvPr/>
        </p:nvSpPr>
        <p:spPr>
          <a:xfrm>
            <a:off x="6287872" y="3242462"/>
            <a:ext cx="5243627" cy="1426464"/>
          </a:xfrm>
          <a:prstGeom prst="roundRect">
            <a:avLst>
              <a:gd name="adj" fmla="val 3846"/>
            </a:avLst>
          </a:prstGeom>
          <a:solidFill>
            <a:srgbClr val="FFFFFF"/>
          </a:solidFill>
          <a:ln w="9525">
            <a:solidFill>
              <a:srgbClr val="EFEAE0"/>
            </a:solidFill>
            <a:prstDash val="solid"/>
          </a:ln>
        </p:spPr>
      </p:sp>
      <p:sp>
        <p:nvSpPr>
          <p:cNvPr id="31" name="Text 28"/>
          <p:cNvSpPr/>
          <p:nvPr/>
        </p:nvSpPr>
        <p:spPr>
          <a:xfrm>
            <a:off x="6562192" y="3425342"/>
            <a:ext cx="2377440" cy="164592"/>
          </a:xfrm>
          <a:prstGeom prst="rect">
            <a:avLst/>
          </a:prstGeom>
          <a:noFill/>
          <a:ln/>
        </p:spPr>
        <p:txBody>
          <a:bodyPr wrap="square" lIns="0" tIns="0" rIns="0" bIns="0" rtlCol="0" anchor="ctr"/>
          <a:lstStyle/>
          <a:p>
            <a:pPr indent="0" marL="0">
              <a:buNone/>
            </a:pPr>
            <a:r>
              <a:rPr lang="en-US" sz="900" b="1" spc="150" kern="0" dirty="0">
                <a:solidFill>
                  <a:srgbClr val="1B8149"/>
                </a:solidFill>
                <a:latin typeface="Arial" pitchFamily="34" charset="0"/>
                <a:ea typeface="Arial" pitchFamily="34" charset="-122"/>
                <a:cs typeface="Arial" pitchFamily="34" charset="-120"/>
              </a:rPr>
              <a:t>集客</a:t>
            </a:r>
            <a:endParaRPr lang="en-US" sz="900" dirty="0"/>
          </a:p>
        </p:txBody>
      </p:sp>
      <p:sp>
        <p:nvSpPr>
          <p:cNvPr id="32" name="Text 29"/>
          <p:cNvSpPr/>
          <p:nvPr/>
        </p:nvSpPr>
        <p:spPr>
          <a:xfrm>
            <a:off x="6562192" y="3626510"/>
            <a:ext cx="329184" cy="292608"/>
          </a:xfrm>
          <a:prstGeom prst="rect">
            <a:avLst/>
          </a:prstGeom>
          <a:noFill/>
          <a:ln/>
        </p:spPr>
        <p:txBody>
          <a:bodyPr wrap="square" lIns="0" tIns="0" rIns="0" bIns="0" rtlCol="0" anchor="ctr"/>
          <a:lstStyle/>
          <a:p>
            <a:pPr indent="0" marL="0">
              <a:buNone/>
            </a:pPr>
            <a:r>
              <a:rPr lang="en-US" sz="1300" b="1" dirty="0">
                <a:solidFill>
                  <a:srgbClr val="A8761F"/>
                </a:solidFill>
                <a:latin typeface="Arial" pitchFamily="34" charset="0"/>
                <a:ea typeface="Arial" pitchFamily="34" charset="-122"/>
                <a:cs typeface="Arial" pitchFamily="34" charset="-120"/>
              </a:rPr>
              <a:t>Q.</a:t>
            </a:r>
            <a:endParaRPr lang="en-US" sz="1300" dirty="0"/>
          </a:p>
        </p:txBody>
      </p:sp>
      <p:sp>
        <p:nvSpPr>
          <p:cNvPr id="33" name="Text 30"/>
          <p:cNvSpPr/>
          <p:nvPr/>
        </p:nvSpPr>
        <p:spPr>
          <a:xfrm>
            <a:off x="6927952" y="3608222"/>
            <a:ext cx="4329227" cy="310896"/>
          </a:xfrm>
          <a:prstGeom prst="rect">
            <a:avLst/>
          </a:prstGeom>
          <a:noFill/>
          <a:ln/>
        </p:spPr>
        <p:txBody>
          <a:bodyPr wrap="square" lIns="0" tIns="0" rIns="0" bIns="0" rtlCol="0" anchor="ctr"/>
          <a:lstStyle/>
          <a:p>
            <a:pPr indent="0" marL="0">
              <a:buNone/>
            </a:pPr>
            <a:r>
              <a:rPr lang="en-US" sz="1450" b="1" dirty="0">
                <a:solidFill>
                  <a:srgbClr val="0A3D23"/>
                </a:solidFill>
                <a:latin typeface="Yu Gothic" pitchFamily="34" charset="0"/>
                <a:ea typeface="Yu Gothic" pitchFamily="34" charset="-122"/>
                <a:cs typeface="Yu Gothic" pitchFamily="34" charset="-120"/>
              </a:rPr>
              <a:t>集客はどうすれば？</a:t>
            </a:r>
            <a:endParaRPr lang="en-US" sz="1450" dirty="0"/>
          </a:p>
        </p:txBody>
      </p:sp>
      <p:sp>
        <p:nvSpPr>
          <p:cNvPr id="34" name="Shape 31"/>
          <p:cNvSpPr/>
          <p:nvPr/>
        </p:nvSpPr>
        <p:spPr>
          <a:xfrm>
            <a:off x="6562192" y="3992270"/>
            <a:ext cx="4694987" cy="10058"/>
          </a:xfrm>
          <a:prstGeom prst="rect">
            <a:avLst/>
          </a:prstGeom>
          <a:solidFill>
            <a:srgbClr val="EFEAE0"/>
          </a:solidFill>
          <a:ln/>
        </p:spPr>
      </p:sp>
      <p:sp>
        <p:nvSpPr>
          <p:cNvPr id="35" name="Text 32"/>
          <p:cNvSpPr/>
          <p:nvPr/>
        </p:nvSpPr>
        <p:spPr>
          <a:xfrm>
            <a:off x="6562192" y="4083710"/>
            <a:ext cx="329184" cy="237744"/>
          </a:xfrm>
          <a:prstGeom prst="rect">
            <a:avLst/>
          </a:prstGeom>
          <a:noFill/>
          <a:ln/>
        </p:spPr>
        <p:txBody>
          <a:bodyPr wrap="square" lIns="0" tIns="0" rIns="0" bIns="0" rtlCol="0" anchor="ctr"/>
          <a:lstStyle/>
          <a:p>
            <a:pPr indent="0" marL="0">
              <a:buNone/>
            </a:pPr>
            <a:r>
              <a:rPr lang="en-US" sz="1150" b="1" dirty="0">
                <a:solidFill>
                  <a:srgbClr val="106838"/>
                </a:solidFill>
                <a:latin typeface="Arial" pitchFamily="34" charset="0"/>
                <a:ea typeface="Arial" pitchFamily="34" charset="-122"/>
                <a:cs typeface="Arial" pitchFamily="34" charset="-120"/>
              </a:rPr>
              <a:t>A.</a:t>
            </a:r>
            <a:endParaRPr lang="en-US" sz="1150" dirty="0"/>
          </a:p>
        </p:txBody>
      </p:sp>
      <p:sp>
        <p:nvSpPr>
          <p:cNvPr id="36" name="Text 33"/>
          <p:cNvSpPr/>
          <p:nvPr/>
        </p:nvSpPr>
        <p:spPr>
          <a:xfrm>
            <a:off x="6927952" y="4065422"/>
            <a:ext cx="4329227" cy="566928"/>
          </a:xfrm>
          <a:prstGeom prst="rect">
            <a:avLst/>
          </a:prstGeom>
          <a:noFill/>
          <a:ln/>
        </p:spPr>
        <p:txBody>
          <a:bodyPr wrap="square" lIns="0" tIns="0" rIns="0" bIns="0" rtlCol="0" anchor="t"/>
          <a:lstStyle/>
          <a:p>
            <a:pPr indent="0" marL="0">
              <a:lnSpc>
                <a:spcPct val="130000"/>
              </a:lnSpc>
              <a:buNone/>
            </a:pPr>
            <a:r>
              <a:rPr lang="en-US" sz="950" dirty="0">
                <a:solidFill>
                  <a:srgbClr val="4B5550"/>
                </a:solidFill>
                <a:latin typeface="Yu Gothic" pitchFamily="34" charset="0"/>
                <a:ea typeface="Yu Gothic" pitchFamily="34" charset="-122"/>
                <a:cs typeface="Yu Gothic" pitchFamily="34" charset="-120"/>
              </a:rPr>
              <a:t>数々のメディア取材や、本部によるSEO・MEO・AIO（LLMO）対策をはじめとしたWebマーケティングによって集客を支援します。</a:t>
            </a:r>
            <a:endParaRPr lang="en-US" sz="950" dirty="0"/>
          </a:p>
        </p:txBody>
      </p:sp>
      <p:sp>
        <p:nvSpPr>
          <p:cNvPr id="37" name="Shape 34"/>
          <p:cNvSpPr/>
          <p:nvPr/>
        </p:nvSpPr>
        <p:spPr>
          <a:xfrm>
            <a:off x="660197" y="4833518"/>
            <a:ext cx="5243627" cy="1426464"/>
          </a:xfrm>
          <a:prstGeom prst="roundRect">
            <a:avLst>
              <a:gd name="adj" fmla="val 3846"/>
            </a:avLst>
          </a:prstGeom>
          <a:solidFill>
            <a:srgbClr val="FFFFFF"/>
          </a:solidFill>
          <a:ln w="9525">
            <a:solidFill>
              <a:srgbClr val="EFEAE0"/>
            </a:solidFill>
            <a:prstDash val="solid"/>
          </a:ln>
        </p:spPr>
      </p:sp>
      <p:sp>
        <p:nvSpPr>
          <p:cNvPr id="38" name="Text 35"/>
          <p:cNvSpPr/>
          <p:nvPr/>
        </p:nvSpPr>
        <p:spPr>
          <a:xfrm>
            <a:off x="934517" y="5016398"/>
            <a:ext cx="2377440" cy="164592"/>
          </a:xfrm>
          <a:prstGeom prst="rect">
            <a:avLst/>
          </a:prstGeom>
          <a:noFill/>
          <a:ln/>
        </p:spPr>
        <p:txBody>
          <a:bodyPr wrap="square" lIns="0" tIns="0" rIns="0" bIns="0" rtlCol="0" anchor="ctr"/>
          <a:lstStyle/>
          <a:p>
            <a:pPr indent="0" marL="0">
              <a:buNone/>
            </a:pPr>
            <a:r>
              <a:rPr lang="en-US" sz="900" b="1" spc="150" kern="0" dirty="0">
                <a:solidFill>
                  <a:srgbClr val="1B8149"/>
                </a:solidFill>
                <a:latin typeface="Arial" pitchFamily="34" charset="0"/>
                <a:ea typeface="Arial" pitchFamily="34" charset="-122"/>
                <a:cs typeface="Arial" pitchFamily="34" charset="-120"/>
              </a:rPr>
              <a:t>許認可</a:t>
            </a:r>
            <a:endParaRPr lang="en-US" sz="900" dirty="0"/>
          </a:p>
        </p:txBody>
      </p:sp>
      <p:sp>
        <p:nvSpPr>
          <p:cNvPr id="39" name="Text 36"/>
          <p:cNvSpPr/>
          <p:nvPr/>
        </p:nvSpPr>
        <p:spPr>
          <a:xfrm>
            <a:off x="934517" y="5217566"/>
            <a:ext cx="329184" cy="292608"/>
          </a:xfrm>
          <a:prstGeom prst="rect">
            <a:avLst/>
          </a:prstGeom>
          <a:noFill/>
          <a:ln/>
        </p:spPr>
        <p:txBody>
          <a:bodyPr wrap="square" lIns="0" tIns="0" rIns="0" bIns="0" rtlCol="0" anchor="ctr"/>
          <a:lstStyle/>
          <a:p>
            <a:pPr indent="0" marL="0">
              <a:buNone/>
            </a:pPr>
            <a:r>
              <a:rPr lang="en-US" sz="1300" b="1" dirty="0">
                <a:solidFill>
                  <a:srgbClr val="A8761F"/>
                </a:solidFill>
                <a:latin typeface="Arial" pitchFamily="34" charset="0"/>
                <a:ea typeface="Arial" pitchFamily="34" charset="-122"/>
                <a:cs typeface="Arial" pitchFamily="34" charset="-120"/>
              </a:rPr>
              <a:t>Q.</a:t>
            </a:r>
            <a:endParaRPr lang="en-US" sz="1300" dirty="0"/>
          </a:p>
        </p:txBody>
      </p:sp>
      <p:sp>
        <p:nvSpPr>
          <p:cNvPr id="40" name="Text 37"/>
          <p:cNvSpPr/>
          <p:nvPr/>
        </p:nvSpPr>
        <p:spPr>
          <a:xfrm>
            <a:off x="1300277" y="5199278"/>
            <a:ext cx="4329227" cy="310896"/>
          </a:xfrm>
          <a:prstGeom prst="rect">
            <a:avLst/>
          </a:prstGeom>
          <a:noFill/>
          <a:ln/>
        </p:spPr>
        <p:txBody>
          <a:bodyPr wrap="square" lIns="0" tIns="0" rIns="0" bIns="0" rtlCol="0" anchor="ctr"/>
          <a:lstStyle/>
          <a:p>
            <a:pPr indent="0" marL="0">
              <a:buNone/>
            </a:pPr>
            <a:r>
              <a:rPr lang="en-US" sz="1450" b="1" dirty="0">
                <a:solidFill>
                  <a:srgbClr val="0A3D23"/>
                </a:solidFill>
                <a:latin typeface="Yu Gothic" pitchFamily="34" charset="0"/>
                <a:ea typeface="Yu Gothic" pitchFamily="34" charset="-122"/>
                <a:cs typeface="Yu Gothic" pitchFamily="34" charset="-120"/>
              </a:rPr>
              <a:t>許認可の申請は必要ですか？</a:t>
            </a:r>
            <a:endParaRPr lang="en-US" sz="1450" dirty="0"/>
          </a:p>
        </p:txBody>
      </p:sp>
      <p:sp>
        <p:nvSpPr>
          <p:cNvPr id="41" name="Shape 38"/>
          <p:cNvSpPr/>
          <p:nvPr/>
        </p:nvSpPr>
        <p:spPr>
          <a:xfrm>
            <a:off x="934517" y="5583326"/>
            <a:ext cx="4694987" cy="10058"/>
          </a:xfrm>
          <a:prstGeom prst="rect">
            <a:avLst/>
          </a:prstGeom>
          <a:solidFill>
            <a:srgbClr val="EFEAE0"/>
          </a:solidFill>
          <a:ln/>
        </p:spPr>
      </p:sp>
      <p:sp>
        <p:nvSpPr>
          <p:cNvPr id="42" name="Text 39"/>
          <p:cNvSpPr/>
          <p:nvPr/>
        </p:nvSpPr>
        <p:spPr>
          <a:xfrm>
            <a:off x="934517" y="5674766"/>
            <a:ext cx="329184" cy="237744"/>
          </a:xfrm>
          <a:prstGeom prst="rect">
            <a:avLst/>
          </a:prstGeom>
          <a:noFill/>
          <a:ln/>
        </p:spPr>
        <p:txBody>
          <a:bodyPr wrap="square" lIns="0" tIns="0" rIns="0" bIns="0" rtlCol="0" anchor="ctr"/>
          <a:lstStyle/>
          <a:p>
            <a:pPr indent="0" marL="0">
              <a:buNone/>
            </a:pPr>
            <a:r>
              <a:rPr lang="en-US" sz="1150" b="1" dirty="0">
                <a:solidFill>
                  <a:srgbClr val="106838"/>
                </a:solidFill>
                <a:latin typeface="Arial" pitchFamily="34" charset="0"/>
                <a:ea typeface="Arial" pitchFamily="34" charset="-122"/>
                <a:cs typeface="Arial" pitchFamily="34" charset="-120"/>
              </a:rPr>
              <a:t>A.</a:t>
            </a:r>
            <a:endParaRPr lang="en-US" sz="1150" dirty="0"/>
          </a:p>
        </p:txBody>
      </p:sp>
      <p:sp>
        <p:nvSpPr>
          <p:cNvPr id="43" name="Text 40"/>
          <p:cNvSpPr/>
          <p:nvPr/>
        </p:nvSpPr>
        <p:spPr>
          <a:xfrm>
            <a:off x="1300277" y="5656478"/>
            <a:ext cx="4329227" cy="566928"/>
          </a:xfrm>
          <a:prstGeom prst="rect">
            <a:avLst/>
          </a:prstGeom>
          <a:noFill/>
          <a:ln/>
        </p:spPr>
        <p:txBody>
          <a:bodyPr wrap="square" lIns="0" tIns="0" rIns="0" bIns="0" rtlCol="0" anchor="t"/>
          <a:lstStyle/>
          <a:p>
            <a:pPr indent="0" marL="0">
              <a:lnSpc>
                <a:spcPct val="130000"/>
              </a:lnSpc>
              <a:buNone/>
            </a:pPr>
            <a:r>
              <a:rPr lang="en-US" sz="950" dirty="0">
                <a:solidFill>
                  <a:srgbClr val="4B5550"/>
                </a:solidFill>
                <a:latin typeface="Yu Gothic" pitchFamily="34" charset="0"/>
                <a:ea typeface="Yu Gothic" pitchFamily="34" charset="-122"/>
                <a:cs typeface="Yu Gothic" pitchFamily="34" charset="-120"/>
              </a:rPr>
              <a:t>営業届の提出と食品衛生責任者の設置が必要ですが、運営主体は本部のため、いずれも本部にて対応します。</a:t>
            </a:r>
            <a:endParaRPr lang="en-US" sz="950" dirty="0"/>
          </a:p>
        </p:txBody>
      </p:sp>
      <p:sp>
        <p:nvSpPr>
          <p:cNvPr id="44" name="Shape 41"/>
          <p:cNvSpPr/>
          <p:nvPr/>
        </p:nvSpPr>
        <p:spPr>
          <a:xfrm>
            <a:off x="6287872" y="4833518"/>
            <a:ext cx="5243627" cy="1426464"/>
          </a:xfrm>
          <a:prstGeom prst="roundRect">
            <a:avLst>
              <a:gd name="adj" fmla="val 3846"/>
            </a:avLst>
          </a:prstGeom>
          <a:solidFill>
            <a:srgbClr val="0C5230"/>
          </a:solidFill>
          <a:ln/>
        </p:spPr>
      </p:sp>
      <p:pic>
        <p:nvPicPr>
          <p:cNvPr id="45" name="Image 1" descr="/home/user/suzuki-ceo/selfcafe-gyomu-deck/assets/icons/LuMessageCircle-white.png">    </p:cNvPr>
          <p:cNvPicPr>
            <a:picLocks noChangeAspect="1"/>
          </p:cNvPicPr>
          <p:nvPr/>
        </p:nvPicPr>
        <p:blipFill>
          <a:blip r:embed="rId2"/>
          <a:stretch>
            <a:fillRect/>
          </a:stretch>
        </p:blipFill>
        <p:spPr>
          <a:xfrm>
            <a:off x="6598768" y="5144414"/>
            <a:ext cx="329184" cy="329184"/>
          </a:xfrm>
          <a:prstGeom prst="rect">
            <a:avLst/>
          </a:prstGeom>
        </p:spPr>
      </p:pic>
      <p:sp>
        <p:nvSpPr>
          <p:cNvPr id="46" name="Text 42"/>
          <p:cNvSpPr/>
          <p:nvPr/>
        </p:nvSpPr>
        <p:spPr>
          <a:xfrm>
            <a:off x="7092544" y="5107838"/>
            <a:ext cx="4146347" cy="329184"/>
          </a:xfrm>
          <a:prstGeom prst="rect">
            <a:avLst/>
          </a:prstGeom>
          <a:noFill/>
          <a:ln/>
        </p:spPr>
        <p:txBody>
          <a:bodyPr wrap="square" lIns="0" tIns="0" rIns="0" bIns="0" rtlCol="0" anchor="ctr"/>
          <a:lstStyle/>
          <a:p>
            <a:pPr indent="0" marL="0">
              <a:buNone/>
            </a:pPr>
            <a:r>
              <a:rPr lang="en-US" sz="1500" b="1" dirty="0">
                <a:solidFill>
                  <a:srgbClr val="FFFFFF"/>
                </a:solidFill>
                <a:latin typeface="Yu Gothic" pitchFamily="34" charset="0"/>
                <a:ea typeface="Yu Gothic" pitchFamily="34" charset="-122"/>
                <a:cs typeface="Yu Gothic" pitchFamily="34" charset="-120"/>
              </a:rPr>
              <a:t>その他のご質問もお気軽に</a:t>
            </a:r>
            <a:endParaRPr lang="en-US" sz="1500" dirty="0"/>
          </a:p>
        </p:txBody>
      </p:sp>
      <p:sp>
        <p:nvSpPr>
          <p:cNvPr id="47" name="Text 43"/>
          <p:cNvSpPr/>
          <p:nvPr/>
        </p:nvSpPr>
        <p:spPr>
          <a:xfrm>
            <a:off x="7092544" y="5491886"/>
            <a:ext cx="4146347" cy="548640"/>
          </a:xfrm>
          <a:prstGeom prst="rect">
            <a:avLst/>
          </a:prstGeom>
          <a:noFill/>
          <a:ln/>
        </p:spPr>
        <p:txBody>
          <a:bodyPr wrap="square" lIns="0" tIns="0" rIns="0" bIns="0" rtlCol="0" anchor="t"/>
          <a:lstStyle/>
          <a:p>
            <a:pPr indent="0" marL="0">
              <a:lnSpc>
                <a:spcPct val="136000"/>
              </a:lnSpc>
              <a:buNone/>
            </a:pPr>
            <a:r>
              <a:rPr lang="en-US" sz="1000" dirty="0">
                <a:solidFill>
                  <a:srgbClr val="AFC2B8"/>
                </a:solidFill>
                <a:latin typeface="Yu Gothic" pitchFamily="34" charset="0"/>
                <a:ea typeface="Yu Gothic" pitchFamily="34" charset="-122"/>
                <a:cs typeface="Yu Gothic" pitchFamily="34" charset="-120"/>
              </a:rPr>
              <a:t>初回面談で、立地条件やご希望に合わせて個別にご説明します。スペースの写真や図面をお持ちいただけると、収益試算までご案内できます。</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7"/>
        </a:solidFill>
      </p:bgPr>
    </p:bg>
    <p:spTree>
      <p:nvGrpSpPr>
        <p:cNvPr id="1" name=""/>
        <p:cNvGrpSpPr/>
        <p:nvPr/>
      </p:nvGrpSpPr>
      <p:grpSpPr>
        <a:xfrm>
          <a:off x="0" y="0"/>
          <a:ext cx="0" cy="0"/>
          <a:chOff x="0" y="0"/>
          <a:chExt cx="0" cy="0"/>
        </a:xfrm>
      </p:grpSpPr>
      <p:sp>
        <p:nvSpPr>
          <p:cNvPr id="2" name="Shape 0"/>
          <p:cNvSpPr/>
          <p:nvPr/>
        </p:nvSpPr>
        <p:spPr>
          <a:xfrm>
            <a:off x="660197" y="545897"/>
            <a:ext cx="202997" cy="25603"/>
          </a:xfrm>
          <a:prstGeom prst="rect">
            <a:avLst/>
          </a:prstGeom>
          <a:solidFill>
            <a:srgbClr val="106838"/>
          </a:solidFill>
          <a:ln/>
        </p:spPr>
      </p:sp>
      <p:sp>
        <p:nvSpPr>
          <p:cNvPr id="3" name="Text 1"/>
          <p:cNvSpPr/>
          <p:nvPr/>
        </p:nvSpPr>
        <p:spPr>
          <a:xfrm>
            <a:off x="952805" y="444398"/>
            <a:ext cx="6400800" cy="177394"/>
          </a:xfrm>
          <a:prstGeom prst="rect">
            <a:avLst/>
          </a:prstGeom>
          <a:noFill/>
          <a:ln/>
        </p:spPr>
        <p:txBody>
          <a:bodyPr wrap="square" lIns="0" tIns="0" rIns="0" bIns="0" rtlCol="0" anchor="ctr"/>
          <a:lstStyle/>
          <a:p>
            <a:pPr indent="0" marL="0">
              <a:buNone/>
            </a:pPr>
            <a:r>
              <a:rPr lang="en-US" sz="1050" b="1" dirty="0">
                <a:solidFill>
                  <a:srgbClr val="A8761F"/>
                </a:solidFill>
                <a:latin typeface="Arial" pitchFamily="34" charset="0"/>
                <a:ea typeface="Arial" pitchFamily="34" charset="-122"/>
                <a:cs typeface="Arial" pitchFamily="34" charset="-120"/>
              </a:rPr>
              <a:t>23</a:t>
            </a:r>
            <a:r>
              <a:rPr lang="en-US" sz="1050" b="1" dirty="0">
                <a:solidFill>
                  <a:srgbClr val="1B8149"/>
                </a:solidFill>
                <a:latin typeface="Yu Gothic" pitchFamily="34" charset="0"/>
                <a:ea typeface="Yu Gothic" pitchFamily="34" charset="-122"/>
                <a:cs typeface="Yu Gothic" pitchFamily="34" charset="-120"/>
              </a:rPr>
              <a:t>   サポート</a:t>
            </a:r>
            <a:endParaRPr lang="en-US" sz="1050" dirty="0"/>
          </a:p>
        </p:txBody>
      </p:sp>
      <p:sp>
        <p:nvSpPr>
          <p:cNvPr id="4" name="Text 2"/>
          <p:cNvSpPr/>
          <p:nvPr/>
        </p:nvSpPr>
        <p:spPr>
          <a:xfrm>
            <a:off x="660197" y="660197"/>
            <a:ext cx="8889797" cy="508406"/>
          </a:xfrm>
          <a:prstGeom prst="rect">
            <a:avLst/>
          </a:prstGeom>
          <a:noFill/>
          <a:ln/>
        </p:spPr>
        <p:txBody>
          <a:bodyPr wrap="square" lIns="0" tIns="0" rIns="0" bIns="0" rtlCol="0" anchor="ctr"/>
          <a:lstStyle/>
          <a:p>
            <a:pPr indent="0" marL="0">
              <a:buNone/>
            </a:pPr>
            <a:r>
              <a:rPr lang="en-US" sz="2900" b="1" dirty="0">
                <a:solidFill>
                  <a:srgbClr val="0A3D23"/>
                </a:solidFill>
                <a:latin typeface="Yu Gothic" pitchFamily="34" charset="0"/>
                <a:ea typeface="Yu Gothic" pitchFamily="34" charset="-122"/>
                <a:cs typeface="Yu Gothic" pitchFamily="34" charset="-120"/>
              </a:rPr>
              <a:t>万全のサポート体制</a:t>
            </a:r>
            <a:endParaRPr lang="en-US" sz="2900" dirty="0"/>
          </a:p>
        </p:txBody>
      </p:sp>
      <p:sp>
        <p:nvSpPr>
          <p:cNvPr id="5" name="Text 3"/>
          <p:cNvSpPr/>
          <p:nvPr/>
        </p:nvSpPr>
        <p:spPr>
          <a:xfrm>
            <a:off x="660197" y="1308506"/>
            <a:ext cx="10032797" cy="228600"/>
          </a:xfrm>
          <a:prstGeom prst="rect">
            <a:avLst/>
          </a:prstGeom>
          <a:noFill/>
          <a:ln/>
        </p:spPr>
        <p:txBody>
          <a:bodyPr wrap="square" lIns="0" tIns="0" rIns="0" bIns="0" rtlCol="0" anchor="ctr"/>
          <a:lstStyle/>
          <a:p>
            <a:pPr indent="0" marL="0">
              <a:buNone/>
            </a:pPr>
            <a:r>
              <a:rPr lang="en-US" sz="1250" dirty="0">
                <a:solidFill>
                  <a:srgbClr val="4B5550"/>
                </a:solidFill>
                <a:latin typeface="Yu Gothic" pitchFamily="34" charset="0"/>
                <a:ea typeface="Yu Gothic" pitchFamily="34" charset="-122"/>
                <a:cs typeface="Yu Gothic" pitchFamily="34" charset="-120"/>
              </a:rPr>
              <a:t>新たに人を採用・配置する必要はありません。開業前から開業後まで本部が運営を担います。</a:t>
            </a:r>
            <a:endParaRPr lang="en-US" sz="1250" dirty="0"/>
          </a:p>
        </p:txBody>
      </p:sp>
      <p:pic>
        <p:nvPicPr>
          <p:cNvPr id="6" name="Image 0" descr="/home/user/suzuki-ceo/selfcafe-gyomu-deck/assets/logo-green.png">    </p:cNvPr>
          <p:cNvPicPr>
            <a:picLocks noChangeAspect="1"/>
          </p:cNvPicPr>
          <p:nvPr/>
        </p:nvPicPr>
        <p:blipFill>
          <a:blip r:embed="rId1"/>
          <a:stretch>
            <a:fillRect/>
          </a:stretch>
        </p:blipFill>
        <p:spPr>
          <a:xfrm>
            <a:off x="9855403" y="482803"/>
            <a:ext cx="1676095" cy="238658"/>
          </a:xfrm>
          <a:prstGeom prst="rect">
            <a:avLst/>
          </a:prstGeom>
        </p:spPr>
      </p:pic>
      <p:sp>
        <p:nvSpPr>
          <p:cNvPr id="7" name="Text 4"/>
          <p:cNvSpPr/>
          <p:nvPr/>
        </p:nvSpPr>
        <p:spPr>
          <a:xfrm>
            <a:off x="660197" y="6476695"/>
            <a:ext cx="5080406" cy="152705"/>
          </a:xfrm>
          <a:prstGeom prst="rect">
            <a:avLst/>
          </a:prstGeom>
          <a:noFill/>
          <a:ln/>
        </p:spPr>
        <p:txBody>
          <a:bodyPr wrap="square" lIns="0" tIns="0" rIns="0" bIns="0" rtlCol="0" anchor="ctr"/>
          <a:lstStyle/>
          <a:p>
            <a:pPr indent="0" marL="0">
              <a:buNone/>
            </a:pPr>
            <a:r>
              <a:rPr lang="en-US" sz="900" dirty="0">
                <a:solidFill>
                  <a:srgbClr val="A8B0AA"/>
                </a:solidFill>
                <a:latin typeface="Yu Gothic" pitchFamily="34" charset="0"/>
                <a:ea typeface="Yu Gothic" pitchFamily="34" charset="-122"/>
                <a:cs typeface="Yu Gothic" pitchFamily="34" charset="-120"/>
              </a:rPr>
              <a:t>セルフカフェ 業務委託型制度</a:t>
            </a:r>
            <a:endParaRPr lang="en-US" sz="900" dirty="0"/>
          </a:p>
        </p:txBody>
      </p:sp>
      <p:sp>
        <p:nvSpPr>
          <p:cNvPr id="8" name="Text 5"/>
          <p:cNvSpPr/>
          <p:nvPr/>
        </p:nvSpPr>
        <p:spPr>
          <a:xfrm>
            <a:off x="10261397" y="6463894"/>
            <a:ext cx="1270102" cy="152705"/>
          </a:xfrm>
          <a:prstGeom prst="rect">
            <a:avLst/>
          </a:prstGeom>
          <a:noFill/>
          <a:ln/>
        </p:spPr>
        <p:txBody>
          <a:bodyPr wrap="square" lIns="0" tIns="0" rIns="0" bIns="0" rtlCol="0" anchor="ctr"/>
          <a:lstStyle/>
          <a:p>
            <a:pPr algn="r" indent="0" marL="0">
              <a:buNone/>
            </a:pPr>
            <a:r>
              <a:rPr lang="en-US" sz="1000" b="1" dirty="0">
                <a:solidFill>
                  <a:srgbClr val="7E8882"/>
                </a:solidFill>
                <a:latin typeface="Arial" pitchFamily="34" charset="0"/>
                <a:ea typeface="Arial" pitchFamily="34" charset="-122"/>
                <a:cs typeface="Arial" pitchFamily="34" charset="-120"/>
              </a:rPr>
              <a:t>24</a:t>
            </a:r>
            <a:endParaRPr lang="en-US" sz="1000" dirty="0"/>
          </a:p>
        </p:txBody>
      </p:sp>
      <p:sp>
        <p:nvSpPr>
          <p:cNvPr id="9" name="Shape 6"/>
          <p:cNvSpPr/>
          <p:nvPr/>
        </p:nvSpPr>
        <p:spPr>
          <a:xfrm>
            <a:off x="660197" y="1651406"/>
            <a:ext cx="5243627" cy="3200400"/>
          </a:xfrm>
          <a:prstGeom prst="roundRect">
            <a:avLst>
              <a:gd name="adj" fmla="val 1714"/>
            </a:avLst>
          </a:prstGeom>
          <a:solidFill>
            <a:srgbClr val="FFFFFF"/>
          </a:solidFill>
          <a:ln w="9525">
            <a:solidFill>
              <a:srgbClr val="EFEAE0"/>
            </a:solidFill>
            <a:prstDash val="solid"/>
          </a:ln>
        </p:spPr>
      </p:sp>
      <p:pic>
        <p:nvPicPr>
          <p:cNvPr id="10" name="Image 1" descr="/home/user/suzuki-ceo/selfcafe-gyomu-deck/assets/icons/LuFileCheck-green.png">    </p:cNvPr>
          <p:cNvPicPr>
            <a:picLocks noChangeAspect="1"/>
          </p:cNvPicPr>
          <p:nvPr/>
        </p:nvPicPr>
        <p:blipFill>
          <a:blip r:embed="rId2"/>
          <a:stretch>
            <a:fillRect/>
          </a:stretch>
        </p:blipFill>
        <p:spPr>
          <a:xfrm>
            <a:off x="934517" y="1925726"/>
            <a:ext cx="384048" cy="384048"/>
          </a:xfrm>
          <a:prstGeom prst="rect">
            <a:avLst/>
          </a:prstGeom>
        </p:spPr>
      </p:pic>
      <p:sp>
        <p:nvSpPr>
          <p:cNvPr id="11" name="Text 7"/>
          <p:cNvSpPr/>
          <p:nvPr/>
        </p:nvSpPr>
        <p:spPr>
          <a:xfrm>
            <a:off x="1483157" y="1925726"/>
            <a:ext cx="2743200" cy="164592"/>
          </a:xfrm>
          <a:prstGeom prst="rect">
            <a:avLst/>
          </a:prstGeom>
          <a:noFill/>
          <a:ln/>
        </p:spPr>
        <p:txBody>
          <a:bodyPr wrap="square" lIns="0" tIns="0" rIns="0" bIns="0" rtlCol="0" anchor="ctr"/>
          <a:lstStyle/>
          <a:p>
            <a:pPr indent="0" marL="0">
              <a:buNone/>
            </a:pPr>
            <a:r>
              <a:rPr lang="en-US" sz="900" b="1" spc="150" kern="0" dirty="0">
                <a:solidFill>
                  <a:srgbClr val="A8761F"/>
                </a:solidFill>
                <a:latin typeface="Arial" pitchFamily="34" charset="0"/>
                <a:ea typeface="Arial" pitchFamily="34" charset="-122"/>
                <a:cs typeface="Arial" pitchFamily="34" charset="-120"/>
              </a:rPr>
              <a:t>BEFORE OPENING</a:t>
            </a:r>
            <a:endParaRPr lang="en-US" sz="900" dirty="0"/>
          </a:p>
        </p:txBody>
      </p:sp>
      <p:sp>
        <p:nvSpPr>
          <p:cNvPr id="12" name="Text 8"/>
          <p:cNvSpPr/>
          <p:nvPr/>
        </p:nvSpPr>
        <p:spPr>
          <a:xfrm>
            <a:off x="1483157" y="2108606"/>
            <a:ext cx="4146347" cy="329184"/>
          </a:xfrm>
          <a:prstGeom prst="rect">
            <a:avLst/>
          </a:prstGeom>
          <a:noFill/>
          <a:ln/>
        </p:spPr>
        <p:txBody>
          <a:bodyPr wrap="square" lIns="0" tIns="0" rIns="0" bIns="0" rtlCol="0" anchor="ctr"/>
          <a:lstStyle/>
          <a:p>
            <a:pPr indent="0" marL="0">
              <a:buNone/>
            </a:pPr>
            <a:r>
              <a:rPr lang="en-US" sz="1800" b="1" dirty="0">
                <a:solidFill>
                  <a:srgbClr val="0A3D23"/>
                </a:solidFill>
                <a:latin typeface="Yu Gothic" pitchFamily="34" charset="0"/>
                <a:ea typeface="Yu Gothic" pitchFamily="34" charset="-122"/>
                <a:cs typeface="Yu Gothic" pitchFamily="34" charset="-120"/>
              </a:rPr>
              <a:t>開業前サポート</a:t>
            </a:r>
            <a:endParaRPr lang="en-US" sz="1800" dirty="0"/>
          </a:p>
        </p:txBody>
      </p:sp>
      <p:sp>
        <p:nvSpPr>
          <p:cNvPr id="13" name="Shape 9"/>
          <p:cNvSpPr/>
          <p:nvPr/>
        </p:nvSpPr>
        <p:spPr>
          <a:xfrm>
            <a:off x="934517" y="2565806"/>
            <a:ext cx="4694987" cy="10058"/>
          </a:xfrm>
          <a:prstGeom prst="rect">
            <a:avLst/>
          </a:prstGeom>
          <a:solidFill>
            <a:srgbClr val="EFEAE0"/>
          </a:solidFill>
          <a:ln/>
        </p:spPr>
      </p:sp>
      <p:pic>
        <p:nvPicPr>
          <p:cNvPr id="14" name="Image 2" descr="/home/user/suzuki-ceo/selfcafe-gyomu-deck/assets/icons/LuCheck-green.png">    </p:cNvPr>
          <p:cNvPicPr>
            <a:picLocks noChangeAspect="1"/>
          </p:cNvPicPr>
          <p:nvPr/>
        </p:nvPicPr>
        <p:blipFill>
          <a:blip r:embed="rId3"/>
          <a:stretch>
            <a:fillRect/>
          </a:stretch>
        </p:blipFill>
        <p:spPr>
          <a:xfrm>
            <a:off x="952805" y="2766974"/>
            <a:ext cx="182880" cy="182880"/>
          </a:xfrm>
          <a:prstGeom prst="rect">
            <a:avLst/>
          </a:prstGeom>
        </p:spPr>
      </p:pic>
      <p:sp>
        <p:nvSpPr>
          <p:cNvPr id="15" name="Text 10"/>
          <p:cNvSpPr/>
          <p:nvPr/>
        </p:nvSpPr>
        <p:spPr>
          <a:xfrm>
            <a:off x="1263701" y="2712110"/>
            <a:ext cx="4365803" cy="292608"/>
          </a:xfrm>
          <a:prstGeom prst="rect">
            <a:avLst/>
          </a:prstGeom>
          <a:noFill/>
          <a:ln/>
        </p:spPr>
        <p:txBody>
          <a:bodyPr wrap="square" lIns="0" tIns="0" rIns="0" bIns="0" rtlCol="0" anchor="ctr"/>
          <a:lstStyle/>
          <a:p>
            <a:pPr indent="0" marL="0">
              <a:buNone/>
            </a:pPr>
            <a:r>
              <a:rPr lang="en-US" sz="1150" dirty="0">
                <a:solidFill>
                  <a:srgbClr val="0A3D23"/>
                </a:solidFill>
                <a:latin typeface="Yu Gothic" pitchFamily="34" charset="0"/>
                <a:ea typeface="Yu Gothic" pitchFamily="34" charset="-122"/>
                <a:cs typeface="Yu Gothic" pitchFamily="34" charset="-120"/>
              </a:rPr>
              <a:t>パートナー制度のご説明</a:t>
            </a:r>
            <a:endParaRPr lang="en-US" sz="1150" dirty="0"/>
          </a:p>
        </p:txBody>
      </p:sp>
      <p:pic>
        <p:nvPicPr>
          <p:cNvPr id="16" name="Image 3" descr="/home/user/suzuki-ceo/selfcafe-gyomu-deck/assets/icons/LuCheck-green.png">    </p:cNvPr>
          <p:cNvPicPr>
            <a:picLocks noChangeAspect="1"/>
          </p:cNvPicPr>
          <p:nvPr/>
        </p:nvPicPr>
        <p:blipFill>
          <a:blip r:embed="rId4"/>
          <a:stretch>
            <a:fillRect/>
          </a:stretch>
        </p:blipFill>
        <p:spPr>
          <a:xfrm>
            <a:off x="952805" y="3169310"/>
            <a:ext cx="182880" cy="182880"/>
          </a:xfrm>
          <a:prstGeom prst="rect">
            <a:avLst/>
          </a:prstGeom>
        </p:spPr>
      </p:pic>
      <p:sp>
        <p:nvSpPr>
          <p:cNvPr id="17" name="Text 11"/>
          <p:cNvSpPr/>
          <p:nvPr/>
        </p:nvSpPr>
        <p:spPr>
          <a:xfrm>
            <a:off x="1263701" y="3114446"/>
            <a:ext cx="4365803" cy="292608"/>
          </a:xfrm>
          <a:prstGeom prst="rect">
            <a:avLst/>
          </a:prstGeom>
          <a:noFill/>
          <a:ln/>
        </p:spPr>
        <p:txBody>
          <a:bodyPr wrap="square" lIns="0" tIns="0" rIns="0" bIns="0" rtlCol="0" anchor="ctr"/>
          <a:lstStyle/>
          <a:p>
            <a:pPr indent="0" marL="0">
              <a:buNone/>
            </a:pPr>
            <a:r>
              <a:rPr lang="en-US" sz="1150" dirty="0">
                <a:solidFill>
                  <a:srgbClr val="0A3D23"/>
                </a:solidFill>
                <a:latin typeface="Yu Gothic" pitchFamily="34" charset="0"/>
                <a:ea typeface="Yu Gothic" pitchFamily="34" charset="-122"/>
                <a:cs typeface="Yu Gothic" pitchFamily="34" charset="-120"/>
              </a:rPr>
              <a:t>収益試算表の作成</a:t>
            </a:r>
            <a:endParaRPr lang="en-US" sz="1150" dirty="0"/>
          </a:p>
        </p:txBody>
      </p:sp>
      <p:pic>
        <p:nvPicPr>
          <p:cNvPr id="18" name="Image 4" descr="/home/user/suzuki-ceo/selfcafe-gyomu-deck/assets/icons/LuCheck-green.png">    </p:cNvPr>
          <p:cNvPicPr>
            <a:picLocks noChangeAspect="1"/>
          </p:cNvPicPr>
          <p:nvPr/>
        </p:nvPicPr>
        <p:blipFill>
          <a:blip r:embed="rId5"/>
          <a:stretch>
            <a:fillRect/>
          </a:stretch>
        </p:blipFill>
        <p:spPr>
          <a:xfrm>
            <a:off x="952805" y="3571646"/>
            <a:ext cx="182880" cy="182880"/>
          </a:xfrm>
          <a:prstGeom prst="rect">
            <a:avLst/>
          </a:prstGeom>
        </p:spPr>
      </p:pic>
      <p:sp>
        <p:nvSpPr>
          <p:cNvPr id="19" name="Text 12"/>
          <p:cNvSpPr/>
          <p:nvPr/>
        </p:nvSpPr>
        <p:spPr>
          <a:xfrm>
            <a:off x="1263701" y="3516782"/>
            <a:ext cx="4365803" cy="292608"/>
          </a:xfrm>
          <a:prstGeom prst="rect">
            <a:avLst/>
          </a:prstGeom>
          <a:noFill/>
          <a:ln/>
        </p:spPr>
        <p:txBody>
          <a:bodyPr wrap="square" lIns="0" tIns="0" rIns="0" bIns="0" rtlCol="0" anchor="ctr"/>
          <a:lstStyle/>
          <a:p>
            <a:pPr indent="0" marL="0">
              <a:buNone/>
            </a:pPr>
            <a:r>
              <a:rPr lang="en-US" sz="1150" dirty="0">
                <a:solidFill>
                  <a:srgbClr val="0A3D23"/>
                </a:solidFill>
                <a:latin typeface="Yu Gothic" pitchFamily="34" charset="0"/>
                <a:ea typeface="Yu Gothic" pitchFamily="34" charset="-122"/>
                <a:cs typeface="Yu Gothic" pitchFamily="34" charset="-120"/>
              </a:rPr>
              <a:t>現地調査・工事業者手配</a:t>
            </a:r>
            <a:endParaRPr lang="en-US" sz="1150" dirty="0"/>
          </a:p>
        </p:txBody>
      </p:sp>
      <p:pic>
        <p:nvPicPr>
          <p:cNvPr id="20" name="Image 5" descr="/home/user/suzuki-ceo/selfcafe-gyomu-deck/assets/icons/LuCheck-green.png">    </p:cNvPr>
          <p:cNvPicPr>
            <a:picLocks noChangeAspect="1"/>
          </p:cNvPicPr>
          <p:nvPr/>
        </p:nvPicPr>
        <p:blipFill>
          <a:blip r:embed="rId6"/>
          <a:stretch>
            <a:fillRect/>
          </a:stretch>
        </p:blipFill>
        <p:spPr>
          <a:xfrm>
            <a:off x="952805" y="3973982"/>
            <a:ext cx="182880" cy="182880"/>
          </a:xfrm>
          <a:prstGeom prst="rect">
            <a:avLst/>
          </a:prstGeom>
        </p:spPr>
      </p:pic>
      <p:sp>
        <p:nvSpPr>
          <p:cNvPr id="21" name="Text 13"/>
          <p:cNvSpPr/>
          <p:nvPr/>
        </p:nvSpPr>
        <p:spPr>
          <a:xfrm>
            <a:off x="1263701" y="3919118"/>
            <a:ext cx="4365803" cy="292608"/>
          </a:xfrm>
          <a:prstGeom prst="rect">
            <a:avLst/>
          </a:prstGeom>
          <a:noFill/>
          <a:ln/>
        </p:spPr>
        <p:txBody>
          <a:bodyPr wrap="square" lIns="0" tIns="0" rIns="0" bIns="0" rtlCol="0" anchor="ctr"/>
          <a:lstStyle/>
          <a:p>
            <a:pPr indent="0" marL="0">
              <a:buNone/>
            </a:pPr>
            <a:r>
              <a:rPr lang="en-US" sz="1150" dirty="0">
                <a:solidFill>
                  <a:srgbClr val="0A3D23"/>
                </a:solidFill>
                <a:latin typeface="Yu Gothic" pitchFamily="34" charset="0"/>
                <a:ea typeface="Yu Gothic" pitchFamily="34" charset="-122"/>
                <a:cs typeface="Yu Gothic" pitchFamily="34" charset="-120"/>
              </a:rPr>
              <a:t>店舗デザイン・設計</a:t>
            </a:r>
            <a:endParaRPr lang="en-US" sz="1150" dirty="0"/>
          </a:p>
        </p:txBody>
      </p:sp>
      <p:pic>
        <p:nvPicPr>
          <p:cNvPr id="22" name="Image 6" descr="/home/user/suzuki-ceo/selfcafe-gyomu-deck/assets/icons/LuCheck-green.png">    </p:cNvPr>
          <p:cNvPicPr>
            <a:picLocks noChangeAspect="1"/>
          </p:cNvPicPr>
          <p:nvPr/>
        </p:nvPicPr>
        <p:blipFill>
          <a:blip r:embed="rId7"/>
          <a:stretch>
            <a:fillRect/>
          </a:stretch>
        </p:blipFill>
        <p:spPr>
          <a:xfrm>
            <a:off x="952805" y="4376318"/>
            <a:ext cx="182880" cy="182880"/>
          </a:xfrm>
          <a:prstGeom prst="rect">
            <a:avLst/>
          </a:prstGeom>
        </p:spPr>
      </p:pic>
      <p:sp>
        <p:nvSpPr>
          <p:cNvPr id="23" name="Text 14"/>
          <p:cNvSpPr/>
          <p:nvPr/>
        </p:nvSpPr>
        <p:spPr>
          <a:xfrm>
            <a:off x="1263701" y="4321454"/>
            <a:ext cx="4365803" cy="292608"/>
          </a:xfrm>
          <a:prstGeom prst="rect">
            <a:avLst/>
          </a:prstGeom>
          <a:noFill/>
          <a:ln/>
        </p:spPr>
        <p:txBody>
          <a:bodyPr wrap="square" lIns="0" tIns="0" rIns="0" bIns="0" rtlCol="0" anchor="ctr"/>
          <a:lstStyle/>
          <a:p>
            <a:pPr indent="0" marL="0">
              <a:buNone/>
            </a:pPr>
            <a:r>
              <a:rPr lang="en-US" sz="1150" dirty="0">
                <a:solidFill>
                  <a:srgbClr val="0A3D23"/>
                </a:solidFill>
                <a:latin typeface="Yu Gothic" pitchFamily="34" charset="0"/>
                <a:ea typeface="Yu Gothic" pitchFamily="34" charset="-122"/>
                <a:cs typeface="Yu Gothic" pitchFamily="34" charset="-120"/>
              </a:rPr>
              <a:t>運営研修</a:t>
            </a:r>
            <a:endParaRPr lang="en-US" sz="1150" dirty="0"/>
          </a:p>
        </p:txBody>
      </p:sp>
      <p:sp>
        <p:nvSpPr>
          <p:cNvPr id="24" name="Shape 15"/>
          <p:cNvSpPr/>
          <p:nvPr/>
        </p:nvSpPr>
        <p:spPr>
          <a:xfrm>
            <a:off x="6287872" y="1651406"/>
            <a:ext cx="5243627" cy="3200400"/>
          </a:xfrm>
          <a:prstGeom prst="roundRect">
            <a:avLst>
              <a:gd name="adj" fmla="val 1714"/>
            </a:avLst>
          </a:prstGeom>
          <a:solidFill>
            <a:srgbClr val="FFFFFF"/>
          </a:solidFill>
          <a:ln w="9525">
            <a:solidFill>
              <a:srgbClr val="EFEAE0"/>
            </a:solidFill>
            <a:prstDash val="solid"/>
          </a:ln>
        </p:spPr>
      </p:sp>
      <p:pic>
        <p:nvPicPr>
          <p:cNvPr id="25" name="Image 7" descr="/home/user/suzuki-ceo/selfcafe-gyomu-deck/assets/icons/LuLifeBuoy-green.png">    </p:cNvPr>
          <p:cNvPicPr>
            <a:picLocks noChangeAspect="1"/>
          </p:cNvPicPr>
          <p:nvPr/>
        </p:nvPicPr>
        <p:blipFill>
          <a:blip r:embed="rId8"/>
          <a:stretch>
            <a:fillRect/>
          </a:stretch>
        </p:blipFill>
        <p:spPr>
          <a:xfrm>
            <a:off x="6562192" y="1925726"/>
            <a:ext cx="384048" cy="384048"/>
          </a:xfrm>
          <a:prstGeom prst="rect">
            <a:avLst/>
          </a:prstGeom>
        </p:spPr>
      </p:pic>
      <p:sp>
        <p:nvSpPr>
          <p:cNvPr id="26" name="Text 16"/>
          <p:cNvSpPr/>
          <p:nvPr/>
        </p:nvSpPr>
        <p:spPr>
          <a:xfrm>
            <a:off x="7110832" y="1925726"/>
            <a:ext cx="2743200" cy="164592"/>
          </a:xfrm>
          <a:prstGeom prst="rect">
            <a:avLst/>
          </a:prstGeom>
          <a:noFill/>
          <a:ln/>
        </p:spPr>
        <p:txBody>
          <a:bodyPr wrap="square" lIns="0" tIns="0" rIns="0" bIns="0" rtlCol="0" anchor="ctr"/>
          <a:lstStyle/>
          <a:p>
            <a:pPr indent="0" marL="0">
              <a:buNone/>
            </a:pPr>
            <a:r>
              <a:rPr lang="en-US" sz="900" b="1" spc="150" kern="0" dirty="0">
                <a:solidFill>
                  <a:srgbClr val="A8761F"/>
                </a:solidFill>
                <a:latin typeface="Arial" pitchFamily="34" charset="0"/>
                <a:ea typeface="Arial" pitchFamily="34" charset="-122"/>
                <a:cs typeface="Arial" pitchFamily="34" charset="-120"/>
              </a:rPr>
              <a:t>AFTER OPENING</a:t>
            </a:r>
            <a:endParaRPr lang="en-US" sz="900" dirty="0"/>
          </a:p>
        </p:txBody>
      </p:sp>
      <p:sp>
        <p:nvSpPr>
          <p:cNvPr id="27" name="Text 17"/>
          <p:cNvSpPr/>
          <p:nvPr/>
        </p:nvSpPr>
        <p:spPr>
          <a:xfrm>
            <a:off x="7110832" y="2108606"/>
            <a:ext cx="4146347" cy="329184"/>
          </a:xfrm>
          <a:prstGeom prst="rect">
            <a:avLst/>
          </a:prstGeom>
          <a:noFill/>
          <a:ln/>
        </p:spPr>
        <p:txBody>
          <a:bodyPr wrap="square" lIns="0" tIns="0" rIns="0" bIns="0" rtlCol="0" anchor="ctr"/>
          <a:lstStyle/>
          <a:p>
            <a:pPr indent="0" marL="0">
              <a:buNone/>
            </a:pPr>
            <a:r>
              <a:rPr lang="en-US" sz="1800" b="1" dirty="0">
                <a:solidFill>
                  <a:srgbClr val="0A3D23"/>
                </a:solidFill>
                <a:latin typeface="Yu Gothic" pitchFamily="34" charset="0"/>
                <a:ea typeface="Yu Gothic" pitchFamily="34" charset="-122"/>
                <a:cs typeface="Yu Gothic" pitchFamily="34" charset="-120"/>
              </a:rPr>
              <a:t>開業後サポート</a:t>
            </a:r>
            <a:endParaRPr lang="en-US" sz="1800" dirty="0"/>
          </a:p>
        </p:txBody>
      </p:sp>
      <p:sp>
        <p:nvSpPr>
          <p:cNvPr id="28" name="Shape 18"/>
          <p:cNvSpPr/>
          <p:nvPr/>
        </p:nvSpPr>
        <p:spPr>
          <a:xfrm>
            <a:off x="6562192" y="2565806"/>
            <a:ext cx="4694987" cy="10058"/>
          </a:xfrm>
          <a:prstGeom prst="rect">
            <a:avLst/>
          </a:prstGeom>
          <a:solidFill>
            <a:srgbClr val="EFEAE0"/>
          </a:solidFill>
          <a:ln/>
        </p:spPr>
      </p:sp>
      <p:pic>
        <p:nvPicPr>
          <p:cNvPr id="29" name="Image 8" descr="/home/user/suzuki-ceo/selfcafe-gyomu-deck/assets/icons/LuCheck-green.png">    </p:cNvPr>
          <p:cNvPicPr>
            <a:picLocks noChangeAspect="1"/>
          </p:cNvPicPr>
          <p:nvPr/>
        </p:nvPicPr>
        <p:blipFill>
          <a:blip r:embed="rId9"/>
          <a:stretch>
            <a:fillRect/>
          </a:stretch>
        </p:blipFill>
        <p:spPr>
          <a:xfrm>
            <a:off x="6580480" y="2766974"/>
            <a:ext cx="182880" cy="182880"/>
          </a:xfrm>
          <a:prstGeom prst="rect">
            <a:avLst/>
          </a:prstGeom>
        </p:spPr>
      </p:pic>
      <p:sp>
        <p:nvSpPr>
          <p:cNvPr id="30" name="Text 19"/>
          <p:cNvSpPr/>
          <p:nvPr/>
        </p:nvSpPr>
        <p:spPr>
          <a:xfrm>
            <a:off x="6891376" y="2712110"/>
            <a:ext cx="4365803" cy="292608"/>
          </a:xfrm>
          <a:prstGeom prst="rect">
            <a:avLst/>
          </a:prstGeom>
          <a:noFill/>
          <a:ln/>
        </p:spPr>
        <p:txBody>
          <a:bodyPr wrap="square" lIns="0" tIns="0" rIns="0" bIns="0" rtlCol="0" anchor="ctr"/>
          <a:lstStyle/>
          <a:p>
            <a:pPr indent="0" marL="0">
              <a:buNone/>
            </a:pPr>
            <a:r>
              <a:rPr lang="en-US" sz="1150" dirty="0">
                <a:solidFill>
                  <a:srgbClr val="0A3D23"/>
                </a:solidFill>
                <a:latin typeface="Yu Gothic" pitchFamily="34" charset="0"/>
                <a:ea typeface="Yu Gothic" pitchFamily="34" charset="-122"/>
                <a:cs typeface="Yu Gothic" pitchFamily="34" charset="-120"/>
              </a:rPr>
              <a:t>店舗運営相談</a:t>
            </a:r>
            <a:endParaRPr lang="en-US" sz="1150" dirty="0"/>
          </a:p>
        </p:txBody>
      </p:sp>
      <p:pic>
        <p:nvPicPr>
          <p:cNvPr id="31" name="Image 9" descr="/home/user/suzuki-ceo/selfcafe-gyomu-deck/assets/icons/LuCheck-green.png">    </p:cNvPr>
          <p:cNvPicPr>
            <a:picLocks noChangeAspect="1"/>
          </p:cNvPicPr>
          <p:nvPr/>
        </p:nvPicPr>
        <p:blipFill>
          <a:blip r:embed="rId10"/>
          <a:stretch>
            <a:fillRect/>
          </a:stretch>
        </p:blipFill>
        <p:spPr>
          <a:xfrm>
            <a:off x="6580480" y="3169310"/>
            <a:ext cx="182880" cy="182880"/>
          </a:xfrm>
          <a:prstGeom prst="rect">
            <a:avLst/>
          </a:prstGeom>
        </p:spPr>
      </p:pic>
      <p:sp>
        <p:nvSpPr>
          <p:cNvPr id="32" name="Text 20"/>
          <p:cNvSpPr/>
          <p:nvPr/>
        </p:nvSpPr>
        <p:spPr>
          <a:xfrm>
            <a:off x="6891376" y="3114446"/>
            <a:ext cx="4365803" cy="292608"/>
          </a:xfrm>
          <a:prstGeom prst="rect">
            <a:avLst/>
          </a:prstGeom>
          <a:noFill/>
          <a:ln/>
        </p:spPr>
        <p:txBody>
          <a:bodyPr wrap="square" lIns="0" tIns="0" rIns="0" bIns="0" rtlCol="0" anchor="ctr"/>
          <a:lstStyle/>
          <a:p>
            <a:pPr indent="0" marL="0">
              <a:buNone/>
            </a:pPr>
            <a:r>
              <a:rPr lang="en-US" sz="1150" dirty="0">
                <a:solidFill>
                  <a:srgbClr val="0A3D23"/>
                </a:solidFill>
                <a:latin typeface="Yu Gothic" pitchFamily="34" charset="0"/>
                <a:ea typeface="Yu Gothic" pitchFamily="34" charset="-122"/>
                <a:cs typeface="Yu Gothic" pitchFamily="34" charset="-120"/>
              </a:rPr>
              <a:t>マシンの定期メンテナンス</a:t>
            </a:r>
            <a:endParaRPr lang="en-US" sz="1150" dirty="0"/>
          </a:p>
        </p:txBody>
      </p:sp>
      <p:pic>
        <p:nvPicPr>
          <p:cNvPr id="33" name="Image 10" descr="/home/user/suzuki-ceo/selfcafe-gyomu-deck/assets/icons/LuCheck-green.png">    </p:cNvPr>
          <p:cNvPicPr>
            <a:picLocks noChangeAspect="1"/>
          </p:cNvPicPr>
          <p:nvPr/>
        </p:nvPicPr>
        <p:blipFill>
          <a:blip r:embed="rId11"/>
          <a:stretch>
            <a:fillRect/>
          </a:stretch>
        </p:blipFill>
        <p:spPr>
          <a:xfrm>
            <a:off x="6580480" y="3571646"/>
            <a:ext cx="182880" cy="182880"/>
          </a:xfrm>
          <a:prstGeom prst="rect">
            <a:avLst/>
          </a:prstGeom>
        </p:spPr>
      </p:pic>
      <p:sp>
        <p:nvSpPr>
          <p:cNvPr id="34" name="Text 21"/>
          <p:cNvSpPr/>
          <p:nvPr/>
        </p:nvSpPr>
        <p:spPr>
          <a:xfrm>
            <a:off x="6891376" y="3516782"/>
            <a:ext cx="4365803" cy="292608"/>
          </a:xfrm>
          <a:prstGeom prst="rect">
            <a:avLst/>
          </a:prstGeom>
          <a:noFill/>
          <a:ln/>
        </p:spPr>
        <p:txBody>
          <a:bodyPr wrap="square" lIns="0" tIns="0" rIns="0" bIns="0" rtlCol="0" anchor="ctr"/>
          <a:lstStyle/>
          <a:p>
            <a:pPr indent="0" marL="0">
              <a:buNone/>
            </a:pPr>
            <a:r>
              <a:rPr lang="en-US" sz="1150" dirty="0">
                <a:solidFill>
                  <a:srgbClr val="0A3D23"/>
                </a:solidFill>
                <a:latin typeface="Yu Gothic" pitchFamily="34" charset="0"/>
                <a:ea typeface="Yu Gothic" pitchFamily="34" charset="-122"/>
                <a:cs typeface="Yu Gothic" pitchFamily="34" charset="-120"/>
              </a:rPr>
              <a:t>WEBサイト作成・更新</a:t>
            </a:r>
            <a:endParaRPr lang="en-US" sz="1150" dirty="0"/>
          </a:p>
        </p:txBody>
      </p:sp>
      <p:pic>
        <p:nvPicPr>
          <p:cNvPr id="35" name="Image 11" descr="/home/user/suzuki-ceo/selfcafe-gyomu-deck/assets/icons/LuCheck-green.png">    </p:cNvPr>
          <p:cNvPicPr>
            <a:picLocks noChangeAspect="1"/>
          </p:cNvPicPr>
          <p:nvPr/>
        </p:nvPicPr>
        <p:blipFill>
          <a:blip r:embed="rId12"/>
          <a:stretch>
            <a:fillRect/>
          </a:stretch>
        </p:blipFill>
        <p:spPr>
          <a:xfrm>
            <a:off x="6580480" y="3973982"/>
            <a:ext cx="182880" cy="182880"/>
          </a:xfrm>
          <a:prstGeom prst="rect">
            <a:avLst/>
          </a:prstGeom>
        </p:spPr>
      </p:pic>
      <p:sp>
        <p:nvSpPr>
          <p:cNvPr id="36" name="Text 22"/>
          <p:cNvSpPr/>
          <p:nvPr/>
        </p:nvSpPr>
        <p:spPr>
          <a:xfrm>
            <a:off x="6891376" y="3919118"/>
            <a:ext cx="4365803" cy="292608"/>
          </a:xfrm>
          <a:prstGeom prst="rect">
            <a:avLst/>
          </a:prstGeom>
          <a:noFill/>
          <a:ln/>
        </p:spPr>
        <p:txBody>
          <a:bodyPr wrap="square" lIns="0" tIns="0" rIns="0" bIns="0" rtlCol="0" anchor="ctr"/>
          <a:lstStyle/>
          <a:p>
            <a:pPr indent="0" marL="0">
              <a:buNone/>
            </a:pPr>
            <a:r>
              <a:rPr lang="en-US" sz="1150" dirty="0">
                <a:solidFill>
                  <a:srgbClr val="0A3D23"/>
                </a:solidFill>
                <a:latin typeface="Yu Gothic" pitchFamily="34" charset="0"/>
                <a:ea typeface="Yu Gothic" pitchFamily="34" charset="-122"/>
                <a:cs typeface="Yu Gothic" pitchFamily="34" charset="-120"/>
              </a:rPr>
              <a:t>SEO・MEO・AIO（LLMO）対策</a:t>
            </a:r>
            <a:endParaRPr lang="en-US" sz="1150" dirty="0"/>
          </a:p>
        </p:txBody>
      </p:sp>
      <p:pic>
        <p:nvPicPr>
          <p:cNvPr id="37" name="Image 12" descr="/home/user/suzuki-ceo/selfcafe-gyomu-deck/assets/icons/LuCheck-green.png">    </p:cNvPr>
          <p:cNvPicPr>
            <a:picLocks noChangeAspect="1"/>
          </p:cNvPicPr>
          <p:nvPr/>
        </p:nvPicPr>
        <p:blipFill>
          <a:blip r:embed="rId13"/>
          <a:stretch>
            <a:fillRect/>
          </a:stretch>
        </p:blipFill>
        <p:spPr>
          <a:xfrm>
            <a:off x="6580480" y="4376318"/>
            <a:ext cx="182880" cy="182880"/>
          </a:xfrm>
          <a:prstGeom prst="rect">
            <a:avLst/>
          </a:prstGeom>
        </p:spPr>
      </p:pic>
      <p:sp>
        <p:nvSpPr>
          <p:cNvPr id="38" name="Text 23"/>
          <p:cNvSpPr/>
          <p:nvPr/>
        </p:nvSpPr>
        <p:spPr>
          <a:xfrm>
            <a:off x="6891376" y="4321454"/>
            <a:ext cx="4365803" cy="292608"/>
          </a:xfrm>
          <a:prstGeom prst="rect">
            <a:avLst/>
          </a:prstGeom>
          <a:noFill/>
          <a:ln/>
        </p:spPr>
        <p:txBody>
          <a:bodyPr wrap="square" lIns="0" tIns="0" rIns="0" bIns="0" rtlCol="0" anchor="ctr"/>
          <a:lstStyle/>
          <a:p>
            <a:pPr indent="0" marL="0">
              <a:buNone/>
            </a:pPr>
            <a:r>
              <a:rPr lang="en-US" sz="1150" dirty="0">
                <a:solidFill>
                  <a:srgbClr val="0A3D23"/>
                </a:solidFill>
                <a:latin typeface="Yu Gothic" pitchFamily="34" charset="0"/>
                <a:ea typeface="Yu Gothic" pitchFamily="34" charset="-122"/>
                <a:cs typeface="Yu Gothic" pitchFamily="34" charset="-120"/>
              </a:rPr>
              <a:t>改修工事サポート</a:t>
            </a:r>
            <a:endParaRPr lang="en-US" sz="1150" dirty="0"/>
          </a:p>
        </p:txBody>
      </p:sp>
      <p:sp>
        <p:nvSpPr>
          <p:cNvPr id="39" name="Shape 24"/>
          <p:cNvSpPr/>
          <p:nvPr/>
        </p:nvSpPr>
        <p:spPr>
          <a:xfrm>
            <a:off x="660197" y="5052974"/>
            <a:ext cx="10871302" cy="914400"/>
          </a:xfrm>
          <a:prstGeom prst="roundRect">
            <a:avLst>
              <a:gd name="adj" fmla="val 6000"/>
            </a:avLst>
          </a:prstGeom>
          <a:solidFill>
            <a:srgbClr val="0C5230"/>
          </a:solidFill>
          <a:ln/>
        </p:spPr>
      </p:sp>
      <p:pic>
        <p:nvPicPr>
          <p:cNvPr id="40" name="Image 13" descr="/home/user/suzuki-ceo/selfcafe-gyomu-deck/assets/icons/LuUsers-white.png">    </p:cNvPr>
          <p:cNvPicPr>
            <a:picLocks noChangeAspect="1"/>
          </p:cNvPicPr>
          <p:nvPr/>
        </p:nvPicPr>
        <p:blipFill>
          <a:blip r:embed="rId14"/>
          <a:stretch>
            <a:fillRect/>
          </a:stretch>
        </p:blipFill>
        <p:spPr>
          <a:xfrm>
            <a:off x="989381" y="5363870"/>
            <a:ext cx="292608" cy="292608"/>
          </a:xfrm>
          <a:prstGeom prst="rect">
            <a:avLst/>
          </a:prstGeom>
        </p:spPr>
      </p:pic>
      <p:sp>
        <p:nvSpPr>
          <p:cNvPr id="41" name="Text 25"/>
          <p:cNvSpPr/>
          <p:nvPr/>
        </p:nvSpPr>
        <p:spPr>
          <a:xfrm>
            <a:off x="1428293" y="5180990"/>
            <a:ext cx="9774022" cy="329184"/>
          </a:xfrm>
          <a:prstGeom prst="rect">
            <a:avLst/>
          </a:prstGeom>
          <a:noFill/>
          <a:ln/>
        </p:spPr>
        <p:txBody>
          <a:bodyPr wrap="square" lIns="0" tIns="0" rIns="0" bIns="0" rtlCol="0" anchor="ctr"/>
          <a:lstStyle/>
          <a:p>
            <a:pPr indent="0" marL="0">
              <a:buNone/>
            </a:pPr>
            <a:r>
              <a:rPr lang="en-US" sz="1600" b="1" dirty="0">
                <a:solidFill>
                  <a:srgbClr val="FFFFFF"/>
                </a:solidFill>
                <a:latin typeface="Yu Gothic" pitchFamily="34" charset="0"/>
                <a:ea typeface="Yu Gothic" pitchFamily="34" charset="-122"/>
                <a:cs typeface="Yu Gothic" pitchFamily="34" charset="-120"/>
              </a:rPr>
              <a:t>専任スタッフを置かずに、店舗運営を続けられる体制をつくります。</a:t>
            </a:r>
            <a:endParaRPr lang="en-US" sz="1600" dirty="0"/>
          </a:p>
        </p:txBody>
      </p:sp>
      <p:sp>
        <p:nvSpPr>
          <p:cNvPr id="42" name="Text 26"/>
          <p:cNvSpPr/>
          <p:nvPr/>
        </p:nvSpPr>
        <p:spPr>
          <a:xfrm>
            <a:off x="1428293" y="5528462"/>
            <a:ext cx="9774022" cy="274320"/>
          </a:xfrm>
          <a:prstGeom prst="rect">
            <a:avLst/>
          </a:prstGeom>
          <a:noFill/>
          <a:ln/>
        </p:spPr>
        <p:txBody>
          <a:bodyPr wrap="square" lIns="0" tIns="0" rIns="0" bIns="0" rtlCol="0" anchor="ctr"/>
          <a:lstStyle/>
          <a:p>
            <a:pPr indent="0" marL="0">
              <a:buNone/>
            </a:pPr>
            <a:r>
              <a:rPr lang="en-US" sz="1050" dirty="0">
                <a:solidFill>
                  <a:srgbClr val="AFC2B8"/>
                </a:solidFill>
                <a:latin typeface="Yu Gothic" pitchFamily="34" charset="0"/>
                <a:ea typeface="Yu Gothic" pitchFamily="34" charset="-122"/>
                <a:cs typeface="Yu Gothic" pitchFamily="34" charset="-120"/>
              </a:rPr>
              <a:t>開業前の試算から、開業後のWEB集客・メンテナンスまで本部が担当します。</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7"/>
        </a:solidFill>
      </p:bgPr>
    </p:bg>
    <p:spTree>
      <p:nvGrpSpPr>
        <p:cNvPr id="1" name=""/>
        <p:cNvGrpSpPr/>
        <p:nvPr/>
      </p:nvGrpSpPr>
      <p:grpSpPr>
        <a:xfrm>
          <a:off x="0" y="0"/>
          <a:ext cx="0" cy="0"/>
          <a:chOff x="0" y="0"/>
          <a:chExt cx="0" cy="0"/>
        </a:xfrm>
      </p:grpSpPr>
      <p:sp>
        <p:nvSpPr>
          <p:cNvPr id="2" name="Shape 0"/>
          <p:cNvSpPr/>
          <p:nvPr/>
        </p:nvSpPr>
        <p:spPr>
          <a:xfrm>
            <a:off x="660197" y="545897"/>
            <a:ext cx="202997" cy="25603"/>
          </a:xfrm>
          <a:prstGeom prst="rect">
            <a:avLst/>
          </a:prstGeom>
          <a:solidFill>
            <a:srgbClr val="106838"/>
          </a:solidFill>
          <a:ln/>
        </p:spPr>
      </p:sp>
      <p:sp>
        <p:nvSpPr>
          <p:cNvPr id="3" name="Text 1"/>
          <p:cNvSpPr/>
          <p:nvPr/>
        </p:nvSpPr>
        <p:spPr>
          <a:xfrm>
            <a:off x="952805" y="444398"/>
            <a:ext cx="6400800" cy="177394"/>
          </a:xfrm>
          <a:prstGeom prst="rect">
            <a:avLst/>
          </a:prstGeom>
          <a:noFill/>
          <a:ln/>
        </p:spPr>
        <p:txBody>
          <a:bodyPr wrap="square" lIns="0" tIns="0" rIns="0" bIns="0" rtlCol="0" anchor="ctr"/>
          <a:lstStyle/>
          <a:p>
            <a:pPr indent="0" marL="0">
              <a:buNone/>
            </a:pPr>
            <a:r>
              <a:rPr lang="en-US" sz="1050" b="1" dirty="0">
                <a:solidFill>
                  <a:srgbClr val="A8761F"/>
                </a:solidFill>
                <a:latin typeface="Arial" pitchFamily="34" charset="0"/>
                <a:ea typeface="Arial" pitchFamily="34" charset="-122"/>
                <a:cs typeface="Arial" pitchFamily="34" charset="-120"/>
              </a:rPr>
              <a:t>24</a:t>
            </a:r>
            <a:r>
              <a:rPr lang="en-US" sz="1050" b="1" dirty="0">
                <a:solidFill>
                  <a:srgbClr val="1B8149"/>
                </a:solidFill>
                <a:latin typeface="Yu Gothic" pitchFamily="34" charset="0"/>
                <a:ea typeface="Yu Gothic" pitchFamily="34" charset="-122"/>
                <a:cs typeface="Yu Gothic" pitchFamily="34" charset="-120"/>
              </a:rPr>
              <a:t>   導入プロセス</a:t>
            </a:r>
            <a:endParaRPr lang="en-US" sz="1050" dirty="0"/>
          </a:p>
        </p:txBody>
      </p:sp>
      <p:sp>
        <p:nvSpPr>
          <p:cNvPr id="4" name="Text 2"/>
          <p:cNvSpPr/>
          <p:nvPr/>
        </p:nvSpPr>
        <p:spPr>
          <a:xfrm>
            <a:off x="660197" y="660197"/>
            <a:ext cx="8889797" cy="508406"/>
          </a:xfrm>
          <a:prstGeom prst="rect">
            <a:avLst/>
          </a:prstGeom>
          <a:noFill/>
          <a:ln/>
        </p:spPr>
        <p:txBody>
          <a:bodyPr wrap="square" lIns="0" tIns="0" rIns="0" bIns="0" rtlCol="0" anchor="ctr"/>
          <a:lstStyle/>
          <a:p>
            <a:pPr indent="0" marL="0">
              <a:buNone/>
            </a:pPr>
            <a:r>
              <a:rPr lang="en-US" sz="2900" b="1" dirty="0">
                <a:solidFill>
                  <a:srgbClr val="0A3D23"/>
                </a:solidFill>
                <a:latin typeface="Yu Gothic" pitchFamily="34" charset="0"/>
                <a:ea typeface="Yu Gothic" pitchFamily="34" charset="-122"/>
                <a:cs typeface="Yu Gothic" pitchFamily="34" charset="-120"/>
              </a:rPr>
              <a:t>開業までの流れ</a:t>
            </a:r>
            <a:endParaRPr lang="en-US" sz="2900" dirty="0"/>
          </a:p>
        </p:txBody>
      </p:sp>
      <p:sp>
        <p:nvSpPr>
          <p:cNvPr id="5" name="Text 3"/>
          <p:cNvSpPr/>
          <p:nvPr/>
        </p:nvSpPr>
        <p:spPr>
          <a:xfrm>
            <a:off x="660197" y="1308506"/>
            <a:ext cx="10032797" cy="228600"/>
          </a:xfrm>
          <a:prstGeom prst="rect">
            <a:avLst/>
          </a:prstGeom>
          <a:noFill/>
          <a:ln/>
        </p:spPr>
        <p:txBody>
          <a:bodyPr wrap="square" lIns="0" tIns="0" rIns="0" bIns="0" rtlCol="0" anchor="ctr"/>
          <a:lstStyle/>
          <a:p>
            <a:pPr indent="0" marL="0">
              <a:buNone/>
            </a:pPr>
            <a:r>
              <a:rPr lang="en-US" sz="1250" dirty="0">
                <a:solidFill>
                  <a:srgbClr val="4B5550"/>
                </a:solidFill>
                <a:latin typeface="Yu Gothic" pitchFamily="34" charset="0"/>
                <a:ea typeface="Yu Gothic" pitchFamily="34" charset="-122"/>
                <a:cs typeface="Yu Gothic" pitchFamily="34" charset="-120"/>
              </a:rPr>
              <a:t>お問い合わせから運営開始まで、2〜3か月程度が目安です。</a:t>
            </a:r>
            <a:endParaRPr lang="en-US" sz="1250" dirty="0"/>
          </a:p>
        </p:txBody>
      </p:sp>
      <p:pic>
        <p:nvPicPr>
          <p:cNvPr id="6" name="Image 0" descr="/home/user/suzuki-ceo/selfcafe-gyomu-deck/assets/logo-green.png">    </p:cNvPr>
          <p:cNvPicPr>
            <a:picLocks noChangeAspect="1"/>
          </p:cNvPicPr>
          <p:nvPr/>
        </p:nvPicPr>
        <p:blipFill>
          <a:blip r:embed="rId1"/>
          <a:stretch>
            <a:fillRect/>
          </a:stretch>
        </p:blipFill>
        <p:spPr>
          <a:xfrm>
            <a:off x="9855403" y="482803"/>
            <a:ext cx="1676095" cy="238658"/>
          </a:xfrm>
          <a:prstGeom prst="rect">
            <a:avLst/>
          </a:prstGeom>
        </p:spPr>
      </p:pic>
      <p:sp>
        <p:nvSpPr>
          <p:cNvPr id="7" name="Text 4"/>
          <p:cNvSpPr/>
          <p:nvPr/>
        </p:nvSpPr>
        <p:spPr>
          <a:xfrm>
            <a:off x="660197" y="6476695"/>
            <a:ext cx="5080406" cy="152705"/>
          </a:xfrm>
          <a:prstGeom prst="rect">
            <a:avLst/>
          </a:prstGeom>
          <a:noFill/>
          <a:ln/>
        </p:spPr>
        <p:txBody>
          <a:bodyPr wrap="square" lIns="0" tIns="0" rIns="0" bIns="0" rtlCol="0" anchor="ctr"/>
          <a:lstStyle/>
          <a:p>
            <a:pPr indent="0" marL="0">
              <a:buNone/>
            </a:pPr>
            <a:r>
              <a:rPr lang="en-US" sz="900" dirty="0">
                <a:solidFill>
                  <a:srgbClr val="A8B0AA"/>
                </a:solidFill>
                <a:latin typeface="Yu Gothic" pitchFamily="34" charset="0"/>
                <a:ea typeface="Yu Gothic" pitchFamily="34" charset="-122"/>
                <a:cs typeface="Yu Gothic" pitchFamily="34" charset="-120"/>
              </a:rPr>
              <a:t>セルフカフェ 業務委託型制度</a:t>
            </a:r>
            <a:endParaRPr lang="en-US" sz="900" dirty="0"/>
          </a:p>
        </p:txBody>
      </p:sp>
      <p:sp>
        <p:nvSpPr>
          <p:cNvPr id="8" name="Text 5"/>
          <p:cNvSpPr/>
          <p:nvPr/>
        </p:nvSpPr>
        <p:spPr>
          <a:xfrm>
            <a:off x="10261397" y="6463894"/>
            <a:ext cx="1270102" cy="152705"/>
          </a:xfrm>
          <a:prstGeom prst="rect">
            <a:avLst/>
          </a:prstGeom>
          <a:noFill/>
          <a:ln/>
        </p:spPr>
        <p:txBody>
          <a:bodyPr wrap="square" lIns="0" tIns="0" rIns="0" bIns="0" rtlCol="0" anchor="ctr"/>
          <a:lstStyle/>
          <a:p>
            <a:pPr algn="r" indent="0" marL="0">
              <a:buNone/>
            </a:pPr>
            <a:r>
              <a:rPr lang="en-US" sz="1000" b="1" dirty="0">
                <a:solidFill>
                  <a:srgbClr val="7E8882"/>
                </a:solidFill>
                <a:latin typeface="Arial" pitchFamily="34" charset="0"/>
                <a:ea typeface="Arial" pitchFamily="34" charset="-122"/>
                <a:cs typeface="Arial" pitchFamily="34" charset="-120"/>
              </a:rPr>
              <a:t>25</a:t>
            </a:r>
            <a:endParaRPr lang="en-US" sz="1000" dirty="0"/>
          </a:p>
        </p:txBody>
      </p:sp>
      <p:sp>
        <p:nvSpPr>
          <p:cNvPr id="9" name="Shape 6"/>
          <p:cNvSpPr/>
          <p:nvPr/>
        </p:nvSpPr>
        <p:spPr>
          <a:xfrm>
            <a:off x="7410572" y="1651406"/>
            <a:ext cx="1828800" cy="420624"/>
          </a:xfrm>
          <a:prstGeom prst="roundRect">
            <a:avLst>
              <a:gd name="adj" fmla="val 50000"/>
            </a:avLst>
          </a:prstGeom>
          <a:solidFill>
            <a:srgbClr val="FBF4E4"/>
          </a:solidFill>
          <a:ln w="9525">
            <a:solidFill>
              <a:srgbClr val="E7D3A8"/>
            </a:solidFill>
            <a:prstDash val="solid"/>
          </a:ln>
        </p:spPr>
      </p:sp>
      <p:pic>
        <p:nvPicPr>
          <p:cNvPr id="10" name="Image 1" descr="/home/user/suzuki-ceo/selfcafe-gyomu-deck/assets/icons/LuClock-gold.png">    </p:cNvPr>
          <p:cNvPicPr>
            <a:picLocks noChangeAspect="1"/>
          </p:cNvPicPr>
          <p:nvPr/>
        </p:nvPicPr>
        <p:blipFill>
          <a:blip r:embed="rId2"/>
          <a:stretch>
            <a:fillRect/>
          </a:stretch>
        </p:blipFill>
        <p:spPr>
          <a:xfrm>
            <a:off x="7611740" y="1751990"/>
            <a:ext cx="219456" cy="219456"/>
          </a:xfrm>
          <a:prstGeom prst="rect">
            <a:avLst/>
          </a:prstGeom>
        </p:spPr>
      </p:pic>
      <p:sp>
        <p:nvSpPr>
          <p:cNvPr id="11" name="Text 7"/>
          <p:cNvSpPr/>
          <p:nvPr/>
        </p:nvSpPr>
        <p:spPr>
          <a:xfrm>
            <a:off x="7886060" y="1651406"/>
            <a:ext cx="1371600" cy="420624"/>
          </a:xfrm>
          <a:prstGeom prst="rect">
            <a:avLst/>
          </a:prstGeom>
          <a:noFill/>
          <a:ln/>
        </p:spPr>
        <p:txBody>
          <a:bodyPr wrap="square" lIns="0" tIns="0" rIns="0" bIns="0" rtlCol="0" anchor="ctr"/>
          <a:lstStyle/>
          <a:p>
            <a:pPr indent="0" marL="0">
              <a:buNone/>
            </a:pPr>
            <a:r>
              <a:rPr lang="en-US" sz="1150" b="1" dirty="0">
                <a:solidFill>
                  <a:srgbClr val="A8761F"/>
                </a:solidFill>
                <a:latin typeface="Yu Gothic" pitchFamily="34" charset="0"/>
                <a:ea typeface="Yu Gothic" pitchFamily="34" charset="-122"/>
                <a:cs typeface="Yu Gothic" pitchFamily="34" charset="-120"/>
              </a:rPr>
              <a:t>2〜3か月程度</a:t>
            </a:r>
            <a:endParaRPr lang="en-US" sz="1150" dirty="0"/>
          </a:p>
        </p:txBody>
      </p:sp>
      <p:sp>
        <p:nvSpPr>
          <p:cNvPr id="12" name="Shape 8"/>
          <p:cNvSpPr/>
          <p:nvPr/>
        </p:nvSpPr>
        <p:spPr>
          <a:xfrm>
            <a:off x="5118445" y="2072030"/>
            <a:ext cx="12802" cy="274320"/>
          </a:xfrm>
          <a:prstGeom prst="rect">
            <a:avLst/>
          </a:prstGeom>
          <a:solidFill>
            <a:srgbClr val="DCC79B"/>
          </a:solidFill>
          <a:ln/>
        </p:spPr>
      </p:sp>
      <p:sp>
        <p:nvSpPr>
          <p:cNvPr id="13" name="Shape 9"/>
          <p:cNvSpPr/>
          <p:nvPr/>
        </p:nvSpPr>
        <p:spPr>
          <a:xfrm>
            <a:off x="11518697" y="2072030"/>
            <a:ext cx="12802" cy="274320"/>
          </a:xfrm>
          <a:prstGeom prst="rect">
            <a:avLst/>
          </a:prstGeom>
          <a:solidFill>
            <a:srgbClr val="DCC79B"/>
          </a:solidFill>
          <a:ln/>
        </p:spPr>
      </p:sp>
      <p:sp>
        <p:nvSpPr>
          <p:cNvPr id="14" name="Shape 10"/>
          <p:cNvSpPr/>
          <p:nvPr/>
        </p:nvSpPr>
        <p:spPr>
          <a:xfrm>
            <a:off x="5118445" y="2337206"/>
            <a:ext cx="6413053" cy="12802"/>
          </a:xfrm>
          <a:prstGeom prst="rect">
            <a:avLst/>
          </a:prstGeom>
          <a:solidFill>
            <a:srgbClr val="DCC79B"/>
          </a:solidFill>
          <a:ln/>
        </p:spPr>
      </p:sp>
      <p:sp>
        <p:nvSpPr>
          <p:cNvPr id="15" name="Shape 11"/>
          <p:cNvSpPr/>
          <p:nvPr/>
        </p:nvSpPr>
        <p:spPr>
          <a:xfrm>
            <a:off x="660197" y="2437790"/>
            <a:ext cx="1954804" cy="2688336"/>
          </a:xfrm>
          <a:prstGeom prst="roundRect">
            <a:avLst>
              <a:gd name="adj" fmla="val 2807"/>
            </a:avLst>
          </a:prstGeom>
          <a:solidFill>
            <a:srgbClr val="FFFFFF"/>
          </a:solidFill>
          <a:ln w="9525">
            <a:solidFill>
              <a:srgbClr val="EFEAE0"/>
            </a:solidFill>
            <a:prstDash val="solid"/>
          </a:ln>
        </p:spPr>
      </p:sp>
      <p:sp>
        <p:nvSpPr>
          <p:cNvPr id="16" name="Text 12"/>
          <p:cNvSpPr/>
          <p:nvPr/>
        </p:nvSpPr>
        <p:spPr>
          <a:xfrm>
            <a:off x="879653" y="2675534"/>
            <a:ext cx="1515892" cy="182880"/>
          </a:xfrm>
          <a:prstGeom prst="rect">
            <a:avLst/>
          </a:prstGeom>
          <a:noFill/>
          <a:ln/>
        </p:spPr>
        <p:txBody>
          <a:bodyPr wrap="square" lIns="0" tIns="0" rIns="0" bIns="0" rtlCol="0" anchor="ctr"/>
          <a:lstStyle/>
          <a:p>
            <a:pPr indent="0" marL="0">
              <a:buNone/>
            </a:pPr>
            <a:r>
              <a:rPr lang="en-US" sz="900" b="1" spc="120" kern="0" dirty="0">
                <a:solidFill>
                  <a:srgbClr val="A8761F"/>
                </a:solidFill>
                <a:latin typeface="Arial" pitchFamily="34" charset="0"/>
                <a:ea typeface="Arial" pitchFamily="34" charset="-122"/>
                <a:cs typeface="Arial" pitchFamily="34" charset="-120"/>
              </a:rPr>
              <a:t>STEP 01</a:t>
            </a:r>
            <a:endParaRPr lang="en-US" sz="900" dirty="0"/>
          </a:p>
        </p:txBody>
      </p:sp>
      <p:sp>
        <p:nvSpPr>
          <p:cNvPr id="17" name="Shape 13"/>
          <p:cNvSpPr/>
          <p:nvPr/>
        </p:nvSpPr>
        <p:spPr>
          <a:xfrm>
            <a:off x="1271839" y="3041294"/>
            <a:ext cx="731520" cy="731520"/>
          </a:xfrm>
          <a:prstGeom prst="ellipse">
            <a:avLst/>
          </a:prstGeom>
          <a:solidFill>
            <a:srgbClr val="F1F8F3"/>
          </a:solidFill>
          <a:ln/>
        </p:spPr>
      </p:sp>
      <p:pic>
        <p:nvPicPr>
          <p:cNvPr id="18" name="Image 2" descr="/home/user/suzuki-ceo/selfcafe-gyomu-deck/assets/icons/LuUsers-green.png">    </p:cNvPr>
          <p:cNvPicPr>
            <a:picLocks noChangeAspect="1"/>
          </p:cNvPicPr>
          <p:nvPr/>
        </p:nvPicPr>
        <p:blipFill>
          <a:blip r:embed="rId3"/>
          <a:stretch>
            <a:fillRect/>
          </a:stretch>
        </p:blipFill>
        <p:spPr>
          <a:xfrm>
            <a:off x="1436431" y="3205886"/>
            <a:ext cx="402336" cy="402336"/>
          </a:xfrm>
          <a:prstGeom prst="rect">
            <a:avLst/>
          </a:prstGeom>
        </p:spPr>
      </p:pic>
      <p:sp>
        <p:nvSpPr>
          <p:cNvPr id="19" name="Text 14"/>
          <p:cNvSpPr/>
          <p:nvPr/>
        </p:nvSpPr>
        <p:spPr>
          <a:xfrm>
            <a:off x="788213" y="3919118"/>
            <a:ext cx="1698772" cy="365760"/>
          </a:xfrm>
          <a:prstGeom prst="rect">
            <a:avLst/>
          </a:prstGeom>
          <a:noFill/>
          <a:ln/>
        </p:spPr>
        <p:txBody>
          <a:bodyPr wrap="square" lIns="0" tIns="0" rIns="0" bIns="0" rtlCol="0" anchor="ctr"/>
          <a:lstStyle/>
          <a:p>
            <a:pPr algn="ctr" indent="0" marL="0">
              <a:buNone/>
            </a:pPr>
            <a:r>
              <a:rPr lang="en-US" sz="1600" b="1" dirty="0">
                <a:solidFill>
                  <a:srgbClr val="0A3D23"/>
                </a:solidFill>
                <a:latin typeface="Yu Gothic" pitchFamily="34" charset="0"/>
                <a:ea typeface="Yu Gothic" pitchFamily="34" charset="-122"/>
                <a:cs typeface="Yu Gothic" pitchFamily="34" charset="-120"/>
              </a:rPr>
              <a:t>面談</a:t>
            </a:r>
            <a:endParaRPr lang="en-US" sz="1600" dirty="0"/>
          </a:p>
        </p:txBody>
      </p:sp>
      <p:sp>
        <p:nvSpPr>
          <p:cNvPr id="20" name="Text 15"/>
          <p:cNvSpPr/>
          <p:nvPr/>
        </p:nvSpPr>
        <p:spPr>
          <a:xfrm>
            <a:off x="788213" y="4321454"/>
            <a:ext cx="1698772" cy="713232"/>
          </a:xfrm>
          <a:prstGeom prst="rect">
            <a:avLst/>
          </a:prstGeom>
          <a:noFill/>
          <a:ln/>
        </p:spPr>
        <p:txBody>
          <a:bodyPr wrap="square" lIns="0" tIns="0" rIns="0" bIns="0" rtlCol="0" anchor="t"/>
          <a:lstStyle/>
          <a:p>
            <a:pPr algn="ctr" indent="0" marL="0">
              <a:lnSpc>
                <a:spcPct val="135000"/>
              </a:lnSpc>
              <a:buNone/>
            </a:pPr>
            <a:r>
              <a:rPr lang="en-US" sz="950" dirty="0">
                <a:solidFill>
                  <a:srgbClr val="4B5550"/>
                </a:solidFill>
                <a:latin typeface="Yu Gothic" pitchFamily="34" charset="0"/>
                <a:ea typeface="Yu Gothic" pitchFamily="34" charset="-122"/>
                <a:cs typeface="Yu Gothic" pitchFamily="34" charset="-120"/>
              </a:rPr>
              <a:t>制度のご説明と、ご希望条件のヒアリング。</a:t>
            </a:r>
            <a:endParaRPr lang="en-US" sz="950" dirty="0"/>
          </a:p>
        </p:txBody>
      </p:sp>
      <p:sp>
        <p:nvSpPr>
          <p:cNvPr id="21" name="Shape 16"/>
          <p:cNvSpPr/>
          <p:nvPr/>
        </p:nvSpPr>
        <p:spPr>
          <a:xfrm rot="5400000">
            <a:off x="2669865" y="3699662"/>
            <a:ext cx="164592" cy="164592"/>
          </a:xfrm>
          <a:prstGeom prst="triangle">
            <a:avLst/>
          </a:prstGeom>
          <a:solidFill>
            <a:srgbClr val="CFC9BB"/>
          </a:solidFill>
          <a:ln/>
        </p:spPr>
      </p:sp>
      <p:sp>
        <p:nvSpPr>
          <p:cNvPr id="22" name="Shape 17"/>
          <p:cNvSpPr/>
          <p:nvPr/>
        </p:nvSpPr>
        <p:spPr>
          <a:xfrm>
            <a:off x="2889321" y="2437790"/>
            <a:ext cx="1954804" cy="2688336"/>
          </a:xfrm>
          <a:prstGeom prst="roundRect">
            <a:avLst>
              <a:gd name="adj" fmla="val 2807"/>
            </a:avLst>
          </a:prstGeom>
          <a:solidFill>
            <a:srgbClr val="FFFFFF"/>
          </a:solidFill>
          <a:ln w="9525">
            <a:solidFill>
              <a:srgbClr val="EFEAE0"/>
            </a:solidFill>
            <a:prstDash val="solid"/>
          </a:ln>
        </p:spPr>
      </p:sp>
      <p:sp>
        <p:nvSpPr>
          <p:cNvPr id="23" name="Text 18"/>
          <p:cNvSpPr/>
          <p:nvPr/>
        </p:nvSpPr>
        <p:spPr>
          <a:xfrm>
            <a:off x="3108777" y="2675534"/>
            <a:ext cx="1515892" cy="182880"/>
          </a:xfrm>
          <a:prstGeom prst="rect">
            <a:avLst/>
          </a:prstGeom>
          <a:noFill/>
          <a:ln/>
        </p:spPr>
        <p:txBody>
          <a:bodyPr wrap="square" lIns="0" tIns="0" rIns="0" bIns="0" rtlCol="0" anchor="ctr"/>
          <a:lstStyle/>
          <a:p>
            <a:pPr indent="0" marL="0">
              <a:buNone/>
            </a:pPr>
            <a:r>
              <a:rPr lang="en-US" sz="900" b="1" spc="120" kern="0" dirty="0">
                <a:solidFill>
                  <a:srgbClr val="A8761F"/>
                </a:solidFill>
                <a:latin typeface="Arial" pitchFamily="34" charset="0"/>
                <a:ea typeface="Arial" pitchFamily="34" charset="-122"/>
                <a:cs typeface="Arial" pitchFamily="34" charset="-120"/>
              </a:rPr>
              <a:t>STEP 02</a:t>
            </a:r>
            <a:endParaRPr lang="en-US" sz="900" dirty="0"/>
          </a:p>
        </p:txBody>
      </p:sp>
      <p:sp>
        <p:nvSpPr>
          <p:cNvPr id="24" name="Shape 19"/>
          <p:cNvSpPr/>
          <p:nvPr/>
        </p:nvSpPr>
        <p:spPr>
          <a:xfrm>
            <a:off x="3500963" y="3041294"/>
            <a:ext cx="731520" cy="731520"/>
          </a:xfrm>
          <a:prstGeom prst="ellipse">
            <a:avLst/>
          </a:prstGeom>
          <a:solidFill>
            <a:srgbClr val="F1F8F3"/>
          </a:solidFill>
          <a:ln/>
        </p:spPr>
      </p:sp>
      <p:pic>
        <p:nvPicPr>
          <p:cNvPr id="25" name="Image 3" descr="/home/user/suzuki-ceo/selfcafe-gyomu-deck/assets/icons/LuFileSearch-green.png">    </p:cNvPr>
          <p:cNvPicPr>
            <a:picLocks noChangeAspect="1"/>
          </p:cNvPicPr>
          <p:nvPr/>
        </p:nvPicPr>
        <p:blipFill>
          <a:blip r:embed="rId4"/>
          <a:stretch>
            <a:fillRect/>
          </a:stretch>
        </p:blipFill>
        <p:spPr>
          <a:xfrm>
            <a:off x="3665555" y="3205886"/>
            <a:ext cx="402336" cy="402336"/>
          </a:xfrm>
          <a:prstGeom prst="rect">
            <a:avLst/>
          </a:prstGeom>
        </p:spPr>
      </p:pic>
      <p:sp>
        <p:nvSpPr>
          <p:cNvPr id="26" name="Text 20"/>
          <p:cNvSpPr/>
          <p:nvPr/>
        </p:nvSpPr>
        <p:spPr>
          <a:xfrm>
            <a:off x="3017337" y="3919118"/>
            <a:ext cx="1698772" cy="365760"/>
          </a:xfrm>
          <a:prstGeom prst="rect">
            <a:avLst/>
          </a:prstGeom>
          <a:noFill/>
          <a:ln/>
        </p:spPr>
        <p:txBody>
          <a:bodyPr wrap="square" lIns="0" tIns="0" rIns="0" bIns="0" rtlCol="0" anchor="ctr"/>
          <a:lstStyle/>
          <a:p>
            <a:pPr algn="ctr" indent="0" marL="0">
              <a:buNone/>
            </a:pPr>
            <a:r>
              <a:rPr lang="en-US" sz="1600" b="1" dirty="0">
                <a:solidFill>
                  <a:srgbClr val="0A3D23"/>
                </a:solidFill>
                <a:latin typeface="Yu Gothic" pitchFamily="34" charset="0"/>
                <a:ea typeface="Yu Gothic" pitchFamily="34" charset="-122"/>
                <a:cs typeface="Yu Gothic" pitchFamily="34" charset="-120"/>
              </a:rPr>
              <a:t>加盟審査</a:t>
            </a:r>
            <a:endParaRPr lang="en-US" sz="1600" dirty="0"/>
          </a:p>
        </p:txBody>
      </p:sp>
      <p:sp>
        <p:nvSpPr>
          <p:cNvPr id="27" name="Text 21"/>
          <p:cNvSpPr/>
          <p:nvPr/>
        </p:nvSpPr>
        <p:spPr>
          <a:xfrm>
            <a:off x="3017337" y="4321454"/>
            <a:ext cx="1698772" cy="713232"/>
          </a:xfrm>
          <a:prstGeom prst="rect">
            <a:avLst/>
          </a:prstGeom>
          <a:noFill/>
          <a:ln/>
        </p:spPr>
        <p:txBody>
          <a:bodyPr wrap="square" lIns="0" tIns="0" rIns="0" bIns="0" rtlCol="0" anchor="t"/>
          <a:lstStyle/>
          <a:p>
            <a:pPr algn="ctr" indent="0" marL="0">
              <a:lnSpc>
                <a:spcPct val="135000"/>
              </a:lnSpc>
              <a:buNone/>
            </a:pPr>
            <a:r>
              <a:rPr lang="en-US" sz="950" dirty="0">
                <a:solidFill>
                  <a:srgbClr val="4B5550"/>
                </a:solidFill>
                <a:latin typeface="Yu Gothic" pitchFamily="34" charset="0"/>
                <a:ea typeface="Yu Gothic" pitchFamily="34" charset="-122"/>
                <a:cs typeface="Yu Gothic" pitchFamily="34" charset="-120"/>
              </a:rPr>
              <a:t>立地・スペースの現地調査と収益試算。</a:t>
            </a:r>
            <a:endParaRPr lang="en-US" sz="950" dirty="0"/>
          </a:p>
        </p:txBody>
      </p:sp>
      <p:sp>
        <p:nvSpPr>
          <p:cNvPr id="28" name="Shape 22"/>
          <p:cNvSpPr/>
          <p:nvPr/>
        </p:nvSpPr>
        <p:spPr>
          <a:xfrm rot="5400000">
            <a:off x="4898989" y="3699662"/>
            <a:ext cx="164592" cy="164592"/>
          </a:xfrm>
          <a:prstGeom prst="triangle">
            <a:avLst/>
          </a:prstGeom>
          <a:solidFill>
            <a:srgbClr val="CFC9BB"/>
          </a:solidFill>
          <a:ln/>
        </p:spPr>
      </p:sp>
      <p:sp>
        <p:nvSpPr>
          <p:cNvPr id="29" name="Shape 23"/>
          <p:cNvSpPr/>
          <p:nvPr/>
        </p:nvSpPr>
        <p:spPr>
          <a:xfrm>
            <a:off x="5118445" y="2437790"/>
            <a:ext cx="1954804" cy="2688336"/>
          </a:xfrm>
          <a:prstGeom prst="roundRect">
            <a:avLst>
              <a:gd name="adj" fmla="val 2807"/>
            </a:avLst>
          </a:prstGeom>
          <a:solidFill>
            <a:srgbClr val="FFFFFF"/>
          </a:solidFill>
          <a:ln w="9525">
            <a:solidFill>
              <a:srgbClr val="EFEAE0"/>
            </a:solidFill>
            <a:prstDash val="solid"/>
          </a:ln>
        </p:spPr>
      </p:sp>
      <p:sp>
        <p:nvSpPr>
          <p:cNvPr id="30" name="Text 24"/>
          <p:cNvSpPr/>
          <p:nvPr/>
        </p:nvSpPr>
        <p:spPr>
          <a:xfrm>
            <a:off x="5337901" y="2675534"/>
            <a:ext cx="1515892" cy="182880"/>
          </a:xfrm>
          <a:prstGeom prst="rect">
            <a:avLst/>
          </a:prstGeom>
          <a:noFill/>
          <a:ln/>
        </p:spPr>
        <p:txBody>
          <a:bodyPr wrap="square" lIns="0" tIns="0" rIns="0" bIns="0" rtlCol="0" anchor="ctr"/>
          <a:lstStyle/>
          <a:p>
            <a:pPr indent="0" marL="0">
              <a:buNone/>
            </a:pPr>
            <a:r>
              <a:rPr lang="en-US" sz="900" b="1" spc="120" kern="0" dirty="0">
                <a:solidFill>
                  <a:srgbClr val="A8761F"/>
                </a:solidFill>
                <a:latin typeface="Arial" pitchFamily="34" charset="0"/>
                <a:ea typeface="Arial" pitchFamily="34" charset="-122"/>
                <a:cs typeface="Arial" pitchFamily="34" charset="-120"/>
              </a:rPr>
              <a:t>STEP 03</a:t>
            </a:r>
            <a:endParaRPr lang="en-US" sz="900" dirty="0"/>
          </a:p>
        </p:txBody>
      </p:sp>
      <p:sp>
        <p:nvSpPr>
          <p:cNvPr id="31" name="Shape 25"/>
          <p:cNvSpPr/>
          <p:nvPr/>
        </p:nvSpPr>
        <p:spPr>
          <a:xfrm>
            <a:off x="5730088" y="3041294"/>
            <a:ext cx="731520" cy="731520"/>
          </a:xfrm>
          <a:prstGeom prst="ellipse">
            <a:avLst/>
          </a:prstGeom>
          <a:solidFill>
            <a:srgbClr val="F1F8F3"/>
          </a:solidFill>
          <a:ln/>
        </p:spPr>
      </p:sp>
      <p:pic>
        <p:nvPicPr>
          <p:cNvPr id="32" name="Image 4" descr="/home/user/suzuki-ceo/selfcafe-gyomu-deck/assets/icons/LuPenLine-green.png">    </p:cNvPr>
          <p:cNvPicPr>
            <a:picLocks noChangeAspect="1"/>
          </p:cNvPicPr>
          <p:nvPr/>
        </p:nvPicPr>
        <p:blipFill>
          <a:blip r:embed="rId5"/>
          <a:stretch>
            <a:fillRect/>
          </a:stretch>
        </p:blipFill>
        <p:spPr>
          <a:xfrm>
            <a:off x="5894680" y="3205886"/>
            <a:ext cx="402336" cy="402336"/>
          </a:xfrm>
          <a:prstGeom prst="rect">
            <a:avLst/>
          </a:prstGeom>
        </p:spPr>
      </p:pic>
      <p:sp>
        <p:nvSpPr>
          <p:cNvPr id="33" name="Text 26"/>
          <p:cNvSpPr/>
          <p:nvPr/>
        </p:nvSpPr>
        <p:spPr>
          <a:xfrm>
            <a:off x="5246461" y="3919118"/>
            <a:ext cx="1698772" cy="365760"/>
          </a:xfrm>
          <a:prstGeom prst="rect">
            <a:avLst/>
          </a:prstGeom>
          <a:noFill/>
          <a:ln/>
        </p:spPr>
        <p:txBody>
          <a:bodyPr wrap="square" lIns="0" tIns="0" rIns="0" bIns="0" rtlCol="0" anchor="ctr"/>
          <a:lstStyle/>
          <a:p>
            <a:pPr algn="ctr" indent="0" marL="0">
              <a:buNone/>
            </a:pPr>
            <a:r>
              <a:rPr lang="en-US" sz="1600" b="1" dirty="0">
                <a:solidFill>
                  <a:srgbClr val="0A3D23"/>
                </a:solidFill>
                <a:latin typeface="Yu Gothic" pitchFamily="34" charset="0"/>
                <a:ea typeface="Yu Gothic" pitchFamily="34" charset="-122"/>
                <a:cs typeface="Yu Gothic" pitchFamily="34" charset="-120"/>
              </a:rPr>
              <a:t>契約締結</a:t>
            </a:r>
            <a:endParaRPr lang="en-US" sz="1600" dirty="0"/>
          </a:p>
        </p:txBody>
      </p:sp>
      <p:sp>
        <p:nvSpPr>
          <p:cNvPr id="34" name="Text 27"/>
          <p:cNvSpPr/>
          <p:nvPr/>
        </p:nvSpPr>
        <p:spPr>
          <a:xfrm>
            <a:off x="5246461" y="4321454"/>
            <a:ext cx="1698772" cy="713232"/>
          </a:xfrm>
          <a:prstGeom prst="rect">
            <a:avLst/>
          </a:prstGeom>
          <a:noFill/>
          <a:ln/>
        </p:spPr>
        <p:txBody>
          <a:bodyPr wrap="square" lIns="0" tIns="0" rIns="0" bIns="0" rtlCol="0" anchor="t"/>
          <a:lstStyle/>
          <a:p>
            <a:pPr algn="ctr" indent="0" marL="0">
              <a:lnSpc>
                <a:spcPct val="135000"/>
              </a:lnSpc>
              <a:buNone/>
            </a:pPr>
            <a:r>
              <a:rPr lang="en-US" sz="950" dirty="0">
                <a:solidFill>
                  <a:srgbClr val="4B5550"/>
                </a:solidFill>
                <a:latin typeface="Yu Gothic" pitchFamily="34" charset="0"/>
                <a:ea typeface="Yu Gothic" pitchFamily="34" charset="-122"/>
                <a:cs typeface="Yu Gothic" pitchFamily="34" charset="-120"/>
              </a:rPr>
              <a:t>審査通過後に業務委託契約を締結。契約期間は最低3年〜。</a:t>
            </a:r>
            <a:endParaRPr lang="en-US" sz="950" dirty="0"/>
          </a:p>
        </p:txBody>
      </p:sp>
      <p:sp>
        <p:nvSpPr>
          <p:cNvPr id="35" name="Shape 28"/>
          <p:cNvSpPr/>
          <p:nvPr/>
        </p:nvSpPr>
        <p:spPr>
          <a:xfrm rot="5400000">
            <a:off x="7128114" y="3699662"/>
            <a:ext cx="164592" cy="164592"/>
          </a:xfrm>
          <a:prstGeom prst="triangle">
            <a:avLst/>
          </a:prstGeom>
          <a:solidFill>
            <a:srgbClr val="CFC9BB"/>
          </a:solidFill>
          <a:ln/>
        </p:spPr>
      </p:sp>
      <p:sp>
        <p:nvSpPr>
          <p:cNvPr id="36" name="Shape 29"/>
          <p:cNvSpPr/>
          <p:nvPr/>
        </p:nvSpPr>
        <p:spPr>
          <a:xfrm>
            <a:off x="7347570" y="2437790"/>
            <a:ext cx="1954804" cy="2688336"/>
          </a:xfrm>
          <a:prstGeom prst="roundRect">
            <a:avLst>
              <a:gd name="adj" fmla="val 2807"/>
            </a:avLst>
          </a:prstGeom>
          <a:solidFill>
            <a:srgbClr val="FFFFFF"/>
          </a:solidFill>
          <a:ln w="9525">
            <a:solidFill>
              <a:srgbClr val="EFEAE0"/>
            </a:solidFill>
            <a:prstDash val="solid"/>
          </a:ln>
        </p:spPr>
      </p:sp>
      <p:sp>
        <p:nvSpPr>
          <p:cNvPr id="37" name="Text 30"/>
          <p:cNvSpPr/>
          <p:nvPr/>
        </p:nvSpPr>
        <p:spPr>
          <a:xfrm>
            <a:off x="7567026" y="2675534"/>
            <a:ext cx="1515892" cy="182880"/>
          </a:xfrm>
          <a:prstGeom prst="rect">
            <a:avLst/>
          </a:prstGeom>
          <a:noFill/>
          <a:ln/>
        </p:spPr>
        <p:txBody>
          <a:bodyPr wrap="square" lIns="0" tIns="0" rIns="0" bIns="0" rtlCol="0" anchor="ctr"/>
          <a:lstStyle/>
          <a:p>
            <a:pPr indent="0" marL="0">
              <a:buNone/>
            </a:pPr>
            <a:r>
              <a:rPr lang="en-US" sz="900" b="1" spc="120" kern="0" dirty="0">
                <a:solidFill>
                  <a:srgbClr val="A8761F"/>
                </a:solidFill>
                <a:latin typeface="Arial" pitchFamily="34" charset="0"/>
                <a:ea typeface="Arial" pitchFamily="34" charset="-122"/>
                <a:cs typeface="Arial" pitchFamily="34" charset="-120"/>
              </a:rPr>
              <a:t>STEP 04</a:t>
            </a:r>
            <a:endParaRPr lang="en-US" sz="900" dirty="0"/>
          </a:p>
        </p:txBody>
      </p:sp>
      <p:sp>
        <p:nvSpPr>
          <p:cNvPr id="38" name="Shape 31"/>
          <p:cNvSpPr/>
          <p:nvPr/>
        </p:nvSpPr>
        <p:spPr>
          <a:xfrm>
            <a:off x="7959212" y="3041294"/>
            <a:ext cx="731520" cy="731520"/>
          </a:xfrm>
          <a:prstGeom prst="ellipse">
            <a:avLst/>
          </a:prstGeom>
          <a:solidFill>
            <a:srgbClr val="F1F8F3"/>
          </a:solidFill>
          <a:ln/>
        </p:spPr>
      </p:sp>
      <p:pic>
        <p:nvPicPr>
          <p:cNvPr id="39" name="Image 5" descr="/home/user/suzuki-ceo/selfcafe-gyomu-deck/assets/icons/LuHammer-green.png">    </p:cNvPr>
          <p:cNvPicPr>
            <a:picLocks noChangeAspect="1"/>
          </p:cNvPicPr>
          <p:nvPr/>
        </p:nvPicPr>
        <p:blipFill>
          <a:blip r:embed="rId6"/>
          <a:stretch>
            <a:fillRect/>
          </a:stretch>
        </p:blipFill>
        <p:spPr>
          <a:xfrm>
            <a:off x="8123804" y="3205886"/>
            <a:ext cx="402336" cy="402336"/>
          </a:xfrm>
          <a:prstGeom prst="rect">
            <a:avLst/>
          </a:prstGeom>
        </p:spPr>
      </p:pic>
      <p:sp>
        <p:nvSpPr>
          <p:cNvPr id="40" name="Text 32"/>
          <p:cNvSpPr/>
          <p:nvPr/>
        </p:nvSpPr>
        <p:spPr>
          <a:xfrm>
            <a:off x="7475586" y="3919118"/>
            <a:ext cx="1698772" cy="365760"/>
          </a:xfrm>
          <a:prstGeom prst="rect">
            <a:avLst/>
          </a:prstGeom>
          <a:noFill/>
          <a:ln/>
        </p:spPr>
        <p:txBody>
          <a:bodyPr wrap="square" lIns="0" tIns="0" rIns="0" bIns="0" rtlCol="0" anchor="ctr"/>
          <a:lstStyle/>
          <a:p>
            <a:pPr algn="ctr" indent="0" marL="0">
              <a:buNone/>
            </a:pPr>
            <a:r>
              <a:rPr lang="en-US" sz="1600" b="1" dirty="0">
                <a:solidFill>
                  <a:srgbClr val="0A3D23"/>
                </a:solidFill>
                <a:latin typeface="Yu Gothic" pitchFamily="34" charset="0"/>
                <a:ea typeface="Yu Gothic" pitchFamily="34" charset="-122"/>
                <a:cs typeface="Yu Gothic" pitchFamily="34" charset="-120"/>
              </a:rPr>
              <a:t>工事</a:t>
            </a:r>
            <a:endParaRPr lang="en-US" sz="1600" dirty="0"/>
          </a:p>
        </p:txBody>
      </p:sp>
      <p:sp>
        <p:nvSpPr>
          <p:cNvPr id="41" name="Text 33"/>
          <p:cNvSpPr/>
          <p:nvPr/>
        </p:nvSpPr>
        <p:spPr>
          <a:xfrm>
            <a:off x="7475586" y="4321454"/>
            <a:ext cx="1698772" cy="713232"/>
          </a:xfrm>
          <a:prstGeom prst="rect">
            <a:avLst/>
          </a:prstGeom>
          <a:noFill/>
          <a:ln/>
        </p:spPr>
        <p:txBody>
          <a:bodyPr wrap="square" lIns="0" tIns="0" rIns="0" bIns="0" rtlCol="0" anchor="t"/>
          <a:lstStyle/>
          <a:p>
            <a:pPr algn="ctr" indent="0" marL="0">
              <a:lnSpc>
                <a:spcPct val="135000"/>
              </a:lnSpc>
              <a:buNone/>
            </a:pPr>
            <a:r>
              <a:rPr lang="en-US" sz="950" dirty="0">
                <a:solidFill>
                  <a:srgbClr val="4B5550"/>
                </a:solidFill>
                <a:latin typeface="Yu Gothic" pitchFamily="34" charset="0"/>
                <a:ea typeface="Yu Gothic" pitchFamily="34" charset="-122"/>
                <a:cs typeface="Yu Gothic" pitchFamily="34" charset="-120"/>
              </a:rPr>
              <a:t>内装・機器設置。工事業者は本部が手配。</a:t>
            </a:r>
            <a:endParaRPr lang="en-US" sz="950" dirty="0"/>
          </a:p>
        </p:txBody>
      </p:sp>
      <p:sp>
        <p:nvSpPr>
          <p:cNvPr id="42" name="Shape 34"/>
          <p:cNvSpPr/>
          <p:nvPr/>
        </p:nvSpPr>
        <p:spPr>
          <a:xfrm rot="5400000">
            <a:off x="9357238" y="3699662"/>
            <a:ext cx="164592" cy="164592"/>
          </a:xfrm>
          <a:prstGeom prst="triangle">
            <a:avLst/>
          </a:prstGeom>
          <a:solidFill>
            <a:srgbClr val="CFC9BB"/>
          </a:solidFill>
          <a:ln/>
        </p:spPr>
      </p:sp>
      <p:sp>
        <p:nvSpPr>
          <p:cNvPr id="43" name="Shape 35"/>
          <p:cNvSpPr/>
          <p:nvPr/>
        </p:nvSpPr>
        <p:spPr>
          <a:xfrm>
            <a:off x="9576694" y="2437790"/>
            <a:ext cx="1954804" cy="2688336"/>
          </a:xfrm>
          <a:prstGeom prst="roundRect">
            <a:avLst>
              <a:gd name="adj" fmla="val 2807"/>
            </a:avLst>
          </a:prstGeom>
          <a:solidFill>
            <a:srgbClr val="0C5230"/>
          </a:solidFill>
          <a:ln/>
        </p:spPr>
      </p:sp>
      <p:sp>
        <p:nvSpPr>
          <p:cNvPr id="44" name="Text 36"/>
          <p:cNvSpPr/>
          <p:nvPr/>
        </p:nvSpPr>
        <p:spPr>
          <a:xfrm>
            <a:off x="9796150" y="2675534"/>
            <a:ext cx="1515892" cy="182880"/>
          </a:xfrm>
          <a:prstGeom prst="rect">
            <a:avLst/>
          </a:prstGeom>
          <a:noFill/>
          <a:ln/>
        </p:spPr>
        <p:txBody>
          <a:bodyPr wrap="square" lIns="0" tIns="0" rIns="0" bIns="0" rtlCol="0" anchor="ctr"/>
          <a:lstStyle/>
          <a:p>
            <a:pPr indent="0" marL="0">
              <a:buNone/>
            </a:pPr>
            <a:r>
              <a:rPr lang="en-US" sz="900" b="1" spc="120" kern="0" dirty="0">
                <a:solidFill>
                  <a:srgbClr val="8CC5A5"/>
                </a:solidFill>
                <a:latin typeface="Arial" pitchFamily="34" charset="0"/>
                <a:ea typeface="Arial" pitchFamily="34" charset="-122"/>
                <a:cs typeface="Arial" pitchFamily="34" charset="-120"/>
              </a:rPr>
              <a:t>STEP 05</a:t>
            </a:r>
            <a:endParaRPr lang="en-US" sz="900" dirty="0"/>
          </a:p>
        </p:txBody>
      </p:sp>
      <p:sp>
        <p:nvSpPr>
          <p:cNvPr id="45" name="Shape 37"/>
          <p:cNvSpPr/>
          <p:nvPr/>
        </p:nvSpPr>
        <p:spPr>
          <a:xfrm>
            <a:off x="10188336" y="3041294"/>
            <a:ext cx="731520" cy="731520"/>
          </a:xfrm>
          <a:prstGeom prst="ellipse">
            <a:avLst/>
          </a:prstGeom>
          <a:solidFill>
            <a:srgbClr val="17553A"/>
          </a:solidFill>
          <a:ln/>
        </p:spPr>
      </p:sp>
      <p:pic>
        <p:nvPicPr>
          <p:cNvPr id="46" name="Image 6" descr="/home/user/suzuki-ceo/selfcafe-gyomu-deck/assets/icons/LuStore-white.png">    </p:cNvPr>
          <p:cNvPicPr>
            <a:picLocks noChangeAspect="1"/>
          </p:cNvPicPr>
          <p:nvPr/>
        </p:nvPicPr>
        <p:blipFill>
          <a:blip r:embed="rId7"/>
          <a:stretch>
            <a:fillRect/>
          </a:stretch>
        </p:blipFill>
        <p:spPr>
          <a:xfrm>
            <a:off x="10352928" y="3205886"/>
            <a:ext cx="402336" cy="402336"/>
          </a:xfrm>
          <a:prstGeom prst="rect">
            <a:avLst/>
          </a:prstGeom>
        </p:spPr>
      </p:pic>
      <p:sp>
        <p:nvSpPr>
          <p:cNvPr id="47" name="Text 38"/>
          <p:cNvSpPr/>
          <p:nvPr/>
        </p:nvSpPr>
        <p:spPr>
          <a:xfrm>
            <a:off x="9704710" y="3919118"/>
            <a:ext cx="1698772"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Yu Gothic" pitchFamily="34" charset="0"/>
                <a:ea typeface="Yu Gothic" pitchFamily="34" charset="-122"/>
                <a:cs typeface="Yu Gothic" pitchFamily="34" charset="-120"/>
              </a:rPr>
              <a:t>運営開始</a:t>
            </a:r>
            <a:endParaRPr lang="en-US" sz="1600" dirty="0"/>
          </a:p>
        </p:txBody>
      </p:sp>
      <p:sp>
        <p:nvSpPr>
          <p:cNvPr id="48" name="Text 39"/>
          <p:cNvSpPr/>
          <p:nvPr/>
        </p:nvSpPr>
        <p:spPr>
          <a:xfrm>
            <a:off x="9704710" y="4321454"/>
            <a:ext cx="1698772" cy="713232"/>
          </a:xfrm>
          <a:prstGeom prst="rect">
            <a:avLst/>
          </a:prstGeom>
          <a:noFill/>
          <a:ln/>
        </p:spPr>
        <p:txBody>
          <a:bodyPr wrap="square" lIns="0" tIns="0" rIns="0" bIns="0" rtlCol="0" anchor="t"/>
          <a:lstStyle/>
          <a:p>
            <a:pPr algn="ctr" indent="0" marL="0">
              <a:lnSpc>
                <a:spcPct val="135000"/>
              </a:lnSpc>
              <a:buNone/>
            </a:pPr>
            <a:r>
              <a:rPr lang="en-US" sz="950" dirty="0">
                <a:solidFill>
                  <a:srgbClr val="AFC2B8"/>
                </a:solidFill>
                <a:latin typeface="Yu Gothic" pitchFamily="34" charset="0"/>
                <a:ea typeface="Yu Gothic" pitchFamily="34" charset="-122"/>
                <a:cs typeface="Yu Gothic" pitchFamily="34" charset="-120"/>
              </a:rPr>
              <a:t>運営研修を経て、オープン。</a:t>
            </a:r>
            <a:endParaRPr lang="en-US" sz="950" dirty="0"/>
          </a:p>
        </p:txBody>
      </p:sp>
      <p:sp>
        <p:nvSpPr>
          <p:cNvPr id="49" name="Text 40"/>
          <p:cNvSpPr/>
          <p:nvPr/>
        </p:nvSpPr>
        <p:spPr>
          <a:xfrm>
            <a:off x="660197" y="6053328"/>
            <a:ext cx="10871302" cy="182880"/>
          </a:xfrm>
          <a:prstGeom prst="rect">
            <a:avLst/>
          </a:prstGeom>
          <a:noFill/>
          <a:ln/>
        </p:spPr>
        <p:txBody>
          <a:bodyPr wrap="square" lIns="0" tIns="0" rIns="0" bIns="0" rtlCol="0" anchor="ctr"/>
          <a:lstStyle/>
          <a:p>
            <a:pPr indent="0" marL="0">
              <a:buNone/>
            </a:pPr>
            <a:r>
              <a:rPr lang="en-US" sz="850" dirty="0">
                <a:solidFill>
                  <a:srgbClr val="A8B0AA"/>
                </a:solidFill>
                <a:latin typeface="Yu Gothic" pitchFamily="34" charset="0"/>
                <a:ea typeface="Yu Gothic" pitchFamily="34" charset="-122"/>
                <a:cs typeface="Yu Gothic" pitchFamily="34" charset="-120"/>
              </a:rPr>
              <a:t>※ 工事内容・立地条件により期間は変動します。</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home/user/suzuki-ceo/selfcafe-gyomu-deck/assets/cover-bg.png">    </p:cNvPr>
          <p:cNvPicPr>
            <a:picLocks noChangeAspect="1"/>
          </p:cNvPicPr>
          <p:nvPr/>
        </p:nvPicPr>
        <p:blipFill>
          <a:blip r:embed="rId1"/>
          <a:stretch>
            <a:fillRect/>
          </a:stretch>
        </p:blipFill>
        <p:spPr>
          <a:xfrm>
            <a:off x="0" y="0"/>
            <a:ext cx="12191695" cy="6858000"/>
          </a:xfrm>
          <a:prstGeom prst="rect">
            <a:avLst/>
          </a:prstGeom>
        </p:spPr>
      </p:pic>
      <p:pic>
        <p:nvPicPr>
          <p:cNvPr id="3" name="Image 1" descr="/home/user/suzuki-ceo/selfcafe-gyomu-deck/assets/logo-white.png">    </p:cNvPr>
          <p:cNvPicPr>
            <a:picLocks noChangeAspect="1"/>
          </p:cNvPicPr>
          <p:nvPr/>
        </p:nvPicPr>
        <p:blipFill>
          <a:blip r:embed="rId2"/>
          <a:stretch>
            <a:fillRect/>
          </a:stretch>
        </p:blipFill>
        <p:spPr>
          <a:xfrm>
            <a:off x="812902" y="1014984"/>
            <a:ext cx="2616098" cy="372161"/>
          </a:xfrm>
          <a:prstGeom prst="rect">
            <a:avLst/>
          </a:prstGeom>
        </p:spPr>
      </p:pic>
      <p:sp>
        <p:nvSpPr>
          <p:cNvPr id="4" name="Text 0"/>
          <p:cNvSpPr/>
          <p:nvPr/>
        </p:nvSpPr>
        <p:spPr>
          <a:xfrm>
            <a:off x="10261397" y="6463894"/>
            <a:ext cx="1270102" cy="152705"/>
          </a:xfrm>
          <a:prstGeom prst="rect">
            <a:avLst/>
          </a:prstGeom>
          <a:noFill/>
          <a:ln/>
        </p:spPr>
        <p:txBody>
          <a:bodyPr wrap="square" lIns="0" tIns="0" rIns="0" bIns="0" rtlCol="0" anchor="ctr"/>
          <a:lstStyle/>
          <a:p>
            <a:pPr algn="r" indent="0" marL="0">
              <a:buNone/>
            </a:pPr>
            <a:r>
              <a:rPr lang="en-US" sz="1000" b="1" dirty="0">
                <a:solidFill>
                  <a:srgbClr val="8FA398"/>
                </a:solidFill>
                <a:latin typeface="Arial" pitchFamily="34" charset="0"/>
                <a:ea typeface="Arial" pitchFamily="34" charset="-122"/>
                <a:cs typeface="Arial" pitchFamily="34" charset="-120"/>
              </a:rPr>
              <a:t>26</a:t>
            </a:r>
            <a:endParaRPr lang="en-US" sz="1000" dirty="0"/>
          </a:p>
        </p:txBody>
      </p:sp>
      <p:sp>
        <p:nvSpPr>
          <p:cNvPr id="5" name="Shape 1"/>
          <p:cNvSpPr/>
          <p:nvPr/>
        </p:nvSpPr>
        <p:spPr>
          <a:xfrm>
            <a:off x="812902" y="1874520"/>
            <a:ext cx="711403" cy="25603"/>
          </a:xfrm>
          <a:prstGeom prst="rect">
            <a:avLst/>
          </a:prstGeom>
          <a:solidFill>
            <a:srgbClr val="C79A44"/>
          </a:solidFill>
          <a:ln/>
        </p:spPr>
      </p:sp>
      <p:sp>
        <p:nvSpPr>
          <p:cNvPr id="6" name="Text 2"/>
          <p:cNvSpPr/>
          <p:nvPr/>
        </p:nvSpPr>
        <p:spPr>
          <a:xfrm>
            <a:off x="812902" y="2084832"/>
            <a:ext cx="7315200" cy="786384"/>
          </a:xfrm>
          <a:prstGeom prst="rect">
            <a:avLst/>
          </a:prstGeom>
          <a:noFill/>
          <a:ln/>
        </p:spPr>
        <p:txBody>
          <a:bodyPr wrap="square" lIns="0" tIns="0" rIns="0" bIns="0" rtlCol="0" anchor="ctr"/>
          <a:lstStyle/>
          <a:p>
            <a:pPr indent="0" marL="0">
              <a:buNone/>
            </a:pPr>
            <a:r>
              <a:rPr lang="en-US" sz="4200" b="1" dirty="0">
                <a:solidFill>
                  <a:srgbClr val="FFFFFF"/>
                </a:solidFill>
                <a:latin typeface="Yu Gothic" pitchFamily="34" charset="0"/>
                <a:ea typeface="Yu Gothic" pitchFamily="34" charset="-122"/>
                <a:cs typeface="Yu Gothic" pitchFamily="34" charset="-120"/>
              </a:rPr>
              <a:t>お問い合わせ</a:t>
            </a:r>
            <a:endParaRPr lang="en-US" sz="4200" dirty="0"/>
          </a:p>
        </p:txBody>
      </p:sp>
      <p:sp>
        <p:nvSpPr>
          <p:cNvPr id="7" name="Text 3"/>
          <p:cNvSpPr/>
          <p:nvPr/>
        </p:nvSpPr>
        <p:spPr>
          <a:xfrm>
            <a:off x="812902" y="2962656"/>
            <a:ext cx="6949440" cy="658368"/>
          </a:xfrm>
          <a:prstGeom prst="rect">
            <a:avLst/>
          </a:prstGeom>
          <a:noFill/>
          <a:ln/>
        </p:spPr>
        <p:txBody>
          <a:bodyPr wrap="square" lIns="0" tIns="0" rIns="0" bIns="0" rtlCol="0" anchor="t"/>
          <a:lstStyle/>
          <a:p>
            <a:pPr indent="0" marL="0">
              <a:lnSpc>
                <a:spcPct val="145000"/>
              </a:lnSpc>
              <a:buNone/>
            </a:pPr>
            <a:r>
              <a:rPr lang="en-US" sz="1250" dirty="0">
                <a:solidFill>
                  <a:srgbClr val="AFC2B8"/>
                </a:solidFill>
                <a:latin typeface="Yu Gothic" pitchFamily="34" charset="0"/>
                <a:ea typeface="Yu Gothic" pitchFamily="34" charset="-122"/>
                <a:cs typeface="Yu Gothic" pitchFamily="34" charset="-120"/>
              </a:rPr>
              <a:t>会社名・氏名・連絡先をご記入の上ご連絡ください。</a:t>
            </a:r>
            <a:endParaRPr lang="en-US" sz="1250" dirty="0"/>
          </a:p>
        </p:txBody>
      </p:sp>
      <p:sp>
        <p:nvSpPr>
          <p:cNvPr id="8" name="Shape 4"/>
          <p:cNvSpPr/>
          <p:nvPr/>
        </p:nvSpPr>
        <p:spPr>
          <a:xfrm>
            <a:off x="812902" y="3931920"/>
            <a:ext cx="457200" cy="457200"/>
          </a:xfrm>
          <a:prstGeom prst="ellipse">
            <a:avLst/>
          </a:prstGeom>
          <a:solidFill>
            <a:srgbClr val="17553A"/>
          </a:solidFill>
          <a:ln/>
        </p:spPr>
      </p:sp>
      <p:pic>
        <p:nvPicPr>
          <p:cNvPr id="9" name="Image 2" descr="/home/user/suzuki-ceo/selfcafe-gyomu-deck/assets/icons/LuPhone-white.png">    </p:cNvPr>
          <p:cNvPicPr>
            <a:picLocks noChangeAspect="1"/>
          </p:cNvPicPr>
          <p:nvPr/>
        </p:nvPicPr>
        <p:blipFill>
          <a:blip r:embed="rId3"/>
          <a:stretch>
            <a:fillRect/>
          </a:stretch>
        </p:blipFill>
        <p:spPr>
          <a:xfrm>
            <a:off x="941832" y="4059936"/>
            <a:ext cx="201168" cy="201168"/>
          </a:xfrm>
          <a:prstGeom prst="rect">
            <a:avLst/>
          </a:prstGeom>
        </p:spPr>
      </p:pic>
      <p:sp>
        <p:nvSpPr>
          <p:cNvPr id="10" name="Text 5"/>
          <p:cNvSpPr/>
          <p:nvPr/>
        </p:nvSpPr>
        <p:spPr>
          <a:xfrm>
            <a:off x="1444752" y="3931920"/>
            <a:ext cx="1005840" cy="457200"/>
          </a:xfrm>
          <a:prstGeom prst="rect">
            <a:avLst/>
          </a:prstGeom>
          <a:noFill/>
          <a:ln/>
        </p:spPr>
        <p:txBody>
          <a:bodyPr wrap="square" lIns="0" tIns="0" rIns="0" bIns="0" rtlCol="0" anchor="ctr"/>
          <a:lstStyle/>
          <a:p>
            <a:pPr indent="0" marL="0">
              <a:buNone/>
            </a:pPr>
            <a:r>
              <a:rPr lang="en-US" sz="950" b="1" spc="100" kern="0" dirty="0">
                <a:solidFill>
                  <a:srgbClr val="8CC5A5"/>
                </a:solidFill>
                <a:latin typeface="Arial" pitchFamily="34" charset="0"/>
                <a:ea typeface="Arial" pitchFamily="34" charset="-122"/>
                <a:cs typeface="Arial" pitchFamily="34" charset="-120"/>
              </a:rPr>
              <a:t>TEL</a:t>
            </a:r>
            <a:endParaRPr lang="en-US" sz="950" dirty="0"/>
          </a:p>
        </p:txBody>
      </p:sp>
      <p:sp>
        <p:nvSpPr>
          <p:cNvPr id="11" name="Text 6"/>
          <p:cNvSpPr/>
          <p:nvPr/>
        </p:nvSpPr>
        <p:spPr>
          <a:xfrm>
            <a:off x="2487168" y="3931920"/>
            <a:ext cx="4206240" cy="45720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052-879-3557</a:t>
            </a:r>
            <a:endParaRPr lang="en-US" sz="1700" dirty="0"/>
          </a:p>
        </p:txBody>
      </p:sp>
      <p:sp>
        <p:nvSpPr>
          <p:cNvPr id="12" name="Text 7"/>
          <p:cNvSpPr/>
          <p:nvPr/>
        </p:nvSpPr>
        <p:spPr>
          <a:xfrm>
            <a:off x="6766560" y="3931920"/>
            <a:ext cx="1828800" cy="457200"/>
          </a:xfrm>
          <a:prstGeom prst="rect">
            <a:avLst/>
          </a:prstGeom>
          <a:noFill/>
          <a:ln/>
        </p:spPr>
        <p:txBody>
          <a:bodyPr wrap="square" lIns="0" tIns="0" rIns="0" bIns="0" rtlCol="0" anchor="ctr"/>
          <a:lstStyle/>
          <a:p>
            <a:pPr indent="0" marL="0">
              <a:buNone/>
            </a:pPr>
            <a:r>
              <a:rPr lang="en-US" sz="1050" dirty="0">
                <a:solidFill>
                  <a:srgbClr val="8FA398"/>
                </a:solidFill>
                <a:latin typeface="Yu Gothic" pitchFamily="34" charset="0"/>
                <a:ea typeface="Yu Gothic" pitchFamily="34" charset="-122"/>
                <a:cs typeface="Yu Gothic" pitchFamily="34" charset="-120"/>
              </a:rPr>
              <a:t>セルフカフェ株式会社 本社</a:t>
            </a:r>
            <a:endParaRPr lang="en-US" sz="1050" dirty="0"/>
          </a:p>
        </p:txBody>
      </p:sp>
      <p:sp>
        <p:nvSpPr>
          <p:cNvPr id="13" name="Shape 8"/>
          <p:cNvSpPr/>
          <p:nvPr/>
        </p:nvSpPr>
        <p:spPr>
          <a:xfrm>
            <a:off x="812902" y="4645152"/>
            <a:ext cx="457200" cy="457200"/>
          </a:xfrm>
          <a:prstGeom prst="ellipse">
            <a:avLst/>
          </a:prstGeom>
          <a:solidFill>
            <a:srgbClr val="17553A"/>
          </a:solidFill>
          <a:ln/>
        </p:spPr>
      </p:sp>
      <p:pic>
        <p:nvPicPr>
          <p:cNvPr id="14" name="Image 3" descr="/home/user/suzuki-ceo/selfcafe-gyomu-deck/assets/icons/LuMail-white.png">    </p:cNvPr>
          <p:cNvPicPr>
            <a:picLocks noChangeAspect="1"/>
          </p:cNvPicPr>
          <p:nvPr/>
        </p:nvPicPr>
        <p:blipFill>
          <a:blip r:embed="rId4"/>
          <a:stretch>
            <a:fillRect/>
          </a:stretch>
        </p:blipFill>
        <p:spPr>
          <a:xfrm>
            <a:off x="941832" y="4773168"/>
            <a:ext cx="201168" cy="201168"/>
          </a:xfrm>
          <a:prstGeom prst="rect">
            <a:avLst/>
          </a:prstGeom>
        </p:spPr>
      </p:pic>
      <p:sp>
        <p:nvSpPr>
          <p:cNvPr id="15" name="Text 9"/>
          <p:cNvSpPr/>
          <p:nvPr/>
        </p:nvSpPr>
        <p:spPr>
          <a:xfrm>
            <a:off x="1444752" y="4645152"/>
            <a:ext cx="1005840" cy="457200"/>
          </a:xfrm>
          <a:prstGeom prst="rect">
            <a:avLst/>
          </a:prstGeom>
          <a:noFill/>
          <a:ln/>
        </p:spPr>
        <p:txBody>
          <a:bodyPr wrap="square" lIns="0" tIns="0" rIns="0" bIns="0" rtlCol="0" anchor="ctr"/>
          <a:lstStyle/>
          <a:p>
            <a:pPr indent="0" marL="0">
              <a:buNone/>
            </a:pPr>
            <a:r>
              <a:rPr lang="en-US" sz="950" b="1" spc="100" kern="0" dirty="0">
                <a:solidFill>
                  <a:srgbClr val="8CC5A5"/>
                </a:solidFill>
                <a:latin typeface="Arial" pitchFamily="34" charset="0"/>
                <a:ea typeface="Arial" pitchFamily="34" charset="-122"/>
                <a:cs typeface="Arial" pitchFamily="34" charset="-120"/>
              </a:rPr>
              <a:t>E-MAIL</a:t>
            </a:r>
            <a:endParaRPr lang="en-US" sz="950" dirty="0"/>
          </a:p>
        </p:txBody>
      </p:sp>
      <p:sp>
        <p:nvSpPr>
          <p:cNvPr id="16" name="Text 10"/>
          <p:cNvSpPr/>
          <p:nvPr/>
        </p:nvSpPr>
        <p:spPr>
          <a:xfrm>
            <a:off x="2487168" y="4645152"/>
            <a:ext cx="4206240" cy="45720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info@selfcafe.jp</a:t>
            </a:r>
            <a:endParaRPr lang="en-US" sz="1700" dirty="0"/>
          </a:p>
        </p:txBody>
      </p:sp>
      <p:sp>
        <p:nvSpPr>
          <p:cNvPr id="17" name="Shape 11"/>
          <p:cNvSpPr/>
          <p:nvPr/>
        </p:nvSpPr>
        <p:spPr>
          <a:xfrm>
            <a:off x="812902" y="5358384"/>
            <a:ext cx="457200" cy="457200"/>
          </a:xfrm>
          <a:prstGeom prst="ellipse">
            <a:avLst/>
          </a:prstGeom>
          <a:solidFill>
            <a:srgbClr val="17553A"/>
          </a:solidFill>
          <a:ln/>
        </p:spPr>
      </p:sp>
      <p:pic>
        <p:nvPicPr>
          <p:cNvPr id="18" name="Image 4" descr="/home/user/suzuki-ceo/selfcafe-gyomu-deck/assets/icons/LuGlobe-white.png">    </p:cNvPr>
          <p:cNvPicPr>
            <a:picLocks noChangeAspect="1"/>
          </p:cNvPicPr>
          <p:nvPr/>
        </p:nvPicPr>
        <p:blipFill>
          <a:blip r:embed="rId5"/>
          <a:stretch>
            <a:fillRect/>
          </a:stretch>
        </p:blipFill>
        <p:spPr>
          <a:xfrm>
            <a:off x="941832" y="5486400"/>
            <a:ext cx="201168" cy="201168"/>
          </a:xfrm>
          <a:prstGeom prst="rect">
            <a:avLst/>
          </a:prstGeom>
        </p:spPr>
      </p:pic>
      <p:sp>
        <p:nvSpPr>
          <p:cNvPr id="19" name="Text 12"/>
          <p:cNvSpPr/>
          <p:nvPr/>
        </p:nvSpPr>
        <p:spPr>
          <a:xfrm>
            <a:off x="1444752" y="5358384"/>
            <a:ext cx="1005840" cy="457200"/>
          </a:xfrm>
          <a:prstGeom prst="rect">
            <a:avLst/>
          </a:prstGeom>
          <a:noFill/>
          <a:ln/>
        </p:spPr>
        <p:txBody>
          <a:bodyPr wrap="square" lIns="0" tIns="0" rIns="0" bIns="0" rtlCol="0" anchor="ctr"/>
          <a:lstStyle/>
          <a:p>
            <a:pPr indent="0" marL="0">
              <a:buNone/>
            </a:pPr>
            <a:r>
              <a:rPr lang="en-US" sz="950" b="1" spc="100" kern="0" dirty="0">
                <a:solidFill>
                  <a:srgbClr val="8CC5A5"/>
                </a:solidFill>
                <a:latin typeface="Arial" pitchFamily="34" charset="0"/>
                <a:ea typeface="Arial" pitchFamily="34" charset="-122"/>
                <a:cs typeface="Arial" pitchFamily="34" charset="-120"/>
              </a:rPr>
              <a:t>WEB</a:t>
            </a:r>
            <a:endParaRPr lang="en-US" sz="950" dirty="0"/>
          </a:p>
        </p:txBody>
      </p:sp>
      <p:sp>
        <p:nvSpPr>
          <p:cNvPr id="20" name="Text 13"/>
          <p:cNvSpPr/>
          <p:nvPr/>
        </p:nvSpPr>
        <p:spPr>
          <a:xfrm>
            <a:off x="2487168" y="5358384"/>
            <a:ext cx="4206240" cy="45720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https://selfcafe.jp/</a:t>
            </a:r>
            <a:endParaRPr lang="en-US" sz="1700" dirty="0"/>
          </a:p>
        </p:txBody>
      </p:sp>
      <p:sp>
        <p:nvSpPr>
          <p:cNvPr id="21" name="Text 14"/>
          <p:cNvSpPr/>
          <p:nvPr/>
        </p:nvSpPr>
        <p:spPr>
          <a:xfrm>
            <a:off x="8229600" y="6217920"/>
            <a:ext cx="3301898" cy="237744"/>
          </a:xfrm>
          <a:prstGeom prst="rect">
            <a:avLst/>
          </a:prstGeom>
          <a:noFill/>
          <a:ln/>
        </p:spPr>
        <p:txBody>
          <a:bodyPr wrap="square" lIns="0" tIns="0" rIns="0" bIns="0" rtlCol="0" anchor="ctr"/>
          <a:lstStyle/>
          <a:p>
            <a:pPr algn="r" indent="0" marL="0">
              <a:buNone/>
            </a:pPr>
            <a:r>
              <a:rPr lang="en-US" sz="1050" dirty="0">
                <a:solidFill>
                  <a:srgbClr val="8FA398"/>
                </a:solidFill>
                <a:latin typeface="Yu Gothic" pitchFamily="34" charset="0"/>
                <a:ea typeface="Yu Gothic" pitchFamily="34" charset="-122"/>
                <a:cs typeface="Yu Gothic" pitchFamily="34" charset="-120"/>
              </a:rPr>
              <a:t>セルフカフェ株式会社</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セルフカフェ 業務委託型制度</dc:title>
  <dc:subject>PptxGenJS Presentation</dc:subject>
  <dc:creator>セルフカフェ株式会社</dc:creator>
  <cp:lastModifiedBy>セルフカフェ株式会社</cp:lastModifiedBy>
  <cp:revision>1</cp:revision>
  <dcterms:created xsi:type="dcterms:W3CDTF">2026-09-01T04:02:54Z</dcterms:created>
  <dcterms:modified xsi:type="dcterms:W3CDTF">2026-09-01T04:02:54Z</dcterms:modified>
</cp:coreProperties>
</file>