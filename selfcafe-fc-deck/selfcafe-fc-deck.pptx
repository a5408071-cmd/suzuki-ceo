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累計店舗数</c:v>
                </c:pt>
              </c:strCache>
            </c:strRef>
          </c:tx>
          <c:spPr>
            <a:solidFill>
              <a:srgbClr val="2E7D32">
                <a:alpha val="22000"/>
              </a:srgbClr>
            </a:solidFill>
            <a:ln w="9525" cap="flat">
              <a:solidFill>
                <a:srgbClr val="2E7D3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noMultiLvlLbl val="1"/>
        <c:tickLblSkip val="1"/>
      </c:catAx>
      <c:valAx>
        <c:axId val="2094734552"/>
        <c:scaling>
          <c:orientation val="minMax"/>
          <c:max val="80"/>
          <c:min val="0"/>
        </c:scaling>
        <c:delete val="0"/>
        <c:axPos val="l"/>
        <c:majorGridlines>
          <c:spPr>
            <a:ln w="9525" cap="flat">
              <a:solidFill>
                <a:srgbClr val="E6DFC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月間利用者数（人・左軸）</c:v>
                </c:pt>
              </c:strCache>
            </c:strRef>
          </c:tx>
          <c:spPr>
            <a:solidFill>
              <a:srgbClr val="2E7D32"/>
            </a:solidFill>
            <a:effectLst/>
          </c:spPr>
          <c:invertIfNegative val="0"/>
          <c:dLbls>
            <c:numFmt formatCode="#,##0" sourceLinked="0"/>
            <c:txPr>
              <a:bodyPr/>
              <a:lstStyle/>
              <a:p>
                <a:pPr>
                  <a:defRPr b="0" i="0" strike="noStrike" sz="900" u="none">
                    <a:solidFill>
                      <a:srgbClr val="1B5E20"/>
                    </a:solidFill>
                    <a:latin typeface="Arial"/>
                  </a:defRPr>
                </a:pPr>
              </a:p>
            </c:txPr>
            <c:dLblPos val="outEnd"/>
            <c:showLegendKey val="0"/>
            <c:showVal val="1"/>
            <c:showCatName val="0"/>
            <c:showSerName val="0"/>
            <c:showPercent val="0"/>
            <c:showBubbleSize val="0"/>
            <c:showLeaderLines val="0"/>
          </c:dLbls>
          <c:cat>
            <c:multiLvlStrRef>
              <c:f>Sheet1!$A$2:$A$9</c:f>
              <c:multiLvlStrCache>
                <c:ptCount val="8"/>
                <c:lvl>
                  <c:pt idx="0">
                    <c:v>2023.01</c:v>
                  </c:pt>
                  <c:pt idx="1">
                    <c:v>2023.07</c:v>
                  </c:pt>
                  <c:pt idx="2">
                    <c:v>2024.01</c:v>
                  </c:pt>
                  <c:pt idx="3">
                    <c:v>2024.07</c:v>
                  </c:pt>
                  <c:pt idx="4">
                    <c:v>2025.01</c:v>
                  </c:pt>
                  <c:pt idx="5">
                    <c:v>2025.07</c:v>
                  </c:pt>
                  <c:pt idx="6">
                    <c:v>2026.01</c:v>
                  </c:pt>
                  <c:pt idx="7">
                    <c:v>2026.07</c:v>
                  </c:pt>
                </c:lvl>
              </c:multiLvlStrCache>
            </c:multiLvlStrRef>
          </c:cat>
          <c:val>
            <c:numRef>
              <c:f>Sheet1!$B$2:$B$9</c:f>
              <c:numCache>
                <c:formatCode>General</c:formatCode>
                <c:ptCount val="8"/>
                <c:pt idx="0">
                  <c:v>895</c:v>
                </c:pt>
                <c:pt idx="1">
                  <c:v>1419</c:v>
                </c:pt>
                <c:pt idx="2">
                  <c:v>9722</c:v>
                </c:pt>
                <c:pt idx="3">
                  <c:v>26383</c:v>
                </c:pt>
                <c:pt idx="4">
                  <c:v>46017</c:v>
                </c:pt>
                <c:pt idx="5">
                  <c:v>74260</c:v>
                </c:pt>
                <c:pt idx="6">
                  <c:v>80293</c:v>
                </c:pt>
                <c:pt idx="7">
                  <c:v>101343</c:v>
                </c:pt>
              </c:numCache>
            </c:numRef>
          </c:val>
        </c:ser>
        <c:dLbls>
          <c:numFmt formatCode="#,##0" sourceLinked="0"/>
          <c:txPr>
            <a:bodyPr/>
            <a:lstStyle/>
            <a:p>
              <a:pPr>
                <a:defRPr b="0" i="0" strike="noStrike" sz="900" u="none">
                  <a:solidFill>
                    <a:srgbClr val="1B5E20"/>
                  </a:solidFill>
                  <a:latin typeface="Arial"/>
                </a:defRPr>
              </a:pPr>
            </a:p>
          </c:txPr>
          <c:dLblPos val="outEnd"/>
          <c:showLegendKey val="0"/>
          <c:showVal val="1"/>
          <c:showCatName val="0"/>
          <c:showSerName val="0"/>
          <c:showPercent val="0"/>
          <c:showBubbleSize val="0"/>
          <c:showLeaderLines val="0"/>
        </c:dLbls>
        <c:gapWidth val="52"/>
        <c:overlap val="0"/>
        <c:axId val="2094734554"/>
        <c:axId val="2094734552"/>
        <c:axId val="2094734556"/>
      </c:barChart>
      <c:lineChart>
        <c:varyColors val="0"/>
        <c:ser>
          <c:idx val="1"/>
          <c:order val="1"/>
          <c:tx>
            <c:strRef>
              <c:f>Sheet1!$C$1</c:f>
              <c:strCache>
                <c:ptCount val="1"/>
                <c:pt idx="0">
                  <c:v>累計店舗数（店・右軸）</c:v>
                </c:pt>
              </c:strCache>
            </c:strRef>
          </c:tx>
          <c:spPr>
            <a:solidFill>
              <a:srgbClr val="B8893B"/>
            </a:solidFill>
            <a:ln w="31750" cap="flat">
              <a:solidFill>
                <a:srgbClr val="B889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8893B"/>
              </a:solidFill>
              <a:ln w="1.25" cap="flat">
                <a:solidFill>
                  <a:srgbClr val="B8893B"/>
                </a:solidFill>
                <a:prstDash val="solid"/>
                <a:round/>
              </a:ln>
              <a:effectLst/>
            </c:spPr>
          </c:marker>
          <c:cat>
            <c:multiLvlStrRef>
              <c:f>Sheet1!$A$2:$A$9</c:f>
              <c:multiLvlStrCache>
                <c:ptCount val="8"/>
                <c:lvl>
                  <c:pt idx="0">
                    <c:v>2023.01</c:v>
                  </c:pt>
                  <c:pt idx="1">
                    <c:v>2023.07</c:v>
                  </c:pt>
                  <c:pt idx="2">
                    <c:v>2024.01</c:v>
                  </c:pt>
                  <c:pt idx="3">
                    <c:v>2024.07</c:v>
                  </c:pt>
                  <c:pt idx="4">
                    <c:v>2025.01</c:v>
                  </c:pt>
                  <c:pt idx="5">
                    <c:v>2025.07</c:v>
                  </c:pt>
                  <c:pt idx="6">
                    <c:v>2026.01</c:v>
                  </c:pt>
                  <c:pt idx="7">
                    <c:v>2026.07</c:v>
                  </c:pt>
                </c:lvl>
              </c:multiLvlStrCache>
            </c:multiLvlStrRef>
          </c:cat>
          <c:val>
            <c:numRef>
              <c:f>Sheet1!$C$2:$C$9</c:f>
              <c:numCache>
                <c:formatCode>General</c:formatCode>
                <c:ptCount val="8"/>
                <c:pt idx="0">
                  <c:v>1</c:v>
                </c:pt>
                <c:pt idx="1">
                  <c:v>1</c:v>
                </c:pt>
                <c:pt idx="2">
                  <c:v>9</c:v>
                </c:pt>
                <c:pt idx="3">
                  <c:v>22</c:v>
                </c:pt>
                <c:pt idx="4">
                  <c:v>32</c:v>
                </c:pt>
                <c:pt idx="5">
                  <c:v>46</c:v>
                </c:pt>
                <c:pt idx="6">
                  <c:v>51</c:v>
                </c:pt>
                <c:pt idx="7">
                  <c:v>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noMultiLvlLbl val="1"/>
      </c:catAx>
      <c:valAx>
        <c:axId val="2094734552"/>
        <c:scaling>
          <c:orientation val="minMax"/>
          <c:max val="150000"/>
          <c:min val="0"/>
        </c:scaling>
        <c:delete val="0"/>
        <c:axPos val="l"/>
        <c:majorGridlines>
          <c:spPr>
            <a:ln w="9525" cap="flat">
              <a:solidFill>
                <a:srgbClr val="E6DFCD"/>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4"/>
        <c:crosses val="autoZero"/>
        <c:crossBetween val="between"/>
        <c:majorUnit val="50000"/>
      </c:valAx>
      <c:valAx>
        <c:axId val="2094734553"/>
        <c:scaling>
          <c:orientation val="minMax"/>
          <c:max val="80"/>
          <c:min val="0"/>
        </c:scaling>
        <c:delete val="0"/>
        <c:axPos val="r"/>
        <c:numFmt formatCode="General"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5"/>
        <c:crosses val="max"/>
        <c:crossBetween val="between"/>
        <c:majorUnit val="20"/>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t"/>
      <c:overlay val="0"/>
      <c:txPr>
        <a:bodyPr/>
        <a:lstStyle/>
        <a:p>
          <a:pPr>
            <a:defRPr sz="1000">
              <a:solidFill>
                <a:srgbClr val="6E6A61"/>
              </a:solidFill>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AC"/>
            </a:solidFill>
            <a:effectLst/>
          </c:spPr>
          <c:invertIfNegative val="0"/>
          <c:dLbls>
            <c:numFmt formatCode="0&quot;%&quot;" sourceLinked="0"/>
            <c:txPr>
              <a:bodyPr/>
              <a:lstStyle/>
              <a:p>
                <a:pPr>
                  <a:defRPr b="0" i="0" strike="noStrike" sz="1000" u="none">
                    <a:solidFill>
                      <a:srgbClr val="1B5E20"/>
                    </a:solidFill>
                    <a:latin typeface="Arial"/>
                  </a:defRPr>
                </a:pPr>
              </a:p>
            </c:txPr>
            <c:showLegendKey val="0"/>
            <c:showVal val="1"/>
            <c:showCatName val="0"/>
            <c:showSerName val="0"/>
            <c:showPercent val="0"/>
            <c:showBubbleSize val="0"/>
            <c:showLeaderLines val="0"/>
          </c:dLbls>
          <c:dPt>
            <c:idx val="0"/>
            <c:invertIfNegative val="0"/>
            <c:bubble3D val="0"/>
            <c:spPr>
              <a:solidFill>
                <a:srgbClr val="A9C6AC"/>
              </a:solidFill>
              <a:effectLst/>
            </c:spPr>
          </c:dPt>
          <c:dPt>
            <c:idx val="1"/>
            <c:invertIfNegative val="0"/>
            <c:bubble3D val="0"/>
            <c:spPr>
              <a:solidFill>
                <a:srgbClr val="1B5E20"/>
              </a:solidFill>
              <a:effectLst/>
            </c:spPr>
          </c:dPt>
          <c:dPt>
            <c:idx val="2"/>
            <c:invertIfNegative val="0"/>
            <c:bubble3D val="0"/>
            <c:spPr>
              <a:solidFill>
                <a:srgbClr val="1B5E20"/>
              </a:solidFill>
              <a:effectLst/>
            </c:spPr>
          </c:dPt>
          <c:dPt>
            <c:idx val="3"/>
            <c:invertIfNegative val="0"/>
            <c:bubble3D val="0"/>
            <c:spPr>
              <a:solidFill>
                <a:srgbClr val="2E7D32"/>
              </a:solidFill>
              <a:effectLst/>
            </c:spPr>
          </c:dPt>
          <c:dPt>
            <c:idx val="4"/>
            <c:invertIfNegative val="0"/>
            <c:bubble3D val="0"/>
            <c:spPr>
              <a:solidFill>
                <a:srgbClr val="2E7D32"/>
              </a:solidFill>
              <a:effectLst/>
            </c:spPr>
          </c:dPt>
          <c:dPt>
            <c:idx val="5"/>
            <c:invertIfNegative val="0"/>
            <c:bubble3D val="0"/>
            <c:spPr>
              <a:solidFill>
                <a:srgbClr val="E9DEC4"/>
              </a:solidFill>
              <a:effectLst/>
            </c:spPr>
          </c:dPt>
          <c:dPt>
            <c:idx val="6"/>
            <c:invertIfNegative val="0"/>
            <c:bubble3D val="0"/>
            <c:spPr>
              <a:solidFill>
                <a:srgbClr val="E9DEC4"/>
              </a:solidFill>
              <a:effectLst/>
            </c:spPr>
          </c:dPt>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1000" u="none">
                  <a:solidFill>
                    <a:srgbClr val="1B5E2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B5E20"/>
              </a:solidFill>
              <a:effectLst/>
            </c:spPr>
          </c:dPt>
          <c:dPt>
            <c:idx val="1"/>
            <c:bubble3D val="0"/>
            <c:spPr>
              <a:solidFill>
                <a:srgbClr val="B8893B"/>
              </a:solidFill>
              <a:effectLst/>
            </c:spPr>
          </c:dPt>
          <c:dPt>
            <c:idx val="2"/>
            <c:bubble3D val="0"/>
            <c:spPr>
              <a:solidFill>
                <a:srgbClr val="A9C6AC"/>
              </a:solidFill>
              <a:effectLst/>
            </c:spPr>
          </c:dPt>
          <c:dPt>
            <c:idx val="3"/>
            <c:bubble3D val="0"/>
            <c:spPr>
              <a:solidFill>
                <a:srgbClr val="E9DEC4"/>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勉強 62.6%</c:v>
                </c:pt>
                <c:pt idx="1">
                  <c:v>休憩・雑談 22.8%</c:v>
                </c:pt>
                <c:pt idx="2">
                  <c:v>仕事・打ち合わせ 13.0%</c:v>
                </c:pt>
                <c:pt idx="3">
                  <c:v>その他 1.6%</c:v>
                </c:pt>
              </c:strCache>
            </c:strRef>
          </c:cat>
          <c:val>
            <c:numRef>
              <c:f>Sheet1!$B$2:$B$5</c:f>
              <c:numCache>
                <c:ptCount val="4"/>
                <c:pt idx="0">
                  <c:v>62.6</c:v>
                </c:pt>
                <c:pt idx="1">
                  <c:v>22.8</c:v>
                </c:pt>
                <c:pt idx="2">
                  <c:v>13</c:v>
                </c:pt>
                <c:pt idx="3">
                  <c:v>1.6</c:v>
                </c:pt>
              </c:numCache>
            </c:numRef>
          </c:val>
        </c:ser>
        <c:firstSliceAng val="0"/>
        <c:holeSize val="56"/>
      </c:doughnutChart>
      <c:spPr>
        <a:noFill/>
        <a:ln>
          <a:noFill/>
        </a:ln>
        <a:effectLst/>
      </c:spPr>
    </c:plotArea>
    <c:legend>
      <c:legendPos val="b"/>
      <c:overlay val="0"/>
      <c:txPr>
        <a:bodyPr/>
        <a:lstStyle/>
        <a:p>
          <a:pPr>
            <a:defRPr sz="1000">
              <a:solidFill>
                <a:srgbClr val="6E6A61"/>
              </a:solidFill>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5.png"/><Relationship Id="rId7" Type="http://schemas.openxmlformats.org/officeDocument/2006/relationships/image" Target="../media/image-1-5.png"/><Relationship Id="rId8" Type="http://schemas.openxmlformats.org/officeDocument/2006/relationships/image" Target="../media/image-1-5.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3.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chart" Target="/ppt/charts/chart3.xml"/><Relationship Id="rId5" Type="http://schemas.openxmlformats.org/officeDocument/2006/relationships/chart" Target="/ppt/charts/chart4.xm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2.png"/><Relationship Id="rId4" Type="http://schemas.openxmlformats.org/officeDocument/2006/relationships/image" Target="../media/image-13-2.png"/><Relationship Id="rId5" Type="http://schemas.openxmlformats.org/officeDocument/2006/relationships/image" Target="../media/image-13-2.png"/><Relationship Id="rId6" Type="http://schemas.openxmlformats.org/officeDocument/2006/relationships/image" Target="../media/image-13-2.png"/><Relationship Id="rId7" Type="http://schemas.openxmlformats.org/officeDocument/2006/relationships/image" Target="../media/image-13-2.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2.png"/><Relationship Id="rId7" Type="http://schemas.openxmlformats.org/officeDocument/2006/relationships/image" Target="../media/image-14-2.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3.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3.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3.png"/><Relationship Id="rId5" Type="http://schemas.openxmlformats.org/officeDocument/2006/relationships/image" Target="../media/image-23-3.png"/><Relationship Id="rId6" Type="http://schemas.openxmlformats.org/officeDocument/2006/relationships/image" Target="../media/image-23-3.png"/><Relationship Id="rId7" Type="http://schemas.openxmlformats.org/officeDocument/2006/relationships/image" Target="../media/image-23-3.png"/><Relationship Id="rId8" Type="http://schemas.openxmlformats.org/officeDocument/2006/relationships/image" Target="../media/image-23-8.png"/><Relationship Id="rId9" Type="http://schemas.openxmlformats.org/officeDocument/2006/relationships/image" Target="../media/image-23-3.png"/><Relationship Id="rId10" Type="http://schemas.openxmlformats.org/officeDocument/2006/relationships/image" Target="../media/image-23-3.png"/><Relationship Id="rId11" Type="http://schemas.openxmlformats.org/officeDocument/2006/relationships/image" Target="../media/image-23-3.png"/><Relationship Id="rId12" Type="http://schemas.openxmlformats.org/officeDocument/2006/relationships/image" Target="../media/image-23-3.png"/><Relationship Id="rId13" Type="http://schemas.openxmlformats.org/officeDocument/2006/relationships/image" Target="../media/image-23-3.png"/><Relationship Id="rId14" Type="http://schemas.openxmlformats.org/officeDocument/2006/relationships/image" Target="../media/image-23-3.png"/><Relationship Id="rId15" Type="http://schemas.openxmlformats.org/officeDocument/2006/relationships/image" Target="../media/image-23-15.png"/><Relationship Id="rId16" Type="http://schemas.openxmlformats.org/officeDocument/2006/relationships/slideLayout" Target="../slideLayouts/slideLayout1.xml"/><Relationship Id="rId1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401A"/>
        </a:solidFill>
      </p:bgPr>
    </p:bg>
    <p:spTree>
      <p:nvGrpSpPr>
        <p:cNvPr id="1" name=""/>
        <p:cNvGrpSpPr/>
        <p:nvPr/>
      </p:nvGrpSpPr>
      <p:grpSpPr>
        <a:xfrm>
          <a:off x="0" y="0"/>
          <a:ext cx="0" cy="0"/>
          <a:chOff x="0" y="0"/>
          <a:chExt cx="0" cy="0"/>
        </a:xfrm>
      </p:grpSpPr>
      <p:pic>
        <p:nvPicPr>
          <p:cNvPr id="2" name="Image 0" descr="/home/user/suzuki-ceo/selfcafe-fc-deck/assets/logo_white.png">    </p:cNvPr>
          <p:cNvPicPr>
            <a:picLocks noChangeAspect="1"/>
          </p:cNvPicPr>
          <p:nvPr/>
        </p:nvPicPr>
        <p:blipFill>
          <a:blip r:embed="rId1"/>
          <a:stretch>
            <a:fillRect/>
          </a:stretch>
        </p:blipFill>
        <p:spPr>
          <a:xfrm>
            <a:off x="822960" y="658368"/>
            <a:ext cx="2432304" cy="345643"/>
          </a:xfrm>
          <a:prstGeom prst="rect">
            <a:avLst/>
          </a:prstGeom>
        </p:spPr>
      </p:pic>
      <p:sp>
        <p:nvSpPr>
          <p:cNvPr id="3" name="Text 0"/>
          <p:cNvSpPr/>
          <p:nvPr/>
        </p:nvSpPr>
        <p:spPr>
          <a:xfrm>
            <a:off x="822960" y="1481328"/>
            <a:ext cx="8229600" cy="932688"/>
          </a:xfrm>
          <a:prstGeom prst="rect">
            <a:avLst/>
          </a:prstGeom>
          <a:noFill/>
          <a:ln/>
        </p:spPr>
        <p:txBody>
          <a:bodyPr wrap="square" lIns="0" tIns="0" rIns="0" bIns="0" rtlCol="0" anchor="ctr"/>
          <a:lstStyle/>
          <a:p>
            <a:pPr indent="0" marL="0">
              <a:buNone/>
            </a:pPr>
            <a:r>
              <a:rPr lang="en-US" sz="5200" b="1" dirty="0">
                <a:solidFill>
                  <a:srgbClr val="FFFFFF"/>
                </a:solidFill>
                <a:latin typeface="Noto Sans JP" pitchFamily="34" charset="0"/>
                <a:ea typeface="Noto Sans JP" pitchFamily="34" charset="-122"/>
                <a:cs typeface="Noto Sans JP" pitchFamily="34" charset="-120"/>
              </a:rPr>
              <a:t>業務委託型制度</a:t>
            </a:r>
            <a:endParaRPr lang="en-US" sz="5200" dirty="0"/>
          </a:p>
        </p:txBody>
      </p:sp>
      <p:sp>
        <p:nvSpPr>
          <p:cNvPr id="4" name="Text 1"/>
          <p:cNvSpPr/>
          <p:nvPr/>
        </p:nvSpPr>
        <p:spPr>
          <a:xfrm>
            <a:off x="822960" y="2450592"/>
            <a:ext cx="8229600" cy="274320"/>
          </a:xfrm>
          <a:prstGeom prst="rect">
            <a:avLst/>
          </a:prstGeom>
          <a:noFill/>
          <a:ln/>
        </p:spPr>
        <p:txBody>
          <a:bodyPr wrap="square" lIns="0" tIns="0" rIns="0" bIns="0" rtlCol="0" anchor="ctr"/>
          <a:lstStyle/>
          <a:p>
            <a:pPr indent="0" marL="0">
              <a:buNone/>
            </a:pPr>
            <a:r>
              <a:rPr lang="en-US" sz="1200" b="1" spc="400" kern="0" dirty="0">
                <a:solidFill>
                  <a:srgbClr val="A9C6AC"/>
                </a:solidFill>
                <a:latin typeface="Arial" pitchFamily="34" charset="0"/>
                <a:ea typeface="Arial" pitchFamily="34" charset="-122"/>
                <a:cs typeface="Arial" pitchFamily="34" charset="-120"/>
              </a:rPr>
              <a:t>PARTNER PROGRAM</a:t>
            </a:r>
            <a:endParaRPr lang="en-US" sz="1200" dirty="0"/>
          </a:p>
        </p:txBody>
      </p:sp>
      <p:sp>
        <p:nvSpPr>
          <p:cNvPr id="5" name="Text 2"/>
          <p:cNvSpPr/>
          <p:nvPr/>
        </p:nvSpPr>
        <p:spPr>
          <a:xfrm>
            <a:off x="822960" y="2816352"/>
            <a:ext cx="8595360" cy="347472"/>
          </a:xfrm>
          <a:prstGeom prst="rect">
            <a:avLst/>
          </a:prstGeom>
          <a:noFill/>
          <a:ln/>
        </p:spPr>
        <p:txBody>
          <a:bodyPr wrap="square" lIns="0" tIns="0" rIns="0" bIns="0" rtlCol="0" anchor="ctr"/>
          <a:lstStyle/>
          <a:p>
            <a:pPr indent="0" marL="0">
              <a:buNone/>
            </a:pPr>
            <a:r>
              <a:rPr lang="en-US" sz="1600" dirty="0">
                <a:solidFill>
                  <a:srgbClr val="FFFFFF"/>
                </a:solidFill>
                <a:latin typeface="Noto Sans JP" pitchFamily="34" charset="0"/>
                <a:ea typeface="Noto Sans JP" pitchFamily="34" charset="-122"/>
                <a:cs typeface="Noto Sans JP" pitchFamily="34" charset="-120"/>
              </a:rPr>
              <a:t>場所をご提供いただくだけ。運営は本部が担う、新しいパートナー制度。</a:t>
            </a:r>
            <a:endParaRPr lang="en-US" sz="1600" dirty="0"/>
          </a:p>
        </p:txBody>
      </p:sp>
      <p:sp>
        <p:nvSpPr>
          <p:cNvPr id="6" name="Shape 3"/>
          <p:cNvSpPr/>
          <p:nvPr/>
        </p:nvSpPr>
        <p:spPr>
          <a:xfrm>
            <a:off x="822960" y="3364992"/>
            <a:ext cx="1514246" cy="457200"/>
          </a:xfrm>
          <a:prstGeom prst="roundRect">
            <a:avLst>
              <a:gd name="adj" fmla="val 50000"/>
            </a:avLst>
          </a:prstGeom>
          <a:solidFill>
            <a:srgbClr val="1D5624"/>
          </a:solidFill>
          <a:ln w="9525">
            <a:solidFill>
              <a:srgbClr val="3E7A45"/>
            </a:solidFill>
            <a:prstDash val="solid"/>
          </a:ln>
        </p:spPr>
      </p:sp>
      <p:pic>
        <p:nvPicPr>
          <p:cNvPr id="7" name="Image 1" descr="/home/user/suzuki-ceo/selfcafe-fc-deck/assets/icons/LuStore-white.png">    </p:cNvPr>
          <p:cNvPicPr>
            <a:picLocks noChangeAspect="1"/>
          </p:cNvPicPr>
          <p:nvPr/>
        </p:nvPicPr>
        <p:blipFill>
          <a:blip r:embed="rId2"/>
          <a:stretch>
            <a:fillRect/>
          </a:stretch>
        </p:blipFill>
        <p:spPr>
          <a:xfrm>
            <a:off x="1005840" y="3488436"/>
            <a:ext cx="210312" cy="210312"/>
          </a:xfrm>
          <a:prstGeom prst="rect">
            <a:avLst/>
          </a:prstGeom>
        </p:spPr>
      </p:pic>
      <p:sp>
        <p:nvSpPr>
          <p:cNvPr id="8" name="Text 4"/>
          <p:cNvSpPr/>
          <p:nvPr/>
        </p:nvSpPr>
        <p:spPr>
          <a:xfrm>
            <a:off x="1298448" y="3364992"/>
            <a:ext cx="947318"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全国71店舗</a:t>
            </a:r>
            <a:endParaRPr lang="en-US" sz="1150" dirty="0"/>
          </a:p>
        </p:txBody>
      </p:sp>
      <p:sp>
        <p:nvSpPr>
          <p:cNvPr id="9" name="Shape 5"/>
          <p:cNvSpPr/>
          <p:nvPr/>
        </p:nvSpPr>
        <p:spPr>
          <a:xfrm>
            <a:off x="2520086" y="3364992"/>
            <a:ext cx="2576779" cy="457200"/>
          </a:xfrm>
          <a:prstGeom prst="roundRect">
            <a:avLst>
              <a:gd name="adj" fmla="val 50000"/>
            </a:avLst>
          </a:prstGeom>
          <a:solidFill>
            <a:srgbClr val="1D5624"/>
          </a:solidFill>
          <a:ln w="9525">
            <a:solidFill>
              <a:srgbClr val="3E7A45"/>
            </a:solidFill>
            <a:prstDash val="solid"/>
          </a:ln>
        </p:spPr>
      </p:sp>
      <p:pic>
        <p:nvPicPr>
          <p:cNvPr id="10" name="Image 2" descr="/home/user/suzuki-ceo/selfcafe-fc-deck/assets/icons/LuCoins-white.png">    </p:cNvPr>
          <p:cNvPicPr>
            <a:picLocks noChangeAspect="1"/>
          </p:cNvPicPr>
          <p:nvPr/>
        </p:nvPicPr>
        <p:blipFill>
          <a:blip r:embed="rId3"/>
          <a:stretch>
            <a:fillRect/>
          </a:stretch>
        </p:blipFill>
        <p:spPr>
          <a:xfrm>
            <a:off x="2702966" y="3488436"/>
            <a:ext cx="210312" cy="210312"/>
          </a:xfrm>
          <a:prstGeom prst="rect">
            <a:avLst/>
          </a:prstGeom>
        </p:spPr>
      </p:pic>
      <p:sp>
        <p:nvSpPr>
          <p:cNvPr id="11" name="Text 6"/>
          <p:cNvSpPr/>
          <p:nvPr/>
        </p:nvSpPr>
        <p:spPr>
          <a:xfrm>
            <a:off x="2995574" y="3364992"/>
            <a:ext cx="2009851"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初期費用 30万〜50万円</a:t>
            </a:r>
            <a:endParaRPr lang="en-US" sz="1150" dirty="0"/>
          </a:p>
        </p:txBody>
      </p:sp>
      <p:sp>
        <p:nvSpPr>
          <p:cNvPr id="12" name="Shape 7"/>
          <p:cNvSpPr/>
          <p:nvPr/>
        </p:nvSpPr>
        <p:spPr>
          <a:xfrm>
            <a:off x="5279746" y="3364992"/>
            <a:ext cx="2121408" cy="457200"/>
          </a:xfrm>
          <a:prstGeom prst="roundRect">
            <a:avLst>
              <a:gd name="adj" fmla="val 50000"/>
            </a:avLst>
          </a:prstGeom>
          <a:solidFill>
            <a:srgbClr val="1D5624"/>
          </a:solidFill>
          <a:ln w="9525">
            <a:solidFill>
              <a:srgbClr val="3E7A45"/>
            </a:solidFill>
            <a:prstDash val="solid"/>
          </a:ln>
        </p:spPr>
      </p:sp>
      <p:pic>
        <p:nvPicPr>
          <p:cNvPr id="13" name="Image 3" descr="/home/user/suzuki-ceo/selfcafe-fc-deck/assets/icons/LuTimer-white.png">    </p:cNvPr>
          <p:cNvPicPr>
            <a:picLocks noChangeAspect="1"/>
          </p:cNvPicPr>
          <p:nvPr/>
        </p:nvPicPr>
        <p:blipFill>
          <a:blip r:embed="rId4"/>
          <a:stretch>
            <a:fillRect/>
          </a:stretch>
        </p:blipFill>
        <p:spPr>
          <a:xfrm>
            <a:off x="5462626" y="3488436"/>
            <a:ext cx="210312" cy="210312"/>
          </a:xfrm>
          <a:prstGeom prst="rect">
            <a:avLst/>
          </a:prstGeom>
        </p:spPr>
      </p:pic>
      <p:sp>
        <p:nvSpPr>
          <p:cNvPr id="14" name="Text 8"/>
          <p:cNvSpPr/>
          <p:nvPr/>
        </p:nvSpPr>
        <p:spPr>
          <a:xfrm>
            <a:off x="5755234" y="3364992"/>
            <a:ext cx="1554480"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1日15分程度の運営</a:t>
            </a:r>
            <a:endParaRPr lang="en-US" sz="1150" dirty="0"/>
          </a:p>
        </p:txBody>
      </p:sp>
      <p:sp>
        <p:nvSpPr>
          <p:cNvPr id="15" name="Shape 9"/>
          <p:cNvSpPr/>
          <p:nvPr/>
        </p:nvSpPr>
        <p:spPr>
          <a:xfrm>
            <a:off x="0" y="4169664"/>
            <a:ext cx="3006776" cy="2688336"/>
          </a:xfrm>
          <a:prstGeom prst="rect">
            <a:avLst/>
          </a:prstGeom>
          <a:solidFill>
            <a:srgbClr val="FAF3E3"/>
          </a:solidFill>
          <a:ln/>
        </p:spPr>
      </p:sp>
      <p:pic>
        <p:nvPicPr>
          <p:cNvPr id="16" name="Image 4" descr="/home/user/suzuki-ceo/selfcafe-fc-deck/assets/icons/LuImage-muted.png">    </p:cNvPr>
          <p:cNvPicPr>
            <a:picLocks noChangeAspect="1"/>
          </p:cNvPicPr>
          <p:nvPr/>
        </p:nvPicPr>
        <p:blipFill>
          <a:blip r:embed="rId5"/>
          <a:stretch>
            <a:fillRect/>
          </a:stretch>
        </p:blipFill>
        <p:spPr>
          <a:xfrm>
            <a:off x="1229068" y="4828032"/>
            <a:ext cx="548640" cy="548640"/>
          </a:xfrm>
          <a:prstGeom prst="rect">
            <a:avLst/>
          </a:prstGeom>
        </p:spPr>
      </p:pic>
      <p:sp>
        <p:nvSpPr>
          <p:cNvPr id="17" name="Text 10"/>
          <p:cNvSpPr/>
          <p:nvPr/>
        </p:nvSpPr>
        <p:spPr>
          <a:xfrm>
            <a:off x="9144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18" name="Text 11"/>
          <p:cNvSpPr/>
          <p:nvPr/>
        </p:nvSpPr>
        <p:spPr>
          <a:xfrm>
            <a:off x="9144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店舗外観</a:t>
            </a:r>
            <a:endParaRPr lang="en-US" sz="1150" dirty="0"/>
          </a:p>
        </p:txBody>
      </p:sp>
      <p:sp>
        <p:nvSpPr>
          <p:cNvPr id="19" name="Shape 12"/>
          <p:cNvSpPr/>
          <p:nvPr/>
        </p:nvSpPr>
        <p:spPr>
          <a:xfrm>
            <a:off x="3061640" y="4169664"/>
            <a:ext cx="3006776" cy="2688336"/>
          </a:xfrm>
          <a:prstGeom prst="rect">
            <a:avLst/>
          </a:prstGeom>
          <a:solidFill>
            <a:srgbClr val="FAF3E3"/>
          </a:solidFill>
          <a:ln/>
        </p:spPr>
      </p:sp>
      <p:pic>
        <p:nvPicPr>
          <p:cNvPr id="20" name="Image 5" descr="/home/user/suzuki-ceo/selfcafe-fc-deck/assets/icons/LuImage-muted.png">    </p:cNvPr>
          <p:cNvPicPr>
            <a:picLocks noChangeAspect="1"/>
          </p:cNvPicPr>
          <p:nvPr/>
        </p:nvPicPr>
        <p:blipFill>
          <a:blip r:embed="rId6"/>
          <a:stretch>
            <a:fillRect/>
          </a:stretch>
        </p:blipFill>
        <p:spPr>
          <a:xfrm>
            <a:off x="4290708" y="4828032"/>
            <a:ext cx="548640" cy="548640"/>
          </a:xfrm>
          <a:prstGeom prst="rect">
            <a:avLst/>
          </a:prstGeom>
        </p:spPr>
      </p:pic>
      <p:sp>
        <p:nvSpPr>
          <p:cNvPr id="21" name="Text 13"/>
          <p:cNvSpPr/>
          <p:nvPr/>
        </p:nvSpPr>
        <p:spPr>
          <a:xfrm>
            <a:off x="315308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22" name="Text 14"/>
          <p:cNvSpPr/>
          <p:nvPr/>
        </p:nvSpPr>
        <p:spPr>
          <a:xfrm>
            <a:off x="315308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店内（席・照明）</a:t>
            </a:r>
            <a:endParaRPr lang="en-US" sz="1150" dirty="0"/>
          </a:p>
        </p:txBody>
      </p:sp>
      <p:sp>
        <p:nvSpPr>
          <p:cNvPr id="23" name="Shape 15"/>
          <p:cNvSpPr/>
          <p:nvPr/>
        </p:nvSpPr>
        <p:spPr>
          <a:xfrm>
            <a:off x="6123280" y="4169664"/>
            <a:ext cx="3006776" cy="2688336"/>
          </a:xfrm>
          <a:prstGeom prst="rect">
            <a:avLst/>
          </a:prstGeom>
          <a:solidFill>
            <a:srgbClr val="FAF3E3"/>
          </a:solidFill>
          <a:ln/>
        </p:spPr>
      </p:sp>
      <p:pic>
        <p:nvPicPr>
          <p:cNvPr id="24" name="Image 6" descr="/home/user/suzuki-ceo/selfcafe-fc-deck/assets/icons/LuImage-muted.png">    </p:cNvPr>
          <p:cNvPicPr>
            <a:picLocks noChangeAspect="1"/>
          </p:cNvPicPr>
          <p:nvPr/>
        </p:nvPicPr>
        <p:blipFill>
          <a:blip r:embed="rId7"/>
          <a:stretch>
            <a:fillRect/>
          </a:stretch>
        </p:blipFill>
        <p:spPr>
          <a:xfrm>
            <a:off x="7352348" y="4828032"/>
            <a:ext cx="548640" cy="548640"/>
          </a:xfrm>
          <a:prstGeom prst="rect">
            <a:avLst/>
          </a:prstGeom>
        </p:spPr>
      </p:pic>
      <p:sp>
        <p:nvSpPr>
          <p:cNvPr id="25" name="Text 16"/>
          <p:cNvSpPr/>
          <p:nvPr/>
        </p:nvSpPr>
        <p:spPr>
          <a:xfrm>
            <a:off x="621472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26" name="Text 17"/>
          <p:cNvSpPr/>
          <p:nvPr/>
        </p:nvSpPr>
        <p:spPr>
          <a:xfrm>
            <a:off x="621472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ドリンクマシン</a:t>
            </a:r>
            <a:endParaRPr lang="en-US" sz="1150" dirty="0"/>
          </a:p>
        </p:txBody>
      </p:sp>
      <p:sp>
        <p:nvSpPr>
          <p:cNvPr id="27" name="Shape 18"/>
          <p:cNvSpPr/>
          <p:nvPr/>
        </p:nvSpPr>
        <p:spPr>
          <a:xfrm>
            <a:off x="9184919" y="4169664"/>
            <a:ext cx="3006776" cy="2688336"/>
          </a:xfrm>
          <a:prstGeom prst="rect">
            <a:avLst/>
          </a:prstGeom>
          <a:solidFill>
            <a:srgbClr val="FAF3E3"/>
          </a:solidFill>
          <a:ln/>
        </p:spPr>
      </p:sp>
      <p:pic>
        <p:nvPicPr>
          <p:cNvPr id="28" name="Image 7" descr="/home/user/suzuki-ceo/selfcafe-fc-deck/assets/icons/LuImage-muted.png">    </p:cNvPr>
          <p:cNvPicPr>
            <a:picLocks noChangeAspect="1"/>
          </p:cNvPicPr>
          <p:nvPr/>
        </p:nvPicPr>
        <p:blipFill>
          <a:blip r:embed="rId8"/>
          <a:stretch>
            <a:fillRect/>
          </a:stretch>
        </p:blipFill>
        <p:spPr>
          <a:xfrm>
            <a:off x="10413987" y="4828032"/>
            <a:ext cx="548640" cy="548640"/>
          </a:xfrm>
          <a:prstGeom prst="rect">
            <a:avLst/>
          </a:prstGeom>
        </p:spPr>
      </p:pic>
      <p:sp>
        <p:nvSpPr>
          <p:cNvPr id="29" name="Text 19"/>
          <p:cNvSpPr/>
          <p:nvPr/>
        </p:nvSpPr>
        <p:spPr>
          <a:xfrm>
            <a:off x="9276359"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30" name="Text 20"/>
          <p:cNvSpPr/>
          <p:nvPr/>
        </p:nvSpPr>
        <p:spPr>
          <a:xfrm>
            <a:off x="9276359"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利用中の店内</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業務委託型とは</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通常のFC加盟とは異なり、貴社は場所をご提供いただくだけ／運営主体は本部</a:t>
            </a:r>
            <a:endParaRPr lang="en-US" sz="1150" dirty="0"/>
          </a:p>
        </p:txBody>
      </p:sp>
      <p:sp>
        <p:nvSpPr>
          <p:cNvPr id="7" name="Shape 4"/>
          <p:cNvSpPr/>
          <p:nvPr/>
        </p:nvSpPr>
        <p:spPr>
          <a:xfrm>
            <a:off x="6911950" y="1536192"/>
            <a:ext cx="4626864" cy="4709160"/>
          </a:xfrm>
          <a:prstGeom prst="roundRect">
            <a:avLst>
              <a:gd name="adj" fmla="val 1383"/>
            </a:avLst>
          </a:prstGeom>
          <a:solidFill>
            <a:srgbClr val="F0F5EF"/>
          </a:solidFill>
          <a:ln/>
        </p:spPr>
      </p:sp>
      <p:pic>
        <p:nvPicPr>
          <p:cNvPr id="8" name="Image 1" descr="/home/user/suzuki-ceo/selfcafe-fc-deck/assets/icons/LuBadgeCheck-green.png">    </p:cNvPr>
          <p:cNvPicPr>
            <a:picLocks noChangeAspect="1"/>
          </p:cNvPicPr>
          <p:nvPr/>
        </p:nvPicPr>
        <p:blipFill>
          <a:blip r:embed="rId2"/>
          <a:stretch>
            <a:fillRect/>
          </a:stretch>
        </p:blipFill>
        <p:spPr>
          <a:xfrm>
            <a:off x="7076542" y="1554480"/>
            <a:ext cx="219456" cy="219456"/>
          </a:xfrm>
          <a:prstGeom prst="rect">
            <a:avLst/>
          </a:prstGeom>
        </p:spPr>
      </p:pic>
      <p:sp>
        <p:nvSpPr>
          <p:cNvPr id="9" name="Text 5"/>
          <p:cNvSpPr/>
          <p:nvPr/>
        </p:nvSpPr>
        <p:spPr>
          <a:xfrm>
            <a:off x="7350862" y="1536192"/>
            <a:ext cx="4041648" cy="256032"/>
          </a:xfrm>
          <a:prstGeom prst="rect">
            <a:avLst/>
          </a:prstGeom>
          <a:noFill/>
          <a:ln/>
        </p:spPr>
        <p:txBody>
          <a:bodyPr wrap="square" lIns="0" tIns="0" rIns="0" bIns="0" rtlCol="0" anchor="ctr"/>
          <a:lstStyle/>
          <a:p>
            <a:pPr indent="0" marL="0">
              <a:buNone/>
            </a:pPr>
            <a:r>
              <a:rPr lang="en-US" sz="1050" b="1" dirty="0">
                <a:solidFill>
                  <a:srgbClr val="2E7D32"/>
                </a:solidFill>
                <a:latin typeface="Noto Sans JP" pitchFamily="34" charset="0"/>
                <a:ea typeface="Noto Sans JP" pitchFamily="34" charset="-122"/>
                <a:cs typeface="Noto Sans JP" pitchFamily="34" charset="-120"/>
              </a:rPr>
              <a:t>貴社にご提案するのはこちら</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66598" y="1828800"/>
          <a:ext cx="10858500" cy="914400"/>
        </p:xfrm>
        <a:graphic>
          <a:graphicData uri="http://schemas.openxmlformats.org/drawingml/2006/table">
            <a:tbl>
              <a:tblPr/>
              <a:tblGrid>
                <a:gridCol w="2103120"/>
                <a:gridCol w="4160520"/>
                <a:gridCol w="4590288"/>
              </a:tblGrid>
              <a:tr h="457200">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通常のFC加盟</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業務委託型</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548640">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運営主体</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加盟者様が独立オーナーとして運営</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本部が運営を主導、貴社は場所提供のみ</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初期費用</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加盟金100万円＋工事費用等</a:t>
                      </a:r>
                      <a:endParaRPr lang="en-US" sz="1050" dirty="0">
                        <a:latin typeface="Noto Sans JP" charset="0"/>
                        <a:ea typeface="Noto Sans JP" charset="0"/>
                        <a:cs typeface="Noto Sans JP" charset="0"/>
                      </a:endParaRPr>
                    </a:p>
                    <a:p>
                      <a:pPr indent="0" marL="0">
                        <a:buNone/>
                      </a:pPr>
                      <a:r>
                        <a:rPr lang="en-US" sz="1050" dirty="0">
                          <a:solidFill>
                            <a:srgbClr val="6E6A61"/>
                          </a:solidFill>
                          <a:latin typeface="Noto Sans JP" pitchFamily="34" charset="0"/>
                          <a:ea typeface="Noto Sans JP" pitchFamily="34" charset="-122"/>
                          <a:cs typeface="Noto Sans JP" pitchFamily="34" charset="-120"/>
                        </a:rPr>
                        <a:t>（開業資金目安：居抜き700万円〜／スケルトン工事1,000万円〜）</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30万〜50万円程度（機器設置費のみ）</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530352">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出店スペース</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独立した店舗区画（25坪〜）が必要</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既存スペースの一角に間借り設置可能</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65836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日常業務</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加盟者様が運営全般を担当</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清掃・補充のみ、1日15分程度</a:t>
                      </a:r>
                      <a:endParaRPr lang="en-US" sz="1100" dirty="0">
                        <a:latin typeface="Noto Sans JP" charset="0"/>
                        <a:ea typeface="Noto Sans JP" charset="0"/>
                        <a:cs typeface="Noto Sans JP" charset="0"/>
                      </a:endParaRPr>
                    </a:p>
                    <a:p>
                      <a:pPr indent="0" marL="0">
                        <a:buNone/>
                      </a:pPr>
                      <a:r>
                        <a:rPr lang="en-US" sz="1100" b="1" dirty="0">
                          <a:solidFill>
                            <a:srgbClr val="1B5E20"/>
                          </a:solidFill>
                          <a:latin typeface="Noto Sans JP" pitchFamily="34" charset="0"/>
                          <a:ea typeface="Noto Sans JP" pitchFamily="34" charset="-122"/>
                          <a:cs typeface="Noto Sans JP" pitchFamily="34" charset="-120"/>
                        </a:rPr>
                        <a:t>（既存スタッフで対応可）</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4980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売上金の流れ</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本部が売上金を管理し、ロイヤリティなどの費用を控除した残額を加盟者様へ振込</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本部が売上金を管理し、25%を業務委託料として貴社へお支払い</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0408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契約・撤退</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独立出店が前提の長期契約</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契約期間の縛りあり（最低3年〜）／本部審査あり。原状回復の負担も小さい</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業務委託型のメリット</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貴社にとってのメリット／既存事業の一角を、負担をかけずに収益資産へ</a:t>
            </a:r>
            <a:endParaRPr lang="en-US" sz="1150" dirty="0"/>
          </a:p>
        </p:txBody>
      </p:sp>
      <p:sp>
        <p:nvSpPr>
          <p:cNvPr id="7" name="Shape 4"/>
          <p:cNvSpPr/>
          <p:nvPr/>
        </p:nvSpPr>
        <p:spPr>
          <a:xfrm>
            <a:off x="666598" y="164592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40918" y="1865376"/>
            <a:ext cx="548640" cy="548640"/>
          </a:xfrm>
          <a:prstGeom prst="ellipse">
            <a:avLst/>
          </a:prstGeom>
          <a:solidFill>
            <a:srgbClr val="F0F5EF"/>
          </a:solidFill>
          <a:ln/>
        </p:spPr>
      </p:sp>
      <p:pic>
        <p:nvPicPr>
          <p:cNvPr id="9" name="Image 1" descr="/home/user/suzuki-ceo/selfcafe-fc-deck/assets/icons/LuCoins-green.png">    </p:cNvPr>
          <p:cNvPicPr>
            <a:picLocks noChangeAspect="1"/>
          </p:cNvPicPr>
          <p:nvPr/>
        </p:nvPicPr>
        <p:blipFill>
          <a:blip r:embed="rId2"/>
          <a:stretch>
            <a:fillRect/>
          </a:stretch>
        </p:blipFill>
        <p:spPr>
          <a:xfrm>
            <a:off x="1061618" y="1986077"/>
            <a:ext cx="307238" cy="307238"/>
          </a:xfrm>
          <a:prstGeom prst="rect">
            <a:avLst/>
          </a:prstGeom>
        </p:spPr>
      </p:pic>
      <p:sp>
        <p:nvSpPr>
          <p:cNvPr id="10" name="Text 6"/>
          <p:cNvSpPr/>
          <p:nvPr/>
        </p:nvSpPr>
        <p:spPr>
          <a:xfrm>
            <a:off x="1617574" y="1865376"/>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遊休スペースが収益化</a:t>
            </a:r>
            <a:endParaRPr lang="en-US" sz="1550" dirty="0"/>
          </a:p>
        </p:txBody>
      </p:sp>
      <p:sp>
        <p:nvSpPr>
          <p:cNvPr id="11" name="Text 7"/>
          <p:cNvSpPr/>
          <p:nvPr/>
        </p:nvSpPr>
        <p:spPr>
          <a:xfrm>
            <a:off x="940918" y="2487168"/>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レジ横・待合スペースなどの</a:t>
            </a:r>
            <a:pPr indent="0" marL="0">
              <a:lnSpc>
                <a:spcPct val="120000"/>
              </a:lnSpc>
              <a:buNone/>
            </a:pPr>
            <a:r>
              <a:rPr lang="en-US" sz="1100" b="1" dirty="0">
                <a:solidFill>
                  <a:srgbClr val="1B5E20"/>
                </a:solidFill>
                <a:latin typeface="Noto Sans JP" pitchFamily="34" charset="0"/>
                <a:ea typeface="Noto Sans JP" pitchFamily="34" charset="-122"/>
                <a:cs typeface="Noto Sans JP" pitchFamily="34" charset="-120"/>
              </a:rPr>
              <a:t>デッドスペースが毎月の収益源に。</a:t>
            </a:r>
            <a:endParaRPr lang="en-US" sz="1100" dirty="0"/>
          </a:p>
        </p:txBody>
      </p:sp>
      <p:sp>
        <p:nvSpPr>
          <p:cNvPr id="12" name="Shape 8"/>
          <p:cNvSpPr/>
          <p:nvPr/>
        </p:nvSpPr>
        <p:spPr>
          <a:xfrm>
            <a:off x="940918" y="3017520"/>
            <a:ext cx="4727448" cy="10058"/>
          </a:xfrm>
          <a:prstGeom prst="rect">
            <a:avLst/>
          </a:prstGeom>
          <a:solidFill>
            <a:srgbClr val="E6DFCD"/>
          </a:solidFill>
          <a:ln/>
        </p:spPr>
      </p:sp>
      <p:sp>
        <p:nvSpPr>
          <p:cNvPr id="13" name="Text 9"/>
          <p:cNvSpPr/>
          <p:nvPr/>
        </p:nvSpPr>
        <p:spPr>
          <a:xfrm>
            <a:off x="940918" y="3127248"/>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加盟金なし、機器設置費（30万〜50万円程度）のみで開始</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業務委託料として売上の25%を毎月お支払い（収益イメージは次ページ参照）</a:t>
            </a:r>
            <a:endParaRPr lang="en-US" sz="1000" dirty="0"/>
          </a:p>
        </p:txBody>
      </p:sp>
      <p:sp>
        <p:nvSpPr>
          <p:cNvPr id="14" name="Shape 10"/>
          <p:cNvSpPr/>
          <p:nvPr/>
        </p:nvSpPr>
        <p:spPr>
          <a:xfrm>
            <a:off x="6239866" y="164592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Shape 11"/>
          <p:cNvSpPr/>
          <p:nvPr/>
        </p:nvSpPr>
        <p:spPr>
          <a:xfrm>
            <a:off x="6514186" y="1865376"/>
            <a:ext cx="548640" cy="548640"/>
          </a:xfrm>
          <a:prstGeom prst="ellipse">
            <a:avLst/>
          </a:prstGeom>
          <a:solidFill>
            <a:srgbClr val="F0F5EF"/>
          </a:solidFill>
          <a:ln/>
        </p:spPr>
      </p:sp>
      <p:pic>
        <p:nvPicPr>
          <p:cNvPr id="16" name="Image 2" descr="/home/user/suzuki-ceo/selfcafe-fc-deck/assets/icons/LuTimer-green.png">    </p:cNvPr>
          <p:cNvPicPr>
            <a:picLocks noChangeAspect="1"/>
          </p:cNvPicPr>
          <p:nvPr/>
        </p:nvPicPr>
        <p:blipFill>
          <a:blip r:embed="rId3"/>
          <a:stretch>
            <a:fillRect/>
          </a:stretch>
        </p:blipFill>
        <p:spPr>
          <a:xfrm>
            <a:off x="6634886" y="1986077"/>
            <a:ext cx="307238" cy="307238"/>
          </a:xfrm>
          <a:prstGeom prst="rect">
            <a:avLst/>
          </a:prstGeom>
        </p:spPr>
      </p:pic>
      <p:sp>
        <p:nvSpPr>
          <p:cNvPr id="17" name="Text 12"/>
          <p:cNvSpPr/>
          <p:nvPr/>
        </p:nvSpPr>
        <p:spPr>
          <a:xfrm>
            <a:off x="7190842" y="1865376"/>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運営負担はほぼゼロ</a:t>
            </a:r>
            <a:endParaRPr lang="en-US" sz="1550" dirty="0"/>
          </a:p>
        </p:txBody>
      </p:sp>
      <p:sp>
        <p:nvSpPr>
          <p:cNvPr id="18" name="Text 13"/>
          <p:cNvSpPr/>
          <p:nvPr/>
        </p:nvSpPr>
        <p:spPr>
          <a:xfrm>
            <a:off x="6514186" y="2487168"/>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日常業務は清掃・補充のみ、</a:t>
            </a:r>
            <a:pPr indent="0" marL="0">
              <a:lnSpc>
                <a:spcPct val="120000"/>
              </a:lnSpc>
              <a:buNone/>
            </a:pPr>
            <a:r>
              <a:rPr lang="en-US" sz="1100" b="1" dirty="0">
                <a:solidFill>
                  <a:srgbClr val="1B5E20"/>
                </a:solidFill>
                <a:latin typeface="Noto Sans JP" pitchFamily="34" charset="0"/>
                <a:ea typeface="Noto Sans JP" pitchFamily="34" charset="-122"/>
                <a:cs typeface="Noto Sans JP" pitchFamily="34" charset="-120"/>
              </a:rPr>
              <a:t>1日15分程度。</a:t>
            </a:r>
            <a:endParaRPr lang="en-US" sz="1100" dirty="0"/>
          </a:p>
        </p:txBody>
      </p:sp>
      <p:sp>
        <p:nvSpPr>
          <p:cNvPr id="19" name="Shape 14"/>
          <p:cNvSpPr/>
          <p:nvPr/>
        </p:nvSpPr>
        <p:spPr>
          <a:xfrm>
            <a:off x="6514186" y="3017520"/>
            <a:ext cx="4727448" cy="10058"/>
          </a:xfrm>
          <a:prstGeom prst="rect">
            <a:avLst/>
          </a:prstGeom>
          <a:solidFill>
            <a:srgbClr val="E6DFCD"/>
          </a:solidFill>
          <a:ln/>
        </p:spPr>
      </p:sp>
      <p:sp>
        <p:nvSpPr>
          <p:cNvPr id="20" name="Text 15"/>
          <p:cNvSpPr/>
          <p:nvPr/>
        </p:nvSpPr>
        <p:spPr>
          <a:xfrm>
            <a:off x="6514186" y="3127248"/>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既存スタッフの稼働内で対応可能、新規採用は不要</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トラブル対応も24時間警備会社・遠隔監視で完結、現場対応はほぼ不要</a:t>
            </a:r>
            <a:endParaRPr lang="en-US" sz="1000" dirty="0"/>
          </a:p>
        </p:txBody>
      </p:sp>
      <p:sp>
        <p:nvSpPr>
          <p:cNvPr id="21" name="Shape 16"/>
          <p:cNvSpPr/>
          <p:nvPr/>
        </p:nvSpPr>
        <p:spPr>
          <a:xfrm>
            <a:off x="666598" y="409651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Shape 17"/>
          <p:cNvSpPr/>
          <p:nvPr/>
        </p:nvSpPr>
        <p:spPr>
          <a:xfrm>
            <a:off x="940918" y="4315968"/>
            <a:ext cx="548640" cy="548640"/>
          </a:xfrm>
          <a:prstGeom prst="ellipse">
            <a:avLst/>
          </a:prstGeom>
          <a:solidFill>
            <a:srgbClr val="F0F5EF"/>
          </a:solidFill>
          <a:ln/>
        </p:spPr>
      </p:sp>
      <p:pic>
        <p:nvPicPr>
          <p:cNvPr id="23" name="Image 3" descr="/home/user/suzuki-ceo/selfcafe-fc-deck/assets/icons/LuMapPin-green.png">    </p:cNvPr>
          <p:cNvPicPr>
            <a:picLocks noChangeAspect="1"/>
          </p:cNvPicPr>
          <p:nvPr/>
        </p:nvPicPr>
        <p:blipFill>
          <a:blip r:embed="rId4"/>
          <a:stretch>
            <a:fillRect/>
          </a:stretch>
        </p:blipFill>
        <p:spPr>
          <a:xfrm>
            <a:off x="1061618" y="4436669"/>
            <a:ext cx="307238" cy="307238"/>
          </a:xfrm>
          <a:prstGeom prst="rect">
            <a:avLst/>
          </a:prstGeom>
        </p:spPr>
      </p:pic>
      <p:sp>
        <p:nvSpPr>
          <p:cNvPr id="24" name="Text 18"/>
          <p:cNvSpPr/>
          <p:nvPr/>
        </p:nvSpPr>
        <p:spPr>
          <a:xfrm>
            <a:off x="1617574" y="4315968"/>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新しい来店動機に</a:t>
            </a:r>
            <a:endParaRPr lang="en-US" sz="1550" dirty="0"/>
          </a:p>
        </p:txBody>
      </p:sp>
      <p:sp>
        <p:nvSpPr>
          <p:cNvPr id="25" name="Text 19"/>
          <p:cNvSpPr/>
          <p:nvPr/>
        </p:nvSpPr>
        <p:spPr>
          <a:xfrm>
            <a:off x="940918" y="4937760"/>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Wi-Fi・電源完備のカフェが</a:t>
            </a:r>
            <a:pPr indent="0" marL="0">
              <a:lnSpc>
                <a:spcPct val="120000"/>
              </a:lnSpc>
              <a:buNone/>
            </a:pPr>
            <a:r>
              <a:rPr lang="en-US" sz="1100" b="1" dirty="0">
                <a:solidFill>
                  <a:srgbClr val="1B5E20"/>
                </a:solidFill>
                <a:latin typeface="Noto Sans JP" pitchFamily="34" charset="0"/>
                <a:ea typeface="Noto Sans JP" pitchFamily="34" charset="-122"/>
                <a:cs typeface="Noto Sans JP" pitchFamily="34" charset="-120"/>
              </a:rPr>
              <a:t>新しい接点に。</a:t>
            </a:r>
            <a:endParaRPr lang="en-US" sz="1100" dirty="0"/>
          </a:p>
        </p:txBody>
      </p:sp>
      <p:sp>
        <p:nvSpPr>
          <p:cNvPr id="26" name="Shape 20"/>
          <p:cNvSpPr/>
          <p:nvPr/>
        </p:nvSpPr>
        <p:spPr>
          <a:xfrm>
            <a:off x="940918" y="5468112"/>
            <a:ext cx="4727448" cy="10058"/>
          </a:xfrm>
          <a:prstGeom prst="rect">
            <a:avLst/>
          </a:prstGeom>
          <a:solidFill>
            <a:srgbClr val="E6DFCD"/>
          </a:solidFill>
          <a:ln/>
        </p:spPr>
      </p:sp>
      <p:sp>
        <p:nvSpPr>
          <p:cNvPr id="27" name="Text 21"/>
          <p:cNvSpPr/>
          <p:nvPr/>
        </p:nvSpPr>
        <p:spPr>
          <a:xfrm>
            <a:off x="940918" y="5577840"/>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Googleマップ・カフェ検索アプリで「近くのカフェ」を探す人と出会える</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書店・美容室・整体院・病院の待合など、待ち時間が生まれる業態と特に好相性</a:t>
            </a:r>
            <a:endParaRPr lang="en-US" sz="1000" dirty="0"/>
          </a:p>
        </p:txBody>
      </p:sp>
      <p:sp>
        <p:nvSpPr>
          <p:cNvPr id="28" name="Shape 22"/>
          <p:cNvSpPr/>
          <p:nvPr/>
        </p:nvSpPr>
        <p:spPr>
          <a:xfrm>
            <a:off x="6239866" y="409651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9" name="Shape 23"/>
          <p:cNvSpPr/>
          <p:nvPr/>
        </p:nvSpPr>
        <p:spPr>
          <a:xfrm>
            <a:off x="6514186" y="4315968"/>
            <a:ext cx="548640" cy="548640"/>
          </a:xfrm>
          <a:prstGeom prst="ellipse">
            <a:avLst/>
          </a:prstGeom>
          <a:solidFill>
            <a:srgbClr val="F0F5EF"/>
          </a:solidFill>
          <a:ln/>
        </p:spPr>
      </p:sp>
      <p:pic>
        <p:nvPicPr>
          <p:cNvPr id="30" name="Image 4" descr="/home/user/suzuki-ceo/selfcafe-fc-deck/assets/icons/LuShieldCheck-green.png">    </p:cNvPr>
          <p:cNvPicPr>
            <a:picLocks noChangeAspect="1"/>
          </p:cNvPicPr>
          <p:nvPr/>
        </p:nvPicPr>
        <p:blipFill>
          <a:blip r:embed="rId5"/>
          <a:stretch>
            <a:fillRect/>
          </a:stretch>
        </p:blipFill>
        <p:spPr>
          <a:xfrm>
            <a:off x="6634886" y="4436669"/>
            <a:ext cx="307238" cy="307238"/>
          </a:xfrm>
          <a:prstGeom prst="rect">
            <a:avLst/>
          </a:prstGeom>
        </p:spPr>
      </p:pic>
      <p:sp>
        <p:nvSpPr>
          <p:cNvPr id="31" name="Text 24"/>
          <p:cNvSpPr/>
          <p:nvPr/>
        </p:nvSpPr>
        <p:spPr>
          <a:xfrm>
            <a:off x="7190842" y="4315968"/>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低リスクで導入できる</a:t>
            </a:r>
            <a:endParaRPr lang="en-US" sz="1550" dirty="0"/>
          </a:p>
        </p:txBody>
      </p:sp>
      <p:sp>
        <p:nvSpPr>
          <p:cNvPr id="32" name="Text 25"/>
          <p:cNvSpPr/>
          <p:nvPr/>
        </p:nvSpPr>
        <p:spPr>
          <a:xfrm>
            <a:off x="6514186" y="4937760"/>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通常のFC加盟（700万円〜）と比べ、</a:t>
            </a:r>
            <a:pPr indent="0" marL="0">
              <a:lnSpc>
                <a:spcPct val="120000"/>
              </a:lnSpc>
              <a:buNone/>
            </a:pPr>
            <a:r>
              <a:rPr lang="en-US" sz="1100" b="1" dirty="0">
                <a:solidFill>
                  <a:srgbClr val="1B5E20"/>
                </a:solidFill>
                <a:latin typeface="Noto Sans JP" pitchFamily="34" charset="0"/>
                <a:ea typeface="Noto Sans JP" pitchFamily="34" charset="-122"/>
                <a:cs typeface="Noto Sans JP" pitchFamily="34" charset="-120"/>
              </a:rPr>
              <a:t>意思決定のハードルが低い。</a:t>
            </a:r>
            <a:endParaRPr lang="en-US" sz="1100" dirty="0"/>
          </a:p>
        </p:txBody>
      </p:sp>
      <p:sp>
        <p:nvSpPr>
          <p:cNvPr id="33" name="Shape 26"/>
          <p:cNvSpPr/>
          <p:nvPr/>
        </p:nvSpPr>
        <p:spPr>
          <a:xfrm>
            <a:off x="6514186" y="5468112"/>
            <a:ext cx="4727448" cy="10058"/>
          </a:xfrm>
          <a:prstGeom prst="rect">
            <a:avLst/>
          </a:prstGeom>
          <a:solidFill>
            <a:srgbClr val="E6DFCD"/>
          </a:solidFill>
          <a:ln/>
        </p:spPr>
      </p:sp>
      <p:sp>
        <p:nvSpPr>
          <p:cNvPr id="34" name="Text 27"/>
          <p:cNvSpPr/>
          <p:nvPr/>
        </p:nvSpPr>
        <p:spPr>
          <a:xfrm>
            <a:off x="6514186" y="5577840"/>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独立出店ではないため原状回復の負担も小さい</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内装・システム導入まで本部がフルサポート、店舗運営のノウハウをそのまま活用</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会社概要</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4</a:t>
            </a:r>
            <a:endParaRPr lang="en-US" sz="1300" dirty="0"/>
          </a:p>
        </p:txBody>
      </p:sp>
      <p:sp>
        <p:nvSpPr>
          <p:cNvPr id="6" name="Shape 3"/>
          <p:cNvSpPr/>
          <p:nvPr/>
        </p:nvSpPr>
        <p:spPr>
          <a:xfrm>
            <a:off x="666598" y="1417320"/>
            <a:ext cx="4160520" cy="4846320"/>
          </a:xfrm>
          <a:prstGeom prst="roundRect">
            <a:avLst>
              <a:gd name="adj" fmla="val 1978"/>
            </a:avLst>
          </a:prstGeom>
          <a:solidFill>
            <a:srgbClr val="12401A"/>
          </a:solidFill>
          <a:ln/>
          <a:effectLst>
            <a:outerShdw sx="100000" sy="100000" kx="0" ky="0" algn="bl" rotWithShape="0" blurRad="114300" dist="17780" dir="5400000">
              <a:srgbClr val="6B6250">
                <a:alpha val="14000"/>
              </a:srgbClr>
            </a:outerShdw>
          </a:effectLst>
        </p:spPr>
      </p:sp>
      <p:pic>
        <p:nvPicPr>
          <p:cNvPr id="7" name="Image 1" descr="/home/user/suzuki-ceo/selfcafe-fc-deck/assets/logo_white.png">    </p:cNvPr>
          <p:cNvPicPr>
            <a:picLocks noChangeAspect="1"/>
          </p:cNvPicPr>
          <p:nvPr/>
        </p:nvPicPr>
        <p:blipFill>
          <a:blip r:embed="rId2"/>
          <a:stretch>
            <a:fillRect/>
          </a:stretch>
        </p:blipFill>
        <p:spPr>
          <a:xfrm>
            <a:off x="1142086" y="1929384"/>
            <a:ext cx="3209544" cy="457200"/>
          </a:xfrm>
          <a:prstGeom prst="rect">
            <a:avLst/>
          </a:prstGeom>
        </p:spPr>
      </p:pic>
      <p:sp>
        <p:nvSpPr>
          <p:cNvPr id="8" name="Text 4"/>
          <p:cNvSpPr/>
          <p:nvPr/>
        </p:nvSpPr>
        <p:spPr>
          <a:xfrm>
            <a:off x="1142086" y="2624328"/>
            <a:ext cx="3209544" cy="384048"/>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セルフカフェ株式会社</a:t>
            </a:r>
            <a:endParaRPr lang="en-US" sz="1900" dirty="0"/>
          </a:p>
        </p:txBody>
      </p:sp>
      <p:sp>
        <p:nvSpPr>
          <p:cNvPr id="9" name="Text 5"/>
          <p:cNvSpPr/>
          <p:nvPr/>
        </p:nvSpPr>
        <p:spPr>
          <a:xfrm>
            <a:off x="1142086" y="3026664"/>
            <a:ext cx="3209544" cy="274320"/>
          </a:xfrm>
          <a:prstGeom prst="rect">
            <a:avLst/>
          </a:prstGeom>
          <a:noFill/>
          <a:ln/>
        </p:spPr>
        <p:txBody>
          <a:bodyPr wrap="square" lIns="0" tIns="0" rIns="0" bIns="0" rtlCol="0" anchor="ctr"/>
          <a:lstStyle/>
          <a:p>
            <a:pPr indent="0" marL="0">
              <a:buNone/>
            </a:pPr>
            <a:r>
              <a:rPr lang="en-US" sz="1150" spc="200" kern="0" dirty="0">
                <a:solidFill>
                  <a:srgbClr val="A9C6AC"/>
                </a:solidFill>
                <a:latin typeface="Arial" pitchFamily="34" charset="0"/>
                <a:ea typeface="Arial" pitchFamily="34" charset="-122"/>
                <a:cs typeface="Arial" pitchFamily="34" charset="-120"/>
              </a:rPr>
              <a:t>SELF CAFE Inc.</a:t>
            </a:r>
            <a:endParaRPr lang="en-US" sz="1150" dirty="0"/>
          </a:p>
        </p:txBody>
      </p:sp>
      <p:sp>
        <p:nvSpPr>
          <p:cNvPr id="10" name="Shape 6"/>
          <p:cNvSpPr/>
          <p:nvPr/>
        </p:nvSpPr>
        <p:spPr>
          <a:xfrm>
            <a:off x="1142086" y="3429000"/>
            <a:ext cx="1005840" cy="19202"/>
          </a:xfrm>
          <a:prstGeom prst="rect">
            <a:avLst/>
          </a:prstGeom>
          <a:solidFill>
            <a:srgbClr val="A9C6AC"/>
          </a:solidFill>
          <a:ln/>
        </p:spPr>
      </p:sp>
      <p:sp>
        <p:nvSpPr>
          <p:cNvPr id="11" name="Text 7"/>
          <p:cNvSpPr/>
          <p:nvPr/>
        </p:nvSpPr>
        <p:spPr>
          <a:xfrm>
            <a:off x="1142086" y="3611880"/>
            <a:ext cx="3209544" cy="658368"/>
          </a:xfrm>
          <a:prstGeom prst="rect">
            <a:avLst/>
          </a:prstGeom>
          <a:noFill/>
          <a:ln/>
        </p:spPr>
        <p:txBody>
          <a:bodyPr wrap="square" lIns="0" tIns="0" rIns="0" bIns="0" rtlCol="0" anchor="t"/>
          <a:lstStyle/>
          <a:p>
            <a:pPr indent="0" marL="0">
              <a:lnSpc>
                <a:spcPct val="135000"/>
              </a:lnSpc>
              <a:buNone/>
            </a:pPr>
            <a:r>
              <a:rPr lang="en-US" sz="1200" dirty="0">
                <a:solidFill>
                  <a:srgbClr val="A9C6AC"/>
                </a:solidFill>
                <a:latin typeface="Noto Sans JP" pitchFamily="34" charset="0"/>
                <a:ea typeface="Noto Sans JP" pitchFamily="34" charset="-122"/>
                <a:cs typeface="Noto Sans JP" pitchFamily="34" charset="-120"/>
              </a:rPr>
              <a:t>Wi-Fi・電源完備の無人カフェを企画・開発・運営しています。</a:t>
            </a:r>
            <a:endParaRPr lang="en-US" sz="1200" dirty="0"/>
          </a:p>
        </p:txBody>
      </p:sp>
      <p:sp>
        <p:nvSpPr>
          <p:cNvPr id="12" name="Shape 8"/>
          <p:cNvSpPr/>
          <p:nvPr/>
        </p:nvSpPr>
        <p:spPr>
          <a:xfrm>
            <a:off x="1142086" y="4398264"/>
            <a:ext cx="3209544" cy="1481328"/>
          </a:xfrm>
          <a:prstGeom prst="roundRect">
            <a:avLst>
              <a:gd name="adj" fmla="val 3704"/>
            </a:avLst>
          </a:prstGeom>
          <a:solidFill>
            <a:srgbClr val="1D5624"/>
          </a:solidFill>
          <a:ln w="12700">
            <a:solidFill>
              <a:srgbClr val="3E7A45"/>
            </a:solidFill>
            <a:prstDash val="dash"/>
          </a:ln>
        </p:spPr>
      </p:sp>
      <p:pic>
        <p:nvPicPr>
          <p:cNvPr id="13" name="Image 2" descr="/home/user/suzuki-ceo/selfcafe-fc-deck/assets/icons/LuImage-muted.png">    </p:cNvPr>
          <p:cNvPicPr>
            <a:picLocks noChangeAspect="1"/>
          </p:cNvPicPr>
          <p:nvPr/>
        </p:nvPicPr>
        <p:blipFill>
          <a:blip r:embed="rId3"/>
          <a:stretch>
            <a:fillRect/>
          </a:stretch>
        </p:blipFill>
        <p:spPr>
          <a:xfrm>
            <a:off x="2569098" y="4828032"/>
            <a:ext cx="355519" cy="355519"/>
          </a:xfrm>
          <a:prstGeom prst="rect">
            <a:avLst/>
          </a:prstGeom>
        </p:spPr>
      </p:pic>
      <p:sp>
        <p:nvSpPr>
          <p:cNvPr id="14" name="Text 9"/>
          <p:cNvSpPr/>
          <p:nvPr/>
        </p:nvSpPr>
        <p:spPr>
          <a:xfrm>
            <a:off x="1233526" y="5220127"/>
            <a:ext cx="302666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5" name="Text 10"/>
          <p:cNvSpPr/>
          <p:nvPr/>
        </p:nvSpPr>
        <p:spPr>
          <a:xfrm>
            <a:off x="1233526" y="5439583"/>
            <a:ext cx="302666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C6DCC8"/>
                </a:solidFill>
                <a:latin typeface="Noto Sans JP" pitchFamily="34" charset="0"/>
                <a:ea typeface="Noto Sans JP" pitchFamily="34" charset="-122"/>
                <a:cs typeface="Noto Sans JP" pitchFamily="34" charset="-120"/>
              </a:rPr>
              <a:t>代表写真 または 本社・店舗写真</a:t>
            </a:r>
            <a:endParaRPr lang="en-US" sz="1000" dirty="0"/>
          </a:p>
        </p:txBody>
      </p:sp>
      <p:sp>
        <p:nvSpPr>
          <p:cNvPr id="16" name="Text 11"/>
          <p:cNvSpPr/>
          <p:nvPr/>
        </p:nvSpPr>
        <p:spPr>
          <a:xfrm>
            <a:off x="5257800" y="1463040"/>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会社名</a:t>
            </a:r>
            <a:endParaRPr lang="en-US" sz="1150" dirty="0"/>
          </a:p>
        </p:txBody>
      </p:sp>
      <p:sp>
        <p:nvSpPr>
          <p:cNvPr id="17" name="Text 12"/>
          <p:cNvSpPr/>
          <p:nvPr/>
        </p:nvSpPr>
        <p:spPr>
          <a:xfrm>
            <a:off x="6739128" y="1463040"/>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セルフカフェ株式会社</a:t>
            </a:r>
            <a:endParaRPr lang="en-US" sz="1450" dirty="0"/>
          </a:p>
        </p:txBody>
      </p:sp>
      <p:sp>
        <p:nvSpPr>
          <p:cNvPr id="18" name="Shape 13"/>
          <p:cNvSpPr/>
          <p:nvPr/>
        </p:nvSpPr>
        <p:spPr>
          <a:xfrm>
            <a:off x="5257800" y="2084832"/>
            <a:ext cx="6267298" cy="10058"/>
          </a:xfrm>
          <a:prstGeom prst="rect">
            <a:avLst/>
          </a:prstGeom>
          <a:solidFill>
            <a:srgbClr val="E6DFCD"/>
          </a:solidFill>
          <a:ln/>
        </p:spPr>
      </p:sp>
      <p:sp>
        <p:nvSpPr>
          <p:cNvPr id="19" name="Text 14"/>
          <p:cNvSpPr/>
          <p:nvPr/>
        </p:nvSpPr>
        <p:spPr>
          <a:xfrm>
            <a:off x="5257800" y="2139696"/>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代表取締役</a:t>
            </a:r>
            <a:endParaRPr lang="en-US" sz="1150" dirty="0"/>
          </a:p>
        </p:txBody>
      </p:sp>
      <p:sp>
        <p:nvSpPr>
          <p:cNvPr id="20" name="Text 15"/>
          <p:cNvSpPr/>
          <p:nvPr/>
        </p:nvSpPr>
        <p:spPr>
          <a:xfrm>
            <a:off x="6739128" y="2139696"/>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鈴木 大基</a:t>
            </a:r>
            <a:endParaRPr lang="en-US" sz="1450" dirty="0"/>
          </a:p>
        </p:txBody>
      </p:sp>
      <p:sp>
        <p:nvSpPr>
          <p:cNvPr id="21" name="Shape 16"/>
          <p:cNvSpPr/>
          <p:nvPr/>
        </p:nvSpPr>
        <p:spPr>
          <a:xfrm>
            <a:off x="5257800" y="2761488"/>
            <a:ext cx="6267298" cy="10058"/>
          </a:xfrm>
          <a:prstGeom prst="rect">
            <a:avLst/>
          </a:prstGeom>
          <a:solidFill>
            <a:srgbClr val="E6DFCD"/>
          </a:solidFill>
          <a:ln/>
        </p:spPr>
      </p:sp>
      <p:sp>
        <p:nvSpPr>
          <p:cNvPr id="22" name="Text 17"/>
          <p:cNvSpPr/>
          <p:nvPr/>
        </p:nvSpPr>
        <p:spPr>
          <a:xfrm>
            <a:off x="5257800" y="2816352"/>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設立日</a:t>
            </a:r>
            <a:endParaRPr lang="en-US" sz="1150" dirty="0"/>
          </a:p>
        </p:txBody>
      </p:sp>
      <p:sp>
        <p:nvSpPr>
          <p:cNvPr id="23" name="Text 18"/>
          <p:cNvSpPr/>
          <p:nvPr/>
        </p:nvSpPr>
        <p:spPr>
          <a:xfrm>
            <a:off x="6739128" y="2816352"/>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2024年5月1日</a:t>
            </a:r>
            <a:endParaRPr lang="en-US" sz="1450" dirty="0"/>
          </a:p>
        </p:txBody>
      </p:sp>
      <p:sp>
        <p:nvSpPr>
          <p:cNvPr id="24" name="Shape 19"/>
          <p:cNvSpPr/>
          <p:nvPr/>
        </p:nvSpPr>
        <p:spPr>
          <a:xfrm>
            <a:off x="5257800" y="3438144"/>
            <a:ext cx="6267298" cy="10058"/>
          </a:xfrm>
          <a:prstGeom prst="rect">
            <a:avLst/>
          </a:prstGeom>
          <a:solidFill>
            <a:srgbClr val="E6DFCD"/>
          </a:solidFill>
          <a:ln/>
        </p:spPr>
      </p:sp>
      <p:sp>
        <p:nvSpPr>
          <p:cNvPr id="25" name="Text 20"/>
          <p:cNvSpPr/>
          <p:nvPr/>
        </p:nvSpPr>
        <p:spPr>
          <a:xfrm>
            <a:off x="5257800" y="3493008"/>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資本金</a:t>
            </a:r>
            <a:endParaRPr lang="en-US" sz="1150" dirty="0"/>
          </a:p>
        </p:txBody>
      </p:sp>
      <p:sp>
        <p:nvSpPr>
          <p:cNvPr id="26" name="Text 21"/>
          <p:cNvSpPr/>
          <p:nvPr/>
        </p:nvSpPr>
        <p:spPr>
          <a:xfrm>
            <a:off x="6739128" y="3493008"/>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2,000万円</a:t>
            </a:r>
            <a:endParaRPr lang="en-US" sz="1450" dirty="0"/>
          </a:p>
        </p:txBody>
      </p:sp>
      <p:sp>
        <p:nvSpPr>
          <p:cNvPr id="27" name="Shape 22"/>
          <p:cNvSpPr/>
          <p:nvPr/>
        </p:nvSpPr>
        <p:spPr>
          <a:xfrm>
            <a:off x="5257800" y="4114800"/>
            <a:ext cx="6267298" cy="10058"/>
          </a:xfrm>
          <a:prstGeom prst="rect">
            <a:avLst/>
          </a:prstGeom>
          <a:solidFill>
            <a:srgbClr val="E6DFCD"/>
          </a:solidFill>
          <a:ln/>
        </p:spPr>
      </p:sp>
      <p:sp>
        <p:nvSpPr>
          <p:cNvPr id="28" name="Text 23"/>
          <p:cNvSpPr/>
          <p:nvPr/>
        </p:nvSpPr>
        <p:spPr>
          <a:xfrm>
            <a:off x="5257800" y="4169664"/>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事業内容</a:t>
            </a:r>
            <a:endParaRPr lang="en-US" sz="1150" dirty="0"/>
          </a:p>
        </p:txBody>
      </p:sp>
      <p:sp>
        <p:nvSpPr>
          <p:cNvPr id="29" name="Text 24"/>
          <p:cNvSpPr/>
          <p:nvPr/>
        </p:nvSpPr>
        <p:spPr>
          <a:xfrm>
            <a:off x="6739128" y="4169664"/>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無人カフェの経営</a:t>
            </a:r>
            <a:endParaRPr lang="en-US" sz="1450" dirty="0"/>
          </a:p>
        </p:txBody>
      </p:sp>
      <p:sp>
        <p:nvSpPr>
          <p:cNvPr id="30" name="Shape 25"/>
          <p:cNvSpPr/>
          <p:nvPr/>
        </p:nvSpPr>
        <p:spPr>
          <a:xfrm>
            <a:off x="5257800" y="4791456"/>
            <a:ext cx="6267298" cy="10058"/>
          </a:xfrm>
          <a:prstGeom prst="rect">
            <a:avLst/>
          </a:prstGeom>
          <a:solidFill>
            <a:srgbClr val="E6DFCD"/>
          </a:solidFill>
          <a:ln/>
        </p:spPr>
      </p:sp>
      <p:sp>
        <p:nvSpPr>
          <p:cNvPr id="31" name="Text 26"/>
          <p:cNvSpPr/>
          <p:nvPr/>
        </p:nvSpPr>
        <p:spPr>
          <a:xfrm>
            <a:off x="5257800" y="4846320"/>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公式HP</a:t>
            </a:r>
            <a:endParaRPr lang="en-US" sz="1150" dirty="0"/>
          </a:p>
        </p:txBody>
      </p:sp>
      <p:sp>
        <p:nvSpPr>
          <p:cNvPr id="32" name="Text 27"/>
          <p:cNvSpPr/>
          <p:nvPr/>
        </p:nvSpPr>
        <p:spPr>
          <a:xfrm>
            <a:off x="6739128" y="4846320"/>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https://selfcafe.jp/</a:t>
            </a:r>
            <a:endParaRPr lang="en-US" sz="1450" dirty="0"/>
          </a:p>
        </p:txBody>
      </p:sp>
      <p:sp>
        <p:nvSpPr>
          <p:cNvPr id="33" name="Shape 28"/>
          <p:cNvSpPr/>
          <p:nvPr/>
        </p:nvSpPr>
        <p:spPr>
          <a:xfrm>
            <a:off x="5257800" y="5468112"/>
            <a:ext cx="6267298" cy="10058"/>
          </a:xfrm>
          <a:prstGeom prst="rect">
            <a:avLst/>
          </a:prstGeom>
          <a:solidFill>
            <a:srgbClr val="E6DFCD"/>
          </a:solidFill>
          <a:ln/>
        </p:spPr>
      </p:sp>
      <p:sp>
        <p:nvSpPr>
          <p:cNvPr id="34" name="Shape 29"/>
          <p:cNvSpPr/>
          <p:nvPr/>
        </p:nvSpPr>
        <p:spPr>
          <a:xfrm>
            <a:off x="5257800" y="5669280"/>
            <a:ext cx="6267298" cy="475488"/>
          </a:xfrm>
          <a:prstGeom prst="roundRect">
            <a:avLst>
              <a:gd name="adj" fmla="val 11538"/>
            </a:avLst>
          </a:prstGeom>
          <a:solidFill>
            <a:srgbClr val="FAF3E3"/>
          </a:solidFill>
          <a:ln/>
        </p:spPr>
      </p:sp>
      <p:sp>
        <p:nvSpPr>
          <p:cNvPr id="35" name="Text 30"/>
          <p:cNvSpPr/>
          <p:nvPr/>
        </p:nvSpPr>
        <p:spPr>
          <a:xfrm>
            <a:off x="5458968" y="5669280"/>
            <a:ext cx="5864962" cy="475488"/>
          </a:xfrm>
          <a:prstGeom prst="rect">
            <a:avLst/>
          </a:prstGeom>
          <a:noFill/>
          <a:ln/>
        </p:spPr>
        <p:txBody>
          <a:bodyPr wrap="square" lIns="0" tIns="0" rIns="0" bIns="0" rtlCol="0" anchor="ctr"/>
          <a:lstStyle/>
          <a:p>
            <a:pPr indent="0" marL="0">
              <a:buNone/>
            </a:pPr>
            <a:r>
              <a:rPr lang="en-US" sz="1100" dirty="0">
                <a:solidFill>
                  <a:srgbClr val="5D4037"/>
                </a:solidFill>
                <a:latin typeface="Noto Sans JP" pitchFamily="34" charset="0"/>
                <a:ea typeface="Noto Sans JP" pitchFamily="34" charset="-122"/>
                <a:cs typeface="Noto Sans JP" pitchFamily="34" charset="-120"/>
              </a:rPr>
              <a:t>※2024年5月1日よりウッドデザインパーク(株)から分社化</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社会背景と市場性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5</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現代社会が抱える3つの課題</a:t>
            </a:r>
            <a:endParaRPr lang="en-US" sz="1150" dirty="0"/>
          </a:p>
        </p:txBody>
      </p:sp>
      <p:sp>
        <p:nvSpPr>
          <p:cNvPr id="7" name="Shape 4"/>
          <p:cNvSpPr/>
          <p:nvPr/>
        </p:nvSpPr>
        <p:spPr>
          <a:xfrm>
            <a:off x="666598"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40918" y="1956816"/>
            <a:ext cx="603504" cy="603504"/>
          </a:xfrm>
          <a:prstGeom prst="ellipse">
            <a:avLst/>
          </a:prstGeom>
          <a:solidFill>
            <a:srgbClr val="F0F5EF"/>
          </a:solidFill>
          <a:ln/>
        </p:spPr>
      </p:sp>
      <p:pic>
        <p:nvPicPr>
          <p:cNvPr id="9" name="Image 1" descr="/home/user/suzuki-ceo/selfcafe-fc-deck/assets/icons/LuUsers-green.png">    </p:cNvPr>
          <p:cNvPicPr>
            <a:picLocks noChangeAspect="1"/>
          </p:cNvPicPr>
          <p:nvPr/>
        </p:nvPicPr>
        <p:blipFill>
          <a:blip r:embed="rId2"/>
          <a:stretch>
            <a:fillRect/>
          </a:stretch>
        </p:blipFill>
        <p:spPr>
          <a:xfrm>
            <a:off x="1073688" y="2089587"/>
            <a:ext cx="337962" cy="337962"/>
          </a:xfrm>
          <a:prstGeom prst="rect">
            <a:avLst/>
          </a:prstGeom>
        </p:spPr>
      </p:pic>
      <p:sp>
        <p:nvSpPr>
          <p:cNvPr id="10" name="Text 6"/>
          <p:cNvSpPr/>
          <p:nvPr/>
        </p:nvSpPr>
        <p:spPr>
          <a:xfrm>
            <a:off x="3292450"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01</a:t>
            </a:r>
            <a:endParaRPr lang="en-US" sz="2000" dirty="0"/>
          </a:p>
        </p:txBody>
      </p:sp>
      <p:sp>
        <p:nvSpPr>
          <p:cNvPr id="11" name="Text 7"/>
          <p:cNvSpPr/>
          <p:nvPr/>
        </p:nvSpPr>
        <p:spPr>
          <a:xfrm>
            <a:off x="940918"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深刻な労働力不足</a:t>
            </a:r>
            <a:endParaRPr lang="en-US" sz="1550" dirty="0"/>
          </a:p>
        </p:txBody>
      </p:sp>
      <p:sp>
        <p:nvSpPr>
          <p:cNvPr id="12" name="Text 8"/>
          <p:cNvSpPr/>
          <p:nvPr/>
        </p:nvSpPr>
        <p:spPr>
          <a:xfrm>
            <a:off x="940918"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サービス業の人手確保が困難に</a:t>
            </a:r>
            <a:endParaRPr lang="en-US" sz="1050" dirty="0"/>
          </a:p>
        </p:txBody>
      </p:sp>
      <p:sp>
        <p:nvSpPr>
          <p:cNvPr id="13" name="Shape 9"/>
          <p:cNvSpPr/>
          <p:nvPr/>
        </p:nvSpPr>
        <p:spPr>
          <a:xfrm>
            <a:off x="940918" y="3346704"/>
            <a:ext cx="2900172" cy="10058"/>
          </a:xfrm>
          <a:prstGeom prst="rect">
            <a:avLst/>
          </a:prstGeom>
          <a:solidFill>
            <a:srgbClr val="E6DFCD"/>
          </a:solidFill>
          <a:ln/>
        </p:spPr>
      </p:sp>
      <p:sp>
        <p:nvSpPr>
          <p:cNvPr id="14" name="Text 10"/>
          <p:cNvSpPr/>
          <p:nvPr/>
        </p:nvSpPr>
        <p:spPr>
          <a:xfrm>
            <a:off x="940918"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少子高齢化と働き手の価値観の変化でサービス業の人手確保が難しくなり、人件費が上昇して経営負担が増している。</a:t>
            </a:r>
            <a:endParaRPr lang="en-US" sz="1100" dirty="0"/>
          </a:p>
        </p:txBody>
      </p:sp>
      <p:sp>
        <p:nvSpPr>
          <p:cNvPr id="15" name="Shape 11"/>
          <p:cNvSpPr/>
          <p:nvPr/>
        </p:nvSpPr>
        <p:spPr>
          <a:xfrm>
            <a:off x="4371442"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6" name="Shape 12"/>
          <p:cNvSpPr/>
          <p:nvPr/>
        </p:nvSpPr>
        <p:spPr>
          <a:xfrm>
            <a:off x="4645762" y="1956816"/>
            <a:ext cx="603504" cy="603504"/>
          </a:xfrm>
          <a:prstGeom prst="ellipse">
            <a:avLst/>
          </a:prstGeom>
          <a:solidFill>
            <a:srgbClr val="F0F5EF"/>
          </a:solidFill>
          <a:ln/>
        </p:spPr>
      </p:sp>
      <p:pic>
        <p:nvPicPr>
          <p:cNvPr id="17" name="Image 2" descr="/home/user/suzuki-ceo/selfcafe-fc-deck/assets/icons/LuLaptop-green.png">    </p:cNvPr>
          <p:cNvPicPr>
            <a:picLocks noChangeAspect="1"/>
          </p:cNvPicPr>
          <p:nvPr/>
        </p:nvPicPr>
        <p:blipFill>
          <a:blip r:embed="rId3"/>
          <a:stretch>
            <a:fillRect/>
          </a:stretch>
        </p:blipFill>
        <p:spPr>
          <a:xfrm>
            <a:off x="4778532" y="2089587"/>
            <a:ext cx="337962" cy="337962"/>
          </a:xfrm>
          <a:prstGeom prst="rect">
            <a:avLst/>
          </a:prstGeom>
        </p:spPr>
      </p:pic>
      <p:sp>
        <p:nvSpPr>
          <p:cNvPr id="18" name="Text 13"/>
          <p:cNvSpPr/>
          <p:nvPr/>
        </p:nvSpPr>
        <p:spPr>
          <a:xfrm>
            <a:off x="6997294"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02</a:t>
            </a:r>
            <a:endParaRPr lang="en-US" sz="2000" dirty="0"/>
          </a:p>
        </p:txBody>
      </p:sp>
      <p:sp>
        <p:nvSpPr>
          <p:cNvPr id="19" name="Text 14"/>
          <p:cNvSpPr/>
          <p:nvPr/>
        </p:nvSpPr>
        <p:spPr>
          <a:xfrm>
            <a:off x="4645762"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サードプレイスの枯渇</a:t>
            </a:r>
            <a:endParaRPr lang="en-US" sz="1550" dirty="0"/>
          </a:p>
        </p:txBody>
      </p:sp>
      <p:sp>
        <p:nvSpPr>
          <p:cNvPr id="20" name="Text 15"/>
          <p:cNvSpPr/>
          <p:nvPr/>
        </p:nvSpPr>
        <p:spPr>
          <a:xfrm>
            <a:off x="4645762"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自宅以外の作業場所が足りない</a:t>
            </a:r>
            <a:endParaRPr lang="en-US" sz="1050" dirty="0"/>
          </a:p>
        </p:txBody>
      </p:sp>
      <p:sp>
        <p:nvSpPr>
          <p:cNvPr id="21" name="Shape 16"/>
          <p:cNvSpPr/>
          <p:nvPr/>
        </p:nvSpPr>
        <p:spPr>
          <a:xfrm>
            <a:off x="4645762" y="3346704"/>
            <a:ext cx="2900172" cy="10058"/>
          </a:xfrm>
          <a:prstGeom prst="rect">
            <a:avLst/>
          </a:prstGeom>
          <a:solidFill>
            <a:srgbClr val="E6DFCD"/>
          </a:solidFill>
          <a:ln/>
        </p:spPr>
      </p:sp>
      <p:sp>
        <p:nvSpPr>
          <p:cNvPr id="22" name="Text 17"/>
          <p:cNvSpPr/>
          <p:nvPr/>
        </p:nvSpPr>
        <p:spPr>
          <a:xfrm>
            <a:off x="4645762"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リモートワークの普及で自宅以外の手頃な作業場所が不足し、カフェやコワーキングは価格や混雑の課題が残り、学習スペースも制限が多く気軽に利用できない。</a:t>
            </a:r>
            <a:endParaRPr lang="en-US" sz="1100" dirty="0"/>
          </a:p>
        </p:txBody>
      </p:sp>
      <p:sp>
        <p:nvSpPr>
          <p:cNvPr id="23" name="Shape 18"/>
          <p:cNvSpPr/>
          <p:nvPr/>
        </p:nvSpPr>
        <p:spPr>
          <a:xfrm>
            <a:off x="8076286"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4" name="Shape 19"/>
          <p:cNvSpPr/>
          <p:nvPr/>
        </p:nvSpPr>
        <p:spPr>
          <a:xfrm>
            <a:off x="8350606" y="1956816"/>
            <a:ext cx="603504" cy="603504"/>
          </a:xfrm>
          <a:prstGeom prst="ellipse">
            <a:avLst/>
          </a:prstGeom>
          <a:solidFill>
            <a:srgbClr val="F0F5EF"/>
          </a:solidFill>
          <a:ln/>
        </p:spPr>
      </p:sp>
      <p:pic>
        <p:nvPicPr>
          <p:cNvPr id="25" name="Image 3" descr="/home/user/suzuki-ceo/selfcafe-fc-deck/assets/icons/LuBuilding2-green.png">    </p:cNvPr>
          <p:cNvPicPr>
            <a:picLocks noChangeAspect="1"/>
          </p:cNvPicPr>
          <p:nvPr/>
        </p:nvPicPr>
        <p:blipFill>
          <a:blip r:embed="rId4"/>
          <a:stretch>
            <a:fillRect/>
          </a:stretch>
        </p:blipFill>
        <p:spPr>
          <a:xfrm>
            <a:off x="8483376" y="2089587"/>
            <a:ext cx="337962" cy="337962"/>
          </a:xfrm>
          <a:prstGeom prst="rect">
            <a:avLst/>
          </a:prstGeom>
        </p:spPr>
      </p:pic>
      <p:sp>
        <p:nvSpPr>
          <p:cNvPr id="26" name="Text 20"/>
          <p:cNvSpPr/>
          <p:nvPr/>
        </p:nvSpPr>
        <p:spPr>
          <a:xfrm>
            <a:off x="10702138"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03</a:t>
            </a:r>
            <a:endParaRPr lang="en-US" sz="2000" dirty="0"/>
          </a:p>
        </p:txBody>
      </p:sp>
      <p:sp>
        <p:nvSpPr>
          <p:cNvPr id="27" name="Text 21"/>
          <p:cNvSpPr/>
          <p:nvPr/>
        </p:nvSpPr>
        <p:spPr>
          <a:xfrm>
            <a:off x="8350606"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遊休資産の有効活用</a:t>
            </a:r>
            <a:endParaRPr lang="en-US" sz="1550" dirty="0"/>
          </a:p>
        </p:txBody>
      </p:sp>
      <p:sp>
        <p:nvSpPr>
          <p:cNvPr id="28" name="Text 22"/>
          <p:cNvSpPr/>
          <p:nvPr/>
        </p:nvSpPr>
        <p:spPr>
          <a:xfrm>
            <a:off x="8350606"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空室・デッドスペースが埋まらない</a:t>
            </a:r>
            <a:endParaRPr lang="en-US" sz="1050" dirty="0"/>
          </a:p>
        </p:txBody>
      </p:sp>
      <p:sp>
        <p:nvSpPr>
          <p:cNvPr id="29" name="Shape 23"/>
          <p:cNvSpPr/>
          <p:nvPr/>
        </p:nvSpPr>
        <p:spPr>
          <a:xfrm>
            <a:off x="8350606" y="3346704"/>
            <a:ext cx="2900172" cy="10058"/>
          </a:xfrm>
          <a:prstGeom prst="rect">
            <a:avLst/>
          </a:prstGeom>
          <a:solidFill>
            <a:srgbClr val="E6DFCD"/>
          </a:solidFill>
          <a:ln/>
        </p:spPr>
      </p:sp>
      <p:sp>
        <p:nvSpPr>
          <p:cNvPr id="30" name="Text 24"/>
          <p:cNvSpPr/>
          <p:nvPr/>
        </p:nvSpPr>
        <p:spPr>
          <a:xfrm>
            <a:off x="8350606"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ビル空室やデッドスペースが増え、従来のテナント誘致だけでは埋まらず、新たな活用モデルの開発が求められている。</a:t>
            </a:r>
            <a:endParaRPr lang="en-US" sz="1100" dirty="0"/>
          </a:p>
        </p:txBody>
      </p:sp>
      <p:sp>
        <p:nvSpPr>
          <p:cNvPr id="31" name="Shape 25"/>
          <p:cNvSpPr/>
          <p:nvPr/>
        </p:nvSpPr>
        <p:spPr>
          <a:xfrm>
            <a:off x="666598" y="4828032"/>
            <a:ext cx="10858500" cy="1426464"/>
          </a:xfrm>
          <a:prstGeom prst="roundRect">
            <a:avLst>
              <a:gd name="adj" fmla="val 5769"/>
            </a:avLst>
          </a:prstGeom>
          <a:solidFill>
            <a:srgbClr val="12401A"/>
          </a:solidFill>
          <a:ln/>
          <a:effectLst>
            <a:outerShdw sx="100000" sy="100000" kx="0" ky="0" algn="bl" rotWithShape="0" blurRad="114300" dist="17780" dir="5400000">
              <a:srgbClr val="6B6250">
                <a:alpha val="14000"/>
              </a:srgbClr>
            </a:outerShdw>
          </a:effectLst>
        </p:spPr>
      </p:sp>
      <p:pic>
        <p:nvPicPr>
          <p:cNvPr id="32" name="Image 4" descr="/home/user/suzuki-ceo/selfcafe-fc-deck/assets/icons/LuZap-white.png">    </p:cNvPr>
          <p:cNvPicPr>
            <a:picLocks noChangeAspect="1"/>
          </p:cNvPicPr>
          <p:nvPr/>
        </p:nvPicPr>
        <p:blipFill>
          <a:blip r:embed="rId5"/>
          <a:stretch>
            <a:fillRect/>
          </a:stretch>
        </p:blipFill>
        <p:spPr>
          <a:xfrm>
            <a:off x="1050646" y="5084064"/>
            <a:ext cx="310896" cy="310896"/>
          </a:xfrm>
          <a:prstGeom prst="rect">
            <a:avLst/>
          </a:prstGeom>
        </p:spPr>
      </p:pic>
      <p:sp>
        <p:nvSpPr>
          <p:cNvPr id="33" name="Text 26"/>
          <p:cNvSpPr/>
          <p:nvPr/>
        </p:nvSpPr>
        <p:spPr>
          <a:xfrm>
            <a:off x="1507846" y="5029200"/>
            <a:ext cx="9633204" cy="420624"/>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この3つの課題に同時に応えるのが、「無人カフェ × 遊休スペース」というモデルです。</a:t>
            </a:r>
            <a:endParaRPr lang="en-US" sz="1900" dirty="0"/>
          </a:p>
        </p:txBody>
      </p:sp>
      <p:sp>
        <p:nvSpPr>
          <p:cNvPr id="34" name="Text 27"/>
          <p:cNvSpPr/>
          <p:nvPr/>
        </p:nvSpPr>
        <p:spPr>
          <a:xfrm>
            <a:off x="1507846" y="5522976"/>
            <a:ext cx="9633204" cy="402336"/>
          </a:xfrm>
          <a:prstGeom prst="rect">
            <a:avLst/>
          </a:prstGeom>
          <a:noFill/>
          <a:ln/>
        </p:spPr>
        <p:txBody>
          <a:bodyPr wrap="square" lIns="0" tIns="0" rIns="0" bIns="0" rtlCol="0" anchor="ctr"/>
          <a:lstStyle/>
          <a:p>
            <a:pPr indent="0" marL="0">
              <a:buNone/>
            </a:pPr>
            <a:r>
              <a:rPr lang="en-US" sz="1150" dirty="0">
                <a:solidFill>
                  <a:srgbClr val="A9C6AC"/>
                </a:solidFill>
                <a:latin typeface="Noto Sans JP" pitchFamily="34" charset="0"/>
                <a:ea typeface="Noto Sans JP" pitchFamily="34" charset="-122"/>
                <a:cs typeface="Noto Sans JP" pitchFamily="34" charset="-120"/>
              </a:rPr>
              <a:t>人手をかけずに運営でき、働く・学ぶ場所を求める需要を受け止め、空いたスペースを収益資産に変えられます。</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人手不足対策：無人管理の優位性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6</a:t>
            </a:r>
            <a:endParaRPr lang="en-US" sz="1300" dirty="0"/>
          </a:p>
        </p:txBody>
      </p:sp>
      <p:sp>
        <p:nvSpPr>
          <p:cNvPr id="6" name="Shape 3"/>
          <p:cNvSpPr/>
          <p:nvPr/>
        </p:nvSpPr>
        <p:spPr>
          <a:xfrm>
            <a:off x="666598" y="1417320"/>
            <a:ext cx="3977640" cy="4846320"/>
          </a:xfrm>
          <a:prstGeom prst="roundRect">
            <a:avLst>
              <a:gd name="adj" fmla="val 2069"/>
            </a:avLst>
          </a:prstGeom>
          <a:solidFill>
            <a:srgbClr val="12401A"/>
          </a:solidFill>
          <a:ln/>
          <a:effectLst>
            <a:outerShdw sx="100000" sy="100000" kx="0" ky="0" algn="bl" rotWithShape="0" blurRad="114300" dist="17780" dir="5400000">
              <a:srgbClr val="6B6250">
                <a:alpha val="14000"/>
              </a:srgbClr>
            </a:outerShdw>
          </a:effectLst>
        </p:spPr>
      </p:sp>
      <p:sp>
        <p:nvSpPr>
          <p:cNvPr id="7" name="Text 4"/>
          <p:cNvSpPr/>
          <p:nvPr/>
        </p:nvSpPr>
        <p:spPr>
          <a:xfrm>
            <a:off x="1087222" y="1892808"/>
            <a:ext cx="3136392" cy="256032"/>
          </a:xfrm>
          <a:prstGeom prst="rect">
            <a:avLst/>
          </a:prstGeom>
          <a:noFill/>
          <a:ln/>
        </p:spPr>
        <p:txBody>
          <a:bodyPr wrap="square" lIns="0" tIns="0" rIns="0" bIns="0" rtlCol="0" anchor="ctr"/>
          <a:lstStyle/>
          <a:p>
            <a:pPr indent="0" marL="0">
              <a:buNone/>
            </a:pPr>
            <a:r>
              <a:rPr lang="en-US" sz="1050" b="1" spc="300" kern="0" dirty="0">
                <a:solidFill>
                  <a:srgbClr val="A9C6AC"/>
                </a:solidFill>
                <a:latin typeface="Arial" pitchFamily="34" charset="0"/>
                <a:ea typeface="Arial" pitchFamily="34" charset="-122"/>
                <a:cs typeface="Arial" pitchFamily="34" charset="-120"/>
              </a:rPr>
              <a:t>THE ADVANTAGE</a:t>
            </a:r>
            <a:endParaRPr lang="en-US" sz="1050" dirty="0"/>
          </a:p>
        </p:txBody>
      </p:sp>
      <p:sp>
        <p:nvSpPr>
          <p:cNvPr id="8" name="Text 5"/>
          <p:cNvSpPr/>
          <p:nvPr/>
        </p:nvSpPr>
        <p:spPr>
          <a:xfrm>
            <a:off x="1087222" y="2331720"/>
            <a:ext cx="3136392" cy="2011680"/>
          </a:xfrm>
          <a:prstGeom prst="rect">
            <a:avLst/>
          </a:prstGeom>
          <a:noFill/>
          <a:ln/>
        </p:spPr>
        <p:txBody>
          <a:bodyPr wrap="square" lIns="0" tIns="0" rIns="0" bIns="0" rtlCol="0" anchor="t"/>
          <a:lstStyle/>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「人」に</a:t>
            </a:r>
            <a:endParaRPr lang="en-US" sz="3100" dirty="0"/>
          </a:p>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頼らない</a:t>
            </a:r>
            <a:endParaRPr lang="en-US" sz="3100" dirty="0"/>
          </a:p>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経営へ</a:t>
            </a:r>
            <a:endParaRPr lang="en-US" sz="3100" dirty="0"/>
          </a:p>
        </p:txBody>
      </p:sp>
      <p:sp>
        <p:nvSpPr>
          <p:cNvPr id="9" name="Shape 6"/>
          <p:cNvSpPr/>
          <p:nvPr/>
        </p:nvSpPr>
        <p:spPr>
          <a:xfrm>
            <a:off x="1087222" y="4489704"/>
            <a:ext cx="1005840" cy="19202"/>
          </a:xfrm>
          <a:prstGeom prst="rect">
            <a:avLst/>
          </a:prstGeom>
          <a:solidFill>
            <a:srgbClr val="A9C6AC"/>
          </a:solidFill>
          <a:ln/>
        </p:spPr>
      </p:sp>
      <p:sp>
        <p:nvSpPr>
          <p:cNvPr id="10" name="Text 7"/>
          <p:cNvSpPr/>
          <p:nvPr/>
        </p:nvSpPr>
        <p:spPr>
          <a:xfrm>
            <a:off x="1087222" y="4709160"/>
            <a:ext cx="3136392" cy="1078992"/>
          </a:xfrm>
          <a:prstGeom prst="rect">
            <a:avLst/>
          </a:prstGeom>
          <a:noFill/>
          <a:ln/>
        </p:spPr>
        <p:txBody>
          <a:bodyPr wrap="square" lIns="0" tIns="0" rIns="0" bIns="0" rtlCol="0" anchor="t"/>
          <a:lstStyle/>
          <a:p>
            <a:pPr indent="0" marL="0">
              <a:lnSpc>
                <a:spcPct val="140000"/>
              </a:lnSpc>
              <a:buNone/>
            </a:pPr>
            <a:r>
              <a:rPr lang="en-US" sz="1150" dirty="0">
                <a:solidFill>
                  <a:srgbClr val="A9C6AC"/>
                </a:solidFill>
                <a:latin typeface="Noto Sans JP" pitchFamily="34" charset="0"/>
                <a:ea typeface="Noto Sans JP" pitchFamily="34" charset="-122"/>
                <a:cs typeface="Noto Sans JP" pitchFamily="34" charset="-120"/>
              </a:rPr>
              <a:t>無人運営がもたらす、3つの構造的な強み。人に依存しないから、規模を広げても運営品質とコストが崩れません。</a:t>
            </a:r>
            <a:endParaRPr lang="en-US" sz="1150" dirty="0"/>
          </a:p>
        </p:txBody>
      </p:sp>
      <p:pic>
        <p:nvPicPr>
          <p:cNvPr id="11" name="Image 1" descr="/home/user/suzuki-ceo/selfcafe-fc-deck/assets/icons/LuUsers-pale.png">    </p:cNvPr>
          <p:cNvPicPr>
            <a:picLocks noChangeAspect="1"/>
          </p:cNvPicPr>
          <p:nvPr/>
        </p:nvPicPr>
        <p:blipFill>
          <a:blip r:embed="rId2"/>
          <a:stretch>
            <a:fillRect/>
          </a:stretch>
        </p:blipFill>
        <p:spPr>
          <a:xfrm>
            <a:off x="3510382" y="5257800"/>
            <a:ext cx="658368" cy="658368"/>
          </a:xfrm>
          <a:prstGeom prst="rect">
            <a:avLst/>
          </a:prstGeom>
        </p:spPr>
      </p:pic>
      <p:sp>
        <p:nvSpPr>
          <p:cNvPr id="12" name="Shape 8"/>
          <p:cNvSpPr/>
          <p:nvPr/>
        </p:nvSpPr>
        <p:spPr>
          <a:xfrm>
            <a:off x="4892040" y="1417320"/>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5202936" y="1728216"/>
            <a:ext cx="603504" cy="603504"/>
          </a:xfrm>
          <a:prstGeom prst="ellipse">
            <a:avLst/>
          </a:prstGeom>
          <a:solidFill>
            <a:srgbClr val="F0F5EF"/>
          </a:solidFill>
          <a:ln/>
        </p:spPr>
      </p:sp>
      <p:pic>
        <p:nvPicPr>
          <p:cNvPr id="14" name="Image 2" descr="/home/user/suzuki-ceo/selfcafe-fc-deck/assets/icons/LuClipboardList-green.png">    </p:cNvPr>
          <p:cNvPicPr>
            <a:picLocks noChangeAspect="1"/>
          </p:cNvPicPr>
          <p:nvPr/>
        </p:nvPicPr>
        <p:blipFill>
          <a:blip r:embed="rId3"/>
          <a:stretch>
            <a:fillRect/>
          </a:stretch>
        </p:blipFill>
        <p:spPr>
          <a:xfrm>
            <a:off x="5335707" y="1860987"/>
            <a:ext cx="337962" cy="337962"/>
          </a:xfrm>
          <a:prstGeom prst="rect">
            <a:avLst/>
          </a:prstGeom>
        </p:spPr>
      </p:pic>
      <p:sp>
        <p:nvSpPr>
          <p:cNvPr id="15" name="Text 10"/>
          <p:cNvSpPr/>
          <p:nvPr/>
        </p:nvSpPr>
        <p:spPr>
          <a:xfrm>
            <a:off x="5952744" y="1691640"/>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管理・教育コストの大幅削減</a:t>
            </a:r>
            <a:endParaRPr lang="en-US" sz="1600" dirty="0"/>
          </a:p>
        </p:txBody>
      </p:sp>
      <p:sp>
        <p:nvSpPr>
          <p:cNvPr id="16" name="Text 11"/>
          <p:cNvSpPr/>
          <p:nvPr/>
        </p:nvSpPr>
        <p:spPr>
          <a:xfrm>
            <a:off x="5952744" y="2130552"/>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スタッフ管理に伴う工数や人的リスクを抑え、運営にかかる負担を軽減します。</a:t>
            </a:r>
            <a:endParaRPr lang="en-US" sz="1150" dirty="0"/>
          </a:p>
        </p:txBody>
      </p:sp>
      <p:sp>
        <p:nvSpPr>
          <p:cNvPr id="17" name="Shape 12"/>
          <p:cNvSpPr/>
          <p:nvPr/>
        </p:nvSpPr>
        <p:spPr>
          <a:xfrm>
            <a:off x="4892040" y="3099816"/>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8" name="Shape 13"/>
          <p:cNvSpPr/>
          <p:nvPr/>
        </p:nvSpPr>
        <p:spPr>
          <a:xfrm>
            <a:off x="5202936" y="3410712"/>
            <a:ext cx="603504" cy="603504"/>
          </a:xfrm>
          <a:prstGeom prst="ellipse">
            <a:avLst/>
          </a:prstGeom>
          <a:solidFill>
            <a:srgbClr val="F0F5EF"/>
          </a:solidFill>
          <a:ln/>
        </p:spPr>
      </p:sp>
      <p:pic>
        <p:nvPicPr>
          <p:cNvPr id="19" name="Image 3" descr="/home/user/suzuki-ceo/selfcafe-fc-deck/assets/icons/LuPiggyBank-green.png">    </p:cNvPr>
          <p:cNvPicPr>
            <a:picLocks noChangeAspect="1"/>
          </p:cNvPicPr>
          <p:nvPr/>
        </p:nvPicPr>
        <p:blipFill>
          <a:blip r:embed="rId4"/>
          <a:stretch>
            <a:fillRect/>
          </a:stretch>
        </p:blipFill>
        <p:spPr>
          <a:xfrm>
            <a:off x="5335707" y="3543483"/>
            <a:ext cx="337962" cy="337962"/>
          </a:xfrm>
          <a:prstGeom prst="rect">
            <a:avLst/>
          </a:prstGeom>
        </p:spPr>
      </p:pic>
      <p:sp>
        <p:nvSpPr>
          <p:cNvPr id="20" name="Text 14"/>
          <p:cNvSpPr/>
          <p:nvPr/>
        </p:nvSpPr>
        <p:spPr>
          <a:xfrm>
            <a:off x="5952744" y="3374136"/>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省人力運営で、無駄な人件費をカット</a:t>
            </a:r>
            <a:endParaRPr lang="en-US" sz="1600" dirty="0"/>
          </a:p>
        </p:txBody>
      </p:sp>
      <p:sp>
        <p:nvSpPr>
          <p:cNvPr id="21" name="Text 15"/>
          <p:cNvSpPr/>
          <p:nvPr/>
        </p:nvSpPr>
        <p:spPr>
          <a:xfrm>
            <a:off x="5952744" y="3813048"/>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必要最小限の作業で回る仕組みにより、人件費を抑えながら安定した収益を確保できます。</a:t>
            </a:r>
            <a:endParaRPr lang="en-US" sz="1150" dirty="0"/>
          </a:p>
        </p:txBody>
      </p:sp>
      <p:sp>
        <p:nvSpPr>
          <p:cNvPr id="22" name="Shape 16"/>
          <p:cNvSpPr/>
          <p:nvPr/>
        </p:nvSpPr>
        <p:spPr>
          <a:xfrm>
            <a:off x="4892040" y="4782312"/>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7"/>
          <p:cNvSpPr/>
          <p:nvPr/>
        </p:nvSpPr>
        <p:spPr>
          <a:xfrm>
            <a:off x="5202936" y="5093208"/>
            <a:ext cx="603504" cy="603504"/>
          </a:xfrm>
          <a:prstGeom prst="ellipse">
            <a:avLst/>
          </a:prstGeom>
          <a:solidFill>
            <a:srgbClr val="F0F5EF"/>
          </a:solidFill>
          <a:ln/>
        </p:spPr>
      </p:sp>
      <p:pic>
        <p:nvPicPr>
          <p:cNvPr id="24" name="Image 4" descr="/home/user/suzuki-ceo/selfcafe-fc-deck/assets/icons/LuBadgeCheck-green.png">    </p:cNvPr>
          <p:cNvPicPr>
            <a:picLocks noChangeAspect="1"/>
          </p:cNvPicPr>
          <p:nvPr/>
        </p:nvPicPr>
        <p:blipFill>
          <a:blip r:embed="rId5"/>
          <a:stretch>
            <a:fillRect/>
          </a:stretch>
        </p:blipFill>
        <p:spPr>
          <a:xfrm>
            <a:off x="5335707" y="5225979"/>
            <a:ext cx="337962" cy="337962"/>
          </a:xfrm>
          <a:prstGeom prst="rect">
            <a:avLst/>
          </a:prstGeom>
        </p:spPr>
      </p:pic>
      <p:sp>
        <p:nvSpPr>
          <p:cNvPr id="25" name="Text 18"/>
          <p:cNvSpPr/>
          <p:nvPr/>
        </p:nvSpPr>
        <p:spPr>
          <a:xfrm>
            <a:off x="5952744" y="5056632"/>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安定した収益と品質</a:t>
            </a:r>
            <a:endParaRPr lang="en-US" sz="1600" dirty="0"/>
          </a:p>
        </p:txBody>
      </p:sp>
      <p:sp>
        <p:nvSpPr>
          <p:cNvPr id="26" name="Text 19"/>
          <p:cNvSpPr/>
          <p:nvPr/>
        </p:nvSpPr>
        <p:spPr>
          <a:xfrm>
            <a:off x="5952744" y="5495544"/>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属人性を排除することで、常に均一したサービス品質を維持し、運営の安定性を高めます。</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既存事業とのシナジー</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7</a:t>
            </a:r>
            <a:endParaRPr lang="en-US" sz="1300" dirty="0"/>
          </a:p>
        </p:txBody>
      </p:sp>
      <p:sp>
        <p:nvSpPr>
          <p:cNvPr id="6" name="Shape 3"/>
          <p:cNvSpPr/>
          <p:nvPr/>
        </p:nvSpPr>
        <p:spPr>
          <a:xfrm>
            <a:off x="666598" y="1280160"/>
            <a:ext cx="10858500" cy="1170432"/>
          </a:xfrm>
          <a:prstGeom prst="roundRect">
            <a:avLst>
              <a:gd name="adj" fmla="val 7031"/>
            </a:avLst>
          </a:prstGeom>
          <a:solidFill>
            <a:srgbClr val="12401A"/>
          </a:solidFill>
          <a:ln/>
          <a:effectLst>
            <a:outerShdw sx="100000" sy="100000" kx="0" ky="0" algn="bl" rotWithShape="0" blurRad="114300" dist="17780" dir="5400000">
              <a:srgbClr val="6B6250">
                <a:alpha val="14000"/>
              </a:srgbClr>
            </a:outerShdw>
          </a:effectLst>
        </p:spPr>
      </p:sp>
      <p:sp>
        <p:nvSpPr>
          <p:cNvPr id="7" name="Text 4"/>
          <p:cNvSpPr/>
          <p:nvPr/>
        </p:nvSpPr>
        <p:spPr>
          <a:xfrm>
            <a:off x="1050646" y="1389888"/>
            <a:ext cx="10090404" cy="256032"/>
          </a:xfrm>
          <a:prstGeom prst="rect">
            <a:avLst/>
          </a:prstGeom>
          <a:noFill/>
          <a:ln/>
        </p:spPr>
        <p:txBody>
          <a:bodyPr wrap="square" lIns="0" tIns="0" rIns="0" bIns="0" rtlCol="0" anchor="ctr"/>
          <a:lstStyle/>
          <a:p>
            <a:pPr indent="0" marL="0">
              <a:buNone/>
            </a:pPr>
            <a:r>
              <a:rPr lang="en-US" sz="1050" b="1" dirty="0">
                <a:solidFill>
                  <a:srgbClr val="A9C6AC"/>
                </a:solidFill>
                <a:latin typeface="Noto Sans JP" pitchFamily="34" charset="0"/>
                <a:ea typeface="Noto Sans JP" pitchFamily="34" charset="-122"/>
                <a:cs typeface="Noto Sans JP" pitchFamily="34" charset="-120"/>
              </a:rPr>
              <a:t>カフェ併設がもたらす、既存事業へのプラス効果</a:t>
            </a:r>
            <a:endParaRPr lang="en-US" sz="1050" dirty="0"/>
          </a:p>
        </p:txBody>
      </p:sp>
      <p:sp>
        <p:nvSpPr>
          <p:cNvPr id="8" name="Text 5"/>
          <p:cNvSpPr/>
          <p:nvPr/>
        </p:nvSpPr>
        <p:spPr>
          <a:xfrm>
            <a:off x="1050646" y="1700784"/>
            <a:ext cx="10090404" cy="566928"/>
          </a:xfrm>
          <a:prstGeom prst="rect">
            <a:avLst/>
          </a:prstGeom>
          <a:noFill/>
          <a:ln/>
        </p:spPr>
        <p:txBody>
          <a:bodyPr wrap="square" lIns="0" tIns="0" rIns="0" bIns="0" rtlCol="0" anchor="ctr"/>
          <a:lstStyle/>
          <a:p>
            <a:pPr indent="0" marL="0">
              <a:buNone/>
            </a:pPr>
            <a:r>
              <a:rPr lang="en-US" sz="2100" b="1" dirty="0">
                <a:solidFill>
                  <a:srgbClr val="FFFFFF"/>
                </a:solidFill>
                <a:latin typeface="Noto Sans JP" pitchFamily="34" charset="0"/>
                <a:ea typeface="Noto Sans JP" pitchFamily="34" charset="-122"/>
                <a:cs typeface="Noto Sans JP" pitchFamily="34" charset="-120"/>
              </a:rPr>
              <a:t>「待ち時間」の解消や新規集客のフックとして、カフェは最適の組み合わせです。</a:t>
            </a:r>
            <a:endParaRPr lang="en-US" sz="2100" dirty="0"/>
          </a:p>
        </p:txBody>
      </p:sp>
      <p:sp>
        <p:nvSpPr>
          <p:cNvPr id="9" name="Shape 6"/>
          <p:cNvSpPr/>
          <p:nvPr/>
        </p:nvSpPr>
        <p:spPr>
          <a:xfrm>
            <a:off x="666598" y="2651760"/>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0" name="Shape 7"/>
          <p:cNvSpPr/>
          <p:nvPr/>
        </p:nvSpPr>
        <p:spPr>
          <a:xfrm>
            <a:off x="922630" y="2907792"/>
            <a:ext cx="530352" cy="530352"/>
          </a:xfrm>
          <a:prstGeom prst="ellipse">
            <a:avLst/>
          </a:prstGeom>
          <a:solidFill>
            <a:srgbClr val="F0F5EF"/>
          </a:solidFill>
          <a:ln/>
        </p:spPr>
      </p:sp>
      <p:pic>
        <p:nvPicPr>
          <p:cNvPr id="11" name="Image 1" descr="/home/user/suzuki-ceo/selfcafe-fc-deck/assets/icons/LuHourglass-green.png">    </p:cNvPr>
          <p:cNvPicPr>
            <a:picLocks noChangeAspect="1"/>
          </p:cNvPicPr>
          <p:nvPr/>
        </p:nvPicPr>
        <p:blipFill>
          <a:blip r:embed="rId2"/>
          <a:stretch>
            <a:fillRect/>
          </a:stretch>
        </p:blipFill>
        <p:spPr>
          <a:xfrm>
            <a:off x="1039307" y="3024469"/>
            <a:ext cx="296997" cy="296997"/>
          </a:xfrm>
          <a:prstGeom prst="rect">
            <a:avLst/>
          </a:prstGeom>
        </p:spPr>
      </p:pic>
      <p:sp>
        <p:nvSpPr>
          <p:cNvPr id="12" name="Shape 8"/>
          <p:cNvSpPr/>
          <p:nvPr/>
        </p:nvSpPr>
        <p:spPr>
          <a:xfrm>
            <a:off x="1562710" y="2907792"/>
            <a:ext cx="1037844" cy="274320"/>
          </a:xfrm>
          <a:prstGeom prst="roundRect">
            <a:avLst>
              <a:gd name="adj" fmla="val 50000"/>
            </a:avLst>
          </a:prstGeom>
          <a:solidFill>
            <a:srgbClr val="1B5E20"/>
          </a:solidFill>
          <a:ln/>
        </p:spPr>
      </p:sp>
      <p:sp>
        <p:nvSpPr>
          <p:cNvPr id="13" name="Text 9"/>
          <p:cNvSpPr/>
          <p:nvPr/>
        </p:nvSpPr>
        <p:spPr>
          <a:xfrm>
            <a:off x="1562710" y="2907792"/>
            <a:ext cx="1037844"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待ち時間の解消</a:t>
            </a:r>
            <a:endParaRPr lang="en-US" sz="950" dirty="0"/>
          </a:p>
        </p:txBody>
      </p:sp>
      <p:sp>
        <p:nvSpPr>
          <p:cNvPr id="14" name="Text 10"/>
          <p:cNvSpPr/>
          <p:nvPr/>
        </p:nvSpPr>
        <p:spPr>
          <a:xfrm>
            <a:off x="1562710" y="3236976"/>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「待つ時間」を「くつろぐ時間」へ</a:t>
            </a:r>
            <a:endParaRPr lang="en-US" sz="1450" dirty="0"/>
          </a:p>
        </p:txBody>
      </p:sp>
      <p:sp>
        <p:nvSpPr>
          <p:cNvPr id="15" name="Text 11"/>
          <p:cNvSpPr/>
          <p:nvPr/>
        </p:nvSpPr>
        <p:spPr>
          <a:xfrm>
            <a:off x="922630" y="3602736"/>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書店・美容室・整体院・病院の待合・コインランドリーなど、待ち時間が生まれる場所にカフェがあるだけで顧客満足度が上がります。</a:t>
            </a:r>
            <a:endParaRPr lang="en-US" sz="1050" dirty="0"/>
          </a:p>
        </p:txBody>
      </p:sp>
      <p:sp>
        <p:nvSpPr>
          <p:cNvPr id="16" name="Shape 12"/>
          <p:cNvSpPr/>
          <p:nvPr/>
        </p:nvSpPr>
        <p:spPr>
          <a:xfrm>
            <a:off x="6239866" y="2651760"/>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3"/>
          <p:cNvSpPr/>
          <p:nvPr/>
        </p:nvSpPr>
        <p:spPr>
          <a:xfrm>
            <a:off x="6495898" y="2907792"/>
            <a:ext cx="530352" cy="530352"/>
          </a:xfrm>
          <a:prstGeom prst="ellipse">
            <a:avLst/>
          </a:prstGeom>
          <a:solidFill>
            <a:srgbClr val="F0F5EF"/>
          </a:solidFill>
          <a:ln/>
        </p:spPr>
      </p:sp>
      <p:pic>
        <p:nvPicPr>
          <p:cNvPr id="18" name="Image 2" descr="/home/user/suzuki-ceo/selfcafe-fc-deck/assets/icons/LuSearch-green.png">    </p:cNvPr>
          <p:cNvPicPr>
            <a:picLocks noChangeAspect="1"/>
          </p:cNvPicPr>
          <p:nvPr/>
        </p:nvPicPr>
        <p:blipFill>
          <a:blip r:embed="rId3"/>
          <a:stretch>
            <a:fillRect/>
          </a:stretch>
        </p:blipFill>
        <p:spPr>
          <a:xfrm>
            <a:off x="6612575" y="3024469"/>
            <a:ext cx="296997" cy="296997"/>
          </a:xfrm>
          <a:prstGeom prst="rect">
            <a:avLst/>
          </a:prstGeom>
        </p:spPr>
      </p:pic>
      <p:sp>
        <p:nvSpPr>
          <p:cNvPr id="19" name="Shape 14"/>
          <p:cNvSpPr/>
          <p:nvPr/>
        </p:nvSpPr>
        <p:spPr>
          <a:xfrm>
            <a:off x="7135978" y="2907792"/>
            <a:ext cx="1531620" cy="274320"/>
          </a:xfrm>
          <a:prstGeom prst="roundRect">
            <a:avLst>
              <a:gd name="adj" fmla="val 50000"/>
            </a:avLst>
          </a:prstGeom>
          <a:solidFill>
            <a:srgbClr val="1B5E20"/>
          </a:solidFill>
          <a:ln/>
        </p:spPr>
      </p:sp>
      <p:sp>
        <p:nvSpPr>
          <p:cNvPr id="20" name="Text 15"/>
          <p:cNvSpPr/>
          <p:nvPr/>
        </p:nvSpPr>
        <p:spPr>
          <a:xfrm>
            <a:off x="7135978" y="2907792"/>
            <a:ext cx="15316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新規集客の新しい入り口</a:t>
            </a:r>
            <a:endParaRPr lang="en-US" sz="950" dirty="0"/>
          </a:p>
        </p:txBody>
      </p:sp>
      <p:sp>
        <p:nvSpPr>
          <p:cNvPr id="21" name="Text 16"/>
          <p:cNvSpPr/>
          <p:nvPr/>
        </p:nvSpPr>
        <p:spPr>
          <a:xfrm>
            <a:off x="7135978" y="3236976"/>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「カフェ」で検索されて見つかる</a:t>
            </a:r>
            <a:endParaRPr lang="en-US" sz="1450" dirty="0"/>
          </a:p>
        </p:txBody>
      </p:sp>
      <p:sp>
        <p:nvSpPr>
          <p:cNvPr id="22" name="Text 17"/>
          <p:cNvSpPr/>
          <p:nvPr/>
        </p:nvSpPr>
        <p:spPr>
          <a:xfrm>
            <a:off x="6495898" y="3602736"/>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Googleマップやカフェ検索アプリ・SNSで「近くのカフェ」を探す人にも見つけてもらえる。カフェ目的で立ち寄った人が、既存事業を初めて知る新しいお客様になります。</a:t>
            </a:r>
            <a:endParaRPr lang="en-US" sz="1050" dirty="0"/>
          </a:p>
        </p:txBody>
      </p:sp>
      <p:sp>
        <p:nvSpPr>
          <p:cNvPr id="23" name="Shape 18"/>
          <p:cNvSpPr/>
          <p:nvPr/>
        </p:nvSpPr>
        <p:spPr>
          <a:xfrm>
            <a:off x="666598" y="4517136"/>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4" name="Shape 19"/>
          <p:cNvSpPr/>
          <p:nvPr/>
        </p:nvSpPr>
        <p:spPr>
          <a:xfrm>
            <a:off x="922630" y="4773168"/>
            <a:ext cx="530352" cy="530352"/>
          </a:xfrm>
          <a:prstGeom prst="ellipse">
            <a:avLst/>
          </a:prstGeom>
          <a:solidFill>
            <a:srgbClr val="F0F5EF"/>
          </a:solidFill>
          <a:ln/>
        </p:spPr>
      </p:sp>
      <p:pic>
        <p:nvPicPr>
          <p:cNvPr id="25" name="Image 3" descr="/home/user/suzuki-ceo/selfcafe-fc-deck/assets/icons/LuShoppingBag-green.png">    </p:cNvPr>
          <p:cNvPicPr>
            <a:picLocks noChangeAspect="1"/>
          </p:cNvPicPr>
          <p:nvPr/>
        </p:nvPicPr>
        <p:blipFill>
          <a:blip r:embed="rId4"/>
          <a:stretch>
            <a:fillRect/>
          </a:stretch>
        </p:blipFill>
        <p:spPr>
          <a:xfrm>
            <a:off x="1039307" y="4889845"/>
            <a:ext cx="296997" cy="296997"/>
          </a:xfrm>
          <a:prstGeom prst="rect">
            <a:avLst/>
          </a:prstGeom>
        </p:spPr>
      </p:pic>
      <p:sp>
        <p:nvSpPr>
          <p:cNvPr id="26" name="Shape 20"/>
          <p:cNvSpPr/>
          <p:nvPr/>
        </p:nvSpPr>
        <p:spPr>
          <a:xfrm>
            <a:off x="1562710" y="4773168"/>
            <a:ext cx="1531620" cy="274320"/>
          </a:xfrm>
          <a:prstGeom prst="roundRect">
            <a:avLst>
              <a:gd name="adj" fmla="val 50000"/>
            </a:avLst>
          </a:prstGeom>
          <a:solidFill>
            <a:srgbClr val="1B5E20"/>
          </a:solidFill>
          <a:ln/>
        </p:spPr>
      </p:sp>
      <p:sp>
        <p:nvSpPr>
          <p:cNvPr id="27" name="Text 21"/>
          <p:cNvSpPr/>
          <p:nvPr/>
        </p:nvSpPr>
        <p:spPr>
          <a:xfrm>
            <a:off x="1562710" y="4773168"/>
            <a:ext cx="15316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滞在時間・回遊率アップ</a:t>
            </a:r>
            <a:endParaRPr lang="en-US" sz="950" dirty="0"/>
          </a:p>
        </p:txBody>
      </p:sp>
      <p:sp>
        <p:nvSpPr>
          <p:cNvPr id="28" name="Text 22"/>
          <p:cNvSpPr/>
          <p:nvPr/>
        </p:nvSpPr>
        <p:spPr>
          <a:xfrm>
            <a:off x="1562710" y="5102352"/>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「ついで買い」のきっかけに</a:t>
            </a:r>
            <a:endParaRPr lang="en-US" sz="1450" dirty="0"/>
          </a:p>
        </p:txBody>
      </p:sp>
      <p:sp>
        <p:nvSpPr>
          <p:cNvPr id="29" name="Text 23"/>
          <p:cNvSpPr/>
          <p:nvPr/>
        </p:nvSpPr>
        <p:spPr>
          <a:xfrm>
            <a:off x="922630" y="5468112"/>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コーヒー片手に店内をゆっくり見て回れるようになり、滞在時間が伸びて追加購入・再来店のきっかけが増えます。</a:t>
            </a:r>
            <a:endParaRPr lang="en-US" sz="1050" dirty="0"/>
          </a:p>
        </p:txBody>
      </p:sp>
      <p:sp>
        <p:nvSpPr>
          <p:cNvPr id="30" name="Shape 24"/>
          <p:cNvSpPr/>
          <p:nvPr/>
        </p:nvSpPr>
        <p:spPr>
          <a:xfrm>
            <a:off x="6239866" y="4517136"/>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1" name="Shape 25"/>
          <p:cNvSpPr/>
          <p:nvPr/>
        </p:nvSpPr>
        <p:spPr>
          <a:xfrm>
            <a:off x="6495898" y="4773168"/>
            <a:ext cx="530352" cy="530352"/>
          </a:xfrm>
          <a:prstGeom prst="ellipse">
            <a:avLst/>
          </a:prstGeom>
          <a:solidFill>
            <a:srgbClr val="F0F5EF"/>
          </a:solidFill>
          <a:ln/>
        </p:spPr>
      </p:sp>
      <p:pic>
        <p:nvPicPr>
          <p:cNvPr id="32" name="Image 4" descr="/home/user/suzuki-ceo/selfcafe-fc-deck/assets/icons/LuRuler-green.png">    </p:cNvPr>
          <p:cNvPicPr>
            <a:picLocks noChangeAspect="1"/>
          </p:cNvPicPr>
          <p:nvPr/>
        </p:nvPicPr>
        <p:blipFill>
          <a:blip r:embed="rId5"/>
          <a:stretch>
            <a:fillRect/>
          </a:stretch>
        </p:blipFill>
        <p:spPr>
          <a:xfrm>
            <a:off x="6612575" y="4889845"/>
            <a:ext cx="296997" cy="296997"/>
          </a:xfrm>
          <a:prstGeom prst="rect">
            <a:avLst/>
          </a:prstGeom>
        </p:spPr>
      </p:pic>
      <p:sp>
        <p:nvSpPr>
          <p:cNvPr id="33" name="Shape 26"/>
          <p:cNvSpPr/>
          <p:nvPr/>
        </p:nvSpPr>
        <p:spPr>
          <a:xfrm>
            <a:off x="7135978" y="4773168"/>
            <a:ext cx="1408176" cy="274320"/>
          </a:xfrm>
          <a:prstGeom prst="roundRect">
            <a:avLst>
              <a:gd name="adj" fmla="val 50000"/>
            </a:avLst>
          </a:prstGeom>
          <a:solidFill>
            <a:srgbClr val="1B5E20"/>
          </a:solidFill>
          <a:ln/>
        </p:spPr>
      </p:sp>
      <p:sp>
        <p:nvSpPr>
          <p:cNvPr id="34" name="Text 27"/>
          <p:cNvSpPr/>
          <p:nvPr/>
        </p:nvSpPr>
        <p:spPr>
          <a:xfrm>
            <a:off x="7135978" y="4773168"/>
            <a:ext cx="140817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省スペース・低コスト</a:t>
            </a:r>
            <a:endParaRPr lang="en-US" sz="950" dirty="0"/>
          </a:p>
        </p:txBody>
      </p:sp>
      <p:sp>
        <p:nvSpPr>
          <p:cNvPr id="35" name="Text 28"/>
          <p:cNvSpPr/>
          <p:nvPr/>
        </p:nvSpPr>
        <p:spPr>
          <a:xfrm>
            <a:off x="7135978" y="5102352"/>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セルフ型だから始めやすい</a:t>
            </a:r>
            <a:endParaRPr lang="en-US" sz="1450" dirty="0"/>
          </a:p>
        </p:txBody>
      </p:sp>
      <p:sp>
        <p:nvSpPr>
          <p:cNvPr id="36" name="Text 29"/>
          <p:cNvSpPr/>
          <p:nvPr/>
        </p:nvSpPr>
        <p:spPr>
          <a:xfrm>
            <a:off x="6495898" y="5468112"/>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専任スタッフ不要。レジ横や待合の小さなスペースに設置でき、大掛かりな工事や人員追加なしで導入できます。</a:t>
            </a:r>
            <a:endParaRPr lang="en-US" sz="1050" dirty="0"/>
          </a:p>
        </p:txBody>
      </p:sp>
      <p:sp>
        <p:nvSpPr>
          <p:cNvPr id="37" name="Text 30"/>
          <p:cNvSpPr/>
          <p:nvPr/>
        </p:nvSpPr>
        <p:spPr>
          <a:xfrm>
            <a:off x="666598" y="6217920"/>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※待合スペース・レジ横カウンターなど、限られたスペースでも設置可能です。</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セルフカフェとは</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8</a:t>
            </a:r>
            <a:endParaRPr lang="en-US" sz="1300" dirty="0"/>
          </a:p>
        </p:txBody>
      </p:sp>
      <p:sp>
        <p:nvSpPr>
          <p:cNvPr id="6" name="Shape 3"/>
          <p:cNvSpPr/>
          <p:nvPr/>
        </p:nvSpPr>
        <p:spPr>
          <a:xfrm>
            <a:off x="666598" y="1417320"/>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36776"/>
            <a:ext cx="566928" cy="566928"/>
          </a:xfrm>
          <a:prstGeom prst="ellipse">
            <a:avLst/>
          </a:prstGeom>
          <a:solidFill>
            <a:srgbClr val="F0F5EF"/>
          </a:solidFill>
          <a:ln/>
        </p:spPr>
      </p:sp>
      <p:pic>
        <p:nvPicPr>
          <p:cNvPr id="8" name="Image 1" descr="/home/user/suzuki-ceo/selfcafe-fc-deck/assets/icons/LuHouse-green.png">    </p:cNvPr>
          <p:cNvPicPr>
            <a:picLocks noChangeAspect="1"/>
          </p:cNvPicPr>
          <p:nvPr/>
        </p:nvPicPr>
        <p:blipFill>
          <a:blip r:embed="rId2"/>
          <a:stretch>
            <a:fillRect/>
          </a:stretch>
        </p:blipFill>
        <p:spPr>
          <a:xfrm>
            <a:off x="1065642" y="1761500"/>
            <a:ext cx="317480" cy="317480"/>
          </a:xfrm>
          <a:prstGeom prst="rect">
            <a:avLst/>
          </a:prstGeom>
        </p:spPr>
      </p:pic>
      <p:sp>
        <p:nvSpPr>
          <p:cNvPr id="9" name="Text 5"/>
          <p:cNvSpPr/>
          <p:nvPr/>
        </p:nvSpPr>
        <p:spPr>
          <a:xfrm>
            <a:off x="1672438" y="1600200"/>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お家のような</a:t>
            </a:r>
            <a:endParaRPr lang="en-US" sz="1600" dirty="0"/>
          </a:p>
        </p:txBody>
      </p:sp>
      <p:sp>
        <p:nvSpPr>
          <p:cNvPr id="10" name="Text 6"/>
          <p:cNvSpPr/>
          <p:nvPr/>
        </p:nvSpPr>
        <p:spPr>
          <a:xfrm>
            <a:off x="1672438" y="1947672"/>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寛ぎすぎないが、設備が整った集中環境。</a:t>
            </a:r>
            <a:endParaRPr lang="en-US" sz="1150" dirty="0"/>
          </a:p>
        </p:txBody>
      </p:sp>
      <p:sp>
        <p:nvSpPr>
          <p:cNvPr id="11" name="Shape 7"/>
          <p:cNvSpPr/>
          <p:nvPr/>
        </p:nvSpPr>
        <p:spPr>
          <a:xfrm>
            <a:off x="666598" y="2569464"/>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Shape 8"/>
          <p:cNvSpPr/>
          <p:nvPr/>
        </p:nvSpPr>
        <p:spPr>
          <a:xfrm>
            <a:off x="940918" y="2788920"/>
            <a:ext cx="566928" cy="566928"/>
          </a:xfrm>
          <a:prstGeom prst="ellipse">
            <a:avLst/>
          </a:prstGeom>
          <a:solidFill>
            <a:srgbClr val="F0F5EF"/>
          </a:solidFill>
          <a:ln/>
        </p:spPr>
      </p:sp>
      <p:pic>
        <p:nvPicPr>
          <p:cNvPr id="13" name="Image 2" descr="/home/user/suzuki-ceo/selfcafe-fc-deck/assets/icons/LuCoffee-green.png">    </p:cNvPr>
          <p:cNvPicPr>
            <a:picLocks noChangeAspect="1"/>
          </p:cNvPicPr>
          <p:nvPr/>
        </p:nvPicPr>
        <p:blipFill>
          <a:blip r:embed="rId3"/>
          <a:stretch>
            <a:fillRect/>
          </a:stretch>
        </p:blipFill>
        <p:spPr>
          <a:xfrm>
            <a:off x="1065642" y="2913644"/>
            <a:ext cx="317480" cy="317480"/>
          </a:xfrm>
          <a:prstGeom prst="rect">
            <a:avLst/>
          </a:prstGeom>
        </p:spPr>
      </p:pic>
      <p:sp>
        <p:nvSpPr>
          <p:cNvPr id="14" name="Text 9"/>
          <p:cNvSpPr/>
          <p:nvPr/>
        </p:nvSpPr>
        <p:spPr>
          <a:xfrm>
            <a:off x="1672438" y="2752344"/>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カフェのような</a:t>
            </a:r>
            <a:endParaRPr lang="en-US" sz="1600" dirty="0"/>
          </a:p>
        </p:txBody>
      </p:sp>
      <p:sp>
        <p:nvSpPr>
          <p:cNvPr id="15" name="Text 10"/>
          <p:cNvSpPr/>
          <p:nvPr/>
        </p:nvSpPr>
        <p:spPr>
          <a:xfrm>
            <a:off x="1672438" y="3099816"/>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食事はないが、時間を気にせず美味しいコーヒーが飲める。</a:t>
            </a:r>
            <a:endParaRPr lang="en-US" sz="1150" dirty="0"/>
          </a:p>
        </p:txBody>
      </p:sp>
      <p:sp>
        <p:nvSpPr>
          <p:cNvPr id="16" name="Shape 11"/>
          <p:cNvSpPr/>
          <p:nvPr/>
        </p:nvSpPr>
        <p:spPr>
          <a:xfrm>
            <a:off x="666598" y="3721608"/>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2"/>
          <p:cNvSpPr/>
          <p:nvPr/>
        </p:nvSpPr>
        <p:spPr>
          <a:xfrm>
            <a:off x="940918" y="3941064"/>
            <a:ext cx="566928" cy="566928"/>
          </a:xfrm>
          <a:prstGeom prst="ellipse">
            <a:avLst/>
          </a:prstGeom>
          <a:solidFill>
            <a:srgbClr val="F0F5EF"/>
          </a:solidFill>
          <a:ln/>
        </p:spPr>
      </p:sp>
      <p:pic>
        <p:nvPicPr>
          <p:cNvPr id="18" name="Image 3" descr="/home/user/suzuki-ceo/selfcafe-fc-deck/assets/icons/LuBookOpen-green.png">    </p:cNvPr>
          <p:cNvPicPr>
            <a:picLocks noChangeAspect="1"/>
          </p:cNvPicPr>
          <p:nvPr/>
        </p:nvPicPr>
        <p:blipFill>
          <a:blip r:embed="rId4"/>
          <a:stretch>
            <a:fillRect/>
          </a:stretch>
        </p:blipFill>
        <p:spPr>
          <a:xfrm>
            <a:off x="1065642" y="4065788"/>
            <a:ext cx="317480" cy="317480"/>
          </a:xfrm>
          <a:prstGeom prst="rect">
            <a:avLst/>
          </a:prstGeom>
        </p:spPr>
      </p:pic>
      <p:sp>
        <p:nvSpPr>
          <p:cNvPr id="19" name="Text 13"/>
          <p:cNvSpPr/>
          <p:nvPr/>
        </p:nvSpPr>
        <p:spPr>
          <a:xfrm>
            <a:off x="1672438" y="3904488"/>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図書館のような</a:t>
            </a:r>
            <a:endParaRPr lang="en-US" sz="1600" dirty="0"/>
          </a:p>
        </p:txBody>
      </p:sp>
      <p:sp>
        <p:nvSpPr>
          <p:cNvPr id="20" name="Text 14"/>
          <p:cNvSpPr/>
          <p:nvPr/>
        </p:nvSpPr>
        <p:spPr>
          <a:xfrm>
            <a:off x="1672438" y="4251960"/>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静かすぎない、適度な賑やかさがある。</a:t>
            </a:r>
            <a:endParaRPr lang="en-US" sz="1150" dirty="0"/>
          </a:p>
        </p:txBody>
      </p:sp>
      <p:sp>
        <p:nvSpPr>
          <p:cNvPr id="21" name="Shape 15"/>
          <p:cNvSpPr/>
          <p:nvPr/>
        </p:nvSpPr>
        <p:spPr>
          <a:xfrm>
            <a:off x="666598" y="4974336"/>
            <a:ext cx="5989320" cy="1280160"/>
          </a:xfrm>
          <a:prstGeom prst="roundRect">
            <a:avLst>
              <a:gd name="adj" fmla="val 6429"/>
            </a:avLst>
          </a:prstGeom>
          <a:solidFill>
            <a:srgbClr val="12401A"/>
          </a:solidFill>
          <a:ln/>
          <a:effectLst>
            <a:outerShdw sx="100000" sy="100000" kx="0" ky="0" algn="bl" rotWithShape="0" blurRad="114300" dist="17780" dir="5400000">
              <a:srgbClr val="6B6250">
                <a:alpha val="14000"/>
              </a:srgbClr>
            </a:outerShdw>
          </a:effectLst>
        </p:spPr>
      </p:sp>
      <p:sp>
        <p:nvSpPr>
          <p:cNvPr id="22" name="Text 16"/>
          <p:cNvSpPr/>
          <p:nvPr/>
        </p:nvSpPr>
        <p:spPr>
          <a:xfrm>
            <a:off x="1032358" y="5102352"/>
            <a:ext cx="5257800" cy="347472"/>
          </a:xfrm>
          <a:prstGeom prst="rect">
            <a:avLst/>
          </a:prstGeom>
          <a:noFill/>
          <a:ln/>
        </p:spPr>
        <p:txBody>
          <a:bodyPr wrap="square" lIns="0" tIns="0" rIns="0" bIns="0" rtlCol="0" anchor="ctr"/>
          <a:lstStyle/>
          <a:p>
            <a:pPr indent="0" marL="0">
              <a:buNone/>
            </a:pPr>
            <a:r>
              <a:rPr lang="en-US" sz="1400" dirty="0">
                <a:solidFill>
                  <a:srgbClr val="A9C6AC"/>
                </a:solidFill>
                <a:latin typeface="Noto Sans JP" pitchFamily="34" charset="0"/>
                <a:ea typeface="Noto Sans JP" pitchFamily="34" charset="-122"/>
                <a:cs typeface="Noto Sans JP" pitchFamily="34" charset="-120"/>
              </a:rPr>
              <a:t>「誰もが気軽に使える」</a:t>
            </a:r>
            <a:endParaRPr lang="en-US" sz="1400" dirty="0"/>
          </a:p>
        </p:txBody>
      </p:sp>
      <p:sp>
        <p:nvSpPr>
          <p:cNvPr id="23" name="Text 17"/>
          <p:cNvSpPr/>
          <p:nvPr/>
        </p:nvSpPr>
        <p:spPr>
          <a:xfrm>
            <a:off x="1032358" y="5468112"/>
            <a:ext cx="4709160" cy="566928"/>
          </a:xfrm>
          <a:prstGeom prst="rect">
            <a:avLst/>
          </a:prstGeom>
          <a:noFill/>
          <a:ln/>
        </p:spPr>
        <p:txBody>
          <a:bodyPr wrap="square" lIns="0" tIns="0" rIns="0" bIns="0" rtlCol="0" anchor="ctr"/>
          <a:lstStyle/>
          <a:p>
            <a:pPr indent="0" marL="0">
              <a:buNone/>
            </a:pPr>
            <a:r>
              <a:rPr lang="en-US" sz="2700" b="1" dirty="0">
                <a:solidFill>
                  <a:srgbClr val="FFFFFF"/>
                </a:solidFill>
                <a:latin typeface="Noto Sans JP" pitchFamily="34" charset="0"/>
                <a:ea typeface="Noto Sans JP" pitchFamily="34" charset="-122"/>
                <a:cs typeface="Noto Sans JP" pitchFamily="34" charset="-120"/>
              </a:rPr>
              <a:t>第三の居場所</a:t>
            </a:r>
            <a:endParaRPr lang="en-US" sz="2700" dirty="0"/>
          </a:p>
        </p:txBody>
      </p:sp>
      <p:pic>
        <p:nvPicPr>
          <p:cNvPr id="24" name="Image 4" descr="/home/user/suzuki-ceo/selfcafe-fc-deck/assets/icons/LuCoffee-pale.png">    </p:cNvPr>
          <p:cNvPicPr>
            <a:picLocks noChangeAspect="1"/>
          </p:cNvPicPr>
          <p:nvPr/>
        </p:nvPicPr>
        <p:blipFill>
          <a:blip r:embed="rId5"/>
          <a:stretch>
            <a:fillRect/>
          </a:stretch>
        </p:blipFill>
        <p:spPr>
          <a:xfrm>
            <a:off x="5613502" y="5340096"/>
            <a:ext cx="603504" cy="603504"/>
          </a:xfrm>
          <a:prstGeom prst="rect">
            <a:avLst/>
          </a:prstGeom>
        </p:spPr>
      </p:pic>
      <p:sp>
        <p:nvSpPr>
          <p:cNvPr id="25" name="Shape 18"/>
          <p:cNvSpPr/>
          <p:nvPr/>
        </p:nvSpPr>
        <p:spPr>
          <a:xfrm>
            <a:off x="6949440" y="1417320"/>
            <a:ext cx="4575658" cy="4837176"/>
          </a:xfrm>
          <a:prstGeom prst="roundRect">
            <a:avLst>
              <a:gd name="adj" fmla="val 1399"/>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pic>
        <p:nvPicPr>
          <p:cNvPr id="26" name="Image 5" descr="/home/user/suzuki-ceo/selfcafe-fc-deck/assets/icons/LuStore-green.png">    </p:cNvPr>
          <p:cNvPicPr>
            <a:picLocks noChangeAspect="1"/>
          </p:cNvPicPr>
          <p:nvPr/>
        </p:nvPicPr>
        <p:blipFill>
          <a:blip r:embed="rId6"/>
          <a:stretch>
            <a:fillRect/>
          </a:stretch>
        </p:blipFill>
        <p:spPr>
          <a:xfrm>
            <a:off x="7260336" y="1645920"/>
            <a:ext cx="274320" cy="274320"/>
          </a:xfrm>
          <a:prstGeom prst="rect">
            <a:avLst/>
          </a:prstGeom>
        </p:spPr>
      </p:pic>
      <p:sp>
        <p:nvSpPr>
          <p:cNvPr id="27" name="Text 19"/>
          <p:cNvSpPr/>
          <p:nvPr/>
        </p:nvSpPr>
        <p:spPr>
          <a:xfrm>
            <a:off x="7626096" y="1627632"/>
            <a:ext cx="3588106" cy="274320"/>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展開エリア（2026年7月時点）</a:t>
            </a:r>
            <a:endParaRPr lang="en-US" sz="1050" dirty="0"/>
          </a:p>
        </p:txBody>
      </p:sp>
      <p:sp>
        <p:nvSpPr>
          <p:cNvPr id="28" name="Text 20"/>
          <p:cNvSpPr/>
          <p:nvPr/>
        </p:nvSpPr>
        <p:spPr>
          <a:xfrm>
            <a:off x="7260336" y="1956816"/>
            <a:ext cx="3953866" cy="603504"/>
          </a:xfrm>
          <a:prstGeom prst="rect">
            <a:avLst/>
          </a:prstGeom>
          <a:noFill/>
          <a:ln/>
        </p:spPr>
        <p:txBody>
          <a:bodyPr wrap="square" lIns="0" tIns="0" rIns="0" bIns="0" rtlCol="0" anchor="ctr"/>
          <a:lstStyle/>
          <a:p>
            <a:pPr algn="l" indent="0" marL="0">
              <a:buNone/>
            </a:pPr>
            <a:r>
              <a:rPr lang="en-US" sz="4600" b="1" dirty="0">
                <a:solidFill>
                  <a:srgbClr val="1B5E20"/>
                </a:solidFill>
                <a:latin typeface="Arial" pitchFamily="34" charset="0"/>
                <a:ea typeface="Arial" pitchFamily="34" charset="-122"/>
                <a:cs typeface="Arial" pitchFamily="34" charset="-120"/>
              </a:rPr>
              <a:t>71</a:t>
            </a:r>
            <a:pPr algn="l" indent="0" marL="0">
              <a:buNone/>
            </a:pPr>
            <a:r>
              <a:rPr lang="en-US" sz="1500" b="1" dirty="0">
                <a:solidFill>
                  <a:srgbClr val="1B5E20"/>
                </a:solidFill>
                <a:latin typeface="Noto Sans JP" pitchFamily="34" charset="0"/>
                <a:ea typeface="Noto Sans JP" pitchFamily="34" charset="-122"/>
                <a:cs typeface="Noto Sans JP" pitchFamily="34" charset="-120"/>
              </a:rPr>
              <a:t> 店舗</a:t>
            </a:r>
            <a:endParaRPr lang="en-US" sz="4600" dirty="0"/>
          </a:p>
        </p:txBody>
      </p:sp>
      <p:sp>
        <p:nvSpPr>
          <p:cNvPr id="29" name="Shape 21"/>
          <p:cNvSpPr/>
          <p:nvPr/>
        </p:nvSpPr>
        <p:spPr>
          <a:xfrm>
            <a:off x="7260336" y="2670048"/>
            <a:ext cx="3953866" cy="10058"/>
          </a:xfrm>
          <a:prstGeom prst="rect">
            <a:avLst/>
          </a:prstGeom>
          <a:solidFill>
            <a:srgbClr val="E6DFCD"/>
          </a:solidFill>
          <a:ln/>
        </p:spPr>
      </p:sp>
      <p:sp>
        <p:nvSpPr>
          <p:cNvPr id="30" name="Text 22"/>
          <p:cNvSpPr/>
          <p:nvPr/>
        </p:nvSpPr>
        <p:spPr>
          <a:xfrm>
            <a:off x="7260336" y="2779776"/>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愛知県</a:t>
            </a:r>
            <a:endParaRPr lang="en-US" sz="1050" dirty="0"/>
          </a:p>
        </p:txBody>
      </p:sp>
      <p:sp>
        <p:nvSpPr>
          <p:cNvPr id="31" name="Text 23"/>
          <p:cNvSpPr/>
          <p:nvPr/>
        </p:nvSpPr>
        <p:spPr>
          <a:xfrm>
            <a:off x="9787738" y="2779776"/>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36 店舗</a:t>
            </a:r>
            <a:endParaRPr lang="en-US" sz="1050" dirty="0"/>
          </a:p>
        </p:txBody>
      </p:sp>
      <p:sp>
        <p:nvSpPr>
          <p:cNvPr id="32" name="Text 24"/>
          <p:cNvSpPr/>
          <p:nvPr/>
        </p:nvSpPr>
        <p:spPr>
          <a:xfrm>
            <a:off x="7260336" y="3010205"/>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大阪府</a:t>
            </a:r>
            <a:endParaRPr lang="en-US" sz="1050" dirty="0"/>
          </a:p>
        </p:txBody>
      </p:sp>
      <p:sp>
        <p:nvSpPr>
          <p:cNvPr id="33" name="Text 25"/>
          <p:cNvSpPr/>
          <p:nvPr/>
        </p:nvSpPr>
        <p:spPr>
          <a:xfrm>
            <a:off x="9787738" y="3010205"/>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18 店舗</a:t>
            </a:r>
            <a:endParaRPr lang="en-US" sz="1050" dirty="0"/>
          </a:p>
        </p:txBody>
      </p:sp>
      <p:sp>
        <p:nvSpPr>
          <p:cNvPr id="34" name="Text 26"/>
          <p:cNvSpPr/>
          <p:nvPr/>
        </p:nvSpPr>
        <p:spPr>
          <a:xfrm>
            <a:off x="7260336" y="3240634"/>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東京都</a:t>
            </a:r>
            <a:endParaRPr lang="en-US" sz="1050" dirty="0"/>
          </a:p>
        </p:txBody>
      </p:sp>
      <p:sp>
        <p:nvSpPr>
          <p:cNvPr id="35" name="Text 27"/>
          <p:cNvSpPr/>
          <p:nvPr/>
        </p:nvSpPr>
        <p:spPr>
          <a:xfrm>
            <a:off x="9787738" y="3240634"/>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7 店舗</a:t>
            </a:r>
            <a:endParaRPr lang="en-US" sz="1050" dirty="0"/>
          </a:p>
        </p:txBody>
      </p:sp>
      <p:sp>
        <p:nvSpPr>
          <p:cNvPr id="36" name="Text 28"/>
          <p:cNvSpPr/>
          <p:nvPr/>
        </p:nvSpPr>
        <p:spPr>
          <a:xfrm>
            <a:off x="7260336" y="3471062"/>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岩手県</a:t>
            </a:r>
            <a:endParaRPr lang="en-US" sz="1050" dirty="0"/>
          </a:p>
        </p:txBody>
      </p:sp>
      <p:sp>
        <p:nvSpPr>
          <p:cNvPr id="37" name="Text 29"/>
          <p:cNvSpPr/>
          <p:nvPr/>
        </p:nvSpPr>
        <p:spPr>
          <a:xfrm>
            <a:off x="9787738" y="3471062"/>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2 店舗</a:t>
            </a:r>
            <a:endParaRPr lang="en-US" sz="1050" dirty="0"/>
          </a:p>
        </p:txBody>
      </p:sp>
      <p:sp>
        <p:nvSpPr>
          <p:cNvPr id="38" name="Text 30"/>
          <p:cNvSpPr/>
          <p:nvPr/>
        </p:nvSpPr>
        <p:spPr>
          <a:xfrm>
            <a:off x="7260336" y="3701491"/>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岐阜県</a:t>
            </a:r>
            <a:endParaRPr lang="en-US" sz="1050" dirty="0"/>
          </a:p>
        </p:txBody>
      </p:sp>
      <p:sp>
        <p:nvSpPr>
          <p:cNvPr id="39" name="Text 31"/>
          <p:cNvSpPr/>
          <p:nvPr/>
        </p:nvSpPr>
        <p:spPr>
          <a:xfrm>
            <a:off x="9787738" y="3701491"/>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2 店舗</a:t>
            </a:r>
            <a:endParaRPr lang="en-US" sz="1050" dirty="0"/>
          </a:p>
        </p:txBody>
      </p:sp>
      <p:sp>
        <p:nvSpPr>
          <p:cNvPr id="40" name="Text 32"/>
          <p:cNvSpPr/>
          <p:nvPr/>
        </p:nvSpPr>
        <p:spPr>
          <a:xfrm>
            <a:off x="7260336" y="3931920"/>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埼玉県</a:t>
            </a:r>
            <a:endParaRPr lang="en-US" sz="1050" dirty="0"/>
          </a:p>
        </p:txBody>
      </p:sp>
      <p:sp>
        <p:nvSpPr>
          <p:cNvPr id="41" name="Text 33"/>
          <p:cNvSpPr/>
          <p:nvPr/>
        </p:nvSpPr>
        <p:spPr>
          <a:xfrm>
            <a:off x="9787738" y="3931920"/>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2" name="Text 34"/>
          <p:cNvSpPr/>
          <p:nvPr/>
        </p:nvSpPr>
        <p:spPr>
          <a:xfrm>
            <a:off x="7260336" y="4162349"/>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千葉県</a:t>
            </a:r>
            <a:endParaRPr lang="en-US" sz="1050" dirty="0"/>
          </a:p>
        </p:txBody>
      </p:sp>
      <p:sp>
        <p:nvSpPr>
          <p:cNvPr id="43" name="Text 35"/>
          <p:cNvSpPr/>
          <p:nvPr/>
        </p:nvSpPr>
        <p:spPr>
          <a:xfrm>
            <a:off x="9787738" y="4162349"/>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4" name="Text 36"/>
          <p:cNvSpPr/>
          <p:nvPr/>
        </p:nvSpPr>
        <p:spPr>
          <a:xfrm>
            <a:off x="7260336" y="4392778"/>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静岡県</a:t>
            </a:r>
            <a:endParaRPr lang="en-US" sz="1050" dirty="0"/>
          </a:p>
        </p:txBody>
      </p:sp>
      <p:sp>
        <p:nvSpPr>
          <p:cNvPr id="45" name="Text 37"/>
          <p:cNvSpPr/>
          <p:nvPr/>
        </p:nvSpPr>
        <p:spPr>
          <a:xfrm>
            <a:off x="9787738" y="4392778"/>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6" name="Text 38"/>
          <p:cNvSpPr/>
          <p:nvPr/>
        </p:nvSpPr>
        <p:spPr>
          <a:xfrm>
            <a:off x="7260336" y="4623206"/>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滋賀県</a:t>
            </a:r>
            <a:endParaRPr lang="en-US" sz="1050" dirty="0"/>
          </a:p>
        </p:txBody>
      </p:sp>
      <p:sp>
        <p:nvSpPr>
          <p:cNvPr id="47" name="Text 39"/>
          <p:cNvSpPr/>
          <p:nvPr/>
        </p:nvSpPr>
        <p:spPr>
          <a:xfrm>
            <a:off x="9787738" y="4623206"/>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8" name="Text 40"/>
          <p:cNvSpPr/>
          <p:nvPr/>
        </p:nvSpPr>
        <p:spPr>
          <a:xfrm>
            <a:off x="7260336" y="4853635"/>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三重県</a:t>
            </a:r>
            <a:endParaRPr lang="en-US" sz="1050" dirty="0"/>
          </a:p>
        </p:txBody>
      </p:sp>
      <p:sp>
        <p:nvSpPr>
          <p:cNvPr id="49" name="Text 41"/>
          <p:cNvSpPr/>
          <p:nvPr/>
        </p:nvSpPr>
        <p:spPr>
          <a:xfrm>
            <a:off x="9787738" y="4853635"/>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50" name="Text 42"/>
          <p:cNvSpPr/>
          <p:nvPr/>
        </p:nvSpPr>
        <p:spPr>
          <a:xfrm>
            <a:off x="7260336" y="5084064"/>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鳥取県</a:t>
            </a:r>
            <a:endParaRPr lang="en-US" sz="1050" dirty="0"/>
          </a:p>
        </p:txBody>
      </p:sp>
      <p:sp>
        <p:nvSpPr>
          <p:cNvPr id="51" name="Text 43"/>
          <p:cNvSpPr/>
          <p:nvPr/>
        </p:nvSpPr>
        <p:spPr>
          <a:xfrm>
            <a:off x="9787738" y="5084064"/>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52" name="Shape 44"/>
          <p:cNvSpPr/>
          <p:nvPr/>
        </p:nvSpPr>
        <p:spPr>
          <a:xfrm>
            <a:off x="7260336" y="5394960"/>
            <a:ext cx="3953866" cy="658368"/>
          </a:xfrm>
          <a:prstGeom prst="roundRect">
            <a:avLst>
              <a:gd name="adj" fmla="val 8333"/>
            </a:avLst>
          </a:prstGeom>
          <a:solidFill>
            <a:srgbClr val="FAF3E3"/>
          </a:solidFill>
          <a:ln/>
        </p:spPr>
      </p:sp>
      <p:sp>
        <p:nvSpPr>
          <p:cNvPr id="53" name="Text 45"/>
          <p:cNvSpPr/>
          <p:nvPr/>
        </p:nvSpPr>
        <p:spPr>
          <a:xfrm>
            <a:off x="7424928" y="5394960"/>
            <a:ext cx="3624682" cy="658368"/>
          </a:xfrm>
          <a:prstGeom prst="rect">
            <a:avLst/>
          </a:prstGeom>
          <a:noFill/>
          <a:ln/>
        </p:spPr>
        <p:txBody>
          <a:bodyPr wrap="square" lIns="0" tIns="0" rIns="0" bIns="0" rtlCol="0" anchor="ctr"/>
          <a:lstStyle/>
          <a:p>
            <a:pPr indent="0" marL="0">
              <a:lnSpc>
                <a:spcPct val="125000"/>
              </a:lnSpc>
              <a:buNone/>
            </a:pPr>
            <a:r>
              <a:rPr lang="en-US" sz="1000" dirty="0">
                <a:solidFill>
                  <a:srgbClr val="5D4037"/>
                </a:solidFill>
                <a:latin typeface="Noto Sans JP" pitchFamily="34" charset="0"/>
                <a:ea typeface="Noto Sans JP" pitchFamily="34" charset="-122"/>
                <a:cs typeface="Noto Sans JP" pitchFamily="34" charset="-120"/>
              </a:rPr>
              <a:t>※平均滞在時間は2〜3時間、1回のご利用で2杯程度購入される傾向があります。</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実績データ：店舗展開数の推移</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9</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営業中店舗の開店月ベース累計（2022.09〜2026.07／単位：店舗）</a:t>
            </a:r>
            <a:endParaRPr lang="en-US" sz="1150" dirty="0"/>
          </a:p>
        </p:txBody>
      </p:sp>
      <p:graphicFrame>
        <p:nvGraphicFramePr>
          <p:cNvPr id="7" name="Chart 0" descr=""/>
          <p:cNvGraphicFramePr/>
          <p:nvPr/>
        </p:nvGraphicFramePr>
        <p:xfrm>
          <a:off x="666598" y="1645920"/>
          <a:ext cx="7790688" cy="4133088"/>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8732520" y="1645920"/>
            <a:ext cx="2792578" cy="1298448"/>
          </a:xfrm>
          <a:prstGeom prst="roundRect">
            <a:avLst>
              <a:gd name="adj" fmla="val 4930"/>
            </a:avLst>
          </a:prstGeom>
          <a:solidFill>
            <a:srgbClr val="12401A"/>
          </a:solidFill>
          <a:ln/>
          <a:effectLst>
            <a:outerShdw sx="100000" sy="100000" kx="0" ky="0" algn="bl" rotWithShape="0" blurRad="114300" dist="17780" dir="5400000">
              <a:srgbClr val="6B6250">
                <a:alpha val="14000"/>
              </a:srgbClr>
            </a:outerShdw>
          </a:effectLst>
        </p:spPr>
      </p:sp>
      <p:sp>
        <p:nvSpPr>
          <p:cNvPr id="9" name="Text 5"/>
          <p:cNvSpPr/>
          <p:nvPr/>
        </p:nvSpPr>
        <p:spPr>
          <a:xfrm>
            <a:off x="8951976" y="1773936"/>
            <a:ext cx="2353666" cy="649224"/>
          </a:xfrm>
          <a:prstGeom prst="rect">
            <a:avLst/>
          </a:prstGeom>
          <a:noFill/>
          <a:ln/>
        </p:spPr>
        <p:txBody>
          <a:bodyPr wrap="square" lIns="0" tIns="0" rIns="0" bIns="0" rtlCol="0" anchor="ctr"/>
          <a:lstStyle/>
          <a:p>
            <a:pPr algn="l" indent="0" marL="0">
              <a:buNone/>
            </a:pPr>
            <a:r>
              <a:rPr lang="en-US" sz="3400" b="1" dirty="0">
                <a:solidFill>
                  <a:srgbClr val="FFFFFF"/>
                </a:solidFill>
                <a:latin typeface="Arial" pitchFamily="34" charset="0"/>
                <a:ea typeface="Arial" pitchFamily="34" charset="-122"/>
                <a:cs typeface="Arial" pitchFamily="34" charset="-120"/>
              </a:rPr>
              <a:t>71</a:t>
            </a:r>
            <a:pPr algn="l" indent="0" marL="0">
              <a:buNone/>
            </a:pPr>
            <a:r>
              <a:rPr lang="en-US" sz="1200" b="1" dirty="0">
                <a:solidFill>
                  <a:srgbClr val="A9C6AC"/>
                </a:solidFill>
                <a:latin typeface="Noto Sans JP" pitchFamily="34" charset="0"/>
                <a:ea typeface="Noto Sans JP" pitchFamily="34" charset="-122"/>
                <a:cs typeface="Noto Sans JP" pitchFamily="34" charset="-120"/>
              </a:rPr>
              <a:t> 店舗</a:t>
            </a:r>
            <a:endParaRPr lang="en-US" sz="3400" dirty="0"/>
          </a:p>
        </p:txBody>
      </p:sp>
      <p:sp>
        <p:nvSpPr>
          <p:cNvPr id="10" name="Text 6"/>
          <p:cNvSpPr/>
          <p:nvPr/>
        </p:nvSpPr>
        <p:spPr>
          <a:xfrm>
            <a:off x="8951976" y="2360066"/>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A9C6AC"/>
                </a:solidFill>
                <a:latin typeface="Noto Sans JP" pitchFamily="34" charset="0"/>
                <a:ea typeface="Noto Sans JP" pitchFamily="34" charset="-122"/>
                <a:cs typeface="Noto Sans JP" pitchFamily="34" charset="-120"/>
              </a:rPr>
              <a:t>2026年7月時点の営業中店舗数</a:t>
            </a:r>
            <a:endParaRPr lang="en-US" sz="1050" dirty="0"/>
          </a:p>
        </p:txBody>
      </p:sp>
      <p:sp>
        <p:nvSpPr>
          <p:cNvPr id="11" name="Shape 7"/>
          <p:cNvSpPr/>
          <p:nvPr/>
        </p:nvSpPr>
        <p:spPr>
          <a:xfrm>
            <a:off x="8732520" y="3072384"/>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Text 8"/>
          <p:cNvSpPr/>
          <p:nvPr/>
        </p:nvSpPr>
        <p:spPr>
          <a:xfrm>
            <a:off x="8951976" y="3200400"/>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11</a:t>
            </a:r>
            <a:pPr algn="l" indent="0" marL="0">
              <a:buNone/>
            </a:pPr>
            <a:r>
              <a:rPr lang="en-US" sz="1200" b="1" dirty="0">
                <a:solidFill>
                  <a:srgbClr val="5D4037"/>
                </a:solidFill>
                <a:latin typeface="Noto Sans JP" pitchFamily="34" charset="0"/>
                <a:ea typeface="Noto Sans JP" pitchFamily="34" charset="-122"/>
                <a:cs typeface="Noto Sans JP" pitchFamily="34" charset="-120"/>
              </a:rPr>
              <a:t> 都府県</a:t>
            </a:r>
            <a:endParaRPr lang="en-US" sz="3000" dirty="0"/>
          </a:p>
        </p:txBody>
      </p:sp>
      <p:sp>
        <p:nvSpPr>
          <p:cNvPr id="13" name="Text 9"/>
          <p:cNvSpPr/>
          <p:nvPr/>
        </p:nvSpPr>
        <p:spPr>
          <a:xfrm>
            <a:off x="8951976" y="3786530"/>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東北〜中国地方に広がる展開エリア</a:t>
            </a:r>
            <a:endParaRPr lang="en-US" sz="1050" dirty="0"/>
          </a:p>
        </p:txBody>
      </p:sp>
      <p:sp>
        <p:nvSpPr>
          <p:cNvPr id="14" name="Shape 10"/>
          <p:cNvSpPr/>
          <p:nvPr/>
        </p:nvSpPr>
        <p:spPr>
          <a:xfrm>
            <a:off x="8732520" y="4498848"/>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Text 11"/>
          <p:cNvSpPr/>
          <p:nvPr/>
        </p:nvSpPr>
        <p:spPr>
          <a:xfrm>
            <a:off x="8951976" y="4626864"/>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46</a:t>
            </a:r>
            <a:pPr algn="l" indent="0" marL="0">
              <a:buNone/>
            </a:pPr>
            <a:r>
              <a:rPr lang="en-US" sz="1200" b="1" dirty="0">
                <a:solidFill>
                  <a:srgbClr val="5D4037"/>
                </a:solidFill>
                <a:latin typeface="Noto Sans JP" pitchFamily="34" charset="0"/>
                <a:ea typeface="Noto Sans JP" pitchFamily="34" charset="-122"/>
                <a:cs typeface="Noto Sans JP" pitchFamily="34" charset="-120"/>
              </a:rPr>
              <a:t> ヶ月</a:t>
            </a:r>
            <a:endParaRPr lang="en-US" sz="3000" dirty="0"/>
          </a:p>
        </p:txBody>
      </p:sp>
      <p:sp>
        <p:nvSpPr>
          <p:cNvPr id="16" name="Text 12"/>
          <p:cNvSpPr/>
          <p:nvPr/>
        </p:nvSpPr>
        <p:spPr>
          <a:xfrm>
            <a:off x="8951976" y="5212994"/>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1号店OPENからの経過期間</a:t>
            </a:r>
            <a:endParaRPr lang="en-US" sz="1050" dirty="0"/>
          </a:p>
        </p:txBody>
      </p:sp>
      <p:sp>
        <p:nvSpPr>
          <p:cNvPr id="17" name="Text 13"/>
          <p:cNvSpPr/>
          <p:nvPr/>
        </p:nvSpPr>
        <p:spPr>
          <a:xfrm>
            <a:off x="666598" y="5870448"/>
            <a:ext cx="7790688" cy="420624"/>
          </a:xfrm>
          <a:prstGeom prst="rect">
            <a:avLst/>
          </a:prstGeom>
          <a:noFill/>
          <a:ln/>
        </p:spPr>
        <p:txBody>
          <a:bodyPr wrap="square" lIns="0" tIns="0" rIns="0" bIns="0" rtlCol="0" anchor="ctr"/>
          <a:lstStyle/>
          <a:p>
            <a:pPr indent="0" marL="0">
              <a:lnSpc>
                <a:spcPct val="125000"/>
              </a:lnSpc>
              <a:buNone/>
            </a:pPr>
            <a:r>
              <a:rPr lang="en-US" sz="1150" dirty="0">
                <a:solidFill>
                  <a:srgbClr val="3B3833"/>
                </a:solidFill>
                <a:latin typeface="Noto Sans JP" pitchFamily="34" charset="0"/>
                <a:ea typeface="Noto Sans JP" pitchFamily="34" charset="-122"/>
                <a:cs typeface="Noto Sans JP" pitchFamily="34" charset="-120"/>
              </a:rPr>
              <a:t>2022年9月の1号店OPENから、驚異的なスピードで出店エリアを拡大。店舗ネットワークは着実に成長を続けています。</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実績データ：月間利用者数の推移</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10</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全社月間利用者数（各月の合計）／店舗数の拡大に比例して拡大（2023.01〜2026.07）</a:t>
            </a:r>
            <a:endParaRPr lang="en-US" sz="1150" dirty="0"/>
          </a:p>
        </p:txBody>
      </p:sp>
      <p:graphicFrame>
        <p:nvGraphicFramePr>
          <p:cNvPr id="7" name="Chart 0" descr=""/>
          <p:cNvGraphicFramePr/>
          <p:nvPr/>
        </p:nvGraphicFramePr>
        <p:xfrm>
          <a:off x="666598" y="1645920"/>
          <a:ext cx="7790688" cy="4133088"/>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8732520" y="1645920"/>
            <a:ext cx="2792578" cy="1298448"/>
          </a:xfrm>
          <a:prstGeom prst="roundRect">
            <a:avLst>
              <a:gd name="adj" fmla="val 4930"/>
            </a:avLst>
          </a:prstGeom>
          <a:solidFill>
            <a:srgbClr val="12401A"/>
          </a:solidFill>
          <a:ln/>
          <a:effectLst>
            <a:outerShdw sx="100000" sy="100000" kx="0" ky="0" algn="bl" rotWithShape="0" blurRad="114300" dist="17780" dir="5400000">
              <a:srgbClr val="6B6250">
                <a:alpha val="14000"/>
              </a:srgbClr>
            </a:outerShdw>
          </a:effectLst>
        </p:spPr>
      </p:sp>
      <p:sp>
        <p:nvSpPr>
          <p:cNvPr id="9" name="Text 5"/>
          <p:cNvSpPr/>
          <p:nvPr/>
        </p:nvSpPr>
        <p:spPr>
          <a:xfrm>
            <a:off x="8951976" y="1773936"/>
            <a:ext cx="2353666" cy="649224"/>
          </a:xfrm>
          <a:prstGeom prst="rect">
            <a:avLst/>
          </a:prstGeom>
          <a:noFill/>
          <a:ln/>
        </p:spPr>
        <p:txBody>
          <a:bodyPr wrap="square" lIns="0" tIns="0" rIns="0" bIns="0" rtlCol="0" anchor="ctr"/>
          <a:lstStyle/>
          <a:p>
            <a:pPr algn="l" indent="0" marL="0">
              <a:buNone/>
            </a:pPr>
            <a:r>
              <a:rPr lang="en-US" sz="2600" b="1" dirty="0">
                <a:solidFill>
                  <a:srgbClr val="FFFFFF"/>
                </a:solidFill>
                <a:latin typeface="Arial" pitchFamily="34" charset="0"/>
                <a:ea typeface="Arial" pitchFamily="34" charset="-122"/>
                <a:cs typeface="Arial" pitchFamily="34" charset="-120"/>
              </a:rPr>
              <a:t>101,343</a:t>
            </a:r>
            <a:pPr algn="l" indent="0" marL="0">
              <a:buNone/>
            </a:pPr>
            <a:r>
              <a:rPr lang="en-US" sz="1200" b="1" dirty="0">
                <a:solidFill>
                  <a:srgbClr val="A9C6AC"/>
                </a:solidFill>
                <a:latin typeface="Noto Sans JP" pitchFamily="34" charset="0"/>
                <a:ea typeface="Noto Sans JP" pitchFamily="34" charset="-122"/>
                <a:cs typeface="Noto Sans JP" pitchFamily="34" charset="-120"/>
              </a:rPr>
              <a:t> 人</a:t>
            </a:r>
            <a:endParaRPr lang="en-US" sz="2600" dirty="0"/>
          </a:p>
        </p:txBody>
      </p:sp>
      <p:sp>
        <p:nvSpPr>
          <p:cNvPr id="10" name="Text 6"/>
          <p:cNvSpPr/>
          <p:nvPr/>
        </p:nvSpPr>
        <p:spPr>
          <a:xfrm>
            <a:off x="8951976" y="2360066"/>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A9C6AC"/>
                </a:solidFill>
                <a:latin typeface="Noto Sans JP" pitchFamily="34" charset="0"/>
                <a:ea typeface="Noto Sans JP" pitchFamily="34" charset="-122"/>
                <a:cs typeface="Noto Sans JP" pitchFamily="34" charset="-120"/>
              </a:rPr>
              <a:t>2026年7月の月間利用者数</a:t>
            </a:r>
            <a:endParaRPr lang="en-US" sz="1050" dirty="0"/>
          </a:p>
        </p:txBody>
      </p:sp>
      <p:sp>
        <p:nvSpPr>
          <p:cNvPr id="11" name="Shape 7"/>
          <p:cNvSpPr/>
          <p:nvPr/>
        </p:nvSpPr>
        <p:spPr>
          <a:xfrm>
            <a:off x="8732520" y="3072384"/>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Text 8"/>
          <p:cNvSpPr/>
          <p:nvPr/>
        </p:nvSpPr>
        <p:spPr>
          <a:xfrm>
            <a:off x="8951976" y="3200400"/>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104</a:t>
            </a:r>
            <a:pPr algn="l" indent="0" marL="0">
              <a:buNone/>
            </a:pPr>
            <a:r>
              <a:rPr lang="en-US" sz="1200" b="1" dirty="0">
                <a:solidFill>
                  <a:srgbClr val="5D4037"/>
                </a:solidFill>
                <a:latin typeface="Noto Sans JP" pitchFamily="34" charset="0"/>
                <a:ea typeface="Noto Sans JP" pitchFamily="34" charset="-122"/>
                <a:cs typeface="Noto Sans JP" pitchFamily="34" charset="-120"/>
              </a:rPr>
              <a:t> 倍</a:t>
            </a:r>
            <a:endParaRPr lang="en-US" sz="3000" dirty="0"/>
          </a:p>
        </p:txBody>
      </p:sp>
      <p:sp>
        <p:nvSpPr>
          <p:cNvPr id="13" name="Text 9"/>
          <p:cNvSpPr/>
          <p:nvPr/>
        </p:nvSpPr>
        <p:spPr>
          <a:xfrm>
            <a:off x="8951976" y="3786530"/>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立ち上げ当初比の月間利用者数</a:t>
            </a:r>
            <a:endParaRPr lang="en-US" sz="1050" dirty="0"/>
          </a:p>
        </p:txBody>
      </p:sp>
      <p:sp>
        <p:nvSpPr>
          <p:cNvPr id="14" name="Shape 10"/>
          <p:cNvSpPr/>
          <p:nvPr/>
        </p:nvSpPr>
        <p:spPr>
          <a:xfrm>
            <a:off x="8732520" y="4498848"/>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Text 11"/>
          <p:cNvSpPr/>
          <p:nvPr/>
        </p:nvSpPr>
        <p:spPr>
          <a:xfrm>
            <a:off x="8951976" y="4626864"/>
            <a:ext cx="2353666" cy="649224"/>
          </a:xfrm>
          <a:prstGeom prst="rect">
            <a:avLst/>
          </a:prstGeom>
          <a:noFill/>
          <a:ln/>
        </p:spPr>
        <p:txBody>
          <a:bodyPr wrap="square" lIns="0" tIns="0" rIns="0" bIns="0" rtlCol="0" anchor="ctr"/>
          <a:lstStyle/>
          <a:p>
            <a:pPr algn="l" indent="0" marL="0">
              <a:buNone/>
            </a:pPr>
            <a:r>
              <a:rPr lang="en-US" sz="2600" b="1" dirty="0">
                <a:solidFill>
                  <a:srgbClr val="1B5E20"/>
                </a:solidFill>
                <a:latin typeface="Arial" pitchFamily="34" charset="0"/>
                <a:ea typeface="Arial" pitchFamily="34" charset="-122"/>
                <a:cs typeface="Arial" pitchFamily="34" charset="-120"/>
              </a:rPr>
              <a:t>100,000</a:t>
            </a:r>
            <a:pPr algn="l" indent="0" marL="0">
              <a:buNone/>
            </a:pPr>
            <a:r>
              <a:rPr lang="en-US" sz="1200" b="1" dirty="0">
                <a:solidFill>
                  <a:srgbClr val="5D4037"/>
                </a:solidFill>
                <a:latin typeface="Noto Sans JP" pitchFamily="34" charset="0"/>
                <a:ea typeface="Noto Sans JP" pitchFamily="34" charset="-122"/>
                <a:cs typeface="Noto Sans JP" pitchFamily="34" charset="-120"/>
              </a:rPr>
              <a:t> 杯</a:t>
            </a:r>
            <a:endParaRPr lang="en-US" sz="2600" dirty="0"/>
          </a:p>
        </p:txBody>
      </p:sp>
      <p:sp>
        <p:nvSpPr>
          <p:cNvPr id="16" name="Text 12"/>
          <p:cNvSpPr/>
          <p:nvPr/>
        </p:nvSpPr>
        <p:spPr>
          <a:xfrm>
            <a:off x="8951976" y="5212994"/>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月間販売数を突破</a:t>
            </a:r>
            <a:endParaRPr lang="en-US" sz="1050" dirty="0"/>
          </a:p>
        </p:txBody>
      </p:sp>
      <p:sp>
        <p:nvSpPr>
          <p:cNvPr id="17" name="Text 13"/>
          <p:cNvSpPr/>
          <p:nvPr/>
        </p:nvSpPr>
        <p:spPr>
          <a:xfrm>
            <a:off x="666598" y="5870448"/>
            <a:ext cx="7790688" cy="420624"/>
          </a:xfrm>
          <a:prstGeom prst="rect">
            <a:avLst/>
          </a:prstGeom>
          <a:noFill/>
          <a:ln/>
        </p:spPr>
        <p:txBody>
          <a:bodyPr wrap="square" lIns="0" tIns="0" rIns="0" bIns="0" rtlCol="0" anchor="ctr"/>
          <a:lstStyle/>
          <a:p>
            <a:pPr indent="0" marL="0">
              <a:lnSpc>
                <a:spcPct val="125000"/>
              </a:lnSpc>
              <a:buNone/>
            </a:pPr>
            <a:r>
              <a:rPr lang="en-US" sz="1150" dirty="0">
                <a:solidFill>
                  <a:srgbClr val="3B3833"/>
                </a:solidFill>
                <a:latin typeface="Noto Sans JP" pitchFamily="34" charset="0"/>
                <a:ea typeface="Noto Sans JP" pitchFamily="34" charset="-122"/>
                <a:cs typeface="Noto Sans JP" pitchFamily="34" charset="-120"/>
              </a:rPr>
              <a:t>立ち上げ当初から、月間利用者数の規模は着実に拡大を続けています。新規出店直後の一時的な希薄化を挟みながらも、ほぼ店舗数に比例するペースで成長しています。</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利用システム：究極の利便性と価格</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11</a:t>
            </a:r>
            <a:endParaRPr lang="en-US" sz="1300" dirty="0"/>
          </a:p>
        </p:txBody>
      </p:sp>
      <p:sp>
        <p:nvSpPr>
          <p:cNvPr id="6" name="Shape 3"/>
          <p:cNvSpPr/>
          <p:nvPr/>
        </p:nvSpPr>
        <p:spPr>
          <a:xfrm>
            <a:off x="666598" y="141732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59206" y="1709928"/>
            <a:ext cx="603504" cy="603504"/>
          </a:xfrm>
          <a:prstGeom prst="ellipse">
            <a:avLst/>
          </a:prstGeom>
          <a:solidFill>
            <a:srgbClr val="F0F5EF"/>
          </a:solidFill>
          <a:ln/>
        </p:spPr>
      </p:sp>
      <p:pic>
        <p:nvPicPr>
          <p:cNvPr id="8" name="Image 1" descr="/home/user/suzuki-ceo/selfcafe-fc-deck/assets/icons/LuCoffee-green.png">    </p:cNvPr>
          <p:cNvPicPr>
            <a:picLocks noChangeAspect="1"/>
          </p:cNvPicPr>
          <p:nvPr/>
        </p:nvPicPr>
        <p:blipFill>
          <a:blip r:embed="rId2"/>
          <a:stretch>
            <a:fillRect/>
          </a:stretch>
        </p:blipFill>
        <p:spPr>
          <a:xfrm>
            <a:off x="1091976" y="1842699"/>
            <a:ext cx="337962" cy="337962"/>
          </a:xfrm>
          <a:prstGeom prst="rect">
            <a:avLst/>
          </a:prstGeom>
        </p:spPr>
      </p:pic>
      <p:sp>
        <p:nvSpPr>
          <p:cNvPr id="9" name="Text 5"/>
          <p:cNvSpPr/>
          <p:nvPr/>
        </p:nvSpPr>
        <p:spPr>
          <a:xfrm>
            <a:off x="1709014" y="167335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ドリンク一杯（390円〜）</a:t>
            </a:r>
            <a:endParaRPr lang="en-US" sz="1600" dirty="0"/>
          </a:p>
        </p:txBody>
      </p:sp>
      <p:sp>
        <p:nvSpPr>
          <p:cNvPr id="10" name="Text 6"/>
          <p:cNvSpPr/>
          <p:nvPr/>
        </p:nvSpPr>
        <p:spPr>
          <a:xfrm>
            <a:off x="1709014" y="209397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ドリンク購入だけで、Wi-Fi・電源が完備された空間を自由にご利用いただけます。</a:t>
            </a:r>
            <a:endParaRPr lang="en-US" sz="1150" dirty="0"/>
          </a:p>
        </p:txBody>
      </p:sp>
      <p:sp>
        <p:nvSpPr>
          <p:cNvPr id="11" name="Shape 7"/>
          <p:cNvSpPr/>
          <p:nvPr/>
        </p:nvSpPr>
        <p:spPr>
          <a:xfrm>
            <a:off x="666598" y="306324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Shape 8"/>
          <p:cNvSpPr/>
          <p:nvPr/>
        </p:nvSpPr>
        <p:spPr>
          <a:xfrm>
            <a:off x="959206" y="3355848"/>
            <a:ext cx="603504" cy="603504"/>
          </a:xfrm>
          <a:prstGeom prst="ellipse">
            <a:avLst/>
          </a:prstGeom>
          <a:solidFill>
            <a:srgbClr val="F0F5EF"/>
          </a:solidFill>
          <a:ln/>
        </p:spPr>
      </p:sp>
      <p:pic>
        <p:nvPicPr>
          <p:cNvPr id="13" name="Image 2" descr="/home/user/suzuki-ceo/selfcafe-fc-deck/assets/icons/LuClock-green.png">    </p:cNvPr>
          <p:cNvPicPr>
            <a:picLocks noChangeAspect="1"/>
          </p:cNvPicPr>
          <p:nvPr/>
        </p:nvPicPr>
        <p:blipFill>
          <a:blip r:embed="rId3"/>
          <a:stretch>
            <a:fillRect/>
          </a:stretch>
        </p:blipFill>
        <p:spPr>
          <a:xfrm>
            <a:off x="1091976" y="3488619"/>
            <a:ext cx="337962" cy="337962"/>
          </a:xfrm>
          <a:prstGeom prst="rect">
            <a:avLst/>
          </a:prstGeom>
        </p:spPr>
      </p:pic>
      <p:sp>
        <p:nvSpPr>
          <p:cNvPr id="14" name="Text 9"/>
          <p:cNvSpPr/>
          <p:nvPr/>
        </p:nvSpPr>
        <p:spPr>
          <a:xfrm>
            <a:off x="1709014" y="331927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滞在時間無制限</a:t>
            </a:r>
            <a:endParaRPr lang="en-US" sz="1600" dirty="0"/>
          </a:p>
        </p:txBody>
      </p:sp>
      <p:sp>
        <p:nvSpPr>
          <p:cNvPr id="15" name="Text 10"/>
          <p:cNvSpPr/>
          <p:nvPr/>
        </p:nvSpPr>
        <p:spPr>
          <a:xfrm>
            <a:off x="1709014" y="373989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追加料金や延長料金を気にせず、仕事や勉強に没頭できる環境を提供します。</a:t>
            </a:r>
            <a:endParaRPr lang="en-US" sz="1150" dirty="0"/>
          </a:p>
        </p:txBody>
      </p:sp>
      <p:sp>
        <p:nvSpPr>
          <p:cNvPr id="16" name="Shape 11"/>
          <p:cNvSpPr/>
          <p:nvPr/>
        </p:nvSpPr>
        <p:spPr>
          <a:xfrm>
            <a:off x="666598" y="470916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2"/>
          <p:cNvSpPr/>
          <p:nvPr/>
        </p:nvSpPr>
        <p:spPr>
          <a:xfrm>
            <a:off x="959206" y="5001768"/>
            <a:ext cx="603504" cy="603504"/>
          </a:xfrm>
          <a:prstGeom prst="ellipse">
            <a:avLst/>
          </a:prstGeom>
          <a:solidFill>
            <a:srgbClr val="F0F5EF"/>
          </a:solidFill>
          <a:ln/>
        </p:spPr>
      </p:sp>
      <p:pic>
        <p:nvPicPr>
          <p:cNvPr id="18" name="Image 3" descr="/home/user/suzuki-ceo/selfcafe-fc-deck/assets/icons/LuSmartphone-green.png">    </p:cNvPr>
          <p:cNvPicPr>
            <a:picLocks noChangeAspect="1"/>
          </p:cNvPicPr>
          <p:nvPr/>
        </p:nvPicPr>
        <p:blipFill>
          <a:blip r:embed="rId4"/>
          <a:stretch>
            <a:fillRect/>
          </a:stretch>
        </p:blipFill>
        <p:spPr>
          <a:xfrm>
            <a:off x="1091976" y="5134539"/>
            <a:ext cx="337962" cy="337962"/>
          </a:xfrm>
          <a:prstGeom prst="rect">
            <a:avLst/>
          </a:prstGeom>
        </p:spPr>
      </p:pic>
      <p:sp>
        <p:nvSpPr>
          <p:cNvPr id="19" name="Text 13"/>
          <p:cNvSpPr/>
          <p:nvPr/>
        </p:nvSpPr>
        <p:spPr>
          <a:xfrm>
            <a:off x="1709014" y="496519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サブスクプラン</a:t>
            </a:r>
            <a:endParaRPr lang="en-US" sz="1600" dirty="0"/>
          </a:p>
        </p:txBody>
      </p:sp>
      <p:sp>
        <p:nvSpPr>
          <p:cNvPr id="20" name="Text 14"/>
          <p:cNvSpPr/>
          <p:nvPr/>
        </p:nvSpPr>
        <p:spPr>
          <a:xfrm>
            <a:off x="1709014" y="538581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ヘビーユーザー向けに、月額定額で通い放題のプランも用意。最低1杯147円〜で継続利用を促せます。</a:t>
            </a:r>
            <a:endParaRPr lang="en-US" sz="1150" dirty="0"/>
          </a:p>
        </p:txBody>
      </p:sp>
      <p:sp>
        <p:nvSpPr>
          <p:cNvPr id="21" name="Shape 15"/>
          <p:cNvSpPr/>
          <p:nvPr/>
        </p:nvSpPr>
        <p:spPr>
          <a:xfrm>
            <a:off x="6675120" y="1417320"/>
            <a:ext cx="4849978" cy="4956048"/>
          </a:xfrm>
          <a:prstGeom prst="roundRect">
            <a:avLst>
              <a:gd name="adj" fmla="val 132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Text 16"/>
          <p:cNvSpPr/>
          <p:nvPr/>
        </p:nvSpPr>
        <p:spPr>
          <a:xfrm>
            <a:off x="6967728" y="1627632"/>
            <a:ext cx="4264762" cy="274320"/>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すべての店舗に共通する設備・ルール</a:t>
            </a:r>
            <a:endParaRPr lang="en-US" sz="1050" dirty="0"/>
          </a:p>
        </p:txBody>
      </p:sp>
      <p:sp>
        <p:nvSpPr>
          <p:cNvPr id="23" name="Shape 17"/>
          <p:cNvSpPr/>
          <p:nvPr/>
        </p:nvSpPr>
        <p:spPr>
          <a:xfrm>
            <a:off x="6967728" y="2029968"/>
            <a:ext cx="1287475" cy="1298448"/>
          </a:xfrm>
          <a:prstGeom prst="roundRect">
            <a:avLst>
              <a:gd name="adj" fmla="val 4972"/>
            </a:avLst>
          </a:prstGeom>
          <a:solidFill>
            <a:srgbClr val="F0F5EF"/>
          </a:solidFill>
          <a:ln w="9525">
            <a:solidFill>
              <a:srgbClr val="D7E4D7"/>
            </a:solidFill>
            <a:prstDash val="solid"/>
          </a:ln>
        </p:spPr>
      </p:sp>
      <p:pic>
        <p:nvPicPr>
          <p:cNvPr id="24" name="Image 4" descr="/home/user/suzuki-ceo/selfcafe-fc-deck/assets/icons/LuCalendarCheck-green.png">    </p:cNvPr>
          <p:cNvPicPr>
            <a:picLocks noChangeAspect="1"/>
          </p:cNvPicPr>
          <p:nvPr/>
        </p:nvPicPr>
        <p:blipFill>
          <a:blip r:embed="rId5"/>
          <a:stretch>
            <a:fillRect/>
          </a:stretch>
        </p:blipFill>
        <p:spPr>
          <a:xfrm>
            <a:off x="7392010" y="2267712"/>
            <a:ext cx="438912" cy="438912"/>
          </a:xfrm>
          <a:prstGeom prst="rect">
            <a:avLst/>
          </a:prstGeom>
        </p:spPr>
      </p:pic>
      <p:sp>
        <p:nvSpPr>
          <p:cNvPr id="25" name="Text 18"/>
          <p:cNvSpPr/>
          <p:nvPr/>
        </p:nvSpPr>
        <p:spPr>
          <a:xfrm>
            <a:off x="7022592"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無人・年中無休</a:t>
            </a:r>
            <a:endParaRPr lang="en-US" sz="1150" dirty="0"/>
          </a:p>
        </p:txBody>
      </p:sp>
      <p:sp>
        <p:nvSpPr>
          <p:cNvPr id="26" name="Shape 19"/>
          <p:cNvSpPr/>
          <p:nvPr/>
        </p:nvSpPr>
        <p:spPr>
          <a:xfrm>
            <a:off x="8456371" y="2029968"/>
            <a:ext cx="1287475" cy="1298448"/>
          </a:xfrm>
          <a:prstGeom prst="roundRect">
            <a:avLst>
              <a:gd name="adj" fmla="val 4972"/>
            </a:avLst>
          </a:prstGeom>
          <a:solidFill>
            <a:srgbClr val="F0F5EF"/>
          </a:solidFill>
          <a:ln w="9525">
            <a:solidFill>
              <a:srgbClr val="D7E4D7"/>
            </a:solidFill>
            <a:prstDash val="solid"/>
          </a:ln>
        </p:spPr>
      </p:sp>
      <p:pic>
        <p:nvPicPr>
          <p:cNvPr id="27" name="Image 5" descr="/home/user/suzuki-ceo/selfcafe-fc-deck/assets/icons/LuWifi-green.png">    </p:cNvPr>
          <p:cNvPicPr>
            <a:picLocks noChangeAspect="1"/>
          </p:cNvPicPr>
          <p:nvPr/>
        </p:nvPicPr>
        <p:blipFill>
          <a:blip r:embed="rId6"/>
          <a:stretch>
            <a:fillRect/>
          </a:stretch>
        </p:blipFill>
        <p:spPr>
          <a:xfrm>
            <a:off x="8880653" y="2267712"/>
            <a:ext cx="438912" cy="438912"/>
          </a:xfrm>
          <a:prstGeom prst="rect">
            <a:avLst/>
          </a:prstGeom>
        </p:spPr>
      </p:pic>
      <p:sp>
        <p:nvSpPr>
          <p:cNvPr id="28" name="Text 20"/>
          <p:cNvSpPr/>
          <p:nvPr/>
        </p:nvSpPr>
        <p:spPr>
          <a:xfrm>
            <a:off x="8511235"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高速Wi-Fi</a:t>
            </a:r>
            <a:endParaRPr lang="en-US" sz="1150" dirty="0"/>
          </a:p>
        </p:txBody>
      </p:sp>
      <p:sp>
        <p:nvSpPr>
          <p:cNvPr id="29" name="Shape 21"/>
          <p:cNvSpPr/>
          <p:nvPr/>
        </p:nvSpPr>
        <p:spPr>
          <a:xfrm>
            <a:off x="9945014" y="2029968"/>
            <a:ext cx="1287475" cy="1298448"/>
          </a:xfrm>
          <a:prstGeom prst="roundRect">
            <a:avLst>
              <a:gd name="adj" fmla="val 4972"/>
            </a:avLst>
          </a:prstGeom>
          <a:solidFill>
            <a:srgbClr val="F0F5EF"/>
          </a:solidFill>
          <a:ln w="9525">
            <a:solidFill>
              <a:srgbClr val="D7E4D7"/>
            </a:solidFill>
            <a:prstDash val="solid"/>
          </a:ln>
        </p:spPr>
      </p:sp>
      <p:pic>
        <p:nvPicPr>
          <p:cNvPr id="30" name="Image 6" descr="/home/user/suzuki-ceo/selfcafe-fc-deck/assets/icons/LuPlug-green.png">    </p:cNvPr>
          <p:cNvPicPr>
            <a:picLocks noChangeAspect="1"/>
          </p:cNvPicPr>
          <p:nvPr/>
        </p:nvPicPr>
        <p:blipFill>
          <a:blip r:embed="rId7"/>
          <a:stretch>
            <a:fillRect/>
          </a:stretch>
        </p:blipFill>
        <p:spPr>
          <a:xfrm>
            <a:off x="10369296" y="2267712"/>
            <a:ext cx="438912" cy="438912"/>
          </a:xfrm>
          <a:prstGeom prst="rect">
            <a:avLst/>
          </a:prstGeom>
        </p:spPr>
      </p:pic>
      <p:sp>
        <p:nvSpPr>
          <p:cNvPr id="31" name="Text 22"/>
          <p:cNvSpPr/>
          <p:nvPr/>
        </p:nvSpPr>
        <p:spPr>
          <a:xfrm>
            <a:off x="9999878"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電源完備</a:t>
            </a:r>
            <a:endParaRPr lang="en-US" sz="1150" dirty="0"/>
          </a:p>
        </p:txBody>
      </p:sp>
      <p:sp>
        <p:nvSpPr>
          <p:cNvPr id="32" name="Shape 23"/>
          <p:cNvSpPr/>
          <p:nvPr/>
        </p:nvSpPr>
        <p:spPr>
          <a:xfrm>
            <a:off x="6967728" y="3529584"/>
            <a:ext cx="1287475" cy="1298448"/>
          </a:xfrm>
          <a:prstGeom prst="roundRect">
            <a:avLst>
              <a:gd name="adj" fmla="val 4972"/>
            </a:avLst>
          </a:prstGeom>
          <a:solidFill>
            <a:srgbClr val="F0F5EF"/>
          </a:solidFill>
          <a:ln w="9525">
            <a:solidFill>
              <a:srgbClr val="D7E4D7"/>
            </a:solidFill>
            <a:prstDash val="solid"/>
          </a:ln>
        </p:spPr>
      </p:sp>
      <p:pic>
        <p:nvPicPr>
          <p:cNvPr id="33" name="Image 7" descr="/home/user/suzuki-ceo/selfcafe-fc-deck/assets/icons/LuClock-green.png">    </p:cNvPr>
          <p:cNvPicPr>
            <a:picLocks noChangeAspect="1"/>
          </p:cNvPicPr>
          <p:nvPr/>
        </p:nvPicPr>
        <p:blipFill>
          <a:blip r:embed="rId8"/>
          <a:stretch>
            <a:fillRect/>
          </a:stretch>
        </p:blipFill>
        <p:spPr>
          <a:xfrm>
            <a:off x="7392010" y="3767328"/>
            <a:ext cx="438912" cy="438912"/>
          </a:xfrm>
          <a:prstGeom prst="rect">
            <a:avLst/>
          </a:prstGeom>
        </p:spPr>
      </p:pic>
      <p:sp>
        <p:nvSpPr>
          <p:cNvPr id="34" name="Text 24"/>
          <p:cNvSpPr/>
          <p:nvPr/>
        </p:nvSpPr>
        <p:spPr>
          <a:xfrm>
            <a:off x="7022592"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席時間無制限</a:t>
            </a:r>
            <a:endParaRPr lang="en-US" sz="1150" dirty="0"/>
          </a:p>
        </p:txBody>
      </p:sp>
      <p:sp>
        <p:nvSpPr>
          <p:cNvPr id="35" name="Shape 25"/>
          <p:cNvSpPr/>
          <p:nvPr/>
        </p:nvSpPr>
        <p:spPr>
          <a:xfrm>
            <a:off x="8456371" y="3529584"/>
            <a:ext cx="1287475" cy="1298448"/>
          </a:xfrm>
          <a:prstGeom prst="roundRect">
            <a:avLst>
              <a:gd name="adj" fmla="val 4972"/>
            </a:avLst>
          </a:prstGeom>
          <a:solidFill>
            <a:srgbClr val="F0F5EF"/>
          </a:solidFill>
          <a:ln w="9525">
            <a:solidFill>
              <a:srgbClr val="D7E4D7"/>
            </a:solidFill>
            <a:prstDash val="solid"/>
          </a:ln>
        </p:spPr>
      </p:sp>
      <p:pic>
        <p:nvPicPr>
          <p:cNvPr id="36" name="Image 8" descr="/home/user/suzuki-ceo/selfcafe-fc-deck/assets/icons/LuBookOpen-green.png">    </p:cNvPr>
          <p:cNvPicPr>
            <a:picLocks noChangeAspect="1"/>
          </p:cNvPicPr>
          <p:nvPr/>
        </p:nvPicPr>
        <p:blipFill>
          <a:blip r:embed="rId9"/>
          <a:stretch>
            <a:fillRect/>
          </a:stretch>
        </p:blipFill>
        <p:spPr>
          <a:xfrm>
            <a:off x="8880653" y="3767328"/>
            <a:ext cx="438912" cy="438912"/>
          </a:xfrm>
          <a:prstGeom prst="rect">
            <a:avLst/>
          </a:prstGeom>
        </p:spPr>
      </p:pic>
      <p:sp>
        <p:nvSpPr>
          <p:cNvPr id="37" name="Text 26"/>
          <p:cNvSpPr/>
          <p:nvPr/>
        </p:nvSpPr>
        <p:spPr>
          <a:xfrm>
            <a:off x="8511235"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仕事・勉強</a:t>
            </a:r>
            <a:endParaRPr lang="en-US" sz="1150" dirty="0"/>
          </a:p>
        </p:txBody>
      </p:sp>
      <p:sp>
        <p:nvSpPr>
          <p:cNvPr id="38" name="Shape 27"/>
          <p:cNvSpPr/>
          <p:nvPr/>
        </p:nvSpPr>
        <p:spPr>
          <a:xfrm>
            <a:off x="9945014" y="3529584"/>
            <a:ext cx="1287475" cy="1298448"/>
          </a:xfrm>
          <a:prstGeom prst="roundRect">
            <a:avLst>
              <a:gd name="adj" fmla="val 4972"/>
            </a:avLst>
          </a:prstGeom>
          <a:solidFill>
            <a:srgbClr val="F0F5EF"/>
          </a:solidFill>
          <a:ln w="9525">
            <a:solidFill>
              <a:srgbClr val="D7E4D7"/>
            </a:solidFill>
            <a:prstDash val="solid"/>
          </a:ln>
        </p:spPr>
      </p:sp>
      <p:pic>
        <p:nvPicPr>
          <p:cNvPr id="39" name="Image 9" descr="/home/user/suzuki-ceo/selfcafe-fc-deck/assets/icons/LuMessagesSquare-green.png">    </p:cNvPr>
          <p:cNvPicPr>
            <a:picLocks noChangeAspect="1"/>
          </p:cNvPicPr>
          <p:nvPr/>
        </p:nvPicPr>
        <p:blipFill>
          <a:blip r:embed="rId10"/>
          <a:stretch>
            <a:fillRect/>
          </a:stretch>
        </p:blipFill>
        <p:spPr>
          <a:xfrm>
            <a:off x="10369296" y="3767328"/>
            <a:ext cx="438912" cy="438912"/>
          </a:xfrm>
          <a:prstGeom prst="rect">
            <a:avLst/>
          </a:prstGeom>
        </p:spPr>
      </p:pic>
      <p:sp>
        <p:nvSpPr>
          <p:cNvPr id="40" name="Text 28"/>
          <p:cNvSpPr/>
          <p:nvPr/>
        </p:nvSpPr>
        <p:spPr>
          <a:xfrm>
            <a:off x="9999878"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会話OK</a:t>
            </a:r>
            <a:endParaRPr lang="en-US" sz="1150" dirty="0"/>
          </a:p>
        </p:txBody>
      </p:sp>
      <p:sp>
        <p:nvSpPr>
          <p:cNvPr id="41" name="Shape 29"/>
          <p:cNvSpPr/>
          <p:nvPr/>
        </p:nvSpPr>
        <p:spPr>
          <a:xfrm>
            <a:off x="6967728" y="5138928"/>
            <a:ext cx="4264762" cy="969264"/>
          </a:xfrm>
          <a:prstGeom prst="roundRect">
            <a:avLst>
              <a:gd name="adj" fmla="val 5660"/>
            </a:avLst>
          </a:prstGeom>
          <a:solidFill>
            <a:srgbClr val="FAF3E3"/>
          </a:solidFill>
          <a:ln/>
        </p:spPr>
      </p:sp>
      <p:sp>
        <p:nvSpPr>
          <p:cNvPr id="42" name="Text 30"/>
          <p:cNvSpPr/>
          <p:nvPr/>
        </p:nvSpPr>
        <p:spPr>
          <a:xfrm>
            <a:off x="7150608" y="5138928"/>
            <a:ext cx="3899002" cy="969264"/>
          </a:xfrm>
          <a:prstGeom prst="rect">
            <a:avLst/>
          </a:prstGeom>
          <a:noFill/>
          <a:ln/>
        </p:spPr>
        <p:txBody>
          <a:bodyPr wrap="square" lIns="0" tIns="0" rIns="0" bIns="0" rtlCol="0" anchor="ctr"/>
          <a:lstStyle/>
          <a:p>
            <a:pPr indent="0" marL="0">
              <a:lnSpc>
                <a:spcPct val="130000"/>
              </a:lnSpc>
              <a:buNone/>
            </a:pPr>
            <a:r>
              <a:rPr lang="en-US" sz="1100" dirty="0">
                <a:solidFill>
                  <a:srgbClr val="5D4037"/>
                </a:solidFill>
                <a:latin typeface="Noto Sans JP" pitchFamily="34" charset="0"/>
                <a:ea typeface="Noto Sans JP" pitchFamily="34" charset="-122"/>
                <a:cs typeface="Noto Sans JP" pitchFamily="34" charset="-120"/>
              </a:rPr>
              <a:t>予約不要・登録不要。ドリンク1杯から、いつでも気軽に使える価格設計にしています。</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セルフカフェ_ユーザー層</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12</a:t>
            </a:r>
            <a:endParaRPr lang="en-US" sz="1300" dirty="0"/>
          </a:p>
        </p:txBody>
      </p:sp>
      <p:sp>
        <p:nvSpPr>
          <p:cNvPr id="6" name="Shape 3"/>
          <p:cNvSpPr/>
          <p:nvPr/>
        </p:nvSpPr>
        <p:spPr>
          <a:xfrm>
            <a:off x="666598" y="1298448"/>
            <a:ext cx="5282946" cy="4956048"/>
          </a:xfrm>
          <a:prstGeom prst="roundRect">
            <a:avLst>
              <a:gd name="adj" fmla="val 1292"/>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59206" y="1517904"/>
            <a:ext cx="566928" cy="566928"/>
          </a:xfrm>
          <a:prstGeom prst="ellipse">
            <a:avLst/>
          </a:prstGeom>
          <a:solidFill>
            <a:srgbClr val="F0F5EF"/>
          </a:solidFill>
          <a:ln/>
        </p:spPr>
      </p:sp>
      <p:pic>
        <p:nvPicPr>
          <p:cNvPr id="8" name="Image 1" descr="/home/user/suzuki-ceo/selfcafe-fc-deck/assets/icons/LuUsers-green.png">    </p:cNvPr>
          <p:cNvPicPr>
            <a:picLocks noChangeAspect="1"/>
          </p:cNvPicPr>
          <p:nvPr/>
        </p:nvPicPr>
        <p:blipFill>
          <a:blip r:embed="rId2"/>
          <a:stretch>
            <a:fillRect/>
          </a:stretch>
        </p:blipFill>
        <p:spPr>
          <a:xfrm>
            <a:off x="1083930" y="1642628"/>
            <a:ext cx="317480" cy="317480"/>
          </a:xfrm>
          <a:prstGeom prst="rect">
            <a:avLst/>
          </a:prstGeom>
        </p:spPr>
      </p:pic>
      <p:sp>
        <p:nvSpPr>
          <p:cNvPr id="9" name="Text 5"/>
          <p:cNvSpPr/>
          <p:nvPr/>
        </p:nvSpPr>
        <p:spPr>
          <a:xfrm>
            <a:off x="1672438" y="1517904"/>
            <a:ext cx="3984498" cy="566928"/>
          </a:xfrm>
          <a:prstGeom prst="rect">
            <a:avLst/>
          </a:prstGeom>
          <a:noFill/>
          <a:ln/>
        </p:spPr>
        <p:txBody>
          <a:bodyPr wrap="square" lIns="0" tIns="0" rIns="0" bIns="0" rtlCol="0" anchor="ctr"/>
          <a:lstStyle/>
          <a:p>
            <a:pPr indent="0" marL="0">
              <a:buNone/>
            </a:pPr>
            <a:r>
              <a:rPr lang="en-US" sz="1700" b="1" dirty="0">
                <a:solidFill>
                  <a:srgbClr val="1B5E20"/>
                </a:solidFill>
                <a:latin typeface="Noto Sans JP" pitchFamily="34" charset="0"/>
                <a:ea typeface="Noto Sans JP" pitchFamily="34" charset="-122"/>
                <a:cs typeface="Noto Sans JP" pitchFamily="34" charset="-120"/>
              </a:rPr>
              <a:t>若年層から絶大な支持</a:t>
            </a:r>
            <a:endParaRPr lang="en-US" sz="1700" dirty="0"/>
          </a:p>
        </p:txBody>
      </p:sp>
      <p:sp>
        <p:nvSpPr>
          <p:cNvPr id="10" name="Text 6"/>
          <p:cNvSpPr/>
          <p:nvPr/>
        </p:nvSpPr>
        <p:spPr>
          <a:xfrm>
            <a:off x="959206" y="2212848"/>
            <a:ext cx="4697730" cy="603504"/>
          </a:xfrm>
          <a:prstGeom prst="rect">
            <a:avLst/>
          </a:prstGeom>
          <a:noFill/>
          <a:ln/>
        </p:spPr>
        <p:txBody>
          <a:bodyPr wrap="square" lIns="0" tIns="0" rIns="0" bIns="0" rtlCol="0" anchor="t"/>
          <a:lstStyle/>
          <a:p>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29歳までのユーザーが</a:t>
            </a:r>
            <a:pPr indent="0" marL="0">
              <a:lnSpc>
                <a:spcPct val="132000"/>
              </a:lnSpc>
              <a:buNone/>
            </a:pPr>
            <a:r>
              <a:rPr lang="en-US" sz="1150" b="1" dirty="0">
                <a:solidFill>
                  <a:srgbClr val="1B5E20"/>
                </a:solidFill>
                <a:latin typeface="Noto Sans JP" pitchFamily="34" charset="0"/>
                <a:ea typeface="Noto Sans JP" pitchFamily="34" charset="-122"/>
                <a:cs typeface="Noto Sans JP" pitchFamily="34" charset="-120"/>
              </a:rPr>
              <a:t>約50%</a:t>
            </a:r>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。デジタルネイティブ世代にとって「無人」は心理的ハードルが低く、快適な空間です。</a:t>
            </a:r>
            <a:endParaRPr lang="en-US" sz="1150" dirty="0"/>
          </a:p>
        </p:txBody>
      </p:sp>
      <p:sp>
        <p:nvSpPr>
          <p:cNvPr id="11" name="Text 7"/>
          <p:cNvSpPr/>
          <p:nvPr/>
        </p:nvSpPr>
        <p:spPr>
          <a:xfrm>
            <a:off x="5035144" y="5888736"/>
            <a:ext cx="640080" cy="201168"/>
          </a:xfrm>
          <a:prstGeom prst="rect">
            <a:avLst/>
          </a:prstGeom>
          <a:noFill/>
          <a:ln/>
        </p:spPr>
        <p:txBody>
          <a:bodyPr wrap="square" lIns="0" tIns="0" rIns="0" bIns="0" rtlCol="0" anchor="ctr"/>
          <a:lstStyle/>
          <a:p>
            <a:pPr algn="r" indent="0" marL="0">
              <a:buNone/>
            </a:pPr>
            <a:r>
              <a:rPr lang="en-US" sz="900" dirty="0">
                <a:solidFill>
                  <a:srgbClr val="9A948A"/>
                </a:solidFill>
                <a:latin typeface="Noto Sans JP" pitchFamily="34" charset="0"/>
                <a:ea typeface="Noto Sans JP" pitchFamily="34" charset="-122"/>
                <a:cs typeface="Noto Sans JP" pitchFamily="34" charset="-120"/>
              </a:rPr>
              <a:t>（歳）</a:t>
            </a:r>
            <a:endParaRPr lang="en-US" sz="900" dirty="0"/>
          </a:p>
        </p:txBody>
      </p:sp>
      <p:graphicFrame>
        <p:nvGraphicFramePr>
          <p:cNvPr id="12" name="Chart 0" descr=""/>
          <p:cNvGraphicFramePr/>
          <p:nvPr/>
        </p:nvGraphicFramePr>
        <p:xfrm>
          <a:off x="904342" y="2944368"/>
          <a:ext cx="4807458" cy="3035808"/>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6242152" y="1298448"/>
            <a:ext cx="5282946" cy="4956048"/>
          </a:xfrm>
          <a:prstGeom prst="roundRect">
            <a:avLst>
              <a:gd name="adj" fmla="val 1292"/>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4" name="Shape 9"/>
          <p:cNvSpPr/>
          <p:nvPr/>
        </p:nvSpPr>
        <p:spPr>
          <a:xfrm>
            <a:off x="6534760" y="1517904"/>
            <a:ext cx="566928" cy="566928"/>
          </a:xfrm>
          <a:prstGeom prst="ellipse">
            <a:avLst/>
          </a:prstGeom>
          <a:solidFill>
            <a:srgbClr val="F0F5EF"/>
          </a:solidFill>
          <a:ln/>
        </p:spPr>
      </p:sp>
      <p:pic>
        <p:nvPicPr>
          <p:cNvPr id="15" name="Image 2" descr="/home/user/suzuki-ceo/selfcafe-fc-deck/assets/icons/LuGraduationCap-green.png">    </p:cNvPr>
          <p:cNvPicPr>
            <a:picLocks noChangeAspect="1"/>
          </p:cNvPicPr>
          <p:nvPr/>
        </p:nvPicPr>
        <p:blipFill>
          <a:blip r:embed="rId4"/>
          <a:stretch>
            <a:fillRect/>
          </a:stretch>
        </p:blipFill>
        <p:spPr>
          <a:xfrm>
            <a:off x="6659484" y="1642628"/>
            <a:ext cx="317480" cy="317480"/>
          </a:xfrm>
          <a:prstGeom prst="rect">
            <a:avLst/>
          </a:prstGeom>
        </p:spPr>
      </p:pic>
      <p:sp>
        <p:nvSpPr>
          <p:cNvPr id="16" name="Text 10"/>
          <p:cNvSpPr/>
          <p:nvPr/>
        </p:nvSpPr>
        <p:spPr>
          <a:xfrm>
            <a:off x="7247992" y="1517904"/>
            <a:ext cx="3984498" cy="566928"/>
          </a:xfrm>
          <a:prstGeom prst="rect">
            <a:avLst/>
          </a:prstGeom>
          <a:noFill/>
          <a:ln/>
        </p:spPr>
        <p:txBody>
          <a:bodyPr wrap="square" lIns="0" tIns="0" rIns="0" bIns="0" rtlCol="0" anchor="ctr"/>
          <a:lstStyle/>
          <a:p>
            <a:pPr indent="0" marL="0">
              <a:buNone/>
            </a:pPr>
            <a:r>
              <a:rPr lang="en-US" sz="1700" b="1" dirty="0">
                <a:solidFill>
                  <a:srgbClr val="1B5E20"/>
                </a:solidFill>
                <a:latin typeface="Noto Sans JP" pitchFamily="34" charset="0"/>
                <a:ea typeface="Noto Sans JP" pitchFamily="34" charset="-122"/>
                <a:cs typeface="Noto Sans JP" pitchFamily="34" charset="-120"/>
              </a:rPr>
              <a:t>「勉強」が主目的</a:t>
            </a:r>
            <a:endParaRPr lang="en-US" sz="1700" dirty="0"/>
          </a:p>
        </p:txBody>
      </p:sp>
      <p:sp>
        <p:nvSpPr>
          <p:cNvPr id="17" name="Text 11"/>
          <p:cNvSpPr/>
          <p:nvPr/>
        </p:nvSpPr>
        <p:spPr>
          <a:xfrm>
            <a:off x="6534760" y="2212848"/>
            <a:ext cx="4697730" cy="603504"/>
          </a:xfrm>
          <a:prstGeom prst="rect">
            <a:avLst/>
          </a:prstGeom>
          <a:noFill/>
          <a:ln/>
        </p:spPr>
        <p:txBody>
          <a:bodyPr wrap="square" lIns="0" tIns="0" rIns="0" bIns="0" rtlCol="0" anchor="t"/>
          <a:lstStyle/>
          <a:p>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利用目的の</a:t>
            </a:r>
            <a:pPr indent="0" marL="0">
              <a:lnSpc>
                <a:spcPct val="132000"/>
              </a:lnSpc>
              <a:buNone/>
            </a:pPr>
            <a:r>
              <a:rPr lang="en-US" sz="1150" b="1" dirty="0">
                <a:solidFill>
                  <a:srgbClr val="1B5E20"/>
                </a:solidFill>
                <a:latin typeface="Noto Sans JP" pitchFamily="34" charset="0"/>
                <a:ea typeface="Noto Sans JP" pitchFamily="34" charset="-122"/>
                <a:cs typeface="Noto Sans JP" pitchFamily="34" charset="-120"/>
              </a:rPr>
              <a:t>62.6%が「勉強」</a:t>
            </a:r>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。一般的なカフェが「休憩」を主目的とするのに対し、高い生産性を求める層が集まります。</a:t>
            </a:r>
            <a:endParaRPr lang="en-US" sz="1150" dirty="0"/>
          </a:p>
        </p:txBody>
      </p:sp>
      <p:graphicFrame>
        <p:nvGraphicFramePr>
          <p:cNvPr id="18" name="Chart 1" descr=""/>
          <p:cNvGraphicFramePr/>
          <p:nvPr/>
        </p:nvGraphicFramePr>
        <p:xfrm>
          <a:off x="6516472" y="2926080"/>
          <a:ext cx="4734306" cy="3054096"/>
        </p:xfrm>
        <a:graphic xmlns:a="http://schemas.openxmlformats.org/drawingml/2006/main">
          <a:graphicData uri="http://schemas.openxmlformats.org/drawingml/2006/chart">
            <c:chart xmlns:c="http://schemas.openxmlformats.org/drawingml/2006/chart" r:id="rId5"/>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店舗毎の利用状況 ①</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店内カメラで見た実際の様子。平日日中でも席が埋まる店舗が多数あります。</a:t>
            </a:r>
            <a:endParaRPr lang="en-US" sz="1150" dirty="0"/>
          </a:p>
        </p:txBody>
      </p:sp>
      <p:sp>
        <p:nvSpPr>
          <p:cNvPr id="7" name="Shape 4"/>
          <p:cNvSpPr/>
          <p:nvPr/>
        </p:nvSpPr>
        <p:spPr>
          <a:xfrm>
            <a:off x="666598" y="1664208"/>
            <a:ext cx="3461004" cy="2194560"/>
          </a:xfrm>
          <a:prstGeom prst="roundRect">
            <a:avLst>
              <a:gd name="adj" fmla="val 2500"/>
            </a:avLst>
          </a:prstGeom>
          <a:solidFill>
            <a:srgbClr val="FAF3E3"/>
          </a:solidFill>
          <a:ln w="12700">
            <a:solidFill>
              <a:srgbClr val="CFC4A8"/>
            </a:solidFill>
            <a:prstDash val="dash"/>
          </a:ln>
        </p:spPr>
      </p:sp>
      <p:pic>
        <p:nvPicPr>
          <p:cNvPr id="8" name="Image 1" descr="/home/user/suzuki-ceo/selfcafe-fc-deck/assets/icons/LuImage-muted.png">    </p:cNvPr>
          <p:cNvPicPr>
            <a:picLocks noChangeAspect="1"/>
          </p:cNvPicPr>
          <p:nvPr/>
        </p:nvPicPr>
        <p:blipFill>
          <a:blip r:embed="rId2"/>
          <a:stretch>
            <a:fillRect/>
          </a:stretch>
        </p:blipFill>
        <p:spPr>
          <a:xfrm>
            <a:off x="2133752" y="2450592"/>
            <a:ext cx="526694" cy="526694"/>
          </a:xfrm>
          <a:prstGeom prst="rect">
            <a:avLst/>
          </a:prstGeom>
        </p:spPr>
      </p:pic>
      <p:sp>
        <p:nvSpPr>
          <p:cNvPr id="9" name="Text 5"/>
          <p:cNvSpPr/>
          <p:nvPr/>
        </p:nvSpPr>
        <p:spPr>
          <a:xfrm>
            <a:off x="758038"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0" name="Text 6"/>
          <p:cNvSpPr/>
          <p:nvPr/>
        </p:nvSpPr>
        <p:spPr>
          <a:xfrm>
            <a:off x="758038"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ささしまライブ店（愛知県名古屋市）</a:t>
            </a:r>
            <a:endParaRPr lang="en-US" sz="1000" dirty="0"/>
          </a:p>
        </p:txBody>
      </p:sp>
      <p:sp>
        <p:nvSpPr>
          <p:cNvPr id="11" name="Shape 7"/>
          <p:cNvSpPr/>
          <p:nvPr/>
        </p:nvSpPr>
        <p:spPr>
          <a:xfrm>
            <a:off x="4365346" y="1664208"/>
            <a:ext cx="3461004" cy="2194560"/>
          </a:xfrm>
          <a:prstGeom prst="roundRect">
            <a:avLst>
              <a:gd name="adj" fmla="val 2500"/>
            </a:avLst>
          </a:prstGeom>
          <a:solidFill>
            <a:srgbClr val="FAF3E3"/>
          </a:solidFill>
          <a:ln w="12700">
            <a:solidFill>
              <a:srgbClr val="CFC4A8"/>
            </a:solidFill>
            <a:prstDash val="dash"/>
          </a:ln>
        </p:spPr>
      </p:sp>
      <p:pic>
        <p:nvPicPr>
          <p:cNvPr id="12" name="Image 2" descr="/home/user/suzuki-ceo/selfcafe-fc-deck/assets/icons/LuImage-muted.png">    </p:cNvPr>
          <p:cNvPicPr>
            <a:picLocks noChangeAspect="1"/>
          </p:cNvPicPr>
          <p:nvPr/>
        </p:nvPicPr>
        <p:blipFill>
          <a:blip r:embed="rId3"/>
          <a:stretch>
            <a:fillRect/>
          </a:stretch>
        </p:blipFill>
        <p:spPr>
          <a:xfrm>
            <a:off x="5832500" y="2450592"/>
            <a:ext cx="526694" cy="526694"/>
          </a:xfrm>
          <a:prstGeom prst="rect">
            <a:avLst/>
          </a:prstGeom>
        </p:spPr>
      </p:pic>
      <p:sp>
        <p:nvSpPr>
          <p:cNvPr id="13" name="Text 8"/>
          <p:cNvSpPr/>
          <p:nvPr/>
        </p:nvSpPr>
        <p:spPr>
          <a:xfrm>
            <a:off x="4456786"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4" name="Text 9"/>
          <p:cNvSpPr/>
          <p:nvPr/>
        </p:nvSpPr>
        <p:spPr>
          <a:xfrm>
            <a:off x="4456786"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新瑞橋店（愛知県名古屋市）</a:t>
            </a:r>
            <a:endParaRPr lang="en-US" sz="1000" dirty="0"/>
          </a:p>
        </p:txBody>
      </p:sp>
      <p:sp>
        <p:nvSpPr>
          <p:cNvPr id="15" name="Shape 10"/>
          <p:cNvSpPr/>
          <p:nvPr/>
        </p:nvSpPr>
        <p:spPr>
          <a:xfrm>
            <a:off x="8064094" y="1664208"/>
            <a:ext cx="3461004" cy="2194560"/>
          </a:xfrm>
          <a:prstGeom prst="roundRect">
            <a:avLst>
              <a:gd name="adj" fmla="val 2500"/>
            </a:avLst>
          </a:prstGeom>
          <a:solidFill>
            <a:srgbClr val="FAF3E3"/>
          </a:solidFill>
          <a:ln w="12700">
            <a:solidFill>
              <a:srgbClr val="CFC4A8"/>
            </a:solidFill>
            <a:prstDash val="dash"/>
          </a:ln>
        </p:spPr>
      </p:sp>
      <p:pic>
        <p:nvPicPr>
          <p:cNvPr id="16" name="Image 3" descr="/home/user/suzuki-ceo/selfcafe-fc-deck/assets/icons/LuImage-muted.png">    </p:cNvPr>
          <p:cNvPicPr>
            <a:picLocks noChangeAspect="1"/>
          </p:cNvPicPr>
          <p:nvPr/>
        </p:nvPicPr>
        <p:blipFill>
          <a:blip r:embed="rId4"/>
          <a:stretch>
            <a:fillRect/>
          </a:stretch>
        </p:blipFill>
        <p:spPr>
          <a:xfrm>
            <a:off x="9531248" y="2450592"/>
            <a:ext cx="526694" cy="526694"/>
          </a:xfrm>
          <a:prstGeom prst="rect">
            <a:avLst/>
          </a:prstGeom>
        </p:spPr>
      </p:pic>
      <p:sp>
        <p:nvSpPr>
          <p:cNvPr id="17" name="Text 11"/>
          <p:cNvSpPr/>
          <p:nvPr/>
        </p:nvSpPr>
        <p:spPr>
          <a:xfrm>
            <a:off x="8155534"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8" name="Text 12"/>
          <p:cNvSpPr/>
          <p:nvPr/>
        </p:nvSpPr>
        <p:spPr>
          <a:xfrm>
            <a:off x="8155534"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名駅西口店（愛知県名古屋市）</a:t>
            </a:r>
            <a:endParaRPr lang="en-US" sz="1000" dirty="0"/>
          </a:p>
        </p:txBody>
      </p:sp>
      <p:sp>
        <p:nvSpPr>
          <p:cNvPr id="19" name="Shape 13"/>
          <p:cNvSpPr/>
          <p:nvPr/>
        </p:nvSpPr>
        <p:spPr>
          <a:xfrm>
            <a:off x="666598" y="4078224"/>
            <a:ext cx="3461004" cy="2194560"/>
          </a:xfrm>
          <a:prstGeom prst="roundRect">
            <a:avLst>
              <a:gd name="adj" fmla="val 2500"/>
            </a:avLst>
          </a:prstGeom>
          <a:solidFill>
            <a:srgbClr val="FAF3E3"/>
          </a:solidFill>
          <a:ln w="12700">
            <a:solidFill>
              <a:srgbClr val="CFC4A8"/>
            </a:solidFill>
            <a:prstDash val="dash"/>
          </a:ln>
        </p:spPr>
      </p:sp>
      <p:pic>
        <p:nvPicPr>
          <p:cNvPr id="20" name="Image 4" descr="/home/user/suzuki-ceo/selfcafe-fc-deck/assets/icons/LuImage-muted.png">    </p:cNvPr>
          <p:cNvPicPr>
            <a:picLocks noChangeAspect="1"/>
          </p:cNvPicPr>
          <p:nvPr/>
        </p:nvPicPr>
        <p:blipFill>
          <a:blip r:embed="rId5"/>
          <a:stretch>
            <a:fillRect/>
          </a:stretch>
        </p:blipFill>
        <p:spPr>
          <a:xfrm>
            <a:off x="2133752" y="4864608"/>
            <a:ext cx="526694" cy="526694"/>
          </a:xfrm>
          <a:prstGeom prst="rect">
            <a:avLst/>
          </a:prstGeom>
        </p:spPr>
      </p:pic>
      <p:sp>
        <p:nvSpPr>
          <p:cNvPr id="21" name="Text 14"/>
          <p:cNvSpPr/>
          <p:nvPr/>
        </p:nvSpPr>
        <p:spPr>
          <a:xfrm>
            <a:off x="758038"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2" name="Text 15"/>
          <p:cNvSpPr/>
          <p:nvPr/>
        </p:nvSpPr>
        <p:spPr>
          <a:xfrm>
            <a:off x="758038"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印西牧の原店（千葉県印西市）</a:t>
            </a:r>
            <a:endParaRPr lang="en-US" sz="1000" dirty="0"/>
          </a:p>
        </p:txBody>
      </p:sp>
      <p:sp>
        <p:nvSpPr>
          <p:cNvPr id="23" name="Shape 16"/>
          <p:cNvSpPr/>
          <p:nvPr/>
        </p:nvSpPr>
        <p:spPr>
          <a:xfrm>
            <a:off x="4365346" y="4078224"/>
            <a:ext cx="3461004" cy="2194560"/>
          </a:xfrm>
          <a:prstGeom prst="roundRect">
            <a:avLst>
              <a:gd name="adj" fmla="val 2500"/>
            </a:avLst>
          </a:prstGeom>
          <a:solidFill>
            <a:srgbClr val="FAF3E3"/>
          </a:solidFill>
          <a:ln w="12700">
            <a:solidFill>
              <a:srgbClr val="CFC4A8"/>
            </a:solidFill>
            <a:prstDash val="dash"/>
          </a:ln>
        </p:spPr>
      </p:sp>
      <p:pic>
        <p:nvPicPr>
          <p:cNvPr id="24" name="Image 5" descr="/home/user/suzuki-ceo/selfcafe-fc-deck/assets/icons/LuImage-muted.png">    </p:cNvPr>
          <p:cNvPicPr>
            <a:picLocks noChangeAspect="1"/>
          </p:cNvPicPr>
          <p:nvPr/>
        </p:nvPicPr>
        <p:blipFill>
          <a:blip r:embed="rId6"/>
          <a:stretch>
            <a:fillRect/>
          </a:stretch>
        </p:blipFill>
        <p:spPr>
          <a:xfrm>
            <a:off x="5832500" y="4864608"/>
            <a:ext cx="526694" cy="526694"/>
          </a:xfrm>
          <a:prstGeom prst="rect">
            <a:avLst/>
          </a:prstGeom>
        </p:spPr>
      </p:pic>
      <p:sp>
        <p:nvSpPr>
          <p:cNvPr id="25" name="Text 17"/>
          <p:cNvSpPr/>
          <p:nvPr/>
        </p:nvSpPr>
        <p:spPr>
          <a:xfrm>
            <a:off x="4456786"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6" name="Text 18"/>
          <p:cNvSpPr/>
          <p:nvPr/>
        </p:nvSpPr>
        <p:spPr>
          <a:xfrm>
            <a:off x="4456786"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栄店（愛知県名古屋市）</a:t>
            </a:r>
            <a:endParaRPr lang="en-US" sz="1000" dirty="0"/>
          </a:p>
        </p:txBody>
      </p:sp>
      <p:sp>
        <p:nvSpPr>
          <p:cNvPr id="27" name="Shape 19"/>
          <p:cNvSpPr/>
          <p:nvPr/>
        </p:nvSpPr>
        <p:spPr>
          <a:xfrm>
            <a:off x="8064094" y="4078224"/>
            <a:ext cx="3461004" cy="2194560"/>
          </a:xfrm>
          <a:prstGeom prst="roundRect">
            <a:avLst>
              <a:gd name="adj" fmla="val 2500"/>
            </a:avLst>
          </a:prstGeom>
          <a:solidFill>
            <a:srgbClr val="FAF3E3"/>
          </a:solidFill>
          <a:ln w="12700">
            <a:solidFill>
              <a:srgbClr val="CFC4A8"/>
            </a:solidFill>
            <a:prstDash val="dash"/>
          </a:ln>
        </p:spPr>
      </p:sp>
      <p:pic>
        <p:nvPicPr>
          <p:cNvPr id="28" name="Image 6" descr="/home/user/suzuki-ceo/selfcafe-fc-deck/assets/icons/LuImage-muted.png">    </p:cNvPr>
          <p:cNvPicPr>
            <a:picLocks noChangeAspect="1"/>
          </p:cNvPicPr>
          <p:nvPr/>
        </p:nvPicPr>
        <p:blipFill>
          <a:blip r:embed="rId7"/>
          <a:stretch>
            <a:fillRect/>
          </a:stretch>
        </p:blipFill>
        <p:spPr>
          <a:xfrm>
            <a:off x="9531248" y="4864608"/>
            <a:ext cx="526694" cy="526694"/>
          </a:xfrm>
          <a:prstGeom prst="rect">
            <a:avLst/>
          </a:prstGeom>
        </p:spPr>
      </p:pic>
      <p:sp>
        <p:nvSpPr>
          <p:cNvPr id="29" name="Text 20"/>
          <p:cNvSpPr/>
          <p:nvPr/>
        </p:nvSpPr>
        <p:spPr>
          <a:xfrm>
            <a:off x="8155534"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30" name="Text 21"/>
          <p:cNvSpPr/>
          <p:nvPr/>
        </p:nvSpPr>
        <p:spPr>
          <a:xfrm>
            <a:off x="8155534"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御器所店（愛知県名古屋市）</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店舗毎の利用状況 ②</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14</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店内カメラで見た実際の様子。平日日中でも席が埋まる店舗が多数あります。</a:t>
            </a:r>
            <a:endParaRPr lang="en-US" sz="1150" dirty="0"/>
          </a:p>
        </p:txBody>
      </p:sp>
      <p:sp>
        <p:nvSpPr>
          <p:cNvPr id="7" name="Shape 4"/>
          <p:cNvSpPr/>
          <p:nvPr/>
        </p:nvSpPr>
        <p:spPr>
          <a:xfrm>
            <a:off x="666598" y="1664208"/>
            <a:ext cx="3461004" cy="2194560"/>
          </a:xfrm>
          <a:prstGeom prst="roundRect">
            <a:avLst>
              <a:gd name="adj" fmla="val 2500"/>
            </a:avLst>
          </a:prstGeom>
          <a:solidFill>
            <a:srgbClr val="FAF3E3"/>
          </a:solidFill>
          <a:ln w="12700">
            <a:solidFill>
              <a:srgbClr val="CFC4A8"/>
            </a:solidFill>
            <a:prstDash val="dash"/>
          </a:ln>
        </p:spPr>
      </p:sp>
      <p:pic>
        <p:nvPicPr>
          <p:cNvPr id="8" name="Image 1" descr="/home/user/suzuki-ceo/selfcafe-fc-deck/assets/icons/LuImage-muted.png">    </p:cNvPr>
          <p:cNvPicPr>
            <a:picLocks noChangeAspect="1"/>
          </p:cNvPicPr>
          <p:nvPr/>
        </p:nvPicPr>
        <p:blipFill>
          <a:blip r:embed="rId2"/>
          <a:stretch>
            <a:fillRect/>
          </a:stretch>
        </p:blipFill>
        <p:spPr>
          <a:xfrm>
            <a:off x="2133752" y="2450592"/>
            <a:ext cx="526694" cy="526694"/>
          </a:xfrm>
          <a:prstGeom prst="rect">
            <a:avLst/>
          </a:prstGeom>
        </p:spPr>
      </p:pic>
      <p:sp>
        <p:nvSpPr>
          <p:cNvPr id="9" name="Text 5"/>
          <p:cNvSpPr/>
          <p:nvPr/>
        </p:nvSpPr>
        <p:spPr>
          <a:xfrm>
            <a:off x="758038"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0" name="Text 6"/>
          <p:cNvSpPr/>
          <p:nvPr/>
        </p:nvSpPr>
        <p:spPr>
          <a:xfrm>
            <a:off x="758038"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盛岡駅前店（岩手県盛岡市）</a:t>
            </a:r>
            <a:endParaRPr lang="en-US" sz="1000" dirty="0"/>
          </a:p>
        </p:txBody>
      </p:sp>
      <p:sp>
        <p:nvSpPr>
          <p:cNvPr id="11" name="Shape 7"/>
          <p:cNvSpPr/>
          <p:nvPr/>
        </p:nvSpPr>
        <p:spPr>
          <a:xfrm>
            <a:off x="4365346" y="1664208"/>
            <a:ext cx="3461004" cy="2194560"/>
          </a:xfrm>
          <a:prstGeom prst="roundRect">
            <a:avLst>
              <a:gd name="adj" fmla="val 2500"/>
            </a:avLst>
          </a:prstGeom>
          <a:solidFill>
            <a:srgbClr val="FAF3E3"/>
          </a:solidFill>
          <a:ln w="12700">
            <a:solidFill>
              <a:srgbClr val="CFC4A8"/>
            </a:solidFill>
            <a:prstDash val="dash"/>
          </a:ln>
        </p:spPr>
      </p:sp>
      <p:pic>
        <p:nvPicPr>
          <p:cNvPr id="12" name="Image 2" descr="/home/user/suzuki-ceo/selfcafe-fc-deck/assets/icons/LuImage-muted.png">    </p:cNvPr>
          <p:cNvPicPr>
            <a:picLocks noChangeAspect="1"/>
          </p:cNvPicPr>
          <p:nvPr/>
        </p:nvPicPr>
        <p:blipFill>
          <a:blip r:embed="rId3"/>
          <a:stretch>
            <a:fillRect/>
          </a:stretch>
        </p:blipFill>
        <p:spPr>
          <a:xfrm>
            <a:off x="5832500" y="2450592"/>
            <a:ext cx="526694" cy="526694"/>
          </a:xfrm>
          <a:prstGeom prst="rect">
            <a:avLst/>
          </a:prstGeom>
        </p:spPr>
      </p:pic>
      <p:sp>
        <p:nvSpPr>
          <p:cNvPr id="13" name="Text 8"/>
          <p:cNvSpPr/>
          <p:nvPr/>
        </p:nvSpPr>
        <p:spPr>
          <a:xfrm>
            <a:off x="4456786"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4" name="Text 9"/>
          <p:cNvSpPr/>
          <p:nvPr/>
        </p:nvSpPr>
        <p:spPr>
          <a:xfrm>
            <a:off x="4456786"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天満店（大阪府大阪市）</a:t>
            </a:r>
            <a:endParaRPr lang="en-US" sz="1000" dirty="0"/>
          </a:p>
        </p:txBody>
      </p:sp>
      <p:sp>
        <p:nvSpPr>
          <p:cNvPr id="15" name="Shape 10"/>
          <p:cNvSpPr/>
          <p:nvPr/>
        </p:nvSpPr>
        <p:spPr>
          <a:xfrm>
            <a:off x="8064094" y="1664208"/>
            <a:ext cx="3461004" cy="2194560"/>
          </a:xfrm>
          <a:prstGeom prst="roundRect">
            <a:avLst>
              <a:gd name="adj" fmla="val 2500"/>
            </a:avLst>
          </a:prstGeom>
          <a:solidFill>
            <a:srgbClr val="FAF3E3"/>
          </a:solidFill>
          <a:ln w="12700">
            <a:solidFill>
              <a:srgbClr val="CFC4A8"/>
            </a:solidFill>
            <a:prstDash val="dash"/>
          </a:ln>
        </p:spPr>
      </p:sp>
      <p:pic>
        <p:nvPicPr>
          <p:cNvPr id="16" name="Image 3" descr="/home/user/suzuki-ceo/selfcafe-fc-deck/assets/icons/LuImage-muted.png">    </p:cNvPr>
          <p:cNvPicPr>
            <a:picLocks noChangeAspect="1"/>
          </p:cNvPicPr>
          <p:nvPr/>
        </p:nvPicPr>
        <p:blipFill>
          <a:blip r:embed="rId4"/>
          <a:stretch>
            <a:fillRect/>
          </a:stretch>
        </p:blipFill>
        <p:spPr>
          <a:xfrm>
            <a:off x="9531248" y="2450592"/>
            <a:ext cx="526694" cy="526694"/>
          </a:xfrm>
          <a:prstGeom prst="rect">
            <a:avLst/>
          </a:prstGeom>
        </p:spPr>
      </p:pic>
      <p:sp>
        <p:nvSpPr>
          <p:cNvPr id="17" name="Text 11"/>
          <p:cNvSpPr/>
          <p:nvPr/>
        </p:nvSpPr>
        <p:spPr>
          <a:xfrm>
            <a:off x="8155534"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8" name="Text 12"/>
          <p:cNvSpPr/>
          <p:nvPr/>
        </p:nvSpPr>
        <p:spPr>
          <a:xfrm>
            <a:off x="8155534"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浜松新橋店（静岡県浜松市）</a:t>
            </a:r>
            <a:endParaRPr lang="en-US" sz="1000" dirty="0"/>
          </a:p>
        </p:txBody>
      </p:sp>
      <p:sp>
        <p:nvSpPr>
          <p:cNvPr id="19" name="Shape 13"/>
          <p:cNvSpPr/>
          <p:nvPr/>
        </p:nvSpPr>
        <p:spPr>
          <a:xfrm>
            <a:off x="666598" y="4078224"/>
            <a:ext cx="3461004" cy="2194560"/>
          </a:xfrm>
          <a:prstGeom prst="roundRect">
            <a:avLst>
              <a:gd name="adj" fmla="val 2500"/>
            </a:avLst>
          </a:prstGeom>
          <a:solidFill>
            <a:srgbClr val="FAF3E3"/>
          </a:solidFill>
          <a:ln w="12700">
            <a:solidFill>
              <a:srgbClr val="CFC4A8"/>
            </a:solidFill>
            <a:prstDash val="dash"/>
          </a:ln>
        </p:spPr>
      </p:sp>
      <p:pic>
        <p:nvPicPr>
          <p:cNvPr id="20" name="Image 4" descr="/home/user/suzuki-ceo/selfcafe-fc-deck/assets/icons/LuImage-muted.png">    </p:cNvPr>
          <p:cNvPicPr>
            <a:picLocks noChangeAspect="1"/>
          </p:cNvPicPr>
          <p:nvPr/>
        </p:nvPicPr>
        <p:blipFill>
          <a:blip r:embed="rId5"/>
          <a:stretch>
            <a:fillRect/>
          </a:stretch>
        </p:blipFill>
        <p:spPr>
          <a:xfrm>
            <a:off x="2133752" y="4864608"/>
            <a:ext cx="526694" cy="526694"/>
          </a:xfrm>
          <a:prstGeom prst="rect">
            <a:avLst/>
          </a:prstGeom>
        </p:spPr>
      </p:pic>
      <p:sp>
        <p:nvSpPr>
          <p:cNvPr id="21" name="Text 14"/>
          <p:cNvSpPr/>
          <p:nvPr/>
        </p:nvSpPr>
        <p:spPr>
          <a:xfrm>
            <a:off x="758038"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2" name="Text 15"/>
          <p:cNvSpPr/>
          <p:nvPr/>
        </p:nvSpPr>
        <p:spPr>
          <a:xfrm>
            <a:off x="758038"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谷町九丁目店（大阪府大阪市）</a:t>
            </a:r>
            <a:endParaRPr lang="en-US" sz="1000" dirty="0"/>
          </a:p>
        </p:txBody>
      </p:sp>
      <p:sp>
        <p:nvSpPr>
          <p:cNvPr id="23" name="Shape 16"/>
          <p:cNvSpPr/>
          <p:nvPr/>
        </p:nvSpPr>
        <p:spPr>
          <a:xfrm>
            <a:off x="4365346" y="4078224"/>
            <a:ext cx="3461004" cy="2194560"/>
          </a:xfrm>
          <a:prstGeom prst="roundRect">
            <a:avLst>
              <a:gd name="adj" fmla="val 2500"/>
            </a:avLst>
          </a:prstGeom>
          <a:solidFill>
            <a:srgbClr val="FAF3E3"/>
          </a:solidFill>
          <a:ln w="12700">
            <a:solidFill>
              <a:srgbClr val="CFC4A8"/>
            </a:solidFill>
            <a:prstDash val="dash"/>
          </a:ln>
        </p:spPr>
      </p:sp>
      <p:pic>
        <p:nvPicPr>
          <p:cNvPr id="24" name="Image 5" descr="/home/user/suzuki-ceo/selfcafe-fc-deck/assets/icons/LuImage-muted.png">    </p:cNvPr>
          <p:cNvPicPr>
            <a:picLocks noChangeAspect="1"/>
          </p:cNvPicPr>
          <p:nvPr/>
        </p:nvPicPr>
        <p:blipFill>
          <a:blip r:embed="rId6"/>
          <a:stretch>
            <a:fillRect/>
          </a:stretch>
        </p:blipFill>
        <p:spPr>
          <a:xfrm>
            <a:off x="5832500" y="4864608"/>
            <a:ext cx="526694" cy="526694"/>
          </a:xfrm>
          <a:prstGeom prst="rect">
            <a:avLst/>
          </a:prstGeom>
        </p:spPr>
      </p:pic>
      <p:sp>
        <p:nvSpPr>
          <p:cNvPr id="25" name="Text 17"/>
          <p:cNvSpPr/>
          <p:nvPr/>
        </p:nvSpPr>
        <p:spPr>
          <a:xfrm>
            <a:off x="4456786"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6" name="Text 18"/>
          <p:cNvSpPr/>
          <p:nvPr/>
        </p:nvSpPr>
        <p:spPr>
          <a:xfrm>
            <a:off x="4456786"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相川駅前店（大阪府大阪市）</a:t>
            </a:r>
            <a:endParaRPr lang="en-US" sz="1000" dirty="0"/>
          </a:p>
        </p:txBody>
      </p:sp>
      <p:sp>
        <p:nvSpPr>
          <p:cNvPr id="27" name="Shape 19"/>
          <p:cNvSpPr/>
          <p:nvPr/>
        </p:nvSpPr>
        <p:spPr>
          <a:xfrm>
            <a:off x="8064094" y="4078224"/>
            <a:ext cx="3461004" cy="2194560"/>
          </a:xfrm>
          <a:prstGeom prst="roundRect">
            <a:avLst>
              <a:gd name="adj" fmla="val 2500"/>
            </a:avLst>
          </a:prstGeom>
          <a:solidFill>
            <a:srgbClr val="FAF3E3"/>
          </a:solidFill>
          <a:ln w="12700">
            <a:solidFill>
              <a:srgbClr val="CFC4A8"/>
            </a:solidFill>
            <a:prstDash val="dash"/>
          </a:ln>
        </p:spPr>
      </p:sp>
      <p:pic>
        <p:nvPicPr>
          <p:cNvPr id="28" name="Image 6" descr="/home/user/suzuki-ceo/selfcafe-fc-deck/assets/icons/LuImage-muted.png">    </p:cNvPr>
          <p:cNvPicPr>
            <a:picLocks noChangeAspect="1"/>
          </p:cNvPicPr>
          <p:nvPr/>
        </p:nvPicPr>
        <p:blipFill>
          <a:blip r:embed="rId7"/>
          <a:stretch>
            <a:fillRect/>
          </a:stretch>
        </p:blipFill>
        <p:spPr>
          <a:xfrm>
            <a:off x="9531248" y="4864608"/>
            <a:ext cx="526694" cy="526694"/>
          </a:xfrm>
          <a:prstGeom prst="rect">
            <a:avLst/>
          </a:prstGeom>
        </p:spPr>
      </p:pic>
      <p:sp>
        <p:nvSpPr>
          <p:cNvPr id="29" name="Text 20"/>
          <p:cNvSpPr/>
          <p:nvPr/>
        </p:nvSpPr>
        <p:spPr>
          <a:xfrm>
            <a:off x="8155534"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30" name="Text 21"/>
          <p:cNvSpPr/>
          <p:nvPr/>
        </p:nvSpPr>
        <p:spPr>
          <a:xfrm>
            <a:off x="8155534"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あべの南店（大阪府大阪市）</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比較表：いいところ取りのビジネスモデル</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15</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カフェの「気軽さ」とオフィスの「機能」を融合させた唯一無二のポジション</a:t>
            </a:r>
            <a:endParaRPr lang="en-US" sz="1150" dirty="0"/>
          </a:p>
        </p:txBody>
      </p:sp>
      <p:sp>
        <p:nvSpPr>
          <p:cNvPr id="7" name="Shape 4"/>
          <p:cNvSpPr/>
          <p:nvPr/>
        </p:nvSpPr>
        <p:spPr>
          <a:xfrm>
            <a:off x="2797150" y="1554480"/>
            <a:ext cx="3282696" cy="4151376"/>
          </a:xfrm>
          <a:prstGeom prst="roundRect">
            <a:avLst>
              <a:gd name="adj" fmla="val 1950"/>
            </a:avLst>
          </a:prstGeom>
          <a:solidFill>
            <a:srgbClr val="F0F5EF"/>
          </a:solidFill>
          <a:ln/>
        </p:spPr>
      </p:sp>
      <p:pic>
        <p:nvPicPr>
          <p:cNvPr id="8" name="Image 1" descr="/home/user/suzuki-ceo/selfcafe-fc-deck/assets/icons/LuBadgeCheck-green.png">    </p:cNvPr>
          <p:cNvPicPr>
            <a:picLocks noChangeAspect="1"/>
          </p:cNvPicPr>
          <p:nvPr/>
        </p:nvPicPr>
        <p:blipFill>
          <a:blip r:embed="rId2"/>
          <a:stretch>
            <a:fillRect/>
          </a:stretch>
        </p:blipFill>
        <p:spPr>
          <a:xfrm>
            <a:off x="2961742" y="1572768"/>
            <a:ext cx="219456" cy="219456"/>
          </a:xfrm>
          <a:prstGeom prst="rect">
            <a:avLst/>
          </a:prstGeom>
        </p:spPr>
      </p:pic>
      <p:sp>
        <p:nvSpPr>
          <p:cNvPr id="9" name="Text 5"/>
          <p:cNvSpPr/>
          <p:nvPr/>
        </p:nvSpPr>
        <p:spPr>
          <a:xfrm>
            <a:off x="3236062" y="1554480"/>
            <a:ext cx="2697480" cy="256032"/>
          </a:xfrm>
          <a:prstGeom prst="rect">
            <a:avLst/>
          </a:prstGeom>
          <a:noFill/>
          <a:ln/>
        </p:spPr>
        <p:txBody>
          <a:bodyPr wrap="square" lIns="0" tIns="0" rIns="0" bIns="0" rtlCol="0" anchor="ctr"/>
          <a:lstStyle/>
          <a:p>
            <a:pPr indent="0" marL="0">
              <a:buNone/>
            </a:pPr>
            <a:r>
              <a:rPr lang="en-US" sz="1050" b="1" dirty="0">
                <a:solidFill>
                  <a:srgbClr val="2E7D32"/>
                </a:solidFill>
                <a:latin typeface="Noto Sans JP" pitchFamily="34" charset="0"/>
                <a:ea typeface="Noto Sans JP" pitchFamily="34" charset="-122"/>
                <a:cs typeface="Noto Sans JP" pitchFamily="34" charset="-120"/>
              </a:rPr>
              <a:t>いいところ取りのポジション</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6598" y="1847088"/>
          <a:ext cx="10858500" cy="914400"/>
        </p:xfrm>
        <a:graphic>
          <a:graphicData uri="http://schemas.openxmlformats.org/drawingml/2006/table">
            <a:tbl>
              <a:tblPr/>
              <a:tblGrid>
                <a:gridCol w="2148840"/>
                <a:gridCol w="3246120"/>
                <a:gridCol w="2724912"/>
                <a:gridCol w="2715768"/>
              </a:tblGrid>
              <a:tr h="475488">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比較項目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セルフカフェ</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コワーキング</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シェアオフィス</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利用の手軽さ</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pPr indent="0" marL="0">
                        <a:buNone/>
                      </a:pPr>
                      <a:r>
                        <a:rPr lang="en-US" sz="1100" b="1" dirty="0">
                          <a:solidFill>
                            <a:srgbClr val="1B5E20"/>
                          </a:solidFill>
                          <a:latin typeface="Noto Sans JP" pitchFamily="34" charset="0"/>
                          <a:ea typeface="Noto Sans JP" pitchFamily="34" charset="-122"/>
                          <a:cs typeface="Noto Sans JP" pitchFamily="34" charset="-120"/>
                        </a:rPr>
                        <a:t>予約不要・1杯〜</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登録や予約が必要</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法人契約がメイン</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空間の雰囲気</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pPr indent="0" marL="0">
                        <a:buNone/>
                      </a:pPr>
                      <a:r>
                        <a:rPr lang="en-US" sz="1100" b="1" dirty="0">
                          <a:solidFill>
                            <a:srgbClr val="1B5E20"/>
                          </a:solidFill>
                          <a:latin typeface="Noto Sans JP" pitchFamily="34" charset="0"/>
                          <a:ea typeface="Noto Sans JP" pitchFamily="34" charset="-122"/>
                          <a:cs typeface="Noto Sans JP" pitchFamily="34" charset="-120"/>
                        </a:rPr>
                        <a:t>適度な賑わい</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静かすぎて緊張する</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閉鎖的な個室中心</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ドリンクの質</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pPr indent="0" marL="0">
                        <a:buNone/>
                      </a:pPr>
                      <a:r>
                        <a:rPr lang="en-US" sz="1100" b="1" dirty="0">
                          <a:solidFill>
                            <a:srgbClr val="1B5E20"/>
                          </a:solidFill>
                          <a:latin typeface="Noto Sans JP" pitchFamily="34" charset="0"/>
                          <a:ea typeface="Noto Sans JP" pitchFamily="34" charset="-122"/>
                          <a:cs typeface="Noto Sans JP" pitchFamily="34" charset="-120"/>
                        </a:rPr>
                        <a:t>本格コーヒー</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サーバーが中心</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持ち込みが基本</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運営人員</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pPr indent="0" marL="0">
                        <a:buNone/>
                      </a:pPr>
                      <a:r>
                        <a:rPr lang="en-US" sz="1100" b="1" dirty="0">
                          <a:solidFill>
                            <a:srgbClr val="1B5E20"/>
                          </a:solidFill>
                          <a:latin typeface="Noto Sans JP" pitchFamily="34" charset="0"/>
                          <a:ea typeface="Noto Sans JP" pitchFamily="34" charset="-122"/>
                          <a:cs typeface="Noto Sans JP" pitchFamily="34" charset="-120"/>
                        </a:rPr>
                        <a:t>完全無人</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スタッフ常駐</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管理人が必要</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導入コスト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pPr indent="0" marL="0">
                        <a:buNone/>
                      </a:pPr>
                      <a:r>
                        <a:rPr lang="en-US" sz="1100" b="1" dirty="0">
                          <a:solidFill>
                            <a:srgbClr val="1B5E20"/>
                          </a:solidFill>
                          <a:latin typeface="Noto Sans JP" pitchFamily="34" charset="0"/>
                          <a:ea typeface="Noto Sans JP" pitchFamily="34" charset="-122"/>
                          <a:cs typeface="Noto Sans JP" pitchFamily="34" charset="-120"/>
                        </a:rPr>
                        <a:t>低投資パッケージ</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高額な内装・設備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莫大な建築コスト</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
        <p:nvSpPr>
          <p:cNvPr id="11" name="Text 6"/>
          <p:cNvSpPr/>
          <p:nvPr/>
        </p:nvSpPr>
        <p:spPr>
          <a:xfrm>
            <a:off x="666598" y="6016752"/>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※コワーキング／シェアオフィスの評価は、一般的なサービス形態を想定した当社比較です。</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独自の無人開閉店システム</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16</a:t>
            </a:r>
            <a:endParaRPr lang="en-US" sz="1300" dirty="0"/>
          </a:p>
        </p:txBody>
      </p:sp>
      <p:sp>
        <p:nvSpPr>
          <p:cNvPr id="6" name="Shape 3"/>
          <p:cNvSpPr/>
          <p:nvPr/>
        </p:nvSpPr>
        <p:spPr>
          <a:xfrm>
            <a:off x="666598" y="1371600"/>
            <a:ext cx="5074920" cy="4846320"/>
          </a:xfrm>
          <a:prstGeom prst="roundRect">
            <a:avLst>
              <a:gd name="adj" fmla="val 1698"/>
            </a:avLst>
          </a:prstGeom>
          <a:solidFill>
            <a:srgbClr val="12401A"/>
          </a:solidFill>
          <a:ln/>
          <a:effectLst>
            <a:outerShdw sx="100000" sy="100000" kx="0" ky="0" algn="bl" rotWithShape="0" blurRad="114300" dist="17780" dir="5400000">
              <a:srgbClr val="6B6250">
                <a:alpha val="14000"/>
              </a:srgbClr>
            </a:outerShdw>
          </a:effectLst>
        </p:spPr>
      </p:sp>
      <p:pic>
        <p:nvPicPr>
          <p:cNvPr id="7" name="Image 1" descr="/home/user/suzuki-ceo/selfcafe-fc-deck/assets/icons/LuKeyRound-white.png">    </p:cNvPr>
          <p:cNvPicPr>
            <a:picLocks noChangeAspect="1"/>
          </p:cNvPicPr>
          <p:nvPr/>
        </p:nvPicPr>
        <p:blipFill>
          <a:blip r:embed="rId2"/>
          <a:stretch>
            <a:fillRect/>
          </a:stretch>
        </p:blipFill>
        <p:spPr>
          <a:xfrm>
            <a:off x="1087222" y="1682496"/>
            <a:ext cx="384048" cy="384048"/>
          </a:xfrm>
          <a:prstGeom prst="rect">
            <a:avLst/>
          </a:prstGeom>
        </p:spPr>
      </p:pic>
      <p:sp>
        <p:nvSpPr>
          <p:cNvPr id="8" name="Text 4"/>
          <p:cNvSpPr/>
          <p:nvPr/>
        </p:nvSpPr>
        <p:spPr>
          <a:xfrm>
            <a:off x="1087222" y="2194560"/>
            <a:ext cx="4233672" cy="914400"/>
          </a:xfrm>
          <a:prstGeom prst="rect">
            <a:avLst/>
          </a:prstGeom>
          <a:noFill/>
          <a:ln/>
        </p:spPr>
        <p:txBody>
          <a:bodyPr wrap="square" lIns="0" tIns="0" rIns="0" bIns="0" rtlCol="0" anchor="t"/>
          <a:lstStyle/>
          <a:p>
            <a:pPr indent="0" marL="0">
              <a:lnSpc>
                <a:spcPct val="124000"/>
              </a:lnSpc>
              <a:buNone/>
            </a:pPr>
            <a:r>
              <a:rPr lang="en-US" sz="2400" b="1" dirty="0">
                <a:solidFill>
                  <a:srgbClr val="FFFFFF"/>
                </a:solidFill>
                <a:latin typeface="Noto Sans JP" pitchFamily="34" charset="0"/>
                <a:ea typeface="Noto Sans JP" pitchFamily="34" charset="-122"/>
                <a:cs typeface="Noto Sans JP" pitchFamily="34" charset="-120"/>
              </a:rPr>
              <a:t>警備会社と連携した</a:t>
            </a:r>
            <a:endParaRPr lang="en-US" sz="2400" dirty="0"/>
          </a:p>
          <a:p>
            <a:pPr indent="0" marL="0">
              <a:lnSpc>
                <a:spcPct val="124000"/>
              </a:lnSpc>
              <a:buNone/>
            </a:pPr>
            <a:r>
              <a:rPr lang="en-US" sz="2400" b="1" dirty="0">
                <a:solidFill>
                  <a:srgbClr val="FFFFFF"/>
                </a:solidFill>
                <a:latin typeface="Noto Sans JP" pitchFamily="34" charset="0"/>
                <a:ea typeface="Noto Sans JP" pitchFamily="34" charset="-122"/>
                <a:cs typeface="Noto Sans JP" pitchFamily="34" charset="-120"/>
              </a:rPr>
              <a:t>安心の自動化</a:t>
            </a:r>
            <a:endParaRPr lang="en-US" sz="2400" dirty="0"/>
          </a:p>
        </p:txBody>
      </p:sp>
      <p:sp>
        <p:nvSpPr>
          <p:cNvPr id="9" name="Text 5"/>
          <p:cNvSpPr/>
          <p:nvPr/>
        </p:nvSpPr>
        <p:spPr>
          <a:xfrm>
            <a:off x="1087222" y="3255264"/>
            <a:ext cx="4233672" cy="932688"/>
          </a:xfrm>
          <a:prstGeom prst="rect">
            <a:avLst/>
          </a:prstGeom>
          <a:noFill/>
          <a:ln/>
        </p:spPr>
        <p:txBody>
          <a:bodyPr wrap="square" lIns="0" tIns="0" rIns="0" bIns="0" rtlCol="0" anchor="t"/>
          <a:lstStyle/>
          <a:p>
            <a:pPr indent="0" marL="0">
              <a:lnSpc>
                <a:spcPct val="140000"/>
              </a:lnSpc>
              <a:buNone/>
            </a:pPr>
            <a:r>
              <a:rPr lang="en-US" sz="1150" dirty="0">
                <a:solidFill>
                  <a:srgbClr val="A9C6AC"/>
                </a:solidFill>
                <a:latin typeface="Noto Sans JP" pitchFamily="34" charset="0"/>
                <a:ea typeface="Noto Sans JP" pitchFamily="34" charset="-122"/>
                <a:cs typeface="Noto Sans JP" pitchFamily="34" charset="-120"/>
              </a:rPr>
              <a:t>独自のスマートロックシステムにより、店舗開錠／施錠を遠隔で完全自動化。オーナー様は現地に足を運ぶこと無く、営業時間を管理できます。</a:t>
            </a:r>
            <a:endParaRPr lang="en-US" sz="1150" dirty="0"/>
          </a:p>
        </p:txBody>
      </p:sp>
      <p:pic>
        <p:nvPicPr>
          <p:cNvPr id="10" name="Image 2" descr="/home/user/suzuki-ceo/selfcafe-fc-deck/assets/icons/LuCheck-white.png">    </p:cNvPr>
          <p:cNvPicPr>
            <a:picLocks noChangeAspect="1"/>
          </p:cNvPicPr>
          <p:nvPr/>
        </p:nvPicPr>
        <p:blipFill>
          <a:blip r:embed="rId3"/>
          <a:stretch>
            <a:fillRect/>
          </a:stretch>
        </p:blipFill>
        <p:spPr>
          <a:xfrm>
            <a:off x="1087222" y="4407408"/>
            <a:ext cx="201168" cy="201168"/>
          </a:xfrm>
          <a:prstGeom prst="rect">
            <a:avLst/>
          </a:prstGeom>
        </p:spPr>
      </p:pic>
      <p:sp>
        <p:nvSpPr>
          <p:cNvPr id="11" name="Text 6"/>
          <p:cNvSpPr/>
          <p:nvPr/>
        </p:nvSpPr>
        <p:spPr>
          <a:xfrm>
            <a:off x="1398118" y="4352544"/>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任意の営業時間を分単位でコントロール</a:t>
            </a:r>
            <a:endParaRPr lang="en-US" sz="1200" dirty="0"/>
          </a:p>
        </p:txBody>
      </p:sp>
      <p:pic>
        <p:nvPicPr>
          <p:cNvPr id="12" name="Image 3" descr="/home/user/suzuki-ceo/selfcafe-fc-deck/assets/icons/LuCheck-white.png">    </p:cNvPr>
          <p:cNvPicPr>
            <a:picLocks noChangeAspect="1"/>
          </p:cNvPicPr>
          <p:nvPr/>
        </p:nvPicPr>
        <p:blipFill>
          <a:blip r:embed="rId4"/>
          <a:stretch>
            <a:fillRect/>
          </a:stretch>
        </p:blipFill>
        <p:spPr>
          <a:xfrm>
            <a:off x="1087222" y="4882896"/>
            <a:ext cx="201168" cy="201168"/>
          </a:xfrm>
          <a:prstGeom prst="rect">
            <a:avLst/>
          </a:prstGeom>
        </p:spPr>
      </p:pic>
      <p:sp>
        <p:nvSpPr>
          <p:cNvPr id="13" name="Text 7"/>
          <p:cNvSpPr/>
          <p:nvPr/>
        </p:nvSpPr>
        <p:spPr>
          <a:xfrm>
            <a:off x="1398118" y="4828032"/>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不審者の侵入を防ぐセキュリティと連携</a:t>
            </a:r>
            <a:endParaRPr lang="en-US" sz="1200" dirty="0"/>
          </a:p>
        </p:txBody>
      </p:sp>
      <p:pic>
        <p:nvPicPr>
          <p:cNvPr id="14" name="Image 4" descr="/home/user/suzuki-ceo/selfcafe-fc-deck/assets/icons/LuCheck-white.png">    </p:cNvPr>
          <p:cNvPicPr>
            <a:picLocks noChangeAspect="1"/>
          </p:cNvPicPr>
          <p:nvPr/>
        </p:nvPicPr>
        <p:blipFill>
          <a:blip r:embed="rId5"/>
          <a:stretch>
            <a:fillRect/>
          </a:stretch>
        </p:blipFill>
        <p:spPr>
          <a:xfrm>
            <a:off x="1087222" y="5358384"/>
            <a:ext cx="201168" cy="201168"/>
          </a:xfrm>
          <a:prstGeom prst="rect">
            <a:avLst/>
          </a:prstGeom>
        </p:spPr>
      </p:pic>
      <p:sp>
        <p:nvSpPr>
          <p:cNvPr id="15" name="Text 8"/>
          <p:cNvSpPr/>
          <p:nvPr/>
        </p:nvSpPr>
        <p:spPr>
          <a:xfrm>
            <a:off x="1398118" y="5303520"/>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無人ならではの24時間営業も容易</a:t>
            </a:r>
            <a:endParaRPr lang="en-US" sz="1200" dirty="0"/>
          </a:p>
        </p:txBody>
      </p:sp>
      <p:sp>
        <p:nvSpPr>
          <p:cNvPr id="16" name="Shape 9"/>
          <p:cNvSpPr/>
          <p:nvPr/>
        </p:nvSpPr>
        <p:spPr>
          <a:xfrm>
            <a:off x="6034126" y="1371600"/>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0"/>
          <p:cNvSpPr/>
          <p:nvPr/>
        </p:nvSpPr>
        <p:spPr>
          <a:xfrm>
            <a:off x="6271870" y="1609344"/>
            <a:ext cx="548640" cy="548640"/>
          </a:xfrm>
          <a:prstGeom prst="ellipse">
            <a:avLst/>
          </a:prstGeom>
          <a:solidFill>
            <a:srgbClr val="F0F5EF"/>
          </a:solidFill>
          <a:ln/>
        </p:spPr>
      </p:sp>
      <p:pic>
        <p:nvPicPr>
          <p:cNvPr id="18" name="Image 5" descr="/home/user/suzuki-ceo/selfcafe-fc-deck/assets/icons/LuBellRing-green.png">    </p:cNvPr>
          <p:cNvPicPr>
            <a:picLocks noChangeAspect="1"/>
          </p:cNvPicPr>
          <p:nvPr/>
        </p:nvPicPr>
        <p:blipFill>
          <a:blip r:embed="rId6"/>
          <a:stretch>
            <a:fillRect/>
          </a:stretch>
        </p:blipFill>
        <p:spPr>
          <a:xfrm>
            <a:off x="6392570" y="1730045"/>
            <a:ext cx="307238" cy="307238"/>
          </a:xfrm>
          <a:prstGeom prst="rect">
            <a:avLst/>
          </a:prstGeom>
        </p:spPr>
      </p:pic>
      <p:sp>
        <p:nvSpPr>
          <p:cNvPr id="19" name="Text 11"/>
          <p:cNvSpPr/>
          <p:nvPr/>
        </p:nvSpPr>
        <p:spPr>
          <a:xfrm>
            <a:off x="6271870" y="2231136"/>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非常ボタン</a:t>
            </a:r>
            <a:endParaRPr lang="en-US" sz="1400" dirty="0"/>
          </a:p>
        </p:txBody>
      </p:sp>
      <p:sp>
        <p:nvSpPr>
          <p:cNvPr id="20" name="Text 12"/>
          <p:cNvSpPr/>
          <p:nvPr/>
        </p:nvSpPr>
        <p:spPr>
          <a:xfrm>
            <a:off x="6271870" y="2578608"/>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非常・緊急時に押すと、警備員が駆け付けます。</a:t>
            </a:r>
            <a:endParaRPr lang="en-US" sz="1050" dirty="0"/>
          </a:p>
        </p:txBody>
      </p:sp>
      <p:sp>
        <p:nvSpPr>
          <p:cNvPr id="21" name="Shape 13"/>
          <p:cNvSpPr/>
          <p:nvPr/>
        </p:nvSpPr>
        <p:spPr>
          <a:xfrm>
            <a:off x="8898484" y="1371600"/>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Shape 14"/>
          <p:cNvSpPr/>
          <p:nvPr/>
        </p:nvSpPr>
        <p:spPr>
          <a:xfrm>
            <a:off x="9136228" y="1609344"/>
            <a:ext cx="548640" cy="548640"/>
          </a:xfrm>
          <a:prstGeom prst="ellipse">
            <a:avLst/>
          </a:prstGeom>
          <a:solidFill>
            <a:srgbClr val="F0F5EF"/>
          </a:solidFill>
          <a:ln/>
        </p:spPr>
      </p:sp>
      <p:pic>
        <p:nvPicPr>
          <p:cNvPr id="23" name="Image 6" descr="/home/user/suzuki-ceo/selfcafe-fc-deck/assets/icons/LuCctv-green.png">    </p:cNvPr>
          <p:cNvPicPr>
            <a:picLocks noChangeAspect="1"/>
          </p:cNvPicPr>
          <p:nvPr/>
        </p:nvPicPr>
        <p:blipFill>
          <a:blip r:embed="rId7"/>
          <a:stretch>
            <a:fillRect/>
          </a:stretch>
        </p:blipFill>
        <p:spPr>
          <a:xfrm>
            <a:off x="9256928" y="1730045"/>
            <a:ext cx="307238" cy="307238"/>
          </a:xfrm>
          <a:prstGeom prst="rect">
            <a:avLst/>
          </a:prstGeom>
        </p:spPr>
      </p:pic>
      <p:sp>
        <p:nvSpPr>
          <p:cNvPr id="24" name="Text 15"/>
          <p:cNvSpPr/>
          <p:nvPr/>
        </p:nvSpPr>
        <p:spPr>
          <a:xfrm>
            <a:off x="9136228" y="2231136"/>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画像センサー</a:t>
            </a:r>
            <a:endParaRPr lang="en-US" sz="1400" dirty="0"/>
          </a:p>
        </p:txBody>
      </p:sp>
      <p:sp>
        <p:nvSpPr>
          <p:cNvPr id="25" name="Text 16"/>
          <p:cNvSpPr/>
          <p:nvPr/>
        </p:nvSpPr>
        <p:spPr>
          <a:xfrm>
            <a:off x="9136228" y="2578608"/>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非常時の映像を監視センターへ送信。スピーカーで威嚇可能。閉店後は侵入者を感知して通報します。</a:t>
            </a:r>
            <a:endParaRPr lang="en-US" sz="1050" dirty="0"/>
          </a:p>
        </p:txBody>
      </p:sp>
      <p:sp>
        <p:nvSpPr>
          <p:cNvPr id="26" name="Shape 17"/>
          <p:cNvSpPr/>
          <p:nvPr/>
        </p:nvSpPr>
        <p:spPr>
          <a:xfrm>
            <a:off x="6034126" y="3904488"/>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7" name="Shape 18"/>
          <p:cNvSpPr/>
          <p:nvPr/>
        </p:nvSpPr>
        <p:spPr>
          <a:xfrm>
            <a:off x="6271870" y="4142232"/>
            <a:ext cx="548640" cy="548640"/>
          </a:xfrm>
          <a:prstGeom prst="ellipse">
            <a:avLst/>
          </a:prstGeom>
          <a:solidFill>
            <a:srgbClr val="F0F5EF"/>
          </a:solidFill>
          <a:ln/>
        </p:spPr>
      </p:sp>
      <p:pic>
        <p:nvPicPr>
          <p:cNvPr id="28" name="Image 7" descr="/home/user/suzuki-ceo/selfcafe-fc-deck/assets/icons/LuFlame-green.png">    </p:cNvPr>
          <p:cNvPicPr>
            <a:picLocks noChangeAspect="1"/>
          </p:cNvPicPr>
          <p:nvPr/>
        </p:nvPicPr>
        <p:blipFill>
          <a:blip r:embed="rId8"/>
          <a:stretch>
            <a:fillRect/>
          </a:stretch>
        </p:blipFill>
        <p:spPr>
          <a:xfrm>
            <a:off x="6392570" y="4262933"/>
            <a:ext cx="307238" cy="307238"/>
          </a:xfrm>
          <a:prstGeom prst="rect">
            <a:avLst/>
          </a:prstGeom>
        </p:spPr>
      </p:pic>
      <p:sp>
        <p:nvSpPr>
          <p:cNvPr id="29" name="Text 19"/>
          <p:cNvSpPr/>
          <p:nvPr/>
        </p:nvSpPr>
        <p:spPr>
          <a:xfrm>
            <a:off x="6271870" y="4764024"/>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火災センサー</a:t>
            </a:r>
            <a:endParaRPr lang="en-US" sz="1400" dirty="0"/>
          </a:p>
        </p:txBody>
      </p:sp>
      <p:sp>
        <p:nvSpPr>
          <p:cNvPr id="30" name="Text 20"/>
          <p:cNvSpPr/>
          <p:nvPr/>
        </p:nvSpPr>
        <p:spPr>
          <a:xfrm>
            <a:off x="6271870" y="5111496"/>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火災の発生を感知して、警備員が駆け付けます。</a:t>
            </a:r>
            <a:endParaRPr lang="en-US" sz="1050" dirty="0"/>
          </a:p>
        </p:txBody>
      </p:sp>
      <p:sp>
        <p:nvSpPr>
          <p:cNvPr id="31" name="Shape 21"/>
          <p:cNvSpPr/>
          <p:nvPr/>
        </p:nvSpPr>
        <p:spPr>
          <a:xfrm>
            <a:off x="8898484" y="3904488"/>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2" name="Shape 22"/>
          <p:cNvSpPr/>
          <p:nvPr/>
        </p:nvSpPr>
        <p:spPr>
          <a:xfrm>
            <a:off x="9136228" y="4142232"/>
            <a:ext cx="548640" cy="548640"/>
          </a:xfrm>
          <a:prstGeom prst="ellipse">
            <a:avLst/>
          </a:prstGeom>
          <a:solidFill>
            <a:srgbClr val="F0F5EF"/>
          </a:solidFill>
          <a:ln/>
        </p:spPr>
      </p:sp>
      <p:pic>
        <p:nvPicPr>
          <p:cNvPr id="33" name="Image 8" descr="/home/user/suzuki-ceo/selfcafe-fc-deck/assets/icons/LuKeyRound-green.png">    </p:cNvPr>
          <p:cNvPicPr>
            <a:picLocks noChangeAspect="1"/>
          </p:cNvPicPr>
          <p:nvPr/>
        </p:nvPicPr>
        <p:blipFill>
          <a:blip r:embed="rId9"/>
          <a:stretch>
            <a:fillRect/>
          </a:stretch>
        </p:blipFill>
        <p:spPr>
          <a:xfrm>
            <a:off x="9256928" y="4262933"/>
            <a:ext cx="307238" cy="307238"/>
          </a:xfrm>
          <a:prstGeom prst="rect">
            <a:avLst/>
          </a:prstGeom>
        </p:spPr>
      </p:pic>
      <p:sp>
        <p:nvSpPr>
          <p:cNvPr id="34" name="Text 23"/>
          <p:cNvSpPr/>
          <p:nvPr/>
        </p:nvSpPr>
        <p:spPr>
          <a:xfrm>
            <a:off x="9136228" y="4764024"/>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出入口の管理</a:t>
            </a:r>
            <a:endParaRPr lang="en-US" sz="1400" dirty="0"/>
          </a:p>
        </p:txBody>
      </p:sp>
      <p:sp>
        <p:nvSpPr>
          <p:cNvPr id="35" name="Text 24"/>
          <p:cNvSpPr/>
          <p:nvPr/>
        </p:nvSpPr>
        <p:spPr>
          <a:xfrm>
            <a:off x="9136228" y="5111496"/>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電気錠・電磁錠や自動ドアと連携し、閉店／開店時間に自動施錠・開錠。閉店時は自動で侵入警戒をセットします。</a:t>
            </a:r>
            <a:endParaRPr lang="en-US" sz="1050" dirty="0"/>
          </a:p>
        </p:txBody>
      </p:sp>
      <p:sp>
        <p:nvSpPr>
          <p:cNvPr id="36" name="Text 25"/>
          <p:cNvSpPr/>
          <p:nvPr/>
        </p:nvSpPr>
        <p:spPr>
          <a:xfrm>
            <a:off x="666598" y="6327648"/>
            <a:ext cx="73152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※警備会社は環境により異なる場合がございます。</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店内モニタリング＆サポート基盤</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17</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緊急時に強い、安心のサポート</a:t>
            </a:r>
            <a:endParaRPr lang="en-US" sz="1150" dirty="0"/>
          </a:p>
        </p:txBody>
      </p:sp>
      <p:sp>
        <p:nvSpPr>
          <p:cNvPr id="7" name="Shape 4"/>
          <p:cNvSpPr/>
          <p:nvPr/>
        </p:nvSpPr>
        <p:spPr>
          <a:xfrm>
            <a:off x="666598"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04342" y="1865376"/>
            <a:ext cx="566928" cy="566928"/>
          </a:xfrm>
          <a:prstGeom prst="ellipse">
            <a:avLst/>
          </a:prstGeom>
          <a:solidFill>
            <a:srgbClr val="F0F5EF"/>
          </a:solidFill>
          <a:ln/>
        </p:spPr>
      </p:sp>
      <p:pic>
        <p:nvPicPr>
          <p:cNvPr id="9" name="Image 1" descr="/home/user/suzuki-ceo/selfcafe-fc-deck/assets/icons/LuBellRing-green.png">    </p:cNvPr>
          <p:cNvPicPr>
            <a:picLocks noChangeAspect="1"/>
          </p:cNvPicPr>
          <p:nvPr/>
        </p:nvPicPr>
        <p:blipFill>
          <a:blip r:embed="rId2"/>
          <a:stretch>
            <a:fillRect/>
          </a:stretch>
        </p:blipFill>
        <p:spPr>
          <a:xfrm>
            <a:off x="1029066" y="1990100"/>
            <a:ext cx="317480" cy="317480"/>
          </a:xfrm>
          <a:prstGeom prst="rect">
            <a:avLst/>
          </a:prstGeom>
        </p:spPr>
      </p:pic>
      <p:sp>
        <p:nvSpPr>
          <p:cNvPr id="10" name="Text 6"/>
          <p:cNvSpPr/>
          <p:nvPr/>
        </p:nvSpPr>
        <p:spPr>
          <a:xfrm>
            <a:off x="904342"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非常ボタンを店内各所に</a:t>
            </a:r>
            <a:endParaRPr lang="en-US" sz="1350" dirty="0"/>
          </a:p>
        </p:txBody>
      </p:sp>
      <p:sp>
        <p:nvSpPr>
          <p:cNvPr id="11" name="Text 7"/>
          <p:cNvSpPr/>
          <p:nvPr/>
        </p:nvSpPr>
        <p:spPr>
          <a:xfrm>
            <a:off x="904342"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災害・体調不良・不審者・お客様同士のトラブルなど、あらゆる緊急事態に備えています。</a:t>
            </a:r>
            <a:endParaRPr lang="en-US" sz="1050" dirty="0"/>
          </a:p>
        </p:txBody>
      </p:sp>
      <p:sp>
        <p:nvSpPr>
          <p:cNvPr id="12" name="Shape 8"/>
          <p:cNvSpPr/>
          <p:nvPr/>
        </p:nvSpPr>
        <p:spPr>
          <a:xfrm>
            <a:off x="3440659"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3678403" y="1865376"/>
            <a:ext cx="566928" cy="566928"/>
          </a:xfrm>
          <a:prstGeom prst="ellipse">
            <a:avLst/>
          </a:prstGeom>
          <a:solidFill>
            <a:srgbClr val="F0F5EF"/>
          </a:solidFill>
          <a:ln/>
        </p:spPr>
      </p:sp>
      <p:pic>
        <p:nvPicPr>
          <p:cNvPr id="14" name="Image 2" descr="/home/user/suzuki-ceo/selfcafe-fc-deck/assets/icons/LuVideo-green.png">    </p:cNvPr>
          <p:cNvPicPr>
            <a:picLocks noChangeAspect="1"/>
          </p:cNvPicPr>
          <p:nvPr/>
        </p:nvPicPr>
        <p:blipFill>
          <a:blip r:embed="rId3"/>
          <a:stretch>
            <a:fillRect/>
          </a:stretch>
        </p:blipFill>
        <p:spPr>
          <a:xfrm>
            <a:off x="3803127" y="1990100"/>
            <a:ext cx="317480" cy="317480"/>
          </a:xfrm>
          <a:prstGeom prst="rect">
            <a:avLst/>
          </a:prstGeom>
        </p:spPr>
      </p:pic>
      <p:sp>
        <p:nvSpPr>
          <p:cNvPr id="15" name="Text 10"/>
          <p:cNvSpPr/>
          <p:nvPr/>
        </p:nvSpPr>
        <p:spPr>
          <a:xfrm>
            <a:off x="3678403"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6台のカメラで常時監視</a:t>
            </a:r>
            <a:endParaRPr lang="en-US" sz="1350" dirty="0"/>
          </a:p>
        </p:txBody>
      </p:sp>
      <p:sp>
        <p:nvSpPr>
          <p:cNvPr id="16" name="Text 11"/>
          <p:cNvSpPr/>
          <p:nvPr/>
        </p:nvSpPr>
        <p:spPr>
          <a:xfrm>
            <a:off x="3678403"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店内の状況を常時把握。異常があれば即座に確認・対応できる体制を整えています。</a:t>
            </a:r>
            <a:endParaRPr lang="en-US" sz="1050" dirty="0"/>
          </a:p>
        </p:txBody>
      </p:sp>
      <p:sp>
        <p:nvSpPr>
          <p:cNvPr id="17" name="Shape 12"/>
          <p:cNvSpPr/>
          <p:nvPr/>
        </p:nvSpPr>
        <p:spPr>
          <a:xfrm>
            <a:off x="6214720"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8" name="Shape 13"/>
          <p:cNvSpPr/>
          <p:nvPr/>
        </p:nvSpPr>
        <p:spPr>
          <a:xfrm>
            <a:off x="6452464" y="1865376"/>
            <a:ext cx="566928" cy="566928"/>
          </a:xfrm>
          <a:prstGeom prst="ellipse">
            <a:avLst/>
          </a:prstGeom>
          <a:solidFill>
            <a:srgbClr val="F0F5EF"/>
          </a:solidFill>
          <a:ln/>
        </p:spPr>
      </p:sp>
      <p:pic>
        <p:nvPicPr>
          <p:cNvPr id="19" name="Image 3" descr="/home/user/suzuki-ceo/selfcafe-fc-deck/assets/icons/LuMic-green.png">    </p:cNvPr>
          <p:cNvPicPr>
            <a:picLocks noChangeAspect="1"/>
          </p:cNvPicPr>
          <p:nvPr/>
        </p:nvPicPr>
        <p:blipFill>
          <a:blip r:embed="rId4"/>
          <a:stretch>
            <a:fillRect/>
          </a:stretch>
        </p:blipFill>
        <p:spPr>
          <a:xfrm>
            <a:off x="6577188" y="1990100"/>
            <a:ext cx="317480" cy="317480"/>
          </a:xfrm>
          <a:prstGeom prst="rect">
            <a:avLst/>
          </a:prstGeom>
        </p:spPr>
      </p:pic>
      <p:sp>
        <p:nvSpPr>
          <p:cNvPr id="20" name="Text 14"/>
          <p:cNvSpPr/>
          <p:nvPr/>
        </p:nvSpPr>
        <p:spPr>
          <a:xfrm>
            <a:off x="6452464"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双方向音声に対応</a:t>
            </a:r>
            <a:endParaRPr lang="en-US" sz="1350" dirty="0"/>
          </a:p>
        </p:txBody>
      </p:sp>
      <p:sp>
        <p:nvSpPr>
          <p:cNvPr id="21" name="Text 15"/>
          <p:cNvSpPr/>
          <p:nvPr/>
        </p:nvSpPr>
        <p:spPr>
          <a:xfrm>
            <a:off x="6452464"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カメラはスタッフとお客様が直接やり取りできる双方向音声に対応。その場で声がけやサポートを行えます。</a:t>
            </a:r>
            <a:endParaRPr lang="en-US" sz="1050" dirty="0"/>
          </a:p>
        </p:txBody>
      </p:sp>
      <p:sp>
        <p:nvSpPr>
          <p:cNvPr id="22" name="Shape 16"/>
          <p:cNvSpPr/>
          <p:nvPr/>
        </p:nvSpPr>
        <p:spPr>
          <a:xfrm>
            <a:off x="8988781"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7"/>
          <p:cNvSpPr/>
          <p:nvPr/>
        </p:nvSpPr>
        <p:spPr>
          <a:xfrm>
            <a:off x="9226525" y="1865376"/>
            <a:ext cx="566928" cy="566928"/>
          </a:xfrm>
          <a:prstGeom prst="ellipse">
            <a:avLst/>
          </a:prstGeom>
          <a:solidFill>
            <a:srgbClr val="F0F5EF"/>
          </a:solidFill>
          <a:ln/>
        </p:spPr>
      </p:sp>
      <p:pic>
        <p:nvPicPr>
          <p:cNvPr id="24" name="Image 4" descr="/home/user/suzuki-ceo/selfcafe-fc-deck/assets/icons/LuMessageCircle-green.png">    </p:cNvPr>
          <p:cNvPicPr>
            <a:picLocks noChangeAspect="1"/>
          </p:cNvPicPr>
          <p:nvPr/>
        </p:nvPicPr>
        <p:blipFill>
          <a:blip r:embed="rId5"/>
          <a:stretch>
            <a:fillRect/>
          </a:stretch>
        </p:blipFill>
        <p:spPr>
          <a:xfrm>
            <a:off x="9351249" y="1990100"/>
            <a:ext cx="317480" cy="317480"/>
          </a:xfrm>
          <a:prstGeom prst="rect">
            <a:avLst/>
          </a:prstGeom>
        </p:spPr>
      </p:pic>
      <p:sp>
        <p:nvSpPr>
          <p:cNvPr id="25" name="Text 18"/>
          <p:cNvSpPr/>
          <p:nvPr/>
        </p:nvSpPr>
        <p:spPr>
          <a:xfrm>
            <a:off x="9226525"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LINEチャットで即時対応</a:t>
            </a:r>
            <a:endParaRPr lang="en-US" sz="1350" dirty="0"/>
          </a:p>
        </p:txBody>
      </p:sp>
      <p:sp>
        <p:nvSpPr>
          <p:cNvPr id="26" name="Text 19"/>
          <p:cNvSpPr/>
          <p:nvPr/>
        </p:nvSpPr>
        <p:spPr>
          <a:xfrm>
            <a:off x="9226525"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お客様からのお問い合わせにも即時対応。質問対応・意見収集の窓口としても機能します。</a:t>
            </a:r>
            <a:endParaRPr lang="en-US" sz="1050" dirty="0"/>
          </a:p>
        </p:txBody>
      </p:sp>
      <p:sp>
        <p:nvSpPr>
          <p:cNvPr id="27" name="Shape 20"/>
          <p:cNvSpPr/>
          <p:nvPr/>
        </p:nvSpPr>
        <p:spPr>
          <a:xfrm>
            <a:off x="666598" y="4370832"/>
            <a:ext cx="5074920" cy="1883664"/>
          </a:xfrm>
          <a:prstGeom prst="roundRect">
            <a:avLst>
              <a:gd name="adj" fmla="val 2913"/>
            </a:avLst>
          </a:prstGeom>
          <a:solidFill>
            <a:srgbClr val="FAF3E3"/>
          </a:solidFill>
          <a:ln w="12700">
            <a:solidFill>
              <a:srgbClr val="CFC4A8"/>
            </a:solidFill>
            <a:prstDash val="dash"/>
          </a:ln>
        </p:spPr>
      </p:sp>
      <p:pic>
        <p:nvPicPr>
          <p:cNvPr id="28" name="Image 5" descr="/home/user/suzuki-ceo/selfcafe-fc-deck/assets/icons/LuImage-muted.png">    </p:cNvPr>
          <p:cNvPicPr>
            <a:picLocks noChangeAspect="1"/>
          </p:cNvPicPr>
          <p:nvPr/>
        </p:nvPicPr>
        <p:blipFill>
          <a:blip r:embed="rId6"/>
          <a:stretch>
            <a:fillRect/>
          </a:stretch>
        </p:blipFill>
        <p:spPr>
          <a:xfrm>
            <a:off x="2978018" y="5001768"/>
            <a:ext cx="452079" cy="452079"/>
          </a:xfrm>
          <a:prstGeom prst="rect">
            <a:avLst/>
          </a:prstGeom>
        </p:spPr>
      </p:pic>
      <p:sp>
        <p:nvSpPr>
          <p:cNvPr id="29" name="Text 21"/>
          <p:cNvSpPr/>
          <p:nvPr/>
        </p:nvSpPr>
        <p:spPr>
          <a:xfrm>
            <a:off x="758038" y="5490423"/>
            <a:ext cx="4892040"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30" name="Text 22"/>
          <p:cNvSpPr/>
          <p:nvPr/>
        </p:nvSpPr>
        <p:spPr>
          <a:xfrm>
            <a:off x="758038" y="5709879"/>
            <a:ext cx="4892040" cy="420624"/>
          </a:xfrm>
          <a:prstGeom prst="rect">
            <a:avLst/>
          </a:prstGeom>
          <a:noFill/>
          <a:ln/>
        </p:spPr>
        <p:txBody>
          <a:bodyPr wrap="square" lIns="0" tIns="0" rIns="0" bIns="0" rtlCol="0" anchor="t"/>
          <a:lstStyle/>
          <a:p>
            <a:pPr algn="ctr" indent="0" marL="0">
              <a:lnSpc>
                <a:spcPct val="115000"/>
              </a:lnSpc>
              <a:buNone/>
            </a:pPr>
            <a:r>
              <a:rPr lang="en-US" sz="1050" b="1" dirty="0">
                <a:solidFill>
                  <a:srgbClr val="5D4037"/>
                </a:solidFill>
                <a:latin typeface="Noto Sans JP" pitchFamily="34" charset="0"/>
                <a:ea typeface="Noto Sans JP" pitchFamily="34" charset="-122"/>
                <a:cs typeface="Noto Sans JP" pitchFamily="34" charset="-120"/>
              </a:rPr>
              <a:t>モニタリング画面／店内カメラの様子</a:t>
            </a:r>
            <a:endParaRPr lang="en-US" sz="1050" dirty="0"/>
          </a:p>
        </p:txBody>
      </p:sp>
      <p:sp>
        <p:nvSpPr>
          <p:cNvPr id="31" name="Shape 23"/>
          <p:cNvSpPr/>
          <p:nvPr/>
        </p:nvSpPr>
        <p:spPr>
          <a:xfrm>
            <a:off x="6034126" y="4370832"/>
            <a:ext cx="5490972" cy="1883664"/>
          </a:xfrm>
          <a:prstGeom prst="roundRect">
            <a:avLst>
              <a:gd name="adj" fmla="val 4369"/>
            </a:avLst>
          </a:prstGeom>
          <a:solidFill>
            <a:srgbClr val="12401A"/>
          </a:solidFill>
          <a:ln/>
          <a:effectLst>
            <a:outerShdw sx="100000" sy="100000" kx="0" ky="0" algn="bl" rotWithShape="0" blurRad="114300" dist="17780" dir="5400000">
              <a:srgbClr val="6B6250">
                <a:alpha val="14000"/>
              </a:srgbClr>
            </a:outerShdw>
          </a:effectLst>
        </p:spPr>
      </p:sp>
      <p:pic>
        <p:nvPicPr>
          <p:cNvPr id="32" name="Image 6" descr="/home/user/suzuki-ceo/selfcafe-fc-deck/assets/icons/LuShieldCheck-white.png">    </p:cNvPr>
          <p:cNvPicPr>
            <a:picLocks noChangeAspect="1"/>
          </p:cNvPicPr>
          <p:nvPr/>
        </p:nvPicPr>
        <p:blipFill>
          <a:blip r:embed="rId7"/>
          <a:stretch>
            <a:fillRect/>
          </a:stretch>
        </p:blipFill>
        <p:spPr>
          <a:xfrm>
            <a:off x="6418174" y="4608576"/>
            <a:ext cx="329184" cy="329184"/>
          </a:xfrm>
          <a:prstGeom prst="rect">
            <a:avLst/>
          </a:prstGeom>
        </p:spPr>
      </p:pic>
      <p:sp>
        <p:nvSpPr>
          <p:cNvPr id="33" name="Text 24"/>
          <p:cNvSpPr/>
          <p:nvPr/>
        </p:nvSpPr>
        <p:spPr>
          <a:xfrm>
            <a:off x="6875374" y="4572000"/>
            <a:ext cx="4265676" cy="402336"/>
          </a:xfrm>
          <a:prstGeom prst="rect">
            <a:avLst/>
          </a:prstGeom>
          <a:noFill/>
          <a:ln/>
        </p:spPr>
        <p:txBody>
          <a:bodyPr wrap="square" lIns="0" tIns="0" rIns="0" bIns="0" rtlCol="0" anchor="ctr"/>
          <a:lstStyle/>
          <a:p>
            <a:pPr indent="0" marL="0">
              <a:buNone/>
            </a:pPr>
            <a:r>
              <a:rPr lang="en-US" sz="1700" b="1" dirty="0">
                <a:solidFill>
                  <a:srgbClr val="FFFFFF"/>
                </a:solidFill>
                <a:latin typeface="Noto Sans JP" pitchFamily="34" charset="0"/>
                <a:ea typeface="Noto Sans JP" pitchFamily="34" charset="-122"/>
                <a:cs typeface="Noto Sans JP" pitchFamily="34" charset="-120"/>
              </a:rPr>
              <a:t>現場に駆けつける必要は、ほぼありません。</a:t>
            </a:r>
            <a:endParaRPr lang="en-US" sz="1700" dirty="0"/>
          </a:p>
        </p:txBody>
      </p:sp>
      <p:sp>
        <p:nvSpPr>
          <p:cNvPr id="34" name="Text 25"/>
          <p:cNvSpPr/>
          <p:nvPr/>
        </p:nvSpPr>
        <p:spPr>
          <a:xfrm>
            <a:off x="6875374" y="5047488"/>
            <a:ext cx="4265676" cy="822960"/>
          </a:xfrm>
          <a:prstGeom prst="rect">
            <a:avLst/>
          </a:prstGeom>
          <a:noFill/>
          <a:ln/>
        </p:spPr>
        <p:txBody>
          <a:bodyPr wrap="square" lIns="0" tIns="0" rIns="0" bIns="0" rtlCol="0" anchor="t"/>
          <a:lstStyle/>
          <a:p>
            <a:pPr indent="0" marL="0">
              <a:lnSpc>
                <a:spcPct val="135000"/>
              </a:lnSpc>
              <a:buNone/>
            </a:pPr>
            <a:r>
              <a:rPr lang="en-US" sz="1150" dirty="0">
                <a:solidFill>
                  <a:srgbClr val="A9C6AC"/>
                </a:solidFill>
                <a:latin typeface="Noto Sans JP" pitchFamily="34" charset="0"/>
                <a:ea typeface="Noto Sans JP" pitchFamily="34" charset="-122"/>
                <a:cs typeface="Noto Sans JP" pitchFamily="34" charset="-120"/>
              </a:rPr>
              <a:t>24時間体制の警備会社と遠隔監視システム、そして本部のチャット対応が重なることで、無人でも「見守られている店舗」を実現しています。</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パートナー制度の3つの特徴</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18</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低コスト・遊休スペース活用・省人力運営の3点が、導入判断のハードルを下げます。</a:t>
            </a:r>
            <a:endParaRPr lang="en-US" sz="1150" dirty="0"/>
          </a:p>
        </p:txBody>
      </p:sp>
      <p:sp>
        <p:nvSpPr>
          <p:cNvPr id="7" name="Shape 4"/>
          <p:cNvSpPr/>
          <p:nvPr/>
        </p:nvSpPr>
        <p:spPr>
          <a:xfrm>
            <a:off x="666598"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1903324" y="2048256"/>
            <a:ext cx="950976" cy="950976"/>
          </a:xfrm>
          <a:prstGeom prst="ellipse">
            <a:avLst/>
          </a:prstGeom>
          <a:solidFill>
            <a:srgbClr val="F0F5EF"/>
          </a:solidFill>
          <a:ln/>
        </p:spPr>
      </p:sp>
      <p:pic>
        <p:nvPicPr>
          <p:cNvPr id="9" name="Image 1" descr="/home/user/suzuki-ceo/selfcafe-fc-deck/assets/icons/LuWallet-green.png">    </p:cNvPr>
          <p:cNvPicPr>
            <a:picLocks noChangeAspect="1"/>
          </p:cNvPicPr>
          <p:nvPr/>
        </p:nvPicPr>
        <p:blipFill>
          <a:blip r:embed="rId2"/>
          <a:stretch>
            <a:fillRect/>
          </a:stretch>
        </p:blipFill>
        <p:spPr>
          <a:xfrm>
            <a:off x="2113636" y="2258568"/>
            <a:ext cx="530352" cy="530352"/>
          </a:xfrm>
          <a:prstGeom prst="rect">
            <a:avLst/>
          </a:prstGeom>
        </p:spPr>
      </p:pic>
      <p:sp>
        <p:nvSpPr>
          <p:cNvPr id="10" name="Text 6"/>
          <p:cNvSpPr/>
          <p:nvPr/>
        </p:nvSpPr>
        <p:spPr>
          <a:xfrm>
            <a:off x="886054"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低初期コスト</a:t>
            </a:r>
            <a:endParaRPr lang="en-US" sz="1700" dirty="0"/>
          </a:p>
        </p:txBody>
      </p:sp>
      <p:sp>
        <p:nvSpPr>
          <p:cNvPr id="11" name="Text 7"/>
          <p:cNvSpPr/>
          <p:nvPr/>
        </p:nvSpPr>
        <p:spPr>
          <a:xfrm>
            <a:off x="886054"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1/10以下</a:t>
            </a:r>
            <a:endParaRPr lang="en-US" sz="1100" dirty="0"/>
          </a:p>
        </p:txBody>
      </p:sp>
      <p:sp>
        <p:nvSpPr>
          <p:cNvPr id="12" name="Text 8"/>
          <p:cNvSpPr/>
          <p:nvPr/>
        </p:nvSpPr>
        <p:spPr>
          <a:xfrm>
            <a:off x="977494"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他社カフェと比較し、1/10以下のコストで出店が可能です。</a:t>
            </a:r>
            <a:endParaRPr lang="en-US" sz="1100" dirty="0"/>
          </a:p>
        </p:txBody>
      </p:sp>
      <p:sp>
        <p:nvSpPr>
          <p:cNvPr id="13" name="Shape 9"/>
          <p:cNvSpPr/>
          <p:nvPr/>
        </p:nvSpPr>
        <p:spPr>
          <a:xfrm>
            <a:off x="4383634"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4" name="Shape 10"/>
          <p:cNvSpPr/>
          <p:nvPr/>
        </p:nvSpPr>
        <p:spPr>
          <a:xfrm>
            <a:off x="5620360" y="2048256"/>
            <a:ext cx="950976" cy="950976"/>
          </a:xfrm>
          <a:prstGeom prst="ellipse">
            <a:avLst/>
          </a:prstGeom>
          <a:solidFill>
            <a:srgbClr val="F0F5EF"/>
          </a:solidFill>
          <a:ln/>
        </p:spPr>
      </p:sp>
      <p:pic>
        <p:nvPicPr>
          <p:cNvPr id="15" name="Image 2" descr="/home/user/suzuki-ceo/selfcafe-fc-deck/assets/icons/LuBuilding2-green.png">    </p:cNvPr>
          <p:cNvPicPr>
            <a:picLocks noChangeAspect="1"/>
          </p:cNvPicPr>
          <p:nvPr/>
        </p:nvPicPr>
        <p:blipFill>
          <a:blip r:embed="rId3"/>
          <a:stretch>
            <a:fillRect/>
          </a:stretch>
        </p:blipFill>
        <p:spPr>
          <a:xfrm>
            <a:off x="5830672" y="2258568"/>
            <a:ext cx="530352" cy="530352"/>
          </a:xfrm>
          <a:prstGeom prst="rect">
            <a:avLst/>
          </a:prstGeom>
        </p:spPr>
      </p:pic>
      <p:sp>
        <p:nvSpPr>
          <p:cNvPr id="16" name="Text 11"/>
          <p:cNvSpPr/>
          <p:nvPr/>
        </p:nvSpPr>
        <p:spPr>
          <a:xfrm>
            <a:off x="4603090"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遊休スペースの活用</a:t>
            </a:r>
            <a:endParaRPr lang="en-US" sz="1700" dirty="0"/>
          </a:p>
        </p:txBody>
      </p:sp>
      <p:sp>
        <p:nvSpPr>
          <p:cNvPr id="17" name="Text 12"/>
          <p:cNvSpPr/>
          <p:nvPr/>
        </p:nvSpPr>
        <p:spPr>
          <a:xfrm>
            <a:off x="4603090"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デッドスペース → 収益資産</a:t>
            </a:r>
            <a:endParaRPr lang="en-US" sz="1100" dirty="0"/>
          </a:p>
        </p:txBody>
      </p:sp>
      <p:sp>
        <p:nvSpPr>
          <p:cNvPr id="18" name="Text 13"/>
          <p:cNvSpPr/>
          <p:nvPr/>
        </p:nvSpPr>
        <p:spPr>
          <a:xfrm>
            <a:off x="4694530"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既存店の空室やデッドスペースを、収益資産へ再構築します。</a:t>
            </a:r>
            <a:endParaRPr lang="en-US" sz="1100" dirty="0"/>
          </a:p>
        </p:txBody>
      </p:sp>
      <p:sp>
        <p:nvSpPr>
          <p:cNvPr id="19" name="Shape 14"/>
          <p:cNvSpPr/>
          <p:nvPr/>
        </p:nvSpPr>
        <p:spPr>
          <a:xfrm>
            <a:off x="8100670"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0" name="Shape 15"/>
          <p:cNvSpPr/>
          <p:nvPr/>
        </p:nvSpPr>
        <p:spPr>
          <a:xfrm>
            <a:off x="9337396" y="2048256"/>
            <a:ext cx="950976" cy="950976"/>
          </a:xfrm>
          <a:prstGeom prst="ellipse">
            <a:avLst/>
          </a:prstGeom>
          <a:solidFill>
            <a:srgbClr val="F0F5EF"/>
          </a:solidFill>
          <a:ln/>
        </p:spPr>
      </p:sp>
      <p:pic>
        <p:nvPicPr>
          <p:cNvPr id="21" name="Image 3" descr="/home/user/suzuki-ceo/selfcafe-fc-deck/assets/icons/LuTimer-green.png">    </p:cNvPr>
          <p:cNvPicPr>
            <a:picLocks noChangeAspect="1"/>
          </p:cNvPicPr>
          <p:nvPr/>
        </p:nvPicPr>
        <p:blipFill>
          <a:blip r:embed="rId4"/>
          <a:stretch>
            <a:fillRect/>
          </a:stretch>
        </p:blipFill>
        <p:spPr>
          <a:xfrm>
            <a:off x="9547708" y="2258568"/>
            <a:ext cx="530352" cy="530352"/>
          </a:xfrm>
          <a:prstGeom prst="rect">
            <a:avLst/>
          </a:prstGeom>
        </p:spPr>
      </p:pic>
      <p:sp>
        <p:nvSpPr>
          <p:cNvPr id="22" name="Text 16"/>
          <p:cNvSpPr/>
          <p:nvPr/>
        </p:nvSpPr>
        <p:spPr>
          <a:xfrm>
            <a:off x="8320126"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1日15分程度の運営</a:t>
            </a:r>
            <a:endParaRPr lang="en-US" sz="1700" dirty="0"/>
          </a:p>
        </p:txBody>
      </p:sp>
      <p:sp>
        <p:nvSpPr>
          <p:cNvPr id="23" name="Text 17"/>
          <p:cNvSpPr/>
          <p:nvPr/>
        </p:nvSpPr>
        <p:spPr>
          <a:xfrm>
            <a:off x="8320126"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清掃・補充のみ</a:t>
            </a:r>
            <a:endParaRPr lang="en-US" sz="1100" dirty="0"/>
          </a:p>
        </p:txBody>
      </p:sp>
      <p:sp>
        <p:nvSpPr>
          <p:cNvPr id="24" name="Text 18"/>
          <p:cNvSpPr/>
          <p:nvPr/>
        </p:nvSpPr>
        <p:spPr>
          <a:xfrm>
            <a:off x="8411566"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無人化により人件費を極限までカット。日常業務は清掃・補充のみです。</a:t>
            </a:r>
            <a:endParaRPr lang="en-US" sz="1100" dirty="0"/>
          </a:p>
        </p:txBody>
      </p:sp>
      <p:sp>
        <p:nvSpPr>
          <p:cNvPr id="25" name="Shape 19"/>
          <p:cNvSpPr/>
          <p:nvPr/>
        </p:nvSpPr>
        <p:spPr>
          <a:xfrm>
            <a:off x="666598" y="4828032"/>
            <a:ext cx="10858500" cy="1426464"/>
          </a:xfrm>
          <a:prstGeom prst="roundRect">
            <a:avLst>
              <a:gd name="adj" fmla="val 5769"/>
            </a:avLst>
          </a:prstGeom>
          <a:solidFill>
            <a:srgbClr val="12401A"/>
          </a:solidFill>
          <a:ln/>
          <a:effectLst>
            <a:outerShdw sx="100000" sy="100000" kx="0" ky="0" algn="bl" rotWithShape="0" blurRad="114300" dist="17780" dir="5400000">
              <a:srgbClr val="6B6250">
                <a:alpha val="14000"/>
              </a:srgbClr>
            </a:outerShdw>
          </a:effectLst>
        </p:spPr>
      </p:sp>
      <p:pic>
        <p:nvPicPr>
          <p:cNvPr id="26" name="Image 4" descr="/home/user/suzuki-ceo/selfcafe-fc-deck/assets/icons/LuSparkles-white.png">    </p:cNvPr>
          <p:cNvPicPr>
            <a:picLocks noChangeAspect="1"/>
          </p:cNvPicPr>
          <p:nvPr/>
        </p:nvPicPr>
        <p:blipFill>
          <a:blip r:embed="rId5"/>
          <a:stretch>
            <a:fillRect/>
          </a:stretch>
        </p:blipFill>
        <p:spPr>
          <a:xfrm>
            <a:off x="1050646" y="5084064"/>
            <a:ext cx="310896" cy="310896"/>
          </a:xfrm>
          <a:prstGeom prst="rect">
            <a:avLst/>
          </a:prstGeom>
        </p:spPr>
      </p:pic>
      <p:sp>
        <p:nvSpPr>
          <p:cNvPr id="27" name="Text 20"/>
          <p:cNvSpPr/>
          <p:nvPr/>
        </p:nvSpPr>
        <p:spPr>
          <a:xfrm>
            <a:off x="1507846" y="5029200"/>
            <a:ext cx="9633204" cy="420624"/>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新しく人を採用・配置する必要はありません。</a:t>
            </a:r>
            <a:endParaRPr lang="en-US" sz="1900" dirty="0"/>
          </a:p>
        </p:txBody>
      </p:sp>
      <p:sp>
        <p:nvSpPr>
          <p:cNvPr id="28" name="Text 21"/>
          <p:cNvSpPr/>
          <p:nvPr/>
        </p:nvSpPr>
        <p:spPr>
          <a:xfrm>
            <a:off x="1507846" y="5522976"/>
            <a:ext cx="9633204" cy="402336"/>
          </a:xfrm>
          <a:prstGeom prst="rect">
            <a:avLst/>
          </a:prstGeom>
          <a:noFill/>
          <a:ln/>
        </p:spPr>
        <p:txBody>
          <a:bodyPr wrap="square" lIns="0" tIns="0" rIns="0" bIns="0" rtlCol="0" anchor="ctr"/>
          <a:lstStyle/>
          <a:p>
            <a:pPr indent="0" marL="0">
              <a:buNone/>
            </a:pPr>
            <a:r>
              <a:rPr lang="en-US" sz="1150" dirty="0">
                <a:solidFill>
                  <a:srgbClr val="A9C6AC"/>
                </a:solidFill>
                <a:latin typeface="Noto Sans JP" pitchFamily="34" charset="0"/>
                <a:ea typeface="Noto Sans JP" pitchFamily="34" charset="-122"/>
                <a:cs typeface="Noto Sans JP" pitchFamily="34" charset="-120"/>
              </a:rPr>
              <a:t>既存スタッフの稼働内で、もう一つの収益源をつくれます。</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収益シミュレーション</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19</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既存の収益シミュレーション（25坪・70坪）の営業総利益をもとにした2パターン比較</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6598" y="1773936"/>
          <a:ext cx="7452360" cy="914400"/>
        </p:xfrm>
        <a:graphic>
          <a:graphicData uri="http://schemas.openxmlformats.org/drawingml/2006/table">
            <a:tbl>
              <a:tblPr/>
              <a:tblGrid>
                <a:gridCol w="2788920"/>
                <a:gridCol w="2331720"/>
                <a:gridCol w="2331720"/>
              </a:tblGrid>
              <a:tr h="475488">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25坪パターン</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70坪パターン</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営業総利益（売上－原価）</a:t>
                      </a:r>
                      <a:endParaRPr lang="en-US" sz="11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300" dirty="0">
                          <a:solidFill>
                            <a:srgbClr val="3B3833"/>
                          </a:solidFill>
                          <a:latin typeface="Arial" pitchFamily="34" charset="0"/>
                          <a:ea typeface="Arial" pitchFamily="34" charset="-122"/>
                          <a:cs typeface="Arial" pitchFamily="34" charset="-120"/>
                        </a:rPr>
                        <a:t>888,100円</a:t>
                      </a:r>
                      <a:endParaRPr lang="en-US" sz="13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B3833"/>
                          </a:solidFill>
                          <a:latin typeface="Arial" pitchFamily="34" charset="0"/>
                          <a:ea typeface="Arial" pitchFamily="34" charset="-122"/>
                          <a:cs typeface="Arial" pitchFamily="34" charset="-120"/>
                        </a:rPr>
                        <a:t>1,387,600円</a:t>
                      </a:r>
                      <a:endParaRPr lang="en-US" sz="13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969264">
                <a:tc>
                  <a:txBody>
                    <a:bodyP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業務委託料（25%）</a:t>
                      </a:r>
                      <a:endParaRPr lang="en-US" sz="13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700" b="1" dirty="0">
                          <a:solidFill>
                            <a:srgbClr val="1B5E20"/>
                          </a:solidFill>
                          <a:latin typeface="Arial" pitchFamily="34" charset="0"/>
                          <a:ea typeface="Arial" pitchFamily="34" charset="-122"/>
                          <a:cs typeface="Arial" pitchFamily="34" charset="-120"/>
                        </a:rPr>
                        <a:t>222,025円</a:t>
                      </a:r>
                      <a:endParaRPr lang="en-US" sz="17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algn="r" indent="0" marL="0">
                        <a:buNone/>
                      </a:pPr>
                      <a:r>
                        <a:rPr lang="en-US" sz="1700" b="1" dirty="0">
                          <a:solidFill>
                            <a:srgbClr val="1B5E20"/>
                          </a:solidFill>
                          <a:latin typeface="Arial" pitchFamily="34" charset="0"/>
                          <a:ea typeface="Arial" pitchFamily="34" charset="-122"/>
                          <a:cs typeface="Arial" pitchFamily="34" charset="-120"/>
                        </a:rPr>
                        <a:t>346,900円</a:t>
                      </a:r>
                      <a:endParaRPr lang="en-US" sz="17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31520">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年間換算</a:t>
                      </a:r>
                      <a:endParaRPr lang="en-US" sz="11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00" dirty="0">
                          <a:solidFill>
                            <a:srgbClr val="6E6A61"/>
                          </a:solidFill>
                          <a:latin typeface="Arial" pitchFamily="34" charset="0"/>
                          <a:ea typeface="Arial" pitchFamily="34" charset="-122"/>
                          <a:cs typeface="Arial" pitchFamily="34" charset="-120"/>
                        </a:rPr>
                        <a:t>2,664,300円</a:t>
                      </a:r>
                      <a:endParaRPr lang="en-US" sz="12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Arial" pitchFamily="34" charset="0"/>
                          <a:ea typeface="Arial" pitchFamily="34" charset="-122"/>
                          <a:cs typeface="Arial" pitchFamily="34" charset="-120"/>
                        </a:rPr>
                        <a:t>4,162,800円</a:t>
                      </a:r>
                      <a:endParaRPr lang="en-US" sz="12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
        <p:nvSpPr>
          <p:cNvPr id="8" name="Shape 4"/>
          <p:cNvSpPr/>
          <p:nvPr/>
        </p:nvSpPr>
        <p:spPr>
          <a:xfrm>
            <a:off x="666598" y="4974336"/>
            <a:ext cx="7452360" cy="969264"/>
          </a:xfrm>
          <a:prstGeom prst="roundRect">
            <a:avLst>
              <a:gd name="adj" fmla="val 5660"/>
            </a:avLst>
          </a:prstGeom>
          <a:solidFill>
            <a:srgbClr val="FAF3E3"/>
          </a:solidFill>
          <a:ln/>
        </p:spPr>
      </p:sp>
      <p:sp>
        <p:nvSpPr>
          <p:cNvPr id="9" name="Text 5"/>
          <p:cNvSpPr/>
          <p:nvPr/>
        </p:nvSpPr>
        <p:spPr>
          <a:xfrm>
            <a:off x="886054" y="4974336"/>
            <a:ext cx="7013448" cy="969264"/>
          </a:xfrm>
          <a:prstGeom prst="rect">
            <a:avLst/>
          </a:prstGeom>
          <a:noFill/>
          <a:ln/>
        </p:spPr>
        <p:txBody>
          <a:bodyPr wrap="square" lIns="0" tIns="0" rIns="0" bIns="0" rtlCol="0" anchor="ctr"/>
          <a:lstStyle/>
          <a:p>
            <a:pPr indent="0" marL="0">
              <a:lnSpc>
                <a:spcPct val="130000"/>
              </a:lnSpc>
              <a:buNone/>
            </a:pPr>
            <a:r>
              <a:rPr lang="en-US" sz="1050" dirty="0">
                <a:solidFill>
                  <a:srgbClr val="5D4037"/>
                </a:solidFill>
                <a:latin typeface="Noto Sans JP" pitchFamily="34" charset="0"/>
                <a:ea typeface="Noto Sans JP" pitchFamily="34" charset="-122"/>
                <a:cs typeface="Noto Sans JP" pitchFamily="34" charset="-120"/>
              </a:rPr>
              <a:t>パートナー様にご負担いただく経費：水道光熱費／通信費／人件費／その他雑費</a:t>
            </a:r>
            <a:endParaRPr lang="en-US" sz="1050" dirty="0"/>
          </a:p>
          <a:p>
            <a:pPr indent="0" marL="0">
              <a:lnSpc>
                <a:spcPct val="130000"/>
              </a:lnSpc>
              <a:buNone/>
            </a:pPr>
            <a:r>
              <a:rPr lang="en-US" sz="1050" dirty="0">
                <a:solidFill>
                  <a:srgbClr val="5D4037"/>
                </a:solidFill>
                <a:latin typeface="Noto Sans JP" pitchFamily="34" charset="0"/>
                <a:ea typeface="Noto Sans JP" pitchFamily="34" charset="-122"/>
                <a:cs typeface="Noto Sans JP" pitchFamily="34" charset="-120"/>
              </a:rPr>
              <a:t>（いずれも実費精算。具体的な金額は店舗の稼働状況により変動します）</a:t>
            </a:r>
            <a:endParaRPr lang="en-US" sz="1050" dirty="0"/>
          </a:p>
        </p:txBody>
      </p:sp>
      <p:sp>
        <p:nvSpPr>
          <p:cNvPr id="10" name="Shape 6"/>
          <p:cNvSpPr/>
          <p:nvPr/>
        </p:nvSpPr>
        <p:spPr>
          <a:xfrm>
            <a:off x="8411566" y="1773936"/>
            <a:ext cx="3113532" cy="2103120"/>
          </a:xfrm>
          <a:prstGeom prst="roundRect">
            <a:avLst>
              <a:gd name="adj" fmla="val 3913"/>
            </a:avLst>
          </a:prstGeom>
          <a:solidFill>
            <a:srgbClr val="12401A"/>
          </a:solidFill>
          <a:ln/>
          <a:effectLst>
            <a:outerShdw sx="100000" sy="100000" kx="0" ky="0" algn="bl" rotWithShape="0" blurRad="114300" dist="17780" dir="5400000">
              <a:srgbClr val="6B6250">
                <a:alpha val="14000"/>
              </a:srgbClr>
            </a:outerShdw>
          </a:effectLst>
        </p:spPr>
      </p:sp>
      <p:pic>
        <p:nvPicPr>
          <p:cNvPr id="11" name="Image 1" descr="/home/user/suzuki-ceo/selfcafe-fc-deck/assets/icons/LuCalculator-white.png">    </p:cNvPr>
          <p:cNvPicPr>
            <a:picLocks noChangeAspect="1"/>
          </p:cNvPicPr>
          <p:nvPr/>
        </p:nvPicPr>
        <p:blipFill>
          <a:blip r:embed="rId2"/>
          <a:stretch>
            <a:fillRect/>
          </a:stretch>
        </p:blipFill>
        <p:spPr>
          <a:xfrm>
            <a:off x="8722462" y="2011680"/>
            <a:ext cx="310896" cy="310896"/>
          </a:xfrm>
          <a:prstGeom prst="rect">
            <a:avLst/>
          </a:prstGeom>
        </p:spPr>
      </p:pic>
      <p:sp>
        <p:nvSpPr>
          <p:cNvPr id="12" name="Text 7"/>
          <p:cNvSpPr/>
          <p:nvPr/>
        </p:nvSpPr>
        <p:spPr>
          <a:xfrm>
            <a:off x="8722462" y="2414016"/>
            <a:ext cx="2491740" cy="292608"/>
          </a:xfrm>
          <a:prstGeom prst="rect">
            <a:avLst/>
          </a:prstGeom>
          <a:noFill/>
          <a:ln/>
        </p:spPr>
        <p:txBody>
          <a:bodyPr wrap="square" lIns="0" tIns="0" rIns="0" bIns="0" rtlCol="0" anchor="ctr"/>
          <a:lstStyle/>
          <a:p>
            <a:pPr indent="0" marL="0">
              <a:buNone/>
            </a:pPr>
            <a:r>
              <a:rPr lang="en-US" sz="1200" b="1" dirty="0">
                <a:solidFill>
                  <a:srgbClr val="A9C6AC"/>
                </a:solidFill>
                <a:latin typeface="Noto Sans JP" pitchFamily="34" charset="0"/>
                <a:ea typeface="Noto Sans JP" pitchFamily="34" charset="-122"/>
                <a:cs typeface="Noto Sans JP" pitchFamily="34" charset="-120"/>
              </a:rPr>
              <a:t>貴社の受取イメージ</a:t>
            </a:r>
            <a:endParaRPr lang="en-US" sz="1200" dirty="0"/>
          </a:p>
        </p:txBody>
      </p:sp>
      <p:sp>
        <p:nvSpPr>
          <p:cNvPr id="13" name="Text 8"/>
          <p:cNvSpPr/>
          <p:nvPr/>
        </p:nvSpPr>
        <p:spPr>
          <a:xfrm>
            <a:off x="8722462" y="2743200"/>
            <a:ext cx="2491740" cy="457200"/>
          </a:xfrm>
          <a:prstGeom prst="rect">
            <a:avLst/>
          </a:prstGeom>
          <a:noFill/>
          <a:ln/>
        </p:spPr>
        <p:txBody>
          <a:bodyPr wrap="square" lIns="0" tIns="0" rIns="0" bIns="0" rtlCol="0" anchor="ctr"/>
          <a:lstStyle/>
          <a:p>
            <a:pPr indent="0" marL="0">
              <a:buNone/>
            </a:pPr>
            <a:r>
              <a:rPr lang="en-US" sz="2100" b="1" dirty="0">
                <a:solidFill>
                  <a:srgbClr val="FFFFFF"/>
                </a:solidFill>
                <a:latin typeface="Noto Sans JP" pitchFamily="34" charset="0"/>
                <a:ea typeface="Noto Sans JP" pitchFamily="34" charset="-122"/>
                <a:cs typeface="Noto Sans JP" pitchFamily="34" charset="-120"/>
              </a:rPr>
              <a:t>月 22万〜35万円</a:t>
            </a:r>
            <a:endParaRPr lang="en-US" sz="2100" dirty="0"/>
          </a:p>
        </p:txBody>
      </p:sp>
      <p:sp>
        <p:nvSpPr>
          <p:cNvPr id="14" name="Text 9"/>
          <p:cNvSpPr/>
          <p:nvPr/>
        </p:nvSpPr>
        <p:spPr>
          <a:xfrm>
            <a:off x="8722462" y="3218688"/>
            <a:ext cx="2491740" cy="329184"/>
          </a:xfrm>
          <a:prstGeom prst="rect">
            <a:avLst/>
          </a:prstGeom>
          <a:noFill/>
          <a:ln/>
        </p:spPr>
        <p:txBody>
          <a:bodyPr wrap="square" lIns="0" tIns="0" rIns="0" bIns="0" rtlCol="0" anchor="ctr"/>
          <a:lstStyle/>
          <a:p>
            <a:pPr indent="0" marL="0">
              <a:buNone/>
            </a:pPr>
            <a:r>
              <a:rPr lang="en-US" sz="1300" dirty="0">
                <a:solidFill>
                  <a:srgbClr val="A9C6AC"/>
                </a:solidFill>
                <a:latin typeface="Noto Sans JP" pitchFamily="34" charset="0"/>
                <a:ea typeface="Noto Sans JP" pitchFamily="34" charset="-122"/>
                <a:cs typeface="Noto Sans JP" pitchFamily="34" charset="-120"/>
              </a:rPr>
              <a:t>年 266万〜416万円</a:t>
            </a:r>
            <a:endParaRPr lang="en-US" sz="1300" dirty="0"/>
          </a:p>
        </p:txBody>
      </p:sp>
      <p:sp>
        <p:nvSpPr>
          <p:cNvPr id="15" name="Shape 10"/>
          <p:cNvSpPr/>
          <p:nvPr/>
        </p:nvSpPr>
        <p:spPr>
          <a:xfrm>
            <a:off x="8411566" y="4078224"/>
            <a:ext cx="3113532" cy="1865376"/>
          </a:xfrm>
          <a:prstGeom prst="roundRect">
            <a:avLst>
              <a:gd name="adj" fmla="val 343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6" name="Text 11"/>
          <p:cNvSpPr/>
          <p:nvPr/>
        </p:nvSpPr>
        <p:spPr>
          <a:xfrm>
            <a:off x="8685886" y="4261104"/>
            <a:ext cx="2564892" cy="256032"/>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計算の前提</a:t>
            </a:r>
            <a:endParaRPr lang="en-US" sz="1050" dirty="0"/>
          </a:p>
        </p:txBody>
      </p:sp>
      <p:sp>
        <p:nvSpPr>
          <p:cNvPr id="17" name="Text 12"/>
          <p:cNvSpPr/>
          <p:nvPr/>
        </p:nvSpPr>
        <p:spPr>
          <a:xfrm>
            <a:off x="8685886" y="4553712"/>
            <a:ext cx="2564892" cy="1225296"/>
          </a:xfrm>
          <a:prstGeom prst="rect">
            <a:avLst/>
          </a:prstGeom>
          <a:noFill/>
          <a:ln/>
        </p:spPr>
        <p:txBody>
          <a:bodyPr wrap="square" lIns="0" tIns="0" rIns="0" bIns="0" rtlCol="0" anchor="t"/>
          <a:lstStyle/>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営業総利益（売上－原価）の25%を業務委託料としてお支払い</a:t>
            </a:r>
            <a:endParaRPr lang="en-US" sz="1050" dirty="0"/>
          </a:p>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売上金の管理は本部が実施</a:t>
            </a:r>
            <a:endParaRPr lang="en-US" sz="1050" dirty="0"/>
          </a:p>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上記は既存店の実績をもとにした試算値</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有料オプション一覧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20</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すべて任意でお選びいただけます（金額は税抜き表示）</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6598" y="1773936"/>
          <a:ext cx="10858500" cy="914400"/>
        </p:xfrm>
        <a:graphic>
          <a:graphicData uri="http://schemas.openxmlformats.org/drawingml/2006/table">
            <a:tbl>
              <a:tblPr/>
              <a:tblGrid>
                <a:gridCol w="2148840"/>
                <a:gridCol w="1325880"/>
                <a:gridCol w="1325880"/>
                <a:gridCol w="6057900"/>
              </a:tblGrid>
              <a:tr h="457200">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初期費用</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月額費用</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備考</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122529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公式LINE作成</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15,000円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FC店の公式LINEを新規作成できます。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メリット：独自の発信や告知、広告が打てます。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デメリット：セルフカフェ公式LINEから切り離されるため、本来手放しでよいLINE問い合わせが直接届きます。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本部の発信と連携できないため、本部情報はパートナー様側で都度発信いただく必要があります。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84124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顧客用コピー機</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50,000円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20,000円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PayPay決済のみ</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※本体代は別途</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※グローバルIPの取得が必要です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102412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営業サポートプラン</a:t>
                      </a:r>
                      <a:endParaRPr lang="en-US" sz="1150" dirty="0">
                        <a:latin typeface="Noto Sans JP" charset="0"/>
                        <a:ea typeface="Noto Sans JP" charset="0"/>
                        <a:cs typeface="Noto Sans JP" charset="0"/>
                      </a:endParaRPr>
                    </a:p>
                    <a:p>
                      <a:pPr indent="0" marL="0">
                        <a:buNone/>
                      </a:pPr>
                      <a:r>
                        <a:rPr lang="en-US" sz="1150" b="1" dirty="0">
                          <a:solidFill>
                            <a:srgbClr val="5D4037"/>
                          </a:solidFill>
                          <a:latin typeface="Noto Sans JP" pitchFamily="34" charset="0"/>
                          <a:ea typeface="Noto Sans JP" pitchFamily="34" charset="-122"/>
                          <a:cs typeface="Noto Sans JP" pitchFamily="34" charset="-120"/>
                        </a:rPr>
                        <a:t>（フルサポート）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55,000円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顧客チャット対応</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セルフカフェ公式LINEやHPからの問い合わせに対応</a:t>
                      </a:r>
                      <a:endParaRPr lang="en-US" sz="1200" dirty="0">
                        <a:latin typeface="Noto Sans JP" charset="0"/>
                        <a:ea typeface="Noto Sans JP" charset="0"/>
                        <a:cs typeface="Noto Sans JP" charset="0"/>
                      </a:endParaRPr>
                    </a:p>
                    <a:p>
                      <a:pPr indent="0" marL="0">
                        <a:buNone/>
                      </a:pPr>
                      <a:r>
                        <a:rPr lang="en-US" sz="1000" b="1" dirty="0">
                          <a:solidFill>
                            <a:srgbClr val="1B5E20"/>
                          </a:solidFill>
                          <a:latin typeface="Noto Sans JP" pitchFamily="34" charset="0"/>
                          <a:ea typeface="Noto Sans JP" pitchFamily="34" charset="-122"/>
                          <a:cs typeface="Noto Sans JP" pitchFamily="34" charset="-120"/>
                        </a:rPr>
                        <a:t>ドリンクマシン管理・補充</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メーカー対応（エリア限定）</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営業サポートプラン</a:t>
                      </a:r>
                      <a:endParaRPr lang="en-US" sz="1150" dirty="0">
                        <a:latin typeface="Noto Sans JP" charset="0"/>
                        <a:ea typeface="Noto Sans JP" charset="0"/>
                        <a:cs typeface="Noto Sans JP" charset="0"/>
                      </a:endParaRPr>
                    </a:p>
                    <a:p>
                      <a:pPr indent="0" marL="0">
                        <a:buNone/>
                      </a:pPr>
                      <a:r>
                        <a:rPr lang="en-US" sz="1150" b="1" dirty="0">
                          <a:solidFill>
                            <a:srgbClr val="5D4037"/>
                          </a:solidFill>
                          <a:latin typeface="Noto Sans JP" pitchFamily="34" charset="0"/>
                          <a:ea typeface="Noto Sans JP" pitchFamily="34" charset="-122"/>
                          <a:cs typeface="Noto Sans JP" pitchFamily="34" charset="-120"/>
                        </a:rPr>
                        <a:t>（ミニマムサポート）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15,000円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顧客チャット対応</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セルフカフェ公式LINEやHPからの問い合わせに対応</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ドリンクマシンに関して</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21</a:t>
            </a:r>
            <a:endParaRPr lang="en-US" sz="1300" dirty="0"/>
          </a:p>
        </p:txBody>
      </p:sp>
      <p:sp>
        <p:nvSpPr>
          <p:cNvPr id="6" name="Shape 3"/>
          <p:cNvSpPr/>
          <p:nvPr/>
        </p:nvSpPr>
        <p:spPr>
          <a:xfrm>
            <a:off x="666598" y="1371600"/>
            <a:ext cx="3977640" cy="4892040"/>
          </a:xfrm>
          <a:prstGeom prst="roundRect">
            <a:avLst>
              <a:gd name="adj" fmla="val 1609"/>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09344"/>
            <a:ext cx="3429000" cy="475488"/>
          </a:xfrm>
          <a:prstGeom prst="roundRect">
            <a:avLst>
              <a:gd name="adj" fmla="val 50000"/>
            </a:avLst>
          </a:prstGeom>
          <a:solidFill>
            <a:srgbClr val="1B5E20"/>
          </a:solidFill>
          <a:ln/>
        </p:spPr>
      </p:sp>
      <p:pic>
        <p:nvPicPr>
          <p:cNvPr id="8" name="Image 1" descr="/home/user/suzuki-ceo/selfcafe-fc-deck/assets/icons/LuCoffee-white.png">    </p:cNvPr>
          <p:cNvPicPr>
            <a:picLocks noChangeAspect="1"/>
          </p:cNvPicPr>
          <p:nvPr/>
        </p:nvPicPr>
        <p:blipFill>
          <a:blip r:embed="rId2"/>
          <a:stretch>
            <a:fillRect/>
          </a:stretch>
        </p:blipFill>
        <p:spPr>
          <a:xfrm>
            <a:off x="1142086" y="1700784"/>
            <a:ext cx="292608" cy="292608"/>
          </a:xfrm>
          <a:prstGeom prst="rect">
            <a:avLst/>
          </a:prstGeom>
        </p:spPr>
      </p:pic>
      <p:sp>
        <p:nvSpPr>
          <p:cNvPr id="9" name="Text 5"/>
          <p:cNvSpPr/>
          <p:nvPr/>
        </p:nvSpPr>
        <p:spPr>
          <a:xfrm>
            <a:off x="1507846" y="1609344"/>
            <a:ext cx="2862072" cy="475488"/>
          </a:xfrm>
          <a:prstGeom prst="rect">
            <a:avLst/>
          </a:prstGeom>
          <a:noFill/>
          <a:ln/>
        </p:spPr>
        <p:txBody>
          <a:bodyPr wrap="square" lIns="0" tIns="0" rIns="0" bIns="0" rtlCol="0" anchor="ctr"/>
          <a:lstStyle/>
          <a:p>
            <a:pPr indent="0" marL="0">
              <a:buNone/>
            </a:pPr>
            <a:r>
              <a:rPr lang="en-US" sz="1350" b="1" dirty="0">
                <a:solidFill>
                  <a:srgbClr val="FFFFFF"/>
                </a:solidFill>
                <a:latin typeface="Noto Sans JP" pitchFamily="34" charset="0"/>
                <a:ea typeface="Noto Sans JP" pitchFamily="34" charset="-122"/>
                <a:cs typeface="Noto Sans JP" pitchFamily="34" charset="-120"/>
              </a:rPr>
              <a:t>トータルサポートパック</a:t>
            </a:r>
            <a:endParaRPr lang="en-US" sz="1350" dirty="0"/>
          </a:p>
        </p:txBody>
      </p:sp>
      <p:sp>
        <p:nvSpPr>
          <p:cNvPr id="10" name="Text 6"/>
          <p:cNvSpPr/>
          <p:nvPr/>
        </p:nvSpPr>
        <p:spPr>
          <a:xfrm>
            <a:off x="940918" y="2267712"/>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付属</a:t>
            </a:r>
            <a:endParaRPr lang="en-US" sz="1050" dirty="0"/>
          </a:p>
        </p:txBody>
      </p:sp>
      <p:sp>
        <p:nvSpPr>
          <p:cNvPr id="11" name="Text 7"/>
          <p:cNvSpPr/>
          <p:nvPr/>
        </p:nvSpPr>
        <p:spPr>
          <a:xfrm>
            <a:off x="2093062" y="2267712"/>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コーヒーサーバー、備品ラック</a:t>
            </a:r>
            <a:endParaRPr lang="en-US" sz="1150" dirty="0"/>
          </a:p>
        </p:txBody>
      </p:sp>
      <p:sp>
        <p:nvSpPr>
          <p:cNvPr id="12" name="Shape 8"/>
          <p:cNvSpPr/>
          <p:nvPr/>
        </p:nvSpPr>
        <p:spPr>
          <a:xfrm>
            <a:off x="940918" y="2633472"/>
            <a:ext cx="3429000" cy="10058"/>
          </a:xfrm>
          <a:prstGeom prst="rect">
            <a:avLst/>
          </a:prstGeom>
          <a:solidFill>
            <a:srgbClr val="E6DFCD"/>
          </a:solidFill>
          <a:ln/>
        </p:spPr>
      </p:sp>
      <p:sp>
        <p:nvSpPr>
          <p:cNvPr id="13" name="Text 9"/>
          <p:cNvSpPr/>
          <p:nvPr/>
        </p:nvSpPr>
        <p:spPr>
          <a:xfrm>
            <a:off x="940918" y="2834640"/>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メンテナンス</a:t>
            </a:r>
            <a:endParaRPr lang="en-US" sz="1050" dirty="0"/>
          </a:p>
        </p:txBody>
      </p:sp>
      <p:sp>
        <p:nvSpPr>
          <p:cNvPr id="14" name="Text 10"/>
          <p:cNvSpPr/>
          <p:nvPr/>
        </p:nvSpPr>
        <p:spPr>
          <a:xfrm>
            <a:off x="2093062" y="2834640"/>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月1回</a:t>
            </a:r>
            <a:endParaRPr lang="en-US" sz="1150" dirty="0"/>
          </a:p>
        </p:txBody>
      </p:sp>
      <p:sp>
        <p:nvSpPr>
          <p:cNvPr id="15" name="Shape 11"/>
          <p:cNvSpPr/>
          <p:nvPr/>
        </p:nvSpPr>
        <p:spPr>
          <a:xfrm>
            <a:off x="940918" y="3200400"/>
            <a:ext cx="3429000" cy="10058"/>
          </a:xfrm>
          <a:prstGeom prst="rect">
            <a:avLst/>
          </a:prstGeom>
          <a:solidFill>
            <a:srgbClr val="E6DFCD"/>
          </a:solidFill>
          <a:ln/>
        </p:spPr>
      </p:sp>
      <p:sp>
        <p:nvSpPr>
          <p:cNvPr id="16" name="Text 12"/>
          <p:cNvSpPr/>
          <p:nvPr/>
        </p:nvSpPr>
        <p:spPr>
          <a:xfrm>
            <a:off x="940918" y="3401568"/>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機種</a:t>
            </a:r>
            <a:endParaRPr lang="en-US" sz="1050" dirty="0"/>
          </a:p>
        </p:txBody>
      </p:sp>
      <p:sp>
        <p:nvSpPr>
          <p:cNvPr id="17" name="Text 13"/>
          <p:cNvSpPr/>
          <p:nvPr/>
        </p:nvSpPr>
        <p:spPr>
          <a:xfrm>
            <a:off x="2093062" y="3401568"/>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100RS</a:t>
            </a:r>
            <a:endParaRPr lang="en-US" sz="1150" dirty="0"/>
          </a:p>
        </p:txBody>
      </p:sp>
      <p:sp>
        <p:nvSpPr>
          <p:cNvPr id="18" name="Shape 14"/>
          <p:cNvSpPr/>
          <p:nvPr/>
        </p:nvSpPr>
        <p:spPr>
          <a:xfrm>
            <a:off x="940918" y="3767328"/>
            <a:ext cx="3429000" cy="10058"/>
          </a:xfrm>
          <a:prstGeom prst="rect">
            <a:avLst/>
          </a:prstGeom>
          <a:solidFill>
            <a:srgbClr val="E6DFCD"/>
          </a:solidFill>
          <a:ln/>
        </p:spPr>
      </p:sp>
      <p:sp>
        <p:nvSpPr>
          <p:cNvPr id="19" name="Shape 15"/>
          <p:cNvSpPr/>
          <p:nvPr/>
        </p:nvSpPr>
        <p:spPr>
          <a:xfrm>
            <a:off x="940918" y="4041648"/>
            <a:ext cx="3429000" cy="1975104"/>
          </a:xfrm>
          <a:prstGeom prst="roundRect">
            <a:avLst>
              <a:gd name="adj" fmla="val 2778"/>
            </a:avLst>
          </a:prstGeom>
          <a:solidFill>
            <a:srgbClr val="FAF3E3"/>
          </a:solidFill>
          <a:ln w="12700">
            <a:solidFill>
              <a:srgbClr val="CFC4A8"/>
            </a:solidFill>
            <a:prstDash val="dash"/>
          </a:ln>
        </p:spPr>
      </p:sp>
      <p:pic>
        <p:nvPicPr>
          <p:cNvPr id="20" name="Image 2" descr="/home/user/suzuki-ceo/selfcafe-fc-deck/assets/icons/LuImage-muted.png">    </p:cNvPr>
          <p:cNvPicPr>
            <a:picLocks noChangeAspect="1"/>
          </p:cNvPicPr>
          <p:nvPr/>
        </p:nvPicPr>
        <p:blipFill>
          <a:blip r:embed="rId3"/>
          <a:stretch>
            <a:fillRect/>
          </a:stretch>
        </p:blipFill>
        <p:spPr>
          <a:xfrm>
            <a:off x="2418405" y="4718304"/>
            <a:ext cx="474025" cy="474025"/>
          </a:xfrm>
          <a:prstGeom prst="rect">
            <a:avLst/>
          </a:prstGeom>
        </p:spPr>
      </p:pic>
      <p:sp>
        <p:nvSpPr>
          <p:cNvPr id="21" name="Text 16"/>
          <p:cNvSpPr/>
          <p:nvPr/>
        </p:nvSpPr>
        <p:spPr>
          <a:xfrm>
            <a:off x="1032358" y="5228905"/>
            <a:ext cx="3246120"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2" name="Text 17"/>
          <p:cNvSpPr/>
          <p:nvPr/>
        </p:nvSpPr>
        <p:spPr>
          <a:xfrm>
            <a:off x="1032358" y="5448361"/>
            <a:ext cx="3246120" cy="420624"/>
          </a:xfrm>
          <a:prstGeom prst="rect">
            <a:avLst/>
          </a:prstGeom>
          <a:noFill/>
          <a:ln/>
        </p:spPr>
        <p:txBody>
          <a:bodyPr wrap="square" lIns="0" tIns="0" rIns="0" bIns="0" rtlCol="0" anchor="t"/>
          <a:lstStyle/>
          <a:p>
            <a:pPr algn="ctr" indent="0" marL="0">
              <a:lnSpc>
                <a:spcPct val="115000"/>
              </a:lnSpc>
              <a:buNone/>
            </a:pPr>
            <a:r>
              <a:rPr lang="en-US" sz="1050" b="1" dirty="0">
                <a:solidFill>
                  <a:srgbClr val="5D4037"/>
                </a:solidFill>
                <a:latin typeface="Noto Sans JP" pitchFamily="34" charset="0"/>
                <a:ea typeface="Noto Sans JP" pitchFamily="34" charset="-122"/>
                <a:cs typeface="Noto Sans JP" pitchFamily="34" charset="-120"/>
              </a:rPr>
              <a:t>ドリンクマシン本体（100RS）</a:t>
            </a:r>
            <a:endParaRPr lang="en-US" sz="1050" dirty="0"/>
          </a:p>
        </p:txBody>
      </p:sp>
      <p:sp>
        <p:nvSpPr>
          <p:cNvPr id="23" name="Text 18"/>
          <p:cNvSpPr/>
          <p:nvPr/>
        </p:nvSpPr>
        <p:spPr>
          <a:xfrm>
            <a:off x="4936846" y="1371600"/>
            <a:ext cx="6588252" cy="310896"/>
          </a:xfrm>
          <a:prstGeom prst="rect">
            <a:avLst/>
          </a:prstGeom>
          <a:noFill/>
          <a:ln/>
        </p:spPr>
        <p:txBody>
          <a:bodyPr wrap="square" lIns="0" tIns="0" rIns="0" bIns="0" rtlCol="0" anchor="ctr"/>
          <a:lstStyle/>
          <a:p>
            <a:pPr indent="0" marL="0">
              <a:buNone/>
            </a:pPr>
            <a:r>
              <a:rPr lang="en-US" sz="1300" b="1" dirty="0">
                <a:solidFill>
                  <a:srgbClr val="5D4037"/>
                </a:solidFill>
                <a:latin typeface="Noto Sans JP" pitchFamily="34" charset="0"/>
                <a:ea typeface="Noto Sans JP" pitchFamily="34" charset="-122"/>
                <a:cs typeface="Noto Sans JP" pitchFamily="34" charset="-120"/>
              </a:rPr>
              <a:t>＜設置イメージ＞</a:t>
            </a:r>
            <a:endParaRPr lang="en-US" sz="1300" dirty="0"/>
          </a:p>
        </p:txBody>
      </p:sp>
      <p:sp>
        <p:nvSpPr>
          <p:cNvPr id="24" name="Shape 19"/>
          <p:cNvSpPr/>
          <p:nvPr/>
        </p:nvSpPr>
        <p:spPr>
          <a:xfrm>
            <a:off x="4936846" y="1773936"/>
            <a:ext cx="6588252" cy="4489704"/>
          </a:xfrm>
          <a:prstGeom prst="roundRect">
            <a:avLst>
              <a:gd name="adj" fmla="val 1222"/>
            </a:avLst>
          </a:prstGeom>
          <a:solidFill>
            <a:srgbClr val="FAF3E3"/>
          </a:solidFill>
          <a:ln w="12700">
            <a:solidFill>
              <a:srgbClr val="CFC4A8"/>
            </a:solidFill>
            <a:prstDash val="dash"/>
          </a:ln>
        </p:spPr>
      </p:sp>
      <p:pic>
        <p:nvPicPr>
          <p:cNvPr id="25" name="Image 3" descr="/home/user/suzuki-ceo/selfcafe-fc-deck/assets/icons/LuImage-muted.png">    </p:cNvPr>
          <p:cNvPicPr>
            <a:picLocks noChangeAspect="1"/>
          </p:cNvPicPr>
          <p:nvPr/>
        </p:nvPicPr>
        <p:blipFill>
          <a:blip r:embed="rId4"/>
          <a:stretch>
            <a:fillRect/>
          </a:stretch>
        </p:blipFill>
        <p:spPr>
          <a:xfrm>
            <a:off x="7947508" y="3707892"/>
            <a:ext cx="566928" cy="566928"/>
          </a:xfrm>
          <a:prstGeom prst="rect">
            <a:avLst/>
          </a:prstGeom>
        </p:spPr>
      </p:pic>
      <p:sp>
        <p:nvSpPr>
          <p:cNvPr id="26" name="Text 20"/>
          <p:cNvSpPr/>
          <p:nvPr/>
        </p:nvSpPr>
        <p:spPr>
          <a:xfrm>
            <a:off x="5028286" y="4311396"/>
            <a:ext cx="6405372"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7" name="Text 21"/>
          <p:cNvSpPr/>
          <p:nvPr/>
        </p:nvSpPr>
        <p:spPr>
          <a:xfrm>
            <a:off x="5028286" y="4530852"/>
            <a:ext cx="6405372" cy="420624"/>
          </a:xfrm>
          <a:prstGeom prst="rect">
            <a:avLst/>
          </a:prstGeom>
          <a:noFill/>
          <a:ln/>
        </p:spPr>
        <p:txBody>
          <a:bodyPr wrap="square" lIns="0" tIns="0" rIns="0" bIns="0" rtlCol="0" anchor="t"/>
          <a:lstStyle/>
          <a:p>
            <a:pPr algn="ctr" indent="0" marL="0">
              <a:lnSpc>
                <a:spcPct val="115000"/>
              </a:lnSpc>
              <a:buNone/>
            </a:pPr>
            <a:r>
              <a:rPr lang="en-US" sz="1100" b="1" dirty="0">
                <a:solidFill>
                  <a:srgbClr val="5D4037"/>
                </a:solidFill>
                <a:latin typeface="Noto Sans JP" pitchFamily="34" charset="0"/>
                <a:ea typeface="Noto Sans JP" pitchFamily="34" charset="-122"/>
                <a:cs typeface="Noto Sans JP" pitchFamily="34" charset="-120"/>
              </a:rPr>
              <a:t>店内に設置したドリンクマシン</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よくある質問 (FAQ)</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22</a:t>
            </a:r>
            <a:endParaRPr lang="en-US" sz="1300" dirty="0"/>
          </a:p>
        </p:txBody>
      </p:sp>
      <p:sp>
        <p:nvSpPr>
          <p:cNvPr id="6" name="Shape 3"/>
          <p:cNvSpPr/>
          <p:nvPr/>
        </p:nvSpPr>
        <p:spPr>
          <a:xfrm>
            <a:off x="666598" y="137160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27632"/>
            <a:ext cx="402336" cy="402336"/>
          </a:xfrm>
          <a:prstGeom prst="roundRect">
            <a:avLst>
              <a:gd name="adj" fmla="val 20455"/>
            </a:avLst>
          </a:prstGeom>
          <a:solidFill>
            <a:srgbClr val="1B5E20"/>
          </a:solidFill>
          <a:ln/>
        </p:spPr>
      </p:sp>
      <p:sp>
        <p:nvSpPr>
          <p:cNvPr id="8" name="Text 5"/>
          <p:cNvSpPr/>
          <p:nvPr/>
        </p:nvSpPr>
        <p:spPr>
          <a:xfrm>
            <a:off x="940918"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9" name="Text 6"/>
          <p:cNvSpPr/>
          <p:nvPr/>
        </p:nvSpPr>
        <p:spPr>
          <a:xfrm>
            <a:off x="1489558" y="1627632"/>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準備は難しいですか？</a:t>
            </a:r>
            <a:endParaRPr lang="en-US" sz="1500" dirty="0"/>
          </a:p>
        </p:txBody>
      </p:sp>
      <p:sp>
        <p:nvSpPr>
          <p:cNvPr id="10" name="Shape 7"/>
          <p:cNvSpPr/>
          <p:nvPr/>
        </p:nvSpPr>
        <p:spPr>
          <a:xfrm>
            <a:off x="940918" y="2212848"/>
            <a:ext cx="4727448" cy="10058"/>
          </a:xfrm>
          <a:prstGeom prst="rect">
            <a:avLst/>
          </a:prstGeom>
          <a:solidFill>
            <a:srgbClr val="E6DFCD"/>
          </a:solidFill>
          <a:ln/>
        </p:spPr>
      </p:sp>
      <p:sp>
        <p:nvSpPr>
          <p:cNvPr id="11" name="Shape 8"/>
          <p:cNvSpPr/>
          <p:nvPr/>
        </p:nvSpPr>
        <p:spPr>
          <a:xfrm>
            <a:off x="940918" y="2359152"/>
            <a:ext cx="402336" cy="402336"/>
          </a:xfrm>
          <a:prstGeom prst="roundRect">
            <a:avLst>
              <a:gd name="adj" fmla="val 20455"/>
            </a:avLst>
          </a:prstGeom>
          <a:solidFill>
            <a:srgbClr val="E9DEC4"/>
          </a:solidFill>
          <a:ln/>
        </p:spPr>
      </p:sp>
      <p:sp>
        <p:nvSpPr>
          <p:cNvPr id="12" name="Text 9"/>
          <p:cNvSpPr/>
          <p:nvPr/>
        </p:nvSpPr>
        <p:spPr>
          <a:xfrm>
            <a:off x="940918" y="2359152"/>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13" name="Text 10"/>
          <p:cNvSpPr/>
          <p:nvPr/>
        </p:nvSpPr>
        <p:spPr>
          <a:xfrm>
            <a:off x="1489558" y="2340864"/>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内装、システム導入まで本部がフルサポートするため、初めての方でも安心です。</a:t>
            </a:r>
            <a:endParaRPr lang="en-US" sz="1100" dirty="0"/>
          </a:p>
        </p:txBody>
      </p:sp>
      <p:sp>
        <p:nvSpPr>
          <p:cNvPr id="14" name="Shape 11"/>
          <p:cNvSpPr/>
          <p:nvPr/>
        </p:nvSpPr>
        <p:spPr>
          <a:xfrm>
            <a:off x="6239866" y="137160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Shape 12"/>
          <p:cNvSpPr/>
          <p:nvPr/>
        </p:nvSpPr>
        <p:spPr>
          <a:xfrm>
            <a:off x="6514186" y="1627632"/>
            <a:ext cx="402336" cy="402336"/>
          </a:xfrm>
          <a:prstGeom prst="roundRect">
            <a:avLst>
              <a:gd name="adj" fmla="val 20455"/>
            </a:avLst>
          </a:prstGeom>
          <a:solidFill>
            <a:srgbClr val="1B5E20"/>
          </a:solidFill>
          <a:ln/>
        </p:spPr>
      </p:sp>
      <p:sp>
        <p:nvSpPr>
          <p:cNvPr id="16" name="Text 13"/>
          <p:cNvSpPr/>
          <p:nvPr/>
        </p:nvSpPr>
        <p:spPr>
          <a:xfrm>
            <a:off x="6514186"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17" name="Text 14"/>
          <p:cNvSpPr/>
          <p:nvPr/>
        </p:nvSpPr>
        <p:spPr>
          <a:xfrm>
            <a:off x="7062826" y="1627632"/>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トラブル時の対応は？</a:t>
            </a:r>
            <a:endParaRPr lang="en-US" sz="1500" dirty="0"/>
          </a:p>
        </p:txBody>
      </p:sp>
      <p:sp>
        <p:nvSpPr>
          <p:cNvPr id="18" name="Shape 15"/>
          <p:cNvSpPr/>
          <p:nvPr/>
        </p:nvSpPr>
        <p:spPr>
          <a:xfrm>
            <a:off x="6514186" y="2212848"/>
            <a:ext cx="4727448" cy="10058"/>
          </a:xfrm>
          <a:prstGeom prst="rect">
            <a:avLst/>
          </a:prstGeom>
          <a:solidFill>
            <a:srgbClr val="E6DFCD"/>
          </a:solidFill>
          <a:ln/>
        </p:spPr>
      </p:sp>
      <p:sp>
        <p:nvSpPr>
          <p:cNvPr id="19" name="Shape 16"/>
          <p:cNvSpPr/>
          <p:nvPr/>
        </p:nvSpPr>
        <p:spPr>
          <a:xfrm>
            <a:off x="6514186" y="2359152"/>
            <a:ext cx="402336" cy="402336"/>
          </a:xfrm>
          <a:prstGeom prst="roundRect">
            <a:avLst>
              <a:gd name="adj" fmla="val 20455"/>
            </a:avLst>
          </a:prstGeom>
          <a:solidFill>
            <a:srgbClr val="E9DEC4"/>
          </a:solidFill>
          <a:ln/>
        </p:spPr>
      </p:sp>
      <p:sp>
        <p:nvSpPr>
          <p:cNvPr id="20" name="Text 17"/>
          <p:cNvSpPr/>
          <p:nvPr/>
        </p:nvSpPr>
        <p:spPr>
          <a:xfrm>
            <a:off x="6514186" y="2359152"/>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21" name="Text 18"/>
          <p:cNvSpPr/>
          <p:nvPr/>
        </p:nvSpPr>
        <p:spPr>
          <a:xfrm>
            <a:off x="7062826" y="2340864"/>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100" dirty="0"/>
          </a:p>
        </p:txBody>
      </p:sp>
      <p:sp>
        <p:nvSpPr>
          <p:cNvPr id="22" name="Shape 19"/>
          <p:cNvSpPr/>
          <p:nvPr/>
        </p:nvSpPr>
        <p:spPr>
          <a:xfrm>
            <a:off x="666598" y="382219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20"/>
          <p:cNvSpPr/>
          <p:nvPr/>
        </p:nvSpPr>
        <p:spPr>
          <a:xfrm>
            <a:off x="940918" y="4078224"/>
            <a:ext cx="402336" cy="402336"/>
          </a:xfrm>
          <a:prstGeom prst="roundRect">
            <a:avLst>
              <a:gd name="adj" fmla="val 20455"/>
            </a:avLst>
          </a:prstGeom>
          <a:solidFill>
            <a:srgbClr val="1B5E20"/>
          </a:solidFill>
          <a:ln/>
        </p:spPr>
      </p:sp>
      <p:sp>
        <p:nvSpPr>
          <p:cNvPr id="24" name="Text 21"/>
          <p:cNvSpPr/>
          <p:nvPr/>
        </p:nvSpPr>
        <p:spPr>
          <a:xfrm>
            <a:off x="940918" y="40782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25" name="Text 22"/>
          <p:cNvSpPr/>
          <p:nvPr/>
        </p:nvSpPr>
        <p:spPr>
          <a:xfrm>
            <a:off x="1489558" y="4078224"/>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人材採用については？</a:t>
            </a:r>
            <a:endParaRPr lang="en-US" sz="1500" dirty="0"/>
          </a:p>
        </p:txBody>
      </p:sp>
      <p:sp>
        <p:nvSpPr>
          <p:cNvPr id="26" name="Shape 23"/>
          <p:cNvSpPr/>
          <p:nvPr/>
        </p:nvSpPr>
        <p:spPr>
          <a:xfrm>
            <a:off x="940918" y="4663440"/>
            <a:ext cx="4727448" cy="10058"/>
          </a:xfrm>
          <a:prstGeom prst="rect">
            <a:avLst/>
          </a:prstGeom>
          <a:solidFill>
            <a:srgbClr val="E6DFCD"/>
          </a:solidFill>
          <a:ln/>
        </p:spPr>
      </p:sp>
      <p:sp>
        <p:nvSpPr>
          <p:cNvPr id="27" name="Shape 24"/>
          <p:cNvSpPr/>
          <p:nvPr/>
        </p:nvSpPr>
        <p:spPr>
          <a:xfrm>
            <a:off x="940918" y="4809744"/>
            <a:ext cx="402336" cy="402336"/>
          </a:xfrm>
          <a:prstGeom prst="roundRect">
            <a:avLst>
              <a:gd name="adj" fmla="val 20455"/>
            </a:avLst>
          </a:prstGeom>
          <a:solidFill>
            <a:srgbClr val="E9DEC4"/>
          </a:solidFill>
          <a:ln/>
        </p:spPr>
      </p:sp>
      <p:sp>
        <p:nvSpPr>
          <p:cNvPr id="28" name="Text 25"/>
          <p:cNvSpPr/>
          <p:nvPr/>
        </p:nvSpPr>
        <p:spPr>
          <a:xfrm>
            <a:off x="940918" y="4809744"/>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29" name="Text 26"/>
          <p:cNvSpPr/>
          <p:nvPr/>
        </p:nvSpPr>
        <p:spPr>
          <a:xfrm>
            <a:off x="1489558" y="4791456"/>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新しく人材を採用する必要はありません。清掃管理・原料補充はご自身でもご対応可能ですが、業務委託として委託することも可能です。</a:t>
            </a:r>
            <a:endParaRPr lang="en-US" sz="1100" dirty="0"/>
          </a:p>
        </p:txBody>
      </p:sp>
      <p:sp>
        <p:nvSpPr>
          <p:cNvPr id="30" name="Shape 27"/>
          <p:cNvSpPr/>
          <p:nvPr/>
        </p:nvSpPr>
        <p:spPr>
          <a:xfrm>
            <a:off x="6239866" y="382219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1" name="Shape 28"/>
          <p:cNvSpPr/>
          <p:nvPr/>
        </p:nvSpPr>
        <p:spPr>
          <a:xfrm>
            <a:off x="6514186" y="4078224"/>
            <a:ext cx="402336" cy="402336"/>
          </a:xfrm>
          <a:prstGeom prst="roundRect">
            <a:avLst>
              <a:gd name="adj" fmla="val 20455"/>
            </a:avLst>
          </a:prstGeom>
          <a:solidFill>
            <a:srgbClr val="1B5E20"/>
          </a:solidFill>
          <a:ln/>
        </p:spPr>
      </p:sp>
      <p:sp>
        <p:nvSpPr>
          <p:cNvPr id="32" name="Text 29"/>
          <p:cNvSpPr/>
          <p:nvPr/>
        </p:nvSpPr>
        <p:spPr>
          <a:xfrm>
            <a:off x="6514186" y="40782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33" name="Text 30"/>
          <p:cNvSpPr/>
          <p:nvPr/>
        </p:nvSpPr>
        <p:spPr>
          <a:xfrm>
            <a:off x="7062826" y="4078224"/>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集客はどうすれば？</a:t>
            </a:r>
            <a:endParaRPr lang="en-US" sz="1500" dirty="0"/>
          </a:p>
        </p:txBody>
      </p:sp>
      <p:sp>
        <p:nvSpPr>
          <p:cNvPr id="34" name="Shape 31"/>
          <p:cNvSpPr/>
          <p:nvPr/>
        </p:nvSpPr>
        <p:spPr>
          <a:xfrm>
            <a:off x="6514186" y="4663440"/>
            <a:ext cx="4727448" cy="10058"/>
          </a:xfrm>
          <a:prstGeom prst="rect">
            <a:avLst/>
          </a:prstGeom>
          <a:solidFill>
            <a:srgbClr val="E6DFCD"/>
          </a:solidFill>
          <a:ln/>
        </p:spPr>
      </p:sp>
      <p:sp>
        <p:nvSpPr>
          <p:cNvPr id="35" name="Shape 32"/>
          <p:cNvSpPr/>
          <p:nvPr/>
        </p:nvSpPr>
        <p:spPr>
          <a:xfrm>
            <a:off x="6514186" y="4809744"/>
            <a:ext cx="402336" cy="402336"/>
          </a:xfrm>
          <a:prstGeom prst="roundRect">
            <a:avLst>
              <a:gd name="adj" fmla="val 20455"/>
            </a:avLst>
          </a:prstGeom>
          <a:solidFill>
            <a:srgbClr val="E9DEC4"/>
          </a:solidFill>
          <a:ln/>
        </p:spPr>
      </p:sp>
      <p:sp>
        <p:nvSpPr>
          <p:cNvPr id="36" name="Text 33"/>
          <p:cNvSpPr/>
          <p:nvPr/>
        </p:nvSpPr>
        <p:spPr>
          <a:xfrm>
            <a:off x="6514186" y="4809744"/>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37" name="Text 34"/>
          <p:cNvSpPr/>
          <p:nvPr/>
        </p:nvSpPr>
        <p:spPr>
          <a:xfrm>
            <a:off x="7062826" y="4791456"/>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数々のメディア取材や、本部によるSEO/MEO対策をはじめとしたWebマーケティングによって集客を支援します。</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万全のサポート体制</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開業前から開業後まで、本部が一貫して伴走します。</a:t>
            </a:r>
            <a:endParaRPr lang="en-US" sz="1150" dirty="0"/>
          </a:p>
        </p:txBody>
      </p:sp>
      <p:sp>
        <p:nvSpPr>
          <p:cNvPr id="7" name="Shape 4"/>
          <p:cNvSpPr/>
          <p:nvPr/>
        </p:nvSpPr>
        <p:spPr>
          <a:xfrm>
            <a:off x="666598" y="1645920"/>
            <a:ext cx="5264658" cy="3529584"/>
          </a:xfrm>
          <a:prstGeom prst="roundRect">
            <a:avLst>
              <a:gd name="adj" fmla="val 181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77494" y="1920240"/>
            <a:ext cx="603504" cy="603504"/>
          </a:xfrm>
          <a:prstGeom prst="ellipse">
            <a:avLst/>
          </a:prstGeom>
          <a:solidFill>
            <a:srgbClr val="F0F5EF"/>
          </a:solidFill>
          <a:ln/>
        </p:spPr>
      </p:sp>
      <p:pic>
        <p:nvPicPr>
          <p:cNvPr id="9" name="Image 1" descr="/home/user/suzuki-ceo/selfcafe-fc-deck/assets/icons/LuFileCheck-green.png">    </p:cNvPr>
          <p:cNvPicPr>
            <a:picLocks noChangeAspect="1"/>
          </p:cNvPicPr>
          <p:nvPr/>
        </p:nvPicPr>
        <p:blipFill>
          <a:blip r:embed="rId2"/>
          <a:stretch>
            <a:fillRect/>
          </a:stretch>
        </p:blipFill>
        <p:spPr>
          <a:xfrm>
            <a:off x="1110264" y="2053011"/>
            <a:ext cx="337962" cy="337962"/>
          </a:xfrm>
          <a:prstGeom prst="rect">
            <a:avLst/>
          </a:prstGeom>
        </p:spPr>
      </p:pic>
      <p:sp>
        <p:nvSpPr>
          <p:cNvPr id="10" name="Text 6"/>
          <p:cNvSpPr/>
          <p:nvPr/>
        </p:nvSpPr>
        <p:spPr>
          <a:xfrm>
            <a:off x="1727302" y="1920240"/>
            <a:ext cx="3893058" cy="603504"/>
          </a:xfrm>
          <a:prstGeom prst="rect">
            <a:avLst/>
          </a:prstGeom>
          <a:noFill/>
          <a:ln/>
        </p:spPr>
        <p:txBody>
          <a:bodyPr wrap="square" lIns="0" tIns="0" rIns="0" bIns="0" rtlCol="0" anchor="ctr"/>
          <a:lstStyle/>
          <a:p>
            <a:pPr indent="0" marL="0">
              <a:buNone/>
            </a:pPr>
            <a:r>
              <a:rPr lang="en-US" sz="1900" b="1" dirty="0">
                <a:solidFill>
                  <a:srgbClr val="1B5E20"/>
                </a:solidFill>
                <a:latin typeface="Noto Sans JP" pitchFamily="34" charset="0"/>
                <a:ea typeface="Noto Sans JP" pitchFamily="34" charset="-122"/>
                <a:cs typeface="Noto Sans JP" pitchFamily="34" charset="-120"/>
              </a:rPr>
              <a:t>開業前サポート</a:t>
            </a:r>
            <a:endParaRPr lang="en-US" sz="1900" dirty="0"/>
          </a:p>
        </p:txBody>
      </p:sp>
      <p:sp>
        <p:nvSpPr>
          <p:cNvPr id="11" name="Shape 7"/>
          <p:cNvSpPr/>
          <p:nvPr/>
        </p:nvSpPr>
        <p:spPr>
          <a:xfrm>
            <a:off x="977494" y="2651760"/>
            <a:ext cx="4642866" cy="10058"/>
          </a:xfrm>
          <a:prstGeom prst="rect">
            <a:avLst/>
          </a:prstGeom>
          <a:solidFill>
            <a:srgbClr val="E6DFCD"/>
          </a:solidFill>
          <a:ln/>
        </p:spPr>
      </p:sp>
      <p:pic>
        <p:nvPicPr>
          <p:cNvPr id="12" name="Image 2" descr="/home/user/suzuki-ceo/selfcafe-fc-deck/assets/icons/LuCheck-green.png">    </p:cNvPr>
          <p:cNvPicPr>
            <a:picLocks noChangeAspect="1"/>
          </p:cNvPicPr>
          <p:nvPr/>
        </p:nvPicPr>
        <p:blipFill>
          <a:blip r:embed="rId3"/>
          <a:stretch>
            <a:fillRect/>
          </a:stretch>
        </p:blipFill>
        <p:spPr>
          <a:xfrm>
            <a:off x="995782" y="2871216"/>
            <a:ext cx="182880" cy="182880"/>
          </a:xfrm>
          <a:prstGeom prst="rect">
            <a:avLst/>
          </a:prstGeom>
        </p:spPr>
      </p:pic>
      <p:sp>
        <p:nvSpPr>
          <p:cNvPr id="13" name="Text 8"/>
          <p:cNvSpPr/>
          <p:nvPr/>
        </p:nvSpPr>
        <p:spPr>
          <a:xfrm>
            <a:off x="1306678" y="281635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パートナー制度のご説明</a:t>
            </a:r>
            <a:endParaRPr lang="en-US" sz="1150" dirty="0"/>
          </a:p>
        </p:txBody>
      </p:sp>
      <p:pic>
        <p:nvPicPr>
          <p:cNvPr id="14" name="Image 3" descr="/home/user/suzuki-ceo/selfcafe-fc-deck/assets/icons/LuCheck-green.png">    </p:cNvPr>
          <p:cNvPicPr>
            <a:picLocks noChangeAspect="1"/>
          </p:cNvPicPr>
          <p:nvPr/>
        </p:nvPicPr>
        <p:blipFill>
          <a:blip r:embed="rId4"/>
          <a:stretch>
            <a:fillRect/>
          </a:stretch>
        </p:blipFill>
        <p:spPr>
          <a:xfrm>
            <a:off x="995782" y="3255264"/>
            <a:ext cx="182880" cy="182880"/>
          </a:xfrm>
          <a:prstGeom prst="rect">
            <a:avLst/>
          </a:prstGeom>
        </p:spPr>
      </p:pic>
      <p:sp>
        <p:nvSpPr>
          <p:cNvPr id="15" name="Text 9"/>
          <p:cNvSpPr/>
          <p:nvPr/>
        </p:nvSpPr>
        <p:spPr>
          <a:xfrm>
            <a:off x="1306678" y="3200400"/>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収益試算表の作成</a:t>
            </a:r>
            <a:endParaRPr lang="en-US" sz="1150" dirty="0"/>
          </a:p>
        </p:txBody>
      </p:sp>
      <p:pic>
        <p:nvPicPr>
          <p:cNvPr id="16" name="Image 4" descr="/home/user/suzuki-ceo/selfcafe-fc-deck/assets/icons/LuCheck-green.png">    </p:cNvPr>
          <p:cNvPicPr>
            <a:picLocks noChangeAspect="1"/>
          </p:cNvPicPr>
          <p:nvPr/>
        </p:nvPicPr>
        <p:blipFill>
          <a:blip r:embed="rId5"/>
          <a:stretch>
            <a:fillRect/>
          </a:stretch>
        </p:blipFill>
        <p:spPr>
          <a:xfrm>
            <a:off x="995782" y="3639312"/>
            <a:ext cx="182880" cy="182880"/>
          </a:xfrm>
          <a:prstGeom prst="rect">
            <a:avLst/>
          </a:prstGeom>
        </p:spPr>
      </p:pic>
      <p:sp>
        <p:nvSpPr>
          <p:cNvPr id="17" name="Text 10"/>
          <p:cNvSpPr/>
          <p:nvPr/>
        </p:nvSpPr>
        <p:spPr>
          <a:xfrm>
            <a:off x="1306678" y="3584448"/>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現地調査／店舗デザイン／設計</a:t>
            </a:r>
            <a:endParaRPr lang="en-US" sz="1150" dirty="0"/>
          </a:p>
        </p:txBody>
      </p:sp>
      <p:pic>
        <p:nvPicPr>
          <p:cNvPr id="18" name="Image 5" descr="/home/user/suzuki-ceo/selfcafe-fc-deck/assets/icons/LuCheck-green.png">    </p:cNvPr>
          <p:cNvPicPr>
            <a:picLocks noChangeAspect="1"/>
          </p:cNvPicPr>
          <p:nvPr/>
        </p:nvPicPr>
        <p:blipFill>
          <a:blip r:embed="rId6"/>
          <a:stretch>
            <a:fillRect/>
          </a:stretch>
        </p:blipFill>
        <p:spPr>
          <a:xfrm>
            <a:off x="995782" y="4023360"/>
            <a:ext cx="182880" cy="182880"/>
          </a:xfrm>
          <a:prstGeom prst="rect">
            <a:avLst/>
          </a:prstGeom>
        </p:spPr>
      </p:pic>
      <p:sp>
        <p:nvSpPr>
          <p:cNvPr id="19" name="Text 11"/>
          <p:cNvSpPr/>
          <p:nvPr/>
        </p:nvSpPr>
        <p:spPr>
          <a:xfrm>
            <a:off x="1306678" y="3968496"/>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工事業者手配</a:t>
            </a:r>
            <a:endParaRPr lang="en-US" sz="1150" dirty="0"/>
          </a:p>
        </p:txBody>
      </p:sp>
      <p:pic>
        <p:nvPicPr>
          <p:cNvPr id="20" name="Image 6" descr="/home/user/suzuki-ceo/selfcafe-fc-deck/assets/icons/LuCheck-green.png">    </p:cNvPr>
          <p:cNvPicPr>
            <a:picLocks noChangeAspect="1"/>
          </p:cNvPicPr>
          <p:nvPr/>
        </p:nvPicPr>
        <p:blipFill>
          <a:blip r:embed="rId7"/>
          <a:stretch>
            <a:fillRect/>
          </a:stretch>
        </p:blipFill>
        <p:spPr>
          <a:xfrm>
            <a:off x="995782" y="4407408"/>
            <a:ext cx="182880" cy="182880"/>
          </a:xfrm>
          <a:prstGeom prst="rect">
            <a:avLst/>
          </a:prstGeom>
        </p:spPr>
      </p:pic>
      <p:sp>
        <p:nvSpPr>
          <p:cNvPr id="21" name="Text 12"/>
          <p:cNvSpPr/>
          <p:nvPr/>
        </p:nvSpPr>
        <p:spPr>
          <a:xfrm>
            <a:off x="1306678" y="4352544"/>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運営研修</a:t>
            </a:r>
            <a:endParaRPr lang="en-US" sz="1150" dirty="0"/>
          </a:p>
        </p:txBody>
      </p:sp>
      <p:sp>
        <p:nvSpPr>
          <p:cNvPr id="22" name="Shape 13"/>
          <p:cNvSpPr/>
          <p:nvPr/>
        </p:nvSpPr>
        <p:spPr>
          <a:xfrm>
            <a:off x="6260440" y="1645920"/>
            <a:ext cx="5264658" cy="3529584"/>
          </a:xfrm>
          <a:prstGeom prst="roundRect">
            <a:avLst>
              <a:gd name="adj" fmla="val 181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4"/>
          <p:cNvSpPr/>
          <p:nvPr/>
        </p:nvSpPr>
        <p:spPr>
          <a:xfrm>
            <a:off x="6571336" y="1920240"/>
            <a:ext cx="603504" cy="603504"/>
          </a:xfrm>
          <a:prstGeom prst="ellipse">
            <a:avLst/>
          </a:prstGeom>
          <a:solidFill>
            <a:srgbClr val="F0F5EF"/>
          </a:solidFill>
          <a:ln/>
        </p:spPr>
      </p:sp>
      <p:pic>
        <p:nvPicPr>
          <p:cNvPr id="24" name="Image 7" descr="/home/user/suzuki-ceo/selfcafe-fc-deck/assets/icons/LuLifeBuoy-green.png">    </p:cNvPr>
          <p:cNvPicPr>
            <a:picLocks noChangeAspect="1"/>
          </p:cNvPicPr>
          <p:nvPr/>
        </p:nvPicPr>
        <p:blipFill>
          <a:blip r:embed="rId8"/>
          <a:stretch>
            <a:fillRect/>
          </a:stretch>
        </p:blipFill>
        <p:spPr>
          <a:xfrm>
            <a:off x="6704106" y="2053011"/>
            <a:ext cx="337962" cy="337962"/>
          </a:xfrm>
          <a:prstGeom prst="rect">
            <a:avLst/>
          </a:prstGeom>
        </p:spPr>
      </p:pic>
      <p:sp>
        <p:nvSpPr>
          <p:cNvPr id="25" name="Text 15"/>
          <p:cNvSpPr/>
          <p:nvPr/>
        </p:nvSpPr>
        <p:spPr>
          <a:xfrm>
            <a:off x="7321144" y="1920240"/>
            <a:ext cx="3893058" cy="603504"/>
          </a:xfrm>
          <a:prstGeom prst="rect">
            <a:avLst/>
          </a:prstGeom>
          <a:noFill/>
          <a:ln/>
        </p:spPr>
        <p:txBody>
          <a:bodyPr wrap="square" lIns="0" tIns="0" rIns="0" bIns="0" rtlCol="0" anchor="ctr"/>
          <a:lstStyle/>
          <a:p>
            <a:pPr indent="0" marL="0">
              <a:buNone/>
            </a:pPr>
            <a:r>
              <a:rPr lang="en-US" sz="1900" b="1" dirty="0">
                <a:solidFill>
                  <a:srgbClr val="1B5E20"/>
                </a:solidFill>
                <a:latin typeface="Noto Sans JP" pitchFamily="34" charset="0"/>
                <a:ea typeface="Noto Sans JP" pitchFamily="34" charset="-122"/>
                <a:cs typeface="Noto Sans JP" pitchFamily="34" charset="-120"/>
              </a:rPr>
              <a:t>開業後サポート</a:t>
            </a:r>
            <a:endParaRPr lang="en-US" sz="1900" dirty="0"/>
          </a:p>
        </p:txBody>
      </p:sp>
      <p:sp>
        <p:nvSpPr>
          <p:cNvPr id="26" name="Shape 16"/>
          <p:cNvSpPr/>
          <p:nvPr/>
        </p:nvSpPr>
        <p:spPr>
          <a:xfrm>
            <a:off x="6571336" y="2651760"/>
            <a:ext cx="4642866" cy="10058"/>
          </a:xfrm>
          <a:prstGeom prst="rect">
            <a:avLst/>
          </a:prstGeom>
          <a:solidFill>
            <a:srgbClr val="E6DFCD"/>
          </a:solidFill>
          <a:ln/>
        </p:spPr>
      </p:sp>
      <p:pic>
        <p:nvPicPr>
          <p:cNvPr id="27" name="Image 8" descr="/home/user/suzuki-ceo/selfcafe-fc-deck/assets/icons/LuCheck-green.png">    </p:cNvPr>
          <p:cNvPicPr>
            <a:picLocks noChangeAspect="1"/>
          </p:cNvPicPr>
          <p:nvPr/>
        </p:nvPicPr>
        <p:blipFill>
          <a:blip r:embed="rId9"/>
          <a:stretch>
            <a:fillRect/>
          </a:stretch>
        </p:blipFill>
        <p:spPr>
          <a:xfrm>
            <a:off x="6589624" y="2871216"/>
            <a:ext cx="182880" cy="182880"/>
          </a:xfrm>
          <a:prstGeom prst="rect">
            <a:avLst/>
          </a:prstGeom>
        </p:spPr>
      </p:pic>
      <p:sp>
        <p:nvSpPr>
          <p:cNvPr id="28" name="Text 17"/>
          <p:cNvSpPr/>
          <p:nvPr/>
        </p:nvSpPr>
        <p:spPr>
          <a:xfrm>
            <a:off x="6900520" y="281635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店舗運営相談</a:t>
            </a:r>
            <a:endParaRPr lang="en-US" sz="1150" dirty="0"/>
          </a:p>
        </p:txBody>
      </p:sp>
      <p:pic>
        <p:nvPicPr>
          <p:cNvPr id="29" name="Image 9" descr="/home/user/suzuki-ceo/selfcafe-fc-deck/assets/icons/LuCheck-green.png">    </p:cNvPr>
          <p:cNvPicPr>
            <a:picLocks noChangeAspect="1"/>
          </p:cNvPicPr>
          <p:nvPr/>
        </p:nvPicPr>
        <p:blipFill>
          <a:blip r:embed="rId10"/>
          <a:stretch>
            <a:fillRect/>
          </a:stretch>
        </p:blipFill>
        <p:spPr>
          <a:xfrm>
            <a:off x="6589624" y="3255264"/>
            <a:ext cx="182880" cy="182880"/>
          </a:xfrm>
          <a:prstGeom prst="rect">
            <a:avLst/>
          </a:prstGeom>
        </p:spPr>
      </p:pic>
      <p:sp>
        <p:nvSpPr>
          <p:cNvPr id="30" name="Text 18"/>
          <p:cNvSpPr/>
          <p:nvPr/>
        </p:nvSpPr>
        <p:spPr>
          <a:xfrm>
            <a:off x="6900520" y="3200400"/>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マシンの定期メンテナンス</a:t>
            </a:r>
            <a:endParaRPr lang="en-US" sz="1150" dirty="0"/>
          </a:p>
        </p:txBody>
      </p:sp>
      <p:pic>
        <p:nvPicPr>
          <p:cNvPr id="31" name="Image 10" descr="/home/user/suzuki-ceo/selfcafe-fc-deck/assets/icons/LuCheck-green.png">    </p:cNvPr>
          <p:cNvPicPr>
            <a:picLocks noChangeAspect="1"/>
          </p:cNvPicPr>
          <p:nvPr/>
        </p:nvPicPr>
        <p:blipFill>
          <a:blip r:embed="rId11"/>
          <a:stretch>
            <a:fillRect/>
          </a:stretch>
        </p:blipFill>
        <p:spPr>
          <a:xfrm>
            <a:off x="6589624" y="3639312"/>
            <a:ext cx="182880" cy="182880"/>
          </a:xfrm>
          <a:prstGeom prst="rect">
            <a:avLst/>
          </a:prstGeom>
        </p:spPr>
      </p:pic>
      <p:sp>
        <p:nvSpPr>
          <p:cNvPr id="32" name="Text 19"/>
          <p:cNvSpPr/>
          <p:nvPr/>
        </p:nvSpPr>
        <p:spPr>
          <a:xfrm>
            <a:off x="6900520" y="3584448"/>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WEBサイト作成／更新</a:t>
            </a:r>
            <a:endParaRPr lang="en-US" sz="1150" dirty="0"/>
          </a:p>
        </p:txBody>
      </p:sp>
      <p:pic>
        <p:nvPicPr>
          <p:cNvPr id="33" name="Image 11" descr="/home/user/suzuki-ceo/selfcafe-fc-deck/assets/icons/LuCheck-green.png">    </p:cNvPr>
          <p:cNvPicPr>
            <a:picLocks noChangeAspect="1"/>
          </p:cNvPicPr>
          <p:nvPr/>
        </p:nvPicPr>
        <p:blipFill>
          <a:blip r:embed="rId12"/>
          <a:stretch>
            <a:fillRect/>
          </a:stretch>
        </p:blipFill>
        <p:spPr>
          <a:xfrm>
            <a:off x="6589624" y="4023360"/>
            <a:ext cx="182880" cy="182880"/>
          </a:xfrm>
          <a:prstGeom prst="rect">
            <a:avLst/>
          </a:prstGeom>
        </p:spPr>
      </p:pic>
      <p:sp>
        <p:nvSpPr>
          <p:cNvPr id="34" name="Text 20"/>
          <p:cNvSpPr/>
          <p:nvPr/>
        </p:nvSpPr>
        <p:spPr>
          <a:xfrm>
            <a:off x="6900520" y="3968496"/>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SEO対策（HP作成・定期更新／プレスリリース等）</a:t>
            </a:r>
            <a:endParaRPr lang="en-US" sz="1150" dirty="0"/>
          </a:p>
        </p:txBody>
      </p:sp>
      <p:pic>
        <p:nvPicPr>
          <p:cNvPr id="35" name="Image 12" descr="/home/user/suzuki-ceo/selfcafe-fc-deck/assets/icons/LuCheck-green.png">    </p:cNvPr>
          <p:cNvPicPr>
            <a:picLocks noChangeAspect="1"/>
          </p:cNvPicPr>
          <p:nvPr/>
        </p:nvPicPr>
        <p:blipFill>
          <a:blip r:embed="rId13"/>
          <a:stretch>
            <a:fillRect/>
          </a:stretch>
        </p:blipFill>
        <p:spPr>
          <a:xfrm>
            <a:off x="6589624" y="4407408"/>
            <a:ext cx="182880" cy="182880"/>
          </a:xfrm>
          <a:prstGeom prst="rect">
            <a:avLst/>
          </a:prstGeom>
        </p:spPr>
      </p:pic>
      <p:sp>
        <p:nvSpPr>
          <p:cNvPr id="36" name="Text 21"/>
          <p:cNvSpPr/>
          <p:nvPr/>
        </p:nvSpPr>
        <p:spPr>
          <a:xfrm>
            <a:off x="6900520" y="4352544"/>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MEO対策（Google MAP設置・定期投稿／更新等）</a:t>
            </a:r>
            <a:endParaRPr lang="en-US" sz="1150" dirty="0"/>
          </a:p>
        </p:txBody>
      </p:sp>
      <p:pic>
        <p:nvPicPr>
          <p:cNvPr id="37" name="Image 13" descr="/home/user/suzuki-ceo/selfcafe-fc-deck/assets/icons/LuCheck-green.png">    </p:cNvPr>
          <p:cNvPicPr>
            <a:picLocks noChangeAspect="1"/>
          </p:cNvPicPr>
          <p:nvPr/>
        </p:nvPicPr>
        <p:blipFill>
          <a:blip r:embed="rId14"/>
          <a:stretch>
            <a:fillRect/>
          </a:stretch>
        </p:blipFill>
        <p:spPr>
          <a:xfrm>
            <a:off x="6589624" y="4791456"/>
            <a:ext cx="182880" cy="182880"/>
          </a:xfrm>
          <a:prstGeom prst="rect">
            <a:avLst/>
          </a:prstGeom>
        </p:spPr>
      </p:pic>
      <p:sp>
        <p:nvSpPr>
          <p:cNvPr id="38" name="Text 22"/>
          <p:cNvSpPr/>
          <p:nvPr/>
        </p:nvSpPr>
        <p:spPr>
          <a:xfrm>
            <a:off x="6900520" y="473659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改修工事サポート</a:t>
            </a:r>
            <a:endParaRPr lang="en-US" sz="1150" dirty="0"/>
          </a:p>
        </p:txBody>
      </p:sp>
      <p:sp>
        <p:nvSpPr>
          <p:cNvPr id="39" name="Shape 23"/>
          <p:cNvSpPr/>
          <p:nvPr/>
        </p:nvSpPr>
        <p:spPr>
          <a:xfrm>
            <a:off x="666598" y="5394960"/>
            <a:ext cx="10858500" cy="859536"/>
          </a:xfrm>
          <a:prstGeom prst="roundRect">
            <a:avLst>
              <a:gd name="adj" fmla="val 9574"/>
            </a:avLst>
          </a:prstGeom>
          <a:solidFill>
            <a:srgbClr val="12401A"/>
          </a:solidFill>
          <a:ln/>
          <a:effectLst>
            <a:outerShdw sx="100000" sy="100000" kx="0" ky="0" algn="bl" rotWithShape="0" blurRad="114300" dist="17780" dir="5400000">
              <a:srgbClr val="6B6250">
                <a:alpha val="14000"/>
              </a:srgbClr>
            </a:outerShdw>
          </a:effectLst>
        </p:spPr>
      </p:sp>
      <p:pic>
        <p:nvPicPr>
          <p:cNvPr id="40" name="Image 14" descr="/home/user/suzuki-ceo/selfcafe-fc-deck/assets/icons/LuUsers-white.png">    </p:cNvPr>
          <p:cNvPicPr>
            <a:picLocks noChangeAspect="1"/>
          </p:cNvPicPr>
          <p:nvPr/>
        </p:nvPicPr>
        <p:blipFill>
          <a:blip r:embed="rId15"/>
          <a:stretch>
            <a:fillRect/>
          </a:stretch>
        </p:blipFill>
        <p:spPr>
          <a:xfrm>
            <a:off x="1050646" y="5678424"/>
            <a:ext cx="292608" cy="292608"/>
          </a:xfrm>
          <a:prstGeom prst="rect">
            <a:avLst/>
          </a:prstGeom>
        </p:spPr>
      </p:pic>
      <p:sp>
        <p:nvSpPr>
          <p:cNvPr id="41" name="Text 24"/>
          <p:cNvSpPr/>
          <p:nvPr/>
        </p:nvSpPr>
        <p:spPr>
          <a:xfrm>
            <a:off x="1489558" y="5394960"/>
            <a:ext cx="9651492" cy="859536"/>
          </a:xfrm>
          <a:prstGeom prst="rect">
            <a:avLst/>
          </a:prstGeom>
          <a:noFill/>
          <a:ln/>
        </p:spPr>
        <p:txBody>
          <a:bodyPr wrap="square" lIns="0" tIns="0" rIns="0" bIns="0" rtlCol="0" anchor="ctr"/>
          <a:lstStyle/>
          <a:p>
            <a:pPr indent="0" marL="0">
              <a:buNone/>
            </a:pPr>
            <a:r>
              <a:rPr lang="en-US" sz="1800" b="1" dirty="0">
                <a:solidFill>
                  <a:srgbClr val="FFFFFF"/>
                </a:solidFill>
                <a:latin typeface="Noto Sans JP" pitchFamily="34" charset="0"/>
                <a:ea typeface="Noto Sans JP" pitchFamily="34" charset="-122"/>
                <a:cs typeface="Noto Sans JP" pitchFamily="34" charset="-120"/>
              </a:rPr>
              <a:t>新たに人を採用・配置する必要はありません。</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開業までの流れ</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24</a:t>
            </a:r>
            <a:endParaRPr lang="en-US" sz="1300" dirty="0"/>
          </a:p>
        </p:txBody>
      </p:sp>
      <p:sp>
        <p:nvSpPr>
          <p:cNvPr id="6" name="Shape 3"/>
          <p:cNvSpPr/>
          <p:nvPr/>
        </p:nvSpPr>
        <p:spPr>
          <a:xfrm>
            <a:off x="7338517" y="1975104"/>
            <a:ext cx="2011680" cy="475488"/>
          </a:xfrm>
          <a:prstGeom prst="roundRect">
            <a:avLst>
              <a:gd name="adj" fmla="val 50000"/>
            </a:avLst>
          </a:prstGeom>
          <a:solidFill>
            <a:srgbClr val="F0F5EF"/>
          </a:solidFill>
          <a:ln w="9525">
            <a:solidFill>
              <a:srgbClr val="CBDCCB"/>
            </a:solidFill>
            <a:prstDash val="solid"/>
          </a:ln>
        </p:spPr>
      </p:sp>
      <p:pic>
        <p:nvPicPr>
          <p:cNvPr id="7" name="Image 1" descr="/home/user/suzuki-ceo/selfcafe-fc-deck/assets/icons/LuClock-green.png">    </p:cNvPr>
          <p:cNvPicPr>
            <a:picLocks noChangeAspect="1"/>
          </p:cNvPicPr>
          <p:nvPr/>
        </p:nvPicPr>
        <p:blipFill>
          <a:blip r:embed="rId2"/>
          <a:stretch>
            <a:fillRect/>
          </a:stretch>
        </p:blipFill>
        <p:spPr>
          <a:xfrm>
            <a:off x="7557973" y="2093976"/>
            <a:ext cx="237744" cy="237744"/>
          </a:xfrm>
          <a:prstGeom prst="rect">
            <a:avLst/>
          </a:prstGeom>
        </p:spPr>
      </p:pic>
      <p:sp>
        <p:nvSpPr>
          <p:cNvPr id="8" name="Text 4"/>
          <p:cNvSpPr/>
          <p:nvPr/>
        </p:nvSpPr>
        <p:spPr>
          <a:xfrm>
            <a:off x="7850581" y="1975104"/>
            <a:ext cx="1463040" cy="475488"/>
          </a:xfrm>
          <a:prstGeom prst="rect">
            <a:avLst/>
          </a:prstGeom>
          <a:noFill/>
          <a:ln/>
        </p:spPr>
        <p:txBody>
          <a:bodyPr wrap="square" lIns="0" tIns="0" rIns="0" bIns="0" rtlCol="0" anchor="ctr"/>
          <a:lstStyle/>
          <a:p>
            <a:pPr indent="0" marL="0">
              <a:buNone/>
            </a:pPr>
            <a:r>
              <a:rPr lang="en-US" sz="1250" b="1" dirty="0">
                <a:solidFill>
                  <a:srgbClr val="1B5E20"/>
                </a:solidFill>
                <a:latin typeface="Noto Sans JP" pitchFamily="34" charset="0"/>
                <a:ea typeface="Noto Sans JP" pitchFamily="34" charset="-122"/>
                <a:cs typeface="Noto Sans JP" pitchFamily="34" charset="-120"/>
              </a:rPr>
              <a:t>2〜3か月程度</a:t>
            </a:r>
            <a:endParaRPr lang="en-US" sz="1250" dirty="0"/>
          </a:p>
        </p:txBody>
      </p:sp>
      <p:sp>
        <p:nvSpPr>
          <p:cNvPr id="9" name="Shape 5"/>
          <p:cNvSpPr/>
          <p:nvPr/>
        </p:nvSpPr>
        <p:spPr>
          <a:xfrm>
            <a:off x="5181905" y="2450592"/>
            <a:ext cx="12802" cy="310896"/>
          </a:xfrm>
          <a:prstGeom prst="rect">
            <a:avLst/>
          </a:prstGeom>
          <a:solidFill>
            <a:srgbClr val="9DBBA0"/>
          </a:solidFill>
          <a:ln/>
        </p:spPr>
      </p:sp>
      <p:sp>
        <p:nvSpPr>
          <p:cNvPr id="10" name="Shape 6"/>
          <p:cNvSpPr/>
          <p:nvPr/>
        </p:nvSpPr>
        <p:spPr>
          <a:xfrm>
            <a:off x="11497666" y="2450592"/>
            <a:ext cx="12802" cy="310896"/>
          </a:xfrm>
          <a:prstGeom prst="rect">
            <a:avLst/>
          </a:prstGeom>
          <a:solidFill>
            <a:srgbClr val="9DBBA0"/>
          </a:solidFill>
          <a:ln/>
        </p:spPr>
      </p:sp>
      <p:sp>
        <p:nvSpPr>
          <p:cNvPr id="11" name="Shape 7"/>
          <p:cNvSpPr/>
          <p:nvPr/>
        </p:nvSpPr>
        <p:spPr>
          <a:xfrm>
            <a:off x="5181905" y="2743200"/>
            <a:ext cx="6324905" cy="12802"/>
          </a:xfrm>
          <a:prstGeom prst="rect">
            <a:avLst/>
          </a:prstGeom>
          <a:solidFill>
            <a:srgbClr val="9DBBA0"/>
          </a:solidFill>
          <a:ln/>
        </p:spPr>
      </p:sp>
      <p:sp>
        <p:nvSpPr>
          <p:cNvPr id="12" name="Shape 8"/>
          <p:cNvSpPr/>
          <p:nvPr/>
        </p:nvSpPr>
        <p:spPr>
          <a:xfrm>
            <a:off x="666598"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1406804" y="3108960"/>
            <a:ext cx="384048" cy="384048"/>
          </a:xfrm>
          <a:prstGeom prst="roundRect">
            <a:avLst>
              <a:gd name="adj" fmla="val 21429"/>
            </a:avLst>
          </a:prstGeom>
          <a:solidFill>
            <a:srgbClr val="1B5E20"/>
          </a:solidFill>
          <a:ln/>
        </p:spPr>
      </p:sp>
      <p:sp>
        <p:nvSpPr>
          <p:cNvPr id="14" name="Text 10"/>
          <p:cNvSpPr/>
          <p:nvPr/>
        </p:nvSpPr>
        <p:spPr>
          <a:xfrm>
            <a:off x="140680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5" name="Shape 11"/>
          <p:cNvSpPr/>
          <p:nvPr/>
        </p:nvSpPr>
        <p:spPr>
          <a:xfrm>
            <a:off x="1214780" y="3639312"/>
            <a:ext cx="768096" cy="768096"/>
          </a:xfrm>
          <a:prstGeom prst="ellipse">
            <a:avLst/>
          </a:prstGeom>
          <a:solidFill>
            <a:srgbClr val="F0F5EF"/>
          </a:solidFill>
          <a:ln/>
        </p:spPr>
      </p:sp>
      <p:pic>
        <p:nvPicPr>
          <p:cNvPr id="16" name="Image 2" descr="/home/user/suzuki-ceo/selfcafe-fc-deck/assets/icons/LuUsers-green.png">    </p:cNvPr>
          <p:cNvPicPr>
            <a:picLocks noChangeAspect="1"/>
          </p:cNvPicPr>
          <p:nvPr/>
        </p:nvPicPr>
        <p:blipFill>
          <a:blip r:embed="rId3"/>
          <a:stretch>
            <a:fillRect/>
          </a:stretch>
        </p:blipFill>
        <p:spPr>
          <a:xfrm>
            <a:off x="1388516" y="3813048"/>
            <a:ext cx="420624" cy="420624"/>
          </a:xfrm>
          <a:prstGeom prst="rect">
            <a:avLst/>
          </a:prstGeom>
        </p:spPr>
      </p:pic>
      <p:sp>
        <p:nvSpPr>
          <p:cNvPr id="17" name="Text 12"/>
          <p:cNvSpPr/>
          <p:nvPr/>
        </p:nvSpPr>
        <p:spPr>
          <a:xfrm>
            <a:off x="776326"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面談</a:t>
            </a:r>
            <a:endParaRPr lang="en-US" sz="1550" dirty="0"/>
          </a:p>
        </p:txBody>
      </p:sp>
      <p:sp>
        <p:nvSpPr>
          <p:cNvPr id="18" name="Text 13"/>
          <p:cNvSpPr/>
          <p:nvPr/>
        </p:nvSpPr>
        <p:spPr>
          <a:xfrm>
            <a:off x="758038"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制度のご説明と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ご要望のヒアリング</a:t>
            </a:r>
            <a:endParaRPr lang="en-US" sz="1000" dirty="0"/>
          </a:p>
        </p:txBody>
      </p:sp>
      <p:sp>
        <p:nvSpPr>
          <p:cNvPr id="19" name="Shape 14"/>
          <p:cNvSpPr/>
          <p:nvPr/>
        </p:nvSpPr>
        <p:spPr>
          <a:xfrm rot="5400000">
            <a:off x="2622499" y="4215384"/>
            <a:ext cx="201168" cy="201168"/>
          </a:xfrm>
          <a:prstGeom prst="triangle">
            <a:avLst/>
          </a:prstGeom>
          <a:solidFill>
            <a:srgbClr val="C9BFA6"/>
          </a:solidFill>
          <a:ln/>
        </p:spPr>
      </p:sp>
      <p:sp>
        <p:nvSpPr>
          <p:cNvPr id="20" name="Shape 15"/>
          <p:cNvSpPr/>
          <p:nvPr/>
        </p:nvSpPr>
        <p:spPr>
          <a:xfrm>
            <a:off x="2915107"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1" name="Shape 16"/>
          <p:cNvSpPr/>
          <p:nvPr/>
        </p:nvSpPr>
        <p:spPr>
          <a:xfrm>
            <a:off x="3655314" y="3108960"/>
            <a:ext cx="384048" cy="384048"/>
          </a:xfrm>
          <a:prstGeom prst="roundRect">
            <a:avLst>
              <a:gd name="adj" fmla="val 21429"/>
            </a:avLst>
          </a:prstGeom>
          <a:solidFill>
            <a:srgbClr val="1B5E20"/>
          </a:solidFill>
          <a:ln/>
        </p:spPr>
      </p:sp>
      <p:sp>
        <p:nvSpPr>
          <p:cNvPr id="22" name="Text 17"/>
          <p:cNvSpPr/>
          <p:nvPr/>
        </p:nvSpPr>
        <p:spPr>
          <a:xfrm>
            <a:off x="365531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23" name="Shape 18"/>
          <p:cNvSpPr/>
          <p:nvPr/>
        </p:nvSpPr>
        <p:spPr>
          <a:xfrm>
            <a:off x="3463290" y="3639312"/>
            <a:ext cx="768096" cy="768096"/>
          </a:xfrm>
          <a:prstGeom prst="ellipse">
            <a:avLst/>
          </a:prstGeom>
          <a:solidFill>
            <a:srgbClr val="F0F5EF"/>
          </a:solidFill>
          <a:ln/>
        </p:spPr>
      </p:sp>
      <p:pic>
        <p:nvPicPr>
          <p:cNvPr id="24" name="Image 3" descr="/home/user/suzuki-ceo/selfcafe-fc-deck/assets/icons/LuFileSearch-green.png">    </p:cNvPr>
          <p:cNvPicPr>
            <a:picLocks noChangeAspect="1"/>
          </p:cNvPicPr>
          <p:nvPr/>
        </p:nvPicPr>
        <p:blipFill>
          <a:blip r:embed="rId4"/>
          <a:stretch>
            <a:fillRect/>
          </a:stretch>
        </p:blipFill>
        <p:spPr>
          <a:xfrm>
            <a:off x="3637026" y="3813048"/>
            <a:ext cx="420624" cy="420624"/>
          </a:xfrm>
          <a:prstGeom prst="rect">
            <a:avLst/>
          </a:prstGeom>
        </p:spPr>
      </p:pic>
      <p:sp>
        <p:nvSpPr>
          <p:cNvPr id="25" name="Text 19"/>
          <p:cNvSpPr/>
          <p:nvPr/>
        </p:nvSpPr>
        <p:spPr>
          <a:xfrm>
            <a:off x="3024835"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加盟審査</a:t>
            </a:r>
            <a:endParaRPr lang="en-US" sz="1550" dirty="0"/>
          </a:p>
        </p:txBody>
      </p:sp>
      <p:sp>
        <p:nvSpPr>
          <p:cNvPr id="26" name="Text 20"/>
          <p:cNvSpPr/>
          <p:nvPr/>
        </p:nvSpPr>
        <p:spPr>
          <a:xfrm>
            <a:off x="3006547"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立地・条件を</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本部で審査</a:t>
            </a:r>
            <a:endParaRPr lang="en-US" sz="1000" dirty="0"/>
          </a:p>
        </p:txBody>
      </p:sp>
      <p:sp>
        <p:nvSpPr>
          <p:cNvPr id="27" name="Shape 21"/>
          <p:cNvSpPr/>
          <p:nvPr/>
        </p:nvSpPr>
        <p:spPr>
          <a:xfrm rot="5400000">
            <a:off x="4871009" y="4215384"/>
            <a:ext cx="201168" cy="201168"/>
          </a:xfrm>
          <a:prstGeom prst="triangle">
            <a:avLst/>
          </a:prstGeom>
          <a:solidFill>
            <a:srgbClr val="C9BFA6"/>
          </a:solidFill>
          <a:ln/>
        </p:spPr>
      </p:sp>
      <p:sp>
        <p:nvSpPr>
          <p:cNvPr id="28" name="Shape 22"/>
          <p:cNvSpPr/>
          <p:nvPr/>
        </p:nvSpPr>
        <p:spPr>
          <a:xfrm>
            <a:off x="5163617"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9" name="Shape 23"/>
          <p:cNvSpPr/>
          <p:nvPr/>
        </p:nvSpPr>
        <p:spPr>
          <a:xfrm>
            <a:off x="5903824" y="3108960"/>
            <a:ext cx="384048" cy="384048"/>
          </a:xfrm>
          <a:prstGeom prst="roundRect">
            <a:avLst>
              <a:gd name="adj" fmla="val 21429"/>
            </a:avLst>
          </a:prstGeom>
          <a:solidFill>
            <a:srgbClr val="1B5E20"/>
          </a:solidFill>
          <a:ln/>
        </p:spPr>
      </p:sp>
      <p:sp>
        <p:nvSpPr>
          <p:cNvPr id="30" name="Text 24"/>
          <p:cNvSpPr/>
          <p:nvPr/>
        </p:nvSpPr>
        <p:spPr>
          <a:xfrm>
            <a:off x="590382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31" name="Shape 25"/>
          <p:cNvSpPr/>
          <p:nvPr/>
        </p:nvSpPr>
        <p:spPr>
          <a:xfrm>
            <a:off x="5711800" y="3639312"/>
            <a:ext cx="768096" cy="768096"/>
          </a:xfrm>
          <a:prstGeom prst="ellipse">
            <a:avLst/>
          </a:prstGeom>
          <a:solidFill>
            <a:srgbClr val="F0F5EF"/>
          </a:solidFill>
          <a:ln/>
        </p:spPr>
      </p:sp>
      <p:pic>
        <p:nvPicPr>
          <p:cNvPr id="32" name="Image 4" descr="/home/user/suzuki-ceo/selfcafe-fc-deck/assets/icons/LuPenLine-green.png">    </p:cNvPr>
          <p:cNvPicPr>
            <a:picLocks noChangeAspect="1"/>
          </p:cNvPicPr>
          <p:nvPr/>
        </p:nvPicPr>
        <p:blipFill>
          <a:blip r:embed="rId5"/>
          <a:stretch>
            <a:fillRect/>
          </a:stretch>
        </p:blipFill>
        <p:spPr>
          <a:xfrm>
            <a:off x="5885536" y="3813048"/>
            <a:ext cx="420624" cy="420624"/>
          </a:xfrm>
          <a:prstGeom prst="rect">
            <a:avLst/>
          </a:prstGeom>
        </p:spPr>
      </p:pic>
      <p:sp>
        <p:nvSpPr>
          <p:cNvPr id="33" name="Text 26"/>
          <p:cNvSpPr/>
          <p:nvPr/>
        </p:nvSpPr>
        <p:spPr>
          <a:xfrm>
            <a:off x="5273345"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加盟申込み</a:t>
            </a:r>
            <a:endParaRPr lang="en-US" sz="1550" dirty="0"/>
          </a:p>
        </p:txBody>
      </p:sp>
      <p:sp>
        <p:nvSpPr>
          <p:cNvPr id="34" name="Text 27"/>
          <p:cNvSpPr/>
          <p:nvPr/>
        </p:nvSpPr>
        <p:spPr>
          <a:xfrm>
            <a:off x="5255057"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契約締結と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設置場所の確定</a:t>
            </a:r>
            <a:endParaRPr lang="en-US" sz="1000" dirty="0"/>
          </a:p>
        </p:txBody>
      </p:sp>
      <p:sp>
        <p:nvSpPr>
          <p:cNvPr id="35" name="Shape 28"/>
          <p:cNvSpPr/>
          <p:nvPr/>
        </p:nvSpPr>
        <p:spPr>
          <a:xfrm rot="5400000">
            <a:off x="7119518" y="4215384"/>
            <a:ext cx="201168" cy="201168"/>
          </a:xfrm>
          <a:prstGeom prst="triangle">
            <a:avLst/>
          </a:prstGeom>
          <a:solidFill>
            <a:srgbClr val="C9BFA6"/>
          </a:solidFill>
          <a:ln/>
        </p:spPr>
      </p:sp>
      <p:sp>
        <p:nvSpPr>
          <p:cNvPr id="36" name="Shape 29"/>
          <p:cNvSpPr/>
          <p:nvPr/>
        </p:nvSpPr>
        <p:spPr>
          <a:xfrm>
            <a:off x="7412126"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7" name="Shape 30"/>
          <p:cNvSpPr/>
          <p:nvPr/>
        </p:nvSpPr>
        <p:spPr>
          <a:xfrm>
            <a:off x="8152333" y="3108960"/>
            <a:ext cx="384048" cy="384048"/>
          </a:xfrm>
          <a:prstGeom prst="roundRect">
            <a:avLst>
              <a:gd name="adj" fmla="val 21429"/>
            </a:avLst>
          </a:prstGeom>
          <a:solidFill>
            <a:srgbClr val="1B5E20"/>
          </a:solidFill>
          <a:ln/>
        </p:spPr>
      </p:sp>
      <p:sp>
        <p:nvSpPr>
          <p:cNvPr id="38" name="Text 31"/>
          <p:cNvSpPr/>
          <p:nvPr/>
        </p:nvSpPr>
        <p:spPr>
          <a:xfrm>
            <a:off x="8152333"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39" name="Shape 32"/>
          <p:cNvSpPr/>
          <p:nvPr/>
        </p:nvSpPr>
        <p:spPr>
          <a:xfrm>
            <a:off x="7960309" y="3639312"/>
            <a:ext cx="768096" cy="768096"/>
          </a:xfrm>
          <a:prstGeom prst="ellipse">
            <a:avLst/>
          </a:prstGeom>
          <a:solidFill>
            <a:srgbClr val="F0F5EF"/>
          </a:solidFill>
          <a:ln/>
        </p:spPr>
      </p:sp>
      <p:pic>
        <p:nvPicPr>
          <p:cNvPr id="40" name="Image 5" descr="/home/user/suzuki-ceo/selfcafe-fc-deck/assets/icons/LuHammer-green.png">    </p:cNvPr>
          <p:cNvPicPr>
            <a:picLocks noChangeAspect="1"/>
          </p:cNvPicPr>
          <p:nvPr/>
        </p:nvPicPr>
        <p:blipFill>
          <a:blip r:embed="rId6"/>
          <a:stretch>
            <a:fillRect/>
          </a:stretch>
        </p:blipFill>
        <p:spPr>
          <a:xfrm>
            <a:off x="8134045" y="3813048"/>
            <a:ext cx="420624" cy="420624"/>
          </a:xfrm>
          <a:prstGeom prst="rect">
            <a:avLst/>
          </a:prstGeom>
        </p:spPr>
      </p:pic>
      <p:sp>
        <p:nvSpPr>
          <p:cNvPr id="41" name="Text 33"/>
          <p:cNvSpPr/>
          <p:nvPr/>
        </p:nvSpPr>
        <p:spPr>
          <a:xfrm>
            <a:off x="7521854"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工事</a:t>
            </a:r>
            <a:endParaRPr lang="en-US" sz="1550" dirty="0"/>
          </a:p>
        </p:txBody>
      </p:sp>
      <p:sp>
        <p:nvSpPr>
          <p:cNvPr id="42" name="Text 34"/>
          <p:cNvSpPr/>
          <p:nvPr/>
        </p:nvSpPr>
        <p:spPr>
          <a:xfrm>
            <a:off x="7503566"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機器設置と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システム導入</a:t>
            </a:r>
            <a:endParaRPr lang="en-US" sz="1000" dirty="0"/>
          </a:p>
        </p:txBody>
      </p:sp>
      <p:sp>
        <p:nvSpPr>
          <p:cNvPr id="43" name="Shape 35"/>
          <p:cNvSpPr/>
          <p:nvPr/>
        </p:nvSpPr>
        <p:spPr>
          <a:xfrm rot="5400000">
            <a:off x="9368028" y="4215384"/>
            <a:ext cx="201168" cy="201168"/>
          </a:xfrm>
          <a:prstGeom prst="triangle">
            <a:avLst/>
          </a:prstGeom>
          <a:solidFill>
            <a:srgbClr val="C9BFA6"/>
          </a:solidFill>
          <a:ln/>
        </p:spPr>
      </p:sp>
      <p:sp>
        <p:nvSpPr>
          <p:cNvPr id="44" name="Shape 36"/>
          <p:cNvSpPr/>
          <p:nvPr/>
        </p:nvSpPr>
        <p:spPr>
          <a:xfrm>
            <a:off x="9660636" y="2871216"/>
            <a:ext cx="1864462" cy="2889504"/>
          </a:xfrm>
          <a:prstGeom prst="roundRect">
            <a:avLst>
              <a:gd name="adj" fmla="val 4414"/>
            </a:avLst>
          </a:prstGeom>
          <a:solidFill>
            <a:srgbClr val="12401A"/>
          </a:solidFill>
          <a:ln/>
          <a:effectLst>
            <a:outerShdw sx="100000" sy="100000" kx="0" ky="0" algn="bl" rotWithShape="0" blurRad="114300" dist="17780" dir="5400000">
              <a:srgbClr val="6B6250">
                <a:alpha val="14000"/>
              </a:srgbClr>
            </a:outerShdw>
          </a:effectLst>
        </p:spPr>
      </p:sp>
      <p:sp>
        <p:nvSpPr>
          <p:cNvPr id="45" name="Shape 37"/>
          <p:cNvSpPr/>
          <p:nvPr/>
        </p:nvSpPr>
        <p:spPr>
          <a:xfrm>
            <a:off x="10400843" y="3108960"/>
            <a:ext cx="384048" cy="384048"/>
          </a:xfrm>
          <a:prstGeom prst="roundRect">
            <a:avLst>
              <a:gd name="adj" fmla="val 21429"/>
            </a:avLst>
          </a:prstGeom>
          <a:solidFill>
            <a:srgbClr val="2C6B34"/>
          </a:solidFill>
          <a:ln/>
        </p:spPr>
      </p:sp>
      <p:sp>
        <p:nvSpPr>
          <p:cNvPr id="46" name="Text 38"/>
          <p:cNvSpPr/>
          <p:nvPr/>
        </p:nvSpPr>
        <p:spPr>
          <a:xfrm>
            <a:off x="10400843"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47" name="Shape 39"/>
          <p:cNvSpPr/>
          <p:nvPr/>
        </p:nvSpPr>
        <p:spPr>
          <a:xfrm>
            <a:off x="10208819" y="3639312"/>
            <a:ext cx="768096" cy="768096"/>
          </a:xfrm>
          <a:prstGeom prst="ellipse">
            <a:avLst/>
          </a:prstGeom>
          <a:solidFill>
            <a:srgbClr val="1D5624"/>
          </a:solidFill>
          <a:ln/>
        </p:spPr>
      </p:sp>
      <p:pic>
        <p:nvPicPr>
          <p:cNvPr id="48" name="Image 6" descr="/home/user/suzuki-ceo/selfcafe-fc-deck/assets/icons/LuStore-white.png">    </p:cNvPr>
          <p:cNvPicPr>
            <a:picLocks noChangeAspect="1"/>
          </p:cNvPicPr>
          <p:nvPr/>
        </p:nvPicPr>
        <p:blipFill>
          <a:blip r:embed="rId7"/>
          <a:stretch>
            <a:fillRect/>
          </a:stretch>
        </p:blipFill>
        <p:spPr>
          <a:xfrm>
            <a:off x="10382555" y="3813048"/>
            <a:ext cx="420624" cy="420624"/>
          </a:xfrm>
          <a:prstGeom prst="rect">
            <a:avLst/>
          </a:prstGeom>
        </p:spPr>
      </p:pic>
      <p:sp>
        <p:nvSpPr>
          <p:cNvPr id="49" name="Text 40"/>
          <p:cNvSpPr/>
          <p:nvPr/>
        </p:nvSpPr>
        <p:spPr>
          <a:xfrm>
            <a:off x="9770364" y="4718304"/>
            <a:ext cx="1645006" cy="365760"/>
          </a:xfrm>
          <a:prstGeom prst="rect">
            <a:avLst/>
          </a:prstGeom>
          <a:noFill/>
          <a:ln/>
        </p:spPr>
        <p:txBody>
          <a:bodyPr wrap="square" lIns="0" tIns="0" rIns="0" bIns="0" rtlCol="0" anchor="ctr"/>
          <a:lstStyle/>
          <a:p>
            <a:pPr algn="ctr" indent="0" marL="0">
              <a:buNone/>
            </a:pPr>
            <a:r>
              <a:rPr lang="en-US" sz="1550" b="1" dirty="0">
                <a:solidFill>
                  <a:srgbClr val="FFFFFF"/>
                </a:solidFill>
                <a:latin typeface="Noto Sans JP" pitchFamily="34" charset="0"/>
                <a:ea typeface="Noto Sans JP" pitchFamily="34" charset="-122"/>
                <a:cs typeface="Noto Sans JP" pitchFamily="34" charset="-120"/>
              </a:rPr>
              <a:t>運営開始</a:t>
            </a:r>
            <a:endParaRPr lang="en-US" sz="1550" dirty="0"/>
          </a:p>
        </p:txBody>
      </p:sp>
      <p:sp>
        <p:nvSpPr>
          <p:cNvPr id="50" name="Text 41"/>
          <p:cNvSpPr/>
          <p:nvPr/>
        </p:nvSpPr>
        <p:spPr>
          <a:xfrm>
            <a:off x="9752076"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A9C6AC"/>
                </a:solidFill>
                <a:latin typeface="Noto Sans JP" pitchFamily="34" charset="0"/>
                <a:ea typeface="Noto Sans JP" pitchFamily="34" charset="-122"/>
                <a:cs typeface="Noto Sans JP" pitchFamily="34" charset="-120"/>
              </a:rPr>
              <a:t>研修を経て</a:t>
            </a:r>
            <a:endParaRPr lang="en-US" sz="1000" dirty="0"/>
          </a:p>
          <a:p>
            <a:pPr algn="ctr" indent="0" marL="0">
              <a:lnSpc>
                <a:spcPct val="125000"/>
              </a:lnSpc>
              <a:buNone/>
            </a:pPr>
            <a:r>
              <a:rPr lang="en-US" sz="1000" dirty="0">
                <a:solidFill>
                  <a:srgbClr val="A9C6AC"/>
                </a:solidFill>
                <a:latin typeface="Noto Sans JP" pitchFamily="34" charset="0"/>
                <a:ea typeface="Noto Sans JP" pitchFamily="34" charset="-122"/>
                <a:cs typeface="Noto Sans JP" pitchFamily="34" charset="-120"/>
              </a:rPr>
              <a:t>オープン</a:t>
            </a:r>
            <a:endParaRPr lang="en-US" sz="1000" dirty="0"/>
          </a:p>
        </p:txBody>
      </p:sp>
      <p:sp>
        <p:nvSpPr>
          <p:cNvPr id="51" name="Text 42"/>
          <p:cNvSpPr/>
          <p:nvPr/>
        </p:nvSpPr>
        <p:spPr>
          <a:xfrm>
            <a:off x="666598" y="5961888"/>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※工事内容・立地条件により期間は変動します。</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25</a:t>
            </a:r>
            <a:endParaRPr lang="en-US" sz="1300" dirty="0"/>
          </a:p>
        </p:txBody>
      </p:sp>
      <p:sp>
        <p:nvSpPr>
          <p:cNvPr id="3" name="Shape 1"/>
          <p:cNvSpPr/>
          <p:nvPr/>
        </p:nvSpPr>
        <p:spPr>
          <a:xfrm>
            <a:off x="666598" y="548640"/>
            <a:ext cx="10858500" cy="5577840"/>
          </a:xfrm>
          <a:prstGeom prst="roundRect">
            <a:avLst>
              <a:gd name="adj" fmla="val 1475"/>
            </a:avLst>
          </a:prstGeom>
          <a:solidFill>
            <a:srgbClr val="12401A"/>
          </a:solidFill>
          <a:ln/>
          <a:effectLst>
            <a:outerShdw sx="100000" sy="100000" kx="0" ky="0" algn="bl" rotWithShape="0" blurRad="114300" dist="17780" dir="5400000">
              <a:srgbClr val="6B6250">
                <a:alpha val="14000"/>
              </a:srgbClr>
            </a:outerShdw>
          </a:effectLst>
        </p:spPr>
      </p:sp>
      <p:pic>
        <p:nvPicPr>
          <p:cNvPr id="4" name="Image 0" descr="/home/user/suzuki-ceo/selfcafe-fc-deck/assets/logo_white.png">    </p:cNvPr>
          <p:cNvPicPr>
            <a:picLocks noChangeAspect="1"/>
          </p:cNvPicPr>
          <p:nvPr/>
        </p:nvPicPr>
        <p:blipFill>
          <a:blip r:embed="rId1"/>
          <a:stretch>
            <a:fillRect/>
          </a:stretch>
        </p:blipFill>
        <p:spPr>
          <a:xfrm>
            <a:off x="1398118" y="1042416"/>
            <a:ext cx="2432304" cy="345643"/>
          </a:xfrm>
          <a:prstGeom prst="rect">
            <a:avLst/>
          </a:prstGeom>
        </p:spPr>
      </p:pic>
      <p:sp>
        <p:nvSpPr>
          <p:cNvPr id="5" name="Text 2"/>
          <p:cNvSpPr/>
          <p:nvPr/>
        </p:nvSpPr>
        <p:spPr>
          <a:xfrm>
            <a:off x="1398118" y="1664208"/>
            <a:ext cx="6400800" cy="658368"/>
          </a:xfrm>
          <a:prstGeom prst="rect">
            <a:avLst/>
          </a:prstGeom>
          <a:noFill/>
          <a:ln/>
        </p:spPr>
        <p:txBody>
          <a:bodyPr wrap="square" lIns="0" tIns="0" rIns="0" bIns="0" rtlCol="0" anchor="ctr"/>
          <a:lstStyle/>
          <a:p>
            <a:pPr indent="0" marL="0">
              <a:buNone/>
            </a:pPr>
            <a:r>
              <a:rPr lang="en-US" sz="4000" b="1" dirty="0">
                <a:solidFill>
                  <a:srgbClr val="FFFFFF"/>
                </a:solidFill>
                <a:latin typeface="Noto Sans JP" pitchFamily="34" charset="0"/>
                <a:ea typeface="Noto Sans JP" pitchFamily="34" charset="-122"/>
                <a:cs typeface="Noto Sans JP" pitchFamily="34" charset="-120"/>
              </a:rPr>
              <a:t>お問い合わせ</a:t>
            </a:r>
            <a:endParaRPr lang="en-US" sz="4000" dirty="0"/>
          </a:p>
        </p:txBody>
      </p:sp>
      <p:sp>
        <p:nvSpPr>
          <p:cNvPr id="6" name="Text 3"/>
          <p:cNvSpPr/>
          <p:nvPr/>
        </p:nvSpPr>
        <p:spPr>
          <a:xfrm>
            <a:off x="1398118" y="2377440"/>
            <a:ext cx="6492240" cy="329184"/>
          </a:xfrm>
          <a:prstGeom prst="rect">
            <a:avLst/>
          </a:prstGeom>
          <a:noFill/>
          <a:ln/>
        </p:spPr>
        <p:txBody>
          <a:bodyPr wrap="square" lIns="0" tIns="0" rIns="0" bIns="0" rtlCol="0" anchor="ctr"/>
          <a:lstStyle/>
          <a:p>
            <a:pPr indent="0" marL="0">
              <a:buNone/>
            </a:pPr>
            <a:r>
              <a:rPr lang="en-US" sz="1400" dirty="0">
                <a:solidFill>
                  <a:srgbClr val="A9C6AC"/>
                </a:solidFill>
                <a:latin typeface="Noto Sans JP" pitchFamily="34" charset="0"/>
                <a:ea typeface="Noto Sans JP" pitchFamily="34" charset="-122"/>
                <a:cs typeface="Noto Sans JP" pitchFamily="34" charset="-120"/>
              </a:rPr>
              <a:t>会社名・ご氏名・ご連絡先をご記入の上、下記までご連絡ください。</a:t>
            </a:r>
            <a:endParaRPr lang="en-US" sz="1400" dirty="0"/>
          </a:p>
        </p:txBody>
      </p:sp>
      <p:sp>
        <p:nvSpPr>
          <p:cNvPr id="7" name="Shape 4"/>
          <p:cNvSpPr/>
          <p:nvPr/>
        </p:nvSpPr>
        <p:spPr>
          <a:xfrm>
            <a:off x="1398118" y="2926080"/>
            <a:ext cx="1280160" cy="19202"/>
          </a:xfrm>
          <a:prstGeom prst="rect">
            <a:avLst/>
          </a:prstGeom>
          <a:solidFill>
            <a:srgbClr val="A9C6AC"/>
          </a:solidFill>
          <a:ln/>
        </p:spPr>
      </p:sp>
      <p:sp>
        <p:nvSpPr>
          <p:cNvPr id="8" name="Shape 5"/>
          <p:cNvSpPr/>
          <p:nvPr/>
        </p:nvSpPr>
        <p:spPr>
          <a:xfrm>
            <a:off x="1398118" y="3291840"/>
            <a:ext cx="512064" cy="512064"/>
          </a:xfrm>
          <a:prstGeom prst="ellipse">
            <a:avLst/>
          </a:prstGeom>
          <a:solidFill>
            <a:srgbClr val="1D5624"/>
          </a:solidFill>
          <a:ln/>
        </p:spPr>
      </p:sp>
      <p:pic>
        <p:nvPicPr>
          <p:cNvPr id="9" name="Image 1" descr="/home/user/suzuki-ceo/selfcafe-fc-deck/assets/icons/LuPhone-white.png">    </p:cNvPr>
          <p:cNvPicPr>
            <a:picLocks noChangeAspect="1"/>
          </p:cNvPicPr>
          <p:nvPr/>
        </p:nvPicPr>
        <p:blipFill>
          <a:blip r:embed="rId2"/>
          <a:stretch>
            <a:fillRect/>
          </a:stretch>
        </p:blipFill>
        <p:spPr>
          <a:xfrm>
            <a:off x="1544422" y="3438144"/>
            <a:ext cx="219456" cy="219456"/>
          </a:xfrm>
          <a:prstGeom prst="rect">
            <a:avLst/>
          </a:prstGeom>
        </p:spPr>
      </p:pic>
      <p:sp>
        <p:nvSpPr>
          <p:cNvPr id="10" name="Text 6"/>
          <p:cNvSpPr/>
          <p:nvPr/>
        </p:nvSpPr>
        <p:spPr>
          <a:xfrm>
            <a:off x="2074774" y="3291840"/>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お電話</a:t>
            </a:r>
            <a:endParaRPr lang="en-US" sz="1100" dirty="0"/>
          </a:p>
        </p:txBody>
      </p:sp>
      <p:sp>
        <p:nvSpPr>
          <p:cNvPr id="11" name="Text 7"/>
          <p:cNvSpPr/>
          <p:nvPr/>
        </p:nvSpPr>
        <p:spPr>
          <a:xfrm>
            <a:off x="3135478" y="3291840"/>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XXX-XXXX-XXXX（担当：XXX）</a:t>
            </a:r>
            <a:endParaRPr lang="en-US" sz="1700" dirty="0"/>
          </a:p>
        </p:txBody>
      </p:sp>
      <p:sp>
        <p:nvSpPr>
          <p:cNvPr id="12" name="Shape 8"/>
          <p:cNvSpPr/>
          <p:nvPr/>
        </p:nvSpPr>
        <p:spPr>
          <a:xfrm>
            <a:off x="1398118" y="4078224"/>
            <a:ext cx="512064" cy="512064"/>
          </a:xfrm>
          <a:prstGeom prst="ellipse">
            <a:avLst/>
          </a:prstGeom>
          <a:solidFill>
            <a:srgbClr val="1D5624"/>
          </a:solidFill>
          <a:ln/>
        </p:spPr>
      </p:sp>
      <p:pic>
        <p:nvPicPr>
          <p:cNvPr id="13" name="Image 2" descr="/home/user/suzuki-ceo/selfcafe-fc-deck/assets/icons/LuMail-white.png">    </p:cNvPr>
          <p:cNvPicPr>
            <a:picLocks noChangeAspect="1"/>
          </p:cNvPicPr>
          <p:nvPr/>
        </p:nvPicPr>
        <p:blipFill>
          <a:blip r:embed="rId3"/>
          <a:stretch>
            <a:fillRect/>
          </a:stretch>
        </p:blipFill>
        <p:spPr>
          <a:xfrm>
            <a:off x="1544422" y="4224528"/>
            <a:ext cx="219456" cy="219456"/>
          </a:xfrm>
          <a:prstGeom prst="rect">
            <a:avLst/>
          </a:prstGeom>
        </p:spPr>
      </p:pic>
      <p:sp>
        <p:nvSpPr>
          <p:cNvPr id="14" name="Text 9"/>
          <p:cNvSpPr/>
          <p:nvPr/>
        </p:nvSpPr>
        <p:spPr>
          <a:xfrm>
            <a:off x="2074774" y="4078224"/>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メール</a:t>
            </a:r>
            <a:endParaRPr lang="en-US" sz="1100" dirty="0"/>
          </a:p>
        </p:txBody>
      </p:sp>
      <p:sp>
        <p:nvSpPr>
          <p:cNvPr id="15" name="Text 10"/>
          <p:cNvSpPr/>
          <p:nvPr/>
        </p:nvSpPr>
        <p:spPr>
          <a:xfrm>
            <a:off x="3135478" y="4078224"/>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6" name="Shape 11"/>
          <p:cNvSpPr/>
          <p:nvPr/>
        </p:nvSpPr>
        <p:spPr>
          <a:xfrm>
            <a:off x="1398118" y="4864608"/>
            <a:ext cx="512064" cy="512064"/>
          </a:xfrm>
          <a:prstGeom prst="ellipse">
            <a:avLst/>
          </a:prstGeom>
          <a:solidFill>
            <a:srgbClr val="1D5624"/>
          </a:solidFill>
          <a:ln/>
        </p:spPr>
      </p:sp>
      <p:pic>
        <p:nvPicPr>
          <p:cNvPr id="17" name="Image 3" descr="/home/user/suzuki-ceo/selfcafe-fc-deck/assets/icons/LuGlobe-white.png">    </p:cNvPr>
          <p:cNvPicPr>
            <a:picLocks noChangeAspect="1"/>
          </p:cNvPicPr>
          <p:nvPr/>
        </p:nvPicPr>
        <p:blipFill>
          <a:blip r:embed="rId4"/>
          <a:stretch>
            <a:fillRect/>
          </a:stretch>
        </p:blipFill>
        <p:spPr>
          <a:xfrm>
            <a:off x="1544422" y="5010912"/>
            <a:ext cx="219456" cy="219456"/>
          </a:xfrm>
          <a:prstGeom prst="rect">
            <a:avLst/>
          </a:prstGeom>
        </p:spPr>
      </p:pic>
      <p:sp>
        <p:nvSpPr>
          <p:cNvPr id="18" name="Text 12"/>
          <p:cNvSpPr/>
          <p:nvPr/>
        </p:nvSpPr>
        <p:spPr>
          <a:xfrm>
            <a:off x="2074774" y="4864608"/>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公式HP</a:t>
            </a:r>
            <a:endParaRPr lang="en-US" sz="1100" dirty="0"/>
          </a:p>
        </p:txBody>
      </p:sp>
      <p:sp>
        <p:nvSpPr>
          <p:cNvPr id="19" name="Text 13"/>
          <p:cNvSpPr/>
          <p:nvPr/>
        </p:nvSpPr>
        <p:spPr>
          <a:xfrm>
            <a:off x="3135478" y="4864608"/>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0" name="Shape 14"/>
          <p:cNvSpPr/>
          <p:nvPr/>
        </p:nvSpPr>
        <p:spPr>
          <a:xfrm>
            <a:off x="8256118" y="1042416"/>
            <a:ext cx="2560320" cy="4590288"/>
          </a:xfrm>
          <a:prstGeom prst="roundRect">
            <a:avLst>
              <a:gd name="adj" fmla="val 2143"/>
            </a:avLst>
          </a:prstGeom>
          <a:solidFill>
            <a:srgbClr val="1D5624"/>
          </a:solidFill>
          <a:ln w="12700">
            <a:solidFill>
              <a:srgbClr val="3E7A45"/>
            </a:solidFill>
            <a:prstDash val="dash"/>
          </a:ln>
        </p:spPr>
      </p:sp>
      <p:pic>
        <p:nvPicPr>
          <p:cNvPr id="21" name="Image 4" descr="/home/user/suzuki-ceo/selfcafe-fc-deck/assets/icons/LuImage-muted.png">    </p:cNvPr>
          <p:cNvPicPr>
            <a:picLocks noChangeAspect="1"/>
          </p:cNvPicPr>
          <p:nvPr/>
        </p:nvPicPr>
        <p:blipFill>
          <a:blip r:embed="rId5"/>
          <a:stretch>
            <a:fillRect/>
          </a:stretch>
        </p:blipFill>
        <p:spPr>
          <a:xfrm>
            <a:off x="9252814" y="3026664"/>
            <a:ext cx="566928" cy="566928"/>
          </a:xfrm>
          <a:prstGeom prst="rect">
            <a:avLst/>
          </a:prstGeom>
        </p:spPr>
      </p:pic>
      <p:sp>
        <p:nvSpPr>
          <p:cNvPr id="22" name="Text 15"/>
          <p:cNvSpPr/>
          <p:nvPr/>
        </p:nvSpPr>
        <p:spPr>
          <a:xfrm>
            <a:off x="8347558" y="3630168"/>
            <a:ext cx="2377440"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3" name="Text 16"/>
          <p:cNvSpPr/>
          <p:nvPr/>
        </p:nvSpPr>
        <p:spPr>
          <a:xfrm>
            <a:off x="8347558" y="3849624"/>
            <a:ext cx="2377440" cy="420624"/>
          </a:xfrm>
          <a:prstGeom prst="rect">
            <a:avLst/>
          </a:prstGeom>
          <a:noFill/>
          <a:ln/>
        </p:spPr>
        <p:txBody>
          <a:bodyPr wrap="square" lIns="0" tIns="0" rIns="0" bIns="0" rtlCol="0" anchor="t"/>
          <a:lstStyle/>
          <a:p>
            <a:pPr algn="ctr" indent="0" marL="0">
              <a:lnSpc>
                <a:spcPct val="115000"/>
              </a:lnSpc>
              <a:buNone/>
            </a:pPr>
            <a:r>
              <a:rPr lang="en-US" sz="1050" b="1" dirty="0">
                <a:solidFill>
                  <a:srgbClr val="C6DCC8"/>
                </a:solidFill>
                <a:latin typeface="Noto Sans JP" pitchFamily="34" charset="0"/>
                <a:ea typeface="Noto Sans JP" pitchFamily="34" charset="-122"/>
                <a:cs typeface="Noto Sans JP" pitchFamily="34" charset="-120"/>
              </a:rPr>
              <a:t>店舗写真／代表写真</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業務委託型制度</dc:title>
  <dc:subject>PptxGenJS Presentation</dc:subject>
  <dc:creator>セルフカフェ株式会社</dc:creator>
  <cp:lastModifiedBy>セルフカフェ株式会社</cp:lastModifiedBy>
  <cp:revision>1</cp:revision>
  <dcterms:created xsi:type="dcterms:W3CDTF">2026-08-21T13:50:11Z</dcterms:created>
  <dcterms:modified xsi:type="dcterms:W3CDTF">2026-08-21T13:50:11Z</dcterms:modified>
</cp:coreProperties>
</file>