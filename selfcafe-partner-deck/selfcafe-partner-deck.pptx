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jpg"/><Relationship Id="rId11" Type="http://schemas.openxmlformats.org/officeDocument/2006/relationships/image" Target="../media/image-5-11.jp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3.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jp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3.png"/><Relationship Id="rId5" Type="http://schemas.openxmlformats.org/officeDocument/2006/relationships/image" Target="../media/image-27-3.png"/><Relationship Id="rId6" Type="http://schemas.openxmlformats.org/officeDocument/2006/relationships/image" Target="../media/image-27-3.png"/><Relationship Id="rId7" Type="http://schemas.openxmlformats.org/officeDocument/2006/relationships/image" Target="../media/image-27-3.png"/><Relationship Id="rId8" Type="http://schemas.openxmlformats.org/officeDocument/2006/relationships/image" Target="../media/image-27-8.png"/><Relationship Id="rId9" Type="http://schemas.openxmlformats.org/officeDocument/2006/relationships/image" Target="../media/image-27-3.png"/><Relationship Id="rId10" Type="http://schemas.openxmlformats.org/officeDocument/2006/relationships/image" Target="../media/image-27-3.png"/><Relationship Id="rId11" Type="http://schemas.openxmlformats.org/officeDocument/2006/relationships/image" Target="../media/image-27-3.png"/><Relationship Id="rId12" Type="http://schemas.openxmlformats.org/officeDocument/2006/relationships/image" Target="../media/image-27-3.png"/><Relationship Id="rId13" Type="http://schemas.openxmlformats.org/officeDocument/2006/relationships/image" Target="../media/image-27-3.png"/><Relationship Id="rId14" Type="http://schemas.openxmlformats.org/officeDocument/2006/relationships/image" Target="../media/image-27-14.png"/><Relationship Id="rId15" Type="http://schemas.openxmlformats.org/officeDocument/2006/relationships/slideLayout" Target="../slideLayouts/slideLayout1.xml"/><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pic>
        <p:nvPicPr>
          <p:cNvPr id="43" name="Image 9" descr="/home/user/suzuki-ceo/selfcafe-partner-deck/assets/photos/.crops/p05-install-579x162.jpg">    </p:cNvPr>
          <p:cNvPicPr>
            <a:picLocks noChangeAspect="1"/>
          </p:cNvPicPr>
          <p:nvPr/>
        </p:nvPicPr>
        <p:blipFill>
          <a:blip r:embed="rId10"/>
          <a:stretch>
            <a:fillRect/>
          </a:stretch>
        </p:blipFill>
        <p:spPr>
          <a:xfrm>
            <a:off x="660197" y="4924958"/>
            <a:ext cx="5298491" cy="1481328"/>
          </a:xfrm>
          <a:prstGeom prst="rect">
            <a:avLst/>
          </a:prstGeom>
        </p:spPr>
      </p:pic>
      <p:sp>
        <p:nvSpPr>
          <p:cNvPr id="44" name="Shape 32"/>
          <p:cNvSpPr/>
          <p:nvPr/>
        </p:nvSpPr>
        <p:spPr>
          <a:xfrm>
            <a:off x="660197" y="4924958"/>
            <a:ext cx="5298491" cy="1481328"/>
          </a:xfrm>
          <a:prstGeom prst="rect">
            <a:avLst/>
          </a:prstGeom>
          <a:ln w="12700">
            <a:solidFill>
              <a:srgbClr val="D8D2C6"/>
            </a:solidFill>
            <a:prstDash val="solid"/>
          </a:ln>
        </p:spPr>
      </p:sp>
      <p:sp>
        <p:nvSpPr>
          <p:cNvPr id="45" name="Shape 33"/>
          <p:cNvSpPr/>
          <p:nvPr/>
        </p:nvSpPr>
        <p:spPr>
          <a:xfrm>
            <a:off x="788213" y="5949086"/>
            <a:ext cx="1981200" cy="329184"/>
          </a:xfrm>
          <a:prstGeom prst="roundRect">
            <a:avLst>
              <a:gd name="adj" fmla="val 13889"/>
            </a:avLst>
          </a:prstGeom>
          <a:solidFill>
            <a:srgbClr val="FFFFFF">
              <a:alpha val="90000"/>
            </a:srgbClr>
          </a:solidFill>
          <a:ln/>
        </p:spPr>
      </p:sp>
      <p:sp>
        <p:nvSpPr>
          <p:cNvPr id="46" name="Text 34"/>
          <p:cNvSpPr/>
          <p:nvPr/>
        </p:nvSpPr>
        <p:spPr>
          <a:xfrm>
            <a:off x="952805" y="5949086"/>
            <a:ext cx="17068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自社物件への設置イメージ</a:t>
            </a:r>
            <a:endParaRPr lang="en-US" sz="1000" dirty="0"/>
          </a:p>
        </p:txBody>
      </p:sp>
      <p:pic>
        <p:nvPicPr>
          <p:cNvPr id="47" name="Image 10" descr="/home/user/suzuki-ceo/selfcafe-partner-deck/assets/photos/.crops/p02-storefront-579x162.jpg">    </p:cNvPr>
          <p:cNvPicPr>
            <a:picLocks noChangeAspect="1"/>
          </p:cNvPicPr>
          <p:nvPr/>
        </p:nvPicPr>
        <p:blipFill>
          <a:blip r:embed="rId11"/>
          <a:stretch>
            <a:fillRect/>
          </a:stretch>
        </p:blipFill>
        <p:spPr>
          <a:xfrm>
            <a:off x="6233008" y="4924958"/>
            <a:ext cx="5298491" cy="1481328"/>
          </a:xfrm>
          <a:prstGeom prst="rect">
            <a:avLst/>
          </a:prstGeom>
        </p:spPr>
      </p:pic>
      <p:sp>
        <p:nvSpPr>
          <p:cNvPr id="48" name="Shape 35"/>
          <p:cNvSpPr/>
          <p:nvPr/>
        </p:nvSpPr>
        <p:spPr>
          <a:xfrm>
            <a:off x="6233008" y="4924958"/>
            <a:ext cx="5298491" cy="1481328"/>
          </a:xfrm>
          <a:prstGeom prst="rect">
            <a:avLst/>
          </a:prstGeom>
          <a:ln w="12700">
            <a:solidFill>
              <a:srgbClr val="D8D2C6"/>
            </a:solidFill>
            <a:prstDash val="solid"/>
          </a:ln>
        </p:spPr>
      </p:sp>
      <p:sp>
        <p:nvSpPr>
          <p:cNvPr id="49" name="Shape 36"/>
          <p:cNvSpPr/>
          <p:nvPr/>
        </p:nvSpPr>
        <p:spPr>
          <a:xfrm>
            <a:off x="6361024" y="5949086"/>
            <a:ext cx="1846580" cy="329184"/>
          </a:xfrm>
          <a:prstGeom prst="roundRect">
            <a:avLst>
              <a:gd name="adj" fmla="val 13889"/>
            </a:avLst>
          </a:prstGeom>
          <a:solidFill>
            <a:srgbClr val="FFFFFF">
              <a:alpha val="90000"/>
            </a:srgbClr>
          </a:solidFill>
          <a:ln/>
        </p:spPr>
      </p:sp>
      <p:sp>
        <p:nvSpPr>
          <p:cNvPr id="50" name="Text 37"/>
          <p:cNvSpPr/>
          <p:nvPr/>
        </p:nvSpPr>
        <p:spPr>
          <a:xfrm>
            <a:off x="6525616" y="5949086"/>
            <a:ext cx="157226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店舗外観（盛岡駅前店）</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71</a:t>
            </a: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2026年7月時点／11都府県で展開中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10799978" y="2453762"/>
            <a:ext cx="164592" cy="164592"/>
          </a:xfrm>
          <a:prstGeom prst="ellipse">
            <a:avLst/>
          </a:prstGeom>
          <a:solidFill>
            <a:srgbClr val="A8761F"/>
          </a:solidFill>
          <a:ln w="22225">
            <a:solidFill>
              <a:srgbClr val="FFFFFF"/>
            </a:solidFill>
            <a:prstDash val="solid"/>
          </a:ln>
        </p:spPr>
      </p:sp>
      <p:sp>
        <p:nvSpPr>
          <p:cNvPr id="17" name="Shape 13"/>
          <p:cNvSpPr/>
          <p:nvPr/>
        </p:nvSpPr>
        <p:spPr>
          <a:xfrm>
            <a:off x="9218066" y="2700650"/>
            <a:ext cx="1536192" cy="365760"/>
          </a:xfrm>
          <a:prstGeom prst="roundRect">
            <a:avLst>
              <a:gd name="adj" fmla="val 12500"/>
            </a:avLst>
          </a:prstGeom>
          <a:solidFill>
            <a:srgbClr val="0C5230"/>
          </a:solidFill>
          <a:ln/>
        </p:spPr>
      </p:sp>
      <p:sp>
        <p:nvSpPr>
          <p:cNvPr id="18" name="Text 14"/>
          <p:cNvSpPr/>
          <p:nvPr/>
        </p:nvSpPr>
        <p:spPr>
          <a:xfrm>
            <a:off x="9218066" y="2700650"/>
            <a:ext cx="1536192" cy="365760"/>
          </a:xfrm>
          <a:prstGeom prst="rect">
            <a:avLst/>
          </a:prstGeom>
          <a:noFill/>
          <a:ln/>
        </p:spPr>
        <p:txBody>
          <a:bodyPr wrap="square" lIns="0" tIns="0" rIns="0" bIns="0" rtlCol="0" anchor="ctr"/>
          <a:lstStyle/>
          <a:p>
            <a:pPr algn="ctr" indent="0" marL="0">
              <a:buNone/>
            </a:pPr>
            <a:r>
              <a:rPr lang="en-US" sz="900" dirty="0">
                <a:solidFill>
                  <a:srgbClr val="8CC5A5"/>
                </a:solidFill>
                <a:latin typeface="Yu Gothic" pitchFamily="34" charset="0"/>
                <a:ea typeface="Yu Gothic" pitchFamily="34" charset="-122"/>
                <a:cs typeface="Yu Gothic" pitchFamily="34" charset="-120"/>
              </a:rPr>
              <a:t>現在 </a:t>
            </a:r>
            <a:r>
              <a:rPr lang="en-US" sz="1400" b="1" dirty="0">
                <a:solidFill>
                  <a:srgbClr val="FFFFFF"/>
                </a:solidFill>
                <a:latin typeface="Arial" pitchFamily="34" charset="0"/>
                <a:ea typeface="Arial" pitchFamily="34" charset="-122"/>
                <a:cs typeface="Arial" pitchFamily="34" charset="-120"/>
              </a:rPr>
              <a:t>71</a:t>
            </a:r>
            <a:r>
              <a:rPr lang="en-US" sz="950" b="1" dirty="0">
                <a:solidFill>
                  <a:srgbClr val="FFFFFF"/>
                </a:solidFill>
                <a:latin typeface="Yu Gothic" pitchFamily="34" charset="0"/>
                <a:ea typeface="Yu Gothic" pitchFamily="34" charset="-122"/>
                <a:cs typeface="Yu Gothic" pitchFamily="34" charset="-120"/>
              </a:rPr>
              <a:t> 店舗</a:t>
            </a:r>
            <a:endParaRPr lang="en-US" sz="900" dirty="0"/>
          </a:p>
        </p:txBody>
      </p:sp>
      <p:sp>
        <p:nvSpPr>
          <p:cNvPr id="19" name="Shape 15"/>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21" name="Text 17"/>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4" name="Text 20"/>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7" name="Text 23"/>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30" name="Text 26"/>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32" name="Text 28"/>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3" name="Text 29"/>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4" name="Shape 30"/>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5" name="Text 31"/>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6" name="Text 32"/>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7" name="Text 33"/>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8" name="Text 34"/>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3453079"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2010156"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420円〜</a:t>
            </a:r>
            <a:endParaRPr lang="en-US" sz="2400" dirty="0"/>
          </a:p>
        </p:txBody>
      </p:sp>
      <p:sp>
        <p:nvSpPr>
          <p:cNvPr id="12" name="Text 8"/>
          <p:cNvSpPr/>
          <p:nvPr/>
        </p:nvSpPr>
        <p:spPr>
          <a:xfrm>
            <a:off x="2010156"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1杯あたり</a:t>
            </a:r>
            <a:endParaRPr lang="en-US" sz="850" dirty="0"/>
          </a:p>
        </p:txBody>
      </p:sp>
      <p:sp>
        <p:nvSpPr>
          <p:cNvPr id="13" name="Text 9"/>
          <p:cNvSpPr/>
          <p:nvPr/>
        </p:nvSpPr>
        <p:spPr>
          <a:xfrm>
            <a:off x="934517"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ドリンク一杯で入店</a:t>
            </a:r>
            <a:endParaRPr lang="en-US" sz="1600" dirty="0"/>
          </a:p>
        </p:txBody>
      </p:sp>
      <p:sp>
        <p:nvSpPr>
          <p:cNvPr id="14" name="Shape 10"/>
          <p:cNvSpPr/>
          <p:nvPr/>
        </p:nvSpPr>
        <p:spPr>
          <a:xfrm>
            <a:off x="934517" y="3059582"/>
            <a:ext cx="2904439" cy="10058"/>
          </a:xfrm>
          <a:prstGeom prst="rect">
            <a:avLst/>
          </a:prstGeom>
          <a:solidFill>
            <a:srgbClr val="EFEAE0"/>
          </a:solidFill>
          <a:ln/>
        </p:spPr>
      </p:sp>
      <p:sp>
        <p:nvSpPr>
          <p:cNvPr id="15" name="Text 11"/>
          <p:cNvSpPr/>
          <p:nvPr/>
        </p:nvSpPr>
        <p:spPr>
          <a:xfrm>
            <a:off x="934517"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ドリンク購入だけで、Wi-Fi・電源が完備された空間を自由にご利用いただけます。</a:t>
            </a:r>
            <a:endParaRPr lang="en-US" sz="1050" dirty="0"/>
          </a:p>
        </p:txBody>
      </p:sp>
      <p:sp>
        <p:nvSpPr>
          <p:cNvPr id="16" name="Shape 12"/>
          <p:cNvSpPr/>
          <p:nvPr/>
        </p:nvSpPr>
        <p:spPr>
          <a:xfrm>
            <a:off x="4369308" y="1651406"/>
            <a:ext cx="3453079"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Clock-green.png">    </p:cNvPr>
          <p:cNvPicPr>
            <a:picLocks noChangeAspect="1"/>
          </p:cNvPicPr>
          <p:nvPr/>
        </p:nvPicPr>
        <p:blipFill>
          <a:blip r:embed="rId3"/>
          <a:stretch>
            <a:fillRect/>
          </a:stretch>
        </p:blipFill>
        <p:spPr>
          <a:xfrm>
            <a:off x="4643628" y="1925726"/>
            <a:ext cx="402336" cy="402336"/>
          </a:xfrm>
          <a:prstGeom prst="rect">
            <a:avLst/>
          </a:prstGeom>
        </p:spPr>
      </p:pic>
      <p:sp>
        <p:nvSpPr>
          <p:cNvPr id="18" name="Text 13"/>
          <p:cNvSpPr/>
          <p:nvPr/>
        </p:nvSpPr>
        <p:spPr>
          <a:xfrm>
            <a:off x="5719267"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0円</a:t>
            </a:r>
            <a:endParaRPr lang="en-US" sz="2400" dirty="0"/>
          </a:p>
        </p:txBody>
      </p:sp>
      <p:sp>
        <p:nvSpPr>
          <p:cNvPr id="19" name="Text 14"/>
          <p:cNvSpPr/>
          <p:nvPr/>
        </p:nvSpPr>
        <p:spPr>
          <a:xfrm>
            <a:off x="5719267"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延長・追加料金</a:t>
            </a:r>
            <a:endParaRPr lang="en-US" sz="850" dirty="0"/>
          </a:p>
        </p:txBody>
      </p:sp>
      <p:sp>
        <p:nvSpPr>
          <p:cNvPr id="20" name="Text 15"/>
          <p:cNvSpPr/>
          <p:nvPr/>
        </p:nvSpPr>
        <p:spPr>
          <a:xfrm>
            <a:off x="4643628"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滞在時間無制限</a:t>
            </a:r>
            <a:endParaRPr lang="en-US" sz="1600" dirty="0"/>
          </a:p>
        </p:txBody>
      </p:sp>
      <p:sp>
        <p:nvSpPr>
          <p:cNvPr id="21" name="Shape 16"/>
          <p:cNvSpPr/>
          <p:nvPr/>
        </p:nvSpPr>
        <p:spPr>
          <a:xfrm>
            <a:off x="4643628" y="3059582"/>
            <a:ext cx="2904439" cy="10058"/>
          </a:xfrm>
          <a:prstGeom prst="rect">
            <a:avLst/>
          </a:prstGeom>
          <a:solidFill>
            <a:srgbClr val="EFEAE0"/>
          </a:solidFill>
          <a:ln/>
        </p:spPr>
      </p:sp>
      <p:sp>
        <p:nvSpPr>
          <p:cNvPr id="22" name="Text 17"/>
          <p:cNvSpPr/>
          <p:nvPr/>
        </p:nvSpPr>
        <p:spPr>
          <a:xfrm>
            <a:off x="4643628"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追加料金や延長料金を気にせず、仕事や勉強に没頭できる環境を提供します。</a:t>
            </a:r>
            <a:endParaRPr lang="en-US" sz="1050" dirty="0"/>
          </a:p>
        </p:txBody>
      </p:sp>
      <p:sp>
        <p:nvSpPr>
          <p:cNvPr id="23" name="Shape 18"/>
          <p:cNvSpPr/>
          <p:nvPr/>
        </p:nvSpPr>
        <p:spPr>
          <a:xfrm>
            <a:off x="8078419" y="1651406"/>
            <a:ext cx="3453079"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Smartphone-green.png">    </p:cNvPr>
          <p:cNvPicPr>
            <a:picLocks noChangeAspect="1"/>
          </p:cNvPicPr>
          <p:nvPr/>
        </p:nvPicPr>
        <p:blipFill>
          <a:blip r:embed="rId4"/>
          <a:stretch>
            <a:fillRect/>
          </a:stretch>
        </p:blipFill>
        <p:spPr>
          <a:xfrm>
            <a:off x="8352739" y="1925726"/>
            <a:ext cx="402336" cy="402336"/>
          </a:xfrm>
          <a:prstGeom prst="rect">
            <a:avLst/>
          </a:prstGeom>
        </p:spPr>
      </p:pic>
      <p:sp>
        <p:nvSpPr>
          <p:cNvPr id="25" name="Text 19"/>
          <p:cNvSpPr/>
          <p:nvPr/>
        </p:nvSpPr>
        <p:spPr>
          <a:xfrm>
            <a:off x="9428378"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147円〜</a:t>
            </a:r>
            <a:endParaRPr lang="en-US" sz="2400" dirty="0"/>
          </a:p>
        </p:txBody>
      </p:sp>
      <p:sp>
        <p:nvSpPr>
          <p:cNvPr id="26" name="Text 20"/>
          <p:cNvSpPr/>
          <p:nvPr/>
        </p:nvSpPr>
        <p:spPr>
          <a:xfrm>
            <a:off x="9428378"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サブスク1杯換算</a:t>
            </a:r>
            <a:endParaRPr lang="en-US" sz="850" dirty="0"/>
          </a:p>
        </p:txBody>
      </p:sp>
      <p:sp>
        <p:nvSpPr>
          <p:cNvPr id="27" name="Text 21"/>
          <p:cNvSpPr/>
          <p:nvPr/>
        </p:nvSpPr>
        <p:spPr>
          <a:xfrm>
            <a:off x="8352739"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サブスクプラン</a:t>
            </a:r>
            <a:endParaRPr lang="en-US" sz="1600" dirty="0"/>
          </a:p>
        </p:txBody>
      </p:sp>
      <p:sp>
        <p:nvSpPr>
          <p:cNvPr id="28" name="Shape 22"/>
          <p:cNvSpPr/>
          <p:nvPr/>
        </p:nvSpPr>
        <p:spPr>
          <a:xfrm>
            <a:off x="8352739" y="3059582"/>
            <a:ext cx="2904439" cy="10058"/>
          </a:xfrm>
          <a:prstGeom prst="rect">
            <a:avLst/>
          </a:prstGeom>
          <a:solidFill>
            <a:srgbClr val="EFEAE0"/>
          </a:solidFill>
          <a:ln/>
        </p:spPr>
      </p:sp>
      <p:sp>
        <p:nvSpPr>
          <p:cNvPr id="29" name="Text 23"/>
          <p:cNvSpPr/>
          <p:nvPr/>
        </p:nvSpPr>
        <p:spPr>
          <a:xfrm>
            <a:off x="8352739"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ヘビーユーザー向けに、月額定額で通い放題のプランも用意。継続利用を促しやすい仕組みです。</a:t>
            </a:r>
            <a:endParaRPr lang="en-US" sz="1050" dirty="0"/>
          </a:p>
        </p:txBody>
      </p:sp>
      <p:sp>
        <p:nvSpPr>
          <p:cNvPr id="30" name="Shape 24"/>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1" name="Image 4" descr="/home/user/suzuki-ceo/selfcafe-partner-deck/assets/icons/LuCalendarCheck-green.png">    </p:cNvPr>
          <p:cNvPicPr>
            <a:picLocks noChangeAspect="1"/>
          </p:cNvPicPr>
          <p:nvPr/>
        </p:nvPicPr>
        <p:blipFill>
          <a:blip r:embed="rId5"/>
          <a:stretch>
            <a:fillRect/>
          </a:stretch>
        </p:blipFill>
        <p:spPr>
          <a:xfrm>
            <a:off x="1331443" y="4559198"/>
            <a:ext cx="347472" cy="347472"/>
          </a:xfrm>
          <a:prstGeom prst="rect">
            <a:avLst/>
          </a:prstGeom>
        </p:spPr>
      </p:pic>
      <p:sp>
        <p:nvSpPr>
          <p:cNvPr id="32" name="Text 25"/>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33" name="Shape 26"/>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34" name="Image 5" descr="/home/user/suzuki-ceo/selfcafe-partner-deck/assets/icons/LuWifi-green.png">    </p:cNvPr>
          <p:cNvPicPr>
            <a:picLocks noChangeAspect="1"/>
          </p:cNvPicPr>
          <p:nvPr/>
        </p:nvPicPr>
        <p:blipFill>
          <a:blip r:embed="rId6"/>
          <a:stretch>
            <a:fillRect/>
          </a:stretch>
        </p:blipFill>
        <p:spPr>
          <a:xfrm>
            <a:off x="3167710" y="4559198"/>
            <a:ext cx="347472" cy="347472"/>
          </a:xfrm>
          <a:prstGeom prst="rect">
            <a:avLst/>
          </a:prstGeom>
        </p:spPr>
      </p:pic>
      <p:sp>
        <p:nvSpPr>
          <p:cNvPr id="35" name="Text 27"/>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36" name="Shape 28"/>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37" name="Image 6" descr="/home/user/suzuki-ceo/selfcafe-partner-deck/assets/icons/LuPlug-green.png">    </p:cNvPr>
          <p:cNvPicPr>
            <a:picLocks noChangeAspect="1"/>
          </p:cNvPicPr>
          <p:nvPr/>
        </p:nvPicPr>
        <p:blipFill>
          <a:blip r:embed="rId7"/>
          <a:stretch>
            <a:fillRect/>
          </a:stretch>
        </p:blipFill>
        <p:spPr>
          <a:xfrm>
            <a:off x="5003978" y="4559198"/>
            <a:ext cx="347472" cy="347472"/>
          </a:xfrm>
          <a:prstGeom prst="rect">
            <a:avLst/>
          </a:prstGeom>
        </p:spPr>
      </p:pic>
      <p:sp>
        <p:nvSpPr>
          <p:cNvPr id="38" name="Text 29"/>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39" name="Shape 30"/>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0" name="Image 7" descr="/home/user/suzuki-ceo/selfcafe-partner-deck/assets/icons/LuClock-green.png">    </p:cNvPr>
          <p:cNvPicPr>
            <a:picLocks noChangeAspect="1"/>
          </p:cNvPicPr>
          <p:nvPr/>
        </p:nvPicPr>
        <p:blipFill>
          <a:blip r:embed="rId8"/>
          <a:stretch>
            <a:fillRect/>
          </a:stretch>
        </p:blipFill>
        <p:spPr>
          <a:xfrm>
            <a:off x="6840245" y="4559198"/>
            <a:ext cx="347472" cy="347472"/>
          </a:xfrm>
          <a:prstGeom prst="rect">
            <a:avLst/>
          </a:prstGeom>
        </p:spPr>
      </p:pic>
      <p:sp>
        <p:nvSpPr>
          <p:cNvPr id="41" name="Text 31"/>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2" name="Shape 32"/>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43" name="Image 8" descr="/home/user/suzuki-ceo/selfcafe-partner-deck/assets/icons/LuBookOpen-green.png">    </p:cNvPr>
          <p:cNvPicPr>
            <a:picLocks noChangeAspect="1"/>
          </p:cNvPicPr>
          <p:nvPr/>
        </p:nvPicPr>
        <p:blipFill>
          <a:blip r:embed="rId9"/>
          <a:stretch>
            <a:fillRect/>
          </a:stretch>
        </p:blipFill>
        <p:spPr>
          <a:xfrm>
            <a:off x="8676513" y="4559198"/>
            <a:ext cx="347472" cy="347472"/>
          </a:xfrm>
          <a:prstGeom prst="rect">
            <a:avLst/>
          </a:prstGeom>
        </p:spPr>
      </p:pic>
      <p:sp>
        <p:nvSpPr>
          <p:cNvPr id="44" name="Text 33"/>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45" name="Shape 34"/>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46" name="Image 9" descr="/home/user/suzuki-ceo/selfcafe-partner-deck/assets/icons/LuMessagesSquare-green.png">    </p:cNvPr>
          <p:cNvPicPr>
            <a:picLocks noChangeAspect="1"/>
          </p:cNvPicPr>
          <p:nvPr/>
        </p:nvPicPr>
        <p:blipFill>
          <a:blip r:embed="rId10"/>
          <a:stretch>
            <a:fillRect/>
          </a:stretch>
        </p:blipFill>
        <p:spPr>
          <a:xfrm>
            <a:off x="10512781" y="4559198"/>
            <a:ext cx="347472" cy="347472"/>
          </a:xfrm>
          <a:prstGeom prst="rect">
            <a:avLst/>
          </a:prstGeom>
        </p:spPr>
      </p:pic>
      <p:sp>
        <p:nvSpPr>
          <p:cNvPr id="47" name="Text 35"/>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48" name="Text 36"/>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約50%</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Shape 11"/>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6" name="Text 12"/>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7" name="Text 13"/>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8" name="Text 14"/>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19"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比較項目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コワーキング</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シェアオフィス</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利用の手軽さ</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空間の雰囲気</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ドリンクの質</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運営人員</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導入コスト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お客様からのお問い合わせに即時対応。質問対応・意見収集の窓口としても機能します。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PiggyBank-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C社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D社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100万円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店舗工事費用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400万円〜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保証金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50万円〜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研修費</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なし</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20万円／1名</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開業資金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300" b="1" dirty="0">
                          <a:solidFill>
                            <a:srgbClr val="106838"/>
                          </a:solidFill>
                          <a:latin typeface="Arial" pitchFamily="34" charset="0"/>
                          <a:ea typeface="Arial" pitchFamily="34" charset="-122"/>
                          <a:cs typeface="Arial" pitchFamily="34" charset="-120"/>
                        </a:rPr>
                        <a:t>550万円〜</a:t>
                      </a:r>
                      <a:endParaRPr lang="en-US" sz="13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8,400万円〜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月5万円（一律）</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1席1,500円／月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売上の2%／月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1/5 〜 1/15</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09360"/>
            <a:ext cx="10871302" cy="18288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650万円〜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950万円〜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r>
              <a:rPr lang="en-US" sz="1500" b="1" dirty="0">
                <a:solidFill>
                  <a:srgbClr val="106838"/>
                </a:solidFill>
                <a:latin typeface="Arial" pitchFamily="34" charset="0"/>
                <a:ea typeface="Arial" pitchFamily="34" charset="-122"/>
                <a:cs typeface="Arial" pitchFamily="34" charset="-120"/>
              </a:rPr>
              <a:t>650万円〜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75杯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945,000円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-189,000円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270,000円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270,000円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3,240,000円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100杯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1,260,000円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-252,000円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-320,000円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-35,000円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水道11,000円／光熱74,000円（24H営業想定）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-85,000円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387,000円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387,000円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4,644,000円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20坪（初期費用800万円）と40坪（同1,200万円）について、家賃あり／家賃なし（自社物件）の回収期間を試算しました。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5243627" cy="3602736"/>
          </a:xfrm>
          <a:prstGeom prst="roundRect">
            <a:avLst>
              <a:gd name="adj" fmla="val 1523"/>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4" name="Text 11"/>
          <p:cNvSpPr/>
          <p:nvPr/>
        </p:nvSpPr>
        <p:spPr>
          <a:xfrm>
            <a:off x="2580437"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5" name="Text 12"/>
          <p:cNvSpPr/>
          <p:nvPr/>
        </p:nvSpPr>
        <p:spPr>
          <a:xfrm>
            <a:off x="4166464"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945,000円</a:t>
            </a:r>
            <a:endParaRPr lang="en-US" sz="1200" dirty="0"/>
          </a:p>
        </p:txBody>
      </p:sp>
      <p:sp>
        <p:nvSpPr>
          <p:cNvPr id="16" name="Shape 13"/>
          <p:cNvSpPr/>
          <p:nvPr/>
        </p:nvSpPr>
        <p:spPr>
          <a:xfrm>
            <a:off x="934517" y="2748686"/>
            <a:ext cx="4694987" cy="10058"/>
          </a:xfrm>
          <a:prstGeom prst="rect">
            <a:avLst/>
          </a:prstGeom>
          <a:solidFill>
            <a:srgbClr val="EFEAE0"/>
          </a:solidFill>
          <a:ln/>
        </p:spPr>
      </p:sp>
      <p:sp>
        <p:nvSpPr>
          <p:cNvPr id="17" name="Text 14"/>
          <p:cNvSpPr/>
          <p:nvPr/>
        </p:nvSpPr>
        <p:spPr>
          <a:xfrm>
            <a:off x="934517"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18" name="Text 15"/>
          <p:cNvSpPr/>
          <p:nvPr/>
        </p:nvSpPr>
        <p:spPr>
          <a:xfrm>
            <a:off x="2580437"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19" name="Text 16"/>
          <p:cNvSpPr/>
          <p:nvPr/>
        </p:nvSpPr>
        <p:spPr>
          <a:xfrm>
            <a:off x="4166464"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-475,000円</a:t>
            </a:r>
            <a:endParaRPr lang="en-US" sz="1200" dirty="0"/>
          </a:p>
        </p:txBody>
      </p:sp>
      <p:sp>
        <p:nvSpPr>
          <p:cNvPr id="20" name="Shape 17"/>
          <p:cNvSpPr/>
          <p:nvPr/>
        </p:nvSpPr>
        <p:spPr>
          <a:xfrm>
            <a:off x="934517" y="3077870"/>
            <a:ext cx="4694987" cy="10058"/>
          </a:xfrm>
          <a:prstGeom prst="rect">
            <a:avLst/>
          </a:prstGeom>
          <a:solidFill>
            <a:srgbClr val="EFEAE0"/>
          </a:solidFill>
          <a:ln/>
        </p:spPr>
      </p:sp>
      <p:sp>
        <p:nvSpPr>
          <p:cNvPr id="21" name="Text 18"/>
          <p:cNvSpPr/>
          <p:nvPr/>
        </p:nvSpPr>
        <p:spPr>
          <a:xfrm>
            <a:off x="934517"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2" name="Text 19"/>
          <p:cNvSpPr/>
          <p:nvPr/>
        </p:nvSpPr>
        <p:spPr>
          <a:xfrm>
            <a:off x="2580437"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3" name="Text 20"/>
          <p:cNvSpPr/>
          <p:nvPr/>
        </p:nvSpPr>
        <p:spPr>
          <a:xfrm>
            <a:off x="4166464"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-200,000円</a:t>
            </a:r>
            <a:endParaRPr lang="en-US" sz="1200" dirty="0"/>
          </a:p>
        </p:txBody>
      </p:sp>
      <p:sp>
        <p:nvSpPr>
          <p:cNvPr id="24" name="Shape 21"/>
          <p:cNvSpPr/>
          <p:nvPr/>
        </p:nvSpPr>
        <p:spPr>
          <a:xfrm>
            <a:off x="934517" y="3407054"/>
            <a:ext cx="4694987" cy="10058"/>
          </a:xfrm>
          <a:prstGeom prst="rect">
            <a:avLst/>
          </a:prstGeom>
          <a:solidFill>
            <a:srgbClr val="EFEAE0"/>
          </a:solidFill>
          <a:ln/>
        </p:spPr>
      </p:sp>
      <p:sp>
        <p:nvSpPr>
          <p:cNvPr id="25" name="Shape 22"/>
          <p:cNvSpPr/>
          <p:nvPr/>
        </p:nvSpPr>
        <p:spPr>
          <a:xfrm>
            <a:off x="934517" y="3608222"/>
            <a:ext cx="2256053" cy="1426464"/>
          </a:xfrm>
          <a:prstGeom prst="roundRect">
            <a:avLst>
              <a:gd name="adj" fmla="val 3846"/>
            </a:avLst>
          </a:prstGeom>
          <a:solidFill>
            <a:srgbClr val="F1F8F3"/>
          </a:solidFill>
          <a:ln w="9525">
            <a:solidFill>
              <a:srgbClr val="D2E7DA"/>
            </a:solidFill>
            <a:prstDash val="solid"/>
          </a:ln>
        </p:spPr>
      </p:sp>
      <p:sp>
        <p:nvSpPr>
          <p:cNvPr id="26" name="Text 23"/>
          <p:cNvSpPr/>
          <p:nvPr/>
        </p:nvSpPr>
        <p:spPr>
          <a:xfrm>
            <a:off x="1117397"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27" name="Text 24"/>
          <p:cNvSpPr/>
          <p:nvPr/>
        </p:nvSpPr>
        <p:spPr>
          <a:xfrm>
            <a:off x="1117397"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28" name="Text 25"/>
          <p:cNvSpPr/>
          <p:nvPr/>
        </p:nvSpPr>
        <p:spPr>
          <a:xfrm>
            <a:off x="1117397"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29" name="Text 26"/>
          <p:cNvSpPr/>
          <p:nvPr/>
        </p:nvSpPr>
        <p:spPr>
          <a:xfrm>
            <a:off x="1062533"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0" name="Shape 27"/>
          <p:cNvSpPr/>
          <p:nvPr/>
        </p:nvSpPr>
        <p:spPr>
          <a:xfrm>
            <a:off x="3373450" y="3608222"/>
            <a:ext cx="2256053" cy="1426464"/>
          </a:xfrm>
          <a:prstGeom prst="roundRect">
            <a:avLst>
              <a:gd name="adj" fmla="val 3846"/>
            </a:avLst>
          </a:prstGeom>
          <a:solidFill>
            <a:srgbClr val="0C5230"/>
          </a:solidFill>
          <a:ln/>
        </p:spPr>
      </p:sp>
      <p:sp>
        <p:nvSpPr>
          <p:cNvPr id="31" name="Text 28"/>
          <p:cNvSpPr/>
          <p:nvPr/>
        </p:nvSpPr>
        <p:spPr>
          <a:xfrm>
            <a:off x="3556330"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2" name="Text 29"/>
          <p:cNvSpPr/>
          <p:nvPr/>
        </p:nvSpPr>
        <p:spPr>
          <a:xfrm>
            <a:off x="3556330"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3" name="Text 30"/>
          <p:cNvSpPr/>
          <p:nvPr/>
        </p:nvSpPr>
        <p:spPr>
          <a:xfrm>
            <a:off x="3556330"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4" name="Text 31"/>
          <p:cNvSpPr/>
          <p:nvPr/>
        </p:nvSpPr>
        <p:spPr>
          <a:xfrm>
            <a:off x="3501466"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5" name="Shape 32"/>
          <p:cNvSpPr/>
          <p:nvPr/>
        </p:nvSpPr>
        <p:spPr>
          <a:xfrm>
            <a:off x="6287872" y="1651406"/>
            <a:ext cx="5243627" cy="3602736"/>
          </a:xfrm>
          <a:prstGeom prst="roundRect">
            <a:avLst>
              <a:gd name="adj" fmla="val 1523"/>
            </a:avLst>
          </a:prstGeom>
          <a:solidFill>
            <a:srgbClr val="FFFFFF"/>
          </a:solidFill>
          <a:ln w="9525">
            <a:solidFill>
              <a:srgbClr val="EFEAE0"/>
            </a:solidFill>
            <a:prstDash val="solid"/>
          </a:ln>
        </p:spPr>
      </p:sp>
      <p:sp>
        <p:nvSpPr>
          <p:cNvPr id="36" name="Text 33"/>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37" name="Text 34"/>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38" name="Text 35"/>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39" name="Text 36"/>
          <p:cNvSpPr/>
          <p:nvPr/>
        </p:nvSpPr>
        <p:spPr>
          <a:xfrm>
            <a:off x="6562192"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0" name="Text 37"/>
          <p:cNvSpPr/>
          <p:nvPr/>
        </p:nvSpPr>
        <p:spPr>
          <a:xfrm>
            <a:off x="8208112"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1" name="Text 38"/>
          <p:cNvSpPr/>
          <p:nvPr/>
        </p:nvSpPr>
        <p:spPr>
          <a:xfrm>
            <a:off x="9794138"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1,260,000円</a:t>
            </a:r>
            <a:endParaRPr lang="en-US" sz="1200" dirty="0"/>
          </a:p>
        </p:txBody>
      </p:sp>
      <p:sp>
        <p:nvSpPr>
          <p:cNvPr id="42" name="Shape 39"/>
          <p:cNvSpPr/>
          <p:nvPr/>
        </p:nvSpPr>
        <p:spPr>
          <a:xfrm>
            <a:off x="6562192" y="2748686"/>
            <a:ext cx="4694987" cy="10058"/>
          </a:xfrm>
          <a:prstGeom prst="rect">
            <a:avLst/>
          </a:prstGeom>
          <a:solidFill>
            <a:srgbClr val="EFEAE0"/>
          </a:solidFill>
          <a:ln/>
        </p:spPr>
      </p:sp>
      <p:sp>
        <p:nvSpPr>
          <p:cNvPr id="43" name="Text 40"/>
          <p:cNvSpPr/>
          <p:nvPr/>
        </p:nvSpPr>
        <p:spPr>
          <a:xfrm>
            <a:off x="6562192"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44" name="Text 41"/>
          <p:cNvSpPr/>
          <p:nvPr/>
        </p:nvSpPr>
        <p:spPr>
          <a:xfrm>
            <a:off x="8208112"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45" name="Text 42"/>
          <p:cNvSpPr/>
          <p:nvPr/>
        </p:nvSpPr>
        <p:spPr>
          <a:xfrm>
            <a:off x="9794138"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-553,000円</a:t>
            </a:r>
            <a:endParaRPr lang="en-US" sz="1200" dirty="0"/>
          </a:p>
        </p:txBody>
      </p:sp>
      <p:sp>
        <p:nvSpPr>
          <p:cNvPr id="46" name="Shape 43"/>
          <p:cNvSpPr/>
          <p:nvPr/>
        </p:nvSpPr>
        <p:spPr>
          <a:xfrm>
            <a:off x="6562192" y="3077870"/>
            <a:ext cx="4694987" cy="10058"/>
          </a:xfrm>
          <a:prstGeom prst="rect">
            <a:avLst/>
          </a:prstGeom>
          <a:solidFill>
            <a:srgbClr val="EFEAE0"/>
          </a:solidFill>
          <a:ln/>
        </p:spPr>
      </p:sp>
      <p:sp>
        <p:nvSpPr>
          <p:cNvPr id="47" name="Text 44"/>
          <p:cNvSpPr/>
          <p:nvPr/>
        </p:nvSpPr>
        <p:spPr>
          <a:xfrm>
            <a:off x="6562192"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48" name="Text 45"/>
          <p:cNvSpPr/>
          <p:nvPr/>
        </p:nvSpPr>
        <p:spPr>
          <a:xfrm>
            <a:off x="8208112"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49" name="Text 46"/>
          <p:cNvSpPr/>
          <p:nvPr/>
        </p:nvSpPr>
        <p:spPr>
          <a:xfrm>
            <a:off x="9794138"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-320,000円</a:t>
            </a:r>
            <a:endParaRPr lang="en-US" sz="1200" dirty="0"/>
          </a:p>
        </p:txBody>
      </p:sp>
      <p:sp>
        <p:nvSpPr>
          <p:cNvPr id="50" name="Shape 47"/>
          <p:cNvSpPr/>
          <p:nvPr/>
        </p:nvSpPr>
        <p:spPr>
          <a:xfrm>
            <a:off x="6562192" y="3407054"/>
            <a:ext cx="4694987" cy="10058"/>
          </a:xfrm>
          <a:prstGeom prst="rect">
            <a:avLst/>
          </a:prstGeom>
          <a:solidFill>
            <a:srgbClr val="EFEAE0"/>
          </a:solidFill>
          <a:ln/>
        </p:spPr>
      </p:sp>
      <p:sp>
        <p:nvSpPr>
          <p:cNvPr id="51" name="Shape 48"/>
          <p:cNvSpPr/>
          <p:nvPr/>
        </p:nvSpPr>
        <p:spPr>
          <a:xfrm>
            <a:off x="6562192" y="3608222"/>
            <a:ext cx="2256053" cy="1426464"/>
          </a:xfrm>
          <a:prstGeom prst="roundRect">
            <a:avLst>
              <a:gd name="adj" fmla="val 3846"/>
            </a:avLst>
          </a:prstGeom>
          <a:solidFill>
            <a:srgbClr val="F1F8F3"/>
          </a:solidFill>
          <a:ln w="9525">
            <a:solidFill>
              <a:srgbClr val="D2E7DA"/>
            </a:solidFill>
            <a:prstDash val="solid"/>
          </a:ln>
        </p:spPr>
      </p:sp>
      <p:sp>
        <p:nvSpPr>
          <p:cNvPr id="52" name="Text 49"/>
          <p:cNvSpPr/>
          <p:nvPr/>
        </p:nvSpPr>
        <p:spPr>
          <a:xfrm>
            <a:off x="6745072"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53" name="Text 50"/>
          <p:cNvSpPr/>
          <p:nvPr/>
        </p:nvSpPr>
        <p:spPr>
          <a:xfrm>
            <a:off x="6745072"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54" name="Text 51"/>
          <p:cNvSpPr/>
          <p:nvPr/>
        </p:nvSpPr>
        <p:spPr>
          <a:xfrm>
            <a:off x="6745072"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55" name="Text 52"/>
          <p:cNvSpPr/>
          <p:nvPr/>
        </p:nvSpPr>
        <p:spPr>
          <a:xfrm>
            <a:off x="6690208"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約2年7ヶ月</a:t>
            </a:r>
            <a:r>
              <a:rPr lang="en-US" sz="850" dirty="0">
                <a:solidFill>
                  <a:srgbClr val="7E8882"/>
                </a:solidFill>
                <a:latin typeface="Arial" pitchFamily="34" charset="0"/>
                <a:ea typeface="Arial" pitchFamily="34" charset="-122"/>
                <a:cs typeface="Arial" pitchFamily="34" charset="-120"/>
              </a:rPr>
              <a:t>（31ヶ月）</a:t>
            </a:r>
            <a:endParaRPr lang="en-US" sz="1450" dirty="0"/>
          </a:p>
        </p:txBody>
      </p:sp>
      <p:sp>
        <p:nvSpPr>
          <p:cNvPr id="56" name="Shape 53"/>
          <p:cNvSpPr/>
          <p:nvPr/>
        </p:nvSpPr>
        <p:spPr>
          <a:xfrm>
            <a:off x="9001125" y="3608222"/>
            <a:ext cx="2256053" cy="1426464"/>
          </a:xfrm>
          <a:prstGeom prst="roundRect">
            <a:avLst>
              <a:gd name="adj" fmla="val 3846"/>
            </a:avLst>
          </a:prstGeom>
          <a:solidFill>
            <a:srgbClr val="0C5230"/>
          </a:solidFill>
          <a:ln/>
        </p:spPr>
      </p:sp>
      <p:sp>
        <p:nvSpPr>
          <p:cNvPr id="57" name="Text 54"/>
          <p:cNvSpPr/>
          <p:nvPr/>
        </p:nvSpPr>
        <p:spPr>
          <a:xfrm>
            <a:off x="9184005"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58" name="Text 55"/>
          <p:cNvSpPr/>
          <p:nvPr/>
        </p:nvSpPr>
        <p:spPr>
          <a:xfrm>
            <a:off x="9184005"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59" name="Text 56"/>
          <p:cNvSpPr/>
          <p:nvPr/>
        </p:nvSpPr>
        <p:spPr>
          <a:xfrm>
            <a:off x="9184005"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0" name="Text 57"/>
          <p:cNvSpPr/>
          <p:nvPr/>
        </p:nvSpPr>
        <p:spPr>
          <a:xfrm>
            <a:off x="9129141"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61" name="Shape 58"/>
          <p:cNvSpPr/>
          <p:nvPr/>
        </p:nvSpPr>
        <p:spPr>
          <a:xfrm>
            <a:off x="660197" y="5437022"/>
            <a:ext cx="10871302" cy="512064"/>
          </a:xfrm>
          <a:prstGeom prst="roundRect">
            <a:avLst>
              <a:gd name="adj" fmla="val 10714"/>
            </a:avLst>
          </a:prstGeom>
          <a:solidFill>
            <a:srgbClr val="F1F8F3"/>
          </a:solidFill>
          <a:ln w="9525">
            <a:solidFill>
              <a:srgbClr val="D2E7DA"/>
            </a:solidFill>
            <a:prstDash val="solid"/>
          </a:ln>
        </p:spPr>
      </p:sp>
      <p:sp>
        <p:nvSpPr>
          <p:cNvPr id="62" name="Text 59"/>
          <p:cNvSpPr/>
          <p:nvPr/>
        </p:nvSpPr>
        <p:spPr>
          <a:xfrm>
            <a:off x="897941" y="5437022"/>
            <a:ext cx="10395814" cy="512064"/>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前提：1杯420円／販売数 20坪=75杯・40坪=100杯／日（収益シミュレーションと同一）／ロイヤリティ 月5万円／減価償却費・税は含まない</a:t>
            </a:r>
            <a:endParaRPr lang="en-US" sz="1000" dirty="0"/>
          </a:p>
        </p:txBody>
      </p:sp>
      <p:sp>
        <p:nvSpPr>
          <p:cNvPr id="63" name="Text 60"/>
          <p:cNvSpPr/>
          <p:nvPr/>
        </p:nvSpPr>
        <p:spPr>
          <a:xfrm>
            <a:off x="660197" y="609539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収益シミュレーション（p20〜p21）と同一の前提による目安です。回収期間・利益を保証するものではありません。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a:t>
            </a:r>
            <a:endParaRPr lang="en-US" sz="900" dirty="0"/>
          </a:p>
        </p:txBody>
      </p:sp>
      <p:pic>
        <p:nvPicPr>
          <p:cNvPr id="21" name="Image 1" descr="/home/user/suzuki-ceo/selfcafe-partner-deck/assets/photos/.crops/p02-storefront-1189x282.jpg">    </p:cNvPr>
          <p:cNvPicPr>
            <a:picLocks noChangeAspect="1"/>
          </p:cNvPicPr>
          <p:nvPr/>
        </p:nvPicPr>
        <p:blipFill>
          <a:blip r:embed="rId2"/>
          <a:stretch>
            <a:fillRect/>
          </a:stretch>
        </p:blipFill>
        <p:spPr>
          <a:xfrm>
            <a:off x="660197" y="2492654"/>
            <a:ext cx="10871302" cy="2578608"/>
          </a:xfrm>
          <a:prstGeom prst="rect">
            <a:avLst/>
          </a:prstGeom>
        </p:spPr>
      </p:pic>
      <p:sp>
        <p:nvSpPr>
          <p:cNvPr id="22" name="Shape 18"/>
          <p:cNvSpPr/>
          <p:nvPr/>
        </p:nvSpPr>
        <p:spPr>
          <a:xfrm>
            <a:off x="660197" y="2492654"/>
            <a:ext cx="10871302" cy="2578608"/>
          </a:xfrm>
          <a:prstGeom prst="rect">
            <a:avLst/>
          </a:prstGeom>
          <a:ln w="12700">
            <a:solidFill>
              <a:srgbClr val="D8D2C6"/>
            </a:solidFill>
            <a:prstDash val="solid"/>
          </a:ln>
        </p:spPr>
      </p:sp>
      <p:sp>
        <p:nvSpPr>
          <p:cNvPr id="23" name="Shape 19"/>
          <p:cNvSpPr/>
          <p:nvPr/>
        </p:nvSpPr>
        <p:spPr>
          <a:xfrm>
            <a:off x="788213" y="4614062"/>
            <a:ext cx="1442720" cy="329184"/>
          </a:xfrm>
          <a:prstGeom prst="roundRect">
            <a:avLst>
              <a:gd name="adj" fmla="val 13889"/>
            </a:avLst>
          </a:prstGeom>
          <a:solidFill>
            <a:srgbClr val="FFFFFF">
              <a:alpha val="90000"/>
            </a:srgbClr>
          </a:solidFill>
          <a:ln/>
        </p:spPr>
      </p:sp>
      <p:sp>
        <p:nvSpPr>
          <p:cNvPr id="24" name="Text 20"/>
          <p:cNvSpPr/>
          <p:nvPr/>
        </p:nvSpPr>
        <p:spPr>
          <a:xfrm>
            <a:off x="952805" y="4614062"/>
            <a:ext cx="116840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盛岡駅前店の外観</a:t>
            </a:r>
            <a:endParaRPr lang="en-US" sz="1000" dirty="0"/>
          </a:p>
        </p:txBody>
      </p:sp>
      <p:sp>
        <p:nvSpPr>
          <p:cNvPr id="25" name="Shape 21"/>
          <p:cNvSpPr/>
          <p:nvPr/>
        </p:nvSpPr>
        <p:spPr>
          <a:xfrm>
            <a:off x="660197" y="5217566"/>
            <a:ext cx="10871302" cy="969264"/>
          </a:xfrm>
          <a:prstGeom prst="roundRect">
            <a:avLst>
              <a:gd name="adj" fmla="val 5660"/>
            </a:avLst>
          </a:prstGeom>
          <a:solidFill>
            <a:srgbClr val="FFFFFF"/>
          </a:solidFill>
          <a:ln w="9525">
            <a:solidFill>
              <a:srgbClr val="EFEAE0"/>
            </a:solidFill>
            <a:prstDash val="solid"/>
          </a:ln>
        </p:spPr>
      </p:sp>
      <p:sp>
        <p:nvSpPr>
          <p:cNvPr id="26" name="Text 22"/>
          <p:cNvSpPr/>
          <p:nvPr/>
        </p:nvSpPr>
        <p:spPr>
          <a:xfrm>
            <a:off x="934517" y="536387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934517" y="5546750"/>
            <a:ext cx="3108960" cy="310896"/>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1日80杯ペースでの稼働</a:t>
            </a:r>
            <a:endParaRPr lang="en-US" sz="1500" dirty="0"/>
          </a:p>
        </p:txBody>
      </p:sp>
      <p:sp>
        <p:nvSpPr>
          <p:cNvPr id="28" name="Text 24"/>
          <p:cNvSpPr/>
          <p:nvPr/>
        </p:nvSpPr>
        <p:spPr>
          <a:xfrm>
            <a:off x="934517" y="5875934"/>
            <a:ext cx="3931920"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1回の利用で2〜3時間、2杯程度購入。学生からビジネスマンまで幅広い層を獲得。</a:t>
            </a:r>
            <a:endParaRPr lang="en-US" sz="850" dirty="0"/>
          </a:p>
        </p:txBody>
      </p:sp>
      <p:sp>
        <p:nvSpPr>
          <p:cNvPr id="29" name="Shape 25"/>
          <p:cNvSpPr/>
          <p:nvPr/>
        </p:nvSpPr>
        <p:spPr>
          <a:xfrm>
            <a:off x="5049317" y="5382158"/>
            <a:ext cx="10058" cy="640080"/>
          </a:xfrm>
          <a:prstGeom prst="rect">
            <a:avLst/>
          </a:prstGeom>
          <a:solidFill>
            <a:srgbClr val="EFEAE0"/>
          </a:solidFill>
          <a:ln/>
        </p:spPr>
      </p:sp>
      <p:sp>
        <p:nvSpPr>
          <p:cNvPr id="30" name="Text 26"/>
          <p:cNvSpPr/>
          <p:nvPr/>
        </p:nvSpPr>
        <p:spPr>
          <a:xfrm>
            <a:off x="5323637" y="5400446"/>
            <a:ext cx="1437665" cy="21945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開業</a:t>
            </a:r>
            <a:endParaRPr lang="en-US" sz="900" dirty="0"/>
          </a:p>
        </p:txBody>
      </p:sp>
      <p:sp>
        <p:nvSpPr>
          <p:cNvPr id="31" name="Text 27"/>
          <p:cNvSpPr/>
          <p:nvPr/>
        </p:nvSpPr>
        <p:spPr>
          <a:xfrm>
            <a:off x="5323637" y="5656478"/>
            <a:ext cx="1437665" cy="329184"/>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2025年4月</a:t>
            </a:r>
            <a:endParaRPr lang="en-US" sz="1250" dirty="0"/>
          </a:p>
        </p:txBody>
      </p:sp>
      <p:sp>
        <p:nvSpPr>
          <p:cNvPr id="32" name="Text 28"/>
          <p:cNvSpPr/>
          <p:nvPr/>
        </p:nvSpPr>
        <p:spPr>
          <a:xfrm>
            <a:off x="6852742" y="5400446"/>
            <a:ext cx="1437665" cy="21945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面積・席数</a:t>
            </a:r>
            <a:endParaRPr lang="en-US" sz="900" dirty="0"/>
          </a:p>
        </p:txBody>
      </p:sp>
      <p:sp>
        <p:nvSpPr>
          <p:cNvPr id="33" name="Text 29"/>
          <p:cNvSpPr/>
          <p:nvPr/>
        </p:nvSpPr>
        <p:spPr>
          <a:xfrm>
            <a:off x="6852742" y="5656478"/>
            <a:ext cx="1437665" cy="329184"/>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20坪／40席</a:t>
            </a:r>
            <a:endParaRPr lang="en-US" sz="1250" dirty="0"/>
          </a:p>
        </p:txBody>
      </p:sp>
      <p:sp>
        <p:nvSpPr>
          <p:cNvPr id="34" name="Text 30"/>
          <p:cNvSpPr/>
          <p:nvPr/>
        </p:nvSpPr>
        <p:spPr>
          <a:xfrm>
            <a:off x="8381848" y="5400446"/>
            <a:ext cx="1437665" cy="21945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立地</a:t>
            </a:r>
            <a:endParaRPr lang="en-US" sz="900" dirty="0"/>
          </a:p>
        </p:txBody>
      </p:sp>
      <p:sp>
        <p:nvSpPr>
          <p:cNvPr id="35" name="Text 31"/>
          <p:cNvSpPr/>
          <p:nvPr/>
        </p:nvSpPr>
        <p:spPr>
          <a:xfrm>
            <a:off x="8381848" y="5656478"/>
            <a:ext cx="1437665" cy="329184"/>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岩手県盛岡市・駅前</a:t>
            </a:r>
            <a:endParaRPr lang="en-US" sz="1250" dirty="0"/>
          </a:p>
        </p:txBody>
      </p:sp>
      <p:sp>
        <p:nvSpPr>
          <p:cNvPr id="36" name="Text 32"/>
          <p:cNvSpPr/>
          <p:nvPr/>
        </p:nvSpPr>
        <p:spPr>
          <a:xfrm>
            <a:off x="9910953" y="5400446"/>
            <a:ext cx="1437665" cy="21945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a:t>
            </a:r>
            <a:endParaRPr lang="en-US" sz="900" dirty="0"/>
          </a:p>
        </p:txBody>
      </p:sp>
      <p:sp>
        <p:nvSpPr>
          <p:cNvPr id="37" name="Text 33"/>
          <p:cNvSpPr/>
          <p:nvPr/>
        </p:nvSpPr>
        <p:spPr>
          <a:xfrm>
            <a:off x="9910953" y="5656478"/>
            <a:ext cx="1437665" cy="329184"/>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24時間</a:t>
            </a:r>
            <a:endParaRPr lang="en-US" sz="1250" dirty="0"/>
          </a:p>
        </p:txBody>
      </p:sp>
      <p:sp>
        <p:nvSpPr>
          <p:cNvPr id="38" name="Text 34"/>
          <p:cNvSpPr/>
          <p:nvPr/>
        </p:nvSpPr>
        <p:spPr>
          <a:xfrm>
            <a:off x="660197" y="63148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実績値であり、他店舗での同等の売上・利益を保証するものではありません。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初期費用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月額費用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内容・備考</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公式LINE作成</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顧客用コピー機</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（A3対応）</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（フルサポート）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（ミニマムサポート）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5243627" cy="1371600"/>
          </a:xfrm>
          <a:prstGeom prst="roundRect">
            <a:avLst>
              <a:gd name="adj" fmla="val 4000"/>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1000" dirty="0"/>
          </a:p>
        </p:txBody>
      </p:sp>
      <p:sp>
        <p:nvSpPr>
          <p:cNvPr id="16" name="Shape 13"/>
          <p:cNvSpPr/>
          <p:nvPr/>
        </p:nvSpPr>
        <p:spPr>
          <a:xfrm>
            <a:off x="6287872" y="1651406"/>
            <a:ext cx="5243627" cy="1371600"/>
          </a:xfrm>
          <a:prstGeom prst="roundRect">
            <a:avLst>
              <a:gd name="adj" fmla="val 4000"/>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000" dirty="0"/>
          </a:p>
        </p:txBody>
      </p:sp>
      <p:sp>
        <p:nvSpPr>
          <p:cNvPr id="23" name="Shape 20"/>
          <p:cNvSpPr/>
          <p:nvPr/>
        </p:nvSpPr>
        <p:spPr>
          <a:xfrm>
            <a:off x="660197" y="3224174"/>
            <a:ext cx="5243627" cy="1371600"/>
          </a:xfrm>
          <a:prstGeom prst="roundRect">
            <a:avLst>
              <a:gd name="adj" fmla="val 4000"/>
            </a:avLst>
          </a:prstGeom>
          <a:solidFill>
            <a:srgbClr val="FFFFFF"/>
          </a:solidFill>
          <a:ln w="9525">
            <a:solidFill>
              <a:srgbClr val="EFEAE0"/>
            </a:solidFill>
            <a:prstDash val="solid"/>
          </a:ln>
        </p:spPr>
      </p:sp>
      <p:sp>
        <p:nvSpPr>
          <p:cNvPr id="24" name="Text 21"/>
          <p:cNvSpPr/>
          <p:nvPr/>
        </p:nvSpPr>
        <p:spPr>
          <a:xfrm>
            <a:off x="934517"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73982"/>
            <a:ext cx="4694987" cy="10058"/>
          </a:xfrm>
          <a:prstGeom prst="rect">
            <a:avLst/>
          </a:prstGeom>
          <a:solidFill>
            <a:srgbClr val="EFEAE0"/>
          </a:solidFill>
          <a:ln/>
        </p:spPr>
      </p:sp>
      <p:sp>
        <p:nvSpPr>
          <p:cNvPr id="28" name="Text 25"/>
          <p:cNvSpPr/>
          <p:nvPr/>
        </p:nvSpPr>
        <p:spPr>
          <a:xfrm>
            <a:off x="934517"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1000" dirty="0"/>
          </a:p>
        </p:txBody>
      </p:sp>
      <p:sp>
        <p:nvSpPr>
          <p:cNvPr id="30" name="Shape 27"/>
          <p:cNvSpPr/>
          <p:nvPr/>
        </p:nvSpPr>
        <p:spPr>
          <a:xfrm>
            <a:off x="6287872" y="3224174"/>
            <a:ext cx="5243627" cy="1371600"/>
          </a:xfrm>
          <a:prstGeom prst="roundRect">
            <a:avLst>
              <a:gd name="adj" fmla="val 4000"/>
            </a:avLst>
          </a:prstGeom>
          <a:solidFill>
            <a:srgbClr val="FFFFFF"/>
          </a:solidFill>
          <a:ln w="9525">
            <a:solidFill>
              <a:srgbClr val="EFEAE0"/>
            </a:solidFill>
            <a:prstDash val="solid"/>
          </a:ln>
        </p:spPr>
      </p:sp>
      <p:sp>
        <p:nvSpPr>
          <p:cNvPr id="31" name="Text 28"/>
          <p:cNvSpPr/>
          <p:nvPr/>
        </p:nvSpPr>
        <p:spPr>
          <a:xfrm>
            <a:off x="6562192"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73982"/>
            <a:ext cx="4694987" cy="10058"/>
          </a:xfrm>
          <a:prstGeom prst="rect">
            <a:avLst/>
          </a:prstGeom>
          <a:solidFill>
            <a:srgbClr val="EFEAE0"/>
          </a:solidFill>
          <a:ln/>
        </p:spPr>
      </p:sp>
      <p:sp>
        <p:nvSpPr>
          <p:cNvPr id="35" name="Text 32"/>
          <p:cNvSpPr/>
          <p:nvPr/>
        </p:nvSpPr>
        <p:spPr>
          <a:xfrm>
            <a:off x="6562192"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1000" dirty="0"/>
          </a:p>
        </p:txBody>
      </p:sp>
      <p:sp>
        <p:nvSpPr>
          <p:cNvPr id="37" name="Shape 34"/>
          <p:cNvSpPr/>
          <p:nvPr/>
        </p:nvSpPr>
        <p:spPr>
          <a:xfrm>
            <a:off x="660197" y="4796942"/>
            <a:ext cx="5243627" cy="1371600"/>
          </a:xfrm>
          <a:prstGeom prst="roundRect">
            <a:avLst>
              <a:gd name="adj" fmla="val 4000"/>
            </a:avLst>
          </a:prstGeom>
          <a:solidFill>
            <a:srgbClr val="FFFFFF"/>
          </a:solidFill>
          <a:ln w="9525">
            <a:solidFill>
              <a:srgbClr val="EFEAE0"/>
            </a:solidFill>
            <a:prstDash val="solid"/>
          </a:ln>
        </p:spPr>
      </p:sp>
      <p:sp>
        <p:nvSpPr>
          <p:cNvPr id="38" name="Text 35"/>
          <p:cNvSpPr/>
          <p:nvPr/>
        </p:nvSpPr>
        <p:spPr>
          <a:xfrm>
            <a:off x="934517" y="497982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18099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6270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46750"/>
            <a:ext cx="4694987" cy="10058"/>
          </a:xfrm>
          <a:prstGeom prst="rect">
            <a:avLst/>
          </a:prstGeom>
          <a:solidFill>
            <a:srgbClr val="EFEAE0"/>
          </a:solidFill>
          <a:ln/>
        </p:spPr>
      </p:sp>
      <p:sp>
        <p:nvSpPr>
          <p:cNvPr id="42" name="Text 39"/>
          <p:cNvSpPr/>
          <p:nvPr/>
        </p:nvSpPr>
        <p:spPr>
          <a:xfrm>
            <a:off x="934517" y="563819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19902"/>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1000" dirty="0"/>
          </a:p>
        </p:txBody>
      </p:sp>
      <p:sp>
        <p:nvSpPr>
          <p:cNvPr id="44" name="Shape 41"/>
          <p:cNvSpPr/>
          <p:nvPr/>
        </p:nvSpPr>
        <p:spPr>
          <a:xfrm>
            <a:off x="6287872" y="4796942"/>
            <a:ext cx="5243627" cy="1371600"/>
          </a:xfrm>
          <a:prstGeom prst="roundRect">
            <a:avLst>
              <a:gd name="adj" fmla="val 4000"/>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07838"/>
            <a:ext cx="329184" cy="329184"/>
          </a:xfrm>
          <a:prstGeom prst="rect">
            <a:avLst/>
          </a:prstGeom>
        </p:spPr>
      </p:pic>
      <p:sp>
        <p:nvSpPr>
          <p:cNvPr id="46" name="Text 42"/>
          <p:cNvSpPr/>
          <p:nvPr/>
        </p:nvSpPr>
        <p:spPr>
          <a:xfrm>
            <a:off x="7092544" y="5071262"/>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55310"/>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加盟申込み</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契約締結。契約期間は最低3年〜。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29</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担当：XXX</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2026-08-25T04:52:29Z</dcterms:created>
  <dcterms:modified xsi:type="dcterms:W3CDTF">2026-08-25T04:52:29Z</dcterms:modified>
</cp:coreProperties>
</file>