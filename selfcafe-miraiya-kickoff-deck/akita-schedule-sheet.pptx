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82880" cy="23774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未来屋書店 秋田店　カフェ区画 業態転換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84048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スケジュールと役割分担</a:t>
            </a:r>
            <a:endParaRPr lang="en-US" sz="2200" dirty="0"/>
          </a:p>
        </p:txBody>
      </p:sp>
      <p:pic>
        <p:nvPicPr>
          <p:cNvPr id="5" name="Image 0" descr="/home/user/suzuki-ceo/selfcafe-miraiya-kickoff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274320"/>
            <a:ext cx="1417320" cy="2020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13448" y="5303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2026年10月17日　セルフカフェ株式会社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914400"/>
            <a:ext cx="2356866" cy="402336"/>
          </a:xfrm>
          <a:prstGeom prst="roundRect">
            <a:avLst>
              <a:gd name="adj" fmla="val 11364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950976"/>
            <a:ext cx="20642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30352" y="1097280"/>
            <a:ext cx="20642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30坪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05506" y="914400"/>
            <a:ext cx="2356866" cy="402336"/>
          </a:xfrm>
          <a:prstGeom prst="roundRect">
            <a:avLst>
              <a:gd name="adj" fmla="val 11364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51810" y="950976"/>
            <a:ext cx="20642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オープン目標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051810" y="1097280"/>
            <a:ext cx="20642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2027年2月末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26964" y="914400"/>
            <a:ext cx="2356866" cy="402336"/>
          </a:xfrm>
          <a:prstGeom prst="roundRect">
            <a:avLst>
              <a:gd name="adj" fmla="val 11364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3268" y="950976"/>
            <a:ext cx="20642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契約形態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573268" y="1097280"/>
            <a:ext cx="20642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業務委託（3年）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48422" y="914400"/>
            <a:ext cx="2356866" cy="402336"/>
          </a:xfrm>
          <a:prstGeom prst="roundRect">
            <a:avLst>
              <a:gd name="adj" fmla="val 11364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94726" y="950976"/>
            <a:ext cx="20642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閉店後の工期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094726" y="1097280"/>
            <a:ext cx="20642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約1か月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463040"/>
          <a:ext cx="9921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077456"/>
                <a:gridCol w="1472184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担当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11月上旬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施工担当による現地内見（実測・電源・給排水・残置設備の確認）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両社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11月中旬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レイアウト図・什器リスト・お見積りのご提出（30坪）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68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セルフカフェ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11月中旬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クリエ様の解約条件・原状回復範囲の確定（残置の範囲を確定）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11月下旬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仕様の確定／業務委託契約の締結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両社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11月下旬〜12月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館（イオンモール様）への工事申請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両社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12月上旬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什器・機器の発注（リードタイム4〜6週間）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68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セルフカフェ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1月末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カフェ・ド・クリエ 閉店・退去（造作・床・設備は残置）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2月（約1か月）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内装工事 → 機器設置・試運転 → 什器搬入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68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セルフカフェ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2月下旬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オープン準備・研修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両社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2月末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オープン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384048" y="4224528"/>
            <a:ext cx="9921240" cy="566928"/>
          </a:xfrm>
          <a:prstGeom prst="roundRect">
            <a:avLst>
              <a:gd name="adj" fmla="val 8065"/>
            </a:avLst>
          </a:prstGeom>
          <a:solidFill>
            <a:srgbClr val="0C5230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" y="4224528"/>
            <a:ext cx="9445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工期約1か月は、造作・床・給排水・電気が残置される前提です。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スケルトン戻しとなる場合は工期が延び、2月末オープンが厳しくなります。また1/31閉店→2/28オープンは正味28日のためバッファがありません。閉店を1月中旬〜下旬に前倒しできると安全です。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84048" y="4956048"/>
            <a:ext cx="3703320" cy="2249424"/>
          </a:xfrm>
          <a:prstGeom prst="roundRect">
            <a:avLst>
              <a:gd name="adj" fmla="val 2439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5216" y="5084064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セルフカフェ（弊社）で進めること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85216" y="5340096"/>
            <a:ext cx="3300984" cy="9144"/>
          </a:xfrm>
          <a:prstGeom prst="rect">
            <a:avLst/>
          </a:prstGeom>
          <a:solidFill>
            <a:srgbClr val="D2E7DA"/>
          </a:solidFill>
          <a:ln/>
        </p:spPr>
      </p:sp>
      <p:sp>
        <p:nvSpPr>
          <p:cNvPr id="25" name="Text 21"/>
          <p:cNvSpPr/>
          <p:nvPr/>
        </p:nvSpPr>
        <p:spPr>
          <a:xfrm>
            <a:off x="603504" y="54315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768096" y="5431536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施工担当の内見日程の調整（11月上旬）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03504" y="56189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68096" y="5618988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レイアウト図・什器リストの作成（30坪）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03504" y="58064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768096" y="5806440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工事費・初期費用のお見積り提出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603504" y="59938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68096" y="5993892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業務委託契約書のドラフト送付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603504" y="61813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768096" y="6181344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館への工事申請用 図面・仕様書の作成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03504" y="63687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68096" y="6368796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什器・機器の発注（12月上旬）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603504" y="655624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768096" y="6556248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内装工事・機器設置・試運転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603504" y="67437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68096" y="6743700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開業スケジュール確定版の提示（内見後）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03504" y="693115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768096" y="6931152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オープン後の集客・お客様対応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306824" y="4956048"/>
            <a:ext cx="5998464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C79A44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507992" y="5084064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未来屋書店様にご確認・ご準備いただきたいこと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4507992" y="5340096"/>
            <a:ext cx="5596128" cy="9144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46" name="Text 42"/>
          <p:cNvSpPr/>
          <p:nvPr/>
        </p:nvSpPr>
        <p:spPr>
          <a:xfrm>
            <a:off x="4507992" y="5413248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ご確認事項（★＝工期・コストに直結）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4526280" y="56144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4709160" y="561441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クリエ様の解約条件・閉店日の確定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4526280" y="58293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4709160" y="582930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原状回復の範囲（造作・床・設備の残置）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4526280" y="6044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4709160" y="604418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残置する既存設備（給排水・電気容量・ダクト）</a:t>
            </a:r>
            <a:endParaRPr lang="en-US" sz="850" dirty="0"/>
          </a:p>
        </p:txBody>
      </p:sp>
      <p:sp>
        <p:nvSpPr>
          <p:cNvPr id="53" name="Text 49"/>
          <p:cNvSpPr/>
          <p:nvPr/>
        </p:nvSpPr>
        <p:spPr>
          <a:xfrm>
            <a:off x="4526280" y="62590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4709160" y="625906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館への工事申請（様式・期限・搬入ルート）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4526280" y="64739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4709160" y="6473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サイン表記の確定（MIRAIYA Book &amp; Cafe）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4526280" y="66888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58" name="Text 54"/>
          <p:cNvSpPr/>
          <p:nvPr/>
        </p:nvSpPr>
        <p:spPr>
          <a:xfrm>
            <a:off x="4709160" y="668883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社内稟議の進捗・決裁完了の目処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4526280" y="69037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60" name="Text 56"/>
          <p:cNvSpPr/>
          <p:nvPr/>
        </p:nvSpPr>
        <p:spPr>
          <a:xfrm>
            <a:off x="4709160" y="690372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運営体制（営業時間・清掃補充の担当分け）</a:t>
            </a:r>
            <a:endParaRPr lang="en-US" sz="850" dirty="0"/>
          </a:p>
        </p:txBody>
      </p:sp>
      <p:sp>
        <p:nvSpPr>
          <p:cNvPr id="61" name="Text 57"/>
          <p:cNvSpPr/>
          <p:nvPr/>
        </p:nvSpPr>
        <p:spPr>
          <a:xfrm>
            <a:off x="7443216" y="5413248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ご提供いただきたい資料</a:t>
            </a:r>
            <a:endParaRPr lang="en-US" sz="850" dirty="0"/>
          </a:p>
        </p:txBody>
      </p:sp>
      <p:sp>
        <p:nvSpPr>
          <p:cNvPr id="62" name="Text 58"/>
          <p:cNvSpPr/>
          <p:nvPr/>
        </p:nvSpPr>
        <p:spPr>
          <a:xfrm>
            <a:off x="7461504" y="561441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63" name="Text 59"/>
          <p:cNvSpPr/>
          <p:nvPr/>
        </p:nvSpPr>
        <p:spPr>
          <a:xfrm>
            <a:off x="7626096" y="561441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区画図面（平面図・展開図／CADデータ）</a:t>
            </a:r>
            <a:endParaRPr lang="en-US" sz="850" dirty="0"/>
          </a:p>
        </p:txBody>
      </p:sp>
      <p:sp>
        <p:nvSpPr>
          <p:cNvPr id="64" name="Text 60"/>
          <p:cNvSpPr/>
          <p:nvPr/>
        </p:nvSpPr>
        <p:spPr>
          <a:xfrm>
            <a:off x="7461504" y="582930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65" name="Text 61"/>
          <p:cNvSpPr/>
          <p:nvPr/>
        </p:nvSpPr>
        <p:spPr>
          <a:xfrm>
            <a:off x="7626096" y="582930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電気容量・分電盤の位置</a:t>
            </a:r>
            <a:endParaRPr lang="en-US" sz="850" dirty="0"/>
          </a:p>
        </p:txBody>
      </p:sp>
      <p:sp>
        <p:nvSpPr>
          <p:cNvPr id="66" name="Text 62"/>
          <p:cNvSpPr/>
          <p:nvPr/>
        </p:nvSpPr>
        <p:spPr>
          <a:xfrm>
            <a:off x="7461504" y="604418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67" name="Text 63"/>
          <p:cNvSpPr/>
          <p:nvPr/>
        </p:nvSpPr>
        <p:spPr>
          <a:xfrm>
            <a:off x="7626096" y="604418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給排水の位置・系統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7461504" y="62590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69" name="Text 65"/>
          <p:cNvSpPr/>
          <p:nvPr/>
        </p:nvSpPr>
        <p:spPr>
          <a:xfrm>
            <a:off x="7626096" y="625906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現況写真（既存設備・厨房まわり）</a:t>
            </a:r>
            <a:endParaRPr lang="en-US" sz="850" dirty="0"/>
          </a:p>
        </p:txBody>
      </p:sp>
      <p:sp>
        <p:nvSpPr>
          <p:cNvPr id="70" name="Text 66"/>
          <p:cNvSpPr/>
          <p:nvPr/>
        </p:nvSpPr>
        <p:spPr>
          <a:xfrm>
            <a:off x="7461504" y="647395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71" name="Text 67"/>
          <p:cNvSpPr/>
          <p:nvPr/>
        </p:nvSpPr>
        <p:spPr>
          <a:xfrm>
            <a:off x="7626096" y="6473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館の工事規定・申請様式</a:t>
            </a:r>
            <a:endParaRPr lang="en-US" sz="850" dirty="0"/>
          </a:p>
        </p:txBody>
      </p:sp>
      <p:sp>
        <p:nvSpPr>
          <p:cNvPr id="72" name="Text 68"/>
          <p:cNvSpPr/>
          <p:nvPr/>
        </p:nvSpPr>
        <p:spPr>
          <a:xfrm>
            <a:off x="7461504" y="668883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850" dirty="0"/>
          </a:p>
        </p:txBody>
      </p:sp>
      <p:sp>
        <p:nvSpPr>
          <p:cNvPr id="73" name="Text 69"/>
          <p:cNvSpPr/>
          <p:nvPr/>
        </p:nvSpPr>
        <p:spPr>
          <a:xfrm>
            <a:off x="7626096" y="668883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クリエ様の原状回復条件がわかる資料</a:t>
            </a:r>
            <a:endParaRPr lang="en-US" sz="850" dirty="0"/>
          </a:p>
        </p:txBody>
      </p:sp>
      <p:sp>
        <p:nvSpPr>
          <p:cNvPr id="74" name="Text 70"/>
          <p:cNvSpPr/>
          <p:nvPr/>
        </p:nvSpPr>
        <p:spPr>
          <a:xfrm>
            <a:off x="384048" y="731520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工期・納期は目安です。館（イオンモール様）の工事申請に要する期間は未織り込みのため、判明次第あらためて調整いたします。</a:t>
            </a:r>
            <a:endParaRPr lang="en-US" sz="750" dirty="0"/>
          </a:p>
        </p:txBody>
      </p:sp>
      <p:sp>
        <p:nvSpPr>
          <p:cNvPr id="75" name="Text 71"/>
          <p:cNvSpPr/>
          <p:nvPr/>
        </p:nvSpPr>
        <p:spPr>
          <a:xfrm>
            <a:off x="6647688" y="73152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セルフカフェ株式会社　052-879-3557 ／ info@selfcafe.jp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未来屋書店 秋田店 スケジュールと役割分担</dc:title>
  <dc:subject>PptxGenJS Presentation</dc:subject>
  <dc:creator>セルフカフェ株式会社</dc:creator>
  <cp:lastModifiedBy>セルフカフェ株式会社</cp:lastModifiedBy>
  <cp:revision>1</cp:revision>
  <dcterms:created xsi:type="dcterms:W3CDTF">2026-10-17T07:51:28Z</dcterms:created>
  <dcterms:modified xsi:type="dcterms:W3CDTF">2026-10-17T07:51:28Z</dcterms:modified>
</cp:coreProperties>
</file>