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6.png"/><Relationship Id="rId7" Type="http://schemas.openxmlformats.org/officeDocument/2006/relationships/image" Target="../media/image-5-3.png"/><Relationship Id="rId8" Type="http://schemas.openxmlformats.org/officeDocument/2006/relationships/image" Target="../media/image-5-3.png"/><Relationship Id="rId9" Type="http://schemas.openxmlformats.org/officeDocument/2006/relationships/image" Target="../media/image-5-3.png"/><Relationship Id="rId10" Type="http://schemas.openxmlformats.org/officeDocument/2006/relationships/image" Target="../media/image-5-10.jpg"/><Relationship Id="rId11" Type="http://schemas.openxmlformats.org/officeDocument/2006/relationships/image" Target="../media/image-5-11.jp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2.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2.png"/><Relationship Id="rId4" Type="http://schemas.openxmlformats.org/officeDocument/2006/relationships/image" Target="../media/image-21-2.png"/><Relationship Id="rId5" Type="http://schemas.openxmlformats.org/officeDocument/2006/relationships/image" Target="../media/image-21-2.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jp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3.png"/><Relationship Id="rId5" Type="http://schemas.openxmlformats.org/officeDocument/2006/relationships/image" Target="../media/image-27-3.png"/><Relationship Id="rId6" Type="http://schemas.openxmlformats.org/officeDocument/2006/relationships/image" Target="../media/image-27-3.png"/><Relationship Id="rId7" Type="http://schemas.openxmlformats.org/officeDocument/2006/relationships/image" Target="../media/image-27-3.png"/><Relationship Id="rId8" Type="http://schemas.openxmlformats.org/officeDocument/2006/relationships/image" Target="../media/image-27-8.png"/><Relationship Id="rId9" Type="http://schemas.openxmlformats.org/officeDocument/2006/relationships/image" Target="../media/image-27-3.png"/><Relationship Id="rId10" Type="http://schemas.openxmlformats.org/officeDocument/2006/relationships/image" Target="../media/image-27-3.png"/><Relationship Id="rId11" Type="http://schemas.openxmlformats.org/officeDocument/2006/relationships/image" Target="../media/image-27-3.png"/><Relationship Id="rId12" Type="http://schemas.openxmlformats.org/officeDocument/2006/relationships/image" Target="../media/image-27-3.png"/><Relationship Id="rId13" Type="http://schemas.openxmlformats.org/officeDocument/2006/relationships/image" Target="../media/image-27-3.png"/><Relationship Id="rId14" Type="http://schemas.openxmlformats.org/officeDocument/2006/relationships/image" Target="../media/image-27-14.png"/><Relationship Id="rId15" Type="http://schemas.openxmlformats.org/officeDocument/2006/relationships/slideLayout" Target="../slideLayouts/slideLayout1.xml"/><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市場背景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社会背景と市場性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現代社会が抱える3つの課題が、無人カフェの需要をつくっています。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3453079" cy="3657600"/>
          </a:xfrm>
          <a:prstGeom prst="roundRect">
            <a:avLst>
              <a:gd name="adj" fmla="val 1589"/>
            </a:avLst>
          </a:prstGeom>
          <a:solidFill>
            <a:srgbClr val="FFFFFF"/>
          </a:solidFill>
          <a:ln w="9525">
            <a:solidFill>
              <a:srgbClr val="EFEAE0"/>
            </a:solidFill>
            <a:prstDash val="solid"/>
          </a:ln>
        </p:spPr>
      </p:sp>
      <p:sp>
        <p:nvSpPr>
          <p:cNvPr id="10" name="Text 7"/>
          <p:cNvSpPr/>
          <p:nvPr/>
        </p:nvSpPr>
        <p:spPr>
          <a:xfrm>
            <a:off x="91622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26892" y="1889150"/>
            <a:ext cx="402336" cy="402336"/>
          </a:xfrm>
          <a:prstGeom prst="rect">
            <a:avLst/>
          </a:prstGeom>
        </p:spPr>
      </p:pic>
      <p:sp>
        <p:nvSpPr>
          <p:cNvPr id="12" name="Text 8"/>
          <p:cNvSpPr/>
          <p:nvPr/>
        </p:nvSpPr>
        <p:spPr>
          <a:xfrm>
            <a:off x="916229"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深刻な労働力不足</a:t>
            </a:r>
            <a:endParaRPr lang="en-US" sz="1600" dirty="0"/>
          </a:p>
        </p:txBody>
      </p:sp>
      <p:sp>
        <p:nvSpPr>
          <p:cNvPr id="13" name="Shape 9"/>
          <p:cNvSpPr/>
          <p:nvPr/>
        </p:nvSpPr>
        <p:spPr>
          <a:xfrm>
            <a:off x="916229" y="2693822"/>
            <a:ext cx="2941015" cy="10058"/>
          </a:xfrm>
          <a:prstGeom prst="rect">
            <a:avLst/>
          </a:prstGeom>
          <a:solidFill>
            <a:srgbClr val="EFEAE0"/>
          </a:solidFill>
          <a:ln/>
        </p:spPr>
      </p:sp>
      <p:sp>
        <p:nvSpPr>
          <p:cNvPr id="14" name="Text 10"/>
          <p:cNvSpPr/>
          <p:nvPr/>
        </p:nvSpPr>
        <p:spPr>
          <a:xfrm>
            <a:off x="916229"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少子高齢化と働き手の価値観の変化でサービス業の人手確保が難しくなり、人件費が上昇して経営負担が増している。</a:t>
            </a:r>
            <a:endParaRPr lang="en-US" sz="1050" dirty="0"/>
          </a:p>
        </p:txBody>
      </p:sp>
      <p:sp>
        <p:nvSpPr>
          <p:cNvPr id="15" name="Shape 11"/>
          <p:cNvSpPr/>
          <p:nvPr/>
        </p:nvSpPr>
        <p:spPr>
          <a:xfrm>
            <a:off x="916229" y="4522622"/>
            <a:ext cx="2941015" cy="512064"/>
          </a:xfrm>
          <a:prstGeom prst="roundRect">
            <a:avLst>
              <a:gd name="adj" fmla="val 8929"/>
            </a:avLst>
          </a:prstGeom>
          <a:solidFill>
            <a:srgbClr val="F1F8F3"/>
          </a:solidFill>
          <a:ln/>
        </p:spPr>
      </p:sp>
      <p:pic>
        <p:nvPicPr>
          <p:cNvPr id="16" name="Image 2" descr="/home/user/suzuki-ceo/selfcafe-partner-deck/assets/icons/LuTrendingUp-green.png">    </p:cNvPr>
          <p:cNvPicPr>
            <a:picLocks noChangeAspect="1"/>
          </p:cNvPicPr>
          <p:nvPr/>
        </p:nvPicPr>
        <p:blipFill>
          <a:blip r:embed="rId3"/>
          <a:stretch>
            <a:fillRect/>
          </a:stretch>
        </p:blipFill>
        <p:spPr>
          <a:xfrm>
            <a:off x="1062533" y="4659782"/>
            <a:ext cx="237744" cy="237744"/>
          </a:xfrm>
          <a:prstGeom prst="rect">
            <a:avLst/>
          </a:prstGeom>
        </p:spPr>
      </p:pic>
      <p:sp>
        <p:nvSpPr>
          <p:cNvPr id="17" name="Text 12"/>
          <p:cNvSpPr/>
          <p:nvPr/>
        </p:nvSpPr>
        <p:spPr>
          <a:xfrm>
            <a:off x="1373429"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人に依存しない店舗フォーマットが必要</a:t>
            </a:r>
            <a:endParaRPr lang="en-US" sz="1000" dirty="0"/>
          </a:p>
        </p:txBody>
      </p:sp>
      <p:sp>
        <p:nvSpPr>
          <p:cNvPr id="18" name="Shape 13"/>
          <p:cNvSpPr/>
          <p:nvPr/>
        </p:nvSpPr>
        <p:spPr>
          <a:xfrm>
            <a:off x="4369308" y="1651406"/>
            <a:ext cx="3453079" cy="3657600"/>
          </a:xfrm>
          <a:prstGeom prst="roundRect">
            <a:avLst>
              <a:gd name="adj" fmla="val 1589"/>
            </a:avLst>
          </a:prstGeom>
          <a:solidFill>
            <a:srgbClr val="FFFFFF"/>
          </a:solidFill>
          <a:ln w="9525">
            <a:solidFill>
              <a:srgbClr val="EFEAE0"/>
            </a:solidFill>
            <a:prstDash val="solid"/>
          </a:ln>
        </p:spPr>
      </p:sp>
      <p:sp>
        <p:nvSpPr>
          <p:cNvPr id="19" name="Text 14"/>
          <p:cNvSpPr/>
          <p:nvPr/>
        </p:nvSpPr>
        <p:spPr>
          <a:xfrm>
            <a:off x="4625340"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02</a:t>
            </a:r>
            <a:endParaRPr lang="en-US" sz="900" dirty="0"/>
          </a:p>
        </p:txBody>
      </p:sp>
      <p:pic>
        <p:nvPicPr>
          <p:cNvPr id="20" name="Image 3" descr="/home/user/suzuki-ceo/selfcafe-partner-deck/assets/icons/LuLaptop-green.png">    </p:cNvPr>
          <p:cNvPicPr>
            <a:picLocks noChangeAspect="1"/>
          </p:cNvPicPr>
          <p:nvPr/>
        </p:nvPicPr>
        <p:blipFill>
          <a:blip r:embed="rId4"/>
          <a:stretch>
            <a:fillRect/>
          </a:stretch>
        </p:blipFill>
        <p:spPr>
          <a:xfrm>
            <a:off x="7036003" y="1889150"/>
            <a:ext cx="402336" cy="402336"/>
          </a:xfrm>
          <a:prstGeom prst="rect">
            <a:avLst/>
          </a:prstGeom>
        </p:spPr>
      </p:pic>
      <p:sp>
        <p:nvSpPr>
          <p:cNvPr id="21" name="Text 15"/>
          <p:cNvSpPr/>
          <p:nvPr/>
        </p:nvSpPr>
        <p:spPr>
          <a:xfrm>
            <a:off x="4625340"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サードプレイスの枯渇</a:t>
            </a:r>
            <a:endParaRPr lang="en-US" sz="1600" dirty="0"/>
          </a:p>
        </p:txBody>
      </p:sp>
      <p:sp>
        <p:nvSpPr>
          <p:cNvPr id="22" name="Shape 16"/>
          <p:cNvSpPr/>
          <p:nvPr/>
        </p:nvSpPr>
        <p:spPr>
          <a:xfrm>
            <a:off x="4625340" y="2693822"/>
            <a:ext cx="2941015" cy="10058"/>
          </a:xfrm>
          <a:prstGeom prst="rect">
            <a:avLst/>
          </a:prstGeom>
          <a:solidFill>
            <a:srgbClr val="EFEAE0"/>
          </a:solidFill>
          <a:ln/>
        </p:spPr>
      </p:sp>
      <p:sp>
        <p:nvSpPr>
          <p:cNvPr id="23" name="Text 17"/>
          <p:cNvSpPr/>
          <p:nvPr/>
        </p:nvSpPr>
        <p:spPr>
          <a:xfrm>
            <a:off x="4625340"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リモートワークの普及で自宅以外の手頃な作業場所が不足し、カフェやコワーキングは価格や混雑の課題が残り、学習スペースも制限が多く気軽に利用できない。</a:t>
            </a:r>
            <a:endParaRPr lang="en-US" sz="1050" dirty="0"/>
          </a:p>
        </p:txBody>
      </p:sp>
      <p:sp>
        <p:nvSpPr>
          <p:cNvPr id="24" name="Shape 18"/>
          <p:cNvSpPr/>
          <p:nvPr/>
        </p:nvSpPr>
        <p:spPr>
          <a:xfrm>
            <a:off x="4625340" y="4522622"/>
            <a:ext cx="2941015" cy="512064"/>
          </a:xfrm>
          <a:prstGeom prst="roundRect">
            <a:avLst>
              <a:gd name="adj" fmla="val 8929"/>
            </a:avLst>
          </a:prstGeom>
          <a:solidFill>
            <a:srgbClr val="F1F8F3"/>
          </a:solidFill>
          <a:ln/>
        </p:spPr>
      </p:sp>
      <p:pic>
        <p:nvPicPr>
          <p:cNvPr id="25" name="Image 4" descr="/home/user/suzuki-ceo/selfcafe-partner-deck/assets/icons/LuTrendingUp-green.png">    </p:cNvPr>
          <p:cNvPicPr>
            <a:picLocks noChangeAspect="1"/>
          </p:cNvPicPr>
          <p:nvPr/>
        </p:nvPicPr>
        <p:blipFill>
          <a:blip r:embed="rId5"/>
          <a:stretch>
            <a:fillRect/>
          </a:stretch>
        </p:blipFill>
        <p:spPr>
          <a:xfrm>
            <a:off x="4771644" y="4659782"/>
            <a:ext cx="237744" cy="237744"/>
          </a:xfrm>
          <a:prstGeom prst="rect">
            <a:avLst/>
          </a:prstGeom>
        </p:spPr>
      </p:pic>
      <p:sp>
        <p:nvSpPr>
          <p:cNvPr id="26" name="Text 19"/>
          <p:cNvSpPr/>
          <p:nvPr/>
        </p:nvSpPr>
        <p:spPr>
          <a:xfrm>
            <a:off x="5082540"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手頃で気軽に使える作業場所への需要</a:t>
            </a:r>
            <a:endParaRPr lang="en-US" sz="1000" dirty="0"/>
          </a:p>
        </p:txBody>
      </p:sp>
      <p:sp>
        <p:nvSpPr>
          <p:cNvPr id="27" name="Shape 20"/>
          <p:cNvSpPr/>
          <p:nvPr/>
        </p:nvSpPr>
        <p:spPr>
          <a:xfrm>
            <a:off x="8078419" y="1651406"/>
            <a:ext cx="3453079" cy="3657600"/>
          </a:xfrm>
          <a:prstGeom prst="roundRect">
            <a:avLst>
              <a:gd name="adj" fmla="val 1589"/>
            </a:avLst>
          </a:prstGeom>
          <a:solidFill>
            <a:srgbClr val="FFFFFF"/>
          </a:solidFill>
          <a:ln w="9525">
            <a:solidFill>
              <a:srgbClr val="EFEAE0"/>
            </a:solidFill>
            <a:prstDash val="solid"/>
          </a:ln>
        </p:spPr>
      </p:sp>
      <p:sp>
        <p:nvSpPr>
          <p:cNvPr id="28" name="Text 21"/>
          <p:cNvSpPr/>
          <p:nvPr/>
        </p:nvSpPr>
        <p:spPr>
          <a:xfrm>
            <a:off x="833445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03</a:t>
            </a:r>
            <a:endParaRPr lang="en-US" sz="900" dirty="0"/>
          </a:p>
        </p:txBody>
      </p:sp>
      <p:pic>
        <p:nvPicPr>
          <p:cNvPr id="29" name="Image 5" descr="/home/user/suzuki-ceo/selfcafe-partner-deck/assets/icons/LuBuilding2-green.png">    </p:cNvPr>
          <p:cNvPicPr>
            <a:picLocks noChangeAspect="1"/>
          </p:cNvPicPr>
          <p:nvPr/>
        </p:nvPicPr>
        <p:blipFill>
          <a:blip r:embed="rId6"/>
          <a:stretch>
            <a:fillRect/>
          </a:stretch>
        </p:blipFill>
        <p:spPr>
          <a:xfrm>
            <a:off x="10745114" y="1889150"/>
            <a:ext cx="402336" cy="402336"/>
          </a:xfrm>
          <a:prstGeom prst="rect">
            <a:avLst/>
          </a:prstGeom>
        </p:spPr>
      </p:pic>
      <p:sp>
        <p:nvSpPr>
          <p:cNvPr id="30" name="Text 22"/>
          <p:cNvSpPr/>
          <p:nvPr/>
        </p:nvSpPr>
        <p:spPr>
          <a:xfrm>
            <a:off x="8334451"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遊休資産の有効活用</a:t>
            </a:r>
            <a:endParaRPr lang="en-US" sz="1600" dirty="0"/>
          </a:p>
        </p:txBody>
      </p:sp>
      <p:sp>
        <p:nvSpPr>
          <p:cNvPr id="31" name="Shape 23"/>
          <p:cNvSpPr/>
          <p:nvPr/>
        </p:nvSpPr>
        <p:spPr>
          <a:xfrm>
            <a:off x="8334451" y="2693822"/>
            <a:ext cx="2941015" cy="10058"/>
          </a:xfrm>
          <a:prstGeom prst="rect">
            <a:avLst/>
          </a:prstGeom>
          <a:solidFill>
            <a:srgbClr val="EFEAE0"/>
          </a:solidFill>
          <a:ln/>
        </p:spPr>
      </p:sp>
      <p:sp>
        <p:nvSpPr>
          <p:cNvPr id="32" name="Text 24"/>
          <p:cNvSpPr/>
          <p:nvPr/>
        </p:nvSpPr>
        <p:spPr>
          <a:xfrm>
            <a:off x="8334451"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ビル空室やデッドスペースが増え、従来のテナント誘致だけでは埋まらず、新たな活用モデルの開発が求められている。</a:t>
            </a:r>
            <a:endParaRPr lang="en-US" sz="1050" dirty="0"/>
          </a:p>
        </p:txBody>
      </p:sp>
      <p:sp>
        <p:nvSpPr>
          <p:cNvPr id="33" name="Shape 25"/>
          <p:cNvSpPr/>
          <p:nvPr/>
        </p:nvSpPr>
        <p:spPr>
          <a:xfrm>
            <a:off x="8334451" y="4522622"/>
            <a:ext cx="2941015" cy="512064"/>
          </a:xfrm>
          <a:prstGeom prst="roundRect">
            <a:avLst>
              <a:gd name="adj" fmla="val 8929"/>
            </a:avLst>
          </a:prstGeom>
          <a:solidFill>
            <a:srgbClr val="F1F8F3"/>
          </a:solidFill>
          <a:ln/>
        </p:spPr>
      </p:sp>
      <p:pic>
        <p:nvPicPr>
          <p:cNvPr id="34" name="Image 6" descr="/home/user/suzuki-ceo/selfcafe-partner-deck/assets/icons/LuTrendingUp-green.png">    </p:cNvPr>
          <p:cNvPicPr>
            <a:picLocks noChangeAspect="1"/>
          </p:cNvPicPr>
          <p:nvPr/>
        </p:nvPicPr>
        <p:blipFill>
          <a:blip r:embed="rId7"/>
          <a:stretch>
            <a:fillRect/>
          </a:stretch>
        </p:blipFill>
        <p:spPr>
          <a:xfrm>
            <a:off x="8480755" y="4659782"/>
            <a:ext cx="237744" cy="237744"/>
          </a:xfrm>
          <a:prstGeom prst="rect">
            <a:avLst/>
          </a:prstGeom>
        </p:spPr>
      </p:pic>
      <p:sp>
        <p:nvSpPr>
          <p:cNvPr id="35" name="Text 26"/>
          <p:cNvSpPr/>
          <p:nvPr/>
        </p:nvSpPr>
        <p:spPr>
          <a:xfrm>
            <a:off x="8791651"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空きスペースを収益化する新しいモデル</a:t>
            </a:r>
            <a:endParaRPr lang="en-US" sz="1000" dirty="0"/>
          </a:p>
        </p:txBody>
      </p:sp>
      <p:sp>
        <p:nvSpPr>
          <p:cNvPr id="36"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課題認識は当社の市場理解に基づく整理です。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人手不足対策：無人管理の優位性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運営から「人」の変数を外すと、コスト・品質・安定性が同時に改善します。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4206240" cy="4315968"/>
          </a:xfrm>
          <a:prstGeom prst="roundRect">
            <a:avLst>
              <a:gd name="adj" fmla="val 1304"/>
            </a:avLst>
          </a:prstGeom>
          <a:solidFill>
            <a:srgbClr val="0C5230"/>
          </a:solidFill>
          <a:ln/>
        </p:spPr>
      </p:sp>
      <p:sp>
        <p:nvSpPr>
          <p:cNvPr id="10" name="Text 7"/>
          <p:cNvSpPr/>
          <p:nvPr/>
        </p:nvSpPr>
        <p:spPr>
          <a:xfrm>
            <a:off x="1062533" y="2053742"/>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CORE CONCEPT</a:t>
            </a:r>
            <a:endParaRPr lang="en-US" sz="900" dirty="0"/>
          </a:p>
        </p:txBody>
      </p:sp>
      <p:sp>
        <p:nvSpPr>
          <p:cNvPr id="11" name="Text 8"/>
          <p:cNvSpPr/>
          <p:nvPr/>
        </p:nvSpPr>
        <p:spPr>
          <a:xfrm>
            <a:off x="1062533" y="2437790"/>
            <a:ext cx="3401568" cy="1371600"/>
          </a:xfrm>
          <a:prstGeom prst="rect">
            <a:avLst/>
          </a:prstGeom>
          <a:noFill/>
          <a:ln/>
        </p:spPr>
        <p:txBody>
          <a:bodyPr wrap="square" lIns="0" tIns="0" rIns="0" bIns="0" rtlCol="0" anchor="t"/>
          <a:lstStyle/>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「人」に</a:t>
            </a:r>
            <a:endParaRPr lang="en-US" sz="2800" dirty="0"/>
          </a:p>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頼らない経営へ</a:t>
            </a:r>
            <a:endParaRPr lang="en-US" sz="2800" dirty="0"/>
          </a:p>
        </p:txBody>
      </p:sp>
      <p:sp>
        <p:nvSpPr>
          <p:cNvPr id="12" name="Shape 9"/>
          <p:cNvSpPr/>
          <p:nvPr/>
        </p:nvSpPr>
        <p:spPr>
          <a:xfrm>
            <a:off x="1062533" y="3937406"/>
            <a:ext cx="713232" cy="25603"/>
          </a:xfrm>
          <a:prstGeom prst="rect">
            <a:avLst/>
          </a:prstGeom>
          <a:solidFill>
            <a:srgbClr val="C79A44"/>
          </a:solidFill>
          <a:ln/>
        </p:spPr>
      </p:sp>
      <p:sp>
        <p:nvSpPr>
          <p:cNvPr id="13" name="Text 10"/>
          <p:cNvSpPr/>
          <p:nvPr/>
        </p:nvSpPr>
        <p:spPr>
          <a:xfrm>
            <a:off x="1062533" y="4138574"/>
            <a:ext cx="3401568" cy="1188720"/>
          </a:xfrm>
          <a:prstGeom prst="rect">
            <a:avLst/>
          </a:prstGeom>
          <a:noFill/>
          <a:ln/>
        </p:spPr>
        <p:txBody>
          <a:bodyPr wrap="square" lIns="0" tIns="0" rIns="0" bIns="0" rtlCol="0" anchor="t"/>
          <a:lstStyle/>
          <a:p>
            <a:pPr indent="0" marL="0">
              <a:lnSpc>
                <a:spcPct val="150000"/>
              </a:lnSpc>
              <a:buNone/>
            </a:pPr>
            <a:r>
              <a:rPr lang="en-US" sz="1150" dirty="0">
                <a:solidFill>
                  <a:srgbClr val="AFC2B8"/>
                </a:solidFill>
                <a:latin typeface="Yu Gothic" pitchFamily="34" charset="0"/>
                <a:ea typeface="Yu Gothic" pitchFamily="34" charset="-122"/>
                <a:cs typeface="Yu Gothic" pitchFamily="34" charset="-120"/>
              </a:rPr>
              <a:t>スタッフの採用・教育・シフト管理という、店舗運営でもっとも重い変動要素を仕組みで置き換えます。</a:t>
            </a:r>
            <a:endParaRPr lang="en-US" sz="1150" dirty="0"/>
          </a:p>
        </p:txBody>
      </p:sp>
      <p:pic>
        <p:nvPicPr>
          <p:cNvPr id="14" name="Image 1" descr="/home/user/suzuki-ceo/selfcafe-partner-deck/assets/icons/LuUsers-pale.png">    </p:cNvPr>
          <p:cNvPicPr>
            <a:picLocks noChangeAspect="1"/>
          </p:cNvPicPr>
          <p:nvPr/>
        </p:nvPicPr>
        <p:blipFill>
          <a:blip r:embed="rId2"/>
          <a:stretch>
            <a:fillRect/>
          </a:stretch>
        </p:blipFill>
        <p:spPr>
          <a:xfrm>
            <a:off x="3824021" y="5052974"/>
            <a:ext cx="566928" cy="566928"/>
          </a:xfrm>
          <a:prstGeom prst="rect">
            <a:avLst/>
          </a:prstGeom>
        </p:spPr>
      </p:pic>
      <p:sp>
        <p:nvSpPr>
          <p:cNvPr id="15" name="Shape 11"/>
          <p:cNvSpPr/>
          <p:nvPr/>
        </p:nvSpPr>
        <p:spPr>
          <a:xfrm>
            <a:off x="5250485" y="1651406"/>
            <a:ext cx="6281014" cy="1316736"/>
          </a:xfrm>
          <a:prstGeom prst="roundRect">
            <a:avLst>
              <a:gd name="adj" fmla="val 4167"/>
            </a:avLst>
          </a:prstGeom>
          <a:solidFill>
            <a:srgbClr val="FFFFFF"/>
          </a:solidFill>
          <a:ln w="9525">
            <a:solidFill>
              <a:srgbClr val="EFEAE0"/>
            </a:solidFill>
            <a:prstDash val="solid"/>
          </a:ln>
        </p:spPr>
      </p:sp>
      <p:sp>
        <p:nvSpPr>
          <p:cNvPr id="16" name="Text 12"/>
          <p:cNvSpPr/>
          <p:nvPr/>
        </p:nvSpPr>
        <p:spPr>
          <a:xfrm>
            <a:off x="5524805" y="1925726"/>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1</a:t>
            </a:r>
            <a:endParaRPr lang="en-US" sz="2200" dirty="0"/>
          </a:p>
        </p:txBody>
      </p:sp>
      <p:sp>
        <p:nvSpPr>
          <p:cNvPr id="17" name="Text 13"/>
          <p:cNvSpPr/>
          <p:nvPr/>
        </p:nvSpPr>
        <p:spPr>
          <a:xfrm>
            <a:off x="6000293" y="1907438"/>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管理・教育コストの大幅削減</a:t>
            </a:r>
            <a:endParaRPr lang="en-US" sz="1500" dirty="0"/>
          </a:p>
        </p:txBody>
      </p:sp>
      <p:sp>
        <p:nvSpPr>
          <p:cNvPr id="18" name="Text 14"/>
          <p:cNvSpPr/>
          <p:nvPr/>
        </p:nvSpPr>
        <p:spPr>
          <a:xfrm>
            <a:off x="6000293" y="2309774"/>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スタッフ管理に伴う工数や人的リスクを抑え、運営にかかる負担を軽減します。</a:t>
            </a:r>
            <a:endParaRPr lang="en-US" sz="1050" dirty="0"/>
          </a:p>
        </p:txBody>
      </p:sp>
      <p:pic>
        <p:nvPicPr>
          <p:cNvPr id="19" name="Image 2" descr="/home/user/suzuki-ceo/selfcafe-partner-deck/assets/icons/LuClipboardList-green.png">    </p:cNvPr>
          <p:cNvPicPr>
            <a:picLocks noChangeAspect="1"/>
          </p:cNvPicPr>
          <p:nvPr/>
        </p:nvPicPr>
        <p:blipFill>
          <a:blip r:embed="rId3"/>
          <a:stretch>
            <a:fillRect/>
          </a:stretch>
        </p:blipFill>
        <p:spPr>
          <a:xfrm>
            <a:off x="10873130" y="1925726"/>
            <a:ext cx="329184" cy="329184"/>
          </a:xfrm>
          <a:prstGeom prst="rect">
            <a:avLst/>
          </a:prstGeom>
        </p:spPr>
      </p:pic>
      <p:sp>
        <p:nvSpPr>
          <p:cNvPr id="20" name="Shape 15"/>
          <p:cNvSpPr/>
          <p:nvPr/>
        </p:nvSpPr>
        <p:spPr>
          <a:xfrm>
            <a:off x="5250485" y="3151022"/>
            <a:ext cx="6281014" cy="1316736"/>
          </a:xfrm>
          <a:prstGeom prst="roundRect">
            <a:avLst>
              <a:gd name="adj" fmla="val 4167"/>
            </a:avLst>
          </a:prstGeom>
          <a:solidFill>
            <a:srgbClr val="FFFFFF"/>
          </a:solidFill>
          <a:ln w="9525">
            <a:solidFill>
              <a:srgbClr val="EFEAE0"/>
            </a:solidFill>
            <a:prstDash val="solid"/>
          </a:ln>
        </p:spPr>
      </p:sp>
      <p:sp>
        <p:nvSpPr>
          <p:cNvPr id="21" name="Text 16"/>
          <p:cNvSpPr/>
          <p:nvPr/>
        </p:nvSpPr>
        <p:spPr>
          <a:xfrm>
            <a:off x="5524805" y="3425342"/>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2</a:t>
            </a:r>
            <a:endParaRPr lang="en-US" sz="2200" dirty="0"/>
          </a:p>
        </p:txBody>
      </p:sp>
      <p:sp>
        <p:nvSpPr>
          <p:cNvPr id="22" name="Text 17"/>
          <p:cNvSpPr/>
          <p:nvPr/>
        </p:nvSpPr>
        <p:spPr>
          <a:xfrm>
            <a:off x="6000293" y="3407054"/>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省人力運営で、無駄な人件費をカット</a:t>
            </a:r>
            <a:endParaRPr lang="en-US" sz="1500" dirty="0"/>
          </a:p>
        </p:txBody>
      </p:sp>
      <p:sp>
        <p:nvSpPr>
          <p:cNvPr id="23" name="Text 18"/>
          <p:cNvSpPr/>
          <p:nvPr/>
        </p:nvSpPr>
        <p:spPr>
          <a:xfrm>
            <a:off x="6000293" y="3809390"/>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必要最小限の作業で回る仕組みにより、人件費を抑えながら安定した収益を確保できます。</a:t>
            </a:r>
            <a:endParaRPr lang="en-US" sz="1050" dirty="0"/>
          </a:p>
        </p:txBody>
      </p:sp>
      <p:pic>
        <p:nvPicPr>
          <p:cNvPr id="24" name="Image 3" descr="/home/user/suzuki-ceo/selfcafe-partner-deck/assets/icons/LuPiggyBank-green.png">    </p:cNvPr>
          <p:cNvPicPr>
            <a:picLocks noChangeAspect="1"/>
          </p:cNvPicPr>
          <p:nvPr/>
        </p:nvPicPr>
        <p:blipFill>
          <a:blip r:embed="rId4"/>
          <a:stretch>
            <a:fillRect/>
          </a:stretch>
        </p:blipFill>
        <p:spPr>
          <a:xfrm>
            <a:off x="10873130" y="3425342"/>
            <a:ext cx="329184" cy="329184"/>
          </a:xfrm>
          <a:prstGeom prst="rect">
            <a:avLst/>
          </a:prstGeom>
        </p:spPr>
      </p:pic>
      <p:sp>
        <p:nvSpPr>
          <p:cNvPr id="25" name="Shape 19"/>
          <p:cNvSpPr/>
          <p:nvPr/>
        </p:nvSpPr>
        <p:spPr>
          <a:xfrm>
            <a:off x="5250485" y="4650638"/>
            <a:ext cx="6281014" cy="1316736"/>
          </a:xfrm>
          <a:prstGeom prst="roundRect">
            <a:avLst>
              <a:gd name="adj" fmla="val 4167"/>
            </a:avLst>
          </a:prstGeom>
          <a:solidFill>
            <a:srgbClr val="FFFFFF"/>
          </a:solidFill>
          <a:ln w="9525">
            <a:solidFill>
              <a:srgbClr val="EFEAE0"/>
            </a:solidFill>
            <a:prstDash val="solid"/>
          </a:ln>
        </p:spPr>
      </p:sp>
      <p:sp>
        <p:nvSpPr>
          <p:cNvPr id="26" name="Text 20"/>
          <p:cNvSpPr/>
          <p:nvPr/>
        </p:nvSpPr>
        <p:spPr>
          <a:xfrm>
            <a:off x="5524805" y="4924958"/>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3</a:t>
            </a:r>
            <a:endParaRPr lang="en-US" sz="2200" dirty="0"/>
          </a:p>
        </p:txBody>
      </p:sp>
      <p:sp>
        <p:nvSpPr>
          <p:cNvPr id="27" name="Text 21"/>
          <p:cNvSpPr/>
          <p:nvPr/>
        </p:nvSpPr>
        <p:spPr>
          <a:xfrm>
            <a:off x="6000293" y="4906670"/>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安定した収益と品質</a:t>
            </a:r>
            <a:endParaRPr lang="en-US" sz="1500" dirty="0"/>
          </a:p>
        </p:txBody>
      </p:sp>
      <p:sp>
        <p:nvSpPr>
          <p:cNvPr id="28" name="Text 22"/>
          <p:cNvSpPr/>
          <p:nvPr/>
        </p:nvSpPr>
        <p:spPr>
          <a:xfrm>
            <a:off x="6000293" y="5309006"/>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属人性を排除することで、常に均一したサービス品質を維持し、運営の安定性を高めます。</a:t>
            </a:r>
            <a:endParaRPr lang="en-US" sz="1050" dirty="0"/>
          </a:p>
        </p:txBody>
      </p:sp>
      <p:pic>
        <p:nvPicPr>
          <p:cNvPr id="29" name="Image 4" descr="/home/user/suzuki-ceo/selfcafe-partner-deck/assets/icons/LuBadgeCheck-green.png">    </p:cNvPr>
          <p:cNvPicPr>
            <a:picLocks noChangeAspect="1"/>
          </p:cNvPicPr>
          <p:nvPr/>
        </p:nvPicPr>
        <p:blipFill>
          <a:blip r:embed="rId5"/>
          <a:stretch>
            <a:fillRect/>
          </a:stretch>
        </p:blipFill>
        <p:spPr>
          <a:xfrm>
            <a:off x="10873130" y="4924958"/>
            <a:ext cx="329184" cy="3291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不動産活用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持ち物件オーナー様へ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自社物件なら家賃コストがゼロ。売上をダイレクトに利益へ繋げられます。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円</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自社物件なら新規の家賃負担なし</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650</a:t>
            </a:r>
            <a:r>
              <a:rPr lang="en-US" sz="1100" b="1" dirty="0">
                <a:solidFill>
                  <a:srgbClr val="106838"/>
                </a:solidFill>
                <a:latin typeface="Yu Gothic" pitchFamily="34" charset="0"/>
                <a:ea typeface="Yu Gothic" pitchFamily="34" charset="-122"/>
                <a:cs typeface="Yu Gothic" pitchFamily="34" charset="-120"/>
              </a:rPr>
              <a:t> 万円〜</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初期費用（居抜き・20坪想定）</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日常のオーナー業務（清掃・補充）</a:t>
            </a:r>
            <a:endParaRPr lang="en-US" sz="900" dirty="0"/>
          </a:p>
        </p:txBody>
      </p:sp>
      <p:sp>
        <p:nvSpPr>
          <p:cNvPr id="21" name="Shape 18"/>
          <p:cNvSpPr/>
          <p:nvPr/>
        </p:nvSpPr>
        <p:spPr>
          <a:xfrm>
            <a:off x="660197" y="2492654"/>
            <a:ext cx="5243627" cy="2231136"/>
          </a:xfrm>
          <a:prstGeom prst="roundRect">
            <a:avLst>
              <a:gd name="adj" fmla="val 2459"/>
            </a:avLst>
          </a:prstGeom>
          <a:solidFill>
            <a:srgbClr val="FFFFFF"/>
          </a:solidFill>
          <a:ln w="9525">
            <a:solidFill>
              <a:srgbClr val="EFEAE0"/>
            </a:solidFill>
            <a:prstDash val="solid"/>
          </a:ln>
        </p:spPr>
      </p:sp>
      <p:pic>
        <p:nvPicPr>
          <p:cNvPr id="22" name="Image 1" descr="/home/user/suzuki-ceo/selfcafe-partner-deck/assets/icons/LuCoins-green.png">    </p:cNvPr>
          <p:cNvPicPr>
            <a:picLocks noChangeAspect="1"/>
          </p:cNvPicPr>
          <p:nvPr/>
        </p:nvPicPr>
        <p:blipFill>
          <a:blip r:embed="rId2"/>
          <a:stretch>
            <a:fillRect/>
          </a:stretch>
        </p:blipFill>
        <p:spPr>
          <a:xfrm>
            <a:off x="934517" y="2766974"/>
            <a:ext cx="384048" cy="384048"/>
          </a:xfrm>
          <a:prstGeom prst="rect">
            <a:avLst/>
          </a:prstGeom>
        </p:spPr>
      </p:pic>
      <p:sp>
        <p:nvSpPr>
          <p:cNvPr id="23" name="Text 19"/>
          <p:cNvSpPr/>
          <p:nvPr/>
        </p:nvSpPr>
        <p:spPr>
          <a:xfrm>
            <a:off x="1464869"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高い営業利益率</a:t>
            </a:r>
            <a:endParaRPr lang="en-US" sz="1700" dirty="0"/>
          </a:p>
        </p:txBody>
      </p:sp>
      <p:sp>
        <p:nvSpPr>
          <p:cNvPr id="24" name="Text 20"/>
          <p:cNvSpPr/>
          <p:nvPr/>
        </p:nvSpPr>
        <p:spPr>
          <a:xfrm>
            <a:off x="934517"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自社物件なら「家賃コスト」がゼロ。固定費を抑え、売上をダイレクトに利益へ繋げます。</a:t>
            </a:r>
            <a:endParaRPr lang="en-US" sz="1100" dirty="0"/>
          </a:p>
        </p:txBody>
      </p:sp>
      <p:sp>
        <p:nvSpPr>
          <p:cNvPr id="25" name="Shape 21"/>
          <p:cNvSpPr/>
          <p:nvPr/>
        </p:nvSpPr>
        <p:spPr>
          <a:xfrm>
            <a:off x="934517" y="3845966"/>
            <a:ext cx="4694987" cy="10058"/>
          </a:xfrm>
          <a:prstGeom prst="rect">
            <a:avLst/>
          </a:prstGeom>
          <a:solidFill>
            <a:srgbClr val="EFEAE0"/>
          </a:solidFill>
          <a:ln/>
        </p:spPr>
      </p:sp>
      <p:pic>
        <p:nvPicPr>
          <p:cNvPr id="26" name="Image 2" descr="/home/user/suzuki-ceo/selfcafe-partner-deck/assets/icons/LuCheck-green.png">    </p:cNvPr>
          <p:cNvPicPr>
            <a:picLocks noChangeAspect="1"/>
          </p:cNvPicPr>
          <p:nvPr/>
        </p:nvPicPr>
        <p:blipFill>
          <a:blip r:embed="rId3"/>
          <a:stretch>
            <a:fillRect/>
          </a:stretch>
        </p:blipFill>
        <p:spPr>
          <a:xfrm>
            <a:off x="952805" y="3983126"/>
            <a:ext cx="164592" cy="164592"/>
          </a:xfrm>
          <a:prstGeom prst="rect">
            <a:avLst/>
          </a:prstGeom>
        </p:spPr>
      </p:pic>
      <p:sp>
        <p:nvSpPr>
          <p:cNvPr id="27" name="Text 22"/>
          <p:cNvSpPr/>
          <p:nvPr/>
        </p:nvSpPr>
        <p:spPr>
          <a:xfrm>
            <a:off x="1208837"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家賃という最大の固定費が不要</a:t>
            </a:r>
            <a:endParaRPr lang="en-US" sz="1000" dirty="0"/>
          </a:p>
        </p:txBody>
      </p:sp>
      <p:pic>
        <p:nvPicPr>
          <p:cNvPr id="28" name="Image 3" descr="/home/user/suzuki-ceo/selfcafe-partner-deck/assets/icons/LuCheck-green.png">    </p:cNvPr>
          <p:cNvPicPr>
            <a:picLocks noChangeAspect="1"/>
          </p:cNvPicPr>
          <p:nvPr/>
        </p:nvPicPr>
        <p:blipFill>
          <a:blip r:embed="rId4"/>
          <a:stretch>
            <a:fillRect/>
          </a:stretch>
        </p:blipFill>
        <p:spPr>
          <a:xfrm>
            <a:off x="952805" y="4220870"/>
            <a:ext cx="164592" cy="164592"/>
          </a:xfrm>
          <a:prstGeom prst="rect">
            <a:avLst/>
          </a:prstGeom>
        </p:spPr>
      </p:pic>
      <p:sp>
        <p:nvSpPr>
          <p:cNvPr id="29" name="Text 23"/>
          <p:cNvSpPr/>
          <p:nvPr/>
        </p:nvSpPr>
        <p:spPr>
          <a:xfrm>
            <a:off x="1208837"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空室期間の機会損失を収益に転換</a:t>
            </a:r>
            <a:endParaRPr lang="en-US" sz="1000" dirty="0"/>
          </a:p>
        </p:txBody>
      </p:sp>
      <p:pic>
        <p:nvPicPr>
          <p:cNvPr id="30" name="Image 4" descr="/home/user/suzuki-ceo/selfcafe-partner-deck/assets/icons/LuCheck-green.png">    </p:cNvPr>
          <p:cNvPicPr>
            <a:picLocks noChangeAspect="1"/>
          </p:cNvPicPr>
          <p:nvPr/>
        </p:nvPicPr>
        <p:blipFill>
          <a:blip r:embed="rId5"/>
          <a:stretch>
            <a:fillRect/>
          </a:stretch>
        </p:blipFill>
        <p:spPr>
          <a:xfrm>
            <a:off x="952805" y="4458614"/>
            <a:ext cx="164592" cy="164592"/>
          </a:xfrm>
          <a:prstGeom prst="rect">
            <a:avLst/>
          </a:prstGeom>
        </p:spPr>
      </p:pic>
      <p:sp>
        <p:nvSpPr>
          <p:cNvPr id="31" name="Text 24"/>
          <p:cNvSpPr/>
          <p:nvPr/>
        </p:nvSpPr>
        <p:spPr>
          <a:xfrm>
            <a:off x="1208837"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テナント誘致に頼らない自社運用</a:t>
            </a:r>
            <a:endParaRPr lang="en-US" sz="1000" dirty="0"/>
          </a:p>
        </p:txBody>
      </p:sp>
      <p:sp>
        <p:nvSpPr>
          <p:cNvPr id="32" name="Shape 25"/>
          <p:cNvSpPr/>
          <p:nvPr/>
        </p:nvSpPr>
        <p:spPr>
          <a:xfrm>
            <a:off x="6287872" y="2492654"/>
            <a:ext cx="5243627" cy="2231136"/>
          </a:xfrm>
          <a:prstGeom prst="roundRect">
            <a:avLst>
              <a:gd name="adj" fmla="val 2459"/>
            </a:avLst>
          </a:prstGeom>
          <a:solidFill>
            <a:srgbClr val="FFFFFF"/>
          </a:solidFill>
          <a:ln w="9525">
            <a:solidFill>
              <a:srgbClr val="EFEAE0"/>
            </a:solidFill>
            <a:prstDash val="solid"/>
          </a:ln>
        </p:spPr>
      </p:sp>
      <p:pic>
        <p:nvPicPr>
          <p:cNvPr id="33" name="Image 5" descr="/home/user/suzuki-ceo/selfcafe-partner-deck/assets/icons/LuShoppingBag-green.png">    </p:cNvPr>
          <p:cNvPicPr>
            <a:picLocks noChangeAspect="1"/>
          </p:cNvPicPr>
          <p:nvPr/>
        </p:nvPicPr>
        <p:blipFill>
          <a:blip r:embed="rId6"/>
          <a:stretch>
            <a:fillRect/>
          </a:stretch>
        </p:blipFill>
        <p:spPr>
          <a:xfrm>
            <a:off x="6562192" y="2766974"/>
            <a:ext cx="384048" cy="384048"/>
          </a:xfrm>
          <a:prstGeom prst="rect">
            <a:avLst/>
          </a:prstGeom>
        </p:spPr>
      </p:pic>
      <p:sp>
        <p:nvSpPr>
          <p:cNvPr id="34" name="Text 26"/>
          <p:cNvSpPr/>
          <p:nvPr/>
        </p:nvSpPr>
        <p:spPr>
          <a:xfrm>
            <a:off x="7092544"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相乗効果</a:t>
            </a:r>
            <a:endParaRPr lang="en-US" sz="1700" dirty="0"/>
          </a:p>
        </p:txBody>
      </p:sp>
      <p:sp>
        <p:nvSpPr>
          <p:cNvPr id="35" name="Text 27"/>
          <p:cNvSpPr/>
          <p:nvPr/>
        </p:nvSpPr>
        <p:spPr>
          <a:xfrm>
            <a:off x="6562192"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既存事業の「待ち時間」解消や、新規集客のフックとして、カフェは最適の組み合わせです。</a:t>
            </a:r>
            <a:endParaRPr lang="en-US" sz="1100" dirty="0"/>
          </a:p>
        </p:txBody>
      </p:sp>
      <p:sp>
        <p:nvSpPr>
          <p:cNvPr id="36" name="Shape 28"/>
          <p:cNvSpPr/>
          <p:nvPr/>
        </p:nvSpPr>
        <p:spPr>
          <a:xfrm>
            <a:off x="6562192" y="3845966"/>
            <a:ext cx="4694987" cy="10058"/>
          </a:xfrm>
          <a:prstGeom prst="rect">
            <a:avLst/>
          </a:prstGeom>
          <a:solidFill>
            <a:srgbClr val="EFEAE0"/>
          </a:solidFill>
          <a:ln/>
        </p:spPr>
      </p:sp>
      <p:pic>
        <p:nvPicPr>
          <p:cNvPr id="37" name="Image 6" descr="/home/user/suzuki-ceo/selfcafe-partner-deck/assets/icons/LuCheck-green.png">    </p:cNvPr>
          <p:cNvPicPr>
            <a:picLocks noChangeAspect="1"/>
          </p:cNvPicPr>
          <p:nvPr/>
        </p:nvPicPr>
        <p:blipFill>
          <a:blip r:embed="rId7"/>
          <a:stretch>
            <a:fillRect/>
          </a:stretch>
        </p:blipFill>
        <p:spPr>
          <a:xfrm>
            <a:off x="6580480" y="3983126"/>
            <a:ext cx="164592" cy="164592"/>
          </a:xfrm>
          <a:prstGeom prst="rect">
            <a:avLst/>
          </a:prstGeom>
        </p:spPr>
      </p:pic>
      <p:sp>
        <p:nvSpPr>
          <p:cNvPr id="38" name="Text 29"/>
          <p:cNvSpPr/>
          <p:nvPr/>
        </p:nvSpPr>
        <p:spPr>
          <a:xfrm>
            <a:off x="6836512"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書店・美容室・整体院・病院の待合と好相性</a:t>
            </a:r>
            <a:endParaRPr lang="en-US" sz="1000" dirty="0"/>
          </a:p>
        </p:txBody>
      </p:sp>
      <p:pic>
        <p:nvPicPr>
          <p:cNvPr id="39" name="Image 7" descr="/home/user/suzuki-ceo/selfcafe-partner-deck/assets/icons/LuCheck-green.png">    </p:cNvPr>
          <p:cNvPicPr>
            <a:picLocks noChangeAspect="1"/>
          </p:cNvPicPr>
          <p:nvPr/>
        </p:nvPicPr>
        <p:blipFill>
          <a:blip r:embed="rId8"/>
          <a:stretch>
            <a:fillRect/>
          </a:stretch>
        </p:blipFill>
        <p:spPr>
          <a:xfrm>
            <a:off x="6580480" y="4220870"/>
            <a:ext cx="164592" cy="164592"/>
          </a:xfrm>
          <a:prstGeom prst="rect">
            <a:avLst/>
          </a:prstGeom>
        </p:spPr>
      </p:pic>
      <p:sp>
        <p:nvSpPr>
          <p:cNvPr id="40" name="Text 30"/>
          <p:cNvSpPr/>
          <p:nvPr/>
        </p:nvSpPr>
        <p:spPr>
          <a:xfrm>
            <a:off x="6836512"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「カフェ」で検索されて新規客に見つかる</a:t>
            </a:r>
            <a:endParaRPr lang="en-US" sz="1000" dirty="0"/>
          </a:p>
        </p:txBody>
      </p:sp>
      <p:pic>
        <p:nvPicPr>
          <p:cNvPr id="41" name="Image 8" descr="/home/user/suzuki-ceo/selfcafe-partner-deck/assets/icons/LuCheck-green.png">    </p:cNvPr>
          <p:cNvPicPr>
            <a:picLocks noChangeAspect="1"/>
          </p:cNvPicPr>
          <p:nvPr/>
        </p:nvPicPr>
        <p:blipFill>
          <a:blip r:embed="rId9"/>
          <a:stretch>
            <a:fillRect/>
          </a:stretch>
        </p:blipFill>
        <p:spPr>
          <a:xfrm>
            <a:off x="6580480" y="4458614"/>
            <a:ext cx="164592" cy="164592"/>
          </a:xfrm>
          <a:prstGeom prst="rect">
            <a:avLst/>
          </a:prstGeom>
        </p:spPr>
      </p:pic>
      <p:sp>
        <p:nvSpPr>
          <p:cNvPr id="42" name="Text 31"/>
          <p:cNvSpPr/>
          <p:nvPr/>
        </p:nvSpPr>
        <p:spPr>
          <a:xfrm>
            <a:off x="6836512"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滞在時間が伸び、ついで買いが生まれる</a:t>
            </a:r>
            <a:endParaRPr lang="en-US" sz="1000" dirty="0"/>
          </a:p>
        </p:txBody>
      </p:sp>
      <p:pic>
        <p:nvPicPr>
          <p:cNvPr id="43" name="Image 9" descr="/home/user/suzuki-ceo/selfcafe-partner-deck/assets/photos/.crops/p05-install-579x162.jpg">    </p:cNvPr>
          <p:cNvPicPr>
            <a:picLocks noChangeAspect="1"/>
          </p:cNvPicPr>
          <p:nvPr/>
        </p:nvPicPr>
        <p:blipFill>
          <a:blip r:embed="rId10"/>
          <a:stretch>
            <a:fillRect/>
          </a:stretch>
        </p:blipFill>
        <p:spPr>
          <a:xfrm>
            <a:off x="660197" y="4924958"/>
            <a:ext cx="5298491" cy="1481328"/>
          </a:xfrm>
          <a:prstGeom prst="rect">
            <a:avLst/>
          </a:prstGeom>
        </p:spPr>
      </p:pic>
      <p:sp>
        <p:nvSpPr>
          <p:cNvPr id="44" name="Shape 32"/>
          <p:cNvSpPr/>
          <p:nvPr/>
        </p:nvSpPr>
        <p:spPr>
          <a:xfrm>
            <a:off x="660197" y="4924958"/>
            <a:ext cx="5298491" cy="1481328"/>
          </a:xfrm>
          <a:prstGeom prst="rect">
            <a:avLst/>
          </a:prstGeom>
          <a:ln w="12700">
            <a:solidFill>
              <a:srgbClr val="D8D2C6"/>
            </a:solidFill>
            <a:prstDash val="solid"/>
          </a:ln>
        </p:spPr>
      </p:sp>
      <p:sp>
        <p:nvSpPr>
          <p:cNvPr id="45" name="Shape 33"/>
          <p:cNvSpPr/>
          <p:nvPr/>
        </p:nvSpPr>
        <p:spPr>
          <a:xfrm>
            <a:off x="788213" y="5949086"/>
            <a:ext cx="1981200" cy="329184"/>
          </a:xfrm>
          <a:prstGeom prst="roundRect">
            <a:avLst>
              <a:gd name="adj" fmla="val 13889"/>
            </a:avLst>
          </a:prstGeom>
          <a:solidFill>
            <a:srgbClr val="FFFFFF">
              <a:alpha val="90000"/>
            </a:srgbClr>
          </a:solidFill>
          <a:ln/>
        </p:spPr>
      </p:sp>
      <p:sp>
        <p:nvSpPr>
          <p:cNvPr id="46" name="Text 34"/>
          <p:cNvSpPr/>
          <p:nvPr/>
        </p:nvSpPr>
        <p:spPr>
          <a:xfrm>
            <a:off x="952805" y="5949086"/>
            <a:ext cx="170688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自社物件への設置イメージ</a:t>
            </a:r>
            <a:endParaRPr lang="en-US" sz="1000" dirty="0"/>
          </a:p>
        </p:txBody>
      </p:sp>
      <p:pic>
        <p:nvPicPr>
          <p:cNvPr id="47" name="Image 10" descr="/home/user/suzuki-ceo/selfcafe-partner-deck/assets/photos/.crops/p05-woman-579x162.jpg">    </p:cNvPr>
          <p:cNvPicPr>
            <a:picLocks noChangeAspect="1"/>
          </p:cNvPicPr>
          <p:nvPr/>
        </p:nvPicPr>
        <p:blipFill>
          <a:blip r:embed="rId11"/>
          <a:stretch>
            <a:fillRect/>
          </a:stretch>
        </p:blipFill>
        <p:spPr>
          <a:xfrm>
            <a:off x="6233008" y="4924958"/>
            <a:ext cx="5298491" cy="1481328"/>
          </a:xfrm>
          <a:prstGeom prst="rect">
            <a:avLst/>
          </a:prstGeom>
        </p:spPr>
      </p:pic>
      <p:sp>
        <p:nvSpPr>
          <p:cNvPr id="48" name="Shape 35"/>
          <p:cNvSpPr/>
          <p:nvPr/>
        </p:nvSpPr>
        <p:spPr>
          <a:xfrm>
            <a:off x="6233008" y="4924958"/>
            <a:ext cx="5298491" cy="1481328"/>
          </a:xfrm>
          <a:prstGeom prst="rect">
            <a:avLst/>
          </a:prstGeom>
          <a:ln w="12700">
            <a:solidFill>
              <a:srgbClr val="D8D2C6"/>
            </a:solidFill>
            <a:prstDash val="solid"/>
          </a:ln>
        </p:spPr>
      </p:sp>
      <p:sp>
        <p:nvSpPr>
          <p:cNvPr id="49" name="Shape 36"/>
          <p:cNvSpPr/>
          <p:nvPr/>
        </p:nvSpPr>
        <p:spPr>
          <a:xfrm>
            <a:off x="6361024" y="5949086"/>
            <a:ext cx="1308100" cy="329184"/>
          </a:xfrm>
          <a:prstGeom prst="roundRect">
            <a:avLst>
              <a:gd name="adj" fmla="val 13889"/>
            </a:avLst>
          </a:prstGeom>
          <a:solidFill>
            <a:srgbClr val="FFFFFF">
              <a:alpha val="90000"/>
            </a:srgbClr>
          </a:solidFill>
          <a:ln/>
        </p:spPr>
      </p:sp>
      <p:sp>
        <p:nvSpPr>
          <p:cNvPr id="50" name="Text 37"/>
          <p:cNvSpPr/>
          <p:nvPr/>
        </p:nvSpPr>
        <p:spPr>
          <a:xfrm>
            <a:off x="6525616" y="5949086"/>
            <a:ext cx="103378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店内利用の様子</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71</a:t>
            </a:r>
            <a:r>
              <a:rPr lang="en-US" sz="1400" b="1" dirty="0">
                <a:solidFill>
                  <a:srgbClr val="106838"/>
                </a:solidFill>
                <a:latin typeface="Yu Gothic" pitchFamily="34" charset="0"/>
                <a:ea typeface="Yu Gothic" pitchFamily="34" charset="-122"/>
                <a:cs typeface="Yu Gothic" pitchFamily="34" charset="-120"/>
              </a:rPr>
              <a:t> 店舗</a:t>
            </a:r>
            <a:endParaRPr lang="en-US" sz="40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2026年7月時点／11都府県で展開中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不要</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約50%</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Shape 11"/>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6" name="Text 12"/>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7" name="Text 13"/>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8" name="Text 14"/>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19"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お客様からのお問い合わせに即時対応。質問対応・意見収集の窓口としても機能します。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PiggyBank-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56692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550万円〜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1/5 〜 1/15</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09360"/>
            <a:ext cx="10871302" cy="18288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初期費用・売上イメージ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出店方法は2パターン。居抜き・既存店併設なら初期費用を大きく抑えられます。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5243627" cy="1700784"/>
          </a:xfrm>
          <a:prstGeom prst="roundRect">
            <a:avLst>
              <a:gd name="adj" fmla="val 3226"/>
            </a:avLst>
          </a:prstGeom>
          <a:solidFill>
            <a:srgbClr val="0C5230"/>
          </a:solidFill>
          <a:ln/>
        </p:spPr>
      </p:sp>
      <p:sp>
        <p:nvSpPr>
          <p:cNvPr id="10" name="Text 7"/>
          <p:cNvSpPr/>
          <p:nvPr/>
        </p:nvSpPr>
        <p:spPr>
          <a:xfrm>
            <a:off x="934517" y="1870862"/>
            <a:ext cx="4694987" cy="292608"/>
          </a:xfrm>
          <a:prstGeom prst="rect">
            <a:avLst/>
          </a:prstGeom>
          <a:noFill/>
          <a:ln/>
        </p:spPr>
        <p:txBody>
          <a:bodyPr wrap="square" lIns="0" tIns="0" rIns="0" bIns="0" rtlCol="0" anchor="ctr"/>
          <a:lstStyle/>
          <a:p>
            <a:pPr indent="0" marL="0">
              <a:buNone/>
            </a:pPr>
            <a:r>
              <a:rPr lang="en-US" sz="1300" b="1" dirty="0">
                <a:solidFill>
                  <a:srgbClr val="8CC5A5"/>
                </a:solidFill>
                <a:latin typeface="Yu Gothic" pitchFamily="34" charset="0"/>
                <a:ea typeface="Yu Gothic" pitchFamily="34" charset="-122"/>
                <a:cs typeface="Yu Gothic" pitchFamily="34" charset="-120"/>
              </a:rPr>
              <a:t>① 既存店併設 / 居抜き</a:t>
            </a:r>
            <a:endParaRPr lang="en-US" sz="1300" dirty="0"/>
          </a:p>
        </p:txBody>
      </p:sp>
      <p:sp>
        <p:nvSpPr>
          <p:cNvPr id="11" name="Text 8"/>
          <p:cNvSpPr/>
          <p:nvPr/>
        </p:nvSpPr>
        <p:spPr>
          <a:xfrm>
            <a:off x="934517" y="2200046"/>
            <a:ext cx="4694987" cy="18288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初期費用目安</a:t>
            </a:r>
            <a:endParaRPr lang="en-US" sz="900" dirty="0"/>
          </a:p>
        </p:txBody>
      </p:sp>
      <p:sp>
        <p:nvSpPr>
          <p:cNvPr id="12" name="Text 9"/>
          <p:cNvSpPr/>
          <p:nvPr/>
        </p:nvSpPr>
        <p:spPr>
          <a:xfrm>
            <a:off x="934517" y="2382926"/>
            <a:ext cx="4694987"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650万円〜</a:t>
            </a:r>
            <a:endParaRPr lang="en-US" sz="3000" dirty="0"/>
          </a:p>
        </p:txBody>
      </p:sp>
      <p:sp>
        <p:nvSpPr>
          <p:cNvPr id="13" name="Text 10"/>
          <p:cNvSpPr/>
          <p:nvPr/>
        </p:nvSpPr>
        <p:spPr>
          <a:xfrm>
            <a:off x="934517"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AFC2B8"/>
                </a:solidFill>
                <a:latin typeface="Yu Gothic" pitchFamily="34" charset="0"/>
                <a:ea typeface="Yu Gothic" pitchFamily="34" charset="-122"/>
                <a:cs typeface="Yu Gothic" pitchFamily="34" charset="-120"/>
              </a:rPr>
              <a:t>内装が残る区画や自社店舗の一角を活用。工事範囲を最小化できます。</a:t>
            </a:r>
            <a:endParaRPr lang="en-US" sz="1000" dirty="0"/>
          </a:p>
        </p:txBody>
      </p:sp>
      <p:sp>
        <p:nvSpPr>
          <p:cNvPr id="14" name="Shape 11"/>
          <p:cNvSpPr/>
          <p:nvPr/>
        </p:nvSpPr>
        <p:spPr>
          <a:xfrm>
            <a:off x="6287872" y="1651406"/>
            <a:ext cx="5243627" cy="1700784"/>
          </a:xfrm>
          <a:prstGeom prst="roundRect">
            <a:avLst>
              <a:gd name="adj" fmla="val 3226"/>
            </a:avLst>
          </a:prstGeom>
          <a:solidFill>
            <a:srgbClr val="FFFFFF"/>
          </a:solidFill>
          <a:ln w="9525">
            <a:solidFill>
              <a:srgbClr val="EFEAE0"/>
            </a:solidFill>
            <a:prstDash val="solid"/>
          </a:ln>
        </p:spPr>
      </p:sp>
      <p:sp>
        <p:nvSpPr>
          <p:cNvPr id="15" name="Text 12"/>
          <p:cNvSpPr/>
          <p:nvPr/>
        </p:nvSpPr>
        <p:spPr>
          <a:xfrm>
            <a:off x="6562192" y="1870862"/>
            <a:ext cx="4694987" cy="292608"/>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② スケルトン工事</a:t>
            </a:r>
            <a:endParaRPr lang="en-US" sz="1300" dirty="0"/>
          </a:p>
        </p:txBody>
      </p:sp>
      <p:sp>
        <p:nvSpPr>
          <p:cNvPr id="16" name="Text 13"/>
          <p:cNvSpPr/>
          <p:nvPr/>
        </p:nvSpPr>
        <p:spPr>
          <a:xfrm>
            <a:off x="6562192" y="2200046"/>
            <a:ext cx="4694987" cy="18288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初期費用目安</a:t>
            </a:r>
            <a:endParaRPr lang="en-US" sz="900" dirty="0"/>
          </a:p>
        </p:txBody>
      </p:sp>
      <p:sp>
        <p:nvSpPr>
          <p:cNvPr id="17" name="Text 14"/>
          <p:cNvSpPr/>
          <p:nvPr/>
        </p:nvSpPr>
        <p:spPr>
          <a:xfrm>
            <a:off x="6562192" y="2382926"/>
            <a:ext cx="4694987" cy="457200"/>
          </a:xfrm>
          <a:prstGeom prst="rect">
            <a:avLst/>
          </a:prstGeom>
          <a:noFill/>
          <a:ln/>
        </p:spPr>
        <p:txBody>
          <a:bodyPr wrap="square" lIns="0" tIns="0" rIns="0" bIns="0" rtlCol="0" anchor="ctr"/>
          <a:lstStyle/>
          <a:p>
            <a:pPr indent="0" marL="0">
              <a:buNone/>
            </a:pPr>
            <a:r>
              <a:rPr lang="en-US" sz="3000" b="1" dirty="0">
                <a:solidFill>
                  <a:srgbClr val="0A3D23"/>
                </a:solidFill>
                <a:latin typeface="Arial" pitchFamily="34" charset="0"/>
                <a:ea typeface="Arial" pitchFamily="34" charset="-122"/>
                <a:cs typeface="Arial" pitchFamily="34" charset="-120"/>
              </a:rPr>
              <a:t>950万円〜</a:t>
            </a:r>
            <a:endParaRPr lang="en-US" sz="3000" dirty="0"/>
          </a:p>
        </p:txBody>
      </p:sp>
      <p:sp>
        <p:nvSpPr>
          <p:cNvPr id="18" name="Text 15"/>
          <p:cNvSpPr/>
          <p:nvPr/>
        </p:nvSpPr>
        <p:spPr>
          <a:xfrm>
            <a:off x="6562192"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内装のない状態からの造作。レイアウトを自由に設計できます。</a:t>
            </a:r>
            <a:endParaRPr lang="en-US" sz="1000" dirty="0"/>
          </a:p>
        </p:txBody>
      </p:sp>
      <p:sp>
        <p:nvSpPr>
          <p:cNvPr id="19" name="Shape 16"/>
          <p:cNvSpPr/>
          <p:nvPr/>
        </p:nvSpPr>
        <p:spPr>
          <a:xfrm>
            <a:off x="660197" y="3535070"/>
            <a:ext cx="10871302" cy="2468880"/>
          </a:xfrm>
          <a:prstGeom prst="roundRect">
            <a:avLst>
              <a:gd name="adj" fmla="val 2222"/>
            </a:avLst>
          </a:prstGeom>
          <a:solidFill>
            <a:srgbClr val="FFFFFF"/>
          </a:solidFill>
          <a:ln w="9525">
            <a:solidFill>
              <a:srgbClr val="EFEAE0"/>
            </a:solidFill>
            <a:prstDash val="solid"/>
          </a:ln>
        </p:spPr>
      </p:sp>
      <p:sp>
        <p:nvSpPr>
          <p:cNvPr id="20" name="Text 17"/>
          <p:cNvSpPr/>
          <p:nvPr/>
        </p:nvSpPr>
        <p:spPr>
          <a:xfrm>
            <a:off x="934517" y="3736238"/>
            <a:ext cx="6400800" cy="256032"/>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パートナー制度 初期費用内訳（20坪想定・居抜きパターン）</a:t>
            </a:r>
            <a:endParaRPr lang="en-US" sz="1150" dirty="0"/>
          </a:p>
        </p:txBody>
      </p:sp>
      <p:sp>
        <p:nvSpPr>
          <p:cNvPr id="21" name="Text 18"/>
          <p:cNvSpPr/>
          <p:nvPr/>
        </p:nvSpPr>
        <p:spPr>
          <a:xfrm>
            <a:off x="9154058" y="3699662"/>
            <a:ext cx="2103120" cy="329184"/>
          </a:xfrm>
          <a:prstGeom prst="rect">
            <a:avLst/>
          </a:prstGeom>
          <a:noFill/>
          <a:ln/>
        </p:spPr>
        <p:txBody>
          <a:bodyPr wrap="square" lIns="0" tIns="0" rIns="0" bIns="0" rtlCol="0" anchor="ctr"/>
          <a:lstStyle/>
          <a:p>
            <a:pPr algn="r" indent="0" marL="0">
              <a:buNone/>
            </a:pPr>
            <a:r>
              <a:rPr lang="en-US" sz="1000" dirty="0">
                <a:solidFill>
                  <a:srgbClr val="7E8882"/>
                </a:solidFill>
                <a:latin typeface="Yu Gothic" pitchFamily="34" charset="0"/>
                <a:ea typeface="Yu Gothic" pitchFamily="34" charset="-122"/>
                <a:cs typeface="Yu Gothic" pitchFamily="34" charset="-120"/>
              </a:rPr>
              <a:t>合計 </a:t>
            </a:r>
            <a:r>
              <a:rPr lang="en-US" sz="1500" b="1" dirty="0">
                <a:solidFill>
                  <a:srgbClr val="106838"/>
                </a:solidFill>
                <a:latin typeface="Arial" pitchFamily="34" charset="0"/>
                <a:ea typeface="Arial" pitchFamily="34" charset="-122"/>
                <a:cs typeface="Arial" pitchFamily="34" charset="-120"/>
              </a:rPr>
              <a:t>650万円〜</a:t>
            </a:r>
            <a:endParaRPr lang="en-US" sz="1000" dirty="0"/>
          </a:p>
        </p:txBody>
      </p:sp>
      <p:sp>
        <p:nvSpPr>
          <p:cNvPr id="22" name="Shape 19"/>
          <p:cNvSpPr/>
          <p:nvPr/>
        </p:nvSpPr>
        <p:spPr>
          <a:xfrm>
            <a:off x="934517" y="4138574"/>
            <a:ext cx="2443505" cy="1664208"/>
          </a:xfrm>
          <a:prstGeom prst="roundRect">
            <a:avLst>
              <a:gd name="adj" fmla="val 3297"/>
            </a:avLst>
          </a:prstGeom>
          <a:solidFill>
            <a:srgbClr val="F1F8F3"/>
          </a:solidFill>
          <a:ln w="9525">
            <a:solidFill>
              <a:srgbClr val="D2E7DA"/>
            </a:solidFill>
            <a:prstDash val="solid"/>
          </a:ln>
        </p:spPr>
      </p:sp>
      <p:pic>
        <p:nvPicPr>
          <p:cNvPr id="23" name="Image 1" descr="/home/user/suzuki-ceo/selfcafe-partner-deck/assets/icons/LuHandCoins-green.png">    </p:cNvPr>
          <p:cNvPicPr>
            <a:picLocks noChangeAspect="1"/>
          </p:cNvPicPr>
          <p:nvPr/>
        </p:nvPicPr>
        <p:blipFill>
          <a:blip r:embed="rId2"/>
          <a:stretch>
            <a:fillRect/>
          </a:stretch>
        </p:blipFill>
        <p:spPr>
          <a:xfrm>
            <a:off x="1135685" y="4321454"/>
            <a:ext cx="292608" cy="292608"/>
          </a:xfrm>
          <a:prstGeom prst="rect">
            <a:avLst/>
          </a:prstGeom>
        </p:spPr>
      </p:pic>
      <p:sp>
        <p:nvSpPr>
          <p:cNvPr id="24" name="Text 20"/>
          <p:cNvSpPr/>
          <p:nvPr/>
        </p:nvSpPr>
        <p:spPr>
          <a:xfrm>
            <a:off x="1135685"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p>
        </p:txBody>
      </p:sp>
      <p:sp>
        <p:nvSpPr>
          <p:cNvPr id="25" name="Text 21"/>
          <p:cNvSpPr/>
          <p:nvPr/>
        </p:nvSpPr>
        <p:spPr>
          <a:xfrm>
            <a:off x="1135685"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26" name="Shape 22"/>
          <p:cNvSpPr/>
          <p:nvPr/>
        </p:nvSpPr>
        <p:spPr>
          <a:xfrm>
            <a:off x="3560902" y="4138574"/>
            <a:ext cx="2443505" cy="1664208"/>
          </a:xfrm>
          <a:prstGeom prst="roundRect">
            <a:avLst>
              <a:gd name="adj" fmla="val 3297"/>
            </a:avLst>
          </a:prstGeom>
          <a:solidFill>
            <a:srgbClr val="F1F8F3"/>
          </a:solidFill>
          <a:ln w="9525">
            <a:solidFill>
              <a:srgbClr val="D2E7DA"/>
            </a:solidFill>
            <a:prstDash val="solid"/>
          </a:ln>
        </p:spPr>
      </p:sp>
      <p:pic>
        <p:nvPicPr>
          <p:cNvPr id="27" name="Image 2" descr="/home/user/suzuki-ceo/selfcafe-partner-deck/assets/icons/LuHammer-green.png">    </p:cNvPr>
          <p:cNvPicPr>
            <a:picLocks noChangeAspect="1"/>
          </p:cNvPicPr>
          <p:nvPr/>
        </p:nvPicPr>
        <p:blipFill>
          <a:blip r:embed="rId3"/>
          <a:stretch>
            <a:fillRect/>
          </a:stretch>
        </p:blipFill>
        <p:spPr>
          <a:xfrm>
            <a:off x="3762070" y="4321454"/>
            <a:ext cx="292608" cy="292608"/>
          </a:xfrm>
          <a:prstGeom prst="rect">
            <a:avLst/>
          </a:prstGeom>
        </p:spPr>
      </p:pic>
      <p:sp>
        <p:nvSpPr>
          <p:cNvPr id="28" name="Text 23"/>
          <p:cNvSpPr/>
          <p:nvPr/>
        </p:nvSpPr>
        <p:spPr>
          <a:xfrm>
            <a:off x="3762070"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出店工事費用</a:t>
            </a:r>
            <a:endParaRPr lang="en-US" sz="1050" dirty="0"/>
          </a:p>
        </p:txBody>
      </p:sp>
      <p:sp>
        <p:nvSpPr>
          <p:cNvPr id="29" name="Text 24"/>
          <p:cNvSpPr/>
          <p:nvPr/>
        </p:nvSpPr>
        <p:spPr>
          <a:xfrm>
            <a:off x="3762070"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400万円〜</a:t>
            </a:r>
            <a:endParaRPr lang="en-US" sz="1700" dirty="0"/>
          </a:p>
        </p:txBody>
      </p:sp>
      <p:sp>
        <p:nvSpPr>
          <p:cNvPr id="30" name="Text 25"/>
          <p:cNvSpPr/>
          <p:nvPr/>
        </p:nvSpPr>
        <p:spPr>
          <a:xfrm>
            <a:off x="3762070"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設備・電気・大工・内装工事等</a:t>
            </a:r>
            <a:endParaRPr lang="en-US" sz="850" dirty="0"/>
          </a:p>
        </p:txBody>
      </p:sp>
      <p:sp>
        <p:nvSpPr>
          <p:cNvPr id="31" name="Shape 26"/>
          <p:cNvSpPr/>
          <p:nvPr/>
        </p:nvSpPr>
        <p:spPr>
          <a:xfrm>
            <a:off x="6187288" y="4138574"/>
            <a:ext cx="2443505" cy="1664208"/>
          </a:xfrm>
          <a:prstGeom prst="roundRect">
            <a:avLst>
              <a:gd name="adj" fmla="val 3297"/>
            </a:avLst>
          </a:prstGeom>
          <a:solidFill>
            <a:srgbClr val="F1F8F3"/>
          </a:solidFill>
          <a:ln w="9525">
            <a:solidFill>
              <a:srgbClr val="D2E7DA"/>
            </a:solidFill>
            <a:prstDash val="solid"/>
          </a:ln>
        </p:spPr>
      </p:sp>
      <p:pic>
        <p:nvPicPr>
          <p:cNvPr id="32" name="Image 3" descr="/home/user/suzuki-ceo/selfcafe-partner-deck/assets/icons/LuStore-green.png">    </p:cNvPr>
          <p:cNvPicPr>
            <a:picLocks noChangeAspect="1"/>
          </p:cNvPicPr>
          <p:nvPr/>
        </p:nvPicPr>
        <p:blipFill>
          <a:blip r:embed="rId4"/>
          <a:stretch>
            <a:fillRect/>
          </a:stretch>
        </p:blipFill>
        <p:spPr>
          <a:xfrm>
            <a:off x="6388456" y="4321454"/>
            <a:ext cx="292608" cy="292608"/>
          </a:xfrm>
          <a:prstGeom prst="rect">
            <a:avLst/>
          </a:prstGeom>
        </p:spPr>
      </p:pic>
      <p:sp>
        <p:nvSpPr>
          <p:cNvPr id="33" name="Text 27"/>
          <p:cNvSpPr/>
          <p:nvPr/>
        </p:nvSpPr>
        <p:spPr>
          <a:xfrm>
            <a:off x="6388456"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出店準備金</a:t>
            </a:r>
            <a:endParaRPr lang="en-US" sz="1050" dirty="0"/>
          </a:p>
        </p:txBody>
      </p:sp>
      <p:sp>
        <p:nvSpPr>
          <p:cNvPr id="34" name="Text 28"/>
          <p:cNvSpPr/>
          <p:nvPr/>
        </p:nvSpPr>
        <p:spPr>
          <a:xfrm>
            <a:off x="6388456"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35" name="Text 29"/>
          <p:cNvSpPr/>
          <p:nvPr/>
        </p:nvSpPr>
        <p:spPr>
          <a:xfrm>
            <a:off x="6388456"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カメラ・モニター・机・椅子等の備品類</a:t>
            </a:r>
            <a:endParaRPr lang="en-US" sz="850" dirty="0"/>
          </a:p>
        </p:txBody>
      </p:sp>
      <p:sp>
        <p:nvSpPr>
          <p:cNvPr id="36" name="Shape 30"/>
          <p:cNvSpPr/>
          <p:nvPr/>
        </p:nvSpPr>
        <p:spPr>
          <a:xfrm>
            <a:off x="8813673" y="4138574"/>
            <a:ext cx="2443505" cy="1664208"/>
          </a:xfrm>
          <a:prstGeom prst="roundRect">
            <a:avLst>
              <a:gd name="adj" fmla="val 3297"/>
            </a:avLst>
          </a:prstGeom>
          <a:solidFill>
            <a:srgbClr val="F1F8F3"/>
          </a:solidFill>
          <a:ln w="9525">
            <a:solidFill>
              <a:srgbClr val="D2E7DA"/>
            </a:solidFill>
            <a:prstDash val="solid"/>
          </a:ln>
        </p:spPr>
      </p:sp>
      <p:pic>
        <p:nvPicPr>
          <p:cNvPr id="37" name="Image 4" descr="/home/user/suzuki-ceo/selfcafe-partner-deck/assets/icons/LuReceipt-green.png">    </p:cNvPr>
          <p:cNvPicPr>
            <a:picLocks noChangeAspect="1"/>
          </p:cNvPicPr>
          <p:nvPr/>
        </p:nvPicPr>
        <p:blipFill>
          <a:blip r:embed="rId5"/>
          <a:stretch>
            <a:fillRect/>
          </a:stretch>
        </p:blipFill>
        <p:spPr>
          <a:xfrm>
            <a:off x="9014841" y="4321454"/>
            <a:ext cx="292608" cy="292608"/>
          </a:xfrm>
          <a:prstGeom prst="rect">
            <a:avLst/>
          </a:prstGeom>
        </p:spPr>
      </p:pic>
      <p:sp>
        <p:nvSpPr>
          <p:cNvPr id="38" name="Text 31"/>
          <p:cNvSpPr/>
          <p:nvPr/>
        </p:nvSpPr>
        <p:spPr>
          <a:xfrm>
            <a:off x="9014841"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別途保証金</a:t>
            </a:r>
            <a:endParaRPr lang="en-US" sz="1050" dirty="0"/>
          </a:p>
        </p:txBody>
      </p:sp>
      <p:sp>
        <p:nvSpPr>
          <p:cNvPr id="39" name="Text 32"/>
          <p:cNvSpPr/>
          <p:nvPr/>
        </p:nvSpPr>
        <p:spPr>
          <a:xfrm>
            <a:off x="9014841"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50万円〜</a:t>
            </a:r>
            <a:endParaRPr lang="en-US" sz="1700" dirty="0"/>
          </a:p>
        </p:txBody>
      </p:sp>
      <p:sp>
        <p:nvSpPr>
          <p:cNvPr id="40" name="Text 33"/>
          <p:cNvSpPr/>
          <p:nvPr/>
        </p:nvSpPr>
        <p:spPr>
          <a:xfrm>
            <a:off x="9014841"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預り金。原料やロイヤリティの支払い確認が取れない場合に差し引き</a:t>
            </a:r>
            <a:endParaRPr lang="en-US" sz="850" dirty="0"/>
          </a:p>
        </p:txBody>
      </p:sp>
      <p:sp>
        <p:nvSpPr>
          <p:cNvPr id="41" name="Text 34"/>
          <p:cNvSpPr/>
          <p:nvPr/>
        </p:nvSpPr>
        <p:spPr>
          <a:xfrm>
            <a:off x="660197" y="610819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金額は目安です。物件条件・工事範囲により変動します。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75杯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945,000円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-189,000円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270,000円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270,000円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3,240,000円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100杯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1,260,000円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-252,000円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-320,000円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-35,000円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水道11,000円／光熱74,000円（24H営業想定）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-85,000円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387,000円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387,000円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4,644,000円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20坪（初期費用800万円）と40坪（同1,200万円）について、家賃あり／家賃なし（自社物件）の回収期間を試算しました。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5243627" cy="3602736"/>
          </a:xfrm>
          <a:prstGeom prst="roundRect">
            <a:avLst>
              <a:gd name="adj" fmla="val 1523"/>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800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4" name="Text 11"/>
          <p:cNvSpPr/>
          <p:nvPr/>
        </p:nvSpPr>
        <p:spPr>
          <a:xfrm>
            <a:off x="2580437"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5" name="Text 12"/>
          <p:cNvSpPr/>
          <p:nvPr/>
        </p:nvSpPr>
        <p:spPr>
          <a:xfrm>
            <a:off x="4166464"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945,000円</a:t>
            </a:r>
            <a:endParaRPr lang="en-US" sz="1200" dirty="0"/>
          </a:p>
        </p:txBody>
      </p:sp>
      <p:sp>
        <p:nvSpPr>
          <p:cNvPr id="16" name="Shape 13"/>
          <p:cNvSpPr/>
          <p:nvPr/>
        </p:nvSpPr>
        <p:spPr>
          <a:xfrm>
            <a:off x="934517" y="2748686"/>
            <a:ext cx="4694987" cy="10058"/>
          </a:xfrm>
          <a:prstGeom prst="rect">
            <a:avLst/>
          </a:prstGeom>
          <a:solidFill>
            <a:srgbClr val="EFEAE0"/>
          </a:solidFill>
          <a:ln/>
        </p:spPr>
      </p:sp>
      <p:sp>
        <p:nvSpPr>
          <p:cNvPr id="17" name="Text 14"/>
          <p:cNvSpPr/>
          <p:nvPr/>
        </p:nvSpPr>
        <p:spPr>
          <a:xfrm>
            <a:off x="934517"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18" name="Text 15"/>
          <p:cNvSpPr/>
          <p:nvPr/>
        </p:nvSpPr>
        <p:spPr>
          <a:xfrm>
            <a:off x="2580437"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19" name="Text 16"/>
          <p:cNvSpPr/>
          <p:nvPr/>
        </p:nvSpPr>
        <p:spPr>
          <a:xfrm>
            <a:off x="4166464"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-475,000円</a:t>
            </a:r>
            <a:endParaRPr lang="en-US" sz="1200" dirty="0"/>
          </a:p>
        </p:txBody>
      </p:sp>
      <p:sp>
        <p:nvSpPr>
          <p:cNvPr id="20" name="Shape 17"/>
          <p:cNvSpPr/>
          <p:nvPr/>
        </p:nvSpPr>
        <p:spPr>
          <a:xfrm>
            <a:off x="934517" y="3077870"/>
            <a:ext cx="4694987" cy="10058"/>
          </a:xfrm>
          <a:prstGeom prst="rect">
            <a:avLst/>
          </a:prstGeom>
          <a:solidFill>
            <a:srgbClr val="EFEAE0"/>
          </a:solidFill>
          <a:ln/>
        </p:spPr>
      </p:sp>
      <p:sp>
        <p:nvSpPr>
          <p:cNvPr id="21" name="Text 18"/>
          <p:cNvSpPr/>
          <p:nvPr/>
        </p:nvSpPr>
        <p:spPr>
          <a:xfrm>
            <a:off x="934517"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2" name="Text 19"/>
          <p:cNvSpPr/>
          <p:nvPr/>
        </p:nvSpPr>
        <p:spPr>
          <a:xfrm>
            <a:off x="2580437"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3" name="Text 20"/>
          <p:cNvSpPr/>
          <p:nvPr/>
        </p:nvSpPr>
        <p:spPr>
          <a:xfrm>
            <a:off x="4166464"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-200,000円</a:t>
            </a:r>
            <a:endParaRPr lang="en-US" sz="1200" dirty="0"/>
          </a:p>
        </p:txBody>
      </p:sp>
      <p:sp>
        <p:nvSpPr>
          <p:cNvPr id="24" name="Shape 21"/>
          <p:cNvSpPr/>
          <p:nvPr/>
        </p:nvSpPr>
        <p:spPr>
          <a:xfrm>
            <a:off x="934517" y="3407054"/>
            <a:ext cx="4694987" cy="10058"/>
          </a:xfrm>
          <a:prstGeom prst="rect">
            <a:avLst/>
          </a:prstGeom>
          <a:solidFill>
            <a:srgbClr val="EFEAE0"/>
          </a:solidFill>
          <a:ln/>
        </p:spPr>
      </p:sp>
      <p:sp>
        <p:nvSpPr>
          <p:cNvPr id="25" name="Shape 22"/>
          <p:cNvSpPr/>
          <p:nvPr/>
        </p:nvSpPr>
        <p:spPr>
          <a:xfrm>
            <a:off x="934517" y="3608222"/>
            <a:ext cx="2256053" cy="1426464"/>
          </a:xfrm>
          <a:prstGeom prst="roundRect">
            <a:avLst>
              <a:gd name="adj" fmla="val 3846"/>
            </a:avLst>
          </a:prstGeom>
          <a:solidFill>
            <a:srgbClr val="F1F8F3"/>
          </a:solidFill>
          <a:ln w="9525">
            <a:solidFill>
              <a:srgbClr val="D2E7DA"/>
            </a:solidFill>
            <a:prstDash val="solid"/>
          </a:ln>
        </p:spPr>
      </p:sp>
      <p:sp>
        <p:nvSpPr>
          <p:cNvPr id="26" name="Text 23"/>
          <p:cNvSpPr/>
          <p:nvPr/>
        </p:nvSpPr>
        <p:spPr>
          <a:xfrm>
            <a:off x="1117397"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27" name="Text 24"/>
          <p:cNvSpPr/>
          <p:nvPr/>
        </p:nvSpPr>
        <p:spPr>
          <a:xfrm>
            <a:off x="1117397"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28" name="Text 25"/>
          <p:cNvSpPr/>
          <p:nvPr/>
        </p:nvSpPr>
        <p:spPr>
          <a:xfrm>
            <a:off x="1117397"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29" name="Text 26"/>
          <p:cNvSpPr/>
          <p:nvPr/>
        </p:nvSpPr>
        <p:spPr>
          <a:xfrm>
            <a:off x="1062533"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30" name="Shape 27"/>
          <p:cNvSpPr/>
          <p:nvPr/>
        </p:nvSpPr>
        <p:spPr>
          <a:xfrm>
            <a:off x="3373450" y="3608222"/>
            <a:ext cx="2256053" cy="1426464"/>
          </a:xfrm>
          <a:prstGeom prst="roundRect">
            <a:avLst>
              <a:gd name="adj" fmla="val 3846"/>
            </a:avLst>
          </a:prstGeom>
          <a:solidFill>
            <a:srgbClr val="0C5230"/>
          </a:solidFill>
          <a:ln/>
        </p:spPr>
      </p:sp>
      <p:sp>
        <p:nvSpPr>
          <p:cNvPr id="31" name="Text 28"/>
          <p:cNvSpPr/>
          <p:nvPr/>
        </p:nvSpPr>
        <p:spPr>
          <a:xfrm>
            <a:off x="3556330"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2" name="Text 29"/>
          <p:cNvSpPr/>
          <p:nvPr/>
        </p:nvSpPr>
        <p:spPr>
          <a:xfrm>
            <a:off x="3556330"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3" name="Text 30"/>
          <p:cNvSpPr/>
          <p:nvPr/>
        </p:nvSpPr>
        <p:spPr>
          <a:xfrm>
            <a:off x="3556330"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4" name="Text 31"/>
          <p:cNvSpPr/>
          <p:nvPr/>
        </p:nvSpPr>
        <p:spPr>
          <a:xfrm>
            <a:off x="3501466"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35" name="Shape 32"/>
          <p:cNvSpPr/>
          <p:nvPr/>
        </p:nvSpPr>
        <p:spPr>
          <a:xfrm>
            <a:off x="6287872" y="1651406"/>
            <a:ext cx="5243627" cy="3602736"/>
          </a:xfrm>
          <a:prstGeom prst="roundRect">
            <a:avLst>
              <a:gd name="adj" fmla="val 1523"/>
            </a:avLst>
          </a:prstGeom>
          <a:solidFill>
            <a:srgbClr val="FFFFFF"/>
          </a:solidFill>
          <a:ln w="9525">
            <a:solidFill>
              <a:srgbClr val="EFEAE0"/>
            </a:solidFill>
            <a:prstDash val="solid"/>
          </a:ln>
        </p:spPr>
      </p:sp>
      <p:sp>
        <p:nvSpPr>
          <p:cNvPr id="36" name="Text 33"/>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37" name="Text 34"/>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38" name="Text 35"/>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1,200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39" name="Text 36"/>
          <p:cNvSpPr/>
          <p:nvPr/>
        </p:nvSpPr>
        <p:spPr>
          <a:xfrm>
            <a:off x="6562192"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0" name="Text 37"/>
          <p:cNvSpPr/>
          <p:nvPr/>
        </p:nvSpPr>
        <p:spPr>
          <a:xfrm>
            <a:off x="8208112"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1" name="Text 38"/>
          <p:cNvSpPr/>
          <p:nvPr/>
        </p:nvSpPr>
        <p:spPr>
          <a:xfrm>
            <a:off x="9794138"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1,260,000円</a:t>
            </a:r>
            <a:endParaRPr lang="en-US" sz="1200" dirty="0"/>
          </a:p>
        </p:txBody>
      </p:sp>
      <p:sp>
        <p:nvSpPr>
          <p:cNvPr id="42" name="Shape 39"/>
          <p:cNvSpPr/>
          <p:nvPr/>
        </p:nvSpPr>
        <p:spPr>
          <a:xfrm>
            <a:off x="6562192" y="2748686"/>
            <a:ext cx="4694987" cy="10058"/>
          </a:xfrm>
          <a:prstGeom prst="rect">
            <a:avLst/>
          </a:prstGeom>
          <a:solidFill>
            <a:srgbClr val="EFEAE0"/>
          </a:solidFill>
          <a:ln/>
        </p:spPr>
      </p:sp>
      <p:sp>
        <p:nvSpPr>
          <p:cNvPr id="43" name="Text 40"/>
          <p:cNvSpPr/>
          <p:nvPr/>
        </p:nvSpPr>
        <p:spPr>
          <a:xfrm>
            <a:off x="6562192"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44" name="Text 41"/>
          <p:cNvSpPr/>
          <p:nvPr/>
        </p:nvSpPr>
        <p:spPr>
          <a:xfrm>
            <a:off x="8208112"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45" name="Text 42"/>
          <p:cNvSpPr/>
          <p:nvPr/>
        </p:nvSpPr>
        <p:spPr>
          <a:xfrm>
            <a:off x="9794138"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-553,000円</a:t>
            </a:r>
            <a:endParaRPr lang="en-US" sz="1200" dirty="0"/>
          </a:p>
        </p:txBody>
      </p:sp>
      <p:sp>
        <p:nvSpPr>
          <p:cNvPr id="46" name="Shape 43"/>
          <p:cNvSpPr/>
          <p:nvPr/>
        </p:nvSpPr>
        <p:spPr>
          <a:xfrm>
            <a:off x="6562192" y="3077870"/>
            <a:ext cx="4694987" cy="10058"/>
          </a:xfrm>
          <a:prstGeom prst="rect">
            <a:avLst/>
          </a:prstGeom>
          <a:solidFill>
            <a:srgbClr val="EFEAE0"/>
          </a:solidFill>
          <a:ln/>
        </p:spPr>
      </p:sp>
      <p:sp>
        <p:nvSpPr>
          <p:cNvPr id="47" name="Text 44"/>
          <p:cNvSpPr/>
          <p:nvPr/>
        </p:nvSpPr>
        <p:spPr>
          <a:xfrm>
            <a:off x="6562192"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48" name="Text 45"/>
          <p:cNvSpPr/>
          <p:nvPr/>
        </p:nvSpPr>
        <p:spPr>
          <a:xfrm>
            <a:off x="8208112"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49" name="Text 46"/>
          <p:cNvSpPr/>
          <p:nvPr/>
        </p:nvSpPr>
        <p:spPr>
          <a:xfrm>
            <a:off x="9794138"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-320,000円</a:t>
            </a:r>
            <a:endParaRPr lang="en-US" sz="1200" dirty="0"/>
          </a:p>
        </p:txBody>
      </p:sp>
      <p:sp>
        <p:nvSpPr>
          <p:cNvPr id="50" name="Shape 47"/>
          <p:cNvSpPr/>
          <p:nvPr/>
        </p:nvSpPr>
        <p:spPr>
          <a:xfrm>
            <a:off x="6562192" y="3407054"/>
            <a:ext cx="4694987" cy="10058"/>
          </a:xfrm>
          <a:prstGeom prst="rect">
            <a:avLst/>
          </a:prstGeom>
          <a:solidFill>
            <a:srgbClr val="EFEAE0"/>
          </a:solidFill>
          <a:ln/>
        </p:spPr>
      </p:sp>
      <p:sp>
        <p:nvSpPr>
          <p:cNvPr id="51" name="Shape 48"/>
          <p:cNvSpPr/>
          <p:nvPr/>
        </p:nvSpPr>
        <p:spPr>
          <a:xfrm>
            <a:off x="6562192" y="3608222"/>
            <a:ext cx="2256053" cy="1426464"/>
          </a:xfrm>
          <a:prstGeom prst="roundRect">
            <a:avLst>
              <a:gd name="adj" fmla="val 3846"/>
            </a:avLst>
          </a:prstGeom>
          <a:solidFill>
            <a:srgbClr val="F1F8F3"/>
          </a:solidFill>
          <a:ln w="9525">
            <a:solidFill>
              <a:srgbClr val="D2E7DA"/>
            </a:solidFill>
            <a:prstDash val="solid"/>
          </a:ln>
        </p:spPr>
      </p:sp>
      <p:sp>
        <p:nvSpPr>
          <p:cNvPr id="52" name="Text 49"/>
          <p:cNvSpPr/>
          <p:nvPr/>
        </p:nvSpPr>
        <p:spPr>
          <a:xfrm>
            <a:off x="6745072"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53" name="Text 50"/>
          <p:cNvSpPr/>
          <p:nvPr/>
        </p:nvSpPr>
        <p:spPr>
          <a:xfrm>
            <a:off x="6745072"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54" name="Text 51"/>
          <p:cNvSpPr/>
          <p:nvPr/>
        </p:nvSpPr>
        <p:spPr>
          <a:xfrm>
            <a:off x="6745072"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55" name="Text 52"/>
          <p:cNvSpPr/>
          <p:nvPr/>
        </p:nvSpPr>
        <p:spPr>
          <a:xfrm>
            <a:off x="6690208"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約2年7ヶ月</a:t>
            </a:r>
            <a:r>
              <a:rPr lang="en-US" sz="850" dirty="0">
                <a:solidFill>
                  <a:srgbClr val="7E8882"/>
                </a:solidFill>
                <a:latin typeface="Arial" pitchFamily="34" charset="0"/>
                <a:ea typeface="Arial" pitchFamily="34" charset="-122"/>
                <a:cs typeface="Arial" pitchFamily="34" charset="-120"/>
              </a:rPr>
              <a:t>（31ヶ月）</a:t>
            </a:r>
            <a:endParaRPr lang="en-US" sz="1450" dirty="0"/>
          </a:p>
        </p:txBody>
      </p:sp>
      <p:sp>
        <p:nvSpPr>
          <p:cNvPr id="56" name="Shape 53"/>
          <p:cNvSpPr/>
          <p:nvPr/>
        </p:nvSpPr>
        <p:spPr>
          <a:xfrm>
            <a:off x="9001125" y="3608222"/>
            <a:ext cx="2256053" cy="1426464"/>
          </a:xfrm>
          <a:prstGeom prst="roundRect">
            <a:avLst>
              <a:gd name="adj" fmla="val 3846"/>
            </a:avLst>
          </a:prstGeom>
          <a:solidFill>
            <a:srgbClr val="0C5230"/>
          </a:solidFill>
          <a:ln/>
        </p:spPr>
      </p:sp>
      <p:sp>
        <p:nvSpPr>
          <p:cNvPr id="57" name="Text 54"/>
          <p:cNvSpPr/>
          <p:nvPr/>
        </p:nvSpPr>
        <p:spPr>
          <a:xfrm>
            <a:off x="9184005"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58" name="Text 55"/>
          <p:cNvSpPr/>
          <p:nvPr/>
        </p:nvSpPr>
        <p:spPr>
          <a:xfrm>
            <a:off x="9184005"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59" name="Text 56"/>
          <p:cNvSpPr/>
          <p:nvPr/>
        </p:nvSpPr>
        <p:spPr>
          <a:xfrm>
            <a:off x="9184005"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0" name="Text 57"/>
          <p:cNvSpPr/>
          <p:nvPr/>
        </p:nvSpPr>
        <p:spPr>
          <a:xfrm>
            <a:off x="9129141"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61" name="Shape 58"/>
          <p:cNvSpPr/>
          <p:nvPr/>
        </p:nvSpPr>
        <p:spPr>
          <a:xfrm>
            <a:off x="660197" y="5437022"/>
            <a:ext cx="10871302" cy="512064"/>
          </a:xfrm>
          <a:prstGeom prst="roundRect">
            <a:avLst>
              <a:gd name="adj" fmla="val 10714"/>
            </a:avLst>
          </a:prstGeom>
          <a:solidFill>
            <a:srgbClr val="F1F8F3"/>
          </a:solidFill>
          <a:ln w="9525">
            <a:solidFill>
              <a:srgbClr val="D2E7DA"/>
            </a:solidFill>
            <a:prstDash val="solid"/>
          </a:ln>
        </p:spPr>
      </p:sp>
      <p:sp>
        <p:nvSpPr>
          <p:cNvPr id="62" name="Text 59"/>
          <p:cNvSpPr/>
          <p:nvPr/>
        </p:nvSpPr>
        <p:spPr>
          <a:xfrm>
            <a:off x="897941" y="5437022"/>
            <a:ext cx="10395814" cy="512064"/>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前提：1杯420円／販売数 20坪=75杯・40坪=100杯／日（収益シミュレーションと同一）／ロイヤリティ 月5万円／減価償却費・税は含まない</a:t>
            </a:r>
            <a:endParaRPr lang="en-US" sz="1000" dirty="0"/>
          </a:p>
        </p:txBody>
      </p:sp>
      <p:sp>
        <p:nvSpPr>
          <p:cNvPr id="63" name="Text 60"/>
          <p:cNvSpPr/>
          <p:nvPr/>
        </p:nvSpPr>
        <p:spPr>
          <a:xfrm>
            <a:off x="660197" y="609539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収益シミュレーション（p20〜p21）と同一の前提による目安です。回収期間・利益を保証するものではありません。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a:t>
            </a:r>
            <a:endParaRPr lang="en-US" sz="900" dirty="0"/>
          </a:p>
        </p:txBody>
      </p:sp>
      <p:pic>
        <p:nvPicPr>
          <p:cNvPr id="21" name="Image 1" descr="/home/user/suzuki-ceo/selfcafe-partner-deck/assets/photos/.crops/p02-storefront-650x157.jpg">    </p:cNvPr>
          <p:cNvPicPr>
            <a:picLocks noChangeAspect="1"/>
          </p:cNvPicPr>
          <p:nvPr/>
        </p:nvPicPr>
        <p:blipFill>
          <a:blip r:embed="rId2"/>
          <a:stretch>
            <a:fillRect/>
          </a:stretch>
        </p:blipFill>
        <p:spPr>
          <a:xfrm>
            <a:off x="660197" y="2492654"/>
            <a:ext cx="5943600" cy="1435608"/>
          </a:xfrm>
          <a:prstGeom prst="rect">
            <a:avLst/>
          </a:prstGeom>
        </p:spPr>
      </p:pic>
      <p:sp>
        <p:nvSpPr>
          <p:cNvPr id="22" name="Shape 18"/>
          <p:cNvSpPr/>
          <p:nvPr/>
        </p:nvSpPr>
        <p:spPr>
          <a:xfrm>
            <a:off x="660197" y="2492654"/>
            <a:ext cx="5943600" cy="1435608"/>
          </a:xfrm>
          <a:prstGeom prst="rect">
            <a:avLst/>
          </a:prstGeom>
          <a:ln w="12700">
            <a:solidFill>
              <a:srgbClr val="D8D2C6"/>
            </a:solidFill>
            <a:prstDash val="solid"/>
          </a:ln>
        </p:spPr>
      </p:sp>
      <p:sp>
        <p:nvSpPr>
          <p:cNvPr id="23" name="Shape 19"/>
          <p:cNvSpPr/>
          <p:nvPr/>
        </p:nvSpPr>
        <p:spPr>
          <a:xfrm>
            <a:off x="788213" y="3471062"/>
            <a:ext cx="1388872" cy="329184"/>
          </a:xfrm>
          <a:prstGeom prst="roundRect">
            <a:avLst>
              <a:gd name="adj" fmla="val 13889"/>
            </a:avLst>
          </a:prstGeom>
          <a:solidFill>
            <a:srgbClr val="FFFFFF">
              <a:alpha val="90000"/>
            </a:srgbClr>
          </a:solidFill>
          <a:ln/>
        </p:spPr>
      </p:sp>
      <p:sp>
        <p:nvSpPr>
          <p:cNvPr id="24" name="Text 20"/>
          <p:cNvSpPr/>
          <p:nvPr/>
        </p:nvSpPr>
        <p:spPr>
          <a:xfrm>
            <a:off x="952805" y="3471062"/>
            <a:ext cx="1114552"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盛岡駅前店の外観</a:t>
            </a:r>
            <a:endParaRPr lang="en-US" sz="950" dirty="0"/>
          </a:p>
        </p:txBody>
      </p:sp>
      <p:sp>
        <p:nvSpPr>
          <p:cNvPr id="25" name="Text 21"/>
          <p:cNvSpPr/>
          <p:nvPr/>
        </p:nvSpPr>
        <p:spPr>
          <a:xfrm>
            <a:off x="696773" y="4111142"/>
            <a:ext cx="5870448" cy="64008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6" name="Shape 22"/>
          <p:cNvSpPr/>
          <p:nvPr/>
        </p:nvSpPr>
        <p:spPr>
          <a:xfrm>
            <a:off x="660197" y="4924958"/>
            <a:ext cx="5943600" cy="1133856"/>
          </a:xfrm>
          <a:prstGeom prst="roundRect">
            <a:avLst>
              <a:gd name="adj" fmla="val 4839"/>
            </a:avLst>
          </a:prstGeom>
          <a:solidFill>
            <a:srgbClr val="F1F8F3"/>
          </a:solidFill>
          <a:ln w="9525">
            <a:solidFill>
              <a:srgbClr val="D2E7DA"/>
            </a:solidFill>
            <a:prstDash val="solid"/>
          </a:ln>
        </p:spPr>
      </p:sp>
      <p:pic>
        <p:nvPicPr>
          <p:cNvPr id="27" name="Image 2" descr="/home/user/suzuki-ceo/selfcafe-partner-deck/assets/icons/LuTrendingUp-green.png">    </p:cNvPr>
          <p:cNvPicPr>
            <a:picLocks noChangeAspect="1"/>
          </p:cNvPicPr>
          <p:nvPr/>
        </p:nvPicPr>
        <p:blipFill>
          <a:blip r:embed="rId3"/>
          <a:stretch>
            <a:fillRect/>
          </a:stretch>
        </p:blipFill>
        <p:spPr>
          <a:xfrm>
            <a:off x="916229" y="5180990"/>
            <a:ext cx="402336" cy="402336"/>
          </a:xfrm>
          <a:prstGeom prst="rect">
            <a:avLst/>
          </a:prstGeom>
        </p:spPr>
      </p:pic>
      <p:sp>
        <p:nvSpPr>
          <p:cNvPr id="28" name="Text 23"/>
          <p:cNvSpPr/>
          <p:nvPr/>
        </p:nvSpPr>
        <p:spPr>
          <a:xfrm>
            <a:off x="1501445" y="5107838"/>
            <a:ext cx="48463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家賃を吸収して、利益を確保。</a:t>
            </a:r>
            <a:endParaRPr lang="en-US" sz="1300" dirty="0"/>
          </a:p>
        </p:txBody>
      </p:sp>
      <p:sp>
        <p:nvSpPr>
          <p:cNvPr id="29" name="Text 24"/>
          <p:cNvSpPr/>
          <p:nvPr/>
        </p:nvSpPr>
        <p:spPr>
          <a:xfrm>
            <a:off x="1501445" y="5400446"/>
            <a:ext cx="4846320"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月の家賃280,000円を支払った上で、232,000円の償却前営業利益を確保しています。</a:t>
            </a:r>
            <a:endParaRPr lang="en-US" sz="1050" dirty="0"/>
          </a:p>
        </p:txBody>
      </p:sp>
      <p:sp>
        <p:nvSpPr>
          <p:cNvPr id="30" name="Shape 25"/>
          <p:cNvSpPr/>
          <p:nvPr/>
        </p:nvSpPr>
        <p:spPr>
          <a:xfrm>
            <a:off x="6987845" y="2492654"/>
            <a:ext cx="4543654" cy="3566160"/>
          </a:xfrm>
          <a:prstGeom prst="roundRect">
            <a:avLst>
              <a:gd name="adj" fmla="val 1538"/>
            </a:avLst>
          </a:prstGeom>
          <a:solidFill>
            <a:srgbClr val="FFFFFF"/>
          </a:solidFill>
          <a:ln w="9525">
            <a:solidFill>
              <a:srgbClr val="EFEAE0"/>
            </a:solidFill>
            <a:prstDash val="solid"/>
          </a:ln>
        </p:spPr>
      </p:sp>
      <p:sp>
        <p:nvSpPr>
          <p:cNvPr id="31" name="Text 26"/>
          <p:cNvSpPr/>
          <p:nvPr/>
        </p:nvSpPr>
        <p:spPr>
          <a:xfrm>
            <a:off x="7262165" y="2730398"/>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32" name="Text 27"/>
          <p:cNvSpPr/>
          <p:nvPr/>
        </p:nvSpPr>
        <p:spPr>
          <a:xfrm>
            <a:off x="7262165" y="2949854"/>
            <a:ext cx="3995014" cy="365760"/>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1日80杯ペースでの稼働</a:t>
            </a:r>
            <a:endParaRPr lang="en-US" sz="1700" dirty="0"/>
          </a:p>
        </p:txBody>
      </p:sp>
      <p:sp>
        <p:nvSpPr>
          <p:cNvPr id="33" name="Shape 28"/>
          <p:cNvSpPr/>
          <p:nvPr/>
        </p:nvSpPr>
        <p:spPr>
          <a:xfrm>
            <a:off x="7262165" y="3425342"/>
            <a:ext cx="3995014" cy="10058"/>
          </a:xfrm>
          <a:prstGeom prst="rect">
            <a:avLst/>
          </a:prstGeom>
          <a:solidFill>
            <a:srgbClr val="EFEAE0"/>
          </a:solidFill>
          <a:ln/>
        </p:spPr>
      </p:sp>
      <p:sp>
        <p:nvSpPr>
          <p:cNvPr id="34" name="Text 29"/>
          <p:cNvSpPr/>
          <p:nvPr/>
        </p:nvSpPr>
        <p:spPr>
          <a:xfrm>
            <a:off x="7262165" y="3608222"/>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a:t>
            </a:r>
            <a:endParaRPr lang="en-US" sz="1000" dirty="0"/>
          </a:p>
        </p:txBody>
      </p:sp>
      <p:sp>
        <p:nvSpPr>
          <p:cNvPr id="35" name="Text 30"/>
          <p:cNvSpPr/>
          <p:nvPr/>
        </p:nvSpPr>
        <p:spPr>
          <a:xfrm>
            <a:off x="8816645" y="3608222"/>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2025年4月</a:t>
            </a:r>
            <a:endParaRPr lang="en-US" sz="1300" dirty="0"/>
          </a:p>
        </p:txBody>
      </p:sp>
      <p:sp>
        <p:nvSpPr>
          <p:cNvPr id="36" name="Shape 31"/>
          <p:cNvSpPr/>
          <p:nvPr/>
        </p:nvSpPr>
        <p:spPr>
          <a:xfrm>
            <a:off x="7262165" y="4065422"/>
            <a:ext cx="3995014" cy="10058"/>
          </a:xfrm>
          <a:prstGeom prst="rect">
            <a:avLst/>
          </a:prstGeom>
          <a:solidFill>
            <a:srgbClr val="EFEAE0"/>
          </a:solidFill>
          <a:ln/>
        </p:spPr>
      </p:sp>
      <p:sp>
        <p:nvSpPr>
          <p:cNvPr id="37" name="Text 32"/>
          <p:cNvSpPr/>
          <p:nvPr/>
        </p:nvSpPr>
        <p:spPr>
          <a:xfrm>
            <a:off x="7262165" y="4175150"/>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面積・席数</a:t>
            </a:r>
            <a:endParaRPr lang="en-US" sz="1000" dirty="0"/>
          </a:p>
        </p:txBody>
      </p:sp>
      <p:sp>
        <p:nvSpPr>
          <p:cNvPr id="38" name="Text 33"/>
          <p:cNvSpPr/>
          <p:nvPr/>
        </p:nvSpPr>
        <p:spPr>
          <a:xfrm>
            <a:off x="8816645" y="4175150"/>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20坪／40席</a:t>
            </a:r>
            <a:endParaRPr lang="en-US" sz="1300" dirty="0"/>
          </a:p>
        </p:txBody>
      </p:sp>
      <p:sp>
        <p:nvSpPr>
          <p:cNvPr id="39" name="Shape 34"/>
          <p:cNvSpPr/>
          <p:nvPr/>
        </p:nvSpPr>
        <p:spPr>
          <a:xfrm>
            <a:off x="7262165" y="4632350"/>
            <a:ext cx="3995014" cy="10058"/>
          </a:xfrm>
          <a:prstGeom prst="rect">
            <a:avLst/>
          </a:prstGeom>
          <a:solidFill>
            <a:srgbClr val="EFEAE0"/>
          </a:solidFill>
          <a:ln/>
        </p:spPr>
      </p:sp>
      <p:sp>
        <p:nvSpPr>
          <p:cNvPr id="40" name="Text 35"/>
          <p:cNvSpPr/>
          <p:nvPr/>
        </p:nvSpPr>
        <p:spPr>
          <a:xfrm>
            <a:off x="7262165" y="4742078"/>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立地</a:t>
            </a:r>
            <a:endParaRPr lang="en-US" sz="1000" dirty="0"/>
          </a:p>
        </p:txBody>
      </p:sp>
      <p:sp>
        <p:nvSpPr>
          <p:cNvPr id="41" name="Text 36"/>
          <p:cNvSpPr/>
          <p:nvPr/>
        </p:nvSpPr>
        <p:spPr>
          <a:xfrm>
            <a:off x="8816645" y="4742078"/>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岩手県盛岡市・駅前</a:t>
            </a:r>
            <a:endParaRPr lang="en-US" sz="1300" dirty="0"/>
          </a:p>
        </p:txBody>
      </p:sp>
      <p:sp>
        <p:nvSpPr>
          <p:cNvPr id="42" name="Shape 37"/>
          <p:cNvSpPr/>
          <p:nvPr/>
        </p:nvSpPr>
        <p:spPr>
          <a:xfrm>
            <a:off x="7262165" y="5199278"/>
            <a:ext cx="3995014" cy="10058"/>
          </a:xfrm>
          <a:prstGeom prst="rect">
            <a:avLst/>
          </a:prstGeom>
          <a:solidFill>
            <a:srgbClr val="EFEAE0"/>
          </a:solidFill>
          <a:ln/>
        </p:spPr>
      </p:sp>
      <p:sp>
        <p:nvSpPr>
          <p:cNvPr id="43" name="Text 38"/>
          <p:cNvSpPr/>
          <p:nvPr/>
        </p:nvSpPr>
        <p:spPr>
          <a:xfrm>
            <a:off x="7262165" y="5309006"/>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営業時間</a:t>
            </a:r>
            <a:endParaRPr lang="en-US" sz="1000" dirty="0"/>
          </a:p>
        </p:txBody>
      </p:sp>
      <p:sp>
        <p:nvSpPr>
          <p:cNvPr id="44" name="Text 39"/>
          <p:cNvSpPr/>
          <p:nvPr/>
        </p:nvSpPr>
        <p:spPr>
          <a:xfrm>
            <a:off x="8816645" y="5309006"/>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24時間</a:t>
            </a:r>
            <a:endParaRPr lang="en-US" sz="1300" dirty="0"/>
          </a:p>
        </p:txBody>
      </p:sp>
      <p:sp>
        <p:nvSpPr>
          <p:cNvPr id="45" name="Text 40"/>
          <p:cNvSpPr/>
          <p:nvPr/>
        </p:nvSpPr>
        <p:spPr>
          <a:xfrm>
            <a:off x="660197" y="618683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実績値であり、他店舗での同等の売上・利益を保証するものではありません。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Text 6"/>
          <p:cNvSpPr/>
          <p:nvPr/>
        </p:nvSpPr>
        <p:spPr>
          <a:xfrm>
            <a:off x="660197" y="58576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SEO対策・MEO対策・PayPayポイント付与は費用なしの標準提供のため、本表からは除いています。</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加盟申込み</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契約締結。契約期間は最低3年〜。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29</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090-6386-5493</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担当：佐藤</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selfcafe001@gmail.com</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2026-08-25T05:06:54Z</dcterms:created>
  <dcterms:modified xsi:type="dcterms:W3CDTF">2026-08-25T05:06:54Z</dcterms:modified>
</cp:coreProperties>
</file>