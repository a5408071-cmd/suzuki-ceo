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累計店舗数</c:v>
                </c:pt>
              </c:strCache>
            </c:strRef>
          </c:tx>
          <c:spPr>
            <a:solidFill>
              <a:srgbClr val="2E7D32">
                <a:alpha val="22000"/>
              </a:srgbClr>
            </a:solidFill>
            <a:ln w="9525" cap="flat">
              <a:solidFill>
                <a:srgbClr val="2E7D3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Sheet1!$A$2:$A$49</c:f>
              <c:multiLvlStrCache>
                <c:ptCount val="48"/>
                <c:lvl>
                  <c:pt idx="0">
                    <c:v>2022.09</c:v>
                  </c:pt>
                  <c:pt idx="1">
                    <c:v/>
                  </c:pt>
                  <c:pt idx="2">
                    <c:v/>
                  </c:pt>
                  <c:pt idx="3">
                    <c:v/>
                  </c:pt>
                  <c:pt idx="4">
                    <c:v/>
                  </c:pt>
                  <c:pt idx="5">
                    <c:v/>
                  </c:pt>
                  <c:pt idx="6">
                    <c:v/>
                  </c:pt>
                  <c:pt idx="7">
                    <c:v/>
                  </c:pt>
                  <c:pt idx="8">
                    <c:v/>
                  </c:pt>
                  <c:pt idx="9">
                    <c:v/>
                  </c:pt>
                  <c:pt idx="10">
                    <c:v/>
                  </c:pt>
                  <c:pt idx="11">
                    <c:v/>
                  </c:pt>
                  <c:pt idx="12">
                    <c:v>2023.09</c:v>
                  </c:pt>
                  <c:pt idx="13">
                    <c:v/>
                  </c:pt>
                  <c:pt idx="14">
                    <c:v/>
                  </c:pt>
                  <c:pt idx="15">
                    <c:v/>
                  </c:pt>
                  <c:pt idx="16">
                    <c:v/>
                  </c:pt>
                  <c:pt idx="17">
                    <c:v/>
                  </c:pt>
                  <c:pt idx="18">
                    <c:v/>
                  </c:pt>
                  <c:pt idx="19">
                    <c:v/>
                  </c:pt>
                  <c:pt idx="20">
                    <c:v/>
                  </c:pt>
                  <c:pt idx="21">
                    <c:v/>
                  </c:pt>
                  <c:pt idx="22">
                    <c:v/>
                  </c:pt>
                  <c:pt idx="23">
                    <c:v/>
                  </c:pt>
                  <c:pt idx="24">
                    <c:v>2024.09</c:v>
                  </c:pt>
                  <c:pt idx="25">
                    <c:v/>
                  </c:pt>
                  <c:pt idx="26">
                    <c:v/>
                  </c:pt>
                  <c:pt idx="27">
                    <c:v/>
                  </c:pt>
                  <c:pt idx="28">
                    <c:v/>
                  </c:pt>
                  <c:pt idx="29">
                    <c:v/>
                  </c:pt>
                  <c:pt idx="30">
                    <c:v/>
                  </c:pt>
                  <c:pt idx="31">
                    <c:v/>
                  </c:pt>
                  <c:pt idx="32">
                    <c:v/>
                  </c:pt>
                  <c:pt idx="33">
                    <c:v/>
                  </c:pt>
                  <c:pt idx="34">
                    <c:v/>
                  </c:pt>
                  <c:pt idx="35">
                    <c:v/>
                  </c:pt>
                  <c:pt idx="36">
                    <c:v>2025.09</c:v>
                  </c:pt>
                  <c:pt idx="37">
                    <c:v/>
                  </c:pt>
                  <c:pt idx="38">
                    <c:v/>
                  </c:pt>
                  <c:pt idx="39">
                    <c:v/>
                  </c:pt>
                  <c:pt idx="40">
                    <c:v/>
                  </c:pt>
                  <c:pt idx="41">
                    <c:v/>
                  </c:pt>
                  <c:pt idx="42">
                    <c:v/>
                  </c:pt>
                  <c:pt idx="43">
                    <c:v/>
                  </c:pt>
                  <c:pt idx="44">
                    <c:v/>
                  </c:pt>
                  <c:pt idx="45">
                    <c:v/>
                  </c:pt>
                  <c:pt idx="46">
                    <c:v/>
                  </c:pt>
                  <c:pt idx="47">
                    <c:v>2026.08</c:v>
                  </c:pt>
                </c:lvl>
              </c:multiLvlStrCache>
            </c:multiLvlStrRef>
          </c:cat>
          <c:val>
            <c:numRef>
              <c:f>Sheet1!$B$2:$B$49</c:f>
              <c:numCache>
                <c:formatCode>General</c:formatCode>
                <c:ptCount val="48"/>
                <c:pt idx="0">
                  <c:v>1</c:v>
                </c:pt>
                <c:pt idx="1">
                  <c:v>1</c:v>
                </c:pt>
                <c:pt idx="2">
                  <c:v>1</c:v>
                </c:pt>
                <c:pt idx="3">
                  <c:v>1</c:v>
                </c:pt>
                <c:pt idx="4">
                  <c:v>1</c:v>
                </c:pt>
                <c:pt idx="5">
                  <c:v>1</c:v>
                </c:pt>
                <c:pt idx="6">
                  <c:v>1</c:v>
                </c:pt>
                <c:pt idx="7">
                  <c:v>1</c:v>
                </c:pt>
                <c:pt idx="8">
                  <c:v>1</c:v>
                </c:pt>
                <c:pt idx="9">
                  <c:v>1</c:v>
                </c:pt>
                <c:pt idx="10">
                  <c:v>1</c:v>
                </c:pt>
                <c:pt idx="11">
                  <c:v>1</c:v>
                </c:pt>
                <c:pt idx="12">
                  <c:v>2</c:v>
                </c:pt>
                <c:pt idx="13">
                  <c:v>4</c:v>
                </c:pt>
                <c:pt idx="14">
                  <c:v>8</c:v>
                </c:pt>
                <c:pt idx="15">
                  <c:v>8</c:v>
                </c:pt>
                <c:pt idx="16">
                  <c:v>9</c:v>
                </c:pt>
                <c:pt idx="17">
                  <c:v>9</c:v>
                </c:pt>
                <c:pt idx="18">
                  <c:v>12</c:v>
                </c:pt>
                <c:pt idx="19">
                  <c:v>17</c:v>
                </c:pt>
                <c:pt idx="20">
                  <c:v>19</c:v>
                </c:pt>
                <c:pt idx="21">
                  <c:v>21</c:v>
                </c:pt>
                <c:pt idx="22">
                  <c:v>22</c:v>
                </c:pt>
                <c:pt idx="23">
                  <c:v>23</c:v>
                </c:pt>
                <c:pt idx="24">
                  <c:v>23</c:v>
                </c:pt>
                <c:pt idx="25">
                  <c:v>25</c:v>
                </c:pt>
                <c:pt idx="26">
                  <c:v>28</c:v>
                </c:pt>
                <c:pt idx="27">
                  <c:v>31</c:v>
                </c:pt>
                <c:pt idx="28">
                  <c:v>32</c:v>
                </c:pt>
                <c:pt idx="29">
                  <c:v>34</c:v>
                </c:pt>
                <c:pt idx="30">
                  <c:v>39</c:v>
                </c:pt>
                <c:pt idx="31">
                  <c:v>42</c:v>
                </c:pt>
                <c:pt idx="32">
                  <c:v>44</c:v>
                </c:pt>
                <c:pt idx="33">
                  <c:v>44</c:v>
                </c:pt>
                <c:pt idx="34">
                  <c:v>46</c:v>
                </c:pt>
                <c:pt idx="35">
                  <c:v>47</c:v>
                </c:pt>
                <c:pt idx="36">
                  <c:v>48</c:v>
                </c:pt>
                <c:pt idx="37">
                  <c:v>48</c:v>
                </c:pt>
                <c:pt idx="38">
                  <c:v>50</c:v>
                </c:pt>
                <c:pt idx="39">
                  <c:v>50</c:v>
                </c:pt>
                <c:pt idx="40">
                  <c:v>51</c:v>
                </c:pt>
                <c:pt idx="41">
                  <c:v>53</c:v>
                </c:pt>
                <c:pt idx="42">
                  <c:v>57</c:v>
                </c:pt>
                <c:pt idx="43">
                  <c:v>58</c:v>
                </c:pt>
                <c:pt idx="44">
                  <c:v>60</c:v>
                </c:pt>
                <c:pt idx="45">
                  <c:v>62</c:v>
                </c:pt>
                <c:pt idx="46">
                  <c:v>64</c:v>
                </c:pt>
                <c:pt idx="47">
                  <c:v>65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E9DEC4"/>
            </a:solidFill>
            <a:prstDash val="solid"/>
            <a:round/>
          </a:ln>
        </c:spPr>
        <c:txPr>
          <a:bodyPr/>
          <a:lstStyle/>
          <a:p>
            <a:pPr>
              <a:defRPr sz="1000" b="0" i="0" u="none" strike="noStrike">
                <a:solidFill>
                  <a:srgbClr val="6E6A61"/>
                </a:solidFill>
                <a:latin typeface="Arial"/>
              </a:defRPr>
            </a:pPr>
            <a:endParaRPr lang="en-US"/>
          </a:p>
        </c:txPr>
        <c:crossAx val="2094734552"/>
        <c:crosses val="autoZero"/>
        <c:auto val="1"/>
        <c:lblAlgn val="ctr"/>
        <c:noMultiLvlLbl val="1"/>
        <c:tickLblSkip val="1"/>
      </c:catAx>
      <c:valAx>
        <c:axId val="2094734552"/>
        <c:scaling>
          <c:orientation val="minMax"/>
          <c:max val="80"/>
          <c:min val="0"/>
        </c:scaling>
        <c:delete val="0"/>
        <c:axPos val="l"/>
        <c:majorGridlines>
          <c:spPr>
            <a:ln w="9525" cap="flat">
              <a:solidFill>
                <a:srgbClr val="E6DFC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9A948A"/>
                </a:solidFill>
                <a:latin typeface="Arial"/>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月間利用者数（人・左軸）</c:v>
                </c:pt>
              </c:strCache>
            </c:strRef>
          </c:tx>
          <c:spPr>
            <a:solidFill>
              <a:srgbClr val="2E7D32"/>
            </a:solidFill>
            <a:effectLst/>
          </c:spPr>
          <c:invertIfNegative val="0"/>
          <c:dLbls>
            <c:numFmt formatCode="#,##0" sourceLinked="0"/>
            <c:txPr>
              <a:bodyPr/>
              <a:lstStyle/>
              <a:p>
                <a:pPr>
                  <a:defRPr b="0" i="0" strike="noStrike" sz="900" u="none">
                    <a:solidFill>
                      <a:srgbClr val="1B5E20"/>
                    </a:solidFill>
                    <a:latin typeface="Arial"/>
                  </a:defRPr>
                </a:pPr>
              </a:p>
            </c:txPr>
            <c:dLblPos val="outEnd"/>
            <c:showLegendKey val="0"/>
            <c:showVal val="1"/>
            <c:showCatName val="0"/>
            <c:showSerName val="0"/>
            <c:showPercent val="0"/>
            <c:showBubbleSize val="0"/>
            <c:showLeaderLines val="0"/>
          </c:dLbls>
          <c:cat>
            <c:multiLvlStrRef>
              <c:f>Sheet1!$A$2:$A$9</c:f>
              <c:multiLvlStrCache>
                <c:ptCount val="8"/>
                <c:lvl>
                  <c:pt idx="0">
                    <c:v>2023.01</c:v>
                  </c:pt>
                  <c:pt idx="1">
                    <c:v>2023.07</c:v>
                  </c:pt>
                  <c:pt idx="2">
                    <c:v>2024.01</c:v>
                  </c:pt>
                  <c:pt idx="3">
                    <c:v>2024.07</c:v>
                  </c:pt>
                  <c:pt idx="4">
                    <c:v>2025.01</c:v>
                  </c:pt>
                  <c:pt idx="5">
                    <c:v>2025.07</c:v>
                  </c:pt>
                  <c:pt idx="6">
                    <c:v>2026.01</c:v>
                  </c:pt>
                  <c:pt idx="7">
                    <c:v>2026.07</c:v>
                  </c:pt>
                </c:lvl>
              </c:multiLvlStrCache>
            </c:multiLvlStrRef>
          </c:cat>
          <c:val>
            <c:numRef>
              <c:f>Sheet1!$B$2:$B$9</c:f>
              <c:numCache>
                <c:formatCode>General</c:formatCode>
                <c:ptCount val="8"/>
                <c:pt idx="0">
                  <c:v>895</c:v>
                </c:pt>
                <c:pt idx="1">
                  <c:v>1419</c:v>
                </c:pt>
                <c:pt idx="2">
                  <c:v>9722</c:v>
                </c:pt>
                <c:pt idx="3">
                  <c:v>26383</c:v>
                </c:pt>
                <c:pt idx="4">
                  <c:v>46017</c:v>
                </c:pt>
                <c:pt idx="5">
                  <c:v>74260</c:v>
                </c:pt>
                <c:pt idx="6">
                  <c:v>80293</c:v>
                </c:pt>
                <c:pt idx="7">
                  <c:v>101343</c:v>
                </c:pt>
              </c:numCache>
            </c:numRef>
          </c:val>
        </c:ser>
        <c:dLbls>
          <c:numFmt formatCode="#,##0" sourceLinked="0"/>
          <c:txPr>
            <a:bodyPr/>
            <a:lstStyle/>
            <a:p>
              <a:pPr>
                <a:defRPr b="0" i="0" strike="noStrike" sz="900" u="none">
                  <a:solidFill>
                    <a:srgbClr val="1B5E20"/>
                  </a:solidFill>
                  <a:latin typeface="Arial"/>
                </a:defRPr>
              </a:pPr>
            </a:p>
          </c:txPr>
          <c:dLblPos val="outEnd"/>
          <c:showLegendKey val="0"/>
          <c:showVal val="1"/>
          <c:showCatName val="0"/>
          <c:showSerName val="0"/>
          <c:showPercent val="0"/>
          <c:showBubbleSize val="0"/>
          <c:showLeaderLines val="0"/>
        </c:dLbls>
        <c:gapWidth val="52"/>
        <c:overlap val="0"/>
        <c:axId val="2094734554"/>
        <c:axId val="2094734552"/>
        <c:axId val="2094734556"/>
      </c:barChart>
      <c:lineChart>
        <c:varyColors val="0"/>
        <c:ser>
          <c:idx val="1"/>
          <c:order val="1"/>
          <c:tx>
            <c:strRef>
              <c:f>Sheet1!$C$1</c:f>
              <c:strCache>
                <c:ptCount val="1"/>
                <c:pt idx="0">
                  <c:v>累計店舗数（店・右軸）</c:v>
                </c:pt>
              </c:strCache>
            </c:strRef>
          </c:tx>
          <c:spPr>
            <a:solidFill>
              <a:srgbClr val="B8893B"/>
            </a:solidFill>
            <a:ln w="31750" cap="flat">
              <a:solidFill>
                <a:srgbClr val="B889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B8893B"/>
              </a:solidFill>
              <a:ln w="1.25" cap="flat">
                <a:solidFill>
                  <a:srgbClr val="B8893B"/>
                </a:solidFill>
                <a:prstDash val="solid"/>
                <a:round/>
              </a:ln>
              <a:effectLst/>
            </c:spPr>
          </c:marker>
          <c:cat>
            <c:multiLvlStrRef>
              <c:f>Sheet1!$A$2:$A$9</c:f>
              <c:multiLvlStrCache>
                <c:ptCount val="8"/>
                <c:lvl>
                  <c:pt idx="0">
                    <c:v>2023.01</c:v>
                  </c:pt>
                  <c:pt idx="1">
                    <c:v>2023.07</c:v>
                  </c:pt>
                  <c:pt idx="2">
                    <c:v>2024.01</c:v>
                  </c:pt>
                  <c:pt idx="3">
                    <c:v>2024.07</c:v>
                  </c:pt>
                  <c:pt idx="4">
                    <c:v>2025.01</c:v>
                  </c:pt>
                  <c:pt idx="5">
                    <c:v>2025.07</c:v>
                  </c:pt>
                  <c:pt idx="6">
                    <c:v>2026.01</c:v>
                  </c:pt>
                  <c:pt idx="7">
                    <c:v>2026.07</c:v>
                  </c:pt>
                </c:lvl>
              </c:multiLvlStrCache>
            </c:multiLvlStrRef>
          </c:cat>
          <c:val>
            <c:numRef>
              <c:f>Sheet1!$C$2:$C$9</c:f>
              <c:numCache>
                <c:formatCode>General</c:formatCode>
                <c:ptCount val="8"/>
                <c:pt idx="0">
                  <c:v>1</c:v>
                </c:pt>
                <c:pt idx="1">
                  <c:v>1</c:v>
                </c:pt>
                <c:pt idx="2">
                  <c:v>9</c:v>
                </c:pt>
                <c:pt idx="3">
                  <c:v>22</c:v>
                </c:pt>
                <c:pt idx="4">
                  <c:v>32</c:v>
                </c:pt>
                <c:pt idx="5">
                  <c:v>46</c:v>
                </c:pt>
                <c:pt idx="6">
                  <c:v>51</c:v>
                </c:pt>
                <c:pt idx="7">
                  <c:v>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E9DEC4"/>
            </a:solidFill>
            <a:prstDash val="solid"/>
            <a:round/>
          </a:ln>
        </c:spPr>
        <c:txPr>
          <a:bodyPr/>
          <a:lstStyle/>
          <a:p>
            <a:pPr>
              <a:defRPr sz="1000" b="0" i="0" u="none" strike="noStrike">
                <a:solidFill>
                  <a:srgbClr val="6E6A61"/>
                </a:solidFill>
                <a:latin typeface="Arial"/>
              </a:defRPr>
            </a:pPr>
            <a:endParaRPr lang="en-US"/>
          </a:p>
        </c:txPr>
        <c:crossAx val="2094734552"/>
        <c:crosses val="autoZero"/>
        <c:auto val="1"/>
        <c:lblAlgn val="ctr"/>
        <c:noMultiLvlLbl val="1"/>
      </c:catAx>
      <c:valAx>
        <c:axId val="2094734552"/>
        <c:scaling>
          <c:orientation val="minMax"/>
          <c:max val="150000"/>
          <c:min val="0"/>
        </c:scaling>
        <c:delete val="0"/>
        <c:axPos val="l"/>
        <c:majorGridlines>
          <c:spPr>
            <a:ln w="9525" cap="flat">
              <a:solidFill>
                <a:srgbClr val="E6DF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9A948A"/>
                </a:solidFill>
                <a:latin typeface="Arial"/>
              </a:defRPr>
            </a:pPr>
            <a:endParaRPr lang="en-US"/>
          </a:p>
        </c:txPr>
        <c:crossAx val="2094734554"/>
        <c:crosses val="autoZero"/>
        <c:crossBetween val="between"/>
        <c:majorUnit val="50000"/>
      </c:valAx>
      <c:valAx>
        <c:axId val="2094734553"/>
        <c:scaling>
          <c:orientation val="minMax"/>
          <c:max val="70"/>
          <c:min val="0"/>
        </c:scaling>
        <c:delete val="0"/>
        <c:axPos val="r"/>
        <c:numFmt formatCode="General" sourceLinked="0"/>
        <c:majorTickMark val="out"/>
        <c:minorTickMark val="none"/>
        <c:tickLblPos val="nextTo"/>
        <c:spPr>
          <a:ln w="12700" cap="flat">
            <a:noFill/>
            <a:prstDash val="solid"/>
            <a:round/>
          </a:ln>
        </c:spPr>
        <c:txPr>
          <a:bodyPr/>
          <a:lstStyle/>
          <a:p>
            <a:pPr>
              <a:defRPr sz="1000" b="0" i="0" u="none" strike="noStrike">
                <a:solidFill>
                  <a:srgbClr val="9A948A"/>
                </a:solidFill>
                <a:latin typeface="Arial"/>
              </a:defRPr>
            </a:pPr>
            <a:endParaRPr lang="en-US"/>
          </a:p>
        </c:txPr>
        <c:crossAx val="2094734555"/>
        <c:crosses val="max"/>
        <c:crossBetween val="between"/>
        <c:majorUnit val="20"/>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3"/>
        <c:crosses val="autoZero"/>
        <c:auto val="1"/>
        <c:lblAlgn val="ctr"/>
        <c:noMultiLvlLbl val="1"/>
      </c:catAx>
      <c:spPr>
        <a:noFill/>
        <a:ln>
          <a:noFill/>
        </a:ln>
        <a:effectLst/>
      </c:spPr>
    </c:plotArea>
    <c:legend>
      <c:legendPos val="t"/>
      <c:overlay val="0"/>
      <c:txPr>
        <a:bodyPr/>
        <a:lstStyle/>
        <a:p>
          <a:pPr>
            <a:defRPr sz="1000">
              <a:solidFill>
                <a:srgbClr val="6E6A61"/>
              </a:solidFill>
              <a:latin typeface="Noto Sans JP"/>
              <a:cs typeface="Noto Sans JP"/>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業務委託型とは</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2</a:t>
            </a:r>
            <a:endParaRPr lang="en-US" sz="1300" dirty="0"/>
          </a:p>
        </p:txBody>
      </p:sp>
      <p:sp>
        <p:nvSpPr>
          <p:cNvPr id="6" name="Text 3"/>
          <p:cNvSpPr/>
          <p:nvPr/>
        </p:nvSpPr>
        <p:spPr>
          <a:xfrm>
            <a:off x="666598" y="1243584"/>
            <a:ext cx="10858500" cy="256032"/>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通常のFC加盟とは異なり、貴社は場所を提供いただくだけ／運営主体は本部</a:t>
            </a:r>
            <a:endParaRPr lang="en-US" sz="1150" dirty="0"/>
          </a:p>
        </p:txBody>
      </p:sp>
      <p:sp>
        <p:nvSpPr>
          <p:cNvPr id="7" name="Shape 4"/>
          <p:cNvSpPr/>
          <p:nvPr/>
        </p:nvSpPr>
        <p:spPr>
          <a:xfrm>
            <a:off x="6911950" y="1554480"/>
            <a:ext cx="4626864" cy="4709160"/>
          </a:xfrm>
          <a:prstGeom prst="roundRect">
            <a:avLst>
              <a:gd name="adj" fmla="val 1383"/>
            </a:avLst>
          </a:prstGeom>
          <a:solidFill>
            <a:srgbClr val="F0F5EF"/>
          </a:solidFill>
          <a:ln/>
        </p:spPr>
      </p:sp>
      <p:sp>
        <p:nvSpPr>
          <p:cNvPr id="8" name="Text 5"/>
          <p:cNvSpPr/>
          <p:nvPr/>
        </p:nvSpPr>
        <p:spPr>
          <a:xfrm>
            <a:off x="7076542" y="1554480"/>
            <a:ext cx="4297680" cy="256032"/>
          </a:xfrm>
          <a:prstGeom prst="rect">
            <a:avLst/>
          </a:prstGeom>
          <a:noFill/>
          <a:ln/>
        </p:spPr>
        <p:txBody>
          <a:bodyPr wrap="square" lIns="0" tIns="0" rIns="0" bIns="0" rtlCol="0" anchor="ctr"/>
          <a:lstStyle/>
          <a:p>
            <a:pPr indent="0" marL="0">
              <a:buNone/>
            </a:pPr>
            <a:r>
              <a:rPr lang="en-US" sz="1050" b="1" dirty="0">
                <a:solidFill>
                  <a:srgbClr val="2E7D32"/>
                </a:solidFill>
                <a:latin typeface="Noto Sans JP" pitchFamily="34" charset="0"/>
                <a:ea typeface="Noto Sans JP" pitchFamily="34" charset="-122"/>
                <a:cs typeface="Noto Sans JP" pitchFamily="34" charset="-120"/>
              </a:rPr>
              <a:t>▼ 貴社にご提案するのはこちら</a:t>
            </a:r>
            <a:endParaRPr lang="en-US" sz="10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666598" y="1828800"/>
          <a:ext cx="10858500" cy="914400"/>
        </p:xfrm>
        <a:graphic>
          <a:graphicData uri="http://schemas.openxmlformats.org/drawingml/2006/table">
            <a:tbl>
              <a:tblPr/>
              <a:tblGrid>
                <a:gridCol w="2103120"/>
                <a:gridCol w="4160520"/>
                <a:gridCol w="4590288"/>
              </a:tblGrid>
              <a:tr h="457200">
                <a:tc>
                  <a:txBody>
                    <a:bodyPr/>
                    <a:lstStyle/>
                    <a:p>
                      <a:pPr algn="l" indent="0" marL="0">
                        <a:buNone/>
                      </a:pPr>
                      <a:r>
                        <a:rPr lang="en-US" sz="1200" b="1" dirty="0">
                          <a:solidFill>
                            <a:srgbClr val="5D4037"/>
                          </a:solidFill>
                          <a:latin typeface="Noto Sans JP" pitchFamily="34" charset="0"/>
                          <a:ea typeface="Noto Sans JP" pitchFamily="34" charset="-122"/>
                          <a:cs typeface="Noto Sans JP" pitchFamily="34" charset="-120"/>
                        </a:rPr>
                        <a:t>項目</a:t>
                      </a:r>
                      <a:endParaRPr lang="en-US" sz="120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E9DEC4"/>
                    </a:solidFill>
                  </a:tcPr>
                </a:tc>
                <a:tc>
                  <a:txBody>
                    <a:bodyPr/>
                    <a:lstStyle/>
                    <a:p>
                      <a:pPr algn="l" indent="0" marL="0">
                        <a:buNone/>
                      </a:pPr>
                      <a:r>
                        <a:rPr lang="en-US" sz="1200" b="1" dirty="0">
                          <a:solidFill>
                            <a:srgbClr val="FFFFFF"/>
                          </a:solidFill>
                          <a:latin typeface="Noto Sans JP" pitchFamily="34" charset="0"/>
                          <a:ea typeface="Noto Sans JP" pitchFamily="34" charset="-122"/>
                          <a:cs typeface="Noto Sans JP" pitchFamily="34" charset="-120"/>
                        </a:rPr>
                        <a:t>通常のFC加盟</a:t>
                      </a:r>
                      <a:endParaRPr lang="en-US" sz="120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8A8272"/>
                    </a:solidFill>
                  </a:tcPr>
                </a:tc>
                <a:tc>
                  <a:txBody>
                    <a:bodyPr/>
                    <a:lstStyle/>
                    <a:p>
                      <a:pPr algn="l" indent="0" marL="0">
                        <a:buNone/>
                      </a:pPr>
                      <a:r>
                        <a:rPr lang="en-US" sz="1200" b="1" dirty="0">
                          <a:solidFill>
                            <a:srgbClr val="FFFFFF"/>
                          </a:solidFill>
                          <a:latin typeface="Noto Sans JP" pitchFamily="34" charset="0"/>
                          <a:ea typeface="Noto Sans JP" pitchFamily="34" charset="-122"/>
                          <a:cs typeface="Noto Sans JP" pitchFamily="34" charset="-120"/>
                        </a:rPr>
                        <a:t>業務委託型</a:t>
                      </a:r>
                      <a:endParaRPr lang="en-US" sz="120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1B5E20"/>
                    </a:solidFill>
                  </a:tcPr>
                </a:tc>
              </a:tr>
              <a:tr h="548640">
                <a:tc>
                  <a:txBody>
                    <a:bodyP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運営主体</a:t>
                      </a:r>
                      <a:endParaRPr lang="en-US" sz="115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6F2E6"/>
                    </a:solidFill>
                  </a:tcPr>
                </a:tc>
                <a:tc>
                  <a:txBody>
                    <a:bodyPr/>
                    <a:lstStyle/>
                    <a:p>
                      <a:pPr indent="0" marL="0">
                        <a:buNone/>
                      </a:pPr>
                      <a:r>
                        <a:rPr lang="en-US" sz="1050" dirty="0">
                          <a:solidFill>
                            <a:srgbClr val="6E6A61"/>
                          </a:solidFill>
                          <a:latin typeface="Noto Sans JP" pitchFamily="34" charset="0"/>
                          <a:ea typeface="Noto Sans JP" pitchFamily="34" charset="-122"/>
                          <a:cs typeface="Noto Sans JP" pitchFamily="34" charset="-120"/>
                        </a:rPr>
                        <a:t>加盟者様が独立オーナーとして運営</a:t>
                      </a:r>
                      <a:endParaRPr lang="en-US" sz="105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c>
                  <a:txBody>
                    <a:bodyPr/>
                    <a:lstStyle/>
                    <a:p>
                      <a:pPr indent="0" marL="0">
                        <a:buNone/>
                      </a:pPr>
                      <a:r>
                        <a:rPr lang="en-US" sz="1100" b="1" dirty="0">
                          <a:solidFill>
                            <a:srgbClr val="1B5E20"/>
                          </a:solidFill>
                          <a:latin typeface="Noto Sans JP" pitchFamily="34" charset="0"/>
                          <a:ea typeface="Noto Sans JP" pitchFamily="34" charset="-122"/>
                          <a:cs typeface="Noto Sans JP" pitchFamily="34" charset="-120"/>
                        </a:rPr>
                        <a:t>本部が運営を主導、貴社は場所提供のみ</a:t>
                      </a:r>
                      <a:endParaRPr lang="en-US" sz="11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2F7F2"/>
                    </a:solidFill>
                  </a:tcPr>
                </a:tc>
              </a:tr>
              <a:tr h="786384">
                <a:tc>
                  <a:txBody>
                    <a:bodyP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初期費用</a:t>
                      </a:r>
                      <a:endParaRPr lang="en-US" sz="115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6F2E6"/>
                    </a:solidFill>
                  </a:tcPr>
                </a:tc>
                <a:tc>
                  <a:txBody>
                    <a:bodyPr/>
                    <a:lstStyle/>
                    <a:p>
                      <a:pPr indent="0" marL="0">
                        <a:buNone/>
                      </a:pPr>
                      <a:r>
                        <a:rPr lang="en-US" sz="1050" dirty="0">
                          <a:solidFill>
                            <a:srgbClr val="6E6A61"/>
                          </a:solidFill>
                          <a:latin typeface="Noto Sans JP" pitchFamily="34" charset="0"/>
                          <a:ea typeface="Noto Sans JP" pitchFamily="34" charset="-122"/>
                          <a:cs typeface="Noto Sans JP" pitchFamily="34" charset="-120"/>
                        </a:rPr>
                        <a:t>加盟金100万円＋工事費用等</a:t>
                      </a:r>
                      <a:endParaRPr lang="en-US" sz="1050" dirty="0">
                        <a:latin typeface="Noto Sans JP" charset="0"/>
                        <a:ea typeface="Noto Sans JP" charset="0"/>
                        <a:cs typeface="Noto Sans JP" charset="0"/>
                      </a:endParaRPr>
                    </a:p>
                    <a:p>
                      <a:pPr indent="0" marL="0">
                        <a:buNone/>
                      </a:pPr>
                      <a:r>
                        <a:rPr lang="en-US" sz="1050" dirty="0">
                          <a:solidFill>
                            <a:srgbClr val="6E6A61"/>
                          </a:solidFill>
                          <a:latin typeface="Noto Sans JP" pitchFamily="34" charset="0"/>
                          <a:ea typeface="Noto Sans JP" pitchFamily="34" charset="-122"/>
                          <a:cs typeface="Noto Sans JP" pitchFamily="34" charset="-120"/>
                        </a:rPr>
                        <a:t>（開業資金目安：居抜き700万円〜／スケルトン工事1,000万円〜）</a:t>
                      </a:r>
                      <a:endParaRPr lang="en-US" sz="105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c>
                  <a:txBody>
                    <a:bodyPr/>
                    <a:lstStyle/>
                    <a:p>
                      <a:pPr indent="0" marL="0">
                        <a:buNone/>
                      </a:pPr>
                      <a:r>
                        <a:rPr lang="en-US" sz="1100" b="1" dirty="0">
                          <a:solidFill>
                            <a:srgbClr val="1B5E20"/>
                          </a:solidFill>
                          <a:latin typeface="Noto Sans JP" pitchFamily="34" charset="0"/>
                          <a:ea typeface="Noto Sans JP" pitchFamily="34" charset="-122"/>
                          <a:cs typeface="Noto Sans JP" pitchFamily="34" charset="-120"/>
                        </a:rPr>
                        <a:t>30万〜50万円程度（機器設置費のみ）</a:t>
                      </a:r>
                      <a:endParaRPr lang="en-US" sz="11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2F7F2"/>
                    </a:solidFill>
                  </a:tcPr>
                </a:tc>
              </a:tr>
              <a:tr h="530352">
                <a:tc>
                  <a:txBody>
                    <a:bodyP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出店スペース</a:t>
                      </a:r>
                      <a:endParaRPr lang="en-US" sz="115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6F2E6"/>
                    </a:solidFill>
                  </a:tcPr>
                </a:tc>
                <a:tc>
                  <a:txBody>
                    <a:bodyPr/>
                    <a:lstStyle/>
                    <a:p>
                      <a:pPr indent="0" marL="0">
                        <a:buNone/>
                      </a:pPr>
                      <a:r>
                        <a:rPr lang="en-US" sz="1050" dirty="0">
                          <a:solidFill>
                            <a:srgbClr val="6E6A61"/>
                          </a:solidFill>
                          <a:latin typeface="Noto Sans JP" pitchFamily="34" charset="0"/>
                          <a:ea typeface="Noto Sans JP" pitchFamily="34" charset="-122"/>
                          <a:cs typeface="Noto Sans JP" pitchFamily="34" charset="-120"/>
                        </a:rPr>
                        <a:t>独立した店舗区画（25坪〜）が必要</a:t>
                      </a:r>
                      <a:endParaRPr lang="en-US" sz="105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c>
                  <a:txBody>
                    <a:bodyPr/>
                    <a:lstStyle/>
                    <a:p>
                      <a:pPr indent="0" marL="0">
                        <a:buNone/>
                      </a:pPr>
                      <a:r>
                        <a:rPr lang="en-US" sz="1100" b="1" dirty="0">
                          <a:solidFill>
                            <a:srgbClr val="1B5E20"/>
                          </a:solidFill>
                          <a:latin typeface="Noto Sans JP" pitchFamily="34" charset="0"/>
                          <a:ea typeface="Noto Sans JP" pitchFamily="34" charset="-122"/>
                          <a:cs typeface="Noto Sans JP" pitchFamily="34" charset="-120"/>
                        </a:rPr>
                        <a:t>既存スペースの一角に間借り設置可能</a:t>
                      </a:r>
                      <a:endParaRPr lang="en-US" sz="11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2F7F2"/>
                    </a:solidFill>
                  </a:tcPr>
                </a:tc>
              </a:tr>
              <a:tr h="658368">
                <a:tc>
                  <a:txBody>
                    <a:bodyP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日常業務</a:t>
                      </a:r>
                      <a:endParaRPr lang="en-US" sz="115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6F2E6"/>
                    </a:solidFill>
                  </a:tcPr>
                </a:tc>
                <a:tc>
                  <a:txBody>
                    <a:bodyPr/>
                    <a:lstStyle/>
                    <a:p>
                      <a:pPr indent="0" marL="0">
                        <a:buNone/>
                      </a:pPr>
                      <a:r>
                        <a:rPr lang="en-US" sz="1050" dirty="0">
                          <a:solidFill>
                            <a:srgbClr val="6E6A61"/>
                          </a:solidFill>
                          <a:latin typeface="Noto Sans JP" pitchFamily="34" charset="0"/>
                          <a:ea typeface="Noto Sans JP" pitchFamily="34" charset="-122"/>
                          <a:cs typeface="Noto Sans JP" pitchFamily="34" charset="-120"/>
                        </a:rPr>
                        <a:t>加盟者様が運営全般を担当</a:t>
                      </a:r>
                      <a:endParaRPr lang="en-US" sz="105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c>
                  <a:txBody>
                    <a:bodyPr/>
                    <a:lstStyle/>
                    <a:p>
                      <a:pPr indent="0" marL="0">
                        <a:buNone/>
                      </a:pPr>
                      <a:r>
                        <a:rPr lang="en-US" sz="1100" b="1" dirty="0">
                          <a:solidFill>
                            <a:srgbClr val="1B5E20"/>
                          </a:solidFill>
                          <a:latin typeface="Noto Sans JP" pitchFamily="34" charset="0"/>
                          <a:ea typeface="Noto Sans JP" pitchFamily="34" charset="-122"/>
                          <a:cs typeface="Noto Sans JP" pitchFamily="34" charset="-120"/>
                        </a:rPr>
                        <a:t>清掃・補充のみ、1日15分程度</a:t>
                      </a:r>
                      <a:endParaRPr lang="en-US" sz="1100" dirty="0">
                        <a:latin typeface="Noto Sans JP" charset="0"/>
                        <a:ea typeface="Noto Sans JP" charset="0"/>
                        <a:cs typeface="Noto Sans JP" charset="0"/>
                      </a:endParaRPr>
                    </a:p>
                    <a:p>
                      <a:pPr indent="0" marL="0">
                        <a:buNone/>
                      </a:pPr>
                      <a:r>
                        <a:rPr lang="en-US" sz="1100" b="1" dirty="0">
                          <a:solidFill>
                            <a:srgbClr val="1B5E20"/>
                          </a:solidFill>
                          <a:latin typeface="Noto Sans JP" pitchFamily="34" charset="0"/>
                          <a:ea typeface="Noto Sans JP" pitchFamily="34" charset="-122"/>
                          <a:cs typeface="Noto Sans JP" pitchFamily="34" charset="-120"/>
                        </a:rPr>
                        <a:t>（既存スタッフで対応可）</a:t>
                      </a:r>
                      <a:endParaRPr lang="en-US" sz="11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2F7F2"/>
                    </a:solidFill>
                  </a:tcPr>
                </a:tc>
              </a:tr>
              <a:tr h="749808">
                <a:tc>
                  <a:txBody>
                    <a:bodyP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売上金の流れ</a:t>
                      </a:r>
                      <a:endParaRPr lang="en-US" sz="115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6F2E6"/>
                    </a:solidFill>
                  </a:tcPr>
                </a:tc>
                <a:tc>
                  <a:txBody>
                    <a:bodyPr/>
                    <a:lstStyle/>
                    <a:p>
                      <a:pPr indent="0" marL="0">
                        <a:buNone/>
                      </a:pPr>
                      <a:r>
                        <a:rPr lang="en-US" sz="1050" dirty="0">
                          <a:solidFill>
                            <a:srgbClr val="6E6A61"/>
                          </a:solidFill>
                          <a:latin typeface="Noto Sans JP" pitchFamily="34" charset="0"/>
                          <a:ea typeface="Noto Sans JP" pitchFamily="34" charset="-122"/>
                          <a:cs typeface="Noto Sans JP" pitchFamily="34" charset="-120"/>
                        </a:rPr>
                        <a:t>本部が売上金を管理し、ロイヤリティなどの費用を控除した残額を加盟者様へ振込</a:t>
                      </a:r>
                      <a:endParaRPr lang="en-US" sz="105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c>
                  <a:txBody>
                    <a:bodyPr/>
                    <a:lstStyle/>
                    <a:p>
                      <a:pPr indent="0" marL="0">
                        <a:buNone/>
                      </a:pPr>
                      <a:r>
                        <a:rPr lang="en-US" sz="1100" b="1" dirty="0">
                          <a:solidFill>
                            <a:srgbClr val="1B5E20"/>
                          </a:solidFill>
                          <a:latin typeface="Noto Sans JP" pitchFamily="34" charset="0"/>
                          <a:ea typeface="Noto Sans JP" pitchFamily="34" charset="-122"/>
                          <a:cs typeface="Noto Sans JP" pitchFamily="34" charset="-120"/>
                        </a:rPr>
                        <a:t>本部が売上金を管理し、25%を業務委託料として貴社へお支払い</a:t>
                      </a:r>
                      <a:endParaRPr lang="en-US" sz="11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2F7F2"/>
                    </a:solidFill>
                  </a:tcPr>
                </a:tc>
              </a:tr>
              <a:tr h="704088">
                <a:tc>
                  <a:txBody>
                    <a:bodyP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契約・撤退</a:t>
                      </a:r>
                      <a:endParaRPr lang="en-US" sz="1150" dirty="0">
                        <a:latin typeface="Noto Sans JP" charset="0"/>
                        <a:ea typeface="Noto Sans JP" charset="0"/>
                        <a:cs typeface="Noto Sans JP" charset="0"/>
                      </a:endParaRPr>
                    </a:p>
                  </a:txBody>
                  <a:tcPr marL="128016" marR="128016" marT="54864" marB="54864"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6F2E6"/>
                    </a:solidFill>
                  </a:tcPr>
                </a:tc>
                <a:tc>
                  <a:txBody>
                    <a:bodyPr/>
                    <a:lstStyle/>
                    <a:p>
                      <a:pPr indent="0" marL="0">
                        <a:buNone/>
                      </a:pPr>
                      <a:r>
                        <a:rPr lang="en-US" sz="1050" dirty="0">
                          <a:solidFill>
                            <a:srgbClr val="6E6A61"/>
                          </a:solidFill>
                          <a:latin typeface="Noto Sans JP" pitchFamily="34" charset="0"/>
                          <a:ea typeface="Noto Sans JP" pitchFamily="34" charset="-122"/>
                          <a:cs typeface="Noto Sans JP" pitchFamily="34" charset="-120"/>
                        </a:rPr>
                        <a:t>独立出店が前提の長期契約</a:t>
                      </a:r>
                      <a:endParaRPr lang="en-US" sz="105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FFFFF"/>
                    </a:solidFill>
                  </a:tcPr>
                </a:tc>
                <a:tc>
                  <a:txBody>
                    <a:bodyPr/>
                    <a:lstStyle/>
                    <a:p>
                      <a:pPr indent="0" marL="0">
                        <a:buNone/>
                      </a:pPr>
                      <a:r>
                        <a:rPr lang="en-US" sz="1100" b="1" dirty="0">
                          <a:solidFill>
                            <a:srgbClr val="1B5E20"/>
                          </a:solidFill>
                          <a:latin typeface="Noto Sans JP" pitchFamily="34" charset="0"/>
                          <a:ea typeface="Noto Sans JP" pitchFamily="34" charset="-122"/>
                          <a:cs typeface="Noto Sans JP" pitchFamily="34" charset="-120"/>
                        </a:rPr>
                        <a:t>契約期間の縛りあり（最低3年〜）／本部審査あり。原状回復の負担も小さい</a:t>
                      </a:r>
                      <a:endParaRPr lang="en-US" sz="1100" dirty="0">
                        <a:latin typeface="Noto Sans JP" charset="0"/>
                        <a:ea typeface="Noto Sans JP" charset="0"/>
                        <a:cs typeface="Noto Sans JP" charset="0"/>
                      </a:endParaRPr>
                    </a:p>
                  </a:txBody>
                  <a:tcPr marL="146304" marR="146304" marT="73152" marB="73152" anchor="ctr">
                    <a:lnL w="9525" cap="flat" cmpd="sng" algn="ctr">
                      <a:solidFill>
                        <a:srgbClr val="E6DFCD"/>
                      </a:solidFill>
                      <a:prstDash val="solid"/>
                      <a:round/>
                      <a:headEnd type="none" w="med" len="med"/>
                      <a:tailEnd type="none" w="med" len="med"/>
                    </a:lnL>
                    <a:lnR w="9525" cap="flat" cmpd="sng" algn="ctr">
                      <a:solidFill>
                        <a:srgbClr val="E6DFCD"/>
                      </a:solidFill>
                      <a:prstDash val="solid"/>
                      <a:round/>
                      <a:headEnd type="none" w="med" len="med"/>
                      <a:tailEnd type="none" w="med" len="med"/>
                    </a:lnR>
                    <a:lnT w="9525" cap="flat" cmpd="sng" algn="ctr">
                      <a:solidFill>
                        <a:srgbClr val="E6DFCD"/>
                      </a:solidFill>
                      <a:prstDash val="solid"/>
                      <a:round/>
                      <a:headEnd type="none" w="med" len="med"/>
                      <a:tailEnd type="none" w="med" len="med"/>
                    </a:lnT>
                    <a:lnB w="9525" cap="flat" cmpd="sng" algn="ctr">
                      <a:solidFill>
                        <a:srgbClr val="E6DFCD"/>
                      </a:solidFill>
                      <a:prstDash val="solid"/>
                      <a:round/>
                      <a:headEnd type="none" w="med" len="med"/>
                      <a:tailEnd type="none" w="med" len="med"/>
                    </a:lnB>
                    <a:solidFill>
                      <a:srgbClr val="F2F7F2"/>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業務委託型のメリット</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3</a:t>
            </a:r>
            <a:endParaRPr lang="en-US" sz="1300" dirty="0"/>
          </a:p>
        </p:txBody>
      </p:sp>
      <p:sp>
        <p:nvSpPr>
          <p:cNvPr id="6" name="Text 3"/>
          <p:cNvSpPr/>
          <p:nvPr/>
        </p:nvSpPr>
        <p:spPr>
          <a:xfrm>
            <a:off x="666598" y="1243584"/>
            <a:ext cx="10858500" cy="256032"/>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貴社にとってのメリット／既存事業の一角を、負担をかけずに収益資産へ</a:t>
            </a:r>
            <a:endParaRPr lang="en-US" sz="1150" dirty="0"/>
          </a:p>
        </p:txBody>
      </p:sp>
      <p:sp>
        <p:nvSpPr>
          <p:cNvPr id="7" name="Shape 4"/>
          <p:cNvSpPr/>
          <p:nvPr/>
        </p:nvSpPr>
        <p:spPr>
          <a:xfrm>
            <a:off x="666598" y="1645920"/>
            <a:ext cx="5276088" cy="2212848"/>
          </a:xfrm>
          <a:prstGeom prst="roundRect">
            <a:avLst>
              <a:gd name="adj" fmla="val 2893"/>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8" name="Shape 5"/>
          <p:cNvSpPr/>
          <p:nvPr/>
        </p:nvSpPr>
        <p:spPr>
          <a:xfrm>
            <a:off x="940918" y="1901952"/>
            <a:ext cx="402336" cy="402336"/>
          </a:xfrm>
          <a:prstGeom prst="roundRect">
            <a:avLst>
              <a:gd name="adj" fmla="val 20455"/>
            </a:avLst>
          </a:prstGeom>
          <a:solidFill>
            <a:srgbClr val="1B5E20"/>
          </a:solidFill>
          <a:ln/>
        </p:spPr>
      </p:sp>
      <p:sp>
        <p:nvSpPr>
          <p:cNvPr id="9" name="Text 6"/>
          <p:cNvSpPr/>
          <p:nvPr/>
        </p:nvSpPr>
        <p:spPr>
          <a:xfrm>
            <a:off x="940918" y="1901952"/>
            <a:ext cx="402336" cy="40233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01</a:t>
            </a:r>
            <a:endParaRPr lang="en-US" sz="1350" dirty="0"/>
          </a:p>
        </p:txBody>
      </p:sp>
      <p:sp>
        <p:nvSpPr>
          <p:cNvPr id="10" name="Text 7"/>
          <p:cNvSpPr/>
          <p:nvPr/>
        </p:nvSpPr>
        <p:spPr>
          <a:xfrm>
            <a:off x="1471270" y="1901952"/>
            <a:ext cx="4197096" cy="402336"/>
          </a:xfrm>
          <a:prstGeom prst="rect">
            <a:avLst/>
          </a:prstGeom>
          <a:noFill/>
          <a:ln/>
        </p:spPr>
        <p:txBody>
          <a:bodyPr wrap="square" lIns="0" tIns="0" rIns="0" bIns="0" rtlCol="0" anchor="ctr"/>
          <a:lstStyle/>
          <a:p>
            <a:pPr indent="0" marL="0">
              <a:buNone/>
            </a:pPr>
            <a:r>
              <a:rPr lang="en-US" sz="1500" b="1" dirty="0">
                <a:solidFill>
                  <a:srgbClr val="1B5E20"/>
                </a:solidFill>
                <a:latin typeface="Noto Sans JP" pitchFamily="34" charset="0"/>
                <a:ea typeface="Noto Sans JP" pitchFamily="34" charset="-122"/>
                <a:cs typeface="Noto Sans JP" pitchFamily="34" charset="-120"/>
              </a:rPr>
              <a:t>遊休スペースが収益化</a:t>
            </a:r>
            <a:endParaRPr lang="en-US" sz="1500" dirty="0"/>
          </a:p>
        </p:txBody>
      </p:sp>
      <p:sp>
        <p:nvSpPr>
          <p:cNvPr id="11" name="Text 8"/>
          <p:cNvSpPr/>
          <p:nvPr/>
        </p:nvSpPr>
        <p:spPr>
          <a:xfrm>
            <a:off x="940918" y="2432304"/>
            <a:ext cx="4727448" cy="530352"/>
          </a:xfrm>
          <a:prstGeom prst="rect">
            <a:avLst/>
          </a:prstGeom>
          <a:noFill/>
          <a:ln/>
        </p:spPr>
        <p:txBody>
          <a:bodyPr wrap="square" lIns="0" tIns="0" rIns="0" bIns="0" rtlCol="0" anchor="t"/>
          <a:lstStyle/>
          <a:p>
            <a:pPr indent="0" marL="0">
              <a:lnSpc>
                <a:spcPct val="120000"/>
              </a:lnSpc>
              <a:buNone/>
            </a:pPr>
            <a:r>
              <a:rPr lang="en-US" sz="1100" dirty="0">
                <a:solidFill>
                  <a:srgbClr val="6E6A61"/>
                </a:solidFill>
                <a:latin typeface="Noto Sans JP" pitchFamily="34" charset="0"/>
                <a:ea typeface="Noto Sans JP" pitchFamily="34" charset="-122"/>
                <a:cs typeface="Noto Sans JP" pitchFamily="34" charset="-120"/>
              </a:rPr>
              <a:t>レジ横・待合スペースなどの</a:t>
            </a:r>
            <a:pPr indent="0" marL="0">
              <a:lnSpc>
                <a:spcPct val="120000"/>
              </a:lnSpc>
              <a:buNone/>
            </a:pPr>
            <a:r>
              <a:rPr lang="en-US" sz="1100" b="1" dirty="0">
                <a:solidFill>
                  <a:srgbClr val="1B5E20"/>
                </a:solidFill>
                <a:latin typeface="Noto Sans JP" pitchFamily="34" charset="0"/>
                <a:ea typeface="Noto Sans JP" pitchFamily="34" charset="-122"/>
                <a:cs typeface="Noto Sans JP" pitchFamily="34" charset="-120"/>
              </a:rPr>
              <a:t>デッドスペースが毎月の収益源に。</a:t>
            </a:r>
            <a:endParaRPr lang="en-US" sz="1100" dirty="0"/>
          </a:p>
        </p:txBody>
      </p:sp>
      <p:sp>
        <p:nvSpPr>
          <p:cNvPr id="12" name="Shape 9"/>
          <p:cNvSpPr/>
          <p:nvPr/>
        </p:nvSpPr>
        <p:spPr>
          <a:xfrm>
            <a:off x="940918" y="3017520"/>
            <a:ext cx="4727448" cy="10058"/>
          </a:xfrm>
          <a:prstGeom prst="rect">
            <a:avLst/>
          </a:prstGeom>
          <a:solidFill>
            <a:srgbClr val="E6DFCD"/>
          </a:solidFill>
          <a:ln/>
        </p:spPr>
      </p:sp>
      <p:sp>
        <p:nvSpPr>
          <p:cNvPr id="13" name="Text 10"/>
          <p:cNvSpPr/>
          <p:nvPr/>
        </p:nvSpPr>
        <p:spPr>
          <a:xfrm>
            <a:off x="940918" y="3127248"/>
            <a:ext cx="4727448" cy="621792"/>
          </a:xfrm>
          <a:prstGeom prst="rect">
            <a:avLst/>
          </a:prstGeom>
          <a:noFill/>
          <a:ln/>
        </p:spPr>
        <p:txBody>
          <a:bodyPr wrap="square" lIns="0" tIns="0" rIns="0" bIns="0" rtlCol="0" anchor="t"/>
          <a:lstStyle/>
          <a:p>
            <a:pPr marL="139700" indent="-139700">
              <a:spcAft>
                <a:spcPts val="500"/>
              </a:spcAft>
              <a:buSzPct val="100000"/>
              <a:buChar char="▪"/>
            </a:pPr>
            <a:r>
              <a:rPr lang="en-US" sz="1000" dirty="0">
                <a:solidFill>
                  <a:srgbClr val="3B3833"/>
                </a:solidFill>
                <a:latin typeface="Noto Sans JP" pitchFamily="34" charset="0"/>
                <a:ea typeface="Noto Sans JP" pitchFamily="34" charset="-122"/>
                <a:cs typeface="Noto Sans JP" pitchFamily="34" charset="-120"/>
              </a:rPr>
              <a:t>加盟金なし、機器設置費（30万〜50万円程度）のみで開始</a:t>
            </a:r>
            <a:endParaRPr lang="en-US" sz="1000" dirty="0"/>
          </a:p>
          <a:p>
            <a:pPr marL="139700" indent="-139700">
              <a:spcAft>
                <a:spcPts val="500"/>
              </a:spcAft>
              <a:buSzPct val="100000"/>
              <a:buChar char="▪"/>
            </a:pPr>
            <a:r>
              <a:rPr lang="en-US" sz="1000" dirty="0">
                <a:solidFill>
                  <a:srgbClr val="3B3833"/>
                </a:solidFill>
                <a:latin typeface="Noto Sans JP" pitchFamily="34" charset="0"/>
                <a:ea typeface="Noto Sans JP" pitchFamily="34" charset="-122"/>
                <a:cs typeface="Noto Sans JP" pitchFamily="34" charset="-120"/>
              </a:rPr>
              <a:t>業務委託料として売上の25%を毎月お支払い（収益イメージは次ページ参照）</a:t>
            </a:r>
            <a:endParaRPr lang="en-US" sz="1000" dirty="0"/>
          </a:p>
        </p:txBody>
      </p:sp>
      <p:sp>
        <p:nvSpPr>
          <p:cNvPr id="14" name="Shape 11"/>
          <p:cNvSpPr/>
          <p:nvPr/>
        </p:nvSpPr>
        <p:spPr>
          <a:xfrm>
            <a:off x="6239866" y="1645920"/>
            <a:ext cx="5276088" cy="2212848"/>
          </a:xfrm>
          <a:prstGeom prst="roundRect">
            <a:avLst>
              <a:gd name="adj" fmla="val 2893"/>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5" name="Shape 12"/>
          <p:cNvSpPr/>
          <p:nvPr/>
        </p:nvSpPr>
        <p:spPr>
          <a:xfrm>
            <a:off x="6514186" y="1901952"/>
            <a:ext cx="402336" cy="402336"/>
          </a:xfrm>
          <a:prstGeom prst="roundRect">
            <a:avLst>
              <a:gd name="adj" fmla="val 20455"/>
            </a:avLst>
          </a:prstGeom>
          <a:solidFill>
            <a:srgbClr val="1B5E20"/>
          </a:solidFill>
          <a:ln/>
        </p:spPr>
      </p:sp>
      <p:sp>
        <p:nvSpPr>
          <p:cNvPr id="16" name="Text 13"/>
          <p:cNvSpPr/>
          <p:nvPr/>
        </p:nvSpPr>
        <p:spPr>
          <a:xfrm>
            <a:off x="6514186" y="1901952"/>
            <a:ext cx="402336" cy="40233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02</a:t>
            </a:r>
            <a:endParaRPr lang="en-US" sz="1350" dirty="0"/>
          </a:p>
        </p:txBody>
      </p:sp>
      <p:sp>
        <p:nvSpPr>
          <p:cNvPr id="17" name="Text 14"/>
          <p:cNvSpPr/>
          <p:nvPr/>
        </p:nvSpPr>
        <p:spPr>
          <a:xfrm>
            <a:off x="7044538" y="1901952"/>
            <a:ext cx="4197096" cy="402336"/>
          </a:xfrm>
          <a:prstGeom prst="rect">
            <a:avLst/>
          </a:prstGeom>
          <a:noFill/>
          <a:ln/>
        </p:spPr>
        <p:txBody>
          <a:bodyPr wrap="square" lIns="0" tIns="0" rIns="0" bIns="0" rtlCol="0" anchor="ctr"/>
          <a:lstStyle/>
          <a:p>
            <a:pPr indent="0" marL="0">
              <a:buNone/>
            </a:pPr>
            <a:r>
              <a:rPr lang="en-US" sz="1500" b="1" dirty="0">
                <a:solidFill>
                  <a:srgbClr val="1B5E20"/>
                </a:solidFill>
                <a:latin typeface="Noto Sans JP" pitchFamily="34" charset="0"/>
                <a:ea typeface="Noto Sans JP" pitchFamily="34" charset="-122"/>
                <a:cs typeface="Noto Sans JP" pitchFamily="34" charset="-120"/>
              </a:rPr>
              <a:t>運営負担はほぼゼロ</a:t>
            </a:r>
            <a:endParaRPr lang="en-US" sz="1500" dirty="0"/>
          </a:p>
        </p:txBody>
      </p:sp>
      <p:sp>
        <p:nvSpPr>
          <p:cNvPr id="18" name="Text 15"/>
          <p:cNvSpPr/>
          <p:nvPr/>
        </p:nvSpPr>
        <p:spPr>
          <a:xfrm>
            <a:off x="6514186" y="2432304"/>
            <a:ext cx="4727448" cy="530352"/>
          </a:xfrm>
          <a:prstGeom prst="rect">
            <a:avLst/>
          </a:prstGeom>
          <a:noFill/>
          <a:ln/>
        </p:spPr>
        <p:txBody>
          <a:bodyPr wrap="square" lIns="0" tIns="0" rIns="0" bIns="0" rtlCol="0" anchor="t"/>
          <a:lstStyle/>
          <a:p>
            <a:pPr indent="0" marL="0">
              <a:lnSpc>
                <a:spcPct val="120000"/>
              </a:lnSpc>
              <a:buNone/>
            </a:pPr>
            <a:r>
              <a:rPr lang="en-US" sz="1100" dirty="0">
                <a:solidFill>
                  <a:srgbClr val="6E6A61"/>
                </a:solidFill>
                <a:latin typeface="Noto Sans JP" pitchFamily="34" charset="0"/>
                <a:ea typeface="Noto Sans JP" pitchFamily="34" charset="-122"/>
                <a:cs typeface="Noto Sans JP" pitchFamily="34" charset="-120"/>
              </a:rPr>
              <a:t>日常業務は清掃・補充のみ、</a:t>
            </a:r>
            <a:pPr indent="0" marL="0">
              <a:lnSpc>
                <a:spcPct val="120000"/>
              </a:lnSpc>
              <a:buNone/>
            </a:pPr>
            <a:r>
              <a:rPr lang="en-US" sz="1100" b="1" dirty="0">
                <a:solidFill>
                  <a:srgbClr val="1B5E20"/>
                </a:solidFill>
                <a:latin typeface="Noto Sans JP" pitchFamily="34" charset="0"/>
                <a:ea typeface="Noto Sans JP" pitchFamily="34" charset="-122"/>
                <a:cs typeface="Noto Sans JP" pitchFamily="34" charset="-120"/>
              </a:rPr>
              <a:t>1日15分程度。</a:t>
            </a:r>
            <a:endParaRPr lang="en-US" sz="1100" dirty="0"/>
          </a:p>
        </p:txBody>
      </p:sp>
      <p:sp>
        <p:nvSpPr>
          <p:cNvPr id="19" name="Shape 16"/>
          <p:cNvSpPr/>
          <p:nvPr/>
        </p:nvSpPr>
        <p:spPr>
          <a:xfrm>
            <a:off x="6514186" y="3017520"/>
            <a:ext cx="4727448" cy="10058"/>
          </a:xfrm>
          <a:prstGeom prst="rect">
            <a:avLst/>
          </a:prstGeom>
          <a:solidFill>
            <a:srgbClr val="E6DFCD"/>
          </a:solidFill>
          <a:ln/>
        </p:spPr>
      </p:sp>
      <p:sp>
        <p:nvSpPr>
          <p:cNvPr id="20" name="Text 17"/>
          <p:cNvSpPr/>
          <p:nvPr/>
        </p:nvSpPr>
        <p:spPr>
          <a:xfrm>
            <a:off x="6514186" y="3127248"/>
            <a:ext cx="4727448" cy="621792"/>
          </a:xfrm>
          <a:prstGeom prst="rect">
            <a:avLst/>
          </a:prstGeom>
          <a:noFill/>
          <a:ln/>
        </p:spPr>
        <p:txBody>
          <a:bodyPr wrap="square" lIns="0" tIns="0" rIns="0" bIns="0" rtlCol="0" anchor="t"/>
          <a:lstStyle/>
          <a:p>
            <a:pPr marL="139700" indent="-139700">
              <a:spcAft>
                <a:spcPts val="500"/>
              </a:spcAft>
              <a:buSzPct val="100000"/>
              <a:buChar char="▪"/>
            </a:pPr>
            <a:r>
              <a:rPr lang="en-US" sz="1000" dirty="0">
                <a:solidFill>
                  <a:srgbClr val="3B3833"/>
                </a:solidFill>
                <a:latin typeface="Noto Sans JP" pitchFamily="34" charset="0"/>
                <a:ea typeface="Noto Sans JP" pitchFamily="34" charset="-122"/>
                <a:cs typeface="Noto Sans JP" pitchFamily="34" charset="-120"/>
              </a:rPr>
              <a:t>既存スタッフの稼働内で対応可能、新規採用は不要</a:t>
            </a:r>
            <a:endParaRPr lang="en-US" sz="1000" dirty="0"/>
          </a:p>
          <a:p>
            <a:pPr marL="139700" indent="-139700">
              <a:spcAft>
                <a:spcPts val="500"/>
              </a:spcAft>
              <a:buSzPct val="100000"/>
              <a:buChar char="▪"/>
            </a:pPr>
            <a:r>
              <a:rPr lang="en-US" sz="1000" dirty="0">
                <a:solidFill>
                  <a:srgbClr val="3B3833"/>
                </a:solidFill>
                <a:latin typeface="Noto Sans JP" pitchFamily="34" charset="0"/>
                <a:ea typeface="Noto Sans JP" pitchFamily="34" charset="-122"/>
                <a:cs typeface="Noto Sans JP" pitchFamily="34" charset="-120"/>
              </a:rPr>
              <a:t>トラブル対応も24時間警備会社・遠隔監視で完結、現場対応はほぼ不要</a:t>
            </a:r>
            <a:endParaRPr lang="en-US" sz="1000" dirty="0"/>
          </a:p>
        </p:txBody>
      </p:sp>
      <p:sp>
        <p:nvSpPr>
          <p:cNvPr id="21" name="Shape 18"/>
          <p:cNvSpPr/>
          <p:nvPr/>
        </p:nvSpPr>
        <p:spPr>
          <a:xfrm>
            <a:off x="666598" y="4096512"/>
            <a:ext cx="5276088" cy="2212848"/>
          </a:xfrm>
          <a:prstGeom prst="roundRect">
            <a:avLst>
              <a:gd name="adj" fmla="val 2893"/>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22" name="Shape 19"/>
          <p:cNvSpPr/>
          <p:nvPr/>
        </p:nvSpPr>
        <p:spPr>
          <a:xfrm>
            <a:off x="940918" y="4352544"/>
            <a:ext cx="402336" cy="402336"/>
          </a:xfrm>
          <a:prstGeom prst="roundRect">
            <a:avLst>
              <a:gd name="adj" fmla="val 20455"/>
            </a:avLst>
          </a:prstGeom>
          <a:solidFill>
            <a:srgbClr val="1B5E20"/>
          </a:solidFill>
          <a:ln/>
        </p:spPr>
      </p:sp>
      <p:sp>
        <p:nvSpPr>
          <p:cNvPr id="23" name="Text 20"/>
          <p:cNvSpPr/>
          <p:nvPr/>
        </p:nvSpPr>
        <p:spPr>
          <a:xfrm>
            <a:off x="940918" y="4352544"/>
            <a:ext cx="402336" cy="40233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03</a:t>
            </a:r>
            <a:endParaRPr lang="en-US" sz="1350" dirty="0"/>
          </a:p>
        </p:txBody>
      </p:sp>
      <p:sp>
        <p:nvSpPr>
          <p:cNvPr id="24" name="Text 21"/>
          <p:cNvSpPr/>
          <p:nvPr/>
        </p:nvSpPr>
        <p:spPr>
          <a:xfrm>
            <a:off x="1471270" y="4352544"/>
            <a:ext cx="4197096" cy="402336"/>
          </a:xfrm>
          <a:prstGeom prst="rect">
            <a:avLst/>
          </a:prstGeom>
          <a:noFill/>
          <a:ln/>
        </p:spPr>
        <p:txBody>
          <a:bodyPr wrap="square" lIns="0" tIns="0" rIns="0" bIns="0" rtlCol="0" anchor="ctr"/>
          <a:lstStyle/>
          <a:p>
            <a:pPr indent="0" marL="0">
              <a:buNone/>
            </a:pPr>
            <a:r>
              <a:rPr lang="en-US" sz="1500" b="1" dirty="0">
                <a:solidFill>
                  <a:srgbClr val="1B5E20"/>
                </a:solidFill>
                <a:latin typeface="Noto Sans JP" pitchFamily="34" charset="0"/>
                <a:ea typeface="Noto Sans JP" pitchFamily="34" charset="-122"/>
                <a:cs typeface="Noto Sans JP" pitchFamily="34" charset="-120"/>
              </a:rPr>
              <a:t>新しい来店動機に</a:t>
            </a:r>
            <a:endParaRPr lang="en-US" sz="1500" dirty="0"/>
          </a:p>
        </p:txBody>
      </p:sp>
      <p:sp>
        <p:nvSpPr>
          <p:cNvPr id="25" name="Text 22"/>
          <p:cNvSpPr/>
          <p:nvPr/>
        </p:nvSpPr>
        <p:spPr>
          <a:xfrm>
            <a:off x="940918" y="4882896"/>
            <a:ext cx="4727448" cy="530352"/>
          </a:xfrm>
          <a:prstGeom prst="rect">
            <a:avLst/>
          </a:prstGeom>
          <a:noFill/>
          <a:ln/>
        </p:spPr>
        <p:txBody>
          <a:bodyPr wrap="square" lIns="0" tIns="0" rIns="0" bIns="0" rtlCol="0" anchor="t"/>
          <a:lstStyle/>
          <a:p>
            <a:pPr indent="0" marL="0">
              <a:lnSpc>
                <a:spcPct val="120000"/>
              </a:lnSpc>
              <a:buNone/>
            </a:pPr>
            <a:r>
              <a:rPr lang="en-US" sz="1100" dirty="0">
                <a:solidFill>
                  <a:srgbClr val="6E6A61"/>
                </a:solidFill>
                <a:latin typeface="Noto Sans JP" pitchFamily="34" charset="0"/>
                <a:ea typeface="Noto Sans JP" pitchFamily="34" charset="-122"/>
                <a:cs typeface="Noto Sans JP" pitchFamily="34" charset="-120"/>
              </a:rPr>
              <a:t>Wi-Fi・電源完備のカフェが</a:t>
            </a:r>
            <a:pPr indent="0" marL="0">
              <a:lnSpc>
                <a:spcPct val="120000"/>
              </a:lnSpc>
              <a:buNone/>
            </a:pPr>
            <a:r>
              <a:rPr lang="en-US" sz="1100" b="1" dirty="0">
                <a:solidFill>
                  <a:srgbClr val="1B5E20"/>
                </a:solidFill>
                <a:latin typeface="Noto Sans JP" pitchFamily="34" charset="0"/>
                <a:ea typeface="Noto Sans JP" pitchFamily="34" charset="-122"/>
                <a:cs typeface="Noto Sans JP" pitchFamily="34" charset="-120"/>
              </a:rPr>
              <a:t>新しい接点に。</a:t>
            </a:r>
            <a:endParaRPr lang="en-US" sz="1100" dirty="0"/>
          </a:p>
        </p:txBody>
      </p:sp>
      <p:sp>
        <p:nvSpPr>
          <p:cNvPr id="26" name="Shape 23"/>
          <p:cNvSpPr/>
          <p:nvPr/>
        </p:nvSpPr>
        <p:spPr>
          <a:xfrm>
            <a:off x="940918" y="5468112"/>
            <a:ext cx="4727448" cy="10058"/>
          </a:xfrm>
          <a:prstGeom prst="rect">
            <a:avLst/>
          </a:prstGeom>
          <a:solidFill>
            <a:srgbClr val="E6DFCD"/>
          </a:solidFill>
          <a:ln/>
        </p:spPr>
      </p:sp>
      <p:sp>
        <p:nvSpPr>
          <p:cNvPr id="27" name="Text 24"/>
          <p:cNvSpPr/>
          <p:nvPr/>
        </p:nvSpPr>
        <p:spPr>
          <a:xfrm>
            <a:off x="940918" y="5577840"/>
            <a:ext cx="4727448" cy="621792"/>
          </a:xfrm>
          <a:prstGeom prst="rect">
            <a:avLst/>
          </a:prstGeom>
          <a:noFill/>
          <a:ln/>
        </p:spPr>
        <p:txBody>
          <a:bodyPr wrap="square" lIns="0" tIns="0" rIns="0" bIns="0" rtlCol="0" anchor="t"/>
          <a:lstStyle/>
          <a:p>
            <a:pPr marL="139700" indent="-139700">
              <a:spcAft>
                <a:spcPts val="500"/>
              </a:spcAft>
              <a:buSzPct val="100000"/>
              <a:buChar char="▪"/>
            </a:pPr>
            <a:r>
              <a:rPr lang="en-US" sz="1000" dirty="0">
                <a:solidFill>
                  <a:srgbClr val="3B3833"/>
                </a:solidFill>
                <a:latin typeface="Noto Sans JP" pitchFamily="34" charset="0"/>
                <a:ea typeface="Noto Sans JP" pitchFamily="34" charset="-122"/>
                <a:cs typeface="Noto Sans JP" pitchFamily="34" charset="-120"/>
              </a:rPr>
              <a:t>Googleマップ・カフェ検索アプリで「近くのカフェ」を探す人と出会える</a:t>
            </a:r>
            <a:endParaRPr lang="en-US" sz="1000" dirty="0"/>
          </a:p>
          <a:p>
            <a:pPr marL="139700" indent="-139700">
              <a:spcAft>
                <a:spcPts val="500"/>
              </a:spcAft>
              <a:buSzPct val="100000"/>
              <a:buChar char="▪"/>
            </a:pPr>
            <a:r>
              <a:rPr lang="en-US" sz="1000" dirty="0">
                <a:solidFill>
                  <a:srgbClr val="3B3833"/>
                </a:solidFill>
                <a:latin typeface="Noto Sans JP" pitchFamily="34" charset="0"/>
                <a:ea typeface="Noto Sans JP" pitchFamily="34" charset="-122"/>
                <a:cs typeface="Noto Sans JP" pitchFamily="34" charset="-120"/>
              </a:rPr>
              <a:t>書店・美容室・整体院・病院の待合など、待ち時間が生まれる業態と特に好相性</a:t>
            </a:r>
            <a:endParaRPr lang="en-US" sz="1000" dirty="0"/>
          </a:p>
        </p:txBody>
      </p:sp>
      <p:sp>
        <p:nvSpPr>
          <p:cNvPr id="28" name="Shape 25"/>
          <p:cNvSpPr/>
          <p:nvPr/>
        </p:nvSpPr>
        <p:spPr>
          <a:xfrm>
            <a:off x="6239866" y="4096512"/>
            <a:ext cx="5276088" cy="2212848"/>
          </a:xfrm>
          <a:prstGeom prst="roundRect">
            <a:avLst>
              <a:gd name="adj" fmla="val 2893"/>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29" name="Shape 26"/>
          <p:cNvSpPr/>
          <p:nvPr/>
        </p:nvSpPr>
        <p:spPr>
          <a:xfrm>
            <a:off x="6514186" y="4352544"/>
            <a:ext cx="402336" cy="402336"/>
          </a:xfrm>
          <a:prstGeom prst="roundRect">
            <a:avLst>
              <a:gd name="adj" fmla="val 20455"/>
            </a:avLst>
          </a:prstGeom>
          <a:solidFill>
            <a:srgbClr val="1B5E20"/>
          </a:solidFill>
          <a:ln/>
        </p:spPr>
      </p:sp>
      <p:sp>
        <p:nvSpPr>
          <p:cNvPr id="30" name="Text 27"/>
          <p:cNvSpPr/>
          <p:nvPr/>
        </p:nvSpPr>
        <p:spPr>
          <a:xfrm>
            <a:off x="6514186" y="4352544"/>
            <a:ext cx="402336" cy="40233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04</a:t>
            </a:r>
            <a:endParaRPr lang="en-US" sz="1350" dirty="0"/>
          </a:p>
        </p:txBody>
      </p:sp>
      <p:sp>
        <p:nvSpPr>
          <p:cNvPr id="31" name="Text 28"/>
          <p:cNvSpPr/>
          <p:nvPr/>
        </p:nvSpPr>
        <p:spPr>
          <a:xfrm>
            <a:off x="7044538" y="4352544"/>
            <a:ext cx="4197096" cy="402336"/>
          </a:xfrm>
          <a:prstGeom prst="rect">
            <a:avLst/>
          </a:prstGeom>
          <a:noFill/>
          <a:ln/>
        </p:spPr>
        <p:txBody>
          <a:bodyPr wrap="square" lIns="0" tIns="0" rIns="0" bIns="0" rtlCol="0" anchor="ctr"/>
          <a:lstStyle/>
          <a:p>
            <a:pPr indent="0" marL="0">
              <a:buNone/>
            </a:pPr>
            <a:r>
              <a:rPr lang="en-US" sz="1500" b="1" dirty="0">
                <a:solidFill>
                  <a:srgbClr val="1B5E20"/>
                </a:solidFill>
                <a:latin typeface="Noto Sans JP" pitchFamily="34" charset="0"/>
                <a:ea typeface="Noto Sans JP" pitchFamily="34" charset="-122"/>
                <a:cs typeface="Noto Sans JP" pitchFamily="34" charset="-120"/>
              </a:rPr>
              <a:t>低リスクで導入できる</a:t>
            </a:r>
            <a:endParaRPr lang="en-US" sz="1500" dirty="0"/>
          </a:p>
        </p:txBody>
      </p:sp>
      <p:sp>
        <p:nvSpPr>
          <p:cNvPr id="32" name="Text 29"/>
          <p:cNvSpPr/>
          <p:nvPr/>
        </p:nvSpPr>
        <p:spPr>
          <a:xfrm>
            <a:off x="6514186" y="4882896"/>
            <a:ext cx="4727448" cy="530352"/>
          </a:xfrm>
          <a:prstGeom prst="rect">
            <a:avLst/>
          </a:prstGeom>
          <a:noFill/>
          <a:ln/>
        </p:spPr>
        <p:txBody>
          <a:bodyPr wrap="square" lIns="0" tIns="0" rIns="0" bIns="0" rtlCol="0" anchor="t"/>
          <a:lstStyle/>
          <a:p>
            <a:pPr indent="0" marL="0">
              <a:lnSpc>
                <a:spcPct val="120000"/>
              </a:lnSpc>
              <a:buNone/>
            </a:pPr>
            <a:r>
              <a:rPr lang="en-US" sz="1100" dirty="0">
                <a:solidFill>
                  <a:srgbClr val="6E6A61"/>
                </a:solidFill>
                <a:latin typeface="Noto Sans JP" pitchFamily="34" charset="0"/>
                <a:ea typeface="Noto Sans JP" pitchFamily="34" charset="-122"/>
                <a:cs typeface="Noto Sans JP" pitchFamily="34" charset="-120"/>
              </a:rPr>
              <a:t>通常のFC加盟（700万円〜）と比べ、</a:t>
            </a:r>
            <a:pPr indent="0" marL="0">
              <a:lnSpc>
                <a:spcPct val="120000"/>
              </a:lnSpc>
              <a:buNone/>
            </a:pPr>
            <a:r>
              <a:rPr lang="en-US" sz="1100" b="1" dirty="0">
                <a:solidFill>
                  <a:srgbClr val="1B5E20"/>
                </a:solidFill>
                <a:latin typeface="Noto Sans JP" pitchFamily="34" charset="0"/>
                <a:ea typeface="Noto Sans JP" pitchFamily="34" charset="-122"/>
                <a:cs typeface="Noto Sans JP" pitchFamily="34" charset="-120"/>
              </a:rPr>
              <a:t>意思決定のハードルが低い。</a:t>
            </a:r>
            <a:endParaRPr lang="en-US" sz="1100" dirty="0"/>
          </a:p>
        </p:txBody>
      </p:sp>
      <p:sp>
        <p:nvSpPr>
          <p:cNvPr id="33" name="Shape 30"/>
          <p:cNvSpPr/>
          <p:nvPr/>
        </p:nvSpPr>
        <p:spPr>
          <a:xfrm>
            <a:off x="6514186" y="5468112"/>
            <a:ext cx="4727448" cy="10058"/>
          </a:xfrm>
          <a:prstGeom prst="rect">
            <a:avLst/>
          </a:prstGeom>
          <a:solidFill>
            <a:srgbClr val="E6DFCD"/>
          </a:solidFill>
          <a:ln/>
        </p:spPr>
      </p:sp>
      <p:sp>
        <p:nvSpPr>
          <p:cNvPr id="34" name="Text 31"/>
          <p:cNvSpPr/>
          <p:nvPr/>
        </p:nvSpPr>
        <p:spPr>
          <a:xfrm>
            <a:off x="6514186" y="5577840"/>
            <a:ext cx="4727448" cy="621792"/>
          </a:xfrm>
          <a:prstGeom prst="rect">
            <a:avLst/>
          </a:prstGeom>
          <a:noFill/>
          <a:ln/>
        </p:spPr>
        <p:txBody>
          <a:bodyPr wrap="square" lIns="0" tIns="0" rIns="0" bIns="0" rtlCol="0" anchor="t"/>
          <a:lstStyle/>
          <a:p>
            <a:pPr marL="139700" indent="-139700">
              <a:spcAft>
                <a:spcPts val="500"/>
              </a:spcAft>
              <a:buSzPct val="100000"/>
              <a:buChar char="▪"/>
            </a:pPr>
            <a:r>
              <a:rPr lang="en-US" sz="1000" dirty="0">
                <a:solidFill>
                  <a:srgbClr val="3B3833"/>
                </a:solidFill>
                <a:latin typeface="Noto Sans JP" pitchFamily="34" charset="0"/>
                <a:ea typeface="Noto Sans JP" pitchFamily="34" charset="-122"/>
                <a:cs typeface="Noto Sans JP" pitchFamily="34" charset="-120"/>
              </a:rPr>
              <a:t>独立出店ではないため原状回復の負担も小さい</a:t>
            </a:r>
            <a:endParaRPr lang="en-US" sz="1000" dirty="0"/>
          </a:p>
          <a:p>
            <a:pPr marL="139700" indent="-139700">
              <a:spcAft>
                <a:spcPts val="500"/>
              </a:spcAft>
              <a:buSzPct val="100000"/>
              <a:buChar char="▪"/>
            </a:pPr>
            <a:r>
              <a:rPr lang="en-US" sz="1000" dirty="0">
                <a:solidFill>
                  <a:srgbClr val="3B3833"/>
                </a:solidFill>
                <a:latin typeface="Noto Sans JP" pitchFamily="34" charset="0"/>
                <a:ea typeface="Noto Sans JP" pitchFamily="34" charset="-122"/>
                <a:cs typeface="Noto Sans JP" pitchFamily="34" charset="-120"/>
              </a:rPr>
              <a:t>内装・システム導入まで本部がフルサポート、店舗運営のノウハウをそのまま活用</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会社概要</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4</a:t>
            </a:r>
            <a:endParaRPr lang="en-US" sz="1300" dirty="0"/>
          </a:p>
        </p:txBody>
      </p:sp>
      <p:sp>
        <p:nvSpPr>
          <p:cNvPr id="6" name="Shape 3"/>
          <p:cNvSpPr/>
          <p:nvPr/>
        </p:nvSpPr>
        <p:spPr>
          <a:xfrm>
            <a:off x="666598" y="1417320"/>
            <a:ext cx="4160520" cy="4846320"/>
          </a:xfrm>
          <a:prstGeom prst="roundRect">
            <a:avLst>
              <a:gd name="adj" fmla="val 1978"/>
            </a:avLst>
          </a:prstGeom>
          <a:solidFill>
            <a:srgbClr val="12401A"/>
          </a:solidFill>
          <a:ln/>
          <a:effectLst>
            <a:outerShdw sx="100000" sy="100000" kx="0" ky="0" algn="bl" rotWithShape="0" blurRad="114300" dist="17780" dir="5400000">
              <a:srgbClr val="6B6250">
                <a:alpha val="14000"/>
              </a:srgbClr>
            </a:outerShdw>
          </a:effectLst>
        </p:spPr>
      </p:sp>
      <p:pic>
        <p:nvPicPr>
          <p:cNvPr id="7" name="Image 1" descr="/home/user/suzuki-ceo/selfcafe-fc-deck/assets/logo_white.png">    </p:cNvPr>
          <p:cNvPicPr>
            <a:picLocks noChangeAspect="1"/>
          </p:cNvPicPr>
          <p:nvPr/>
        </p:nvPicPr>
        <p:blipFill>
          <a:blip r:embed="rId2"/>
          <a:stretch>
            <a:fillRect/>
          </a:stretch>
        </p:blipFill>
        <p:spPr>
          <a:xfrm>
            <a:off x="1142086" y="2651760"/>
            <a:ext cx="3209544" cy="457200"/>
          </a:xfrm>
          <a:prstGeom prst="rect">
            <a:avLst/>
          </a:prstGeom>
        </p:spPr>
      </p:pic>
      <p:sp>
        <p:nvSpPr>
          <p:cNvPr id="8" name="Text 4"/>
          <p:cNvSpPr/>
          <p:nvPr/>
        </p:nvSpPr>
        <p:spPr>
          <a:xfrm>
            <a:off x="1142086" y="3429000"/>
            <a:ext cx="3209544" cy="384048"/>
          </a:xfrm>
          <a:prstGeom prst="rect">
            <a:avLst/>
          </a:prstGeom>
          <a:noFill/>
          <a:ln/>
        </p:spPr>
        <p:txBody>
          <a:bodyPr wrap="square" lIns="0" tIns="0" rIns="0" bIns="0" rtlCol="0" anchor="ctr"/>
          <a:lstStyle/>
          <a:p>
            <a:pPr indent="0" marL="0">
              <a:buNone/>
            </a:pPr>
            <a:r>
              <a:rPr lang="en-US" sz="1900" b="1" dirty="0">
                <a:solidFill>
                  <a:srgbClr val="FFFFFF"/>
                </a:solidFill>
                <a:latin typeface="Noto Sans JP" pitchFamily="34" charset="0"/>
                <a:ea typeface="Noto Sans JP" pitchFamily="34" charset="-122"/>
                <a:cs typeface="Noto Sans JP" pitchFamily="34" charset="-120"/>
              </a:rPr>
              <a:t>セルフカフェ株式会社</a:t>
            </a:r>
            <a:endParaRPr lang="en-US" sz="1900" dirty="0"/>
          </a:p>
        </p:txBody>
      </p:sp>
      <p:sp>
        <p:nvSpPr>
          <p:cNvPr id="9" name="Text 5"/>
          <p:cNvSpPr/>
          <p:nvPr/>
        </p:nvSpPr>
        <p:spPr>
          <a:xfrm>
            <a:off x="1142086" y="3849624"/>
            <a:ext cx="3209544" cy="274320"/>
          </a:xfrm>
          <a:prstGeom prst="rect">
            <a:avLst/>
          </a:prstGeom>
          <a:noFill/>
          <a:ln/>
        </p:spPr>
        <p:txBody>
          <a:bodyPr wrap="square" lIns="0" tIns="0" rIns="0" bIns="0" rtlCol="0" anchor="ctr"/>
          <a:lstStyle/>
          <a:p>
            <a:pPr indent="0" marL="0">
              <a:buNone/>
            </a:pPr>
            <a:r>
              <a:rPr lang="en-US" sz="1150" spc="200" kern="0" dirty="0">
                <a:solidFill>
                  <a:srgbClr val="A9C6AC"/>
                </a:solidFill>
                <a:latin typeface="Arial" pitchFamily="34" charset="0"/>
                <a:ea typeface="Arial" pitchFamily="34" charset="-122"/>
                <a:cs typeface="Arial" pitchFamily="34" charset="-120"/>
              </a:rPr>
              <a:t>SELF CAFE Inc.</a:t>
            </a:r>
            <a:endParaRPr lang="en-US" sz="1150" dirty="0"/>
          </a:p>
        </p:txBody>
      </p:sp>
      <p:sp>
        <p:nvSpPr>
          <p:cNvPr id="10" name="Shape 6"/>
          <p:cNvSpPr/>
          <p:nvPr/>
        </p:nvSpPr>
        <p:spPr>
          <a:xfrm>
            <a:off x="1142086" y="4306824"/>
            <a:ext cx="1005840" cy="19202"/>
          </a:xfrm>
          <a:prstGeom prst="rect">
            <a:avLst/>
          </a:prstGeom>
          <a:solidFill>
            <a:srgbClr val="A9C6AC"/>
          </a:solidFill>
          <a:ln/>
        </p:spPr>
      </p:sp>
      <p:sp>
        <p:nvSpPr>
          <p:cNvPr id="11" name="Text 7"/>
          <p:cNvSpPr/>
          <p:nvPr/>
        </p:nvSpPr>
        <p:spPr>
          <a:xfrm>
            <a:off x="1142086" y="4544568"/>
            <a:ext cx="3209544" cy="731520"/>
          </a:xfrm>
          <a:prstGeom prst="rect">
            <a:avLst/>
          </a:prstGeom>
          <a:noFill/>
          <a:ln/>
        </p:spPr>
        <p:txBody>
          <a:bodyPr wrap="square" lIns="0" tIns="0" rIns="0" bIns="0" rtlCol="0" anchor="t"/>
          <a:lstStyle/>
          <a:p>
            <a:pPr indent="0" marL="0">
              <a:lnSpc>
                <a:spcPct val="135000"/>
              </a:lnSpc>
              <a:buNone/>
            </a:pPr>
            <a:r>
              <a:rPr lang="en-US" sz="1200" dirty="0">
                <a:solidFill>
                  <a:srgbClr val="A9C6AC"/>
                </a:solidFill>
                <a:latin typeface="Noto Sans JP" pitchFamily="34" charset="0"/>
                <a:ea typeface="Noto Sans JP" pitchFamily="34" charset="-122"/>
                <a:cs typeface="Noto Sans JP" pitchFamily="34" charset="-120"/>
              </a:rPr>
              <a:t>Wi-Fi・電源完備の無人カフェを</a:t>
            </a:r>
            <a:endParaRPr lang="en-US" sz="1200" dirty="0"/>
          </a:p>
          <a:p>
            <a:pPr indent="0" marL="0">
              <a:lnSpc>
                <a:spcPct val="135000"/>
              </a:lnSpc>
              <a:buNone/>
            </a:pPr>
            <a:r>
              <a:rPr lang="en-US" sz="1200" dirty="0">
                <a:solidFill>
                  <a:srgbClr val="A9C6AC"/>
                </a:solidFill>
                <a:latin typeface="Noto Sans JP" pitchFamily="34" charset="0"/>
                <a:ea typeface="Noto Sans JP" pitchFamily="34" charset="-122"/>
                <a:cs typeface="Noto Sans JP" pitchFamily="34" charset="-120"/>
              </a:rPr>
              <a:t>企画・開発・運営しています。</a:t>
            </a:r>
            <a:endParaRPr lang="en-US" sz="1200" dirty="0"/>
          </a:p>
        </p:txBody>
      </p:sp>
      <p:sp>
        <p:nvSpPr>
          <p:cNvPr id="12" name="Text 8"/>
          <p:cNvSpPr/>
          <p:nvPr/>
        </p:nvSpPr>
        <p:spPr>
          <a:xfrm>
            <a:off x="5257800" y="1463040"/>
            <a:ext cx="1417320" cy="603504"/>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会社名</a:t>
            </a:r>
            <a:endParaRPr lang="en-US" sz="1150" dirty="0"/>
          </a:p>
        </p:txBody>
      </p:sp>
      <p:sp>
        <p:nvSpPr>
          <p:cNvPr id="13" name="Text 9"/>
          <p:cNvSpPr/>
          <p:nvPr/>
        </p:nvSpPr>
        <p:spPr>
          <a:xfrm>
            <a:off x="6739128" y="1463040"/>
            <a:ext cx="4785970" cy="603504"/>
          </a:xfrm>
          <a:prstGeom prst="rect">
            <a:avLst/>
          </a:prstGeom>
          <a:noFill/>
          <a:ln/>
        </p:spPr>
        <p:txBody>
          <a:bodyPr wrap="square" lIns="0" tIns="0" rIns="0" bIns="0" rtlCol="0" anchor="ctr"/>
          <a:lstStyle/>
          <a:p>
            <a:pPr indent="0" marL="0">
              <a:buNone/>
            </a:pPr>
            <a:r>
              <a:rPr lang="en-US" sz="1450" dirty="0">
                <a:solidFill>
                  <a:srgbClr val="3B3833"/>
                </a:solidFill>
                <a:latin typeface="Noto Sans JP" pitchFamily="34" charset="0"/>
                <a:ea typeface="Noto Sans JP" pitchFamily="34" charset="-122"/>
                <a:cs typeface="Noto Sans JP" pitchFamily="34" charset="-120"/>
              </a:rPr>
              <a:t>セルフカフェ株式会社</a:t>
            </a:r>
            <a:endParaRPr lang="en-US" sz="1450" dirty="0"/>
          </a:p>
        </p:txBody>
      </p:sp>
      <p:sp>
        <p:nvSpPr>
          <p:cNvPr id="14" name="Shape 10"/>
          <p:cNvSpPr/>
          <p:nvPr/>
        </p:nvSpPr>
        <p:spPr>
          <a:xfrm>
            <a:off x="5257800" y="2084832"/>
            <a:ext cx="6267298" cy="10058"/>
          </a:xfrm>
          <a:prstGeom prst="rect">
            <a:avLst/>
          </a:prstGeom>
          <a:solidFill>
            <a:srgbClr val="E6DFCD"/>
          </a:solidFill>
          <a:ln/>
        </p:spPr>
      </p:sp>
      <p:sp>
        <p:nvSpPr>
          <p:cNvPr id="15" name="Text 11"/>
          <p:cNvSpPr/>
          <p:nvPr/>
        </p:nvSpPr>
        <p:spPr>
          <a:xfrm>
            <a:off x="5257800" y="2139696"/>
            <a:ext cx="1417320" cy="603504"/>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代表取締役</a:t>
            </a:r>
            <a:endParaRPr lang="en-US" sz="1150" dirty="0"/>
          </a:p>
        </p:txBody>
      </p:sp>
      <p:sp>
        <p:nvSpPr>
          <p:cNvPr id="16" name="Text 12"/>
          <p:cNvSpPr/>
          <p:nvPr/>
        </p:nvSpPr>
        <p:spPr>
          <a:xfrm>
            <a:off x="6739128" y="2139696"/>
            <a:ext cx="4785970" cy="603504"/>
          </a:xfrm>
          <a:prstGeom prst="rect">
            <a:avLst/>
          </a:prstGeom>
          <a:noFill/>
          <a:ln/>
        </p:spPr>
        <p:txBody>
          <a:bodyPr wrap="square" lIns="0" tIns="0" rIns="0" bIns="0" rtlCol="0" anchor="ctr"/>
          <a:lstStyle/>
          <a:p>
            <a:pPr indent="0" marL="0">
              <a:buNone/>
            </a:pPr>
            <a:r>
              <a:rPr lang="en-US" sz="1450" dirty="0">
                <a:solidFill>
                  <a:srgbClr val="3B3833"/>
                </a:solidFill>
                <a:latin typeface="Noto Sans JP" pitchFamily="34" charset="0"/>
                <a:ea typeface="Noto Sans JP" pitchFamily="34" charset="-122"/>
                <a:cs typeface="Noto Sans JP" pitchFamily="34" charset="-120"/>
              </a:rPr>
              <a:t>鈴木 大基</a:t>
            </a:r>
            <a:endParaRPr lang="en-US" sz="1450" dirty="0"/>
          </a:p>
        </p:txBody>
      </p:sp>
      <p:sp>
        <p:nvSpPr>
          <p:cNvPr id="17" name="Shape 13"/>
          <p:cNvSpPr/>
          <p:nvPr/>
        </p:nvSpPr>
        <p:spPr>
          <a:xfrm>
            <a:off x="5257800" y="2761488"/>
            <a:ext cx="6267298" cy="10058"/>
          </a:xfrm>
          <a:prstGeom prst="rect">
            <a:avLst/>
          </a:prstGeom>
          <a:solidFill>
            <a:srgbClr val="E6DFCD"/>
          </a:solidFill>
          <a:ln/>
        </p:spPr>
      </p:sp>
      <p:sp>
        <p:nvSpPr>
          <p:cNvPr id="18" name="Text 14"/>
          <p:cNvSpPr/>
          <p:nvPr/>
        </p:nvSpPr>
        <p:spPr>
          <a:xfrm>
            <a:off x="5257800" y="2816352"/>
            <a:ext cx="1417320" cy="603504"/>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設立日</a:t>
            </a:r>
            <a:endParaRPr lang="en-US" sz="1150" dirty="0"/>
          </a:p>
        </p:txBody>
      </p:sp>
      <p:sp>
        <p:nvSpPr>
          <p:cNvPr id="19" name="Text 15"/>
          <p:cNvSpPr/>
          <p:nvPr/>
        </p:nvSpPr>
        <p:spPr>
          <a:xfrm>
            <a:off x="6739128" y="2816352"/>
            <a:ext cx="4785970" cy="603504"/>
          </a:xfrm>
          <a:prstGeom prst="rect">
            <a:avLst/>
          </a:prstGeom>
          <a:noFill/>
          <a:ln/>
        </p:spPr>
        <p:txBody>
          <a:bodyPr wrap="square" lIns="0" tIns="0" rIns="0" bIns="0" rtlCol="0" anchor="ctr"/>
          <a:lstStyle/>
          <a:p>
            <a:pPr indent="0" marL="0">
              <a:buNone/>
            </a:pPr>
            <a:r>
              <a:rPr lang="en-US" sz="1450" dirty="0">
                <a:solidFill>
                  <a:srgbClr val="3B3833"/>
                </a:solidFill>
                <a:latin typeface="Noto Sans JP" pitchFamily="34" charset="0"/>
                <a:ea typeface="Noto Sans JP" pitchFamily="34" charset="-122"/>
                <a:cs typeface="Noto Sans JP" pitchFamily="34" charset="-120"/>
              </a:rPr>
              <a:t>2024年5月1日</a:t>
            </a:r>
            <a:endParaRPr lang="en-US" sz="1450" dirty="0"/>
          </a:p>
        </p:txBody>
      </p:sp>
      <p:sp>
        <p:nvSpPr>
          <p:cNvPr id="20" name="Shape 16"/>
          <p:cNvSpPr/>
          <p:nvPr/>
        </p:nvSpPr>
        <p:spPr>
          <a:xfrm>
            <a:off x="5257800" y="3438144"/>
            <a:ext cx="6267298" cy="10058"/>
          </a:xfrm>
          <a:prstGeom prst="rect">
            <a:avLst/>
          </a:prstGeom>
          <a:solidFill>
            <a:srgbClr val="E6DFCD"/>
          </a:solidFill>
          <a:ln/>
        </p:spPr>
      </p:sp>
      <p:sp>
        <p:nvSpPr>
          <p:cNvPr id="21" name="Text 17"/>
          <p:cNvSpPr/>
          <p:nvPr/>
        </p:nvSpPr>
        <p:spPr>
          <a:xfrm>
            <a:off x="5257800" y="3493008"/>
            <a:ext cx="1417320" cy="603504"/>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資本金</a:t>
            </a:r>
            <a:endParaRPr lang="en-US" sz="1150" dirty="0"/>
          </a:p>
        </p:txBody>
      </p:sp>
      <p:sp>
        <p:nvSpPr>
          <p:cNvPr id="22" name="Text 18"/>
          <p:cNvSpPr/>
          <p:nvPr/>
        </p:nvSpPr>
        <p:spPr>
          <a:xfrm>
            <a:off x="6739128" y="3493008"/>
            <a:ext cx="4785970" cy="603504"/>
          </a:xfrm>
          <a:prstGeom prst="rect">
            <a:avLst/>
          </a:prstGeom>
          <a:noFill/>
          <a:ln/>
        </p:spPr>
        <p:txBody>
          <a:bodyPr wrap="square" lIns="0" tIns="0" rIns="0" bIns="0" rtlCol="0" anchor="ctr"/>
          <a:lstStyle/>
          <a:p>
            <a:pPr indent="0" marL="0">
              <a:buNone/>
            </a:pPr>
            <a:r>
              <a:rPr lang="en-US" sz="1450" dirty="0">
                <a:solidFill>
                  <a:srgbClr val="3B3833"/>
                </a:solidFill>
                <a:latin typeface="Noto Sans JP" pitchFamily="34" charset="0"/>
                <a:ea typeface="Noto Sans JP" pitchFamily="34" charset="-122"/>
                <a:cs typeface="Noto Sans JP" pitchFamily="34" charset="-120"/>
              </a:rPr>
              <a:t>2,000万円</a:t>
            </a:r>
            <a:endParaRPr lang="en-US" sz="1450" dirty="0"/>
          </a:p>
        </p:txBody>
      </p:sp>
      <p:sp>
        <p:nvSpPr>
          <p:cNvPr id="23" name="Shape 19"/>
          <p:cNvSpPr/>
          <p:nvPr/>
        </p:nvSpPr>
        <p:spPr>
          <a:xfrm>
            <a:off x="5257800" y="4114800"/>
            <a:ext cx="6267298" cy="10058"/>
          </a:xfrm>
          <a:prstGeom prst="rect">
            <a:avLst/>
          </a:prstGeom>
          <a:solidFill>
            <a:srgbClr val="E6DFCD"/>
          </a:solidFill>
          <a:ln/>
        </p:spPr>
      </p:sp>
      <p:sp>
        <p:nvSpPr>
          <p:cNvPr id="24" name="Text 20"/>
          <p:cNvSpPr/>
          <p:nvPr/>
        </p:nvSpPr>
        <p:spPr>
          <a:xfrm>
            <a:off x="5257800" y="4169664"/>
            <a:ext cx="1417320" cy="603504"/>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事業内容</a:t>
            </a:r>
            <a:endParaRPr lang="en-US" sz="1150" dirty="0"/>
          </a:p>
        </p:txBody>
      </p:sp>
      <p:sp>
        <p:nvSpPr>
          <p:cNvPr id="25" name="Text 21"/>
          <p:cNvSpPr/>
          <p:nvPr/>
        </p:nvSpPr>
        <p:spPr>
          <a:xfrm>
            <a:off x="6739128" y="4169664"/>
            <a:ext cx="4785970" cy="603504"/>
          </a:xfrm>
          <a:prstGeom prst="rect">
            <a:avLst/>
          </a:prstGeom>
          <a:noFill/>
          <a:ln/>
        </p:spPr>
        <p:txBody>
          <a:bodyPr wrap="square" lIns="0" tIns="0" rIns="0" bIns="0" rtlCol="0" anchor="ctr"/>
          <a:lstStyle/>
          <a:p>
            <a:pPr indent="0" marL="0">
              <a:buNone/>
            </a:pPr>
            <a:r>
              <a:rPr lang="en-US" sz="1450" dirty="0">
                <a:solidFill>
                  <a:srgbClr val="3B3833"/>
                </a:solidFill>
                <a:latin typeface="Noto Sans JP" pitchFamily="34" charset="0"/>
                <a:ea typeface="Noto Sans JP" pitchFamily="34" charset="-122"/>
                <a:cs typeface="Noto Sans JP" pitchFamily="34" charset="-120"/>
              </a:rPr>
              <a:t>無人カフェの経営</a:t>
            </a:r>
            <a:endParaRPr lang="en-US" sz="1450" dirty="0"/>
          </a:p>
        </p:txBody>
      </p:sp>
      <p:sp>
        <p:nvSpPr>
          <p:cNvPr id="26" name="Shape 22"/>
          <p:cNvSpPr/>
          <p:nvPr/>
        </p:nvSpPr>
        <p:spPr>
          <a:xfrm>
            <a:off x="5257800" y="4791456"/>
            <a:ext cx="6267298" cy="10058"/>
          </a:xfrm>
          <a:prstGeom prst="rect">
            <a:avLst/>
          </a:prstGeom>
          <a:solidFill>
            <a:srgbClr val="E6DFCD"/>
          </a:solidFill>
          <a:ln/>
        </p:spPr>
      </p:sp>
      <p:sp>
        <p:nvSpPr>
          <p:cNvPr id="27" name="Text 23"/>
          <p:cNvSpPr/>
          <p:nvPr/>
        </p:nvSpPr>
        <p:spPr>
          <a:xfrm>
            <a:off x="5257800" y="4846320"/>
            <a:ext cx="1417320" cy="603504"/>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公式HP</a:t>
            </a:r>
            <a:endParaRPr lang="en-US" sz="1150" dirty="0"/>
          </a:p>
        </p:txBody>
      </p:sp>
      <p:sp>
        <p:nvSpPr>
          <p:cNvPr id="28" name="Text 24"/>
          <p:cNvSpPr/>
          <p:nvPr/>
        </p:nvSpPr>
        <p:spPr>
          <a:xfrm>
            <a:off x="6739128" y="4846320"/>
            <a:ext cx="4785970" cy="603504"/>
          </a:xfrm>
          <a:prstGeom prst="rect">
            <a:avLst/>
          </a:prstGeom>
          <a:noFill/>
          <a:ln/>
        </p:spPr>
        <p:txBody>
          <a:bodyPr wrap="square" lIns="0" tIns="0" rIns="0" bIns="0" rtlCol="0" anchor="ctr"/>
          <a:lstStyle/>
          <a:p>
            <a:pPr indent="0" marL="0">
              <a:buNone/>
            </a:pPr>
            <a:r>
              <a:rPr lang="en-US" sz="1450" dirty="0">
                <a:solidFill>
                  <a:srgbClr val="3B3833"/>
                </a:solidFill>
                <a:latin typeface="Noto Sans JP" pitchFamily="34" charset="0"/>
                <a:ea typeface="Noto Sans JP" pitchFamily="34" charset="-122"/>
                <a:cs typeface="Noto Sans JP" pitchFamily="34" charset="-120"/>
              </a:rPr>
              <a:t>https://selfcafe.jp/</a:t>
            </a:r>
            <a:endParaRPr lang="en-US" sz="1450" dirty="0"/>
          </a:p>
        </p:txBody>
      </p:sp>
      <p:sp>
        <p:nvSpPr>
          <p:cNvPr id="29" name="Shape 25"/>
          <p:cNvSpPr/>
          <p:nvPr/>
        </p:nvSpPr>
        <p:spPr>
          <a:xfrm>
            <a:off x="5257800" y="5468112"/>
            <a:ext cx="6267298" cy="10058"/>
          </a:xfrm>
          <a:prstGeom prst="rect">
            <a:avLst/>
          </a:prstGeom>
          <a:solidFill>
            <a:srgbClr val="E6DFCD"/>
          </a:solidFill>
          <a:ln/>
        </p:spPr>
      </p:sp>
      <p:sp>
        <p:nvSpPr>
          <p:cNvPr id="30" name="Shape 26"/>
          <p:cNvSpPr/>
          <p:nvPr/>
        </p:nvSpPr>
        <p:spPr>
          <a:xfrm>
            <a:off x="5257800" y="5669280"/>
            <a:ext cx="6267298" cy="475488"/>
          </a:xfrm>
          <a:prstGeom prst="roundRect">
            <a:avLst>
              <a:gd name="adj" fmla="val 11538"/>
            </a:avLst>
          </a:prstGeom>
          <a:solidFill>
            <a:srgbClr val="FAF3E3"/>
          </a:solidFill>
          <a:ln/>
        </p:spPr>
      </p:sp>
      <p:sp>
        <p:nvSpPr>
          <p:cNvPr id="31" name="Text 27"/>
          <p:cNvSpPr/>
          <p:nvPr/>
        </p:nvSpPr>
        <p:spPr>
          <a:xfrm>
            <a:off x="5458968" y="5669280"/>
            <a:ext cx="5864962" cy="475488"/>
          </a:xfrm>
          <a:prstGeom prst="rect">
            <a:avLst/>
          </a:prstGeom>
          <a:noFill/>
          <a:ln/>
        </p:spPr>
        <p:txBody>
          <a:bodyPr wrap="square" lIns="0" tIns="0" rIns="0" bIns="0" rtlCol="0" anchor="ctr"/>
          <a:lstStyle/>
          <a:p>
            <a:pPr indent="0" marL="0">
              <a:buNone/>
            </a:pPr>
            <a:r>
              <a:rPr lang="en-US" sz="1100" dirty="0">
                <a:solidFill>
                  <a:srgbClr val="5D4037"/>
                </a:solidFill>
                <a:latin typeface="Noto Sans JP" pitchFamily="34" charset="0"/>
                <a:ea typeface="Noto Sans JP" pitchFamily="34" charset="-122"/>
                <a:cs typeface="Noto Sans JP" pitchFamily="34" charset="-120"/>
              </a:rPr>
              <a:t>※2024年5月1日よりウッドデザインパーク(株)から分社化</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社会背景と市場性</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5</a:t>
            </a:r>
            <a:endParaRPr lang="en-US" sz="1300" dirty="0"/>
          </a:p>
        </p:txBody>
      </p:sp>
      <p:sp>
        <p:nvSpPr>
          <p:cNvPr id="6" name="Text 3"/>
          <p:cNvSpPr/>
          <p:nvPr/>
        </p:nvSpPr>
        <p:spPr>
          <a:xfrm>
            <a:off x="666598" y="1243584"/>
            <a:ext cx="10858500" cy="256032"/>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現代社会が抱える3つの課題</a:t>
            </a:r>
            <a:endParaRPr lang="en-US" sz="1150" dirty="0"/>
          </a:p>
        </p:txBody>
      </p:sp>
      <p:sp>
        <p:nvSpPr>
          <p:cNvPr id="7" name="Shape 4"/>
          <p:cNvSpPr/>
          <p:nvPr/>
        </p:nvSpPr>
        <p:spPr>
          <a:xfrm>
            <a:off x="666598" y="1700784"/>
            <a:ext cx="3448812" cy="2834640"/>
          </a:xfrm>
          <a:prstGeom prst="roundRect">
            <a:avLst>
              <a:gd name="adj" fmla="val 2258"/>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8" name="Shape 5"/>
          <p:cNvSpPr/>
          <p:nvPr/>
        </p:nvSpPr>
        <p:spPr>
          <a:xfrm>
            <a:off x="940918" y="1975104"/>
            <a:ext cx="402336" cy="402336"/>
          </a:xfrm>
          <a:prstGeom prst="roundRect">
            <a:avLst>
              <a:gd name="adj" fmla="val 20455"/>
            </a:avLst>
          </a:prstGeom>
          <a:solidFill>
            <a:srgbClr val="1B5E20"/>
          </a:solidFill>
          <a:ln/>
        </p:spPr>
      </p:sp>
      <p:sp>
        <p:nvSpPr>
          <p:cNvPr id="9" name="Text 6"/>
          <p:cNvSpPr/>
          <p:nvPr/>
        </p:nvSpPr>
        <p:spPr>
          <a:xfrm>
            <a:off x="940918" y="1975104"/>
            <a:ext cx="402336" cy="40233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01</a:t>
            </a:r>
            <a:endParaRPr lang="en-US" sz="1350" dirty="0"/>
          </a:p>
        </p:txBody>
      </p:sp>
      <p:sp>
        <p:nvSpPr>
          <p:cNvPr id="10" name="Text 7"/>
          <p:cNvSpPr/>
          <p:nvPr/>
        </p:nvSpPr>
        <p:spPr>
          <a:xfrm>
            <a:off x="940918" y="2542032"/>
            <a:ext cx="2900172" cy="365760"/>
          </a:xfrm>
          <a:prstGeom prst="rect">
            <a:avLst/>
          </a:prstGeom>
          <a:noFill/>
          <a:ln/>
        </p:spPr>
        <p:txBody>
          <a:bodyPr wrap="square" lIns="0" tIns="0" rIns="0" bIns="0" rtlCol="0" anchor="ctr"/>
          <a:lstStyle/>
          <a:p>
            <a:pPr indent="0" marL="0">
              <a:buNone/>
            </a:pPr>
            <a:r>
              <a:rPr lang="en-US" sz="1550" b="1" dirty="0">
                <a:solidFill>
                  <a:srgbClr val="1B5E20"/>
                </a:solidFill>
                <a:latin typeface="Noto Sans JP" pitchFamily="34" charset="0"/>
                <a:ea typeface="Noto Sans JP" pitchFamily="34" charset="-122"/>
                <a:cs typeface="Noto Sans JP" pitchFamily="34" charset="-120"/>
              </a:rPr>
              <a:t>深刻な労働力不足</a:t>
            </a:r>
            <a:endParaRPr lang="en-US" sz="1550" dirty="0"/>
          </a:p>
        </p:txBody>
      </p:sp>
      <p:sp>
        <p:nvSpPr>
          <p:cNvPr id="11" name="Text 8"/>
          <p:cNvSpPr/>
          <p:nvPr/>
        </p:nvSpPr>
        <p:spPr>
          <a:xfrm>
            <a:off x="940918" y="2944368"/>
            <a:ext cx="2900172" cy="256032"/>
          </a:xfrm>
          <a:prstGeom prst="rect">
            <a:avLst/>
          </a:prstGeom>
          <a:noFill/>
          <a:ln/>
        </p:spPr>
        <p:txBody>
          <a:bodyPr wrap="square" lIns="0" tIns="0" rIns="0" bIns="0" rtlCol="0" anchor="ctr"/>
          <a:lstStyle/>
          <a:p>
            <a:pPr indent="0" marL="0">
              <a:buNone/>
            </a:pPr>
            <a:r>
              <a:rPr lang="en-US" sz="1050" b="1" dirty="0">
                <a:solidFill>
                  <a:srgbClr val="B8893B"/>
                </a:solidFill>
                <a:latin typeface="Noto Sans JP" pitchFamily="34" charset="0"/>
                <a:ea typeface="Noto Sans JP" pitchFamily="34" charset="-122"/>
                <a:cs typeface="Noto Sans JP" pitchFamily="34" charset="-120"/>
              </a:rPr>
              <a:t>サービス業の人手確保が困難に</a:t>
            </a:r>
            <a:endParaRPr lang="en-US" sz="1050" dirty="0"/>
          </a:p>
        </p:txBody>
      </p:sp>
      <p:sp>
        <p:nvSpPr>
          <p:cNvPr id="12" name="Shape 9"/>
          <p:cNvSpPr/>
          <p:nvPr/>
        </p:nvSpPr>
        <p:spPr>
          <a:xfrm>
            <a:off x="940918" y="3291840"/>
            <a:ext cx="2900172" cy="10058"/>
          </a:xfrm>
          <a:prstGeom prst="rect">
            <a:avLst/>
          </a:prstGeom>
          <a:solidFill>
            <a:srgbClr val="E6DFCD"/>
          </a:solidFill>
          <a:ln/>
        </p:spPr>
      </p:sp>
      <p:sp>
        <p:nvSpPr>
          <p:cNvPr id="13" name="Text 10"/>
          <p:cNvSpPr/>
          <p:nvPr/>
        </p:nvSpPr>
        <p:spPr>
          <a:xfrm>
            <a:off x="940918" y="3419856"/>
            <a:ext cx="2900172" cy="1316736"/>
          </a:xfrm>
          <a:prstGeom prst="rect">
            <a:avLst/>
          </a:prstGeom>
          <a:noFill/>
          <a:ln/>
        </p:spPr>
        <p:txBody>
          <a:bodyPr wrap="square" lIns="0" tIns="0" rIns="0" bIns="0" rtlCol="0" anchor="t"/>
          <a:lstStyle/>
          <a:p>
            <a:pPr indent="0" marL="0">
              <a:lnSpc>
                <a:spcPct val="142000"/>
              </a:lnSpc>
              <a:buNone/>
            </a:pPr>
            <a:r>
              <a:rPr lang="en-US" sz="1100" dirty="0">
                <a:solidFill>
                  <a:srgbClr val="3B3833"/>
                </a:solidFill>
                <a:latin typeface="Noto Sans JP" pitchFamily="34" charset="0"/>
                <a:ea typeface="Noto Sans JP" pitchFamily="34" charset="-122"/>
                <a:cs typeface="Noto Sans JP" pitchFamily="34" charset="-120"/>
              </a:rPr>
              <a:t>少子高齢化と働き手の価値観の変化でサービス業の人手確保が難しくなり、人件費が上昇して経営負担が増している。</a:t>
            </a:r>
            <a:endParaRPr lang="en-US" sz="1100" dirty="0"/>
          </a:p>
        </p:txBody>
      </p:sp>
      <p:sp>
        <p:nvSpPr>
          <p:cNvPr id="14" name="Shape 11"/>
          <p:cNvSpPr/>
          <p:nvPr/>
        </p:nvSpPr>
        <p:spPr>
          <a:xfrm>
            <a:off x="4371442" y="1700784"/>
            <a:ext cx="3448812" cy="2834640"/>
          </a:xfrm>
          <a:prstGeom prst="roundRect">
            <a:avLst>
              <a:gd name="adj" fmla="val 2258"/>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5" name="Shape 12"/>
          <p:cNvSpPr/>
          <p:nvPr/>
        </p:nvSpPr>
        <p:spPr>
          <a:xfrm>
            <a:off x="4645762" y="1975104"/>
            <a:ext cx="402336" cy="402336"/>
          </a:xfrm>
          <a:prstGeom prst="roundRect">
            <a:avLst>
              <a:gd name="adj" fmla="val 20455"/>
            </a:avLst>
          </a:prstGeom>
          <a:solidFill>
            <a:srgbClr val="1B5E20"/>
          </a:solidFill>
          <a:ln/>
        </p:spPr>
      </p:sp>
      <p:sp>
        <p:nvSpPr>
          <p:cNvPr id="16" name="Text 13"/>
          <p:cNvSpPr/>
          <p:nvPr/>
        </p:nvSpPr>
        <p:spPr>
          <a:xfrm>
            <a:off x="4645762" y="1975104"/>
            <a:ext cx="402336" cy="40233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02</a:t>
            </a:r>
            <a:endParaRPr lang="en-US" sz="1350" dirty="0"/>
          </a:p>
        </p:txBody>
      </p:sp>
      <p:sp>
        <p:nvSpPr>
          <p:cNvPr id="17" name="Text 14"/>
          <p:cNvSpPr/>
          <p:nvPr/>
        </p:nvSpPr>
        <p:spPr>
          <a:xfrm>
            <a:off x="4645762" y="2542032"/>
            <a:ext cx="2900172" cy="365760"/>
          </a:xfrm>
          <a:prstGeom prst="rect">
            <a:avLst/>
          </a:prstGeom>
          <a:noFill/>
          <a:ln/>
        </p:spPr>
        <p:txBody>
          <a:bodyPr wrap="square" lIns="0" tIns="0" rIns="0" bIns="0" rtlCol="0" anchor="ctr"/>
          <a:lstStyle/>
          <a:p>
            <a:pPr indent="0" marL="0">
              <a:buNone/>
            </a:pPr>
            <a:r>
              <a:rPr lang="en-US" sz="1550" b="1" dirty="0">
                <a:solidFill>
                  <a:srgbClr val="1B5E20"/>
                </a:solidFill>
                <a:latin typeface="Noto Sans JP" pitchFamily="34" charset="0"/>
                <a:ea typeface="Noto Sans JP" pitchFamily="34" charset="-122"/>
                <a:cs typeface="Noto Sans JP" pitchFamily="34" charset="-120"/>
              </a:rPr>
              <a:t>サードプレイスの枯渇</a:t>
            </a:r>
            <a:endParaRPr lang="en-US" sz="1550" dirty="0"/>
          </a:p>
        </p:txBody>
      </p:sp>
      <p:sp>
        <p:nvSpPr>
          <p:cNvPr id="18" name="Text 15"/>
          <p:cNvSpPr/>
          <p:nvPr/>
        </p:nvSpPr>
        <p:spPr>
          <a:xfrm>
            <a:off x="4645762" y="2944368"/>
            <a:ext cx="2900172" cy="256032"/>
          </a:xfrm>
          <a:prstGeom prst="rect">
            <a:avLst/>
          </a:prstGeom>
          <a:noFill/>
          <a:ln/>
        </p:spPr>
        <p:txBody>
          <a:bodyPr wrap="square" lIns="0" tIns="0" rIns="0" bIns="0" rtlCol="0" anchor="ctr"/>
          <a:lstStyle/>
          <a:p>
            <a:pPr indent="0" marL="0">
              <a:buNone/>
            </a:pPr>
            <a:r>
              <a:rPr lang="en-US" sz="1050" b="1" dirty="0">
                <a:solidFill>
                  <a:srgbClr val="B8893B"/>
                </a:solidFill>
                <a:latin typeface="Noto Sans JP" pitchFamily="34" charset="0"/>
                <a:ea typeface="Noto Sans JP" pitchFamily="34" charset="-122"/>
                <a:cs typeface="Noto Sans JP" pitchFamily="34" charset="-120"/>
              </a:rPr>
              <a:t>自宅以外の作業場所が足りない</a:t>
            </a:r>
            <a:endParaRPr lang="en-US" sz="1050" dirty="0"/>
          </a:p>
        </p:txBody>
      </p:sp>
      <p:sp>
        <p:nvSpPr>
          <p:cNvPr id="19" name="Shape 16"/>
          <p:cNvSpPr/>
          <p:nvPr/>
        </p:nvSpPr>
        <p:spPr>
          <a:xfrm>
            <a:off x="4645762" y="3291840"/>
            <a:ext cx="2900172" cy="10058"/>
          </a:xfrm>
          <a:prstGeom prst="rect">
            <a:avLst/>
          </a:prstGeom>
          <a:solidFill>
            <a:srgbClr val="E6DFCD"/>
          </a:solidFill>
          <a:ln/>
        </p:spPr>
      </p:sp>
      <p:sp>
        <p:nvSpPr>
          <p:cNvPr id="20" name="Text 17"/>
          <p:cNvSpPr/>
          <p:nvPr/>
        </p:nvSpPr>
        <p:spPr>
          <a:xfrm>
            <a:off x="4645762" y="3419856"/>
            <a:ext cx="2900172" cy="1316736"/>
          </a:xfrm>
          <a:prstGeom prst="rect">
            <a:avLst/>
          </a:prstGeom>
          <a:noFill/>
          <a:ln/>
        </p:spPr>
        <p:txBody>
          <a:bodyPr wrap="square" lIns="0" tIns="0" rIns="0" bIns="0" rtlCol="0" anchor="t"/>
          <a:lstStyle/>
          <a:p>
            <a:pPr indent="0" marL="0">
              <a:lnSpc>
                <a:spcPct val="142000"/>
              </a:lnSpc>
              <a:buNone/>
            </a:pPr>
            <a:r>
              <a:rPr lang="en-US" sz="1100" dirty="0">
                <a:solidFill>
                  <a:srgbClr val="3B3833"/>
                </a:solidFill>
                <a:latin typeface="Noto Sans JP" pitchFamily="34" charset="0"/>
                <a:ea typeface="Noto Sans JP" pitchFamily="34" charset="-122"/>
                <a:cs typeface="Noto Sans JP" pitchFamily="34" charset="-120"/>
              </a:rPr>
              <a:t>リモートワークの普及で自宅以外の手頃な作業場所が不足し、カフェやコワーキングは価格や混雑の課題が残り、学習スペースも制限が多く気軽に利用できない。</a:t>
            </a:r>
            <a:endParaRPr lang="en-US" sz="1100" dirty="0"/>
          </a:p>
        </p:txBody>
      </p:sp>
      <p:sp>
        <p:nvSpPr>
          <p:cNvPr id="21" name="Shape 18"/>
          <p:cNvSpPr/>
          <p:nvPr/>
        </p:nvSpPr>
        <p:spPr>
          <a:xfrm>
            <a:off x="8076286" y="1700784"/>
            <a:ext cx="3448812" cy="2834640"/>
          </a:xfrm>
          <a:prstGeom prst="roundRect">
            <a:avLst>
              <a:gd name="adj" fmla="val 2258"/>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22" name="Shape 19"/>
          <p:cNvSpPr/>
          <p:nvPr/>
        </p:nvSpPr>
        <p:spPr>
          <a:xfrm>
            <a:off x="8350606" y="1975104"/>
            <a:ext cx="402336" cy="402336"/>
          </a:xfrm>
          <a:prstGeom prst="roundRect">
            <a:avLst>
              <a:gd name="adj" fmla="val 20455"/>
            </a:avLst>
          </a:prstGeom>
          <a:solidFill>
            <a:srgbClr val="1B5E20"/>
          </a:solidFill>
          <a:ln/>
        </p:spPr>
      </p:sp>
      <p:sp>
        <p:nvSpPr>
          <p:cNvPr id="23" name="Text 20"/>
          <p:cNvSpPr/>
          <p:nvPr/>
        </p:nvSpPr>
        <p:spPr>
          <a:xfrm>
            <a:off x="8350606" y="1975104"/>
            <a:ext cx="402336" cy="40233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03</a:t>
            </a:r>
            <a:endParaRPr lang="en-US" sz="1350" dirty="0"/>
          </a:p>
        </p:txBody>
      </p:sp>
      <p:sp>
        <p:nvSpPr>
          <p:cNvPr id="24" name="Text 21"/>
          <p:cNvSpPr/>
          <p:nvPr/>
        </p:nvSpPr>
        <p:spPr>
          <a:xfrm>
            <a:off x="8350606" y="2542032"/>
            <a:ext cx="2900172" cy="365760"/>
          </a:xfrm>
          <a:prstGeom prst="rect">
            <a:avLst/>
          </a:prstGeom>
          <a:noFill/>
          <a:ln/>
        </p:spPr>
        <p:txBody>
          <a:bodyPr wrap="square" lIns="0" tIns="0" rIns="0" bIns="0" rtlCol="0" anchor="ctr"/>
          <a:lstStyle/>
          <a:p>
            <a:pPr indent="0" marL="0">
              <a:buNone/>
            </a:pPr>
            <a:r>
              <a:rPr lang="en-US" sz="1550" b="1" dirty="0">
                <a:solidFill>
                  <a:srgbClr val="1B5E20"/>
                </a:solidFill>
                <a:latin typeface="Noto Sans JP" pitchFamily="34" charset="0"/>
                <a:ea typeface="Noto Sans JP" pitchFamily="34" charset="-122"/>
                <a:cs typeface="Noto Sans JP" pitchFamily="34" charset="-120"/>
              </a:rPr>
              <a:t>遊休資産の有効活用</a:t>
            </a:r>
            <a:endParaRPr lang="en-US" sz="1550" dirty="0"/>
          </a:p>
        </p:txBody>
      </p:sp>
      <p:sp>
        <p:nvSpPr>
          <p:cNvPr id="25" name="Text 22"/>
          <p:cNvSpPr/>
          <p:nvPr/>
        </p:nvSpPr>
        <p:spPr>
          <a:xfrm>
            <a:off x="8350606" y="2944368"/>
            <a:ext cx="2900172" cy="256032"/>
          </a:xfrm>
          <a:prstGeom prst="rect">
            <a:avLst/>
          </a:prstGeom>
          <a:noFill/>
          <a:ln/>
        </p:spPr>
        <p:txBody>
          <a:bodyPr wrap="square" lIns="0" tIns="0" rIns="0" bIns="0" rtlCol="0" anchor="ctr"/>
          <a:lstStyle/>
          <a:p>
            <a:pPr indent="0" marL="0">
              <a:buNone/>
            </a:pPr>
            <a:r>
              <a:rPr lang="en-US" sz="1050" b="1" dirty="0">
                <a:solidFill>
                  <a:srgbClr val="B8893B"/>
                </a:solidFill>
                <a:latin typeface="Noto Sans JP" pitchFamily="34" charset="0"/>
                <a:ea typeface="Noto Sans JP" pitchFamily="34" charset="-122"/>
                <a:cs typeface="Noto Sans JP" pitchFamily="34" charset="-120"/>
              </a:rPr>
              <a:t>空室・デッドスペースが埋まらない</a:t>
            </a:r>
            <a:endParaRPr lang="en-US" sz="1050" dirty="0"/>
          </a:p>
        </p:txBody>
      </p:sp>
      <p:sp>
        <p:nvSpPr>
          <p:cNvPr id="26" name="Shape 23"/>
          <p:cNvSpPr/>
          <p:nvPr/>
        </p:nvSpPr>
        <p:spPr>
          <a:xfrm>
            <a:off x="8350606" y="3291840"/>
            <a:ext cx="2900172" cy="10058"/>
          </a:xfrm>
          <a:prstGeom prst="rect">
            <a:avLst/>
          </a:prstGeom>
          <a:solidFill>
            <a:srgbClr val="E6DFCD"/>
          </a:solidFill>
          <a:ln/>
        </p:spPr>
      </p:sp>
      <p:sp>
        <p:nvSpPr>
          <p:cNvPr id="27" name="Text 24"/>
          <p:cNvSpPr/>
          <p:nvPr/>
        </p:nvSpPr>
        <p:spPr>
          <a:xfrm>
            <a:off x="8350606" y="3419856"/>
            <a:ext cx="2900172" cy="1316736"/>
          </a:xfrm>
          <a:prstGeom prst="rect">
            <a:avLst/>
          </a:prstGeom>
          <a:noFill/>
          <a:ln/>
        </p:spPr>
        <p:txBody>
          <a:bodyPr wrap="square" lIns="0" tIns="0" rIns="0" bIns="0" rtlCol="0" anchor="t"/>
          <a:lstStyle/>
          <a:p>
            <a:pPr indent="0" marL="0">
              <a:lnSpc>
                <a:spcPct val="142000"/>
              </a:lnSpc>
              <a:buNone/>
            </a:pPr>
            <a:r>
              <a:rPr lang="en-US" sz="1100" dirty="0">
                <a:solidFill>
                  <a:srgbClr val="3B3833"/>
                </a:solidFill>
                <a:latin typeface="Noto Sans JP" pitchFamily="34" charset="0"/>
                <a:ea typeface="Noto Sans JP" pitchFamily="34" charset="-122"/>
                <a:cs typeface="Noto Sans JP" pitchFamily="34" charset="-120"/>
              </a:rPr>
              <a:t>ビル空室やデッドスペースが増え、従来のテナント誘致だけでは埋まらず、新たな活用モデルの開発が求められている。</a:t>
            </a:r>
            <a:endParaRPr lang="en-US" sz="1100" dirty="0"/>
          </a:p>
        </p:txBody>
      </p:sp>
      <p:sp>
        <p:nvSpPr>
          <p:cNvPr id="28" name="Shape 25"/>
          <p:cNvSpPr/>
          <p:nvPr/>
        </p:nvSpPr>
        <p:spPr>
          <a:xfrm>
            <a:off x="666598" y="4828032"/>
            <a:ext cx="10858500" cy="1426464"/>
          </a:xfrm>
          <a:prstGeom prst="roundRect">
            <a:avLst>
              <a:gd name="adj" fmla="val 5128"/>
            </a:avLst>
          </a:prstGeom>
          <a:solidFill>
            <a:srgbClr val="12401A"/>
          </a:solidFill>
          <a:ln/>
          <a:effectLst>
            <a:outerShdw sx="100000" sy="100000" kx="0" ky="0" algn="bl" rotWithShape="0" blurRad="114300" dist="17780" dir="5400000">
              <a:srgbClr val="6B6250">
                <a:alpha val="14000"/>
              </a:srgbClr>
            </a:outerShdw>
          </a:effectLst>
        </p:spPr>
      </p:sp>
      <p:sp>
        <p:nvSpPr>
          <p:cNvPr id="29" name="Text 26"/>
          <p:cNvSpPr/>
          <p:nvPr/>
        </p:nvSpPr>
        <p:spPr>
          <a:xfrm>
            <a:off x="1050646" y="5065776"/>
            <a:ext cx="10090404" cy="420624"/>
          </a:xfrm>
          <a:prstGeom prst="rect">
            <a:avLst/>
          </a:prstGeom>
          <a:noFill/>
          <a:ln/>
        </p:spPr>
        <p:txBody>
          <a:bodyPr wrap="square" lIns="0" tIns="0" rIns="0" bIns="0" rtlCol="0" anchor="ctr"/>
          <a:lstStyle/>
          <a:p>
            <a:pPr indent="0" marL="0">
              <a:buNone/>
            </a:pPr>
            <a:r>
              <a:rPr lang="en-US" sz="1900" b="1" dirty="0">
                <a:solidFill>
                  <a:srgbClr val="FFFFFF"/>
                </a:solidFill>
                <a:latin typeface="Noto Sans JP" pitchFamily="34" charset="0"/>
                <a:ea typeface="Noto Sans JP" pitchFamily="34" charset="-122"/>
                <a:cs typeface="Noto Sans JP" pitchFamily="34" charset="-120"/>
              </a:rPr>
              <a:t>この3つの課題に同時に応えるのが、「無人カフェ × 遊休スペース」というモデルです。</a:t>
            </a:r>
            <a:endParaRPr lang="en-US" sz="1900" dirty="0"/>
          </a:p>
        </p:txBody>
      </p:sp>
      <p:sp>
        <p:nvSpPr>
          <p:cNvPr id="30" name="Text 27"/>
          <p:cNvSpPr/>
          <p:nvPr/>
        </p:nvSpPr>
        <p:spPr>
          <a:xfrm>
            <a:off x="1050646" y="5541264"/>
            <a:ext cx="10090404" cy="402336"/>
          </a:xfrm>
          <a:prstGeom prst="rect">
            <a:avLst/>
          </a:prstGeom>
          <a:noFill/>
          <a:ln/>
        </p:spPr>
        <p:txBody>
          <a:bodyPr wrap="square" lIns="0" tIns="0" rIns="0" bIns="0" rtlCol="0" anchor="ctr"/>
          <a:lstStyle/>
          <a:p>
            <a:pPr indent="0" marL="0">
              <a:buNone/>
            </a:pPr>
            <a:r>
              <a:rPr lang="en-US" sz="1150" dirty="0">
                <a:solidFill>
                  <a:srgbClr val="A9C6AC"/>
                </a:solidFill>
                <a:latin typeface="Noto Sans JP" pitchFamily="34" charset="0"/>
                <a:ea typeface="Noto Sans JP" pitchFamily="34" charset="-122"/>
                <a:cs typeface="Noto Sans JP" pitchFamily="34" charset="-120"/>
              </a:rPr>
              <a:t>人手をかけずに運営でき、働く・学ぶ場所を求める需要を受け止め、空いたスペースを収益資産に変えられます。</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人手不足対策：無人管理の優位性</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6</a:t>
            </a:r>
            <a:endParaRPr lang="en-US" sz="1300" dirty="0"/>
          </a:p>
        </p:txBody>
      </p:sp>
      <p:sp>
        <p:nvSpPr>
          <p:cNvPr id="6" name="Shape 3"/>
          <p:cNvSpPr/>
          <p:nvPr/>
        </p:nvSpPr>
        <p:spPr>
          <a:xfrm>
            <a:off x="666598" y="1417320"/>
            <a:ext cx="3977640" cy="4846320"/>
          </a:xfrm>
          <a:prstGeom prst="roundRect">
            <a:avLst>
              <a:gd name="adj" fmla="val 2069"/>
            </a:avLst>
          </a:prstGeom>
          <a:solidFill>
            <a:srgbClr val="12401A"/>
          </a:solidFill>
          <a:ln/>
          <a:effectLst>
            <a:outerShdw sx="100000" sy="100000" kx="0" ky="0" algn="bl" rotWithShape="0" blurRad="114300" dist="17780" dir="5400000">
              <a:srgbClr val="6B6250">
                <a:alpha val="14000"/>
              </a:srgbClr>
            </a:outerShdw>
          </a:effectLst>
        </p:spPr>
      </p:sp>
      <p:sp>
        <p:nvSpPr>
          <p:cNvPr id="7" name="Text 4"/>
          <p:cNvSpPr/>
          <p:nvPr/>
        </p:nvSpPr>
        <p:spPr>
          <a:xfrm>
            <a:off x="1087222" y="1965960"/>
            <a:ext cx="3136392" cy="256032"/>
          </a:xfrm>
          <a:prstGeom prst="rect">
            <a:avLst/>
          </a:prstGeom>
          <a:noFill/>
          <a:ln/>
        </p:spPr>
        <p:txBody>
          <a:bodyPr wrap="square" lIns="0" tIns="0" rIns="0" bIns="0" rtlCol="0" anchor="ctr"/>
          <a:lstStyle/>
          <a:p>
            <a:pPr indent="0" marL="0">
              <a:buNone/>
            </a:pPr>
            <a:r>
              <a:rPr lang="en-US" sz="1050" b="1" spc="300" kern="0" dirty="0">
                <a:solidFill>
                  <a:srgbClr val="A9C6AC"/>
                </a:solidFill>
                <a:latin typeface="Arial" pitchFamily="34" charset="0"/>
                <a:ea typeface="Arial" pitchFamily="34" charset="-122"/>
                <a:cs typeface="Arial" pitchFamily="34" charset="-120"/>
              </a:rPr>
              <a:t>THE ADVANTAGE</a:t>
            </a:r>
            <a:endParaRPr lang="en-US" sz="1050" dirty="0"/>
          </a:p>
        </p:txBody>
      </p:sp>
      <p:sp>
        <p:nvSpPr>
          <p:cNvPr id="8" name="Text 5"/>
          <p:cNvSpPr/>
          <p:nvPr/>
        </p:nvSpPr>
        <p:spPr>
          <a:xfrm>
            <a:off x="1087222" y="2404872"/>
            <a:ext cx="3136392" cy="2011680"/>
          </a:xfrm>
          <a:prstGeom prst="rect">
            <a:avLst/>
          </a:prstGeom>
          <a:noFill/>
          <a:ln/>
        </p:spPr>
        <p:txBody>
          <a:bodyPr wrap="square" lIns="0" tIns="0" rIns="0" bIns="0" rtlCol="0" anchor="t"/>
          <a:lstStyle/>
          <a:p>
            <a:pPr indent="0" marL="0">
              <a:lnSpc>
                <a:spcPct val="124000"/>
              </a:lnSpc>
              <a:buNone/>
            </a:pPr>
            <a:r>
              <a:rPr lang="en-US" sz="3100" b="1" dirty="0">
                <a:solidFill>
                  <a:srgbClr val="FFFFFF"/>
                </a:solidFill>
                <a:latin typeface="Noto Sans JP" pitchFamily="34" charset="0"/>
                <a:ea typeface="Noto Sans JP" pitchFamily="34" charset="-122"/>
                <a:cs typeface="Noto Sans JP" pitchFamily="34" charset="-120"/>
              </a:rPr>
              <a:t>「人」に</a:t>
            </a:r>
            <a:endParaRPr lang="en-US" sz="3100" dirty="0"/>
          </a:p>
          <a:p>
            <a:pPr indent="0" marL="0">
              <a:lnSpc>
                <a:spcPct val="124000"/>
              </a:lnSpc>
              <a:buNone/>
            </a:pPr>
            <a:r>
              <a:rPr lang="en-US" sz="3100" b="1" dirty="0">
                <a:solidFill>
                  <a:srgbClr val="FFFFFF"/>
                </a:solidFill>
                <a:latin typeface="Noto Sans JP" pitchFamily="34" charset="0"/>
                <a:ea typeface="Noto Sans JP" pitchFamily="34" charset="-122"/>
                <a:cs typeface="Noto Sans JP" pitchFamily="34" charset="-120"/>
              </a:rPr>
              <a:t>頼らない</a:t>
            </a:r>
            <a:endParaRPr lang="en-US" sz="3100" dirty="0"/>
          </a:p>
          <a:p>
            <a:pPr indent="0" marL="0">
              <a:lnSpc>
                <a:spcPct val="124000"/>
              </a:lnSpc>
              <a:buNone/>
            </a:pPr>
            <a:r>
              <a:rPr lang="en-US" sz="3100" b="1" dirty="0">
                <a:solidFill>
                  <a:srgbClr val="FFFFFF"/>
                </a:solidFill>
                <a:latin typeface="Noto Sans JP" pitchFamily="34" charset="0"/>
                <a:ea typeface="Noto Sans JP" pitchFamily="34" charset="-122"/>
                <a:cs typeface="Noto Sans JP" pitchFamily="34" charset="-120"/>
              </a:rPr>
              <a:t>経営へ</a:t>
            </a:r>
            <a:endParaRPr lang="en-US" sz="3100" dirty="0"/>
          </a:p>
        </p:txBody>
      </p:sp>
      <p:sp>
        <p:nvSpPr>
          <p:cNvPr id="9" name="Shape 6"/>
          <p:cNvSpPr/>
          <p:nvPr/>
        </p:nvSpPr>
        <p:spPr>
          <a:xfrm>
            <a:off x="1087222" y="4599432"/>
            <a:ext cx="1005840" cy="19202"/>
          </a:xfrm>
          <a:prstGeom prst="rect">
            <a:avLst/>
          </a:prstGeom>
          <a:solidFill>
            <a:srgbClr val="A9C6AC"/>
          </a:solidFill>
          <a:ln/>
        </p:spPr>
      </p:sp>
      <p:sp>
        <p:nvSpPr>
          <p:cNvPr id="10" name="Text 7"/>
          <p:cNvSpPr/>
          <p:nvPr/>
        </p:nvSpPr>
        <p:spPr>
          <a:xfrm>
            <a:off x="1087222" y="4837176"/>
            <a:ext cx="3136392" cy="1097280"/>
          </a:xfrm>
          <a:prstGeom prst="rect">
            <a:avLst/>
          </a:prstGeom>
          <a:noFill/>
          <a:ln/>
        </p:spPr>
        <p:txBody>
          <a:bodyPr wrap="square" lIns="0" tIns="0" rIns="0" bIns="0" rtlCol="0" anchor="t"/>
          <a:lstStyle/>
          <a:p>
            <a:pPr indent="0" marL="0">
              <a:lnSpc>
                <a:spcPct val="140000"/>
              </a:lnSpc>
              <a:buNone/>
            </a:pPr>
            <a:r>
              <a:rPr lang="en-US" sz="1150" dirty="0">
                <a:solidFill>
                  <a:srgbClr val="A9C6AC"/>
                </a:solidFill>
                <a:latin typeface="Noto Sans JP" pitchFamily="34" charset="0"/>
                <a:ea typeface="Noto Sans JP" pitchFamily="34" charset="-122"/>
                <a:cs typeface="Noto Sans JP" pitchFamily="34" charset="-120"/>
              </a:rPr>
              <a:t>無人運営がもたらす、3つの構造的な強み。人に依存しないから、規模を広げても運営品質とコストが崩れません。</a:t>
            </a:r>
            <a:endParaRPr lang="en-US" sz="1150" dirty="0"/>
          </a:p>
        </p:txBody>
      </p:sp>
      <p:sp>
        <p:nvSpPr>
          <p:cNvPr id="11" name="Shape 8"/>
          <p:cNvSpPr/>
          <p:nvPr/>
        </p:nvSpPr>
        <p:spPr>
          <a:xfrm>
            <a:off x="4892040" y="1417320"/>
            <a:ext cx="6633058" cy="1481328"/>
          </a:xfrm>
          <a:prstGeom prst="roundRect">
            <a:avLst>
              <a:gd name="adj" fmla="val 4321"/>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2" name="Shape 9"/>
          <p:cNvSpPr/>
          <p:nvPr/>
        </p:nvSpPr>
        <p:spPr>
          <a:xfrm>
            <a:off x="5202936" y="1746504"/>
            <a:ext cx="420624" cy="420624"/>
          </a:xfrm>
          <a:prstGeom prst="roundRect">
            <a:avLst>
              <a:gd name="adj" fmla="val 19565"/>
            </a:avLst>
          </a:prstGeom>
          <a:solidFill>
            <a:srgbClr val="1B5E20"/>
          </a:solidFill>
          <a:ln/>
        </p:spPr>
      </p:sp>
      <p:sp>
        <p:nvSpPr>
          <p:cNvPr id="13" name="Text 10"/>
          <p:cNvSpPr/>
          <p:nvPr/>
        </p:nvSpPr>
        <p:spPr>
          <a:xfrm>
            <a:off x="5202936" y="17465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01</a:t>
            </a:r>
            <a:endParaRPr lang="en-US" sz="1400" dirty="0"/>
          </a:p>
        </p:txBody>
      </p:sp>
      <p:sp>
        <p:nvSpPr>
          <p:cNvPr id="14" name="Text 11"/>
          <p:cNvSpPr/>
          <p:nvPr/>
        </p:nvSpPr>
        <p:spPr>
          <a:xfrm>
            <a:off x="5788152" y="1709928"/>
            <a:ext cx="5426050" cy="384048"/>
          </a:xfrm>
          <a:prstGeom prst="rect">
            <a:avLst/>
          </a:prstGeom>
          <a:noFill/>
          <a:ln/>
        </p:spPr>
        <p:txBody>
          <a:bodyPr wrap="square" lIns="0" tIns="0" rIns="0" bIns="0" rtlCol="0" anchor="ctr"/>
          <a:lstStyle/>
          <a:p>
            <a:pPr indent="0" marL="0">
              <a:buNone/>
            </a:pPr>
            <a:r>
              <a:rPr lang="en-US" sz="1600" b="1" dirty="0">
                <a:solidFill>
                  <a:srgbClr val="1B5E20"/>
                </a:solidFill>
                <a:latin typeface="Noto Sans JP" pitchFamily="34" charset="0"/>
                <a:ea typeface="Noto Sans JP" pitchFamily="34" charset="-122"/>
                <a:cs typeface="Noto Sans JP" pitchFamily="34" charset="-120"/>
              </a:rPr>
              <a:t>管理・教育コストの大幅削減</a:t>
            </a:r>
            <a:endParaRPr lang="en-US" sz="1600" dirty="0"/>
          </a:p>
        </p:txBody>
      </p:sp>
      <p:sp>
        <p:nvSpPr>
          <p:cNvPr id="15" name="Text 12"/>
          <p:cNvSpPr/>
          <p:nvPr/>
        </p:nvSpPr>
        <p:spPr>
          <a:xfrm>
            <a:off x="5788152" y="2148840"/>
            <a:ext cx="5426050" cy="566928"/>
          </a:xfrm>
          <a:prstGeom prst="rect">
            <a:avLst/>
          </a:prstGeom>
          <a:noFill/>
          <a:ln/>
        </p:spPr>
        <p:txBody>
          <a:bodyPr wrap="square" lIns="0" tIns="0" rIns="0" bIns="0" rtlCol="0" anchor="t"/>
          <a:lstStyle/>
          <a:p>
            <a:pPr indent="0" marL="0">
              <a:lnSpc>
                <a:spcPct val="130000"/>
              </a:lnSpc>
              <a:buNone/>
            </a:pPr>
            <a:r>
              <a:rPr lang="en-US" sz="1150" dirty="0">
                <a:solidFill>
                  <a:srgbClr val="3B3833"/>
                </a:solidFill>
                <a:latin typeface="Noto Sans JP" pitchFamily="34" charset="0"/>
                <a:ea typeface="Noto Sans JP" pitchFamily="34" charset="-122"/>
                <a:cs typeface="Noto Sans JP" pitchFamily="34" charset="-120"/>
              </a:rPr>
              <a:t>スタッフ管理に伴う工数や人的リスクを抑え、運営にかかる負担を軽減します。</a:t>
            </a:r>
            <a:endParaRPr lang="en-US" sz="1150" dirty="0"/>
          </a:p>
        </p:txBody>
      </p:sp>
      <p:sp>
        <p:nvSpPr>
          <p:cNvPr id="16" name="Shape 13"/>
          <p:cNvSpPr/>
          <p:nvPr/>
        </p:nvSpPr>
        <p:spPr>
          <a:xfrm>
            <a:off x="4892040" y="3099816"/>
            <a:ext cx="6633058" cy="1481328"/>
          </a:xfrm>
          <a:prstGeom prst="roundRect">
            <a:avLst>
              <a:gd name="adj" fmla="val 4321"/>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7" name="Shape 14"/>
          <p:cNvSpPr/>
          <p:nvPr/>
        </p:nvSpPr>
        <p:spPr>
          <a:xfrm>
            <a:off x="5202936" y="3429000"/>
            <a:ext cx="420624" cy="420624"/>
          </a:xfrm>
          <a:prstGeom prst="roundRect">
            <a:avLst>
              <a:gd name="adj" fmla="val 19565"/>
            </a:avLst>
          </a:prstGeom>
          <a:solidFill>
            <a:srgbClr val="1B5E20"/>
          </a:solidFill>
          <a:ln/>
        </p:spPr>
      </p:sp>
      <p:sp>
        <p:nvSpPr>
          <p:cNvPr id="18" name="Text 15"/>
          <p:cNvSpPr/>
          <p:nvPr/>
        </p:nvSpPr>
        <p:spPr>
          <a:xfrm>
            <a:off x="5202936" y="34290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02</a:t>
            </a:r>
            <a:endParaRPr lang="en-US" sz="1400" dirty="0"/>
          </a:p>
        </p:txBody>
      </p:sp>
      <p:sp>
        <p:nvSpPr>
          <p:cNvPr id="19" name="Text 16"/>
          <p:cNvSpPr/>
          <p:nvPr/>
        </p:nvSpPr>
        <p:spPr>
          <a:xfrm>
            <a:off x="5788152" y="3392424"/>
            <a:ext cx="5426050" cy="384048"/>
          </a:xfrm>
          <a:prstGeom prst="rect">
            <a:avLst/>
          </a:prstGeom>
          <a:noFill/>
          <a:ln/>
        </p:spPr>
        <p:txBody>
          <a:bodyPr wrap="square" lIns="0" tIns="0" rIns="0" bIns="0" rtlCol="0" anchor="ctr"/>
          <a:lstStyle/>
          <a:p>
            <a:pPr indent="0" marL="0">
              <a:buNone/>
            </a:pPr>
            <a:r>
              <a:rPr lang="en-US" sz="1600" b="1" dirty="0">
                <a:solidFill>
                  <a:srgbClr val="1B5E20"/>
                </a:solidFill>
                <a:latin typeface="Noto Sans JP" pitchFamily="34" charset="0"/>
                <a:ea typeface="Noto Sans JP" pitchFamily="34" charset="-122"/>
                <a:cs typeface="Noto Sans JP" pitchFamily="34" charset="-120"/>
              </a:rPr>
              <a:t>省人力運営で、無駄な人件費をカット</a:t>
            </a:r>
            <a:endParaRPr lang="en-US" sz="1600" dirty="0"/>
          </a:p>
        </p:txBody>
      </p:sp>
      <p:sp>
        <p:nvSpPr>
          <p:cNvPr id="20" name="Text 17"/>
          <p:cNvSpPr/>
          <p:nvPr/>
        </p:nvSpPr>
        <p:spPr>
          <a:xfrm>
            <a:off x="5788152" y="3831336"/>
            <a:ext cx="5426050" cy="566928"/>
          </a:xfrm>
          <a:prstGeom prst="rect">
            <a:avLst/>
          </a:prstGeom>
          <a:noFill/>
          <a:ln/>
        </p:spPr>
        <p:txBody>
          <a:bodyPr wrap="square" lIns="0" tIns="0" rIns="0" bIns="0" rtlCol="0" anchor="t"/>
          <a:lstStyle/>
          <a:p>
            <a:pPr indent="0" marL="0">
              <a:lnSpc>
                <a:spcPct val="130000"/>
              </a:lnSpc>
              <a:buNone/>
            </a:pPr>
            <a:r>
              <a:rPr lang="en-US" sz="1150" dirty="0">
                <a:solidFill>
                  <a:srgbClr val="3B3833"/>
                </a:solidFill>
                <a:latin typeface="Noto Sans JP" pitchFamily="34" charset="0"/>
                <a:ea typeface="Noto Sans JP" pitchFamily="34" charset="-122"/>
                <a:cs typeface="Noto Sans JP" pitchFamily="34" charset="-120"/>
              </a:rPr>
              <a:t>必要最小限の作業で回る仕組みにより、人件費を抑えながら安定した収益を確保できます。</a:t>
            </a:r>
            <a:endParaRPr lang="en-US" sz="1150" dirty="0"/>
          </a:p>
        </p:txBody>
      </p:sp>
      <p:sp>
        <p:nvSpPr>
          <p:cNvPr id="21" name="Shape 18"/>
          <p:cNvSpPr/>
          <p:nvPr/>
        </p:nvSpPr>
        <p:spPr>
          <a:xfrm>
            <a:off x="4892040" y="4782312"/>
            <a:ext cx="6633058" cy="1481328"/>
          </a:xfrm>
          <a:prstGeom prst="roundRect">
            <a:avLst>
              <a:gd name="adj" fmla="val 4321"/>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22" name="Shape 19"/>
          <p:cNvSpPr/>
          <p:nvPr/>
        </p:nvSpPr>
        <p:spPr>
          <a:xfrm>
            <a:off x="5202936" y="5111496"/>
            <a:ext cx="420624" cy="420624"/>
          </a:xfrm>
          <a:prstGeom prst="roundRect">
            <a:avLst>
              <a:gd name="adj" fmla="val 19565"/>
            </a:avLst>
          </a:prstGeom>
          <a:solidFill>
            <a:srgbClr val="1B5E20"/>
          </a:solidFill>
          <a:ln/>
        </p:spPr>
      </p:sp>
      <p:sp>
        <p:nvSpPr>
          <p:cNvPr id="23" name="Text 20"/>
          <p:cNvSpPr/>
          <p:nvPr/>
        </p:nvSpPr>
        <p:spPr>
          <a:xfrm>
            <a:off x="5202936" y="51114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03</a:t>
            </a:r>
            <a:endParaRPr lang="en-US" sz="1400" dirty="0"/>
          </a:p>
        </p:txBody>
      </p:sp>
      <p:sp>
        <p:nvSpPr>
          <p:cNvPr id="24" name="Text 21"/>
          <p:cNvSpPr/>
          <p:nvPr/>
        </p:nvSpPr>
        <p:spPr>
          <a:xfrm>
            <a:off x="5788152" y="5074920"/>
            <a:ext cx="5426050" cy="384048"/>
          </a:xfrm>
          <a:prstGeom prst="rect">
            <a:avLst/>
          </a:prstGeom>
          <a:noFill/>
          <a:ln/>
        </p:spPr>
        <p:txBody>
          <a:bodyPr wrap="square" lIns="0" tIns="0" rIns="0" bIns="0" rtlCol="0" anchor="ctr"/>
          <a:lstStyle/>
          <a:p>
            <a:pPr indent="0" marL="0">
              <a:buNone/>
            </a:pPr>
            <a:r>
              <a:rPr lang="en-US" sz="1600" b="1" dirty="0">
                <a:solidFill>
                  <a:srgbClr val="1B5E20"/>
                </a:solidFill>
                <a:latin typeface="Noto Sans JP" pitchFamily="34" charset="0"/>
                <a:ea typeface="Noto Sans JP" pitchFamily="34" charset="-122"/>
                <a:cs typeface="Noto Sans JP" pitchFamily="34" charset="-120"/>
              </a:rPr>
              <a:t>安定した収益と品質</a:t>
            </a:r>
            <a:endParaRPr lang="en-US" sz="1600" dirty="0"/>
          </a:p>
        </p:txBody>
      </p:sp>
      <p:sp>
        <p:nvSpPr>
          <p:cNvPr id="25" name="Text 22"/>
          <p:cNvSpPr/>
          <p:nvPr/>
        </p:nvSpPr>
        <p:spPr>
          <a:xfrm>
            <a:off x="5788152" y="5513832"/>
            <a:ext cx="5426050" cy="566928"/>
          </a:xfrm>
          <a:prstGeom prst="rect">
            <a:avLst/>
          </a:prstGeom>
          <a:noFill/>
          <a:ln/>
        </p:spPr>
        <p:txBody>
          <a:bodyPr wrap="square" lIns="0" tIns="0" rIns="0" bIns="0" rtlCol="0" anchor="t"/>
          <a:lstStyle/>
          <a:p>
            <a:pPr indent="0" marL="0">
              <a:lnSpc>
                <a:spcPct val="130000"/>
              </a:lnSpc>
              <a:buNone/>
            </a:pPr>
            <a:r>
              <a:rPr lang="en-US" sz="1150" dirty="0">
                <a:solidFill>
                  <a:srgbClr val="3B3833"/>
                </a:solidFill>
                <a:latin typeface="Noto Sans JP" pitchFamily="34" charset="0"/>
                <a:ea typeface="Noto Sans JP" pitchFamily="34" charset="-122"/>
                <a:cs typeface="Noto Sans JP" pitchFamily="34" charset="-120"/>
              </a:rPr>
              <a:t>属人性を排除することで、常に均一したサービス品質を維持し、運営の安定性を高めます。</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既存事業とのシナジー</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7</a:t>
            </a:r>
            <a:endParaRPr lang="en-US" sz="1300" dirty="0"/>
          </a:p>
        </p:txBody>
      </p:sp>
      <p:sp>
        <p:nvSpPr>
          <p:cNvPr id="6" name="Shape 3"/>
          <p:cNvSpPr/>
          <p:nvPr/>
        </p:nvSpPr>
        <p:spPr>
          <a:xfrm>
            <a:off x="666598" y="1280160"/>
            <a:ext cx="10858500" cy="1170432"/>
          </a:xfrm>
          <a:prstGeom prst="roundRect">
            <a:avLst>
              <a:gd name="adj" fmla="val 6250"/>
            </a:avLst>
          </a:prstGeom>
          <a:solidFill>
            <a:srgbClr val="12401A"/>
          </a:solidFill>
          <a:ln/>
          <a:effectLst>
            <a:outerShdw sx="100000" sy="100000" kx="0" ky="0" algn="bl" rotWithShape="0" blurRad="114300" dist="17780" dir="5400000">
              <a:srgbClr val="6B6250">
                <a:alpha val="14000"/>
              </a:srgbClr>
            </a:outerShdw>
          </a:effectLst>
        </p:spPr>
      </p:sp>
      <p:sp>
        <p:nvSpPr>
          <p:cNvPr id="7" name="Text 4"/>
          <p:cNvSpPr/>
          <p:nvPr/>
        </p:nvSpPr>
        <p:spPr>
          <a:xfrm>
            <a:off x="1050646" y="1389888"/>
            <a:ext cx="10090404" cy="256032"/>
          </a:xfrm>
          <a:prstGeom prst="rect">
            <a:avLst/>
          </a:prstGeom>
          <a:noFill/>
          <a:ln/>
        </p:spPr>
        <p:txBody>
          <a:bodyPr wrap="square" lIns="0" tIns="0" rIns="0" bIns="0" rtlCol="0" anchor="ctr"/>
          <a:lstStyle/>
          <a:p>
            <a:pPr indent="0" marL="0">
              <a:buNone/>
            </a:pPr>
            <a:r>
              <a:rPr lang="en-US" sz="1050" b="1" dirty="0">
                <a:solidFill>
                  <a:srgbClr val="A9C6AC"/>
                </a:solidFill>
                <a:latin typeface="Noto Sans JP" pitchFamily="34" charset="0"/>
                <a:ea typeface="Noto Sans JP" pitchFamily="34" charset="-122"/>
                <a:cs typeface="Noto Sans JP" pitchFamily="34" charset="-120"/>
              </a:rPr>
              <a:t>カフェ併設がもたらす、既存事業へのプラス効果</a:t>
            </a:r>
            <a:endParaRPr lang="en-US" sz="1050" dirty="0"/>
          </a:p>
        </p:txBody>
      </p:sp>
      <p:sp>
        <p:nvSpPr>
          <p:cNvPr id="8" name="Text 5"/>
          <p:cNvSpPr/>
          <p:nvPr/>
        </p:nvSpPr>
        <p:spPr>
          <a:xfrm>
            <a:off x="1050646" y="1700784"/>
            <a:ext cx="10090404" cy="566928"/>
          </a:xfrm>
          <a:prstGeom prst="rect">
            <a:avLst/>
          </a:prstGeom>
          <a:noFill/>
          <a:ln/>
        </p:spPr>
        <p:txBody>
          <a:bodyPr wrap="square" lIns="0" tIns="0" rIns="0" bIns="0" rtlCol="0" anchor="ctr"/>
          <a:lstStyle/>
          <a:p>
            <a:pPr indent="0" marL="0">
              <a:buNone/>
            </a:pPr>
            <a:r>
              <a:rPr lang="en-US" sz="2100" b="1" dirty="0">
                <a:solidFill>
                  <a:srgbClr val="FFFFFF"/>
                </a:solidFill>
                <a:latin typeface="Noto Sans JP" pitchFamily="34" charset="0"/>
                <a:ea typeface="Noto Sans JP" pitchFamily="34" charset="-122"/>
                <a:cs typeface="Noto Sans JP" pitchFamily="34" charset="-120"/>
              </a:rPr>
              <a:t>「待ち時間」の解消や新規集客のフックとして、カフェは最適の組み合わせです。</a:t>
            </a:r>
            <a:endParaRPr lang="en-US" sz="2100" dirty="0"/>
          </a:p>
        </p:txBody>
      </p:sp>
      <p:sp>
        <p:nvSpPr>
          <p:cNvPr id="9" name="Shape 6"/>
          <p:cNvSpPr/>
          <p:nvPr/>
        </p:nvSpPr>
        <p:spPr>
          <a:xfrm>
            <a:off x="666598" y="2651760"/>
            <a:ext cx="5276088" cy="1664208"/>
          </a:xfrm>
          <a:prstGeom prst="roundRect">
            <a:avLst>
              <a:gd name="adj" fmla="val 3846"/>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0" name="Shape 7"/>
          <p:cNvSpPr/>
          <p:nvPr/>
        </p:nvSpPr>
        <p:spPr>
          <a:xfrm>
            <a:off x="922630" y="2871216"/>
            <a:ext cx="1037844" cy="274320"/>
          </a:xfrm>
          <a:prstGeom prst="roundRect">
            <a:avLst>
              <a:gd name="adj" fmla="val 50000"/>
            </a:avLst>
          </a:prstGeom>
          <a:solidFill>
            <a:srgbClr val="1B5E20"/>
          </a:solidFill>
          <a:ln/>
        </p:spPr>
      </p:sp>
      <p:sp>
        <p:nvSpPr>
          <p:cNvPr id="11" name="Text 8"/>
          <p:cNvSpPr/>
          <p:nvPr/>
        </p:nvSpPr>
        <p:spPr>
          <a:xfrm>
            <a:off x="922630" y="2871216"/>
            <a:ext cx="1037844"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Noto Sans JP" pitchFamily="34" charset="0"/>
                <a:ea typeface="Noto Sans JP" pitchFamily="34" charset="-122"/>
                <a:cs typeface="Noto Sans JP" pitchFamily="34" charset="-120"/>
              </a:rPr>
              <a:t>待ち時間の解消</a:t>
            </a:r>
            <a:endParaRPr lang="en-US" sz="950" dirty="0"/>
          </a:p>
        </p:txBody>
      </p:sp>
      <p:sp>
        <p:nvSpPr>
          <p:cNvPr id="12" name="Text 9"/>
          <p:cNvSpPr/>
          <p:nvPr/>
        </p:nvSpPr>
        <p:spPr>
          <a:xfrm>
            <a:off x="922630" y="3218688"/>
            <a:ext cx="4764024" cy="329184"/>
          </a:xfrm>
          <a:prstGeom prst="rect">
            <a:avLst/>
          </a:prstGeom>
          <a:noFill/>
          <a:ln/>
        </p:spPr>
        <p:txBody>
          <a:bodyPr wrap="square" lIns="0" tIns="0" rIns="0" bIns="0" rtlCol="0" anchor="ctr"/>
          <a:lstStyle/>
          <a:p>
            <a:pPr indent="0" marL="0">
              <a:buNone/>
            </a:pPr>
            <a:r>
              <a:rPr lang="en-US" sz="1450" b="1" dirty="0">
                <a:solidFill>
                  <a:srgbClr val="1B5E20"/>
                </a:solidFill>
                <a:latin typeface="Noto Sans JP" pitchFamily="34" charset="0"/>
                <a:ea typeface="Noto Sans JP" pitchFamily="34" charset="-122"/>
                <a:cs typeface="Noto Sans JP" pitchFamily="34" charset="-120"/>
              </a:rPr>
              <a:t>「待つ時間」を「くつろぐ時間」へ</a:t>
            </a:r>
            <a:endParaRPr lang="en-US" sz="1450" dirty="0"/>
          </a:p>
        </p:txBody>
      </p:sp>
      <p:sp>
        <p:nvSpPr>
          <p:cNvPr id="13" name="Text 10"/>
          <p:cNvSpPr/>
          <p:nvPr/>
        </p:nvSpPr>
        <p:spPr>
          <a:xfrm>
            <a:off x="922630" y="3584448"/>
            <a:ext cx="4764024" cy="603504"/>
          </a:xfrm>
          <a:prstGeom prst="rect">
            <a:avLst/>
          </a:prstGeom>
          <a:noFill/>
          <a:ln/>
        </p:spPr>
        <p:txBody>
          <a:bodyPr wrap="square" lIns="0" tIns="0" rIns="0" bIns="0" rtlCol="0" anchor="t"/>
          <a:lstStyle/>
          <a:p>
            <a:pPr indent="0" marL="0">
              <a:lnSpc>
                <a:spcPct val="126000"/>
              </a:lnSpc>
              <a:buNone/>
            </a:pPr>
            <a:r>
              <a:rPr lang="en-US" sz="1050" dirty="0">
                <a:solidFill>
                  <a:srgbClr val="3B3833"/>
                </a:solidFill>
                <a:latin typeface="Noto Sans JP" pitchFamily="34" charset="0"/>
                <a:ea typeface="Noto Sans JP" pitchFamily="34" charset="-122"/>
                <a:cs typeface="Noto Sans JP" pitchFamily="34" charset="-120"/>
              </a:rPr>
              <a:t>書店・美容室・整体院・病院の待合・コインランドリーなど、待ち時間が生まれる場所にカフェがあるだけで顧客満足度が上がります。</a:t>
            </a:r>
            <a:endParaRPr lang="en-US" sz="1050" dirty="0"/>
          </a:p>
        </p:txBody>
      </p:sp>
      <p:sp>
        <p:nvSpPr>
          <p:cNvPr id="14" name="Shape 11"/>
          <p:cNvSpPr/>
          <p:nvPr/>
        </p:nvSpPr>
        <p:spPr>
          <a:xfrm>
            <a:off x="6239866" y="2651760"/>
            <a:ext cx="5276088" cy="1664208"/>
          </a:xfrm>
          <a:prstGeom prst="roundRect">
            <a:avLst>
              <a:gd name="adj" fmla="val 3846"/>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5" name="Shape 12"/>
          <p:cNvSpPr/>
          <p:nvPr/>
        </p:nvSpPr>
        <p:spPr>
          <a:xfrm>
            <a:off x="6495898" y="2871216"/>
            <a:ext cx="1531620" cy="274320"/>
          </a:xfrm>
          <a:prstGeom prst="roundRect">
            <a:avLst>
              <a:gd name="adj" fmla="val 50000"/>
            </a:avLst>
          </a:prstGeom>
          <a:solidFill>
            <a:srgbClr val="1B5E20"/>
          </a:solidFill>
          <a:ln/>
        </p:spPr>
      </p:sp>
      <p:sp>
        <p:nvSpPr>
          <p:cNvPr id="16" name="Text 13"/>
          <p:cNvSpPr/>
          <p:nvPr/>
        </p:nvSpPr>
        <p:spPr>
          <a:xfrm>
            <a:off x="6495898" y="2871216"/>
            <a:ext cx="15316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Noto Sans JP" pitchFamily="34" charset="0"/>
                <a:ea typeface="Noto Sans JP" pitchFamily="34" charset="-122"/>
                <a:cs typeface="Noto Sans JP" pitchFamily="34" charset="-120"/>
              </a:rPr>
              <a:t>新規集客の新しい入り口</a:t>
            </a:r>
            <a:endParaRPr lang="en-US" sz="950" dirty="0"/>
          </a:p>
        </p:txBody>
      </p:sp>
      <p:sp>
        <p:nvSpPr>
          <p:cNvPr id="17" name="Text 14"/>
          <p:cNvSpPr/>
          <p:nvPr/>
        </p:nvSpPr>
        <p:spPr>
          <a:xfrm>
            <a:off x="6495898" y="3218688"/>
            <a:ext cx="4764024" cy="329184"/>
          </a:xfrm>
          <a:prstGeom prst="rect">
            <a:avLst/>
          </a:prstGeom>
          <a:noFill/>
          <a:ln/>
        </p:spPr>
        <p:txBody>
          <a:bodyPr wrap="square" lIns="0" tIns="0" rIns="0" bIns="0" rtlCol="0" anchor="ctr"/>
          <a:lstStyle/>
          <a:p>
            <a:pPr indent="0" marL="0">
              <a:buNone/>
            </a:pPr>
            <a:r>
              <a:rPr lang="en-US" sz="1450" b="1" dirty="0">
                <a:solidFill>
                  <a:srgbClr val="1B5E20"/>
                </a:solidFill>
                <a:latin typeface="Noto Sans JP" pitchFamily="34" charset="0"/>
                <a:ea typeface="Noto Sans JP" pitchFamily="34" charset="-122"/>
                <a:cs typeface="Noto Sans JP" pitchFamily="34" charset="-120"/>
              </a:rPr>
              <a:t>「カフェ」で検索されて見つかる</a:t>
            </a:r>
            <a:endParaRPr lang="en-US" sz="1450" dirty="0"/>
          </a:p>
        </p:txBody>
      </p:sp>
      <p:sp>
        <p:nvSpPr>
          <p:cNvPr id="18" name="Text 15"/>
          <p:cNvSpPr/>
          <p:nvPr/>
        </p:nvSpPr>
        <p:spPr>
          <a:xfrm>
            <a:off x="6495898" y="3584448"/>
            <a:ext cx="4764024" cy="603504"/>
          </a:xfrm>
          <a:prstGeom prst="rect">
            <a:avLst/>
          </a:prstGeom>
          <a:noFill/>
          <a:ln/>
        </p:spPr>
        <p:txBody>
          <a:bodyPr wrap="square" lIns="0" tIns="0" rIns="0" bIns="0" rtlCol="0" anchor="t"/>
          <a:lstStyle/>
          <a:p>
            <a:pPr indent="0" marL="0">
              <a:lnSpc>
                <a:spcPct val="126000"/>
              </a:lnSpc>
              <a:buNone/>
            </a:pPr>
            <a:r>
              <a:rPr lang="en-US" sz="1050" dirty="0">
                <a:solidFill>
                  <a:srgbClr val="3B3833"/>
                </a:solidFill>
                <a:latin typeface="Noto Sans JP" pitchFamily="34" charset="0"/>
                <a:ea typeface="Noto Sans JP" pitchFamily="34" charset="-122"/>
                <a:cs typeface="Noto Sans JP" pitchFamily="34" charset="-120"/>
              </a:rPr>
              <a:t>Googleマップやカフェ検索アプリ・SNSで「近くのカフェ」を探す人にも見つけてもらえる。カフェ目的で立ち寄った人が、既存事業を初めて知る新しいお客様になります。</a:t>
            </a:r>
            <a:endParaRPr lang="en-US" sz="1050" dirty="0"/>
          </a:p>
        </p:txBody>
      </p:sp>
      <p:sp>
        <p:nvSpPr>
          <p:cNvPr id="19" name="Shape 16"/>
          <p:cNvSpPr/>
          <p:nvPr/>
        </p:nvSpPr>
        <p:spPr>
          <a:xfrm>
            <a:off x="666598" y="4517136"/>
            <a:ext cx="5276088" cy="1664208"/>
          </a:xfrm>
          <a:prstGeom prst="roundRect">
            <a:avLst>
              <a:gd name="adj" fmla="val 3846"/>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20" name="Shape 17"/>
          <p:cNvSpPr/>
          <p:nvPr/>
        </p:nvSpPr>
        <p:spPr>
          <a:xfrm>
            <a:off x="922630" y="4736592"/>
            <a:ext cx="1531620" cy="274320"/>
          </a:xfrm>
          <a:prstGeom prst="roundRect">
            <a:avLst>
              <a:gd name="adj" fmla="val 50000"/>
            </a:avLst>
          </a:prstGeom>
          <a:solidFill>
            <a:srgbClr val="1B5E20"/>
          </a:solidFill>
          <a:ln/>
        </p:spPr>
      </p:sp>
      <p:sp>
        <p:nvSpPr>
          <p:cNvPr id="21" name="Text 18"/>
          <p:cNvSpPr/>
          <p:nvPr/>
        </p:nvSpPr>
        <p:spPr>
          <a:xfrm>
            <a:off x="922630" y="4736592"/>
            <a:ext cx="15316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Noto Sans JP" pitchFamily="34" charset="0"/>
                <a:ea typeface="Noto Sans JP" pitchFamily="34" charset="-122"/>
                <a:cs typeface="Noto Sans JP" pitchFamily="34" charset="-120"/>
              </a:rPr>
              <a:t>滞在時間・回遊率アップ</a:t>
            </a:r>
            <a:endParaRPr lang="en-US" sz="950" dirty="0"/>
          </a:p>
        </p:txBody>
      </p:sp>
      <p:sp>
        <p:nvSpPr>
          <p:cNvPr id="22" name="Text 19"/>
          <p:cNvSpPr/>
          <p:nvPr/>
        </p:nvSpPr>
        <p:spPr>
          <a:xfrm>
            <a:off x="922630" y="5084064"/>
            <a:ext cx="4764024" cy="329184"/>
          </a:xfrm>
          <a:prstGeom prst="rect">
            <a:avLst/>
          </a:prstGeom>
          <a:noFill/>
          <a:ln/>
        </p:spPr>
        <p:txBody>
          <a:bodyPr wrap="square" lIns="0" tIns="0" rIns="0" bIns="0" rtlCol="0" anchor="ctr"/>
          <a:lstStyle/>
          <a:p>
            <a:pPr indent="0" marL="0">
              <a:buNone/>
            </a:pPr>
            <a:r>
              <a:rPr lang="en-US" sz="1450" b="1" dirty="0">
                <a:solidFill>
                  <a:srgbClr val="1B5E20"/>
                </a:solidFill>
                <a:latin typeface="Noto Sans JP" pitchFamily="34" charset="0"/>
                <a:ea typeface="Noto Sans JP" pitchFamily="34" charset="-122"/>
                <a:cs typeface="Noto Sans JP" pitchFamily="34" charset="-120"/>
              </a:rPr>
              <a:t>「ついで買い」のきっかけに</a:t>
            </a:r>
            <a:endParaRPr lang="en-US" sz="1450" dirty="0"/>
          </a:p>
        </p:txBody>
      </p:sp>
      <p:sp>
        <p:nvSpPr>
          <p:cNvPr id="23" name="Text 20"/>
          <p:cNvSpPr/>
          <p:nvPr/>
        </p:nvSpPr>
        <p:spPr>
          <a:xfrm>
            <a:off x="922630" y="5449824"/>
            <a:ext cx="4764024" cy="603504"/>
          </a:xfrm>
          <a:prstGeom prst="rect">
            <a:avLst/>
          </a:prstGeom>
          <a:noFill/>
          <a:ln/>
        </p:spPr>
        <p:txBody>
          <a:bodyPr wrap="square" lIns="0" tIns="0" rIns="0" bIns="0" rtlCol="0" anchor="t"/>
          <a:lstStyle/>
          <a:p>
            <a:pPr indent="0" marL="0">
              <a:lnSpc>
                <a:spcPct val="126000"/>
              </a:lnSpc>
              <a:buNone/>
            </a:pPr>
            <a:r>
              <a:rPr lang="en-US" sz="1050" dirty="0">
                <a:solidFill>
                  <a:srgbClr val="3B3833"/>
                </a:solidFill>
                <a:latin typeface="Noto Sans JP" pitchFamily="34" charset="0"/>
                <a:ea typeface="Noto Sans JP" pitchFamily="34" charset="-122"/>
                <a:cs typeface="Noto Sans JP" pitchFamily="34" charset="-120"/>
              </a:rPr>
              <a:t>コーヒー片手に店内をゆっくり見て回れるようになり、滞在時間が伸びて追加購入・再来店のきっかけが増えます。</a:t>
            </a:r>
            <a:endParaRPr lang="en-US" sz="1050" dirty="0"/>
          </a:p>
        </p:txBody>
      </p:sp>
      <p:sp>
        <p:nvSpPr>
          <p:cNvPr id="24" name="Shape 21"/>
          <p:cNvSpPr/>
          <p:nvPr/>
        </p:nvSpPr>
        <p:spPr>
          <a:xfrm>
            <a:off x="6239866" y="4517136"/>
            <a:ext cx="5276088" cy="1664208"/>
          </a:xfrm>
          <a:prstGeom prst="roundRect">
            <a:avLst>
              <a:gd name="adj" fmla="val 3846"/>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25" name="Shape 22"/>
          <p:cNvSpPr/>
          <p:nvPr/>
        </p:nvSpPr>
        <p:spPr>
          <a:xfrm>
            <a:off x="6495898" y="4736592"/>
            <a:ext cx="1408176" cy="274320"/>
          </a:xfrm>
          <a:prstGeom prst="roundRect">
            <a:avLst>
              <a:gd name="adj" fmla="val 50000"/>
            </a:avLst>
          </a:prstGeom>
          <a:solidFill>
            <a:srgbClr val="1B5E20"/>
          </a:solidFill>
          <a:ln/>
        </p:spPr>
      </p:sp>
      <p:sp>
        <p:nvSpPr>
          <p:cNvPr id="26" name="Text 23"/>
          <p:cNvSpPr/>
          <p:nvPr/>
        </p:nvSpPr>
        <p:spPr>
          <a:xfrm>
            <a:off x="6495898" y="4736592"/>
            <a:ext cx="140817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Noto Sans JP" pitchFamily="34" charset="0"/>
                <a:ea typeface="Noto Sans JP" pitchFamily="34" charset="-122"/>
                <a:cs typeface="Noto Sans JP" pitchFamily="34" charset="-120"/>
              </a:rPr>
              <a:t>省スペース・低コスト</a:t>
            </a:r>
            <a:endParaRPr lang="en-US" sz="950" dirty="0"/>
          </a:p>
        </p:txBody>
      </p:sp>
      <p:sp>
        <p:nvSpPr>
          <p:cNvPr id="27" name="Text 24"/>
          <p:cNvSpPr/>
          <p:nvPr/>
        </p:nvSpPr>
        <p:spPr>
          <a:xfrm>
            <a:off x="6495898" y="5084064"/>
            <a:ext cx="4764024" cy="329184"/>
          </a:xfrm>
          <a:prstGeom prst="rect">
            <a:avLst/>
          </a:prstGeom>
          <a:noFill/>
          <a:ln/>
        </p:spPr>
        <p:txBody>
          <a:bodyPr wrap="square" lIns="0" tIns="0" rIns="0" bIns="0" rtlCol="0" anchor="ctr"/>
          <a:lstStyle/>
          <a:p>
            <a:pPr indent="0" marL="0">
              <a:buNone/>
            </a:pPr>
            <a:r>
              <a:rPr lang="en-US" sz="1450" b="1" dirty="0">
                <a:solidFill>
                  <a:srgbClr val="1B5E20"/>
                </a:solidFill>
                <a:latin typeface="Noto Sans JP" pitchFamily="34" charset="0"/>
                <a:ea typeface="Noto Sans JP" pitchFamily="34" charset="-122"/>
                <a:cs typeface="Noto Sans JP" pitchFamily="34" charset="-120"/>
              </a:rPr>
              <a:t>セルフ型だから始めやすい</a:t>
            </a:r>
            <a:endParaRPr lang="en-US" sz="1450" dirty="0"/>
          </a:p>
        </p:txBody>
      </p:sp>
      <p:sp>
        <p:nvSpPr>
          <p:cNvPr id="28" name="Text 25"/>
          <p:cNvSpPr/>
          <p:nvPr/>
        </p:nvSpPr>
        <p:spPr>
          <a:xfrm>
            <a:off x="6495898" y="5449824"/>
            <a:ext cx="4764024" cy="603504"/>
          </a:xfrm>
          <a:prstGeom prst="rect">
            <a:avLst/>
          </a:prstGeom>
          <a:noFill/>
          <a:ln/>
        </p:spPr>
        <p:txBody>
          <a:bodyPr wrap="square" lIns="0" tIns="0" rIns="0" bIns="0" rtlCol="0" anchor="t"/>
          <a:lstStyle/>
          <a:p>
            <a:pPr indent="0" marL="0">
              <a:lnSpc>
                <a:spcPct val="126000"/>
              </a:lnSpc>
              <a:buNone/>
            </a:pPr>
            <a:r>
              <a:rPr lang="en-US" sz="1050" dirty="0">
                <a:solidFill>
                  <a:srgbClr val="3B3833"/>
                </a:solidFill>
                <a:latin typeface="Noto Sans JP" pitchFamily="34" charset="0"/>
                <a:ea typeface="Noto Sans JP" pitchFamily="34" charset="-122"/>
                <a:cs typeface="Noto Sans JP" pitchFamily="34" charset="-120"/>
              </a:rPr>
              <a:t>専任スタッフ不要。レジ横や待合の小さなスペースに設置でき、大掛かりな工事や人員追加なしで導入できます。</a:t>
            </a:r>
            <a:endParaRPr lang="en-US" sz="1050" dirty="0"/>
          </a:p>
        </p:txBody>
      </p:sp>
      <p:sp>
        <p:nvSpPr>
          <p:cNvPr id="29" name="Text 26"/>
          <p:cNvSpPr/>
          <p:nvPr/>
        </p:nvSpPr>
        <p:spPr>
          <a:xfrm>
            <a:off x="666598" y="6217920"/>
            <a:ext cx="10858500" cy="219456"/>
          </a:xfrm>
          <a:prstGeom prst="rect">
            <a:avLst/>
          </a:prstGeom>
          <a:noFill/>
          <a:ln/>
        </p:spPr>
        <p:txBody>
          <a:bodyPr wrap="square" lIns="0" tIns="0" rIns="0" bIns="0" rtlCol="0" anchor="ctr"/>
          <a:lstStyle/>
          <a:p>
            <a:pPr indent="0" marL="0">
              <a:buNone/>
            </a:pPr>
            <a:r>
              <a:rPr lang="en-US" sz="950" dirty="0">
                <a:solidFill>
                  <a:srgbClr val="9A948A"/>
                </a:solidFill>
                <a:latin typeface="Noto Sans JP" pitchFamily="34" charset="0"/>
                <a:ea typeface="Noto Sans JP" pitchFamily="34" charset="-122"/>
                <a:cs typeface="Noto Sans JP" pitchFamily="34" charset="-120"/>
              </a:rPr>
              <a:t>※待合スペース・レジ横カウンターなど、限られたスペースでも設置可能です。</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セルフカフェとは</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8</a:t>
            </a:r>
            <a:endParaRPr lang="en-US" sz="1300" dirty="0"/>
          </a:p>
        </p:txBody>
      </p:sp>
      <p:sp>
        <p:nvSpPr>
          <p:cNvPr id="6" name="Shape 3"/>
          <p:cNvSpPr/>
          <p:nvPr/>
        </p:nvSpPr>
        <p:spPr>
          <a:xfrm>
            <a:off x="666598" y="1417320"/>
            <a:ext cx="5989320" cy="1005840"/>
          </a:xfrm>
          <a:prstGeom prst="roundRect">
            <a:avLst>
              <a:gd name="adj" fmla="val 6364"/>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7" name="Shape 4"/>
          <p:cNvSpPr/>
          <p:nvPr/>
        </p:nvSpPr>
        <p:spPr>
          <a:xfrm>
            <a:off x="940918" y="1709928"/>
            <a:ext cx="420624" cy="420624"/>
          </a:xfrm>
          <a:prstGeom prst="roundRect">
            <a:avLst>
              <a:gd name="adj" fmla="val 19565"/>
            </a:avLst>
          </a:prstGeom>
          <a:solidFill>
            <a:srgbClr val="1B5E20"/>
          </a:solidFill>
          <a:ln/>
        </p:spPr>
      </p:sp>
      <p:sp>
        <p:nvSpPr>
          <p:cNvPr id="8" name="Text 5"/>
          <p:cNvSpPr/>
          <p:nvPr/>
        </p:nvSpPr>
        <p:spPr>
          <a:xfrm>
            <a:off x="940918" y="17099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01</a:t>
            </a:r>
            <a:endParaRPr lang="en-US" sz="1400" dirty="0"/>
          </a:p>
        </p:txBody>
      </p:sp>
      <p:sp>
        <p:nvSpPr>
          <p:cNvPr id="9" name="Text 6"/>
          <p:cNvSpPr/>
          <p:nvPr/>
        </p:nvSpPr>
        <p:spPr>
          <a:xfrm>
            <a:off x="1526134" y="1600200"/>
            <a:ext cx="4855464" cy="329184"/>
          </a:xfrm>
          <a:prstGeom prst="rect">
            <a:avLst/>
          </a:prstGeom>
          <a:noFill/>
          <a:ln/>
        </p:spPr>
        <p:txBody>
          <a:bodyPr wrap="square" lIns="0" tIns="0" rIns="0" bIns="0" rtlCol="0" anchor="ctr"/>
          <a:lstStyle/>
          <a:p>
            <a:pPr indent="0" marL="0">
              <a:buNone/>
            </a:pPr>
            <a:r>
              <a:rPr lang="en-US" sz="1600" b="1" dirty="0">
                <a:solidFill>
                  <a:srgbClr val="1B5E20"/>
                </a:solidFill>
                <a:latin typeface="Noto Sans JP" pitchFamily="34" charset="0"/>
                <a:ea typeface="Noto Sans JP" pitchFamily="34" charset="-122"/>
                <a:cs typeface="Noto Sans JP" pitchFamily="34" charset="-120"/>
              </a:rPr>
              <a:t>お家のような</a:t>
            </a:r>
            <a:endParaRPr lang="en-US" sz="1600" dirty="0"/>
          </a:p>
        </p:txBody>
      </p:sp>
      <p:sp>
        <p:nvSpPr>
          <p:cNvPr id="10" name="Text 7"/>
          <p:cNvSpPr/>
          <p:nvPr/>
        </p:nvSpPr>
        <p:spPr>
          <a:xfrm>
            <a:off x="1526134" y="1947672"/>
            <a:ext cx="4855464" cy="310896"/>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寛ぎすぎないが、設備が整った集中環境。</a:t>
            </a:r>
            <a:endParaRPr lang="en-US" sz="1150" dirty="0"/>
          </a:p>
        </p:txBody>
      </p:sp>
      <p:sp>
        <p:nvSpPr>
          <p:cNvPr id="11" name="Shape 8"/>
          <p:cNvSpPr/>
          <p:nvPr/>
        </p:nvSpPr>
        <p:spPr>
          <a:xfrm>
            <a:off x="666598" y="2569464"/>
            <a:ext cx="5989320" cy="1005840"/>
          </a:xfrm>
          <a:prstGeom prst="roundRect">
            <a:avLst>
              <a:gd name="adj" fmla="val 6364"/>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2" name="Shape 9"/>
          <p:cNvSpPr/>
          <p:nvPr/>
        </p:nvSpPr>
        <p:spPr>
          <a:xfrm>
            <a:off x="940918" y="2862072"/>
            <a:ext cx="420624" cy="420624"/>
          </a:xfrm>
          <a:prstGeom prst="roundRect">
            <a:avLst>
              <a:gd name="adj" fmla="val 19565"/>
            </a:avLst>
          </a:prstGeom>
          <a:solidFill>
            <a:srgbClr val="1B5E20"/>
          </a:solidFill>
          <a:ln/>
        </p:spPr>
      </p:sp>
      <p:sp>
        <p:nvSpPr>
          <p:cNvPr id="13" name="Text 10"/>
          <p:cNvSpPr/>
          <p:nvPr/>
        </p:nvSpPr>
        <p:spPr>
          <a:xfrm>
            <a:off x="940918" y="28620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02</a:t>
            </a:r>
            <a:endParaRPr lang="en-US" sz="1400" dirty="0"/>
          </a:p>
        </p:txBody>
      </p:sp>
      <p:sp>
        <p:nvSpPr>
          <p:cNvPr id="14" name="Text 11"/>
          <p:cNvSpPr/>
          <p:nvPr/>
        </p:nvSpPr>
        <p:spPr>
          <a:xfrm>
            <a:off x="1526134" y="2752344"/>
            <a:ext cx="4855464" cy="329184"/>
          </a:xfrm>
          <a:prstGeom prst="rect">
            <a:avLst/>
          </a:prstGeom>
          <a:noFill/>
          <a:ln/>
        </p:spPr>
        <p:txBody>
          <a:bodyPr wrap="square" lIns="0" tIns="0" rIns="0" bIns="0" rtlCol="0" anchor="ctr"/>
          <a:lstStyle/>
          <a:p>
            <a:pPr indent="0" marL="0">
              <a:buNone/>
            </a:pPr>
            <a:r>
              <a:rPr lang="en-US" sz="1600" b="1" dirty="0">
                <a:solidFill>
                  <a:srgbClr val="1B5E20"/>
                </a:solidFill>
                <a:latin typeface="Noto Sans JP" pitchFamily="34" charset="0"/>
                <a:ea typeface="Noto Sans JP" pitchFamily="34" charset="-122"/>
                <a:cs typeface="Noto Sans JP" pitchFamily="34" charset="-120"/>
              </a:rPr>
              <a:t>カフェのような</a:t>
            </a:r>
            <a:endParaRPr lang="en-US" sz="1600" dirty="0"/>
          </a:p>
        </p:txBody>
      </p:sp>
      <p:sp>
        <p:nvSpPr>
          <p:cNvPr id="15" name="Text 12"/>
          <p:cNvSpPr/>
          <p:nvPr/>
        </p:nvSpPr>
        <p:spPr>
          <a:xfrm>
            <a:off x="1526134" y="3099816"/>
            <a:ext cx="4855464" cy="310896"/>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食事はないが、時間を気にせず美味しいコーヒーが飲める。</a:t>
            </a:r>
            <a:endParaRPr lang="en-US" sz="1150" dirty="0"/>
          </a:p>
        </p:txBody>
      </p:sp>
      <p:sp>
        <p:nvSpPr>
          <p:cNvPr id="16" name="Shape 13"/>
          <p:cNvSpPr/>
          <p:nvPr/>
        </p:nvSpPr>
        <p:spPr>
          <a:xfrm>
            <a:off x="666598" y="3721608"/>
            <a:ext cx="5989320" cy="1005840"/>
          </a:xfrm>
          <a:prstGeom prst="roundRect">
            <a:avLst>
              <a:gd name="adj" fmla="val 6364"/>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7" name="Shape 14"/>
          <p:cNvSpPr/>
          <p:nvPr/>
        </p:nvSpPr>
        <p:spPr>
          <a:xfrm>
            <a:off x="940918" y="4014216"/>
            <a:ext cx="420624" cy="420624"/>
          </a:xfrm>
          <a:prstGeom prst="roundRect">
            <a:avLst>
              <a:gd name="adj" fmla="val 19565"/>
            </a:avLst>
          </a:prstGeom>
          <a:solidFill>
            <a:srgbClr val="1B5E20"/>
          </a:solidFill>
          <a:ln/>
        </p:spPr>
      </p:sp>
      <p:sp>
        <p:nvSpPr>
          <p:cNvPr id="18" name="Text 15"/>
          <p:cNvSpPr/>
          <p:nvPr/>
        </p:nvSpPr>
        <p:spPr>
          <a:xfrm>
            <a:off x="940918" y="401421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03</a:t>
            </a:r>
            <a:endParaRPr lang="en-US" sz="1400" dirty="0"/>
          </a:p>
        </p:txBody>
      </p:sp>
      <p:sp>
        <p:nvSpPr>
          <p:cNvPr id="19" name="Text 16"/>
          <p:cNvSpPr/>
          <p:nvPr/>
        </p:nvSpPr>
        <p:spPr>
          <a:xfrm>
            <a:off x="1526134" y="3904488"/>
            <a:ext cx="4855464" cy="329184"/>
          </a:xfrm>
          <a:prstGeom prst="rect">
            <a:avLst/>
          </a:prstGeom>
          <a:noFill/>
          <a:ln/>
        </p:spPr>
        <p:txBody>
          <a:bodyPr wrap="square" lIns="0" tIns="0" rIns="0" bIns="0" rtlCol="0" anchor="ctr"/>
          <a:lstStyle/>
          <a:p>
            <a:pPr indent="0" marL="0">
              <a:buNone/>
            </a:pPr>
            <a:r>
              <a:rPr lang="en-US" sz="1600" b="1" dirty="0">
                <a:solidFill>
                  <a:srgbClr val="1B5E20"/>
                </a:solidFill>
                <a:latin typeface="Noto Sans JP" pitchFamily="34" charset="0"/>
                <a:ea typeface="Noto Sans JP" pitchFamily="34" charset="-122"/>
                <a:cs typeface="Noto Sans JP" pitchFamily="34" charset="-120"/>
              </a:rPr>
              <a:t>図書館のような</a:t>
            </a:r>
            <a:endParaRPr lang="en-US" sz="1600" dirty="0"/>
          </a:p>
        </p:txBody>
      </p:sp>
      <p:sp>
        <p:nvSpPr>
          <p:cNvPr id="20" name="Text 17"/>
          <p:cNvSpPr/>
          <p:nvPr/>
        </p:nvSpPr>
        <p:spPr>
          <a:xfrm>
            <a:off x="1526134" y="4251960"/>
            <a:ext cx="4855464" cy="310896"/>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静かすぎない、適度な賑やかさがある。</a:t>
            </a:r>
            <a:endParaRPr lang="en-US" sz="1150" dirty="0"/>
          </a:p>
        </p:txBody>
      </p:sp>
      <p:sp>
        <p:nvSpPr>
          <p:cNvPr id="21" name="Shape 18"/>
          <p:cNvSpPr/>
          <p:nvPr/>
        </p:nvSpPr>
        <p:spPr>
          <a:xfrm>
            <a:off x="666598" y="4974336"/>
            <a:ext cx="5989320" cy="1280160"/>
          </a:xfrm>
          <a:prstGeom prst="roundRect">
            <a:avLst>
              <a:gd name="adj" fmla="val 5714"/>
            </a:avLst>
          </a:prstGeom>
          <a:solidFill>
            <a:srgbClr val="12401A"/>
          </a:solidFill>
          <a:ln/>
          <a:effectLst>
            <a:outerShdw sx="100000" sy="100000" kx="0" ky="0" algn="bl" rotWithShape="0" blurRad="114300" dist="17780" dir="5400000">
              <a:srgbClr val="6B6250">
                <a:alpha val="14000"/>
              </a:srgbClr>
            </a:outerShdw>
          </a:effectLst>
        </p:spPr>
      </p:sp>
      <p:sp>
        <p:nvSpPr>
          <p:cNvPr id="22" name="Text 19"/>
          <p:cNvSpPr/>
          <p:nvPr/>
        </p:nvSpPr>
        <p:spPr>
          <a:xfrm>
            <a:off x="1032358" y="5120640"/>
            <a:ext cx="5257800" cy="365760"/>
          </a:xfrm>
          <a:prstGeom prst="rect">
            <a:avLst/>
          </a:prstGeom>
          <a:noFill/>
          <a:ln/>
        </p:spPr>
        <p:txBody>
          <a:bodyPr wrap="square" lIns="0" tIns="0" rIns="0" bIns="0" rtlCol="0" anchor="ctr"/>
          <a:lstStyle/>
          <a:p>
            <a:pPr indent="0" marL="0">
              <a:buNone/>
            </a:pPr>
            <a:r>
              <a:rPr lang="en-US" sz="1400" dirty="0">
                <a:solidFill>
                  <a:srgbClr val="A9C6AC"/>
                </a:solidFill>
                <a:latin typeface="Noto Sans JP" pitchFamily="34" charset="0"/>
                <a:ea typeface="Noto Sans JP" pitchFamily="34" charset="-122"/>
                <a:cs typeface="Noto Sans JP" pitchFamily="34" charset="-120"/>
              </a:rPr>
              <a:t>「誰もが気軽に使える」</a:t>
            </a:r>
            <a:endParaRPr lang="en-US" sz="1400" dirty="0"/>
          </a:p>
        </p:txBody>
      </p:sp>
      <p:sp>
        <p:nvSpPr>
          <p:cNvPr id="23" name="Text 20"/>
          <p:cNvSpPr/>
          <p:nvPr/>
        </p:nvSpPr>
        <p:spPr>
          <a:xfrm>
            <a:off x="1032358" y="5504688"/>
            <a:ext cx="5257800" cy="566928"/>
          </a:xfrm>
          <a:prstGeom prst="rect">
            <a:avLst/>
          </a:prstGeom>
          <a:noFill/>
          <a:ln/>
        </p:spPr>
        <p:txBody>
          <a:bodyPr wrap="square" lIns="0" tIns="0" rIns="0" bIns="0" rtlCol="0" anchor="ctr"/>
          <a:lstStyle/>
          <a:p>
            <a:pPr indent="0" marL="0">
              <a:buNone/>
            </a:pPr>
            <a:r>
              <a:rPr lang="en-US" sz="2700" b="1" dirty="0">
                <a:solidFill>
                  <a:srgbClr val="FFFFFF"/>
                </a:solidFill>
                <a:latin typeface="Noto Sans JP" pitchFamily="34" charset="0"/>
                <a:ea typeface="Noto Sans JP" pitchFamily="34" charset="-122"/>
                <a:cs typeface="Noto Sans JP" pitchFamily="34" charset="-120"/>
              </a:rPr>
              <a:t>第三の居場所</a:t>
            </a:r>
            <a:endParaRPr lang="en-US" sz="2700" dirty="0"/>
          </a:p>
        </p:txBody>
      </p:sp>
      <p:sp>
        <p:nvSpPr>
          <p:cNvPr id="24" name="Shape 21"/>
          <p:cNvSpPr/>
          <p:nvPr/>
        </p:nvSpPr>
        <p:spPr>
          <a:xfrm>
            <a:off x="6949440" y="1417320"/>
            <a:ext cx="4575658" cy="4837176"/>
          </a:xfrm>
          <a:prstGeom prst="roundRect">
            <a:avLst>
              <a:gd name="adj" fmla="val 1399"/>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25" name="Text 22"/>
          <p:cNvSpPr/>
          <p:nvPr/>
        </p:nvSpPr>
        <p:spPr>
          <a:xfrm>
            <a:off x="7260336" y="1627632"/>
            <a:ext cx="3953866" cy="237744"/>
          </a:xfrm>
          <a:prstGeom prst="rect">
            <a:avLst/>
          </a:prstGeom>
          <a:noFill/>
          <a:ln/>
        </p:spPr>
        <p:txBody>
          <a:bodyPr wrap="square" lIns="0" tIns="0" rIns="0" bIns="0" rtlCol="0" anchor="ctr"/>
          <a:lstStyle/>
          <a:p>
            <a:pPr indent="0" marL="0">
              <a:buNone/>
            </a:pPr>
            <a:r>
              <a:rPr lang="en-US" sz="1050" b="1" dirty="0">
                <a:solidFill>
                  <a:srgbClr val="5D4037"/>
                </a:solidFill>
                <a:latin typeface="Noto Sans JP" pitchFamily="34" charset="0"/>
                <a:ea typeface="Noto Sans JP" pitchFamily="34" charset="-122"/>
                <a:cs typeface="Noto Sans JP" pitchFamily="34" charset="-120"/>
              </a:rPr>
              <a:t>展開エリア</a:t>
            </a:r>
            <a:endParaRPr lang="en-US" sz="1050" dirty="0"/>
          </a:p>
        </p:txBody>
      </p:sp>
      <p:sp>
        <p:nvSpPr>
          <p:cNvPr id="26" name="Text 23"/>
          <p:cNvSpPr/>
          <p:nvPr/>
        </p:nvSpPr>
        <p:spPr>
          <a:xfrm>
            <a:off x="7260336" y="1883664"/>
            <a:ext cx="3953866" cy="603504"/>
          </a:xfrm>
          <a:prstGeom prst="rect">
            <a:avLst/>
          </a:prstGeom>
          <a:noFill/>
          <a:ln/>
        </p:spPr>
        <p:txBody>
          <a:bodyPr wrap="square" lIns="0" tIns="0" rIns="0" bIns="0" rtlCol="0" anchor="ctr"/>
          <a:lstStyle/>
          <a:p>
            <a:pPr algn="l" indent="0" marL="0">
              <a:buNone/>
            </a:pPr>
            <a:r>
              <a:rPr lang="en-US" sz="4600" b="1" dirty="0">
                <a:solidFill>
                  <a:srgbClr val="1B5E20"/>
                </a:solidFill>
                <a:latin typeface="Arial" pitchFamily="34" charset="0"/>
                <a:ea typeface="Arial" pitchFamily="34" charset="-122"/>
                <a:cs typeface="Arial" pitchFamily="34" charset="-120"/>
              </a:rPr>
              <a:t>65</a:t>
            </a:r>
            <a:pPr algn="l" indent="0" marL="0">
              <a:buNone/>
            </a:pPr>
            <a:r>
              <a:rPr lang="en-US" sz="1500" b="1" dirty="0">
                <a:solidFill>
                  <a:srgbClr val="1B5E20"/>
                </a:solidFill>
                <a:latin typeface="Noto Sans JP" pitchFamily="34" charset="0"/>
                <a:ea typeface="Noto Sans JP" pitchFamily="34" charset="-122"/>
                <a:cs typeface="Noto Sans JP" pitchFamily="34" charset="-120"/>
              </a:rPr>
              <a:t> 店舗以上</a:t>
            </a:r>
            <a:endParaRPr lang="en-US" sz="4600" dirty="0"/>
          </a:p>
        </p:txBody>
      </p:sp>
      <p:sp>
        <p:nvSpPr>
          <p:cNvPr id="27" name="Shape 24"/>
          <p:cNvSpPr/>
          <p:nvPr/>
        </p:nvSpPr>
        <p:spPr>
          <a:xfrm>
            <a:off x="7260336" y="2615184"/>
            <a:ext cx="3953866" cy="10058"/>
          </a:xfrm>
          <a:prstGeom prst="rect">
            <a:avLst/>
          </a:prstGeom>
          <a:solidFill>
            <a:srgbClr val="E6DFCD"/>
          </a:solidFill>
          <a:ln/>
        </p:spPr>
      </p:sp>
      <p:sp>
        <p:nvSpPr>
          <p:cNvPr id="28" name="Text 25"/>
          <p:cNvSpPr/>
          <p:nvPr/>
        </p:nvSpPr>
        <p:spPr>
          <a:xfrm>
            <a:off x="7260336" y="2743200"/>
            <a:ext cx="1828800" cy="256032"/>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愛知県</a:t>
            </a:r>
            <a:endParaRPr lang="en-US" sz="1150" dirty="0"/>
          </a:p>
        </p:txBody>
      </p:sp>
      <p:sp>
        <p:nvSpPr>
          <p:cNvPr id="29" name="Text 26"/>
          <p:cNvSpPr/>
          <p:nvPr/>
        </p:nvSpPr>
        <p:spPr>
          <a:xfrm>
            <a:off x="9787738" y="2743200"/>
            <a:ext cx="1426464" cy="256032"/>
          </a:xfrm>
          <a:prstGeom prst="rect">
            <a:avLst/>
          </a:prstGeom>
          <a:noFill/>
          <a:ln/>
        </p:spPr>
        <p:txBody>
          <a:bodyPr wrap="square" lIns="0" tIns="0" rIns="0" bIns="0" rtlCol="0" anchor="ctr"/>
          <a:lstStyle/>
          <a:p>
            <a:pPr algn="r" indent="0" marL="0">
              <a:buNone/>
            </a:pPr>
            <a:r>
              <a:rPr lang="en-US" sz="1150" b="1" dirty="0">
                <a:solidFill>
                  <a:srgbClr val="1B5E20"/>
                </a:solidFill>
                <a:latin typeface="Noto Sans JP" pitchFamily="34" charset="0"/>
                <a:ea typeface="Noto Sans JP" pitchFamily="34" charset="-122"/>
                <a:cs typeface="Noto Sans JP" pitchFamily="34" charset="-120"/>
              </a:rPr>
              <a:t>35 店舗</a:t>
            </a:r>
            <a:endParaRPr lang="en-US" sz="1150" dirty="0"/>
          </a:p>
        </p:txBody>
      </p:sp>
      <p:sp>
        <p:nvSpPr>
          <p:cNvPr id="30" name="Text 27"/>
          <p:cNvSpPr/>
          <p:nvPr/>
        </p:nvSpPr>
        <p:spPr>
          <a:xfrm>
            <a:off x="7260336" y="3017520"/>
            <a:ext cx="1828800" cy="256032"/>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大阪府</a:t>
            </a:r>
            <a:endParaRPr lang="en-US" sz="1150" dirty="0"/>
          </a:p>
        </p:txBody>
      </p:sp>
      <p:sp>
        <p:nvSpPr>
          <p:cNvPr id="31" name="Text 28"/>
          <p:cNvSpPr/>
          <p:nvPr/>
        </p:nvSpPr>
        <p:spPr>
          <a:xfrm>
            <a:off x="9787738" y="3017520"/>
            <a:ext cx="1426464" cy="256032"/>
          </a:xfrm>
          <a:prstGeom prst="rect">
            <a:avLst/>
          </a:prstGeom>
          <a:noFill/>
          <a:ln/>
        </p:spPr>
        <p:txBody>
          <a:bodyPr wrap="square" lIns="0" tIns="0" rIns="0" bIns="0" rtlCol="0" anchor="ctr"/>
          <a:lstStyle/>
          <a:p>
            <a:pPr algn="r" indent="0" marL="0">
              <a:buNone/>
            </a:pPr>
            <a:r>
              <a:rPr lang="en-US" sz="1150" b="1" dirty="0">
                <a:solidFill>
                  <a:srgbClr val="1B5E20"/>
                </a:solidFill>
                <a:latin typeface="Noto Sans JP" pitchFamily="34" charset="0"/>
                <a:ea typeface="Noto Sans JP" pitchFamily="34" charset="-122"/>
                <a:cs typeface="Noto Sans JP" pitchFamily="34" charset="-120"/>
              </a:rPr>
              <a:t>18 店舗</a:t>
            </a:r>
            <a:endParaRPr lang="en-US" sz="1150" dirty="0"/>
          </a:p>
        </p:txBody>
      </p:sp>
      <p:sp>
        <p:nvSpPr>
          <p:cNvPr id="32" name="Text 29"/>
          <p:cNvSpPr/>
          <p:nvPr/>
        </p:nvSpPr>
        <p:spPr>
          <a:xfrm>
            <a:off x="7260336" y="3291840"/>
            <a:ext cx="1828800" cy="256032"/>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東京都</a:t>
            </a:r>
            <a:endParaRPr lang="en-US" sz="1150" dirty="0"/>
          </a:p>
        </p:txBody>
      </p:sp>
      <p:sp>
        <p:nvSpPr>
          <p:cNvPr id="33" name="Text 30"/>
          <p:cNvSpPr/>
          <p:nvPr/>
        </p:nvSpPr>
        <p:spPr>
          <a:xfrm>
            <a:off x="9787738" y="3291840"/>
            <a:ext cx="1426464" cy="256032"/>
          </a:xfrm>
          <a:prstGeom prst="rect">
            <a:avLst/>
          </a:prstGeom>
          <a:noFill/>
          <a:ln/>
        </p:spPr>
        <p:txBody>
          <a:bodyPr wrap="square" lIns="0" tIns="0" rIns="0" bIns="0" rtlCol="0" anchor="ctr"/>
          <a:lstStyle/>
          <a:p>
            <a:pPr algn="r" indent="0" marL="0">
              <a:buNone/>
            </a:pPr>
            <a:r>
              <a:rPr lang="en-US" sz="1150" b="1" dirty="0">
                <a:solidFill>
                  <a:srgbClr val="1B5E20"/>
                </a:solidFill>
                <a:latin typeface="Noto Sans JP" pitchFamily="34" charset="0"/>
                <a:ea typeface="Noto Sans JP" pitchFamily="34" charset="-122"/>
                <a:cs typeface="Noto Sans JP" pitchFamily="34" charset="-120"/>
              </a:rPr>
              <a:t>5 店舗</a:t>
            </a:r>
            <a:endParaRPr lang="en-US" sz="1150" dirty="0"/>
          </a:p>
        </p:txBody>
      </p:sp>
      <p:sp>
        <p:nvSpPr>
          <p:cNvPr id="34" name="Text 31"/>
          <p:cNvSpPr/>
          <p:nvPr/>
        </p:nvSpPr>
        <p:spPr>
          <a:xfrm>
            <a:off x="7260336" y="3566160"/>
            <a:ext cx="1828800" cy="256032"/>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岩手県</a:t>
            </a:r>
            <a:endParaRPr lang="en-US" sz="1150" dirty="0"/>
          </a:p>
        </p:txBody>
      </p:sp>
      <p:sp>
        <p:nvSpPr>
          <p:cNvPr id="35" name="Text 32"/>
          <p:cNvSpPr/>
          <p:nvPr/>
        </p:nvSpPr>
        <p:spPr>
          <a:xfrm>
            <a:off x="9787738" y="3566160"/>
            <a:ext cx="1426464" cy="256032"/>
          </a:xfrm>
          <a:prstGeom prst="rect">
            <a:avLst/>
          </a:prstGeom>
          <a:noFill/>
          <a:ln/>
        </p:spPr>
        <p:txBody>
          <a:bodyPr wrap="square" lIns="0" tIns="0" rIns="0" bIns="0" rtlCol="0" anchor="ctr"/>
          <a:lstStyle/>
          <a:p>
            <a:pPr algn="r" indent="0" marL="0">
              <a:buNone/>
            </a:pPr>
            <a:r>
              <a:rPr lang="en-US" sz="1150" b="1" dirty="0">
                <a:solidFill>
                  <a:srgbClr val="1B5E20"/>
                </a:solidFill>
                <a:latin typeface="Noto Sans JP" pitchFamily="34" charset="0"/>
                <a:ea typeface="Noto Sans JP" pitchFamily="34" charset="-122"/>
                <a:cs typeface="Noto Sans JP" pitchFamily="34" charset="-120"/>
              </a:rPr>
              <a:t>2 店舗</a:t>
            </a:r>
            <a:endParaRPr lang="en-US" sz="1150" dirty="0"/>
          </a:p>
        </p:txBody>
      </p:sp>
      <p:sp>
        <p:nvSpPr>
          <p:cNvPr id="36" name="Text 33"/>
          <p:cNvSpPr/>
          <p:nvPr/>
        </p:nvSpPr>
        <p:spPr>
          <a:xfrm>
            <a:off x="7260336" y="3840480"/>
            <a:ext cx="1828800" cy="256032"/>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岐阜県</a:t>
            </a:r>
            <a:endParaRPr lang="en-US" sz="1150" dirty="0"/>
          </a:p>
        </p:txBody>
      </p:sp>
      <p:sp>
        <p:nvSpPr>
          <p:cNvPr id="37" name="Text 34"/>
          <p:cNvSpPr/>
          <p:nvPr/>
        </p:nvSpPr>
        <p:spPr>
          <a:xfrm>
            <a:off x="9787738" y="3840480"/>
            <a:ext cx="1426464" cy="256032"/>
          </a:xfrm>
          <a:prstGeom prst="rect">
            <a:avLst/>
          </a:prstGeom>
          <a:noFill/>
          <a:ln/>
        </p:spPr>
        <p:txBody>
          <a:bodyPr wrap="square" lIns="0" tIns="0" rIns="0" bIns="0" rtlCol="0" anchor="ctr"/>
          <a:lstStyle/>
          <a:p>
            <a:pPr algn="r" indent="0" marL="0">
              <a:buNone/>
            </a:pPr>
            <a:r>
              <a:rPr lang="en-US" sz="1150" b="1" dirty="0">
                <a:solidFill>
                  <a:srgbClr val="1B5E20"/>
                </a:solidFill>
                <a:latin typeface="Noto Sans JP" pitchFamily="34" charset="0"/>
                <a:ea typeface="Noto Sans JP" pitchFamily="34" charset="-122"/>
                <a:cs typeface="Noto Sans JP" pitchFamily="34" charset="-120"/>
              </a:rPr>
              <a:t>2 店舗</a:t>
            </a:r>
            <a:endParaRPr lang="en-US" sz="1150" dirty="0"/>
          </a:p>
        </p:txBody>
      </p:sp>
      <p:sp>
        <p:nvSpPr>
          <p:cNvPr id="38" name="Text 35"/>
          <p:cNvSpPr/>
          <p:nvPr/>
        </p:nvSpPr>
        <p:spPr>
          <a:xfrm>
            <a:off x="7260336" y="4114800"/>
            <a:ext cx="1828800" cy="256032"/>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埼玉県</a:t>
            </a:r>
            <a:endParaRPr lang="en-US" sz="1150" dirty="0"/>
          </a:p>
        </p:txBody>
      </p:sp>
      <p:sp>
        <p:nvSpPr>
          <p:cNvPr id="39" name="Text 36"/>
          <p:cNvSpPr/>
          <p:nvPr/>
        </p:nvSpPr>
        <p:spPr>
          <a:xfrm>
            <a:off x="9787738" y="4114800"/>
            <a:ext cx="1426464" cy="256032"/>
          </a:xfrm>
          <a:prstGeom prst="rect">
            <a:avLst/>
          </a:prstGeom>
          <a:noFill/>
          <a:ln/>
        </p:spPr>
        <p:txBody>
          <a:bodyPr wrap="square" lIns="0" tIns="0" rIns="0" bIns="0" rtlCol="0" anchor="ctr"/>
          <a:lstStyle/>
          <a:p>
            <a:pPr algn="r" indent="0" marL="0">
              <a:buNone/>
            </a:pPr>
            <a:r>
              <a:rPr lang="en-US" sz="1150" b="1" dirty="0">
                <a:solidFill>
                  <a:srgbClr val="1B5E20"/>
                </a:solidFill>
                <a:latin typeface="Noto Sans JP" pitchFamily="34" charset="0"/>
                <a:ea typeface="Noto Sans JP" pitchFamily="34" charset="-122"/>
                <a:cs typeface="Noto Sans JP" pitchFamily="34" charset="-120"/>
              </a:rPr>
              <a:t>1 店舗</a:t>
            </a:r>
            <a:endParaRPr lang="en-US" sz="1150" dirty="0"/>
          </a:p>
        </p:txBody>
      </p:sp>
      <p:sp>
        <p:nvSpPr>
          <p:cNvPr id="40" name="Text 37"/>
          <p:cNvSpPr/>
          <p:nvPr/>
        </p:nvSpPr>
        <p:spPr>
          <a:xfrm>
            <a:off x="7260336" y="4389120"/>
            <a:ext cx="1828800" cy="256032"/>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千葉県</a:t>
            </a:r>
            <a:endParaRPr lang="en-US" sz="1150" dirty="0"/>
          </a:p>
        </p:txBody>
      </p:sp>
      <p:sp>
        <p:nvSpPr>
          <p:cNvPr id="41" name="Text 38"/>
          <p:cNvSpPr/>
          <p:nvPr/>
        </p:nvSpPr>
        <p:spPr>
          <a:xfrm>
            <a:off x="9787738" y="4389120"/>
            <a:ext cx="1426464" cy="256032"/>
          </a:xfrm>
          <a:prstGeom prst="rect">
            <a:avLst/>
          </a:prstGeom>
          <a:noFill/>
          <a:ln/>
        </p:spPr>
        <p:txBody>
          <a:bodyPr wrap="square" lIns="0" tIns="0" rIns="0" bIns="0" rtlCol="0" anchor="ctr"/>
          <a:lstStyle/>
          <a:p>
            <a:pPr algn="r" indent="0" marL="0">
              <a:buNone/>
            </a:pPr>
            <a:r>
              <a:rPr lang="en-US" sz="1150" b="1" dirty="0">
                <a:solidFill>
                  <a:srgbClr val="1B5E20"/>
                </a:solidFill>
                <a:latin typeface="Noto Sans JP" pitchFamily="34" charset="0"/>
                <a:ea typeface="Noto Sans JP" pitchFamily="34" charset="-122"/>
                <a:cs typeface="Noto Sans JP" pitchFamily="34" charset="-120"/>
              </a:rPr>
              <a:t>1 店舗</a:t>
            </a:r>
            <a:endParaRPr lang="en-US" sz="1150" dirty="0"/>
          </a:p>
        </p:txBody>
      </p:sp>
      <p:sp>
        <p:nvSpPr>
          <p:cNvPr id="42" name="Text 39"/>
          <p:cNvSpPr/>
          <p:nvPr/>
        </p:nvSpPr>
        <p:spPr>
          <a:xfrm>
            <a:off x="7260336" y="4663440"/>
            <a:ext cx="1828800" cy="256032"/>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静岡県</a:t>
            </a:r>
            <a:endParaRPr lang="en-US" sz="1150" dirty="0"/>
          </a:p>
        </p:txBody>
      </p:sp>
      <p:sp>
        <p:nvSpPr>
          <p:cNvPr id="43" name="Text 40"/>
          <p:cNvSpPr/>
          <p:nvPr/>
        </p:nvSpPr>
        <p:spPr>
          <a:xfrm>
            <a:off x="9787738" y="4663440"/>
            <a:ext cx="1426464" cy="256032"/>
          </a:xfrm>
          <a:prstGeom prst="rect">
            <a:avLst/>
          </a:prstGeom>
          <a:noFill/>
          <a:ln/>
        </p:spPr>
        <p:txBody>
          <a:bodyPr wrap="square" lIns="0" tIns="0" rIns="0" bIns="0" rtlCol="0" anchor="ctr"/>
          <a:lstStyle/>
          <a:p>
            <a:pPr algn="r" indent="0" marL="0">
              <a:buNone/>
            </a:pPr>
            <a:r>
              <a:rPr lang="en-US" sz="1150" b="1" dirty="0">
                <a:solidFill>
                  <a:srgbClr val="1B5E20"/>
                </a:solidFill>
                <a:latin typeface="Noto Sans JP" pitchFamily="34" charset="0"/>
                <a:ea typeface="Noto Sans JP" pitchFamily="34" charset="-122"/>
                <a:cs typeface="Noto Sans JP" pitchFamily="34" charset="-120"/>
              </a:rPr>
              <a:t>1 店舗</a:t>
            </a:r>
            <a:endParaRPr lang="en-US" sz="1150" dirty="0"/>
          </a:p>
        </p:txBody>
      </p:sp>
      <p:sp>
        <p:nvSpPr>
          <p:cNvPr id="44" name="Text 41"/>
          <p:cNvSpPr/>
          <p:nvPr/>
        </p:nvSpPr>
        <p:spPr>
          <a:xfrm>
            <a:off x="7260336" y="4937760"/>
            <a:ext cx="1828800" cy="256032"/>
          </a:xfrm>
          <a:prstGeom prst="rect">
            <a:avLst/>
          </a:prstGeom>
          <a:noFill/>
          <a:ln/>
        </p:spPr>
        <p:txBody>
          <a:bodyPr wrap="square" lIns="0" tIns="0" rIns="0" bIns="0" rtlCol="0" anchor="ctr"/>
          <a:lstStyle/>
          <a:p>
            <a:pPr indent="0" marL="0">
              <a:buNone/>
            </a:pPr>
            <a:r>
              <a:rPr lang="en-US" sz="1150" dirty="0">
                <a:solidFill>
                  <a:srgbClr val="3B3833"/>
                </a:solidFill>
                <a:latin typeface="Noto Sans JP" pitchFamily="34" charset="0"/>
                <a:ea typeface="Noto Sans JP" pitchFamily="34" charset="-122"/>
                <a:cs typeface="Noto Sans JP" pitchFamily="34" charset="-120"/>
              </a:rPr>
              <a:t>滋賀県</a:t>
            </a:r>
            <a:endParaRPr lang="en-US" sz="1150" dirty="0"/>
          </a:p>
        </p:txBody>
      </p:sp>
      <p:sp>
        <p:nvSpPr>
          <p:cNvPr id="45" name="Text 42"/>
          <p:cNvSpPr/>
          <p:nvPr/>
        </p:nvSpPr>
        <p:spPr>
          <a:xfrm>
            <a:off x="9787738" y="4937760"/>
            <a:ext cx="1426464" cy="256032"/>
          </a:xfrm>
          <a:prstGeom prst="rect">
            <a:avLst/>
          </a:prstGeom>
          <a:noFill/>
          <a:ln/>
        </p:spPr>
        <p:txBody>
          <a:bodyPr wrap="square" lIns="0" tIns="0" rIns="0" bIns="0" rtlCol="0" anchor="ctr"/>
          <a:lstStyle/>
          <a:p>
            <a:pPr algn="r" indent="0" marL="0">
              <a:buNone/>
            </a:pPr>
            <a:r>
              <a:rPr lang="en-US" sz="1150" b="1" dirty="0">
                <a:solidFill>
                  <a:srgbClr val="1B5E20"/>
                </a:solidFill>
                <a:latin typeface="Noto Sans JP" pitchFamily="34" charset="0"/>
                <a:ea typeface="Noto Sans JP" pitchFamily="34" charset="-122"/>
                <a:cs typeface="Noto Sans JP" pitchFamily="34" charset="-120"/>
              </a:rPr>
              <a:t>1 店舗</a:t>
            </a:r>
            <a:endParaRPr lang="en-US" sz="1150" dirty="0"/>
          </a:p>
        </p:txBody>
      </p:sp>
      <p:sp>
        <p:nvSpPr>
          <p:cNvPr id="46" name="Shape 43"/>
          <p:cNvSpPr/>
          <p:nvPr/>
        </p:nvSpPr>
        <p:spPr>
          <a:xfrm>
            <a:off x="7260336" y="5358384"/>
            <a:ext cx="3953866" cy="713232"/>
          </a:xfrm>
          <a:prstGeom prst="roundRect">
            <a:avLst>
              <a:gd name="adj" fmla="val 7692"/>
            </a:avLst>
          </a:prstGeom>
          <a:solidFill>
            <a:srgbClr val="FAF3E3"/>
          </a:solidFill>
          <a:ln/>
        </p:spPr>
      </p:sp>
      <p:sp>
        <p:nvSpPr>
          <p:cNvPr id="47" name="Text 44"/>
          <p:cNvSpPr/>
          <p:nvPr/>
        </p:nvSpPr>
        <p:spPr>
          <a:xfrm>
            <a:off x="7424928" y="5358384"/>
            <a:ext cx="3624682" cy="713232"/>
          </a:xfrm>
          <a:prstGeom prst="rect">
            <a:avLst/>
          </a:prstGeom>
          <a:noFill/>
          <a:ln/>
        </p:spPr>
        <p:txBody>
          <a:bodyPr wrap="square" lIns="0" tIns="0" rIns="0" bIns="0" rtlCol="0" anchor="ctr"/>
          <a:lstStyle/>
          <a:p>
            <a:pPr indent="0" marL="0">
              <a:lnSpc>
                <a:spcPct val="125000"/>
              </a:lnSpc>
              <a:buNone/>
            </a:pPr>
            <a:r>
              <a:rPr lang="en-US" sz="1000" dirty="0">
                <a:solidFill>
                  <a:srgbClr val="5D4037"/>
                </a:solidFill>
                <a:latin typeface="Noto Sans JP" pitchFamily="34" charset="0"/>
                <a:ea typeface="Noto Sans JP" pitchFamily="34" charset="-122"/>
                <a:cs typeface="Noto Sans JP" pitchFamily="34" charset="-120"/>
              </a:rPr>
              <a:t>※平均滞在時間は2〜3時間、1回のご利用で2杯程度購入される傾向があります。</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実績データ：店舗展開数の推移</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9</a:t>
            </a:r>
            <a:endParaRPr lang="en-US" sz="1300" dirty="0"/>
          </a:p>
        </p:txBody>
      </p:sp>
      <p:sp>
        <p:nvSpPr>
          <p:cNvPr id="6" name="Text 3"/>
          <p:cNvSpPr/>
          <p:nvPr/>
        </p:nvSpPr>
        <p:spPr>
          <a:xfrm>
            <a:off x="666598" y="1243584"/>
            <a:ext cx="10858500" cy="256032"/>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営業中店舗の開店月ベース累計（2022.09〜2026.08／単位：店舗）</a:t>
            </a:r>
            <a:endParaRPr lang="en-US" sz="1150" dirty="0"/>
          </a:p>
        </p:txBody>
      </p:sp>
      <p:graphicFrame>
        <p:nvGraphicFramePr>
          <p:cNvPr id="7" name="Chart 0" descr=""/>
          <p:cNvGraphicFramePr/>
          <p:nvPr/>
        </p:nvGraphicFramePr>
        <p:xfrm>
          <a:off x="666598" y="1645920"/>
          <a:ext cx="7790688" cy="4133088"/>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8732520" y="1645920"/>
            <a:ext cx="2792578" cy="1298448"/>
          </a:xfrm>
          <a:prstGeom prst="roundRect">
            <a:avLst>
              <a:gd name="adj" fmla="val 4930"/>
            </a:avLst>
          </a:prstGeom>
          <a:solidFill>
            <a:srgbClr val="12401A"/>
          </a:solidFill>
          <a:ln/>
          <a:effectLst>
            <a:outerShdw sx="100000" sy="100000" kx="0" ky="0" algn="bl" rotWithShape="0" blurRad="114300" dist="17780" dir="5400000">
              <a:srgbClr val="6B6250">
                <a:alpha val="14000"/>
              </a:srgbClr>
            </a:outerShdw>
          </a:effectLst>
        </p:spPr>
      </p:sp>
      <p:sp>
        <p:nvSpPr>
          <p:cNvPr id="9" name="Text 5"/>
          <p:cNvSpPr/>
          <p:nvPr/>
        </p:nvSpPr>
        <p:spPr>
          <a:xfrm>
            <a:off x="8951976" y="1773936"/>
            <a:ext cx="2353666" cy="649224"/>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65</a:t>
            </a:r>
            <a:pPr algn="l" indent="0" marL="0">
              <a:buNone/>
            </a:pPr>
            <a:r>
              <a:rPr lang="en-US" sz="1200" b="1" dirty="0">
                <a:solidFill>
                  <a:srgbClr val="A9C6AC"/>
                </a:solidFill>
                <a:latin typeface="Noto Sans JP" pitchFamily="34" charset="0"/>
                <a:ea typeface="Noto Sans JP" pitchFamily="34" charset="-122"/>
                <a:cs typeface="Noto Sans JP" pitchFamily="34" charset="-120"/>
              </a:rPr>
              <a:t> 店舗以上</a:t>
            </a:r>
            <a:endParaRPr lang="en-US" sz="3400" dirty="0"/>
          </a:p>
        </p:txBody>
      </p:sp>
      <p:sp>
        <p:nvSpPr>
          <p:cNvPr id="10" name="Text 6"/>
          <p:cNvSpPr/>
          <p:nvPr/>
        </p:nvSpPr>
        <p:spPr>
          <a:xfrm>
            <a:off x="8951976" y="2360066"/>
            <a:ext cx="2353666" cy="467441"/>
          </a:xfrm>
          <a:prstGeom prst="rect">
            <a:avLst/>
          </a:prstGeom>
          <a:noFill/>
          <a:ln/>
        </p:spPr>
        <p:txBody>
          <a:bodyPr wrap="square" lIns="0" tIns="0" rIns="0" bIns="0" rtlCol="0" anchor="t"/>
          <a:lstStyle/>
          <a:p>
            <a:pPr algn="l" indent="0" marL="0">
              <a:lnSpc>
                <a:spcPct val="115000"/>
              </a:lnSpc>
              <a:buNone/>
            </a:pPr>
            <a:r>
              <a:rPr lang="en-US" sz="1050" dirty="0">
                <a:solidFill>
                  <a:srgbClr val="A9C6AC"/>
                </a:solidFill>
                <a:latin typeface="Noto Sans JP" pitchFamily="34" charset="0"/>
                <a:ea typeface="Noto Sans JP" pitchFamily="34" charset="-122"/>
                <a:cs typeface="Noto Sans JP" pitchFamily="34" charset="-120"/>
              </a:rPr>
              <a:t>2026年8月時点の営業中店舗数</a:t>
            </a:r>
            <a:endParaRPr lang="en-US" sz="1050" dirty="0"/>
          </a:p>
        </p:txBody>
      </p:sp>
      <p:sp>
        <p:nvSpPr>
          <p:cNvPr id="11" name="Shape 7"/>
          <p:cNvSpPr/>
          <p:nvPr/>
        </p:nvSpPr>
        <p:spPr>
          <a:xfrm>
            <a:off x="8732520" y="3072384"/>
            <a:ext cx="2792578" cy="1298448"/>
          </a:xfrm>
          <a:prstGeom prst="roundRect">
            <a:avLst>
              <a:gd name="adj" fmla="val 4930"/>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2" name="Text 8"/>
          <p:cNvSpPr/>
          <p:nvPr/>
        </p:nvSpPr>
        <p:spPr>
          <a:xfrm>
            <a:off x="8951976" y="3200400"/>
            <a:ext cx="2353666" cy="649224"/>
          </a:xfrm>
          <a:prstGeom prst="rect">
            <a:avLst/>
          </a:prstGeom>
          <a:noFill/>
          <a:ln/>
        </p:spPr>
        <p:txBody>
          <a:bodyPr wrap="square" lIns="0" tIns="0" rIns="0" bIns="0" rtlCol="0" anchor="ctr"/>
          <a:lstStyle/>
          <a:p>
            <a:pPr algn="l" indent="0" marL="0">
              <a:buNone/>
            </a:pPr>
            <a:r>
              <a:rPr lang="en-US" sz="3000" b="1" dirty="0">
                <a:solidFill>
                  <a:srgbClr val="1B5E20"/>
                </a:solidFill>
                <a:latin typeface="Arial" pitchFamily="34" charset="0"/>
                <a:ea typeface="Arial" pitchFamily="34" charset="-122"/>
                <a:cs typeface="Arial" pitchFamily="34" charset="-120"/>
              </a:rPr>
              <a:t>65</a:t>
            </a:r>
            <a:pPr algn="l" indent="0" marL="0">
              <a:buNone/>
            </a:pPr>
            <a:r>
              <a:rPr lang="en-US" sz="1200" b="1" dirty="0">
                <a:solidFill>
                  <a:srgbClr val="5D4037"/>
                </a:solidFill>
                <a:latin typeface="Noto Sans JP" pitchFamily="34" charset="0"/>
                <a:ea typeface="Noto Sans JP" pitchFamily="34" charset="-122"/>
                <a:cs typeface="Noto Sans JP" pitchFamily="34" charset="-120"/>
              </a:rPr>
              <a:t> 倍</a:t>
            </a:r>
            <a:endParaRPr lang="en-US" sz="3000" dirty="0"/>
          </a:p>
        </p:txBody>
      </p:sp>
      <p:sp>
        <p:nvSpPr>
          <p:cNvPr id="13" name="Text 9"/>
          <p:cNvSpPr/>
          <p:nvPr/>
        </p:nvSpPr>
        <p:spPr>
          <a:xfrm>
            <a:off x="8951976" y="3786530"/>
            <a:ext cx="2353666" cy="467441"/>
          </a:xfrm>
          <a:prstGeom prst="rect">
            <a:avLst/>
          </a:prstGeom>
          <a:noFill/>
          <a:ln/>
        </p:spPr>
        <p:txBody>
          <a:bodyPr wrap="square" lIns="0" tIns="0" rIns="0" bIns="0" rtlCol="0" anchor="t"/>
          <a:lstStyle/>
          <a:p>
            <a:pPr algn="l" indent="0" marL="0">
              <a:lnSpc>
                <a:spcPct val="115000"/>
              </a:lnSpc>
              <a:buNone/>
            </a:pPr>
            <a:r>
              <a:rPr lang="en-US" sz="1050" dirty="0">
                <a:solidFill>
                  <a:srgbClr val="6E6A61"/>
                </a:solidFill>
                <a:latin typeface="Noto Sans JP" pitchFamily="34" charset="0"/>
                <a:ea typeface="Noto Sans JP" pitchFamily="34" charset="-122"/>
                <a:cs typeface="Noto Sans JP" pitchFamily="34" charset="-120"/>
              </a:rPr>
              <a:t>1号店OPENからの店舗数の伸び</a:t>
            </a:r>
            <a:endParaRPr lang="en-US" sz="1050" dirty="0"/>
          </a:p>
        </p:txBody>
      </p:sp>
      <p:sp>
        <p:nvSpPr>
          <p:cNvPr id="14" name="Shape 10"/>
          <p:cNvSpPr/>
          <p:nvPr/>
        </p:nvSpPr>
        <p:spPr>
          <a:xfrm>
            <a:off x="8732520" y="4498848"/>
            <a:ext cx="2792578" cy="1298448"/>
          </a:xfrm>
          <a:prstGeom prst="roundRect">
            <a:avLst>
              <a:gd name="adj" fmla="val 4930"/>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5" name="Text 11"/>
          <p:cNvSpPr/>
          <p:nvPr/>
        </p:nvSpPr>
        <p:spPr>
          <a:xfrm>
            <a:off x="8951976" y="4626864"/>
            <a:ext cx="2353666" cy="649224"/>
          </a:xfrm>
          <a:prstGeom prst="rect">
            <a:avLst/>
          </a:prstGeom>
          <a:noFill/>
          <a:ln/>
        </p:spPr>
        <p:txBody>
          <a:bodyPr wrap="square" lIns="0" tIns="0" rIns="0" bIns="0" rtlCol="0" anchor="ctr"/>
          <a:lstStyle/>
          <a:p>
            <a:pPr algn="l" indent="0" marL="0">
              <a:buNone/>
            </a:pPr>
            <a:r>
              <a:rPr lang="en-US" sz="3000" b="1" dirty="0">
                <a:solidFill>
                  <a:srgbClr val="1B5E20"/>
                </a:solidFill>
                <a:latin typeface="Arial" pitchFamily="34" charset="0"/>
                <a:ea typeface="Arial" pitchFamily="34" charset="-122"/>
                <a:cs typeface="Arial" pitchFamily="34" charset="-120"/>
              </a:rPr>
              <a:t>47</a:t>
            </a:r>
            <a:pPr algn="l" indent="0" marL="0">
              <a:buNone/>
            </a:pPr>
            <a:r>
              <a:rPr lang="en-US" sz="1200" b="1" dirty="0">
                <a:solidFill>
                  <a:srgbClr val="5D4037"/>
                </a:solidFill>
                <a:latin typeface="Noto Sans JP" pitchFamily="34" charset="0"/>
                <a:ea typeface="Noto Sans JP" pitchFamily="34" charset="-122"/>
                <a:cs typeface="Noto Sans JP" pitchFamily="34" charset="-120"/>
              </a:rPr>
              <a:t> ヶ月</a:t>
            </a:r>
            <a:endParaRPr lang="en-US" sz="3000" dirty="0"/>
          </a:p>
        </p:txBody>
      </p:sp>
      <p:sp>
        <p:nvSpPr>
          <p:cNvPr id="16" name="Text 12"/>
          <p:cNvSpPr/>
          <p:nvPr/>
        </p:nvSpPr>
        <p:spPr>
          <a:xfrm>
            <a:off x="8951976" y="5212994"/>
            <a:ext cx="2353666" cy="467441"/>
          </a:xfrm>
          <a:prstGeom prst="rect">
            <a:avLst/>
          </a:prstGeom>
          <a:noFill/>
          <a:ln/>
        </p:spPr>
        <p:txBody>
          <a:bodyPr wrap="square" lIns="0" tIns="0" rIns="0" bIns="0" rtlCol="0" anchor="t"/>
          <a:lstStyle/>
          <a:p>
            <a:pPr algn="l" indent="0" marL="0">
              <a:lnSpc>
                <a:spcPct val="115000"/>
              </a:lnSpc>
              <a:buNone/>
            </a:pPr>
            <a:r>
              <a:rPr lang="en-US" sz="1050" dirty="0">
                <a:solidFill>
                  <a:srgbClr val="6E6A61"/>
                </a:solidFill>
                <a:latin typeface="Noto Sans JP" pitchFamily="34" charset="0"/>
                <a:ea typeface="Noto Sans JP" pitchFamily="34" charset="-122"/>
                <a:cs typeface="Noto Sans JP" pitchFamily="34" charset="-120"/>
              </a:rPr>
              <a:t>1号店OPENからの経過期間</a:t>
            </a:r>
            <a:endParaRPr lang="en-US" sz="1050" dirty="0"/>
          </a:p>
        </p:txBody>
      </p:sp>
      <p:sp>
        <p:nvSpPr>
          <p:cNvPr id="17" name="Text 13"/>
          <p:cNvSpPr/>
          <p:nvPr/>
        </p:nvSpPr>
        <p:spPr>
          <a:xfrm>
            <a:off x="666598" y="5870448"/>
            <a:ext cx="7790688" cy="420624"/>
          </a:xfrm>
          <a:prstGeom prst="rect">
            <a:avLst/>
          </a:prstGeom>
          <a:noFill/>
          <a:ln/>
        </p:spPr>
        <p:txBody>
          <a:bodyPr wrap="square" lIns="0" tIns="0" rIns="0" bIns="0" rtlCol="0" anchor="ctr"/>
          <a:lstStyle/>
          <a:p>
            <a:pPr indent="0" marL="0">
              <a:lnSpc>
                <a:spcPct val="125000"/>
              </a:lnSpc>
              <a:buNone/>
            </a:pPr>
            <a:r>
              <a:rPr lang="en-US" sz="1150" dirty="0">
                <a:solidFill>
                  <a:srgbClr val="3B3833"/>
                </a:solidFill>
                <a:latin typeface="Noto Sans JP" pitchFamily="34" charset="0"/>
                <a:ea typeface="Noto Sans JP" pitchFamily="34" charset="-122"/>
                <a:cs typeface="Noto Sans JP" pitchFamily="34" charset="-120"/>
              </a:rPr>
              <a:t>2022年9月の1号店OPENから、驚異的なスピードで出店エリアを拡大。店舗ネットワークは着実に成長を続けています。</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CF5"/>
        </a:solidFill>
      </p:bgPr>
    </p:bg>
    <p:spTree>
      <p:nvGrpSpPr>
        <p:cNvPr id="1" name=""/>
        <p:cNvGrpSpPr/>
        <p:nvPr/>
      </p:nvGrpSpPr>
      <p:grpSpPr>
        <a:xfrm>
          <a:off x="0" y="0"/>
          <a:ext cx="0" cy="0"/>
          <a:chOff x="0" y="0"/>
          <a:chExt cx="0" cy="0"/>
        </a:xfrm>
      </p:grpSpPr>
      <p:sp>
        <p:nvSpPr>
          <p:cNvPr id="2" name="Text 0"/>
          <p:cNvSpPr/>
          <p:nvPr/>
        </p:nvSpPr>
        <p:spPr>
          <a:xfrm>
            <a:off x="666598" y="506578"/>
            <a:ext cx="8503920" cy="384048"/>
          </a:xfrm>
          <a:prstGeom prst="rect">
            <a:avLst/>
          </a:prstGeom>
          <a:noFill/>
          <a:ln/>
        </p:spPr>
        <p:txBody>
          <a:bodyPr wrap="square" lIns="0" tIns="0" rIns="0" bIns="0" rtlCol="0" anchor="ctr"/>
          <a:lstStyle/>
          <a:p>
            <a:pPr algn="l" indent="0" marL="0">
              <a:buNone/>
            </a:pPr>
            <a:r>
              <a:rPr lang="en-US" sz="3000" dirty="0">
                <a:solidFill>
                  <a:srgbClr val="1B5E20"/>
                </a:solidFill>
                <a:latin typeface="Noto Sans JP" pitchFamily="34" charset="0"/>
                <a:ea typeface="Noto Sans JP" pitchFamily="34" charset="-122"/>
                <a:cs typeface="Noto Sans JP" pitchFamily="34" charset="-120"/>
              </a:rPr>
              <a:t>実績データ：月間利用者数の推移</a:t>
            </a:r>
            <a:endParaRPr lang="en-US" sz="3000" dirty="0"/>
          </a:p>
        </p:txBody>
      </p:sp>
      <p:sp>
        <p:nvSpPr>
          <p:cNvPr id="3" name="Shape 1"/>
          <p:cNvSpPr/>
          <p:nvPr/>
        </p:nvSpPr>
        <p:spPr>
          <a:xfrm>
            <a:off x="666598" y="1114654"/>
            <a:ext cx="10858500" cy="19202"/>
          </a:xfrm>
          <a:prstGeom prst="rect">
            <a:avLst/>
          </a:prstGeom>
          <a:solidFill>
            <a:srgbClr val="8D6E63"/>
          </a:solidFill>
          <a:ln/>
        </p:spPr>
      </p:sp>
      <p:pic>
        <p:nvPicPr>
          <p:cNvPr id="4" name="Image 0" descr="/home/user/suzuki-ceo/selfcafe-fc-deck/assets/logo_gray.png">    </p:cNvPr>
          <p:cNvPicPr>
            <a:picLocks noChangeAspect="1"/>
          </p:cNvPicPr>
          <p:nvPr/>
        </p:nvPicPr>
        <p:blipFill>
          <a:blip r:embed="rId1"/>
          <a:stretch>
            <a:fillRect/>
          </a:stretch>
        </p:blipFill>
        <p:spPr>
          <a:xfrm>
            <a:off x="9415577" y="802843"/>
            <a:ext cx="2024482" cy="288036"/>
          </a:xfrm>
          <a:prstGeom prst="rect">
            <a:avLst/>
          </a:prstGeom>
        </p:spPr>
      </p:pic>
      <p:sp>
        <p:nvSpPr>
          <p:cNvPr id="5" name="Text 2"/>
          <p:cNvSpPr/>
          <p:nvPr/>
        </p:nvSpPr>
        <p:spPr>
          <a:xfrm>
            <a:off x="10610698" y="6345936"/>
            <a:ext cx="914400" cy="219456"/>
          </a:xfrm>
          <a:prstGeom prst="rect">
            <a:avLst/>
          </a:prstGeom>
          <a:noFill/>
          <a:ln/>
        </p:spPr>
        <p:txBody>
          <a:bodyPr wrap="square" lIns="0" tIns="0" rIns="0" bIns="0" rtlCol="0" anchor="ctr"/>
          <a:lstStyle/>
          <a:p>
            <a:pPr algn="r" indent="0" marL="0">
              <a:buNone/>
            </a:pPr>
            <a:r>
              <a:rPr lang="en-US" sz="1300" dirty="0">
                <a:solidFill>
                  <a:srgbClr val="000000"/>
                </a:solidFill>
                <a:latin typeface="Cambria" pitchFamily="34" charset="0"/>
                <a:ea typeface="Cambria" pitchFamily="34" charset="-122"/>
                <a:cs typeface="Cambria" pitchFamily="34" charset="-120"/>
              </a:rPr>
              <a:t>10</a:t>
            </a:r>
            <a:endParaRPr lang="en-US" sz="1300" dirty="0"/>
          </a:p>
        </p:txBody>
      </p:sp>
      <p:sp>
        <p:nvSpPr>
          <p:cNvPr id="6" name="Text 3"/>
          <p:cNvSpPr/>
          <p:nvPr/>
        </p:nvSpPr>
        <p:spPr>
          <a:xfrm>
            <a:off x="666598" y="1243584"/>
            <a:ext cx="10858500" cy="256032"/>
          </a:xfrm>
          <a:prstGeom prst="rect">
            <a:avLst/>
          </a:prstGeom>
          <a:noFill/>
          <a:ln/>
        </p:spPr>
        <p:txBody>
          <a:bodyPr wrap="square" lIns="0" tIns="0" rIns="0" bIns="0" rtlCol="0" anchor="ctr"/>
          <a:lstStyle/>
          <a:p>
            <a:pPr indent="0" marL="0">
              <a:buNone/>
            </a:pPr>
            <a:r>
              <a:rPr lang="en-US" sz="1150" b="1" dirty="0">
                <a:solidFill>
                  <a:srgbClr val="5D4037"/>
                </a:solidFill>
                <a:latin typeface="Noto Sans JP" pitchFamily="34" charset="0"/>
                <a:ea typeface="Noto Sans JP" pitchFamily="34" charset="-122"/>
                <a:cs typeface="Noto Sans JP" pitchFamily="34" charset="-120"/>
              </a:rPr>
              <a:t>全社月間利用者数（各月の合計）／店舗数の拡大に比例して拡大（2023.01〜2026.07）</a:t>
            </a:r>
            <a:endParaRPr lang="en-US" sz="1150" dirty="0"/>
          </a:p>
        </p:txBody>
      </p:sp>
      <p:graphicFrame>
        <p:nvGraphicFramePr>
          <p:cNvPr id="7" name="Chart 0" descr=""/>
          <p:cNvGraphicFramePr/>
          <p:nvPr/>
        </p:nvGraphicFramePr>
        <p:xfrm>
          <a:off x="666598" y="1645920"/>
          <a:ext cx="7790688" cy="4133088"/>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8732520" y="1645920"/>
            <a:ext cx="2792578" cy="1298448"/>
          </a:xfrm>
          <a:prstGeom prst="roundRect">
            <a:avLst>
              <a:gd name="adj" fmla="val 4930"/>
            </a:avLst>
          </a:prstGeom>
          <a:solidFill>
            <a:srgbClr val="12401A"/>
          </a:solidFill>
          <a:ln/>
          <a:effectLst>
            <a:outerShdw sx="100000" sy="100000" kx="0" ky="0" algn="bl" rotWithShape="0" blurRad="114300" dist="17780" dir="5400000">
              <a:srgbClr val="6B6250">
                <a:alpha val="14000"/>
              </a:srgbClr>
            </a:outerShdw>
          </a:effectLst>
        </p:spPr>
      </p:sp>
      <p:sp>
        <p:nvSpPr>
          <p:cNvPr id="9" name="Text 5"/>
          <p:cNvSpPr/>
          <p:nvPr/>
        </p:nvSpPr>
        <p:spPr>
          <a:xfrm>
            <a:off x="8951976" y="1773936"/>
            <a:ext cx="2353666" cy="649224"/>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101,343</a:t>
            </a:r>
            <a:pPr algn="l" indent="0" marL="0">
              <a:buNone/>
            </a:pPr>
            <a:r>
              <a:rPr lang="en-US" sz="1200" b="1" dirty="0">
                <a:solidFill>
                  <a:srgbClr val="A9C6AC"/>
                </a:solidFill>
                <a:latin typeface="Noto Sans JP" pitchFamily="34" charset="0"/>
                <a:ea typeface="Noto Sans JP" pitchFamily="34" charset="-122"/>
                <a:cs typeface="Noto Sans JP" pitchFamily="34" charset="-120"/>
              </a:rPr>
              <a:t> 人</a:t>
            </a:r>
            <a:endParaRPr lang="en-US" sz="2600" dirty="0"/>
          </a:p>
        </p:txBody>
      </p:sp>
      <p:sp>
        <p:nvSpPr>
          <p:cNvPr id="10" name="Text 6"/>
          <p:cNvSpPr/>
          <p:nvPr/>
        </p:nvSpPr>
        <p:spPr>
          <a:xfrm>
            <a:off x="8951976" y="2360066"/>
            <a:ext cx="2353666" cy="467441"/>
          </a:xfrm>
          <a:prstGeom prst="rect">
            <a:avLst/>
          </a:prstGeom>
          <a:noFill/>
          <a:ln/>
        </p:spPr>
        <p:txBody>
          <a:bodyPr wrap="square" lIns="0" tIns="0" rIns="0" bIns="0" rtlCol="0" anchor="t"/>
          <a:lstStyle/>
          <a:p>
            <a:pPr algn="l" indent="0" marL="0">
              <a:lnSpc>
                <a:spcPct val="115000"/>
              </a:lnSpc>
              <a:buNone/>
            </a:pPr>
            <a:r>
              <a:rPr lang="en-US" sz="1050" dirty="0">
                <a:solidFill>
                  <a:srgbClr val="A9C6AC"/>
                </a:solidFill>
                <a:latin typeface="Noto Sans JP" pitchFamily="34" charset="0"/>
                <a:ea typeface="Noto Sans JP" pitchFamily="34" charset="-122"/>
                <a:cs typeface="Noto Sans JP" pitchFamily="34" charset="-120"/>
              </a:rPr>
              <a:t>2026年7月の月間利用者数</a:t>
            </a:r>
            <a:endParaRPr lang="en-US" sz="1050" dirty="0"/>
          </a:p>
        </p:txBody>
      </p:sp>
      <p:sp>
        <p:nvSpPr>
          <p:cNvPr id="11" name="Shape 7"/>
          <p:cNvSpPr/>
          <p:nvPr/>
        </p:nvSpPr>
        <p:spPr>
          <a:xfrm>
            <a:off x="8732520" y="3072384"/>
            <a:ext cx="2792578" cy="1298448"/>
          </a:xfrm>
          <a:prstGeom prst="roundRect">
            <a:avLst>
              <a:gd name="adj" fmla="val 4930"/>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2" name="Text 8"/>
          <p:cNvSpPr/>
          <p:nvPr/>
        </p:nvSpPr>
        <p:spPr>
          <a:xfrm>
            <a:off x="8951976" y="3200400"/>
            <a:ext cx="2353666" cy="649224"/>
          </a:xfrm>
          <a:prstGeom prst="rect">
            <a:avLst/>
          </a:prstGeom>
          <a:noFill/>
          <a:ln/>
        </p:spPr>
        <p:txBody>
          <a:bodyPr wrap="square" lIns="0" tIns="0" rIns="0" bIns="0" rtlCol="0" anchor="ctr"/>
          <a:lstStyle/>
          <a:p>
            <a:pPr algn="l" indent="0" marL="0">
              <a:buNone/>
            </a:pPr>
            <a:r>
              <a:rPr lang="en-US" sz="3000" b="1" dirty="0">
                <a:solidFill>
                  <a:srgbClr val="1B5E20"/>
                </a:solidFill>
                <a:latin typeface="Arial" pitchFamily="34" charset="0"/>
                <a:ea typeface="Arial" pitchFamily="34" charset="-122"/>
                <a:cs typeface="Arial" pitchFamily="34" charset="-120"/>
              </a:rPr>
              <a:t>104</a:t>
            </a:r>
            <a:pPr algn="l" indent="0" marL="0">
              <a:buNone/>
            </a:pPr>
            <a:r>
              <a:rPr lang="en-US" sz="1200" b="1" dirty="0">
                <a:solidFill>
                  <a:srgbClr val="5D4037"/>
                </a:solidFill>
                <a:latin typeface="Noto Sans JP" pitchFamily="34" charset="0"/>
                <a:ea typeface="Noto Sans JP" pitchFamily="34" charset="-122"/>
                <a:cs typeface="Noto Sans JP" pitchFamily="34" charset="-120"/>
              </a:rPr>
              <a:t> 倍</a:t>
            </a:r>
            <a:endParaRPr lang="en-US" sz="3000" dirty="0"/>
          </a:p>
        </p:txBody>
      </p:sp>
      <p:sp>
        <p:nvSpPr>
          <p:cNvPr id="13" name="Text 9"/>
          <p:cNvSpPr/>
          <p:nvPr/>
        </p:nvSpPr>
        <p:spPr>
          <a:xfrm>
            <a:off x="8951976" y="3786530"/>
            <a:ext cx="2353666" cy="467441"/>
          </a:xfrm>
          <a:prstGeom prst="rect">
            <a:avLst/>
          </a:prstGeom>
          <a:noFill/>
          <a:ln/>
        </p:spPr>
        <p:txBody>
          <a:bodyPr wrap="square" lIns="0" tIns="0" rIns="0" bIns="0" rtlCol="0" anchor="t"/>
          <a:lstStyle/>
          <a:p>
            <a:pPr algn="l" indent="0" marL="0">
              <a:lnSpc>
                <a:spcPct val="115000"/>
              </a:lnSpc>
              <a:buNone/>
            </a:pPr>
            <a:r>
              <a:rPr lang="en-US" sz="1050" dirty="0">
                <a:solidFill>
                  <a:srgbClr val="6E6A61"/>
                </a:solidFill>
                <a:latin typeface="Noto Sans JP" pitchFamily="34" charset="0"/>
                <a:ea typeface="Noto Sans JP" pitchFamily="34" charset="-122"/>
                <a:cs typeface="Noto Sans JP" pitchFamily="34" charset="-120"/>
              </a:rPr>
              <a:t>立ち上げ当初比の月間利用者数</a:t>
            </a:r>
            <a:endParaRPr lang="en-US" sz="1050" dirty="0"/>
          </a:p>
        </p:txBody>
      </p:sp>
      <p:sp>
        <p:nvSpPr>
          <p:cNvPr id="14" name="Shape 10"/>
          <p:cNvSpPr/>
          <p:nvPr/>
        </p:nvSpPr>
        <p:spPr>
          <a:xfrm>
            <a:off x="8732520" y="4498848"/>
            <a:ext cx="2792578" cy="1298448"/>
          </a:xfrm>
          <a:prstGeom prst="roundRect">
            <a:avLst>
              <a:gd name="adj" fmla="val 4930"/>
            </a:avLst>
          </a:prstGeom>
          <a:solidFill>
            <a:srgbClr val="FFFFFF"/>
          </a:solidFill>
          <a:ln w="9525">
            <a:solidFill>
              <a:srgbClr val="E6DFCD"/>
            </a:solidFill>
            <a:prstDash val="solid"/>
          </a:ln>
          <a:effectLst>
            <a:outerShdw sx="100000" sy="100000" kx="0" ky="0" algn="bl" rotWithShape="0" blurRad="114300" dist="17780" dir="5400000">
              <a:srgbClr val="6B6250">
                <a:alpha val="14000"/>
              </a:srgbClr>
            </a:outerShdw>
          </a:effectLst>
        </p:spPr>
      </p:sp>
      <p:sp>
        <p:nvSpPr>
          <p:cNvPr id="15" name="Text 11"/>
          <p:cNvSpPr/>
          <p:nvPr/>
        </p:nvSpPr>
        <p:spPr>
          <a:xfrm>
            <a:off x="8951976" y="4626864"/>
            <a:ext cx="2353666" cy="649224"/>
          </a:xfrm>
          <a:prstGeom prst="rect">
            <a:avLst/>
          </a:prstGeom>
          <a:noFill/>
          <a:ln/>
        </p:spPr>
        <p:txBody>
          <a:bodyPr wrap="square" lIns="0" tIns="0" rIns="0" bIns="0" rtlCol="0" anchor="ctr"/>
          <a:lstStyle/>
          <a:p>
            <a:pPr algn="l" indent="0" marL="0">
              <a:buNone/>
            </a:pPr>
            <a:r>
              <a:rPr lang="en-US" sz="2600" b="1" dirty="0">
                <a:solidFill>
                  <a:srgbClr val="1B5E20"/>
                </a:solidFill>
                <a:latin typeface="Arial" pitchFamily="34" charset="0"/>
                <a:ea typeface="Arial" pitchFamily="34" charset="-122"/>
                <a:cs typeface="Arial" pitchFamily="34" charset="-120"/>
              </a:rPr>
              <a:t>100,000</a:t>
            </a:r>
            <a:pPr algn="l" indent="0" marL="0">
              <a:buNone/>
            </a:pPr>
            <a:r>
              <a:rPr lang="en-US" sz="1200" b="1" dirty="0">
                <a:solidFill>
                  <a:srgbClr val="5D4037"/>
                </a:solidFill>
                <a:latin typeface="Noto Sans JP" pitchFamily="34" charset="0"/>
                <a:ea typeface="Noto Sans JP" pitchFamily="34" charset="-122"/>
                <a:cs typeface="Noto Sans JP" pitchFamily="34" charset="-120"/>
              </a:rPr>
              <a:t> 杯</a:t>
            </a:r>
            <a:endParaRPr lang="en-US" sz="2600" dirty="0"/>
          </a:p>
        </p:txBody>
      </p:sp>
      <p:sp>
        <p:nvSpPr>
          <p:cNvPr id="16" name="Text 12"/>
          <p:cNvSpPr/>
          <p:nvPr/>
        </p:nvSpPr>
        <p:spPr>
          <a:xfrm>
            <a:off x="8951976" y="5212994"/>
            <a:ext cx="2353666" cy="467441"/>
          </a:xfrm>
          <a:prstGeom prst="rect">
            <a:avLst/>
          </a:prstGeom>
          <a:noFill/>
          <a:ln/>
        </p:spPr>
        <p:txBody>
          <a:bodyPr wrap="square" lIns="0" tIns="0" rIns="0" bIns="0" rtlCol="0" anchor="t"/>
          <a:lstStyle/>
          <a:p>
            <a:pPr algn="l" indent="0" marL="0">
              <a:lnSpc>
                <a:spcPct val="115000"/>
              </a:lnSpc>
              <a:buNone/>
            </a:pPr>
            <a:r>
              <a:rPr lang="en-US" sz="1050" dirty="0">
                <a:solidFill>
                  <a:srgbClr val="6E6A61"/>
                </a:solidFill>
                <a:latin typeface="Noto Sans JP" pitchFamily="34" charset="0"/>
                <a:ea typeface="Noto Sans JP" pitchFamily="34" charset="-122"/>
                <a:cs typeface="Noto Sans JP" pitchFamily="34" charset="-120"/>
              </a:rPr>
              <a:t>月間販売数を突破</a:t>
            </a:r>
            <a:endParaRPr lang="en-US" sz="1050" dirty="0"/>
          </a:p>
        </p:txBody>
      </p:sp>
      <p:sp>
        <p:nvSpPr>
          <p:cNvPr id="17" name="Text 13"/>
          <p:cNvSpPr/>
          <p:nvPr/>
        </p:nvSpPr>
        <p:spPr>
          <a:xfrm>
            <a:off x="666598" y="5870448"/>
            <a:ext cx="7790688" cy="420624"/>
          </a:xfrm>
          <a:prstGeom prst="rect">
            <a:avLst/>
          </a:prstGeom>
          <a:noFill/>
          <a:ln/>
        </p:spPr>
        <p:txBody>
          <a:bodyPr wrap="square" lIns="0" tIns="0" rIns="0" bIns="0" rtlCol="0" anchor="ctr"/>
          <a:lstStyle/>
          <a:p>
            <a:pPr indent="0" marL="0">
              <a:lnSpc>
                <a:spcPct val="125000"/>
              </a:lnSpc>
              <a:buNone/>
            </a:pPr>
            <a:r>
              <a:rPr lang="en-US" sz="1150" dirty="0">
                <a:solidFill>
                  <a:srgbClr val="3B3833"/>
                </a:solidFill>
                <a:latin typeface="Noto Sans JP" pitchFamily="34" charset="0"/>
                <a:ea typeface="Noto Sans JP" pitchFamily="34" charset="-122"/>
                <a:cs typeface="Noto Sans JP" pitchFamily="34" charset="-120"/>
              </a:rPr>
              <a:t>立ち上げ当初から、月間利用者数の規模は着実に拡大を続けています。新規出店直後の一時的な希薄化を挟みながらも、ほぼ店舗数に比例するペースで成長しています。</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セルフカフェ 業務委託型制度</dc:title>
  <dc:subject>PptxGenJS Presentation</dc:subject>
  <dc:creator>セルフカフェ株式会社</dc:creator>
  <cp:lastModifiedBy>セルフカフェ株式会社</cp:lastModifiedBy>
  <cp:revision>1</cp:revision>
  <dcterms:created xsi:type="dcterms:W3CDTF">2026-08-20T06:06:55Z</dcterms:created>
  <dcterms:modified xsi:type="dcterms:W3CDTF">2026-08-20T06:06:55Z</dcterms:modified>
</cp:coreProperties>
</file>