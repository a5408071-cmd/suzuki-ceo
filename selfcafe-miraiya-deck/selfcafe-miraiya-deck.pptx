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image" Target="../media/image-1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987845" y="1651406"/>
            <a:ext cx="4543654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2165" y="185257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262165" y="21268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262165" y="23097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262165" y="257495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20"/>
          <p:cNvSpPr/>
          <p:nvPr/>
        </p:nvSpPr>
        <p:spPr>
          <a:xfrm>
            <a:off x="7262165" y="262981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262165" y="281269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262165" y="307787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3"/>
          <p:cNvSpPr/>
          <p:nvPr/>
        </p:nvSpPr>
        <p:spPr>
          <a:xfrm>
            <a:off x="7262165" y="313273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原料・機器・メンテナンス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262165" y="331561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262165" y="35807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6"/>
          <p:cNvSpPr/>
          <p:nvPr/>
        </p:nvSpPr>
        <p:spPr>
          <a:xfrm>
            <a:off x="7262165" y="363565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水道光熱費・通信費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262165" y="381853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貴社ご負担（実費）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262165" y="408371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9"/>
          <p:cNvSpPr/>
          <p:nvPr/>
        </p:nvSpPr>
        <p:spPr>
          <a:xfrm>
            <a:off x="7262165" y="413857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262165" y="432145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262165" y="458663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62165" y="46414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262165" y="48243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987845" y="5180990"/>
            <a:ext cx="4543654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8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877" y="5345582"/>
            <a:ext cx="310896" cy="310896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664501" y="5180990"/>
            <a:ext cx="359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pic>
        <p:nvPicPr>
          <p:cNvPr id="40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4266590"/>
            <a:ext cx="2834640" cy="1594485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6019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42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4266590"/>
            <a:ext cx="2834640" cy="1594485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376915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水道光熱費・通信費は貴社のご負担（実費）となります。既存什器の再利用可否・工事範囲は現地確認のうえ個別にご相談させてください。金額は税抜・目安です。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実績を基準に、控えめに置いた想定です。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坪数別シミュレーション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60坪・40坪・30坪で試算しました。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同じ館内・同じ条件で、区画の広さ別にお受取額を置いた場合の比較です。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287622"/>
                <a:gridCol w="219456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2,550杯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2,400杯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302,000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3,624,000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5180990"/>
            <a:ext cx="10871302" cy="822960"/>
          </a:xfrm>
          <a:prstGeom prst="roundRect">
            <a:avLst>
              <a:gd name="adj" fmla="val 666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5180990"/>
            <a:ext cx="102495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区画が小さくても、お受取額は大きく変わりません。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販売杯数を決めるのは坪数ではなく、館内の来客数だからです。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60197" y="613196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杯数の置き方：60坪は秋田店（62.97坪）の想定85杯、30坪は土浦店の想定75杯と同水準とし、40坪はその中間の80杯としました。想定値であり保証するものではありません。金額は税抜。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ご参考：FCプラン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貴社が運営主体となる場合の試算です。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初期投資は必要ですが、売上・利益はすべて貴社のものになります（パートナー制度＝FC加盟）。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売上高（1杯420円 × 杯数 × 30日）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想定販売杯数（1日）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ドリンク原料（20％）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▲214,200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▲201,600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▲189,000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▲45,000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水道光熱費（24H営業想定）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▲95,000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機械使用料（マシン38,000円×2台・決済端末5,000円×2台）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セキュリティ費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ロイヤリティ（一律・売上連動なし）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雑費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家賃（既存区画のため）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償却前営業利益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481328"/>
          </a:xfrm>
          <a:prstGeom prst="roundRect">
            <a:avLst>
              <a:gd name="adj" fmla="val 3704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720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初期投資（目安）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28062"/>
            <a:ext cx="25685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</a:t>
            </a:r>
            <a:r>
              <a:rPr lang="en-US" sz="13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万円程度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8706917" y="2803550"/>
            <a:ext cx="25685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開業費750万円〜（加盟金100万円・工事費・出店準備金・保証金）＋諸経費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450885" y="3279038"/>
            <a:ext cx="3080614" cy="1572768"/>
          </a:xfrm>
          <a:prstGeom prst="roundRect">
            <a:avLst>
              <a:gd name="adj" fmla="val 3488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706917" y="34436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投資回収の目安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725205" y="373623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9456725" y="3736238"/>
            <a:ext cx="1800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17ヶ月（1年5ヶ月）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8725205" y="408371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9456725" y="4083710"/>
            <a:ext cx="1800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18ヶ月（1年6ヶ月）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8725205" y="443118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9456725" y="4431182"/>
            <a:ext cx="1800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19ヶ月（1年7ヶ月）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8450885" y="4961534"/>
            <a:ext cx="3080614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4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629" y="5116982"/>
            <a:ext cx="310896" cy="31089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090965" y="4961534"/>
            <a:ext cx="22027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清掃を貴社スタッフで行う場合は清掃費が不要となり、その分利益が増えます。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償却前営業利益（減価償却前）。人件費は未計上です。家賃は既存区画をご利用いただく前提のため0円で試算しています。投資回収は総投資予算900万円を月次利益で除した目安。金額はすべて税抜。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2方式の比較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投資せず着実に受け取るか、投資して利益を取るか。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同じ販売杯数の想定で、業務委託型とFCプランを並べて比較しました。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67512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月次の貴社取り分の比較（万円）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7319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60坪（85杯）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60981" y="2245766"/>
            <a:ext cx="213238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13" name="Text 10"/>
          <p:cNvSpPr/>
          <p:nvPr/>
        </p:nvSpPr>
        <p:spPr>
          <a:xfrm>
            <a:off x="2342693" y="2218334"/>
            <a:ext cx="20409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566514" y="221833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31.8 万円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360981" y="2538374"/>
            <a:ext cx="3560674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16" name="Text 13"/>
          <p:cNvSpPr/>
          <p:nvPr/>
        </p:nvSpPr>
        <p:spPr>
          <a:xfrm>
            <a:off x="2342693" y="2510942"/>
            <a:ext cx="34692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994806" y="251094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53.1 万円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4517" y="315102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40坪（80杯）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360981" y="3123590"/>
            <a:ext cx="202509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0" name="Text 17"/>
          <p:cNvSpPr/>
          <p:nvPr/>
        </p:nvSpPr>
        <p:spPr>
          <a:xfrm>
            <a:off x="2342693" y="3096158"/>
            <a:ext cx="19336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459224" y="309615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30.2 万円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360981" y="3416198"/>
            <a:ext cx="338632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23" name="Text 20"/>
          <p:cNvSpPr/>
          <p:nvPr/>
        </p:nvSpPr>
        <p:spPr>
          <a:xfrm>
            <a:off x="2342693" y="3388766"/>
            <a:ext cx="3294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820461" y="338876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50.5 万円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4517" y="402884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30坪（75杯）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360981" y="4001414"/>
            <a:ext cx="1917802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7" name="Text 24"/>
          <p:cNvSpPr/>
          <p:nvPr/>
        </p:nvSpPr>
        <p:spPr>
          <a:xfrm>
            <a:off x="2342693" y="3973982"/>
            <a:ext cx="18263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351934" y="39739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28.6 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360981" y="4294022"/>
            <a:ext cx="3151632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30" name="Text 27"/>
          <p:cNvSpPr/>
          <p:nvPr/>
        </p:nvSpPr>
        <p:spPr>
          <a:xfrm>
            <a:off x="2342693" y="4266590"/>
            <a:ext cx="3060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585765" y="426659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47.0 万円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4517" y="454091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業務委託型＝売上の25％＋月額固定5万円のお受取額／FCプラン＝償却前営業利益（人件費未計上・家賃0円）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19365" y="1651406"/>
          <a:ext cx="3812134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371600"/>
                <a:gridCol w="12070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7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FCプラン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30〜50万円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900万円程度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セルフカフェ本部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1日15分程度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運営全般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本部負担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貴社負担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貴社負担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貴社負担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売上変動リスク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投資回収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17〜19ヶ月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30"/>
          <p:cNvSpPr/>
          <p:nvPr/>
        </p:nvSpPr>
        <p:spPr>
          <a:xfrm>
            <a:off x="660197" y="5126126"/>
            <a:ext cx="10871302" cy="786384"/>
          </a:xfrm>
          <a:prstGeom prst="roundRect">
            <a:avLst>
              <a:gd name="adj" fmla="val 6977"/>
            </a:avLst>
          </a:prstGeom>
          <a:solidFill>
            <a:srgbClr val="0C5230"/>
          </a:solidFill>
          <a:ln/>
        </p:spPr>
      </p:sp>
      <p:sp>
        <p:nvSpPr>
          <p:cNvPr id="35" name="Text 31"/>
          <p:cNvSpPr/>
          <p:nvPr/>
        </p:nvSpPr>
        <p:spPr>
          <a:xfrm>
            <a:off x="971093" y="5126126"/>
            <a:ext cx="1024951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まずは業務委託型での切り替えをご提案します。</a:t>
            </a: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初期費用を抑えて実績をご確認いただいたうえで、FCプランへの切り替えもご相談いただけます。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60197" y="604052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いずれも想定値であり、売上・利益を保証するものではありません。金額はすべて税抜・目安です。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2026-09-01T08:47:02Z</dcterms:created>
  <dcterms:modified xsi:type="dcterms:W3CDTF">2026-09-01T08:47:02Z</dcterms:modified>
</cp:coreProperties>
</file>