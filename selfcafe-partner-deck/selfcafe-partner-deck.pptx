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自社物件（家賃0円）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10</c:v>
                  </c:pt>
                  <c:pt idx="1">
                    <c:v>20</c:v>
                  </c:pt>
                  <c:pt idx="2">
                    <c:v>30</c:v>
                  </c:pt>
                  <c:pt idx="3">
                    <c:v>40</c:v>
                  </c:pt>
                  <c:pt idx="4">
                    <c:v>50</c:v>
                  </c:pt>
                  <c:pt idx="5">
                    <c:v>60</c:v>
                  </c:pt>
                  <c:pt idx="6">
                    <c:v>70</c:v>
                  </c:pt>
                  <c:pt idx="7">
                    <c:v>80</c:v>
                  </c:pt>
                  <c:pt idx="8">
                    <c:v>90</c:v>
                  </c:pt>
                  <c:pt idx="9">
                    <c:v>100</c:v>
                  </c:pt>
                </c:lvl>
              </c:multiLvlStrCache>
            </c:multiLvlStrRef>
          </c:cat>
          <c:val>
            <c:numRef>
              <c:f>Sheet1!$B$2:$B$11</c:f>
              <c:numCache>
                <c:formatCode>General</c:formatCode>
                <c:ptCount val="10"/>
                <c:pt idx="0">
                  <c:v>-18.5</c:v>
                </c:pt>
                <c:pt idx="1">
                  <c:v>-8.4</c:v>
                </c:pt>
                <c:pt idx="2">
                  <c:v>1.6</c:v>
                </c:pt>
                <c:pt idx="3">
                  <c:v>11.7</c:v>
                </c:pt>
                <c:pt idx="4">
                  <c:v>21.8</c:v>
                </c:pt>
                <c:pt idx="5">
                  <c:v>31.9</c:v>
                </c:pt>
                <c:pt idx="6">
                  <c:v>42</c:v>
                </c:pt>
                <c:pt idx="7">
                  <c:v>52</c:v>
                </c:pt>
                <c:pt idx="8">
                  <c:v>62.1</c:v>
                </c:pt>
                <c:pt idx="9">
                  <c:v>72.2</c:v>
                </c:pt>
              </c:numCache>
            </c:numRef>
          </c:val>
          <c:smooth val="0"/>
        </c:ser>
        <c:ser>
          <c:idx val="1"/>
          <c:order val="1"/>
          <c:tx>
            <c:strRef>
              <c:f>Sheet1!$C$1</c:f>
              <c:strCache>
                <c:ptCount val="1"/>
                <c:pt idx="0">
                  <c:v>賃貸（家賃20万円）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10</c:v>
                  </c:pt>
                  <c:pt idx="1">
                    <c:v>20</c:v>
                  </c:pt>
                  <c:pt idx="2">
                    <c:v>30</c:v>
                  </c:pt>
                  <c:pt idx="3">
                    <c:v>40</c:v>
                  </c:pt>
                  <c:pt idx="4">
                    <c:v>50</c:v>
                  </c:pt>
                  <c:pt idx="5">
                    <c:v>60</c:v>
                  </c:pt>
                  <c:pt idx="6">
                    <c:v>70</c:v>
                  </c:pt>
                  <c:pt idx="7">
                    <c:v>80</c:v>
                  </c:pt>
                  <c:pt idx="8">
                    <c:v>90</c:v>
                  </c:pt>
                  <c:pt idx="9">
                    <c:v>100</c:v>
                  </c:pt>
                </c:lvl>
              </c:multiLvlStrCache>
            </c:multiLvlStrRef>
          </c:cat>
          <c:val>
            <c:numRef>
              <c:f>Sheet1!$C$2:$C$11</c:f>
              <c:numCache>
                <c:formatCode>General</c:formatCode>
                <c:ptCount val="10"/>
                <c:pt idx="0">
                  <c:v>-38.5</c:v>
                </c:pt>
                <c:pt idx="1">
                  <c:v>-28.4</c:v>
                </c:pt>
                <c:pt idx="2">
                  <c:v>-18.4</c:v>
                </c:pt>
                <c:pt idx="3">
                  <c:v>-8.3</c:v>
                </c:pt>
                <c:pt idx="4">
                  <c:v>1.8</c:v>
                </c:pt>
                <c:pt idx="5">
                  <c:v>11.9</c:v>
                </c:pt>
                <c:pt idx="6">
                  <c:v>22</c:v>
                </c:pt>
                <c:pt idx="7">
                  <c:v>32</c:v>
                </c:pt>
                <c:pt idx="8">
                  <c:v>42.1</c:v>
                </c:pt>
                <c:pt idx="9">
                  <c:v>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80"/>
          <c:min val="-6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自社物件（月47万円）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Sheet1!$B$2:$B$14</c:f>
              <c:numCache>
                <c:formatCode>General</c:formatCode>
                <c:ptCount val="13"/>
                <c:pt idx="0">
                  <c:v>-800</c:v>
                </c:pt>
                <c:pt idx="1">
                  <c:v>-659</c:v>
                </c:pt>
                <c:pt idx="2">
                  <c:v>-518</c:v>
                </c:pt>
                <c:pt idx="3">
                  <c:v>-377</c:v>
                </c:pt>
                <c:pt idx="4">
                  <c:v>-236</c:v>
                </c:pt>
                <c:pt idx="5">
                  <c:v>-95</c:v>
                </c:pt>
                <c:pt idx="6">
                  <c:v>46</c:v>
                </c:pt>
                <c:pt idx="7">
                  <c:v>187</c:v>
                </c:pt>
                <c:pt idx="8">
                  <c:v>328</c:v>
                </c:pt>
                <c:pt idx="9">
                  <c:v>469</c:v>
                </c:pt>
                <c:pt idx="10">
                  <c:v>610</c:v>
                </c:pt>
                <c:pt idx="11">
                  <c:v>751</c:v>
                </c:pt>
                <c:pt idx="12">
                  <c:v>892</c:v>
                </c:pt>
              </c:numCache>
            </c:numRef>
          </c:val>
          <c:smooth val="0"/>
        </c:ser>
        <c:ser>
          <c:idx val="1"/>
          <c:order val="1"/>
          <c:tx>
            <c:strRef>
              <c:f>Sheet1!$C$1</c:f>
              <c:strCache>
                <c:ptCount val="1"/>
                <c:pt idx="0">
                  <c:v>賃貸（月27万円）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Sheet1!$C$2:$C$14</c:f>
              <c:numCache>
                <c:formatCode>General</c:formatCode>
                <c:ptCount val="13"/>
                <c:pt idx="0">
                  <c:v>-800</c:v>
                </c:pt>
                <c:pt idx="1">
                  <c:v>-719</c:v>
                </c:pt>
                <c:pt idx="2">
                  <c:v>-638</c:v>
                </c:pt>
                <c:pt idx="3">
                  <c:v>-557</c:v>
                </c:pt>
                <c:pt idx="4">
                  <c:v>-476</c:v>
                </c:pt>
                <c:pt idx="5">
                  <c:v>-395</c:v>
                </c:pt>
                <c:pt idx="6">
                  <c:v>-314</c:v>
                </c:pt>
                <c:pt idx="7">
                  <c:v>-233</c:v>
                </c:pt>
                <c:pt idx="8">
                  <c:v>-152</c:v>
                </c:pt>
                <c:pt idx="9">
                  <c:v>-71</c:v>
                </c:pt>
                <c:pt idx="10">
                  <c:v>10</c:v>
                </c:pt>
                <c:pt idx="11">
                  <c:v>91</c:v>
                </c:pt>
                <c:pt idx="12">
                  <c:v>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00"/>
          <c:min val="-100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4.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3.png"/><Relationship Id="rId5" Type="http://schemas.openxmlformats.org/officeDocument/2006/relationships/image" Target="../media/image-31-3.png"/><Relationship Id="rId6" Type="http://schemas.openxmlformats.org/officeDocument/2006/relationships/image" Target="../media/image-31-3.png"/><Relationship Id="rId7" Type="http://schemas.openxmlformats.org/officeDocument/2006/relationships/image" Target="../media/image-31-3.png"/><Relationship Id="rId8" Type="http://schemas.openxmlformats.org/officeDocument/2006/relationships/image" Target="../media/image-31-8.png"/><Relationship Id="rId9" Type="http://schemas.openxmlformats.org/officeDocument/2006/relationships/image" Target="../media/image-31-3.png"/><Relationship Id="rId10" Type="http://schemas.openxmlformats.org/officeDocument/2006/relationships/image" Target="../media/image-31-3.png"/><Relationship Id="rId11" Type="http://schemas.openxmlformats.org/officeDocument/2006/relationships/image" Target="../media/image-31-3.png"/><Relationship Id="rId12" Type="http://schemas.openxmlformats.org/officeDocument/2006/relationships/image" Target="../media/image-31-3.png"/><Relationship Id="rId13" Type="http://schemas.openxmlformats.org/officeDocument/2006/relationships/image" Target="../media/image-31-3.png"/><Relationship Id="rId14" Type="http://schemas.openxmlformats.org/officeDocument/2006/relationships/image" Target="../media/image-31-14.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まず、数字から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650万円から、月47万円・回収約17ヶ月へ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詳細の前に、要点となる4つの数字です（20坪・1杯420円モデルの試算）。</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5243627" cy="2011680"/>
          </a:xfrm>
          <a:prstGeom prst="roundRect">
            <a:avLst>
              <a:gd name="adj" fmla="val 2727"/>
            </a:avLst>
          </a:prstGeom>
          <a:solidFill>
            <a:srgbClr val="F1F8F3"/>
          </a:solidFill>
          <a:ln w="9525">
            <a:solidFill>
              <a:srgbClr val="D2E7DA"/>
            </a:solidFill>
            <a:prstDash val="solid"/>
          </a:ln>
        </p:spPr>
      </p:sp>
      <p:sp>
        <p:nvSpPr>
          <p:cNvPr id="10" name="Text 7"/>
          <p:cNvSpPr/>
          <p:nvPr/>
        </p:nvSpPr>
        <p:spPr>
          <a:xfrm>
            <a:off x="971093" y="1870862"/>
            <a:ext cx="4621835" cy="274320"/>
          </a:xfrm>
          <a:prstGeom prst="rect">
            <a:avLst/>
          </a:prstGeom>
          <a:noFill/>
          <a:ln/>
        </p:spPr>
        <p:txBody>
          <a:bodyPr wrap="square" lIns="0" tIns="0" rIns="0" bIns="0" rtlCol="0" anchor="ctr"/>
          <a:lstStyle/>
          <a:p>
            <a:pPr indent="0" marL="0">
              <a:buNone/>
            </a:pPr>
            <a:r>
              <a:rPr lang="en-US" sz="1200" b="1" dirty="0">
                <a:solidFill>
                  <a:srgbClr val="106838"/>
                </a:solidFill>
                <a:latin typeface="Yu Gothic" pitchFamily="34" charset="0"/>
                <a:ea typeface="Yu Gothic" pitchFamily="34" charset="-122"/>
                <a:cs typeface="Yu Gothic" pitchFamily="34" charset="-120"/>
              </a:rPr>
              <a:t>初期投資</a:t>
            </a:r>
            <a:endParaRPr lang="en-US" sz="1200" dirty="0"/>
          </a:p>
        </p:txBody>
      </p:sp>
      <p:sp>
        <p:nvSpPr>
          <p:cNvPr id="11" name="Text 8"/>
          <p:cNvSpPr/>
          <p:nvPr/>
        </p:nvSpPr>
        <p:spPr>
          <a:xfrm>
            <a:off x="971093" y="2200046"/>
            <a:ext cx="4621835" cy="713232"/>
          </a:xfrm>
          <a:prstGeom prst="rect">
            <a:avLst/>
          </a:prstGeom>
          <a:noFill/>
          <a:ln/>
        </p:spPr>
        <p:txBody>
          <a:bodyPr wrap="square" lIns="0" tIns="0" rIns="0" bIns="0" rtlCol="0" anchor="ctr"/>
          <a:lstStyle/>
          <a:p>
            <a:pPr indent="0" marL="0">
              <a:buNone/>
            </a:pPr>
            <a:r>
              <a:rPr lang="en-US" sz="3400" b="1" dirty="0">
                <a:solidFill>
                  <a:srgbClr val="106838"/>
                </a:solidFill>
                <a:latin typeface="Yu Gothic" pitchFamily="34" charset="0"/>
                <a:ea typeface="Yu Gothic" pitchFamily="34" charset="-122"/>
                <a:cs typeface="Yu Gothic" pitchFamily="34" charset="-120"/>
              </a:rPr>
              <a:t>650</a:t>
            </a:r>
            <a:r>
              <a:rPr lang="en-US" sz="1700" b="1" dirty="0">
                <a:solidFill>
                  <a:srgbClr val="106838"/>
                </a:solidFill>
                <a:latin typeface="Yu Gothic" pitchFamily="34" charset="0"/>
                <a:ea typeface="Yu Gothic" pitchFamily="34" charset="-122"/>
                <a:cs typeface="Yu Gothic" pitchFamily="34" charset="-120"/>
              </a:rPr>
              <a:t> 万円〜</a:t>
            </a:r>
            <a:endParaRPr lang="en-US" sz="3400" dirty="0"/>
          </a:p>
        </p:txBody>
      </p:sp>
      <p:sp>
        <p:nvSpPr>
          <p:cNvPr id="12" name="Text 9"/>
          <p:cNvSpPr/>
          <p:nvPr/>
        </p:nvSpPr>
        <p:spPr>
          <a:xfrm>
            <a:off x="971093" y="3004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最低開業費（居抜き・20坪）</a:t>
            </a:r>
            <a:endParaRPr lang="en-US" sz="1000" dirty="0"/>
          </a:p>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標準総投資予算：800万円程度〜</a:t>
            </a:r>
            <a:endParaRPr lang="en-US" sz="1000" dirty="0"/>
          </a:p>
        </p:txBody>
      </p:sp>
      <p:sp>
        <p:nvSpPr>
          <p:cNvPr id="13" name="Shape 10"/>
          <p:cNvSpPr/>
          <p:nvPr/>
        </p:nvSpPr>
        <p:spPr>
          <a:xfrm>
            <a:off x="6287872" y="1651406"/>
            <a:ext cx="5243627" cy="2011680"/>
          </a:xfrm>
          <a:prstGeom prst="roundRect">
            <a:avLst>
              <a:gd name="adj" fmla="val 2727"/>
            </a:avLst>
          </a:prstGeom>
          <a:solidFill>
            <a:srgbClr val="0C5230"/>
          </a:solidFill>
          <a:ln/>
        </p:spPr>
      </p:sp>
      <p:sp>
        <p:nvSpPr>
          <p:cNvPr id="14" name="Text 11"/>
          <p:cNvSpPr/>
          <p:nvPr/>
        </p:nvSpPr>
        <p:spPr>
          <a:xfrm>
            <a:off x="6598768" y="1870862"/>
            <a:ext cx="4621835"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月間利益モデル（75杯／日）</a:t>
            </a:r>
            <a:endParaRPr lang="en-US" sz="1200" dirty="0"/>
          </a:p>
        </p:txBody>
      </p:sp>
      <p:sp>
        <p:nvSpPr>
          <p:cNvPr id="15" name="Text 12"/>
          <p:cNvSpPr/>
          <p:nvPr/>
        </p:nvSpPr>
        <p:spPr>
          <a:xfrm>
            <a:off x="6598768" y="2200046"/>
            <a:ext cx="4621835" cy="713232"/>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自社物件 47</a:t>
            </a:r>
            <a:r>
              <a:rPr lang="en-US" sz="1700" b="1" dirty="0">
                <a:solidFill>
                  <a:srgbClr val="FFFFFF"/>
                </a:solidFill>
                <a:latin typeface="Yu Gothic" pitchFamily="34" charset="0"/>
                <a:ea typeface="Yu Gothic" pitchFamily="34" charset="-122"/>
                <a:cs typeface="Yu Gothic" pitchFamily="34" charset="-120"/>
              </a:rPr>
              <a:t> 万円</a:t>
            </a:r>
            <a:endParaRPr lang="en-US" sz="3400" dirty="0"/>
          </a:p>
        </p:txBody>
      </p:sp>
      <p:sp>
        <p:nvSpPr>
          <p:cNvPr id="16" name="Text 13"/>
          <p:cNvSpPr/>
          <p:nvPr/>
        </p:nvSpPr>
        <p:spPr>
          <a:xfrm>
            <a:off x="6598768" y="3004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賃貸物件の場合：27万円</a:t>
            </a:r>
            <a:endParaRPr lang="en-US" sz="1000" dirty="0"/>
          </a:p>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（償却前営業利益・月）</a:t>
            </a:r>
            <a:endParaRPr lang="en-US" sz="1000" dirty="0"/>
          </a:p>
        </p:txBody>
      </p:sp>
      <p:sp>
        <p:nvSpPr>
          <p:cNvPr id="17" name="Shape 14"/>
          <p:cNvSpPr/>
          <p:nvPr/>
        </p:nvSpPr>
        <p:spPr>
          <a:xfrm>
            <a:off x="660197" y="3937406"/>
            <a:ext cx="5243627" cy="2011680"/>
          </a:xfrm>
          <a:prstGeom prst="roundRect">
            <a:avLst>
              <a:gd name="adj" fmla="val 2727"/>
            </a:avLst>
          </a:prstGeom>
          <a:solidFill>
            <a:srgbClr val="F1F8F3"/>
          </a:solidFill>
          <a:ln w="9525">
            <a:solidFill>
              <a:srgbClr val="D2E7DA"/>
            </a:solidFill>
            <a:prstDash val="solid"/>
          </a:ln>
        </p:spPr>
      </p:sp>
      <p:sp>
        <p:nvSpPr>
          <p:cNvPr id="18" name="Text 15"/>
          <p:cNvSpPr/>
          <p:nvPr/>
        </p:nvSpPr>
        <p:spPr>
          <a:xfrm>
            <a:off x="971093" y="4156862"/>
            <a:ext cx="4621835" cy="274320"/>
          </a:xfrm>
          <a:prstGeom prst="rect">
            <a:avLst/>
          </a:prstGeom>
          <a:noFill/>
          <a:ln/>
        </p:spPr>
        <p:txBody>
          <a:bodyPr wrap="square" lIns="0" tIns="0" rIns="0" bIns="0" rtlCol="0" anchor="ctr"/>
          <a:lstStyle/>
          <a:p>
            <a:pPr indent="0" marL="0">
              <a:buNone/>
            </a:pPr>
            <a:r>
              <a:rPr lang="en-US" sz="1200" b="1" dirty="0">
                <a:solidFill>
                  <a:srgbClr val="106838"/>
                </a:solidFill>
                <a:latin typeface="Yu Gothic" pitchFamily="34" charset="0"/>
                <a:ea typeface="Yu Gothic" pitchFamily="34" charset="-122"/>
                <a:cs typeface="Yu Gothic" pitchFamily="34" charset="-120"/>
              </a:rPr>
              <a:t>オーナーの運営時間</a:t>
            </a:r>
            <a:endParaRPr lang="en-US" sz="1200" dirty="0"/>
          </a:p>
        </p:txBody>
      </p:sp>
      <p:sp>
        <p:nvSpPr>
          <p:cNvPr id="19" name="Text 16"/>
          <p:cNvSpPr/>
          <p:nvPr/>
        </p:nvSpPr>
        <p:spPr>
          <a:xfrm>
            <a:off x="971093" y="4486046"/>
            <a:ext cx="4621835" cy="713232"/>
          </a:xfrm>
          <a:prstGeom prst="rect">
            <a:avLst/>
          </a:prstGeom>
          <a:noFill/>
          <a:ln/>
        </p:spPr>
        <p:txBody>
          <a:bodyPr wrap="square" lIns="0" tIns="0" rIns="0" bIns="0" rtlCol="0" anchor="ctr"/>
          <a:lstStyle/>
          <a:p>
            <a:pPr indent="0" marL="0">
              <a:buNone/>
            </a:pPr>
            <a:r>
              <a:rPr lang="en-US" sz="3400" b="1" dirty="0">
                <a:solidFill>
                  <a:srgbClr val="106838"/>
                </a:solidFill>
                <a:latin typeface="Yu Gothic" pitchFamily="34" charset="0"/>
                <a:ea typeface="Yu Gothic" pitchFamily="34" charset="-122"/>
                <a:cs typeface="Yu Gothic" pitchFamily="34" charset="-120"/>
              </a:rPr>
              <a:t>1日 約15</a:t>
            </a:r>
            <a:r>
              <a:rPr lang="en-US" sz="1700" b="1" dirty="0">
                <a:solidFill>
                  <a:srgbClr val="106838"/>
                </a:solidFill>
                <a:latin typeface="Yu Gothic" pitchFamily="34" charset="0"/>
                <a:ea typeface="Yu Gothic" pitchFamily="34" charset="-122"/>
                <a:cs typeface="Yu Gothic" pitchFamily="34" charset="-120"/>
              </a:rPr>
              <a:t> 分</a:t>
            </a:r>
            <a:endParaRPr lang="en-US" sz="3400" dirty="0"/>
          </a:p>
        </p:txBody>
      </p:sp>
      <p:sp>
        <p:nvSpPr>
          <p:cNvPr id="20" name="Text 17"/>
          <p:cNvSpPr/>
          <p:nvPr/>
        </p:nvSpPr>
        <p:spPr>
          <a:xfrm>
            <a:off x="971093" y="5290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清掃・原料補充のみ</a:t>
            </a:r>
            <a:endParaRPr lang="en-US" sz="1000" dirty="0"/>
          </a:p>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委託運営も可能</a:t>
            </a:r>
            <a:endParaRPr lang="en-US" sz="1000" dirty="0"/>
          </a:p>
        </p:txBody>
      </p:sp>
      <p:sp>
        <p:nvSpPr>
          <p:cNvPr id="21" name="Shape 18"/>
          <p:cNvSpPr/>
          <p:nvPr/>
        </p:nvSpPr>
        <p:spPr>
          <a:xfrm>
            <a:off x="6287872" y="3937406"/>
            <a:ext cx="5243627" cy="2011680"/>
          </a:xfrm>
          <a:prstGeom prst="roundRect">
            <a:avLst>
              <a:gd name="adj" fmla="val 2727"/>
            </a:avLst>
          </a:prstGeom>
          <a:solidFill>
            <a:srgbClr val="0C5230"/>
          </a:solidFill>
          <a:ln/>
        </p:spPr>
      </p:sp>
      <p:sp>
        <p:nvSpPr>
          <p:cNvPr id="22" name="Text 19"/>
          <p:cNvSpPr/>
          <p:nvPr/>
        </p:nvSpPr>
        <p:spPr>
          <a:xfrm>
            <a:off x="6598768" y="4156862"/>
            <a:ext cx="4621835"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投資回収期間モデル</a:t>
            </a:r>
            <a:endParaRPr lang="en-US" sz="1200" dirty="0"/>
          </a:p>
        </p:txBody>
      </p:sp>
      <p:sp>
        <p:nvSpPr>
          <p:cNvPr id="23" name="Text 20"/>
          <p:cNvSpPr/>
          <p:nvPr/>
        </p:nvSpPr>
        <p:spPr>
          <a:xfrm>
            <a:off x="6598768" y="4486046"/>
            <a:ext cx="4621835" cy="713232"/>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約17</a:t>
            </a:r>
            <a:r>
              <a:rPr lang="en-US" sz="1700" b="1" dirty="0">
                <a:solidFill>
                  <a:srgbClr val="FFFFFF"/>
                </a:solidFill>
                <a:latin typeface="Yu Gothic" pitchFamily="34" charset="0"/>
                <a:ea typeface="Yu Gothic" pitchFamily="34" charset="-122"/>
                <a:cs typeface="Yu Gothic" pitchFamily="34" charset="-120"/>
              </a:rPr>
              <a:t> ヶ月</a:t>
            </a:r>
            <a:endParaRPr lang="en-US" sz="3400" dirty="0"/>
          </a:p>
        </p:txBody>
      </p:sp>
      <p:sp>
        <p:nvSpPr>
          <p:cNvPr id="24" name="Text 21"/>
          <p:cNvSpPr/>
          <p:nvPr/>
        </p:nvSpPr>
        <p:spPr>
          <a:xfrm>
            <a:off x="6598768" y="5290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自社物件・75杯／日・投資800万円</a:t>
            </a:r>
            <a:endParaRPr lang="en-US" sz="1000" dirty="0"/>
          </a:p>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賃貸の場合：約30ヶ月</a:t>
            </a:r>
            <a:endParaRPr lang="en-US" sz="1000" dirty="0"/>
          </a:p>
        </p:txBody>
      </p:sp>
      <p:sp>
        <p:nvSpPr>
          <p:cNvPr id="25" name="Text 2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利益・回収は1杯420円・原価20%・20坪モデルの試算（償却前・税引前）。収益・回収期間を保証するものではありません。詳細は収益シミュレーションのページ参照。</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Text 2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最大の固定費「家賃」がゼロ。利益は1.7倍、回収期間は約半分になります。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必要面積（既存事業の一角でも可）</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0</a:t>
            </a:r>
            <a:r>
              <a:rPr lang="en-US" sz="1100" b="1" dirty="0">
                <a:solidFill>
                  <a:srgbClr val="A8761F"/>
                </a:solidFill>
                <a:latin typeface="Yu Gothic" pitchFamily="34" charset="0"/>
                <a:ea typeface="Yu Gothic" pitchFamily="34" charset="-122"/>
                <a:cs typeface="Yu Gothic" pitchFamily="34" charset="-120"/>
              </a:rPr>
              <a:t> 円</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空室のままの機会収益</a:t>
            </a:r>
            <a:endParaRPr lang="en-US" sz="900" dirty="0"/>
          </a:p>
        </p:txBody>
      </p:sp>
      <p:sp>
        <p:nvSpPr>
          <p:cNvPr id="21" name="Shape 18"/>
          <p:cNvSpPr/>
          <p:nvPr/>
        </p:nvSpPr>
        <p:spPr>
          <a:xfrm>
            <a:off x="660197" y="2492654"/>
            <a:ext cx="3145536" cy="3017520"/>
          </a:xfrm>
          <a:prstGeom prst="roundRect">
            <a:avLst>
              <a:gd name="adj" fmla="val 1818"/>
            </a:avLst>
          </a:prstGeom>
          <a:solidFill>
            <a:srgbClr val="F1F8F3"/>
          </a:solidFill>
          <a:ln w="9525">
            <a:solidFill>
              <a:srgbClr val="D2E7DA"/>
            </a:solidFill>
            <a:prstDash val="solid"/>
          </a:ln>
        </p:spPr>
      </p:sp>
      <p:sp>
        <p:nvSpPr>
          <p:cNvPr id="22" name="Text 19"/>
          <p:cNvSpPr/>
          <p:nvPr/>
        </p:nvSpPr>
        <p:spPr>
          <a:xfrm>
            <a:off x="934517" y="273039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23" name="Text 20"/>
          <p:cNvSpPr/>
          <p:nvPr/>
        </p:nvSpPr>
        <p:spPr>
          <a:xfrm>
            <a:off x="934517" y="3059582"/>
            <a:ext cx="2596896" cy="676656"/>
          </a:xfrm>
          <a:prstGeom prst="rect">
            <a:avLst/>
          </a:prstGeom>
          <a:noFill/>
          <a:ln/>
        </p:spPr>
        <p:txBody>
          <a:bodyPr wrap="square" lIns="0" tIns="0" rIns="0" bIns="0" rtlCol="0" anchor="ctr"/>
          <a:lstStyle/>
          <a:p>
            <a:pPr indent="0" marL="0">
              <a:buNone/>
            </a:pPr>
            <a:r>
              <a:rPr lang="en-US" sz="3800" b="1" dirty="0">
                <a:solidFill>
                  <a:srgbClr val="106838"/>
                </a:solidFill>
                <a:latin typeface="Arial" pitchFamily="34" charset="0"/>
                <a:ea typeface="Arial" pitchFamily="34" charset="-122"/>
                <a:cs typeface="Arial" pitchFamily="34" charset="-120"/>
              </a:rPr>
              <a:t>27</a:t>
            </a:r>
            <a:r>
              <a:rPr lang="en-US" sz="1500" b="1" dirty="0">
                <a:solidFill>
                  <a:srgbClr val="106838"/>
                </a:solidFill>
                <a:latin typeface="Yu Gothic" pitchFamily="34" charset="0"/>
                <a:ea typeface="Yu Gothic" pitchFamily="34" charset="-122"/>
                <a:cs typeface="Yu Gothic" pitchFamily="34" charset="-120"/>
              </a:rPr>
              <a:t> 万円</a:t>
            </a:r>
            <a:endParaRPr lang="en-US" sz="3800" dirty="0"/>
          </a:p>
        </p:txBody>
      </p:sp>
      <p:sp>
        <p:nvSpPr>
          <p:cNvPr id="24" name="Text 21"/>
          <p:cNvSpPr/>
          <p:nvPr/>
        </p:nvSpPr>
        <p:spPr>
          <a:xfrm>
            <a:off x="934517" y="3772814"/>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25" name="Shape 22"/>
          <p:cNvSpPr/>
          <p:nvPr/>
        </p:nvSpPr>
        <p:spPr>
          <a:xfrm>
            <a:off x="934517" y="4175150"/>
            <a:ext cx="2596896" cy="10058"/>
          </a:xfrm>
          <a:prstGeom prst="rect">
            <a:avLst/>
          </a:prstGeom>
          <a:solidFill>
            <a:srgbClr val="D2E7DA"/>
          </a:solidFill>
          <a:ln/>
        </p:spPr>
      </p:sp>
      <p:sp>
        <p:nvSpPr>
          <p:cNvPr id="26" name="Text 23"/>
          <p:cNvSpPr/>
          <p:nvPr/>
        </p:nvSpPr>
        <p:spPr>
          <a:xfrm>
            <a:off x="934517" y="4321454"/>
            <a:ext cx="2596896" cy="347472"/>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回収期間 約30ヶ月</a:t>
            </a:r>
            <a:endParaRPr lang="en-US" sz="1350" dirty="0"/>
          </a:p>
        </p:txBody>
      </p:sp>
      <p:sp>
        <p:nvSpPr>
          <p:cNvPr id="27" name="Shape 24"/>
          <p:cNvSpPr/>
          <p:nvPr/>
        </p:nvSpPr>
        <p:spPr>
          <a:xfrm>
            <a:off x="4080053" y="2492654"/>
            <a:ext cx="3145536" cy="3017520"/>
          </a:xfrm>
          <a:prstGeom prst="roundRect">
            <a:avLst>
              <a:gd name="adj" fmla="val 1818"/>
            </a:avLst>
          </a:prstGeom>
          <a:solidFill>
            <a:srgbClr val="0C5230"/>
          </a:solidFill>
          <a:ln/>
        </p:spPr>
      </p:sp>
      <p:sp>
        <p:nvSpPr>
          <p:cNvPr id="28" name="Text 25"/>
          <p:cNvSpPr/>
          <p:nvPr/>
        </p:nvSpPr>
        <p:spPr>
          <a:xfrm>
            <a:off x="4354373" y="273039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29" name="Text 26"/>
          <p:cNvSpPr/>
          <p:nvPr/>
        </p:nvSpPr>
        <p:spPr>
          <a:xfrm>
            <a:off x="4354373" y="3059582"/>
            <a:ext cx="2596896" cy="676656"/>
          </a:xfrm>
          <a:prstGeom prst="rect">
            <a:avLst/>
          </a:prstGeom>
          <a:noFill/>
          <a:ln/>
        </p:spPr>
        <p:txBody>
          <a:bodyPr wrap="square" lIns="0" tIns="0" rIns="0" bIns="0" rtlCol="0" anchor="ctr"/>
          <a:lstStyle/>
          <a:p>
            <a:pPr indent="0" marL="0">
              <a:buNone/>
            </a:pPr>
            <a:r>
              <a:rPr lang="en-US" sz="3800" b="1" dirty="0">
                <a:solidFill>
                  <a:srgbClr val="F0C05A"/>
                </a:solidFill>
                <a:latin typeface="Arial" pitchFamily="34" charset="0"/>
                <a:ea typeface="Arial" pitchFamily="34" charset="-122"/>
                <a:cs typeface="Arial" pitchFamily="34" charset="-120"/>
              </a:rPr>
              <a:t>47</a:t>
            </a:r>
            <a:r>
              <a:rPr lang="en-US" sz="1500" b="1" dirty="0">
                <a:solidFill>
                  <a:srgbClr val="F0C05A"/>
                </a:solidFill>
                <a:latin typeface="Yu Gothic" pitchFamily="34" charset="0"/>
                <a:ea typeface="Yu Gothic" pitchFamily="34" charset="-122"/>
                <a:cs typeface="Yu Gothic" pitchFamily="34" charset="-120"/>
              </a:rPr>
              <a:t> 万円</a:t>
            </a:r>
            <a:endParaRPr lang="en-US" sz="3800" dirty="0"/>
          </a:p>
        </p:txBody>
      </p:sp>
      <p:sp>
        <p:nvSpPr>
          <p:cNvPr id="30" name="Text 27"/>
          <p:cNvSpPr/>
          <p:nvPr/>
        </p:nvSpPr>
        <p:spPr>
          <a:xfrm>
            <a:off x="4354373" y="3772814"/>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31" name="Shape 28"/>
          <p:cNvSpPr/>
          <p:nvPr/>
        </p:nvSpPr>
        <p:spPr>
          <a:xfrm>
            <a:off x="4354373" y="4175150"/>
            <a:ext cx="2596896" cy="10058"/>
          </a:xfrm>
          <a:prstGeom prst="rect">
            <a:avLst/>
          </a:prstGeom>
          <a:solidFill>
            <a:srgbClr val="2A7A4E"/>
          </a:solidFill>
          <a:ln/>
        </p:spPr>
      </p:sp>
      <p:sp>
        <p:nvSpPr>
          <p:cNvPr id="32" name="Text 29"/>
          <p:cNvSpPr/>
          <p:nvPr/>
        </p:nvSpPr>
        <p:spPr>
          <a:xfrm>
            <a:off x="4354373" y="4321454"/>
            <a:ext cx="2596896" cy="347472"/>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回収期間 約17ヶ月</a:t>
            </a:r>
            <a:endParaRPr lang="en-US" sz="1350" dirty="0"/>
          </a:p>
        </p:txBody>
      </p:sp>
      <p:sp>
        <p:nvSpPr>
          <p:cNvPr id="33" name="Text 30"/>
          <p:cNvSpPr/>
          <p:nvPr/>
        </p:nvSpPr>
        <p:spPr>
          <a:xfrm>
            <a:off x="660197" y="5619902"/>
            <a:ext cx="6565392" cy="329184"/>
          </a:xfrm>
          <a:prstGeom prst="rect">
            <a:avLst/>
          </a:prstGeom>
          <a:noFill/>
          <a:ln/>
        </p:spPr>
        <p:txBody>
          <a:bodyPr wrap="square" lIns="0" tIns="0" rIns="0" bIns="0" rtlCol="0" anchor="ctr"/>
          <a:lstStyle/>
          <a:p>
            <a:pPr algn="ctr" indent="0" marL="0">
              <a:buNone/>
            </a:pPr>
            <a:r>
              <a:rPr lang="en-US" sz="1500" b="1" dirty="0">
                <a:solidFill>
                  <a:srgbClr val="106838"/>
                </a:solidFill>
                <a:latin typeface="Arial" pitchFamily="34" charset="0"/>
                <a:ea typeface="Arial" pitchFamily="34" charset="-122"/>
                <a:cs typeface="Arial" pitchFamily="34" charset="-120"/>
              </a:rPr>
              <a:t>＋20万円／月</a:t>
            </a:r>
            <a:r>
              <a:rPr lang="en-US" sz="1150" b="1" dirty="0">
                <a:solidFill>
                  <a:srgbClr val="106838"/>
                </a:solidFill>
                <a:latin typeface="Yu Gothic" pitchFamily="34" charset="0"/>
                <a:ea typeface="Yu Gothic" pitchFamily="34" charset="-122"/>
                <a:cs typeface="Yu Gothic" pitchFamily="34" charset="-120"/>
              </a:rPr>
              <a:t>（+74%）</a:t>
            </a:r>
            <a:endParaRPr lang="en-US" sz="1500" dirty="0"/>
          </a:p>
        </p:txBody>
      </p:sp>
      <p:sp>
        <p:nvSpPr>
          <p:cNvPr id="34" name="Shape 31"/>
          <p:cNvSpPr/>
          <p:nvPr/>
        </p:nvSpPr>
        <p:spPr>
          <a:xfrm>
            <a:off x="7609637" y="2510942"/>
            <a:ext cx="292608" cy="292608"/>
          </a:xfrm>
          <a:prstGeom prst="ellipse">
            <a:avLst/>
          </a:prstGeom>
          <a:solidFill>
            <a:srgbClr val="0C5230"/>
          </a:solidFill>
          <a:ln/>
        </p:spPr>
      </p:sp>
      <p:sp>
        <p:nvSpPr>
          <p:cNvPr id="35" name="Text 32"/>
          <p:cNvSpPr/>
          <p:nvPr/>
        </p:nvSpPr>
        <p:spPr>
          <a:xfrm>
            <a:off x="7609637" y="25109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36" name="Text 33"/>
          <p:cNvSpPr/>
          <p:nvPr/>
        </p:nvSpPr>
        <p:spPr>
          <a:xfrm>
            <a:off x="8030261" y="24926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家賃という最大の固定費が不要</a:t>
            </a:r>
            <a:endParaRPr lang="en-US" sz="1250" dirty="0"/>
          </a:p>
        </p:txBody>
      </p:sp>
      <p:sp>
        <p:nvSpPr>
          <p:cNvPr id="37" name="Text 34"/>
          <p:cNvSpPr/>
          <p:nvPr/>
        </p:nvSpPr>
        <p:spPr>
          <a:xfrm>
            <a:off x="8030261" y="28218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売上がそのまま利益層に乗る構造。</a:t>
            </a:r>
            <a:endParaRPr lang="en-US" sz="950" dirty="0"/>
          </a:p>
        </p:txBody>
      </p:sp>
      <p:sp>
        <p:nvSpPr>
          <p:cNvPr id="38" name="Shape 35"/>
          <p:cNvSpPr/>
          <p:nvPr/>
        </p:nvSpPr>
        <p:spPr>
          <a:xfrm>
            <a:off x="7609637" y="3425342"/>
            <a:ext cx="292608" cy="292608"/>
          </a:xfrm>
          <a:prstGeom prst="ellipse">
            <a:avLst/>
          </a:prstGeom>
          <a:solidFill>
            <a:srgbClr val="0C5230"/>
          </a:solidFill>
          <a:ln/>
        </p:spPr>
      </p:sp>
      <p:sp>
        <p:nvSpPr>
          <p:cNvPr id="39" name="Text 36"/>
          <p:cNvSpPr/>
          <p:nvPr/>
        </p:nvSpPr>
        <p:spPr>
          <a:xfrm>
            <a:off x="7609637" y="34253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40" name="Text 37"/>
          <p:cNvSpPr/>
          <p:nvPr/>
        </p:nvSpPr>
        <p:spPr>
          <a:xfrm>
            <a:off x="8030261" y="34070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空室の機会損失を収益に転換</a:t>
            </a:r>
            <a:endParaRPr lang="en-US" sz="1250" dirty="0"/>
          </a:p>
        </p:txBody>
      </p:sp>
      <p:sp>
        <p:nvSpPr>
          <p:cNvPr id="41" name="Text 38"/>
          <p:cNvSpPr/>
          <p:nvPr/>
        </p:nvSpPr>
        <p:spPr>
          <a:xfrm>
            <a:off x="8030261" y="37362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950" dirty="0"/>
          </a:p>
        </p:txBody>
      </p:sp>
      <p:sp>
        <p:nvSpPr>
          <p:cNvPr id="42" name="Shape 39"/>
          <p:cNvSpPr/>
          <p:nvPr/>
        </p:nvSpPr>
        <p:spPr>
          <a:xfrm>
            <a:off x="7609637" y="4339742"/>
            <a:ext cx="292608" cy="292608"/>
          </a:xfrm>
          <a:prstGeom prst="ellipse">
            <a:avLst/>
          </a:prstGeom>
          <a:solidFill>
            <a:srgbClr val="0C5230"/>
          </a:solidFill>
          <a:ln/>
        </p:spPr>
      </p:sp>
      <p:sp>
        <p:nvSpPr>
          <p:cNvPr id="43" name="Text 40"/>
          <p:cNvSpPr/>
          <p:nvPr/>
        </p:nvSpPr>
        <p:spPr>
          <a:xfrm>
            <a:off x="7609637" y="43397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44" name="Text 41"/>
          <p:cNvSpPr/>
          <p:nvPr/>
        </p:nvSpPr>
        <p:spPr>
          <a:xfrm>
            <a:off x="8030261" y="43214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人件費の追加もゼロ</a:t>
            </a:r>
            <a:endParaRPr lang="en-US" sz="1250" dirty="0"/>
          </a:p>
        </p:txBody>
      </p:sp>
      <p:sp>
        <p:nvSpPr>
          <p:cNvPr id="45" name="Text 42"/>
          <p:cNvSpPr/>
          <p:nvPr/>
        </p:nvSpPr>
        <p:spPr>
          <a:xfrm>
            <a:off x="8030261" y="46506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950" dirty="0"/>
          </a:p>
        </p:txBody>
      </p:sp>
      <p:sp>
        <p:nvSpPr>
          <p:cNvPr id="46" name="Shape 43"/>
          <p:cNvSpPr/>
          <p:nvPr/>
        </p:nvSpPr>
        <p:spPr>
          <a:xfrm>
            <a:off x="7609637" y="5254142"/>
            <a:ext cx="292608" cy="292608"/>
          </a:xfrm>
          <a:prstGeom prst="ellipse">
            <a:avLst/>
          </a:prstGeom>
          <a:solidFill>
            <a:srgbClr val="0C5230"/>
          </a:solidFill>
          <a:ln/>
        </p:spPr>
      </p:sp>
      <p:sp>
        <p:nvSpPr>
          <p:cNvPr id="47" name="Text 44"/>
          <p:cNvSpPr/>
          <p:nvPr/>
        </p:nvSpPr>
        <p:spPr>
          <a:xfrm>
            <a:off x="7609637" y="52541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48" name="Text 45"/>
          <p:cNvSpPr/>
          <p:nvPr/>
        </p:nvSpPr>
        <p:spPr>
          <a:xfrm>
            <a:off x="8030261" y="52358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実績（参考値）</a:t>
            </a:r>
            <a:endParaRPr lang="en-US" sz="1250" dirty="0"/>
          </a:p>
        </p:txBody>
      </p:sp>
      <p:sp>
        <p:nvSpPr>
          <p:cNvPr id="49" name="Text 46"/>
          <p:cNvSpPr/>
          <p:nvPr/>
        </p:nvSpPr>
        <p:spPr>
          <a:xfrm>
            <a:off x="8030261" y="55650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950" dirty="0"/>
          </a:p>
        </p:txBody>
      </p:sp>
      <p:sp>
        <p:nvSpPr>
          <p:cNvPr id="50" name="Text 4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28"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0"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PiggyBank-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開業費650万円〜・標準予算800万円程度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2218334"/>
            <a:ext cx="1096023" cy="859536"/>
          </a:xfrm>
          <a:prstGeom prst="rect">
            <a:avLst/>
          </a:prstGeom>
          <a:solidFill>
            <a:srgbClr val="0C5230"/>
          </a:solidFill>
          <a:ln w="12700">
            <a:solidFill>
              <a:srgbClr val="FFFFFF"/>
            </a:solidFill>
            <a:prstDash val="solid"/>
          </a:ln>
        </p:spPr>
      </p:sp>
      <p:sp>
        <p:nvSpPr>
          <p:cNvPr id="10" name="Text 7"/>
          <p:cNvSpPr/>
          <p:nvPr/>
        </p:nvSpPr>
        <p:spPr>
          <a:xfrm>
            <a:off x="660197"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756219" y="2218334"/>
            <a:ext cx="4384091" cy="859536"/>
          </a:xfrm>
          <a:prstGeom prst="rect">
            <a:avLst/>
          </a:prstGeom>
          <a:solidFill>
            <a:srgbClr val="1B7A47"/>
          </a:solidFill>
          <a:ln w="12700">
            <a:solidFill>
              <a:srgbClr val="FFFFFF"/>
            </a:solidFill>
            <a:prstDash val="solid"/>
          </a:ln>
        </p:spPr>
      </p:sp>
      <p:sp>
        <p:nvSpPr>
          <p:cNvPr id="13" name="Text 10"/>
          <p:cNvSpPr/>
          <p:nvPr/>
        </p:nvSpPr>
        <p:spPr>
          <a:xfrm>
            <a:off x="1756219" y="2218334"/>
            <a:ext cx="4384091"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481899" y="3169310"/>
            <a:ext cx="493273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6140310" y="2218334"/>
            <a:ext cx="1096023" cy="859536"/>
          </a:xfrm>
          <a:prstGeom prst="rect">
            <a:avLst/>
          </a:prstGeom>
          <a:solidFill>
            <a:srgbClr val="5FA57C"/>
          </a:solidFill>
          <a:ln w="12700">
            <a:solidFill>
              <a:srgbClr val="FFFFFF"/>
            </a:solidFill>
            <a:prstDash val="solid"/>
          </a:ln>
        </p:spPr>
      </p:sp>
      <p:sp>
        <p:nvSpPr>
          <p:cNvPr id="16" name="Text 13"/>
          <p:cNvSpPr/>
          <p:nvPr/>
        </p:nvSpPr>
        <p:spPr>
          <a:xfrm>
            <a:off x="6140310"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7" name="Text 14"/>
          <p:cNvSpPr/>
          <p:nvPr/>
        </p:nvSpPr>
        <p:spPr>
          <a:xfrm>
            <a:off x="5865990"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出店準備金（備品類）</a:t>
            </a:r>
            <a:endParaRPr lang="en-US" sz="950" dirty="0"/>
          </a:p>
        </p:txBody>
      </p:sp>
      <p:sp>
        <p:nvSpPr>
          <p:cNvPr id="18" name="Shape 15"/>
          <p:cNvSpPr/>
          <p:nvPr/>
        </p:nvSpPr>
        <p:spPr>
          <a:xfrm>
            <a:off x="7236333" y="2218334"/>
            <a:ext cx="548011" cy="859536"/>
          </a:xfrm>
          <a:prstGeom prst="rect">
            <a:avLst/>
          </a:prstGeom>
          <a:solidFill>
            <a:srgbClr val="9CC3AA"/>
          </a:solidFill>
          <a:ln w="12700">
            <a:solidFill>
              <a:srgbClr val="FFFFFF"/>
            </a:solidFill>
            <a:prstDash val="solid"/>
          </a:ln>
        </p:spPr>
      </p:sp>
      <p:sp>
        <p:nvSpPr>
          <p:cNvPr id="19" name="Text 16"/>
          <p:cNvSpPr/>
          <p:nvPr/>
        </p:nvSpPr>
        <p:spPr>
          <a:xfrm>
            <a:off x="7236333" y="2218334"/>
            <a:ext cx="54801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6962013" y="3169310"/>
            <a:ext cx="109665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784344" y="2218334"/>
            <a:ext cx="1644034" cy="859536"/>
          </a:xfrm>
          <a:prstGeom prst="rect">
            <a:avLst/>
          </a:prstGeom>
          <a:solidFill>
            <a:srgbClr val="A8761F"/>
          </a:solidFill>
          <a:ln w="12700">
            <a:solidFill>
              <a:srgbClr val="FFFFFF"/>
            </a:solidFill>
            <a:prstDash val="solid"/>
          </a:ln>
        </p:spPr>
      </p:sp>
      <p:sp>
        <p:nvSpPr>
          <p:cNvPr id="22" name="Text 19"/>
          <p:cNvSpPr/>
          <p:nvPr/>
        </p:nvSpPr>
        <p:spPr>
          <a:xfrm>
            <a:off x="7784344" y="2218334"/>
            <a:ext cx="164403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510024" y="1907438"/>
            <a:ext cx="219267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800万円程度</a:t>
            </a:r>
            <a:endParaRPr lang="en-US" sz="1050" dirty="0"/>
          </a:p>
        </p:txBody>
      </p:sp>
      <p:sp>
        <p:nvSpPr>
          <p:cNvPr id="26" name="Text 23"/>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Arial" pitchFamily="34" charset="0"/>
                <a:ea typeface="Arial" pitchFamily="34" charset="-122"/>
                <a:cs typeface="Arial"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7" name="Shape 24"/>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sp>
        <p:nvSpPr>
          <p:cNvPr id="28" name="Text 25"/>
          <p:cNvSpPr/>
          <p:nvPr/>
        </p:nvSpPr>
        <p:spPr>
          <a:xfrm>
            <a:off x="934517" y="4467758"/>
            <a:ext cx="4694987"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a:t>
            </a:r>
            <a:endParaRPr lang="en-US" sz="1150" dirty="0"/>
          </a:p>
        </p:txBody>
      </p:sp>
      <p:sp>
        <p:nvSpPr>
          <p:cNvPr id="29" name="Text 26"/>
          <p:cNvSpPr/>
          <p:nvPr/>
        </p:nvSpPr>
        <p:spPr>
          <a:xfrm>
            <a:off x="934517" y="4760366"/>
            <a:ext cx="4694987" cy="347472"/>
          </a:xfrm>
          <a:prstGeom prst="rect">
            <a:avLst/>
          </a:prstGeom>
          <a:noFill/>
          <a:ln/>
        </p:spPr>
        <p:txBody>
          <a:bodyPr wrap="square" lIns="0" tIns="0" rIns="0" bIns="0" rtlCol="0" anchor="t"/>
          <a:lstStyle/>
          <a:p>
            <a:pPr indent="0" marL="0">
              <a:lnSpc>
                <a:spcPct val="130000"/>
              </a:lnSpc>
              <a:buNone/>
            </a:pPr>
            <a:r>
              <a:rPr lang="en-US" sz="1050" dirty="0">
                <a:solidFill>
                  <a:srgbClr val="4B5550"/>
                </a:solidFill>
                <a:latin typeface="Yu Gothic" pitchFamily="34" charset="0"/>
                <a:ea typeface="Yu Gothic" pitchFamily="34" charset="-122"/>
                <a:cs typeface="Yu Gothic" pitchFamily="34" charset="-120"/>
              </a:rPr>
              <a:t>月5万円 一律（売上連動なし）</a:t>
            </a:r>
            <a:endParaRPr lang="en-US" sz="1050" dirty="0"/>
          </a:p>
        </p:txBody>
      </p:sp>
      <p:sp>
        <p:nvSpPr>
          <p:cNvPr id="30" name="Shape 27"/>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sp>
        <p:nvSpPr>
          <p:cNvPr id="31" name="Text 28"/>
          <p:cNvSpPr/>
          <p:nvPr/>
        </p:nvSpPr>
        <p:spPr>
          <a:xfrm>
            <a:off x="6562192" y="4467758"/>
            <a:ext cx="4694987"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研修費</a:t>
            </a:r>
            <a:endParaRPr lang="en-US" sz="1150" dirty="0"/>
          </a:p>
        </p:txBody>
      </p:sp>
      <p:sp>
        <p:nvSpPr>
          <p:cNvPr id="32" name="Text 29"/>
          <p:cNvSpPr/>
          <p:nvPr/>
        </p:nvSpPr>
        <p:spPr>
          <a:xfrm>
            <a:off x="6562192" y="4760366"/>
            <a:ext cx="4694987" cy="347472"/>
          </a:xfrm>
          <a:prstGeom prst="rect">
            <a:avLst/>
          </a:prstGeom>
          <a:noFill/>
          <a:ln/>
        </p:spPr>
        <p:txBody>
          <a:bodyPr wrap="square" lIns="0" tIns="0" rIns="0" bIns="0" rtlCol="0" anchor="t"/>
          <a:lstStyle/>
          <a:p>
            <a:pPr indent="0" marL="0">
              <a:lnSpc>
                <a:spcPct val="130000"/>
              </a:lnSpc>
              <a:buNone/>
            </a:pPr>
            <a:r>
              <a:rPr lang="en-US" sz="1050" dirty="0">
                <a:solidFill>
                  <a:srgbClr val="4B5550"/>
                </a:solidFill>
                <a:latin typeface="Yu Gothic" pitchFamily="34" charset="0"/>
                <a:ea typeface="Yu Gothic" pitchFamily="34" charset="-122"/>
                <a:cs typeface="Yu Gothic" pitchFamily="34" charset="-120"/>
              </a:rPr>
              <a:t>なし</a:t>
            </a:r>
            <a:endParaRPr lang="en-US" sz="1050" dirty="0"/>
          </a:p>
        </p:txBody>
      </p:sp>
      <p:sp>
        <p:nvSpPr>
          <p:cNvPr id="33" name="Shape 30"/>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sp>
        <p:nvSpPr>
          <p:cNvPr id="34" name="Text 31"/>
          <p:cNvSpPr/>
          <p:nvPr/>
        </p:nvSpPr>
        <p:spPr>
          <a:xfrm>
            <a:off x="934517" y="5473598"/>
            <a:ext cx="4694987"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35" name="Text 32"/>
          <p:cNvSpPr/>
          <p:nvPr/>
        </p:nvSpPr>
        <p:spPr>
          <a:xfrm>
            <a:off x="934517" y="5766206"/>
            <a:ext cx="4694987" cy="347472"/>
          </a:xfrm>
          <a:prstGeom prst="rect">
            <a:avLst/>
          </a:prstGeom>
          <a:noFill/>
          <a:ln/>
        </p:spPr>
        <p:txBody>
          <a:bodyPr wrap="square" lIns="0" tIns="0" rIns="0" bIns="0" rtlCol="0" anchor="t"/>
          <a:lstStyle/>
          <a:p>
            <a:pPr indent="0" marL="0">
              <a:lnSpc>
                <a:spcPct val="130000"/>
              </a:lnSpc>
              <a:buNone/>
            </a:pPr>
            <a:r>
              <a:rPr lang="en-US" sz="1050" dirty="0">
                <a:solidFill>
                  <a:srgbClr val="4B5550"/>
                </a:solidFill>
                <a:latin typeface="Yu Gothic" pitchFamily="34" charset="0"/>
                <a:ea typeface="Yu Gothic" pitchFamily="34" charset="-122"/>
                <a:cs typeface="Yu Gothic" pitchFamily="34" charset="-120"/>
              </a:rPr>
              <a:t>工事費が増え950万円〜（標準総投資予算1,200万円程度）</a:t>
            </a:r>
            <a:endParaRPr lang="en-US" sz="1050" dirty="0"/>
          </a:p>
        </p:txBody>
      </p:sp>
      <p:sp>
        <p:nvSpPr>
          <p:cNvPr id="36" name="Shape 33"/>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sp>
        <p:nvSpPr>
          <p:cNvPr id="37" name="Text 34"/>
          <p:cNvSpPr/>
          <p:nvPr/>
        </p:nvSpPr>
        <p:spPr>
          <a:xfrm>
            <a:off x="6562192" y="5473598"/>
            <a:ext cx="4694987"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8" name="Text 35"/>
          <p:cNvSpPr/>
          <p:nvPr/>
        </p:nvSpPr>
        <p:spPr>
          <a:xfrm>
            <a:off x="6562192" y="5766206"/>
            <a:ext cx="4694987" cy="347472"/>
          </a:xfrm>
          <a:prstGeom prst="rect">
            <a:avLst/>
          </a:prstGeom>
          <a:noFill/>
          <a:ln/>
        </p:spPr>
        <p:txBody>
          <a:bodyPr wrap="square" lIns="0" tIns="0" rIns="0" bIns="0" rtlCol="0" anchor="t"/>
          <a:lstStyle/>
          <a:p>
            <a:pPr indent="0" marL="0">
              <a:lnSpc>
                <a:spcPct val="130000"/>
              </a:lnSpc>
              <a:buNone/>
            </a:pPr>
            <a:r>
              <a:rPr lang="en-US" sz="105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50" dirty="0"/>
          </a:p>
        </p:txBody>
      </p:sp>
      <p:sp>
        <p:nvSpPr>
          <p:cNvPr id="39" name="Text 36"/>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75杯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機械使用料（マシン2台・決済端末）</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家賃（坪1万円）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月27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324万円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月47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564万円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減価償却費・税を含みません。家賃は仮定坪単価による試算。目安であり売上・利益を保証するものではありません。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100杯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機械使用料（マシン2台・決済端末）</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家賃（坪8千円）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387,000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707,000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月38.7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464.4万円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月70.7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848.4万円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減価償却費・税を含みません。家賃は仮定坪単価による試算。目安であり売上・利益を保証するものではありません。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損益分岐点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自社物件なら1日約29杯で黒字圏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40席の店で「1席1杯以下」。賃貸でも約49杯（1席あたり約1.2杯）が分岐点です（20坪モデル）。</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1日の販売杯数と月間損益（万円）</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517904"/>
          </a:xfrm>
          <a:prstGeom prst="roundRect">
            <a:avLst>
              <a:gd name="adj" fmla="val 3614"/>
            </a:avLst>
          </a:prstGeom>
          <a:solidFill>
            <a:srgbClr val="0C5230"/>
          </a:solidFill>
          <a:ln/>
        </p:spPr>
      </p:sp>
      <p:sp>
        <p:nvSpPr>
          <p:cNvPr id="13" name="Text 9"/>
          <p:cNvSpPr/>
          <p:nvPr/>
        </p:nvSpPr>
        <p:spPr>
          <a:xfrm>
            <a:off x="8688629" y="1815998"/>
            <a:ext cx="2605126" cy="237744"/>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自社物件（家賃0円）</a:t>
            </a:r>
            <a:endParaRPr lang="en-US" sz="1050" dirty="0"/>
          </a:p>
        </p:txBody>
      </p:sp>
      <p:sp>
        <p:nvSpPr>
          <p:cNvPr id="14" name="Text 10"/>
          <p:cNvSpPr/>
          <p:nvPr/>
        </p:nvSpPr>
        <p:spPr>
          <a:xfrm>
            <a:off x="8688629" y="2090318"/>
            <a:ext cx="2605126" cy="512064"/>
          </a:xfrm>
          <a:prstGeom prst="rect">
            <a:avLst/>
          </a:prstGeom>
          <a:noFill/>
          <a:ln/>
        </p:spPr>
        <p:txBody>
          <a:bodyPr wrap="square" lIns="0" tIns="0" rIns="0" bIns="0" rtlCol="0" anchor="ctr"/>
          <a:lstStyle/>
          <a:p>
            <a:pPr indent="0" marL="0">
              <a:buNone/>
            </a:pPr>
            <a:r>
              <a:rPr lang="en-US" sz="2600" b="1" dirty="0">
                <a:solidFill>
                  <a:srgbClr val="F0C05A"/>
                </a:solidFill>
                <a:latin typeface="Yu Gothic" pitchFamily="34" charset="0"/>
                <a:ea typeface="Yu Gothic" pitchFamily="34" charset="-122"/>
                <a:cs typeface="Yu Gothic" pitchFamily="34" charset="-120"/>
              </a:rPr>
              <a:t>約29</a:t>
            </a:r>
            <a:r>
              <a:rPr lang="en-US" sz="1300" b="1" dirty="0">
                <a:solidFill>
                  <a:srgbClr val="F0C05A"/>
                </a:solidFill>
                <a:latin typeface="Yu Gothic" pitchFamily="34" charset="0"/>
                <a:ea typeface="Yu Gothic" pitchFamily="34" charset="-122"/>
                <a:cs typeface="Yu Gothic" pitchFamily="34" charset="-120"/>
              </a:rPr>
              <a:t> 杯／日</a:t>
            </a:r>
            <a:endParaRPr lang="en-US" sz="2600" dirty="0"/>
          </a:p>
        </p:txBody>
      </p:sp>
      <p:sp>
        <p:nvSpPr>
          <p:cNvPr id="15" name="Text 11"/>
          <p:cNvSpPr/>
          <p:nvPr/>
        </p:nvSpPr>
        <p:spPr>
          <a:xfrm>
            <a:off x="8688629" y="2657246"/>
            <a:ext cx="2605126" cy="402336"/>
          </a:xfrm>
          <a:prstGeom prst="rect">
            <a:avLst/>
          </a:prstGeom>
          <a:noFill/>
          <a:ln/>
        </p:spPr>
        <p:txBody>
          <a:bodyPr wrap="square" lIns="0" tIns="0" rIns="0" bIns="0" rtlCol="0" anchor="t"/>
          <a:lstStyle/>
          <a:p>
            <a:pPr indent="0" marL="0">
              <a:lnSpc>
                <a:spcPct val="130000"/>
              </a:lnSpc>
              <a:buNone/>
            </a:pPr>
            <a:r>
              <a:rPr lang="en-US" sz="850" dirty="0">
                <a:solidFill>
                  <a:srgbClr val="AFC2B8"/>
                </a:solidFill>
                <a:latin typeface="Yu Gothic" pitchFamily="34" charset="0"/>
                <a:ea typeface="Yu Gothic" pitchFamily="34" charset="-122"/>
                <a:cs typeface="Yu Gothic" pitchFamily="34" charset="-120"/>
              </a:rPr>
              <a:t>固定費28.6万円 ÷ 1杯あたり限界利益336円 ≒ 月851杯</a:t>
            </a:r>
            <a:endParaRPr lang="en-US" sz="850" dirty="0"/>
          </a:p>
        </p:txBody>
      </p:sp>
      <p:sp>
        <p:nvSpPr>
          <p:cNvPr id="16" name="Shape 12"/>
          <p:cNvSpPr/>
          <p:nvPr/>
        </p:nvSpPr>
        <p:spPr>
          <a:xfrm>
            <a:off x="8450885" y="3352190"/>
            <a:ext cx="3080614" cy="1517904"/>
          </a:xfrm>
          <a:prstGeom prst="roundRect">
            <a:avLst>
              <a:gd name="adj" fmla="val 3614"/>
            </a:avLst>
          </a:prstGeom>
          <a:solidFill>
            <a:srgbClr val="F1F8F3"/>
          </a:solidFill>
          <a:ln w="9525">
            <a:solidFill>
              <a:srgbClr val="D2E7DA"/>
            </a:solidFill>
            <a:prstDash val="solid"/>
          </a:ln>
        </p:spPr>
      </p:sp>
      <p:sp>
        <p:nvSpPr>
          <p:cNvPr id="17" name="Text 13"/>
          <p:cNvSpPr/>
          <p:nvPr/>
        </p:nvSpPr>
        <p:spPr>
          <a:xfrm>
            <a:off x="8688629" y="3516782"/>
            <a:ext cx="260512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賃貸物件（家賃20万円）</a:t>
            </a:r>
            <a:endParaRPr lang="en-US" sz="1050" dirty="0"/>
          </a:p>
        </p:txBody>
      </p:sp>
      <p:sp>
        <p:nvSpPr>
          <p:cNvPr id="18" name="Text 14"/>
          <p:cNvSpPr/>
          <p:nvPr/>
        </p:nvSpPr>
        <p:spPr>
          <a:xfrm>
            <a:off x="8688629" y="3791102"/>
            <a:ext cx="2605126" cy="512064"/>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約49</a:t>
            </a:r>
            <a:r>
              <a:rPr lang="en-US" sz="1300" b="1" dirty="0">
                <a:solidFill>
                  <a:srgbClr val="106838"/>
                </a:solidFill>
                <a:latin typeface="Yu Gothic" pitchFamily="34" charset="0"/>
                <a:ea typeface="Yu Gothic" pitchFamily="34" charset="-122"/>
                <a:cs typeface="Yu Gothic" pitchFamily="34" charset="-120"/>
              </a:rPr>
              <a:t> 杯／日</a:t>
            </a:r>
            <a:endParaRPr lang="en-US" sz="2600" dirty="0"/>
          </a:p>
        </p:txBody>
      </p:sp>
      <p:sp>
        <p:nvSpPr>
          <p:cNvPr id="19" name="Text 15"/>
          <p:cNvSpPr/>
          <p:nvPr/>
        </p:nvSpPr>
        <p:spPr>
          <a:xfrm>
            <a:off x="8688629" y="4358030"/>
            <a:ext cx="2605126" cy="402336"/>
          </a:xfrm>
          <a:prstGeom prst="rect">
            <a:avLst/>
          </a:prstGeom>
          <a:noFill/>
          <a:ln/>
        </p:spPr>
        <p:txBody>
          <a:bodyPr wrap="square" lIns="0" tIns="0" rIns="0" bIns="0" rtlCol="0" anchor="t"/>
          <a:lstStyle/>
          <a:p>
            <a:pPr indent="0" marL="0">
              <a:lnSpc>
                <a:spcPct val="130000"/>
              </a:lnSpc>
              <a:buNone/>
            </a:pPr>
            <a:r>
              <a:rPr lang="en-US" sz="850" dirty="0">
                <a:solidFill>
                  <a:srgbClr val="7E8882"/>
                </a:solidFill>
                <a:latin typeface="Yu Gothic" pitchFamily="34" charset="0"/>
                <a:ea typeface="Yu Gothic" pitchFamily="34" charset="-122"/>
                <a:cs typeface="Yu Gothic" pitchFamily="34" charset="-120"/>
              </a:rPr>
              <a:t>固定費48.6万円 ÷ 336円 ≒ 月1,447杯</a:t>
            </a:r>
            <a:endParaRPr lang="en-US" sz="850" dirty="0"/>
          </a:p>
        </p:txBody>
      </p:sp>
      <p:sp>
        <p:nvSpPr>
          <p:cNvPr id="20" name="Text 16"/>
          <p:cNvSpPr/>
          <p:nvPr/>
        </p:nvSpPr>
        <p:spPr>
          <a:xfrm>
            <a:off x="8450885" y="5052974"/>
            <a:ext cx="3080614" cy="548640"/>
          </a:xfrm>
          <a:prstGeom prst="rect">
            <a:avLst/>
          </a:prstGeom>
          <a:noFill/>
          <a:ln/>
        </p:spPr>
        <p:txBody>
          <a:bodyPr wrap="square" lIns="0" tIns="0" rIns="0" bIns="0" rtlCol="0" anchor="t"/>
          <a:lstStyle/>
          <a:p>
            <a:pPr indent="0" marL="0">
              <a:lnSpc>
                <a:spcPct val="135000"/>
              </a:lnSpc>
              <a:buNone/>
            </a:pPr>
            <a:r>
              <a:rPr lang="en-US" sz="1000" b="1" dirty="0">
                <a:solidFill>
                  <a:srgbClr val="106838"/>
                </a:solidFill>
                <a:latin typeface="Yu Gothic" pitchFamily="34" charset="0"/>
                <a:ea typeface="Yu Gothic" pitchFamily="34" charset="-122"/>
                <a:cs typeface="Yu Gothic" pitchFamily="34" charset="-120"/>
              </a:rPr>
              <a:t>参考：既存店（開業6ヶ月以上）の月商中央値は約53杯／日に相当します。</a:t>
            </a:r>
            <a:endParaRPr lang="en-US" sz="1000" dirty="0"/>
          </a:p>
        </p:txBody>
      </p:sp>
      <p:sp>
        <p:nvSpPr>
          <p:cNvPr id="21" name="Text 1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20坪モデルの前提（1杯420円・原価20%・固定費28.6万円／月＋家賃）による試算。家賃・光熱費等の条件により分岐点は変動します。</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5243627" cy="3602736"/>
          </a:xfrm>
          <a:prstGeom prst="roundRect">
            <a:avLst>
              <a:gd name="adj" fmla="val 1523"/>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4" name="Text 11"/>
          <p:cNvSpPr/>
          <p:nvPr/>
        </p:nvSpPr>
        <p:spPr>
          <a:xfrm>
            <a:off x="2580437"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5" name="Text 12"/>
          <p:cNvSpPr/>
          <p:nvPr/>
        </p:nvSpPr>
        <p:spPr>
          <a:xfrm>
            <a:off x="4166464"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945,000円</a:t>
            </a:r>
            <a:endParaRPr lang="en-US" sz="1200" dirty="0"/>
          </a:p>
        </p:txBody>
      </p:sp>
      <p:sp>
        <p:nvSpPr>
          <p:cNvPr id="16" name="Shape 13"/>
          <p:cNvSpPr/>
          <p:nvPr/>
        </p:nvSpPr>
        <p:spPr>
          <a:xfrm>
            <a:off x="934517" y="2748686"/>
            <a:ext cx="4694987" cy="10058"/>
          </a:xfrm>
          <a:prstGeom prst="rect">
            <a:avLst/>
          </a:prstGeom>
          <a:solidFill>
            <a:srgbClr val="EFEAE0"/>
          </a:solidFill>
          <a:ln/>
        </p:spPr>
      </p:sp>
      <p:sp>
        <p:nvSpPr>
          <p:cNvPr id="17" name="Text 14"/>
          <p:cNvSpPr/>
          <p:nvPr/>
        </p:nvSpPr>
        <p:spPr>
          <a:xfrm>
            <a:off x="934517"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18" name="Text 15"/>
          <p:cNvSpPr/>
          <p:nvPr/>
        </p:nvSpPr>
        <p:spPr>
          <a:xfrm>
            <a:off x="2580437"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19" name="Text 16"/>
          <p:cNvSpPr/>
          <p:nvPr/>
        </p:nvSpPr>
        <p:spPr>
          <a:xfrm>
            <a:off x="4166464"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-475,000円</a:t>
            </a:r>
            <a:endParaRPr lang="en-US" sz="1200" dirty="0"/>
          </a:p>
        </p:txBody>
      </p:sp>
      <p:sp>
        <p:nvSpPr>
          <p:cNvPr id="20" name="Shape 17"/>
          <p:cNvSpPr/>
          <p:nvPr/>
        </p:nvSpPr>
        <p:spPr>
          <a:xfrm>
            <a:off x="934517" y="3077870"/>
            <a:ext cx="4694987" cy="10058"/>
          </a:xfrm>
          <a:prstGeom prst="rect">
            <a:avLst/>
          </a:prstGeom>
          <a:solidFill>
            <a:srgbClr val="EFEAE0"/>
          </a:solidFill>
          <a:ln/>
        </p:spPr>
      </p:sp>
      <p:sp>
        <p:nvSpPr>
          <p:cNvPr id="21" name="Text 18"/>
          <p:cNvSpPr/>
          <p:nvPr/>
        </p:nvSpPr>
        <p:spPr>
          <a:xfrm>
            <a:off x="934517"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2" name="Text 19"/>
          <p:cNvSpPr/>
          <p:nvPr/>
        </p:nvSpPr>
        <p:spPr>
          <a:xfrm>
            <a:off x="2580437"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3" name="Text 20"/>
          <p:cNvSpPr/>
          <p:nvPr/>
        </p:nvSpPr>
        <p:spPr>
          <a:xfrm>
            <a:off x="4166464"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-200,000円</a:t>
            </a:r>
            <a:endParaRPr lang="en-US" sz="1200" dirty="0"/>
          </a:p>
        </p:txBody>
      </p:sp>
      <p:sp>
        <p:nvSpPr>
          <p:cNvPr id="24" name="Shape 21"/>
          <p:cNvSpPr/>
          <p:nvPr/>
        </p:nvSpPr>
        <p:spPr>
          <a:xfrm>
            <a:off x="934517" y="3407054"/>
            <a:ext cx="4694987" cy="10058"/>
          </a:xfrm>
          <a:prstGeom prst="rect">
            <a:avLst/>
          </a:prstGeom>
          <a:solidFill>
            <a:srgbClr val="EFEAE0"/>
          </a:solidFill>
          <a:ln/>
        </p:spPr>
      </p:sp>
      <p:sp>
        <p:nvSpPr>
          <p:cNvPr id="25" name="Shape 22"/>
          <p:cNvSpPr/>
          <p:nvPr/>
        </p:nvSpPr>
        <p:spPr>
          <a:xfrm>
            <a:off x="934517" y="3608222"/>
            <a:ext cx="2256053" cy="1426464"/>
          </a:xfrm>
          <a:prstGeom prst="roundRect">
            <a:avLst>
              <a:gd name="adj" fmla="val 3846"/>
            </a:avLst>
          </a:prstGeom>
          <a:solidFill>
            <a:srgbClr val="F1F8F3"/>
          </a:solidFill>
          <a:ln w="9525">
            <a:solidFill>
              <a:srgbClr val="D2E7DA"/>
            </a:solidFill>
            <a:prstDash val="solid"/>
          </a:ln>
        </p:spPr>
      </p:sp>
      <p:sp>
        <p:nvSpPr>
          <p:cNvPr id="26" name="Text 23"/>
          <p:cNvSpPr/>
          <p:nvPr/>
        </p:nvSpPr>
        <p:spPr>
          <a:xfrm>
            <a:off x="1117397"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27" name="Text 24"/>
          <p:cNvSpPr/>
          <p:nvPr/>
        </p:nvSpPr>
        <p:spPr>
          <a:xfrm>
            <a:off x="1117397"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28" name="Text 25"/>
          <p:cNvSpPr/>
          <p:nvPr/>
        </p:nvSpPr>
        <p:spPr>
          <a:xfrm>
            <a:off x="1117397"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29" name="Text 26"/>
          <p:cNvSpPr/>
          <p:nvPr/>
        </p:nvSpPr>
        <p:spPr>
          <a:xfrm>
            <a:off x="1062533"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0" name="Shape 27"/>
          <p:cNvSpPr/>
          <p:nvPr/>
        </p:nvSpPr>
        <p:spPr>
          <a:xfrm>
            <a:off x="3373450" y="3608222"/>
            <a:ext cx="2256053" cy="1426464"/>
          </a:xfrm>
          <a:prstGeom prst="roundRect">
            <a:avLst>
              <a:gd name="adj" fmla="val 3846"/>
            </a:avLst>
          </a:prstGeom>
          <a:solidFill>
            <a:srgbClr val="0C5230"/>
          </a:solidFill>
          <a:ln/>
        </p:spPr>
      </p:sp>
      <p:sp>
        <p:nvSpPr>
          <p:cNvPr id="31" name="Text 28"/>
          <p:cNvSpPr/>
          <p:nvPr/>
        </p:nvSpPr>
        <p:spPr>
          <a:xfrm>
            <a:off x="3556330"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2" name="Text 29"/>
          <p:cNvSpPr/>
          <p:nvPr/>
        </p:nvSpPr>
        <p:spPr>
          <a:xfrm>
            <a:off x="3556330"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3" name="Text 30"/>
          <p:cNvSpPr/>
          <p:nvPr/>
        </p:nvSpPr>
        <p:spPr>
          <a:xfrm>
            <a:off x="3556330"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4" name="Text 31"/>
          <p:cNvSpPr/>
          <p:nvPr/>
        </p:nvSpPr>
        <p:spPr>
          <a:xfrm>
            <a:off x="3501466"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5" name="Shape 32"/>
          <p:cNvSpPr/>
          <p:nvPr/>
        </p:nvSpPr>
        <p:spPr>
          <a:xfrm>
            <a:off x="6287872" y="1651406"/>
            <a:ext cx="5243627" cy="3602736"/>
          </a:xfrm>
          <a:prstGeom prst="roundRect">
            <a:avLst>
              <a:gd name="adj" fmla="val 1523"/>
            </a:avLst>
          </a:prstGeom>
          <a:solidFill>
            <a:srgbClr val="FFFFFF"/>
          </a:solidFill>
          <a:ln w="9525">
            <a:solidFill>
              <a:srgbClr val="EFEAE0"/>
            </a:solidFill>
            <a:prstDash val="solid"/>
          </a:ln>
        </p:spPr>
      </p:sp>
      <p:sp>
        <p:nvSpPr>
          <p:cNvPr id="36" name="Text 33"/>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37" name="Text 34"/>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38" name="Text 35"/>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39" name="Text 36"/>
          <p:cNvSpPr/>
          <p:nvPr/>
        </p:nvSpPr>
        <p:spPr>
          <a:xfrm>
            <a:off x="6562192"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0" name="Text 37"/>
          <p:cNvSpPr/>
          <p:nvPr/>
        </p:nvSpPr>
        <p:spPr>
          <a:xfrm>
            <a:off x="8208112"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1" name="Text 38"/>
          <p:cNvSpPr/>
          <p:nvPr/>
        </p:nvSpPr>
        <p:spPr>
          <a:xfrm>
            <a:off x="9794138"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1,260,000円</a:t>
            </a:r>
            <a:endParaRPr lang="en-US" sz="1200" dirty="0"/>
          </a:p>
        </p:txBody>
      </p:sp>
      <p:sp>
        <p:nvSpPr>
          <p:cNvPr id="42" name="Shape 39"/>
          <p:cNvSpPr/>
          <p:nvPr/>
        </p:nvSpPr>
        <p:spPr>
          <a:xfrm>
            <a:off x="6562192" y="2748686"/>
            <a:ext cx="4694987" cy="10058"/>
          </a:xfrm>
          <a:prstGeom prst="rect">
            <a:avLst/>
          </a:prstGeom>
          <a:solidFill>
            <a:srgbClr val="EFEAE0"/>
          </a:solidFill>
          <a:ln/>
        </p:spPr>
      </p:sp>
      <p:sp>
        <p:nvSpPr>
          <p:cNvPr id="43" name="Text 40"/>
          <p:cNvSpPr/>
          <p:nvPr/>
        </p:nvSpPr>
        <p:spPr>
          <a:xfrm>
            <a:off x="6562192"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44" name="Text 41"/>
          <p:cNvSpPr/>
          <p:nvPr/>
        </p:nvSpPr>
        <p:spPr>
          <a:xfrm>
            <a:off x="8208112"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45" name="Text 42"/>
          <p:cNvSpPr/>
          <p:nvPr/>
        </p:nvSpPr>
        <p:spPr>
          <a:xfrm>
            <a:off x="9794138"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-553,000円</a:t>
            </a:r>
            <a:endParaRPr lang="en-US" sz="1200" dirty="0"/>
          </a:p>
        </p:txBody>
      </p:sp>
      <p:sp>
        <p:nvSpPr>
          <p:cNvPr id="46" name="Shape 43"/>
          <p:cNvSpPr/>
          <p:nvPr/>
        </p:nvSpPr>
        <p:spPr>
          <a:xfrm>
            <a:off x="6562192" y="3077870"/>
            <a:ext cx="4694987" cy="10058"/>
          </a:xfrm>
          <a:prstGeom prst="rect">
            <a:avLst/>
          </a:prstGeom>
          <a:solidFill>
            <a:srgbClr val="EFEAE0"/>
          </a:solidFill>
          <a:ln/>
        </p:spPr>
      </p:sp>
      <p:sp>
        <p:nvSpPr>
          <p:cNvPr id="47" name="Text 44"/>
          <p:cNvSpPr/>
          <p:nvPr/>
        </p:nvSpPr>
        <p:spPr>
          <a:xfrm>
            <a:off x="6562192"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48" name="Text 45"/>
          <p:cNvSpPr/>
          <p:nvPr/>
        </p:nvSpPr>
        <p:spPr>
          <a:xfrm>
            <a:off x="8208112"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49" name="Text 46"/>
          <p:cNvSpPr/>
          <p:nvPr/>
        </p:nvSpPr>
        <p:spPr>
          <a:xfrm>
            <a:off x="9794138"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-320,000円</a:t>
            </a:r>
            <a:endParaRPr lang="en-US" sz="1200" dirty="0"/>
          </a:p>
        </p:txBody>
      </p:sp>
      <p:sp>
        <p:nvSpPr>
          <p:cNvPr id="50" name="Shape 47"/>
          <p:cNvSpPr/>
          <p:nvPr/>
        </p:nvSpPr>
        <p:spPr>
          <a:xfrm>
            <a:off x="6562192" y="3407054"/>
            <a:ext cx="4694987" cy="10058"/>
          </a:xfrm>
          <a:prstGeom prst="rect">
            <a:avLst/>
          </a:prstGeom>
          <a:solidFill>
            <a:srgbClr val="EFEAE0"/>
          </a:solidFill>
          <a:ln/>
        </p:spPr>
      </p:sp>
      <p:sp>
        <p:nvSpPr>
          <p:cNvPr id="51" name="Shape 48"/>
          <p:cNvSpPr/>
          <p:nvPr/>
        </p:nvSpPr>
        <p:spPr>
          <a:xfrm>
            <a:off x="6562192" y="3608222"/>
            <a:ext cx="2256053" cy="1426464"/>
          </a:xfrm>
          <a:prstGeom prst="roundRect">
            <a:avLst>
              <a:gd name="adj" fmla="val 3846"/>
            </a:avLst>
          </a:prstGeom>
          <a:solidFill>
            <a:srgbClr val="F1F8F3"/>
          </a:solidFill>
          <a:ln w="9525">
            <a:solidFill>
              <a:srgbClr val="D2E7DA"/>
            </a:solidFill>
            <a:prstDash val="solid"/>
          </a:ln>
        </p:spPr>
      </p:sp>
      <p:sp>
        <p:nvSpPr>
          <p:cNvPr id="52" name="Text 49"/>
          <p:cNvSpPr/>
          <p:nvPr/>
        </p:nvSpPr>
        <p:spPr>
          <a:xfrm>
            <a:off x="6745072"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53" name="Text 50"/>
          <p:cNvSpPr/>
          <p:nvPr/>
        </p:nvSpPr>
        <p:spPr>
          <a:xfrm>
            <a:off x="6745072"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54" name="Text 51"/>
          <p:cNvSpPr/>
          <p:nvPr/>
        </p:nvSpPr>
        <p:spPr>
          <a:xfrm>
            <a:off x="6745072"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55" name="Text 52"/>
          <p:cNvSpPr/>
          <p:nvPr/>
        </p:nvSpPr>
        <p:spPr>
          <a:xfrm>
            <a:off x="6690208"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56" name="Shape 53"/>
          <p:cNvSpPr/>
          <p:nvPr/>
        </p:nvSpPr>
        <p:spPr>
          <a:xfrm>
            <a:off x="9001125" y="3608222"/>
            <a:ext cx="2256053" cy="1426464"/>
          </a:xfrm>
          <a:prstGeom prst="roundRect">
            <a:avLst>
              <a:gd name="adj" fmla="val 3846"/>
            </a:avLst>
          </a:prstGeom>
          <a:solidFill>
            <a:srgbClr val="0C5230"/>
          </a:solidFill>
          <a:ln/>
        </p:spPr>
      </p:sp>
      <p:sp>
        <p:nvSpPr>
          <p:cNvPr id="57" name="Text 54"/>
          <p:cNvSpPr/>
          <p:nvPr/>
        </p:nvSpPr>
        <p:spPr>
          <a:xfrm>
            <a:off x="9184005"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58" name="Text 55"/>
          <p:cNvSpPr/>
          <p:nvPr/>
        </p:nvSpPr>
        <p:spPr>
          <a:xfrm>
            <a:off x="9184005"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59" name="Text 56"/>
          <p:cNvSpPr/>
          <p:nvPr/>
        </p:nvSpPr>
        <p:spPr>
          <a:xfrm>
            <a:off x="9184005"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0" name="Text 57"/>
          <p:cNvSpPr/>
          <p:nvPr/>
        </p:nvSpPr>
        <p:spPr>
          <a:xfrm>
            <a:off x="9129141"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1" name="Shape 58"/>
          <p:cNvSpPr/>
          <p:nvPr/>
        </p:nvSpPr>
        <p:spPr>
          <a:xfrm>
            <a:off x="660197" y="5437022"/>
            <a:ext cx="10871302" cy="512064"/>
          </a:xfrm>
          <a:prstGeom prst="roundRect">
            <a:avLst>
              <a:gd name="adj" fmla="val 10714"/>
            </a:avLst>
          </a:prstGeom>
          <a:solidFill>
            <a:srgbClr val="F1F8F3"/>
          </a:solidFill>
          <a:ln w="9525">
            <a:solidFill>
              <a:srgbClr val="D2E7DA"/>
            </a:solidFill>
            <a:prstDash val="solid"/>
          </a:ln>
        </p:spPr>
      </p:sp>
      <p:sp>
        <p:nvSpPr>
          <p:cNvPr id="62" name="Text 59"/>
          <p:cNvSpPr/>
          <p:nvPr/>
        </p:nvSpPr>
        <p:spPr>
          <a:xfrm>
            <a:off x="897941" y="5437022"/>
            <a:ext cx="10395814" cy="512064"/>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前提：初期費用は標準総投資予算（居抜き800万円／スケルトン1,200万円程度）／1杯420円・販売数は収益シミュレーションと同一／減価償却費・税を除く</a:t>
            </a:r>
            <a:endParaRPr lang="en-US" sz="1000" dirty="0"/>
          </a:p>
        </p:txBody>
      </p:sp>
      <p:sp>
        <p:nvSpPr>
          <p:cNvPr id="63" name="Text 60"/>
          <p:cNvSpPr/>
          <p:nvPr/>
        </p:nvSpPr>
        <p:spPr>
          <a:xfrm>
            <a:off x="660197" y="609539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収益シミュレーション（p20〜p21）と同一の前提による目安です。回収期間・利益を保証するものではありません。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投資回収シミュレーション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自社物件・標準杯数で回収約17ヶ月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標準予算800万円・20坪モデルの累計損益の推移。線が0円を超えた時点が回収完了です。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累計損益の推移（万円）／総投資800万円スタート</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280160"/>
          </a:xfrm>
          <a:prstGeom prst="roundRect">
            <a:avLst>
              <a:gd name="adj" fmla="val 4286"/>
            </a:avLst>
          </a:prstGeom>
          <a:solidFill>
            <a:srgbClr val="0C5230"/>
          </a:solidFill>
          <a:ln/>
        </p:spPr>
      </p:sp>
      <p:sp>
        <p:nvSpPr>
          <p:cNvPr id="13" name="Text 9"/>
          <p:cNvSpPr/>
          <p:nvPr/>
        </p:nvSpPr>
        <p:spPr>
          <a:xfrm>
            <a:off x="8688629" y="1797710"/>
            <a:ext cx="2605126" cy="219456"/>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a:t>
            </a:r>
            <a:endParaRPr lang="en-US" sz="1050" dirty="0"/>
          </a:p>
        </p:txBody>
      </p:sp>
      <p:sp>
        <p:nvSpPr>
          <p:cNvPr id="14" name="Text 10"/>
          <p:cNvSpPr/>
          <p:nvPr/>
        </p:nvSpPr>
        <p:spPr>
          <a:xfrm>
            <a:off x="8688629" y="2035454"/>
            <a:ext cx="2605126"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約17</a:t>
            </a:r>
            <a:r>
              <a:rPr lang="en-US" sz="1250" b="1" dirty="0">
                <a:solidFill>
                  <a:srgbClr val="FFFFFF"/>
                </a:solidFill>
                <a:latin typeface="Yu Gothic" pitchFamily="34" charset="0"/>
                <a:ea typeface="Yu Gothic" pitchFamily="34" charset="-122"/>
                <a:cs typeface="Yu Gothic" pitchFamily="34" charset="-120"/>
              </a:rPr>
              <a:t> ヶ月</a:t>
            </a:r>
            <a:endParaRPr lang="en-US" sz="2400" dirty="0"/>
          </a:p>
        </p:txBody>
      </p:sp>
      <p:sp>
        <p:nvSpPr>
          <p:cNvPr id="15" name="Text 11"/>
          <p:cNvSpPr/>
          <p:nvPr/>
        </p:nvSpPr>
        <p:spPr>
          <a:xfrm>
            <a:off x="8688629" y="2547518"/>
            <a:ext cx="2605126" cy="27432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75杯／日・月間利益47万円</a:t>
            </a:r>
            <a:endParaRPr lang="en-US" sz="900" dirty="0"/>
          </a:p>
        </p:txBody>
      </p:sp>
      <p:sp>
        <p:nvSpPr>
          <p:cNvPr id="16" name="Shape 12"/>
          <p:cNvSpPr/>
          <p:nvPr/>
        </p:nvSpPr>
        <p:spPr>
          <a:xfrm>
            <a:off x="8450885" y="3077870"/>
            <a:ext cx="3080614" cy="1280160"/>
          </a:xfrm>
          <a:prstGeom prst="roundRect">
            <a:avLst>
              <a:gd name="adj" fmla="val 4286"/>
            </a:avLst>
          </a:prstGeom>
          <a:solidFill>
            <a:srgbClr val="FFFFFF"/>
          </a:solidFill>
          <a:ln w="9525">
            <a:solidFill>
              <a:srgbClr val="EFEAE0"/>
            </a:solidFill>
            <a:prstDash val="solid"/>
          </a:ln>
        </p:spPr>
      </p:sp>
      <p:sp>
        <p:nvSpPr>
          <p:cNvPr id="17" name="Text 13"/>
          <p:cNvSpPr/>
          <p:nvPr/>
        </p:nvSpPr>
        <p:spPr>
          <a:xfrm>
            <a:off x="8688629" y="3224174"/>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a:t>
            </a:r>
            <a:endParaRPr lang="en-US" sz="1050" dirty="0"/>
          </a:p>
        </p:txBody>
      </p:sp>
      <p:sp>
        <p:nvSpPr>
          <p:cNvPr id="18" name="Text 14"/>
          <p:cNvSpPr/>
          <p:nvPr/>
        </p:nvSpPr>
        <p:spPr>
          <a:xfrm>
            <a:off x="8688629" y="3461918"/>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約30</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19" name="Text 15"/>
          <p:cNvSpPr/>
          <p:nvPr/>
        </p:nvSpPr>
        <p:spPr>
          <a:xfrm>
            <a:off x="8688629" y="3973982"/>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75杯／日・月間利益27万円</a:t>
            </a:r>
            <a:endParaRPr lang="en-US" sz="900" dirty="0"/>
          </a:p>
        </p:txBody>
      </p:sp>
      <p:sp>
        <p:nvSpPr>
          <p:cNvPr id="20" name="Shape 16"/>
          <p:cNvSpPr/>
          <p:nvPr/>
        </p:nvSpPr>
        <p:spPr>
          <a:xfrm>
            <a:off x="8450885" y="4504334"/>
            <a:ext cx="3080614" cy="1280160"/>
          </a:xfrm>
          <a:prstGeom prst="roundRect">
            <a:avLst>
              <a:gd name="adj" fmla="val 4286"/>
            </a:avLst>
          </a:prstGeom>
          <a:solidFill>
            <a:srgbClr val="FFFFFF"/>
          </a:solidFill>
          <a:ln w="9525">
            <a:solidFill>
              <a:srgbClr val="EFEAE0"/>
            </a:solidFill>
            <a:prstDash val="solid"/>
          </a:ln>
        </p:spPr>
      </p:sp>
      <p:sp>
        <p:nvSpPr>
          <p:cNvPr id="21" name="Text 17"/>
          <p:cNvSpPr/>
          <p:nvPr/>
        </p:nvSpPr>
        <p:spPr>
          <a:xfrm>
            <a:off x="8688629" y="4650638"/>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100杯／日なら</a:t>
            </a:r>
            <a:endParaRPr lang="en-US" sz="1050" dirty="0"/>
          </a:p>
        </p:txBody>
      </p:sp>
      <p:sp>
        <p:nvSpPr>
          <p:cNvPr id="22" name="Text 18"/>
          <p:cNvSpPr/>
          <p:nvPr/>
        </p:nvSpPr>
        <p:spPr>
          <a:xfrm>
            <a:off x="8688629" y="4888382"/>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約12</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23" name="Text 19"/>
          <p:cNvSpPr/>
          <p:nvPr/>
        </p:nvSpPr>
        <p:spPr>
          <a:xfrm>
            <a:off x="8688629" y="5400446"/>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自社物件・月間利益72.2万円</a:t>
            </a:r>
            <a:endParaRPr lang="en-US" sz="900" dirty="0"/>
          </a:p>
        </p:txBody>
      </p:sp>
      <p:sp>
        <p:nvSpPr>
          <p:cNvPr id="24" name="Text 20"/>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総投資800万円（開業費650万円＋諸経費・予備費150万円）。償却前営業利益ベース・税引前。回収期間・利益を保証するものではありません。</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02-storefront-650x157.jpg">    </p:cNvPr>
          <p:cNvPicPr>
            <a:picLocks noChangeAspect="1"/>
          </p:cNvPicPr>
          <p:nvPr/>
        </p:nvPicPr>
        <p:blipFill>
          <a:blip r:embed="rId2"/>
          <a:stretch>
            <a:fillRect/>
          </a:stretch>
        </p:blipFill>
        <p:spPr>
          <a:xfrm>
            <a:off x="660197" y="2492654"/>
            <a:ext cx="5943600" cy="1435608"/>
          </a:xfrm>
          <a:prstGeom prst="rect">
            <a:avLst/>
          </a:prstGeom>
        </p:spPr>
      </p:pic>
      <p:sp>
        <p:nvSpPr>
          <p:cNvPr id="22" name="Shape 18"/>
          <p:cNvSpPr/>
          <p:nvPr/>
        </p:nvSpPr>
        <p:spPr>
          <a:xfrm>
            <a:off x="660197" y="2492654"/>
            <a:ext cx="5943600" cy="1435608"/>
          </a:xfrm>
          <a:prstGeom prst="rect">
            <a:avLst/>
          </a:prstGeom>
          <a:ln w="12700">
            <a:solidFill>
              <a:srgbClr val="D8D2C6"/>
            </a:solidFill>
            <a:prstDash val="solid"/>
          </a:ln>
        </p:spPr>
      </p:sp>
      <p:sp>
        <p:nvSpPr>
          <p:cNvPr id="23" name="Shape 19"/>
          <p:cNvSpPr/>
          <p:nvPr/>
        </p:nvSpPr>
        <p:spPr>
          <a:xfrm>
            <a:off x="788213" y="3471062"/>
            <a:ext cx="1388872" cy="329184"/>
          </a:xfrm>
          <a:prstGeom prst="roundRect">
            <a:avLst>
              <a:gd name="adj" fmla="val 13889"/>
            </a:avLst>
          </a:prstGeom>
          <a:solidFill>
            <a:srgbClr val="FFFFFF">
              <a:alpha val="90000"/>
            </a:srgbClr>
          </a:solidFill>
          <a:ln/>
        </p:spPr>
      </p:sp>
      <p:sp>
        <p:nvSpPr>
          <p:cNvPr id="24" name="Text 20"/>
          <p:cNvSpPr/>
          <p:nvPr/>
        </p:nvSpPr>
        <p:spPr>
          <a:xfrm>
            <a:off x="952805" y="3471062"/>
            <a:ext cx="1114552"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盛岡駅前店の外観</a:t>
            </a:r>
            <a:endParaRPr lang="en-US" sz="950" dirty="0"/>
          </a:p>
        </p:txBody>
      </p:sp>
      <p:sp>
        <p:nvSpPr>
          <p:cNvPr id="25" name="Text 21"/>
          <p:cNvSpPr/>
          <p:nvPr/>
        </p:nvSpPr>
        <p:spPr>
          <a:xfrm>
            <a:off x="696773" y="4111142"/>
            <a:ext cx="5870448" cy="64008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6" name="Shape 22"/>
          <p:cNvSpPr/>
          <p:nvPr/>
        </p:nvSpPr>
        <p:spPr>
          <a:xfrm>
            <a:off x="660197" y="4924958"/>
            <a:ext cx="5943600" cy="1133856"/>
          </a:xfrm>
          <a:prstGeom prst="roundRect">
            <a:avLst>
              <a:gd name="adj" fmla="val 4839"/>
            </a:avLst>
          </a:prstGeom>
          <a:solidFill>
            <a:srgbClr val="F1F8F3"/>
          </a:solidFill>
          <a:ln w="9525">
            <a:solidFill>
              <a:srgbClr val="D2E7DA"/>
            </a:solidFill>
            <a:prstDash val="solid"/>
          </a:ln>
        </p:spPr>
      </p:sp>
      <p:pic>
        <p:nvPicPr>
          <p:cNvPr id="27" name="Image 2" descr="/home/user/suzuki-ceo/selfcafe-partner-deck/assets/icons/LuTrendingUp-green.png">    </p:cNvPr>
          <p:cNvPicPr>
            <a:picLocks noChangeAspect="1"/>
          </p:cNvPicPr>
          <p:nvPr/>
        </p:nvPicPr>
        <p:blipFill>
          <a:blip r:embed="rId3"/>
          <a:stretch>
            <a:fillRect/>
          </a:stretch>
        </p:blipFill>
        <p:spPr>
          <a:xfrm>
            <a:off x="916229" y="5180990"/>
            <a:ext cx="402336" cy="402336"/>
          </a:xfrm>
          <a:prstGeom prst="rect">
            <a:avLst/>
          </a:prstGeom>
        </p:spPr>
      </p:pic>
      <p:sp>
        <p:nvSpPr>
          <p:cNvPr id="28" name="Text 23"/>
          <p:cNvSpPr/>
          <p:nvPr/>
        </p:nvSpPr>
        <p:spPr>
          <a:xfrm>
            <a:off x="1501445" y="5107838"/>
            <a:ext cx="48463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家賃を吸収して、利益を確保。</a:t>
            </a:r>
            <a:endParaRPr lang="en-US" sz="1300" dirty="0"/>
          </a:p>
        </p:txBody>
      </p:sp>
      <p:sp>
        <p:nvSpPr>
          <p:cNvPr id="29" name="Text 24"/>
          <p:cNvSpPr/>
          <p:nvPr/>
        </p:nvSpPr>
        <p:spPr>
          <a:xfrm>
            <a:off x="1501445" y="5400446"/>
            <a:ext cx="4846320"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月の家賃280,000円を支払った上で、232,000円の償却前営業利益を確保しています。</a:t>
            </a:r>
            <a:endParaRPr lang="en-US" sz="1050" dirty="0"/>
          </a:p>
        </p:txBody>
      </p:sp>
      <p:sp>
        <p:nvSpPr>
          <p:cNvPr id="30" name="Shape 25"/>
          <p:cNvSpPr/>
          <p:nvPr/>
        </p:nvSpPr>
        <p:spPr>
          <a:xfrm>
            <a:off x="6987845" y="2492654"/>
            <a:ext cx="4543654" cy="3566160"/>
          </a:xfrm>
          <a:prstGeom prst="roundRect">
            <a:avLst>
              <a:gd name="adj" fmla="val 1538"/>
            </a:avLst>
          </a:prstGeom>
          <a:solidFill>
            <a:srgbClr val="FFFFFF"/>
          </a:solidFill>
          <a:ln w="9525">
            <a:solidFill>
              <a:srgbClr val="EFEAE0"/>
            </a:solidFill>
            <a:prstDash val="solid"/>
          </a:ln>
        </p:spPr>
      </p:sp>
      <p:sp>
        <p:nvSpPr>
          <p:cNvPr id="31" name="Text 26"/>
          <p:cNvSpPr/>
          <p:nvPr/>
        </p:nvSpPr>
        <p:spPr>
          <a:xfrm>
            <a:off x="7262165" y="2730398"/>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2" name="Text 27"/>
          <p:cNvSpPr/>
          <p:nvPr/>
        </p:nvSpPr>
        <p:spPr>
          <a:xfrm>
            <a:off x="7262165" y="2949854"/>
            <a:ext cx="3995014" cy="365760"/>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1日約80杯ペースでの稼働</a:t>
            </a:r>
            <a:endParaRPr lang="en-US" sz="1700" dirty="0"/>
          </a:p>
        </p:txBody>
      </p:sp>
      <p:sp>
        <p:nvSpPr>
          <p:cNvPr id="33" name="Shape 28"/>
          <p:cNvSpPr/>
          <p:nvPr/>
        </p:nvSpPr>
        <p:spPr>
          <a:xfrm>
            <a:off x="7262165" y="3425342"/>
            <a:ext cx="3995014" cy="10058"/>
          </a:xfrm>
          <a:prstGeom prst="rect">
            <a:avLst/>
          </a:prstGeom>
          <a:solidFill>
            <a:srgbClr val="EFEAE0"/>
          </a:solidFill>
          <a:ln/>
        </p:spPr>
      </p:sp>
      <p:sp>
        <p:nvSpPr>
          <p:cNvPr id="34" name="Text 29"/>
          <p:cNvSpPr/>
          <p:nvPr/>
        </p:nvSpPr>
        <p:spPr>
          <a:xfrm>
            <a:off x="7262165" y="3608222"/>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5" name="Text 30"/>
          <p:cNvSpPr/>
          <p:nvPr/>
        </p:nvSpPr>
        <p:spPr>
          <a:xfrm>
            <a:off x="8816645" y="3608222"/>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2025年4月</a:t>
            </a:r>
            <a:endParaRPr lang="en-US" sz="1300" dirty="0"/>
          </a:p>
        </p:txBody>
      </p:sp>
      <p:sp>
        <p:nvSpPr>
          <p:cNvPr id="36" name="Shape 31"/>
          <p:cNvSpPr/>
          <p:nvPr/>
        </p:nvSpPr>
        <p:spPr>
          <a:xfrm>
            <a:off x="7262165" y="4065422"/>
            <a:ext cx="3995014" cy="10058"/>
          </a:xfrm>
          <a:prstGeom prst="rect">
            <a:avLst/>
          </a:prstGeom>
          <a:solidFill>
            <a:srgbClr val="EFEAE0"/>
          </a:solidFill>
          <a:ln/>
        </p:spPr>
      </p:sp>
      <p:sp>
        <p:nvSpPr>
          <p:cNvPr id="37" name="Text 32"/>
          <p:cNvSpPr/>
          <p:nvPr/>
        </p:nvSpPr>
        <p:spPr>
          <a:xfrm>
            <a:off x="7262165" y="4175150"/>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8" name="Text 33"/>
          <p:cNvSpPr/>
          <p:nvPr/>
        </p:nvSpPr>
        <p:spPr>
          <a:xfrm>
            <a:off x="8816645" y="4175150"/>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20坪／40席</a:t>
            </a:r>
            <a:endParaRPr lang="en-US" sz="1300" dirty="0"/>
          </a:p>
        </p:txBody>
      </p:sp>
      <p:sp>
        <p:nvSpPr>
          <p:cNvPr id="39" name="Shape 34"/>
          <p:cNvSpPr/>
          <p:nvPr/>
        </p:nvSpPr>
        <p:spPr>
          <a:xfrm>
            <a:off x="7262165" y="4632350"/>
            <a:ext cx="3995014" cy="10058"/>
          </a:xfrm>
          <a:prstGeom prst="rect">
            <a:avLst/>
          </a:prstGeom>
          <a:solidFill>
            <a:srgbClr val="EFEAE0"/>
          </a:solidFill>
          <a:ln/>
        </p:spPr>
      </p:sp>
      <p:sp>
        <p:nvSpPr>
          <p:cNvPr id="40" name="Text 35"/>
          <p:cNvSpPr/>
          <p:nvPr/>
        </p:nvSpPr>
        <p:spPr>
          <a:xfrm>
            <a:off x="7262165" y="4742078"/>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41" name="Text 36"/>
          <p:cNvSpPr/>
          <p:nvPr/>
        </p:nvSpPr>
        <p:spPr>
          <a:xfrm>
            <a:off x="8816645" y="4742078"/>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岩手県盛岡市・駅前</a:t>
            </a:r>
            <a:endParaRPr lang="en-US" sz="1300" dirty="0"/>
          </a:p>
        </p:txBody>
      </p:sp>
      <p:sp>
        <p:nvSpPr>
          <p:cNvPr id="42" name="Shape 37"/>
          <p:cNvSpPr/>
          <p:nvPr/>
        </p:nvSpPr>
        <p:spPr>
          <a:xfrm>
            <a:off x="7262165" y="5199278"/>
            <a:ext cx="3995014" cy="10058"/>
          </a:xfrm>
          <a:prstGeom prst="rect">
            <a:avLst/>
          </a:prstGeom>
          <a:solidFill>
            <a:srgbClr val="EFEAE0"/>
          </a:solidFill>
          <a:ln/>
        </p:spPr>
      </p:sp>
      <p:sp>
        <p:nvSpPr>
          <p:cNvPr id="43" name="Text 38"/>
          <p:cNvSpPr/>
          <p:nvPr/>
        </p:nvSpPr>
        <p:spPr>
          <a:xfrm>
            <a:off x="7262165" y="5309006"/>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4" name="Text 39"/>
          <p:cNvSpPr/>
          <p:nvPr/>
        </p:nvSpPr>
        <p:spPr>
          <a:xfrm>
            <a:off x="8816645" y="5309006"/>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24時間</a:t>
            </a:r>
            <a:endParaRPr lang="en-US" sz="1300" dirty="0"/>
          </a:p>
        </p:txBody>
      </p:sp>
      <p:sp>
        <p:nvSpPr>
          <p:cNvPr id="45"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30</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31</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31</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32</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33</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090-6386-5493</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担当：佐藤</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selfcafe001@gmail.com</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2026-08-26T03:06:40Z</dcterms:created>
  <dcterms:modified xsi:type="dcterms:W3CDTF">2026-08-26T03:06:40Z</dcterms:modified>
</cp:coreProperties>
</file>