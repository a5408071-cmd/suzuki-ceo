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grouping val="standard"/>
        <c:varyColors val="0"/>
        <c:ser>
          <c:idx val="0"/>
          <c:order val="0"/>
          <c:tx>
            <c:strRef>
              <c:f>Sheet1!$B$1</c:f>
              <c:strCache>
                <c:ptCount val="1"/>
                <c:pt idx="0">
                  <c:v>店舗数</c:v>
                </c:pt>
              </c:strCache>
            </c:strRef>
          </c:tx>
          <c:spPr>
            <a:solidFill>
              <a:srgbClr val="106838">
                <a:alpha val="32000"/>
              </a:srgbClr>
            </a:solidFill>
            <a:effectLst/>
          </c:spP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Sheet1!$A$2:$A$48</c:f>
              <c:multiLvlStrCache>
                <c:ptCount val="47"/>
                <c:lvl>
                  <c:pt idx="0">
                    <c:v>2022.09</c:v>
                  </c:pt>
                  <c:pt idx="1">
                    <c:v/>
                  </c:pt>
                  <c:pt idx="2">
                    <c:v/>
                  </c:pt>
                  <c:pt idx="3">
                    <c:v/>
                  </c:pt>
                  <c:pt idx="4">
                    <c:v/>
                  </c:pt>
                  <c:pt idx="5">
                    <c:v/>
                  </c:pt>
                  <c:pt idx="6">
                    <c:v/>
                  </c:pt>
                  <c:pt idx="7">
                    <c:v/>
                  </c:pt>
                  <c:pt idx="8">
                    <c:v/>
                  </c:pt>
                  <c:pt idx="9">
                    <c:v/>
                  </c:pt>
                  <c:pt idx="10">
                    <c:v/>
                  </c:pt>
                  <c:pt idx="11">
                    <c:v/>
                  </c:pt>
                  <c:pt idx="12">
                    <c:v>2023.09</c:v>
                  </c:pt>
                  <c:pt idx="13">
                    <c:v/>
                  </c:pt>
                  <c:pt idx="14">
                    <c:v/>
                  </c:pt>
                  <c:pt idx="15">
                    <c:v/>
                  </c:pt>
                  <c:pt idx="16">
                    <c:v/>
                  </c:pt>
                  <c:pt idx="17">
                    <c:v/>
                  </c:pt>
                  <c:pt idx="18">
                    <c:v/>
                  </c:pt>
                  <c:pt idx="19">
                    <c:v/>
                  </c:pt>
                  <c:pt idx="20">
                    <c:v/>
                  </c:pt>
                  <c:pt idx="21">
                    <c:v/>
                  </c:pt>
                  <c:pt idx="22">
                    <c:v/>
                  </c:pt>
                  <c:pt idx="23">
                    <c:v/>
                  </c:pt>
                  <c:pt idx="24">
                    <c:v>2024.09</c:v>
                  </c:pt>
                  <c:pt idx="25">
                    <c:v/>
                  </c:pt>
                  <c:pt idx="26">
                    <c:v/>
                  </c:pt>
                  <c:pt idx="27">
                    <c:v/>
                  </c:pt>
                  <c:pt idx="28">
                    <c:v/>
                  </c:pt>
                  <c:pt idx="29">
                    <c:v/>
                  </c:pt>
                  <c:pt idx="30">
                    <c:v/>
                  </c:pt>
                  <c:pt idx="31">
                    <c:v/>
                  </c:pt>
                  <c:pt idx="32">
                    <c:v/>
                  </c:pt>
                  <c:pt idx="33">
                    <c:v/>
                  </c:pt>
                  <c:pt idx="34">
                    <c:v/>
                  </c:pt>
                  <c:pt idx="35">
                    <c:v/>
                  </c:pt>
                  <c:pt idx="36">
                    <c:v>2025.09</c:v>
                  </c:pt>
                  <c:pt idx="37">
                    <c:v/>
                  </c:pt>
                  <c:pt idx="38">
                    <c:v/>
                  </c:pt>
                  <c:pt idx="39">
                    <c:v/>
                  </c:pt>
                  <c:pt idx="40">
                    <c:v/>
                  </c:pt>
                  <c:pt idx="41">
                    <c:v/>
                  </c:pt>
                  <c:pt idx="42">
                    <c:v/>
                  </c:pt>
                  <c:pt idx="43">
                    <c:v/>
                  </c:pt>
                  <c:pt idx="44">
                    <c:v/>
                  </c:pt>
                  <c:pt idx="45">
                    <c:v/>
                  </c:pt>
                  <c:pt idx="46">
                    <c:v>2026.07</c:v>
                  </c:pt>
                </c:lvl>
              </c:multiLvlStrCache>
            </c:multiLvlStrRef>
          </c:cat>
          <c:val>
            <c:numRef>
              <c:f>Sheet1!$B$2:$B$48</c:f>
              <c:numCache>
                <c:formatCode>General</c:formatCode>
                <c:ptCount val="47"/>
                <c:pt idx="0">
                  <c:v>1</c:v>
                </c:pt>
                <c:pt idx="1">
                  <c:v>1</c:v>
                </c:pt>
                <c:pt idx="2">
                  <c:v>1</c:v>
                </c:pt>
                <c:pt idx="3">
                  <c:v>1</c:v>
                </c:pt>
                <c:pt idx="4">
                  <c:v>1</c:v>
                </c:pt>
                <c:pt idx="5">
                  <c:v>1</c:v>
                </c:pt>
                <c:pt idx="6">
                  <c:v>1</c:v>
                </c:pt>
                <c:pt idx="7">
                  <c:v>1</c:v>
                </c:pt>
                <c:pt idx="8">
                  <c:v>1</c:v>
                </c:pt>
                <c:pt idx="9">
                  <c:v>1</c:v>
                </c:pt>
                <c:pt idx="10">
                  <c:v>1</c:v>
                </c:pt>
                <c:pt idx="11">
                  <c:v>1</c:v>
                </c:pt>
                <c:pt idx="12">
                  <c:v>2</c:v>
                </c:pt>
                <c:pt idx="13">
                  <c:v>4</c:v>
                </c:pt>
                <c:pt idx="14">
                  <c:v>8</c:v>
                </c:pt>
                <c:pt idx="15">
                  <c:v>8</c:v>
                </c:pt>
                <c:pt idx="16">
                  <c:v>9</c:v>
                </c:pt>
                <c:pt idx="17">
                  <c:v>9</c:v>
                </c:pt>
                <c:pt idx="18">
                  <c:v>12</c:v>
                </c:pt>
                <c:pt idx="19">
                  <c:v>17</c:v>
                </c:pt>
                <c:pt idx="20">
                  <c:v>19</c:v>
                </c:pt>
                <c:pt idx="21">
                  <c:v>21</c:v>
                </c:pt>
                <c:pt idx="22">
                  <c:v>22</c:v>
                </c:pt>
                <c:pt idx="23">
                  <c:v>23</c:v>
                </c:pt>
                <c:pt idx="24">
                  <c:v>23</c:v>
                </c:pt>
                <c:pt idx="25">
                  <c:v>25</c:v>
                </c:pt>
                <c:pt idx="26">
                  <c:v>28</c:v>
                </c:pt>
                <c:pt idx="27">
                  <c:v>31</c:v>
                </c:pt>
                <c:pt idx="28">
                  <c:v>32</c:v>
                </c:pt>
                <c:pt idx="29">
                  <c:v>34</c:v>
                </c:pt>
                <c:pt idx="30">
                  <c:v>39</c:v>
                </c:pt>
                <c:pt idx="31">
                  <c:v>42</c:v>
                </c:pt>
                <c:pt idx="32">
                  <c:v>44</c:v>
                </c:pt>
                <c:pt idx="33">
                  <c:v>44</c:v>
                </c:pt>
                <c:pt idx="34">
                  <c:v>46</c:v>
                </c:pt>
                <c:pt idx="35">
                  <c:v>47</c:v>
                </c:pt>
                <c:pt idx="36">
                  <c:v>48</c:v>
                </c:pt>
                <c:pt idx="37">
                  <c:v>48</c:v>
                </c:pt>
                <c:pt idx="38">
                  <c:v>50</c:v>
                </c:pt>
                <c:pt idx="39">
                  <c:v>50</c:v>
                </c:pt>
                <c:pt idx="40">
                  <c:v>51</c:v>
                </c:pt>
                <c:pt idx="41">
                  <c:v>55</c:v>
                </c:pt>
                <c:pt idx="42">
                  <c:v>58</c:v>
                </c:pt>
                <c:pt idx="43">
                  <c:v>61</c:v>
                </c:pt>
                <c:pt idx="44">
                  <c:v>64</c:v>
                </c:pt>
                <c:pt idx="45">
                  <c:v>67</c:v>
                </c:pt>
                <c:pt idx="46">
                  <c:v>71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7E8882"/>
                </a:solidFill>
                <a:latin typeface="Arial"/>
              </a:defRPr>
            </a:pPr>
            <a:endParaRPr lang="en-US"/>
          </a:p>
        </c:txPr>
        <c:crossAx val="2094734552"/>
        <c:crosses val="autoZero"/>
        <c:auto val="1"/>
        <c:lblAlgn val="ctr"/>
        <c:tickLblSkip val="1"/>
        <c:noMultiLvlLbl val="1"/>
      </c:catAx>
      <c:valAx>
        <c:axId val="2094734552"/>
        <c:scaling>
          <c:orientation val="minMax"/>
          <c:max val="75"/>
          <c:min val="0"/>
        </c:scaling>
        <c:delete val="0"/>
        <c:axPos val="l"/>
        <c:majorGridlines>
          <c:spPr>
            <a:ln w="9525" cap="flat">
              <a:solidFill>
                <a:srgbClr val="EFEAE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E8882"/>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月間利用者数</c:v>
                </c:pt>
              </c:strCache>
            </c:strRef>
          </c:tx>
          <c:spPr>
            <a:solidFill>
              <a:srgbClr val="D8E8DE"/>
            </a:solidFill>
            <a:effectLst/>
          </c:spPr>
          <c:invertIfNegative val="0"/>
          <c:dPt>
            <c:idx val="0"/>
            <c:invertIfNegative val="0"/>
            <c:bubble3D val="0"/>
            <c:spPr>
              <a:solidFill>
                <a:srgbClr val="D8E8DE"/>
              </a:solidFill>
              <a:effectLst/>
            </c:spPr>
          </c:dPt>
          <c:dPt>
            <c:idx val="1"/>
            <c:invertIfNegative val="0"/>
            <c:bubble3D val="0"/>
            <c:spPr>
              <a:solidFill>
                <a:srgbClr val="CCE0D4"/>
              </a:solidFill>
              <a:effectLst/>
            </c:spPr>
          </c:dPt>
          <c:dPt>
            <c:idx val="2"/>
            <c:invertIfNegative val="0"/>
            <c:bubble3D val="0"/>
            <c:spPr>
              <a:solidFill>
                <a:srgbClr val="B8D4C2"/>
              </a:solidFill>
              <a:effectLst/>
            </c:spPr>
          </c:dPt>
          <c:dPt>
            <c:idx val="3"/>
            <c:invertIfNegative val="0"/>
            <c:bubble3D val="0"/>
            <c:spPr>
              <a:solidFill>
                <a:srgbClr val="9CC3AA"/>
              </a:solidFill>
              <a:effectLst/>
            </c:spPr>
          </c:dPt>
          <c:dPt>
            <c:idx val="4"/>
            <c:invertIfNegative val="0"/>
            <c:bubble3D val="0"/>
            <c:spPr>
              <a:solidFill>
                <a:srgbClr val="7BAE8F"/>
              </a:solidFill>
              <a:effectLst/>
            </c:spPr>
          </c:dPt>
          <c:dPt>
            <c:idx val="5"/>
            <c:invertIfNegative val="0"/>
            <c:bubble3D val="0"/>
            <c:spPr>
              <a:solidFill>
                <a:srgbClr val="579970"/>
              </a:solidFill>
              <a:effectLst/>
            </c:spPr>
          </c:dPt>
          <c:dPt>
            <c:idx val="6"/>
            <c:invertIfNegative val="0"/>
            <c:bubble3D val="0"/>
            <c:spPr>
              <a:solidFill>
                <a:srgbClr val="2E824F"/>
              </a:solidFill>
              <a:effectLst/>
            </c:spPr>
          </c:dPt>
          <c:dPt>
            <c:idx val="7"/>
            <c:invertIfNegative val="0"/>
            <c:bubble3D val="0"/>
            <c:spPr>
              <a:solidFill>
                <a:srgbClr val="106838"/>
              </a:solidFill>
              <a:effectLst/>
            </c:spPr>
          </c:dPt>
          <c:dLbls>
            <c:numFmt formatCode="#,##0" sourceLinked="0"/>
            <c:txPr>
              <a:bodyPr/>
              <a:lstStyle/>
              <a:p>
                <a:pPr>
                  <a:defRPr b="0" i="0" strike="noStrike" sz="900" u="none">
                    <a:solidFill>
                      <a:srgbClr val="106838"/>
                    </a:solidFill>
                    <a:latin typeface="Arial"/>
                  </a:defRPr>
                </a:pPr>
              </a:p>
            </c:txPr>
            <c:showLegendKey val="0"/>
            <c:showVal val="1"/>
            <c:showCatName val="0"/>
            <c:showSerName val="0"/>
            <c:showPercent val="0"/>
            <c:showBubbleSize val="0"/>
            <c:showLeaderLines val="0"/>
          </c:dLbls>
          <c:cat>
            <c:multiLvlStrRef>
              <c:f>Sheet1!$A$2:$A$9</c:f>
              <c:multiLvlStrCache>
                <c:ptCount val="8"/>
                <c:lvl>
                  <c:pt idx="0">
                    <c:v>23.01</c:v>
                  </c:pt>
                  <c:pt idx="1">
                    <c:v>23.07</c:v>
                  </c:pt>
                  <c:pt idx="2">
                    <c:v>24.01</c:v>
                  </c:pt>
                  <c:pt idx="3">
                    <c:v>24.07</c:v>
                  </c:pt>
                  <c:pt idx="4">
                    <c:v>25.01</c:v>
                  </c:pt>
                  <c:pt idx="5">
                    <c:v>25.07</c:v>
                  </c:pt>
                  <c:pt idx="6">
                    <c:v>26.01</c:v>
                  </c:pt>
                  <c:pt idx="7">
                    <c:v>26.07</c:v>
                  </c:pt>
                </c:lvl>
              </c:multiLvlStrCache>
            </c:multiLvlStrRef>
          </c:cat>
          <c:val>
            <c:numRef>
              <c:f>Sheet1!$B$2:$B$9</c:f>
              <c:numCache>
                <c:formatCode>General</c:formatCode>
                <c:ptCount val="8"/>
                <c:pt idx="0">
                  <c:v>895</c:v>
                </c:pt>
                <c:pt idx="1">
                  <c:v>1419</c:v>
                </c:pt>
                <c:pt idx="2">
                  <c:v>9722</c:v>
                </c:pt>
                <c:pt idx="3">
                  <c:v>26383</c:v>
                </c:pt>
                <c:pt idx="4">
                  <c:v>46017</c:v>
                </c:pt>
                <c:pt idx="5">
                  <c:v>74260</c:v>
                </c:pt>
                <c:pt idx="6">
                  <c:v>80293</c:v>
                </c:pt>
                <c:pt idx="7">
                  <c:v>101343</c:v>
                </c:pt>
              </c:numCache>
            </c:numRef>
          </c:val>
        </c:ser>
        <c:dLbls>
          <c:numFmt formatCode="#,##0" sourceLinked="0"/>
          <c:txPr>
            <a:bodyPr/>
            <a:lstStyle/>
            <a:p>
              <a:pPr>
                <a:defRPr b="0" i="0" strike="noStrike" sz="900" u="none">
                  <a:solidFill>
                    <a:srgbClr val="106838"/>
                  </a:solidFill>
                  <a:latin typeface="Arial"/>
                </a:defRPr>
              </a:pPr>
            </a:p>
          </c:txPr>
          <c:showLegendKey val="0"/>
          <c:showVal val="1"/>
          <c:showCatName val="0"/>
          <c:showSerName val="0"/>
          <c:showPercent val="0"/>
          <c:showBubbleSize val="0"/>
          <c:showLeaderLines val="0"/>
        </c:dLbls>
        <c:gapWidth val="38"/>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7E8882"/>
                </a:solidFill>
                <a:latin typeface="Arial"/>
              </a:defRPr>
            </a:pPr>
            <a:endParaRPr lang="en-US"/>
          </a:p>
        </c:txPr>
        <c:crossAx val="2094734552"/>
        <c:crosses val="autoZero"/>
        <c:auto val="1"/>
        <c:lblAlgn val="ctr"/>
        <c:noMultiLvlLbl val="1"/>
      </c:catAx>
      <c:valAx>
        <c:axId val="2094734552"/>
        <c:scaling>
          <c:orientation val="minMax"/>
          <c:max val="105000"/>
          <c:min val="0"/>
        </c:scaling>
        <c:delete val="0"/>
        <c:axPos val="l"/>
        <c:majorGridlines>
          <c:spPr>
            <a:ln w="9525" cap="flat">
              <a:solidFill>
                <a:srgbClr val="EFEAE0"/>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7E8882"/>
                </a:solidFill>
                <a:latin typeface="Arial"/>
              </a:defRPr>
            </a:pPr>
            <a:endParaRPr lang="en-US"/>
          </a:p>
        </c:txPr>
        <c:crossAx val="2094734554"/>
        <c:crosses val="autoZero"/>
        <c:crossBetween val="between"/>
        <c:majorUnit val="35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構成比</c:v>
                </c:pt>
              </c:strCache>
            </c:strRef>
          </c:tx>
          <c:spPr>
            <a:solidFill>
              <a:srgbClr val="A9C6B5"/>
            </a:solidFill>
            <a:effectLst/>
          </c:spPr>
          <c:invertIfNegative val="0"/>
          <c:dPt>
            <c:idx val="0"/>
            <c:invertIfNegative val="0"/>
            <c:bubble3D val="0"/>
            <c:spPr>
              <a:solidFill>
                <a:srgbClr val="A9C6B5"/>
              </a:solidFill>
              <a:effectLst/>
            </c:spPr>
          </c:dPt>
          <c:dPt>
            <c:idx val="1"/>
            <c:invertIfNegative val="0"/>
            <c:bubble3D val="0"/>
            <c:spPr>
              <a:solidFill>
                <a:srgbClr val="106838"/>
              </a:solidFill>
              <a:effectLst/>
            </c:spPr>
          </c:dPt>
          <c:dPt>
            <c:idx val="2"/>
            <c:invertIfNegative val="0"/>
            <c:bubble3D val="0"/>
            <c:spPr>
              <a:solidFill>
                <a:srgbClr val="106838"/>
              </a:solidFill>
              <a:effectLst/>
            </c:spPr>
          </c:dPt>
          <c:dPt>
            <c:idx val="3"/>
            <c:invertIfNegative val="0"/>
            <c:bubble3D val="0"/>
            <c:spPr>
              <a:solidFill>
                <a:srgbClr val="106838"/>
              </a:solidFill>
              <a:effectLst/>
            </c:spPr>
          </c:dPt>
          <c:dPt>
            <c:idx val="4"/>
            <c:invertIfNegative val="0"/>
            <c:bubble3D val="0"/>
            <c:spPr>
              <a:solidFill>
                <a:srgbClr val="106838"/>
              </a:solidFill>
              <a:effectLst/>
            </c:spPr>
          </c:dPt>
          <c:dPt>
            <c:idx val="5"/>
            <c:invertIfNegative val="0"/>
            <c:bubble3D val="0"/>
            <c:spPr>
              <a:solidFill>
                <a:srgbClr val="D2E7DA"/>
              </a:solidFill>
              <a:effectLst/>
            </c:spPr>
          </c:dPt>
          <c:dPt>
            <c:idx val="6"/>
            <c:invertIfNegative val="0"/>
            <c:bubble3D val="0"/>
            <c:spPr>
              <a:solidFill>
                <a:srgbClr val="D2E7DA"/>
              </a:solidFill>
              <a:effectLst/>
            </c:spPr>
          </c:dPt>
          <c:dLbls>
            <c:numFmt formatCode="0&quot;%&quot;" sourceLinked="0"/>
            <c:txPr>
              <a:bodyPr/>
              <a:lstStyle/>
              <a:p>
                <a:pPr>
                  <a:defRPr b="0" i="0" strike="noStrike" sz="950" u="none">
                    <a:solidFill>
                      <a:srgbClr val="106838"/>
                    </a:solidFill>
                    <a:latin typeface="Arial"/>
                  </a:defRPr>
                </a:pPr>
              </a:p>
            </c:txPr>
            <c:showLegendKey val="0"/>
            <c:showVal val="1"/>
            <c:showCatName val="0"/>
            <c:showSerName val="0"/>
            <c:showPercent val="0"/>
            <c:showBubbleSize val="0"/>
            <c:showLeaderLines val="0"/>
          </c:dLbls>
          <c:cat>
            <c:multiLvlStrRef>
              <c:f>Sheet1!$A$2:$A$8</c:f>
              <c:multiLvlStrCache>
                <c:ptCount val="7"/>
                <c:lvl>
                  <c:pt idx="0">
                    <c:v>〜14</c:v>
                  </c:pt>
                  <c:pt idx="1">
                    <c:v>15〜19</c:v>
                  </c:pt>
                  <c:pt idx="2">
                    <c:v>20〜29</c:v>
                  </c:pt>
                  <c:pt idx="3">
                    <c:v>30〜39</c:v>
                  </c:pt>
                  <c:pt idx="4">
                    <c:v>40〜49</c:v>
                  </c:pt>
                  <c:pt idx="5">
                    <c:v>50〜59</c:v>
                  </c:pt>
                  <c:pt idx="6">
                    <c:v>60〜</c:v>
                  </c:pt>
                </c:lvl>
              </c:multiLvlStrCache>
            </c:multiLvlStrRef>
          </c:cat>
          <c:val>
            <c:numRef>
              <c:f>Sheet1!$B$2:$B$8</c:f>
              <c:numCache>
                <c:formatCode>General</c:formatCode>
                <c:ptCount val="7"/>
                <c:pt idx="0">
                  <c:v>3</c:v>
                </c:pt>
                <c:pt idx="1">
                  <c:v>24</c:v>
                </c:pt>
                <c:pt idx="2">
                  <c:v>29</c:v>
                </c:pt>
                <c:pt idx="3">
                  <c:v>16</c:v>
                </c:pt>
                <c:pt idx="4">
                  <c:v>13</c:v>
                </c:pt>
                <c:pt idx="5">
                  <c:v>4</c:v>
                </c:pt>
                <c:pt idx="6">
                  <c:v>1</c:v>
                </c:pt>
              </c:numCache>
            </c:numRef>
          </c:val>
        </c:ser>
        <c:dLbls>
          <c:numFmt formatCode="0&quot;%&quot;" sourceLinked="0"/>
          <c:txPr>
            <a:bodyPr/>
            <a:lstStyle/>
            <a:p>
              <a:pPr>
                <a:defRPr b="0" i="0" strike="noStrike" sz="950" u="none">
                  <a:solidFill>
                    <a:srgbClr val="106838"/>
                  </a:solidFill>
                  <a:latin typeface="Arial"/>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7E8882"/>
                </a:solidFill>
                <a:latin typeface="Arial"/>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利用目的</c:v>
                </c:pt>
              </c:strCache>
            </c:strRef>
          </c:tx>
          <c:spPr>
            <a:solidFill>
              <a:schemeClr val="accent1"/>
            </a:solidFill>
            <a:ln w="9525" cap="flat">
              <a:solidFill>
                <a:srgbClr val="F9F9F9"/>
              </a:solidFill>
              <a:prstDash val="solid"/>
              <a:round/>
            </a:ln>
            <a:effectLst/>
          </c:spPr>
          <c:dPt>
            <c:idx val="0"/>
            <c:bubble3D val="0"/>
            <c:spPr>
              <a:solidFill>
                <a:srgbClr val="106838"/>
              </a:solidFill>
              <a:effectLst/>
            </c:spPr>
          </c:dPt>
          <c:dPt>
            <c:idx val="1"/>
            <c:bubble3D val="0"/>
            <c:spPr>
              <a:solidFill>
                <a:srgbClr val="A8761F"/>
              </a:solidFill>
              <a:effectLst/>
            </c:spPr>
          </c:dPt>
          <c:dPt>
            <c:idx val="2"/>
            <c:bubble3D val="0"/>
            <c:spPr>
              <a:solidFill>
                <a:srgbClr val="A9C6B5"/>
              </a:solidFill>
              <a:effectLst/>
            </c:spPr>
          </c:dPt>
          <c:dPt>
            <c:idx val="3"/>
            <c:bubble3D val="0"/>
            <c:spPr>
              <a:solidFill>
                <a:srgbClr val="EFEAE0"/>
              </a:solidFill>
              <a:effectLst/>
            </c:spPr>
          </c:dPt>
          <c:dPt>
            <c:idx val="4"/>
            <c:bubble3D val="0"/>
            <c:spPr>
              <a:solidFill>
                <a:srgbClr val="D2E7DA"/>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勉強 62.6%</c:v>
                </c:pt>
                <c:pt idx="1">
                  <c:v>休憩・雑談 22.8%</c:v>
                </c:pt>
                <c:pt idx="2">
                  <c:v>仕事・打ち合わせ 13.0%</c:v>
                </c:pt>
                <c:pt idx="3">
                  <c:v>作業 0.2%</c:v>
                </c:pt>
                <c:pt idx="4">
                  <c:v>その他 1.4%</c:v>
                </c:pt>
              </c:strCache>
            </c:strRef>
          </c:cat>
          <c:val>
            <c:numRef>
              <c:f>Sheet1!$B$2:$B$6</c:f>
              <c:numCache>
                <c:ptCount val="5"/>
                <c:pt idx="0">
                  <c:v>62.6</c:v>
                </c:pt>
                <c:pt idx="1">
                  <c:v>22.8</c:v>
                </c:pt>
                <c:pt idx="2">
                  <c:v>13</c:v>
                </c:pt>
                <c:pt idx="3">
                  <c:v>0.2</c:v>
                </c:pt>
                <c:pt idx="4">
                  <c:v>1.4</c:v>
                </c:pt>
              </c:numCache>
            </c:numRef>
          </c:val>
        </c:ser>
        <c:firstSliceAng val="0"/>
        <c:holeSize val="58"/>
      </c:doughnutChart>
      <c:spPr>
        <a:noFill/>
        <a:ln>
          <a:noFill/>
        </a:ln>
        <a:effectLst/>
      </c:spPr>
    </c:plotArea>
    <c:legend>
      <c:legendPos val="b"/>
      <c:overlay val="0"/>
      <c:txPr>
        <a:bodyPr/>
        <a:lstStyle/>
        <a:p>
          <a:pPr>
            <a:defRPr sz="950">
              <a:solidFill>
                <a:srgbClr val="4B5550"/>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3.png"/><Relationship Id="rId6" Type="http://schemas.openxmlformats.org/officeDocument/2006/relationships/image" Target="../media/image-3-6.png"/><Relationship Id="rId7" Type="http://schemas.openxmlformats.org/officeDocument/2006/relationships/image" Target="../media/image-3-3.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image" Target="../media/image-5-3.png"/><Relationship Id="rId6" Type="http://schemas.openxmlformats.org/officeDocument/2006/relationships/image" Target="../media/image-5-6.png"/><Relationship Id="rId7" Type="http://schemas.openxmlformats.org/officeDocument/2006/relationships/image" Target="../media/image-5-3.png"/><Relationship Id="rId8" Type="http://schemas.openxmlformats.org/officeDocument/2006/relationships/image" Target="../media/image-5-3.png"/><Relationship Id="rId9" Type="http://schemas.openxmlformats.org/officeDocument/2006/relationships/image" Target="../media/image-5-3.png"/><Relationship Id="rId10" Type="http://schemas.openxmlformats.org/officeDocument/2006/relationships/image" Target="../media/image-5-10.jp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5.png"/><Relationship Id="rId6" Type="http://schemas.openxmlformats.org/officeDocument/2006/relationships/image" Target="../media/image-6-3.png"/><Relationship Id="rId7" Type="http://schemas.openxmlformats.org/officeDocument/2006/relationships/image" Target="../media/image-6-3.png"/><Relationship Id="rId8" Type="http://schemas.openxmlformats.org/officeDocument/2006/relationships/image" Target="../media/image-6-8.png"/><Relationship Id="rId9" Type="http://schemas.openxmlformats.org/officeDocument/2006/relationships/image" Target="../media/image-6-3.png"/><Relationship Id="rId10" Type="http://schemas.openxmlformats.org/officeDocument/2006/relationships/image" Target="../media/image-6-3.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3.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3" Type="http://schemas.openxmlformats.org/officeDocument/2006/relationships/chart" Target="/ppt/charts/chart4.xml"/><Relationship Id="rId1" Type="http://schemas.openxmlformats.org/officeDocument/2006/relationships/image" Target="../media/image-11-1.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2.png"/><Relationship Id="rId4" Type="http://schemas.openxmlformats.org/officeDocument/2006/relationships/image" Target="../media/image-20-2.png"/><Relationship Id="rId5" Type="http://schemas.openxmlformats.org/officeDocument/2006/relationships/image" Target="../media/image-20-2.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2.png"/><Relationship Id="rId4" Type="http://schemas.openxmlformats.org/officeDocument/2006/relationships/image" Target="../media/image-21-2.png"/><Relationship Id="rId5" Type="http://schemas.openxmlformats.org/officeDocument/2006/relationships/image" Target="../media/image-21-2.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jpg"/><Relationship Id="rId4" Type="http://schemas.openxmlformats.org/officeDocument/2006/relationships/image" Target="../media/image-25-4.jp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3.png"/><Relationship Id="rId5" Type="http://schemas.openxmlformats.org/officeDocument/2006/relationships/image" Target="../media/image-27-3.png"/><Relationship Id="rId6" Type="http://schemas.openxmlformats.org/officeDocument/2006/relationships/image" Target="../media/image-27-3.png"/><Relationship Id="rId7" Type="http://schemas.openxmlformats.org/officeDocument/2006/relationships/image" Target="../media/image-27-3.png"/><Relationship Id="rId8" Type="http://schemas.openxmlformats.org/officeDocument/2006/relationships/image" Target="../media/image-27-8.png"/><Relationship Id="rId9" Type="http://schemas.openxmlformats.org/officeDocument/2006/relationships/image" Target="../media/image-27-3.png"/><Relationship Id="rId10" Type="http://schemas.openxmlformats.org/officeDocument/2006/relationships/image" Target="../media/image-27-3.png"/><Relationship Id="rId11" Type="http://schemas.openxmlformats.org/officeDocument/2006/relationships/image" Target="../media/image-27-3.png"/><Relationship Id="rId12" Type="http://schemas.openxmlformats.org/officeDocument/2006/relationships/image" Target="../media/image-27-3.png"/><Relationship Id="rId13" Type="http://schemas.openxmlformats.org/officeDocument/2006/relationships/image" Target="../media/image-27-3.png"/><Relationship Id="rId14" Type="http://schemas.openxmlformats.org/officeDocument/2006/relationships/image" Target="../media/image-27-14.png"/><Relationship Id="rId15" Type="http://schemas.openxmlformats.org/officeDocument/2006/relationships/slideLayout" Target="../slideLayouts/slideLayout1.xml"/><Relationship Id="rId1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suzuki-ceo/selfcafe-partner-deck/assets/cover-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suzuki-ceo/selfcafe-partner-deck/assets/logo-white.png">    </p:cNvPr>
          <p:cNvPicPr>
            <a:picLocks noChangeAspect="1"/>
          </p:cNvPicPr>
          <p:nvPr/>
        </p:nvPicPr>
        <p:blipFill>
          <a:blip r:embed="rId2"/>
          <a:stretch>
            <a:fillRect/>
          </a:stretch>
        </p:blipFill>
        <p:spPr>
          <a:xfrm>
            <a:off x="812902" y="1904695"/>
            <a:ext cx="2616098" cy="372161"/>
          </a:xfrm>
          <a:prstGeom prst="rect">
            <a:avLst/>
          </a:prstGeom>
        </p:spPr>
      </p:pic>
      <p:sp>
        <p:nvSpPr>
          <p:cNvPr id="4" name="Shape 0"/>
          <p:cNvSpPr/>
          <p:nvPr/>
        </p:nvSpPr>
        <p:spPr>
          <a:xfrm>
            <a:off x="812902" y="2819095"/>
            <a:ext cx="254203" cy="25603"/>
          </a:xfrm>
          <a:prstGeom prst="rect">
            <a:avLst/>
          </a:prstGeom>
          <a:solidFill>
            <a:srgbClr val="C79A44"/>
          </a:solidFill>
          <a:ln/>
        </p:spPr>
      </p:sp>
      <p:sp>
        <p:nvSpPr>
          <p:cNvPr id="5" name="Text 1"/>
          <p:cNvSpPr/>
          <p:nvPr/>
        </p:nvSpPr>
        <p:spPr>
          <a:xfrm>
            <a:off x="1194206" y="2730398"/>
            <a:ext cx="3810305" cy="177394"/>
          </a:xfrm>
          <a:prstGeom prst="rect">
            <a:avLst/>
          </a:prstGeom>
          <a:noFill/>
          <a:ln/>
        </p:spPr>
        <p:txBody>
          <a:bodyPr wrap="square" lIns="0" tIns="0" rIns="0" bIns="0" rtlCol="0" anchor="ctr"/>
          <a:lstStyle/>
          <a:p>
            <a:pPr indent="0" marL="0">
              <a:buNone/>
            </a:pPr>
            <a:r>
              <a:rPr lang="en-US" sz="1050" b="1" spc="200" kern="0" dirty="0">
                <a:solidFill>
                  <a:srgbClr val="8CC5A5"/>
                </a:solidFill>
                <a:latin typeface="Arial" pitchFamily="34" charset="0"/>
                <a:ea typeface="Arial" pitchFamily="34" charset="-122"/>
                <a:cs typeface="Arial" pitchFamily="34" charset="-120"/>
              </a:rPr>
              <a:t>PARTNER PROGRAM</a:t>
            </a:r>
            <a:endParaRPr lang="en-US" sz="1050" dirty="0"/>
          </a:p>
        </p:txBody>
      </p:sp>
      <p:sp>
        <p:nvSpPr>
          <p:cNvPr id="6" name="Text 2"/>
          <p:cNvSpPr/>
          <p:nvPr/>
        </p:nvSpPr>
        <p:spPr>
          <a:xfrm>
            <a:off x="812902" y="2997403"/>
            <a:ext cx="7112203" cy="279806"/>
          </a:xfrm>
          <a:prstGeom prst="rect">
            <a:avLst/>
          </a:prstGeom>
          <a:noFill/>
          <a:ln/>
        </p:spPr>
        <p:txBody>
          <a:bodyPr wrap="square" lIns="0" tIns="0" rIns="0" bIns="0" rtlCol="0" anchor="ctr"/>
          <a:lstStyle/>
          <a:p>
            <a:pPr indent="0" marL="0">
              <a:buNone/>
            </a:pPr>
            <a:r>
              <a:rPr lang="en-US" sz="1500" dirty="0">
                <a:solidFill>
                  <a:srgbClr val="D6E3DB"/>
                </a:solidFill>
                <a:latin typeface="Yu Gothic" pitchFamily="34" charset="0"/>
                <a:ea typeface="Yu Gothic" pitchFamily="34" charset="-122"/>
                <a:cs typeface="Yu Gothic" pitchFamily="34" charset="-120"/>
              </a:rPr>
              <a:t>自社物件・遊休スペースを活かす、無人カフェFC</a:t>
            </a:r>
            <a:endParaRPr lang="en-US" sz="1500" dirty="0"/>
          </a:p>
        </p:txBody>
      </p:sp>
      <p:sp>
        <p:nvSpPr>
          <p:cNvPr id="7" name="Text 3"/>
          <p:cNvSpPr/>
          <p:nvPr/>
        </p:nvSpPr>
        <p:spPr>
          <a:xfrm>
            <a:off x="812902" y="3251606"/>
            <a:ext cx="8128102" cy="940003"/>
          </a:xfrm>
          <a:prstGeom prst="rect">
            <a:avLst/>
          </a:prstGeom>
          <a:noFill/>
          <a:ln/>
        </p:spPr>
        <p:txBody>
          <a:bodyPr wrap="square" lIns="0" tIns="0" rIns="0" bIns="0" rtlCol="0" anchor="ctr"/>
          <a:lstStyle/>
          <a:p>
            <a:pPr indent="0" marL="0">
              <a:buNone/>
            </a:pPr>
            <a:r>
              <a:rPr lang="en-US" sz="5400" b="1" dirty="0">
                <a:solidFill>
                  <a:srgbClr val="FFFFFF"/>
                </a:solidFill>
                <a:latin typeface="Yu Gothic" pitchFamily="34" charset="0"/>
                <a:ea typeface="Yu Gothic" pitchFamily="34" charset="-122"/>
                <a:cs typeface="Yu Gothic" pitchFamily="34" charset="-120"/>
              </a:rPr>
              <a:t>パートナー制度</a:t>
            </a:r>
            <a:endParaRPr lang="en-US" sz="5400" dirty="0"/>
          </a:p>
        </p:txBody>
      </p:sp>
      <p:sp>
        <p:nvSpPr>
          <p:cNvPr id="8" name="Text 4"/>
          <p:cNvSpPr/>
          <p:nvPr/>
        </p:nvSpPr>
        <p:spPr>
          <a:xfrm>
            <a:off x="812902" y="4444898"/>
            <a:ext cx="6858000" cy="584302"/>
          </a:xfrm>
          <a:prstGeom prst="rect">
            <a:avLst/>
          </a:prstGeom>
          <a:noFill/>
          <a:ln/>
        </p:spPr>
        <p:txBody>
          <a:bodyPr wrap="square" lIns="0" tIns="0" rIns="0" bIns="0" rtlCol="0" anchor="t"/>
          <a:lstStyle/>
          <a:p>
            <a:pPr indent="0" marL="0">
              <a:lnSpc>
                <a:spcPct val="135000"/>
              </a:lnSpc>
              <a:buNone/>
            </a:pPr>
            <a:r>
              <a:rPr lang="en-US" sz="1250" dirty="0">
                <a:solidFill>
                  <a:srgbClr val="AFC2B8"/>
                </a:solidFill>
                <a:latin typeface="Yu Gothic" pitchFamily="34" charset="0"/>
                <a:ea typeface="Yu Gothic" pitchFamily="34" charset="-122"/>
                <a:cs typeface="Yu Gothic" pitchFamily="34" charset="-120"/>
              </a:rPr>
              <a:t>内装・システム導入から集客まで本部が伴走。</a:t>
            </a:r>
            <a:endParaRPr lang="en-US" sz="1250" dirty="0"/>
          </a:p>
          <a:p>
            <a:pPr indent="0" marL="0">
              <a:lnSpc>
                <a:spcPct val="135000"/>
              </a:lnSpc>
              <a:buNone/>
            </a:pPr>
            <a:r>
              <a:rPr lang="en-US" sz="1250" dirty="0">
                <a:solidFill>
                  <a:srgbClr val="AFC2B8"/>
                </a:solidFill>
                <a:latin typeface="Yu Gothic" pitchFamily="34" charset="0"/>
                <a:ea typeface="Yu Gothic" pitchFamily="34" charset="-122"/>
                <a:cs typeface="Yu Gothic" pitchFamily="34" charset="-120"/>
              </a:rPr>
              <a:t>低投資で始められる、無人カフェのフランチャイズ制度です。</a:t>
            </a:r>
            <a:endParaRPr lang="en-US" sz="1250" dirty="0"/>
          </a:p>
        </p:txBody>
      </p:sp>
      <p:sp>
        <p:nvSpPr>
          <p:cNvPr id="9" name="Shape 5"/>
          <p:cNvSpPr/>
          <p:nvPr/>
        </p:nvSpPr>
        <p:spPr>
          <a:xfrm>
            <a:off x="812902" y="5537606"/>
            <a:ext cx="711403" cy="25603"/>
          </a:xfrm>
          <a:prstGeom prst="rect">
            <a:avLst/>
          </a:prstGeom>
          <a:solidFill>
            <a:srgbClr val="C79A44"/>
          </a:solidFill>
          <a:ln/>
        </p:spPr>
      </p:sp>
      <p:sp>
        <p:nvSpPr>
          <p:cNvPr id="10" name="Text 6"/>
          <p:cNvSpPr/>
          <p:nvPr/>
        </p:nvSpPr>
        <p:spPr>
          <a:xfrm>
            <a:off x="812902" y="5816498"/>
            <a:ext cx="3174797" cy="381305"/>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71</a:t>
            </a:r>
            <a:r>
              <a:rPr lang="en-US" sz="1200" b="1" dirty="0">
                <a:solidFill>
                  <a:srgbClr val="FFFFFF"/>
                </a:solidFill>
                <a:latin typeface="Yu Gothic" pitchFamily="34" charset="0"/>
                <a:ea typeface="Yu Gothic" pitchFamily="34" charset="-122"/>
                <a:cs typeface="Yu Gothic" pitchFamily="34" charset="-120"/>
              </a:rPr>
              <a:t> 店舗</a:t>
            </a:r>
            <a:endParaRPr lang="en-US" sz="2600" dirty="0"/>
          </a:p>
        </p:txBody>
      </p:sp>
      <p:sp>
        <p:nvSpPr>
          <p:cNvPr id="11" name="Text 7"/>
          <p:cNvSpPr/>
          <p:nvPr/>
        </p:nvSpPr>
        <p:spPr>
          <a:xfrm>
            <a:off x="812902" y="6223406"/>
            <a:ext cx="3723437" cy="165506"/>
          </a:xfrm>
          <a:prstGeom prst="rect">
            <a:avLst/>
          </a:prstGeom>
          <a:noFill/>
          <a:ln/>
        </p:spPr>
        <p:txBody>
          <a:bodyPr wrap="square" lIns="0" tIns="0" rIns="0" bIns="0" rtlCol="0" anchor="ctr"/>
          <a:lstStyle/>
          <a:p>
            <a:pPr indent="0" marL="0">
              <a:buNone/>
            </a:pPr>
            <a:r>
              <a:rPr lang="en-US" sz="950" dirty="0">
                <a:solidFill>
                  <a:srgbClr val="8FA398"/>
                </a:solidFill>
                <a:latin typeface="Yu Gothic" pitchFamily="34" charset="0"/>
                <a:ea typeface="Yu Gothic" pitchFamily="34" charset="-122"/>
                <a:cs typeface="Yu Gothic" pitchFamily="34" charset="-120"/>
              </a:rPr>
              <a:t>全国展開（年内10店舗以上 出店予定）</a:t>
            </a:r>
            <a:endParaRPr lang="en-US" sz="950" dirty="0"/>
          </a:p>
        </p:txBody>
      </p:sp>
      <p:sp>
        <p:nvSpPr>
          <p:cNvPr id="12" name="Text 8"/>
          <p:cNvSpPr/>
          <p:nvPr/>
        </p:nvSpPr>
        <p:spPr>
          <a:xfrm>
            <a:off x="4419295" y="5816498"/>
            <a:ext cx="1904695" cy="381305"/>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約10</a:t>
            </a:r>
            <a:r>
              <a:rPr lang="en-US" sz="1200" b="1" dirty="0">
                <a:solidFill>
                  <a:srgbClr val="FFFFFF"/>
                </a:solidFill>
                <a:latin typeface="Yu Gothic" pitchFamily="34" charset="0"/>
                <a:ea typeface="Yu Gothic" pitchFamily="34" charset="-122"/>
                <a:cs typeface="Yu Gothic" pitchFamily="34" charset="-120"/>
              </a:rPr>
              <a:t> 万人</a:t>
            </a:r>
            <a:endParaRPr lang="en-US" sz="2600" dirty="0"/>
          </a:p>
        </p:txBody>
      </p:sp>
      <p:sp>
        <p:nvSpPr>
          <p:cNvPr id="13" name="Text 9"/>
          <p:cNvSpPr/>
          <p:nvPr/>
        </p:nvSpPr>
        <p:spPr>
          <a:xfrm>
            <a:off x="4419295" y="6223406"/>
            <a:ext cx="2453335" cy="165506"/>
          </a:xfrm>
          <a:prstGeom prst="rect">
            <a:avLst/>
          </a:prstGeom>
          <a:noFill/>
          <a:ln/>
        </p:spPr>
        <p:txBody>
          <a:bodyPr wrap="square" lIns="0" tIns="0" rIns="0" bIns="0" rtlCol="0" anchor="ctr"/>
          <a:lstStyle/>
          <a:p>
            <a:pPr indent="0" marL="0">
              <a:buNone/>
            </a:pPr>
            <a:r>
              <a:rPr lang="en-US" sz="950" dirty="0">
                <a:solidFill>
                  <a:srgbClr val="8FA398"/>
                </a:solidFill>
                <a:latin typeface="Yu Gothic" pitchFamily="34" charset="0"/>
                <a:ea typeface="Yu Gothic" pitchFamily="34" charset="-122"/>
                <a:cs typeface="Yu Gothic" pitchFamily="34" charset="-120"/>
              </a:rPr>
              <a:t>月間利用者数</a:t>
            </a:r>
            <a:endParaRPr lang="en-US" sz="950" dirty="0"/>
          </a:p>
        </p:txBody>
      </p:sp>
      <p:sp>
        <p:nvSpPr>
          <p:cNvPr id="14" name="Text 10"/>
          <p:cNvSpPr/>
          <p:nvPr/>
        </p:nvSpPr>
        <p:spPr>
          <a:xfrm>
            <a:off x="6756502" y="5816498"/>
            <a:ext cx="2286000" cy="381305"/>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650</a:t>
            </a:r>
            <a:r>
              <a:rPr lang="en-US" sz="1200" b="1" dirty="0">
                <a:solidFill>
                  <a:srgbClr val="FFFFFF"/>
                </a:solidFill>
                <a:latin typeface="Yu Gothic" pitchFamily="34" charset="0"/>
                <a:ea typeface="Yu Gothic" pitchFamily="34" charset="-122"/>
                <a:cs typeface="Yu Gothic" pitchFamily="34" charset="-120"/>
              </a:rPr>
              <a:t> 万円〜</a:t>
            </a:r>
            <a:endParaRPr lang="en-US" sz="2600" dirty="0"/>
          </a:p>
        </p:txBody>
      </p:sp>
      <p:sp>
        <p:nvSpPr>
          <p:cNvPr id="15" name="Text 11"/>
          <p:cNvSpPr/>
          <p:nvPr/>
        </p:nvSpPr>
        <p:spPr>
          <a:xfrm>
            <a:off x="6756502" y="6223406"/>
            <a:ext cx="2834640" cy="165506"/>
          </a:xfrm>
          <a:prstGeom prst="rect">
            <a:avLst/>
          </a:prstGeom>
          <a:noFill/>
          <a:ln/>
        </p:spPr>
        <p:txBody>
          <a:bodyPr wrap="square" lIns="0" tIns="0" rIns="0" bIns="0" rtlCol="0" anchor="ctr"/>
          <a:lstStyle/>
          <a:p>
            <a:pPr indent="0" marL="0">
              <a:buNone/>
            </a:pPr>
            <a:r>
              <a:rPr lang="en-US" sz="950" dirty="0">
                <a:solidFill>
                  <a:srgbClr val="8FA398"/>
                </a:solidFill>
                <a:latin typeface="Yu Gothic" pitchFamily="34" charset="0"/>
                <a:ea typeface="Yu Gothic" pitchFamily="34" charset="-122"/>
                <a:cs typeface="Yu Gothic" pitchFamily="34" charset="-120"/>
              </a:rPr>
              <a:t>初期費用（居抜き・20坪想定）</a:t>
            </a:r>
            <a:endParaRPr lang="en-US" sz="950" dirty="0"/>
          </a:p>
        </p:txBody>
      </p:sp>
      <p:sp>
        <p:nvSpPr>
          <p:cNvPr id="16" name="Shape 12"/>
          <p:cNvSpPr/>
          <p:nvPr/>
        </p:nvSpPr>
        <p:spPr>
          <a:xfrm>
            <a:off x="4013302" y="5842102"/>
            <a:ext cx="11887" cy="533095"/>
          </a:xfrm>
          <a:prstGeom prst="rect">
            <a:avLst/>
          </a:prstGeom>
          <a:solidFill>
            <a:srgbClr val="3C5F4B"/>
          </a:solidFill>
          <a:ln/>
        </p:spPr>
      </p:sp>
      <p:sp>
        <p:nvSpPr>
          <p:cNvPr id="17" name="Shape 13"/>
          <p:cNvSpPr/>
          <p:nvPr/>
        </p:nvSpPr>
        <p:spPr>
          <a:xfrm>
            <a:off x="6349594" y="5842102"/>
            <a:ext cx="11887" cy="533095"/>
          </a:xfrm>
          <a:prstGeom prst="rect">
            <a:avLst/>
          </a:prstGeom>
          <a:solidFill>
            <a:srgbClr val="3C5F4B"/>
          </a:solidFill>
          <a:ln/>
        </p:spPr>
      </p:sp>
      <p:sp>
        <p:nvSpPr>
          <p:cNvPr id="18" name="Text 14"/>
          <p:cNvSpPr/>
          <p:nvPr/>
        </p:nvSpPr>
        <p:spPr>
          <a:xfrm>
            <a:off x="8889797" y="6197803"/>
            <a:ext cx="2641702" cy="177394"/>
          </a:xfrm>
          <a:prstGeom prst="rect">
            <a:avLst/>
          </a:prstGeom>
          <a:noFill/>
          <a:ln/>
        </p:spPr>
        <p:txBody>
          <a:bodyPr wrap="square" lIns="0" tIns="0" rIns="0" bIns="0" rtlCol="0" anchor="ctr"/>
          <a:lstStyle/>
          <a:p>
            <a:pPr algn="r" indent="0" marL="0">
              <a:buNone/>
            </a:pPr>
            <a:r>
              <a:rPr lang="en-US" sz="950" dirty="0">
                <a:solidFill>
                  <a:srgbClr val="8FA398"/>
                </a:solidFill>
                <a:latin typeface="Yu Gothic" pitchFamily="34" charset="0"/>
                <a:ea typeface="Yu Gothic" pitchFamily="34" charset="-122"/>
                <a:cs typeface="Yu Gothic" pitchFamily="34" charset="-120"/>
              </a:rPr>
              <a:t>セルフカフェ株式会社</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01</a:t>
            </a:r>
            <a:r>
              <a:rPr lang="en-US" sz="1050" b="1" dirty="0">
                <a:solidFill>
                  <a:srgbClr val="1B8149"/>
                </a:solidFill>
                <a:latin typeface="Yu Gothic" pitchFamily="34" charset="0"/>
                <a:ea typeface="Yu Gothic" pitchFamily="34" charset="-122"/>
                <a:cs typeface="Yu Gothic" pitchFamily="34" charset="-120"/>
              </a:rPr>
              <a:t>   会社概要</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会社概要</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無人カフェ「セルフカフェ」の企画・開発・運営を行っています。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02</a:t>
            </a:r>
            <a:endParaRPr lang="en-US" sz="1000" dirty="0"/>
          </a:p>
        </p:txBody>
      </p:sp>
      <p:pic>
        <p:nvPicPr>
          <p:cNvPr id="9" name="Image 1" descr="/home/user/suzuki-ceo/selfcafe-partner-deck/assets/photos/p02-storefront.jpg">    </p:cNvPr>
          <p:cNvPicPr>
            <a:picLocks noChangeAspect="1"/>
          </p:cNvPicPr>
          <p:nvPr/>
        </p:nvPicPr>
        <p:blipFill>
          <a:blip r:embed="rId2"/>
          <a:srcRect l="0" r="0" t="0" b="0"/>
          <a:stretch/>
        </p:blipFill>
        <p:spPr>
          <a:xfrm>
            <a:off x="660197" y="1651406"/>
            <a:ext cx="10871302" cy="2542032"/>
          </a:xfrm>
          <a:prstGeom prst="rect">
            <a:avLst/>
          </a:prstGeom>
        </p:spPr>
      </p:pic>
      <p:sp>
        <p:nvSpPr>
          <p:cNvPr id="10" name="Shape 6"/>
          <p:cNvSpPr/>
          <p:nvPr/>
        </p:nvSpPr>
        <p:spPr>
          <a:xfrm>
            <a:off x="660197" y="1651406"/>
            <a:ext cx="10871302" cy="2542032"/>
          </a:xfrm>
          <a:prstGeom prst="rect">
            <a:avLst/>
          </a:prstGeom>
          <a:ln w="12700">
            <a:solidFill>
              <a:srgbClr val="D8D2C6"/>
            </a:solidFill>
            <a:prstDash val="solid"/>
          </a:ln>
        </p:spPr>
      </p:sp>
      <p:sp>
        <p:nvSpPr>
          <p:cNvPr id="11" name="Shape 7"/>
          <p:cNvSpPr/>
          <p:nvPr/>
        </p:nvSpPr>
        <p:spPr>
          <a:xfrm>
            <a:off x="788213" y="3736238"/>
            <a:ext cx="3731260" cy="329184"/>
          </a:xfrm>
          <a:prstGeom prst="roundRect">
            <a:avLst>
              <a:gd name="adj" fmla="val 13889"/>
            </a:avLst>
          </a:prstGeom>
          <a:solidFill>
            <a:srgbClr val="FFFFFF">
              <a:alpha val="90000"/>
            </a:srgbClr>
          </a:solidFill>
          <a:ln/>
        </p:spPr>
      </p:sp>
      <p:sp>
        <p:nvSpPr>
          <p:cNvPr id="12" name="Text 8"/>
          <p:cNvSpPr/>
          <p:nvPr/>
        </p:nvSpPr>
        <p:spPr>
          <a:xfrm>
            <a:off x="952805" y="3736238"/>
            <a:ext cx="3456940" cy="329184"/>
          </a:xfrm>
          <a:prstGeom prst="rect">
            <a:avLst/>
          </a:prstGeom>
          <a:noFill/>
          <a:ln/>
        </p:spPr>
        <p:txBody>
          <a:bodyPr wrap="square" lIns="0" tIns="0" rIns="0" bIns="0" rtlCol="0" anchor="ctr"/>
          <a:lstStyle/>
          <a:p>
            <a:pPr indent="0" marL="0">
              <a:buNone/>
            </a:pPr>
            <a:r>
              <a:rPr lang="en-US" sz="1000" b="1" dirty="0">
                <a:solidFill>
                  <a:srgbClr val="0A3D23"/>
                </a:solidFill>
                <a:latin typeface="Yu Gothic" pitchFamily="34" charset="0"/>
                <a:ea typeface="Yu Gothic" pitchFamily="34" charset="-122"/>
                <a:cs typeface="Yu Gothic" pitchFamily="34" charset="-120"/>
              </a:rPr>
              <a:t>セルフカフェ 盛岡駅前店（2025年4月オープン）</a:t>
            </a:r>
            <a:endParaRPr lang="en-US" sz="1000" dirty="0"/>
          </a:p>
        </p:txBody>
      </p:sp>
      <p:sp>
        <p:nvSpPr>
          <p:cNvPr id="13" name="Text 9"/>
          <p:cNvSpPr/>
          <p:nvPr/>
        </p:nvSpPr>
        <p:spPr>
          <a:xfrm>
            <a:off x="660197" y="4394606"/>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会社名</a:t>
            </a:r>
            <a:endParaRPr lang="en-US" sz="900" dirty="0"/>
          </a:p>
        </p:txBody>
      </p:sp>
      <p:sp>
        <p:nvSpPr>
          <p:cNvPr id="14" name="Text 10"/>
          <p:cNvSpPr/>
          <p:nvPr/>
        </p:nvSpPr>
        <p:spPr>
          <a:xfrm>
            <a:off x="660197" y="4604918"/>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セルフカフェ株式会社</a:t>
            </a:r>
            <a:endParaRPr lang="en-US" sz="1300" dirty="0"/>
          </a:p>
        </p:txBody>
      </p:sp>
      <p:sp>
        <p:nvSpPr>
          <p:cNvPr id="15" name="Shape 11"/>
          <p:cNvSpPr/>
          <p:nvPr/>
        </p:nvSpPr>
        <p:spPr>
          <a:xfrm>
            <a:off x="660197" y="4961534"/>
            <a:ext cx="3318967" cy="10058"/>
          </a:xfrm>
          <a:prstGeom prst="rect">
            <a:avLst/>
          </a:prstGeom>
          <a:solidFill>
            <a:srgbClr val="EFEAE0"/>
          </a:solidFill>
          <a:ln/>
        </p:spPr>
      </p:sp>
      <p:sp>
        <p:nvSpPr>
          <p:cNvPr id="16" name="Text 12"/>
          <p:cNvSpPr/>
          <p:nvPr/>
        </p:nvSpPr>
        <p:spPr>
          <a:xfrm>
            <a:off x="4436364" y="4394606"/>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代表取締役</a:t>
            </a:r>
            <a:endParaRPr lang="en-US" sz="900" dirty="0"/>
          </a:p>
        </p:txBody>
      </p:sp>
      <p:sp>
        <p:nvSpPr>
          <p:cNvPr id="17" name="Text 13"/>
          <p:cNvSpPr/>
          <p:nvPr/>
        </p:nvSpPr>
        <p:spPr>
          <a:xfrm>
            <a:off x="4436364" y="4604918"/>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鈴木 大基</a:t>
            </a:r>
            <a:endParaRPr lang="en-US" sz="1300" dirty="0"/>
          </a:p>
        </p:txBody>
      </p:sp>
      <p:sp>
        <p:nvSpPr>
          <p:cNvPr id="18" name="Shape 14"/>
          <p:cNvSpPr/>
          <p:nvPr/>
        </p:nvSpPr>
        <p:spPr>
          <a:xfrm>
            <a:off x="4436364" y="4961534"/>
            <a:ext cx="3318967" cy="10058"/>
          </a:xfrm>
          <a:prstGeom prst="rect">
            <a:avLst/>
          </a:prstGeom>
          <a:solidFill>
            <a:srgbClr val="EFEAE0"/>
          </a:solidFill>
          <a:ln/>
        </p:spPr>
      </p:sp>
      <p:sp>
        <p:nvSpPr>
          <p:cNvPr id="19" name="Text 15"/>
          <p:cNvSpPr/>
          <p:nvPr/>
        </p:nvSpPr>
        <p:spPr>
          <a:xfrm>
            <a:off x="8212531" y="4394606"/>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資本金</a:t>
            </a:r>
            <a:endParaRPr lang="en-US" sz="900" dirty="0"/>
          </a:p>
        </p:txBody>
      </p:sp>
      <p:sp>
        <p:nvSpPr>
          <p:cNvPr id="20" name="Text 16"/>
          <p:cNvSpPr/>
          <p:nvPr/>
        </p:nvSpPr>
        <p:spPr>
          <a:xfrm>
            <a:off x="8212531" y="4604918"/>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2,000万円</a:t>
            </a:r>
            <a:endParaRPr lang="en-US" sz="1300" dirty="0"/>
          </a:p>
        </p:txBody>
      </p:sp>
      <p:sp>
        <p:nvSpPr>
          <p:cNvPr id="21" name="Shape 17"/>
          <p:cNvSpPr/>
          <p:nvPr/>
        </p:nvSpPr>
        <p:spPr>
          <a:xfrm>
            <a:off x="8212531" y="4961534"/>
            <a:ext cx="3318967" cy="10058"/>
          </a:xfrm>
          <a:prstGeom prst="rect">
            <a:avLst/>
          </a:prstGeom>
          <a:solidFill>
            <a:srgbClr val="EFEAE0"/>
          </a:solidFill>
          <a:ln/>
        </p:spPr>
      </p:sp>
      <p:sp>
        <p:nvSpPr>
          <p:cNvPr id="22" name="Text 18"/>
          <p:cNvSpPr/>
          <p:nvPr/>
        </p:nvSpPr>
        <p:spPr>
          <a:xfrm>
            <a:off x="660197" y="5144414"/>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事業内容</a:t>
            </a:r>
            <a:endParaRPr lang="en-US" sz="900" dirty="0"/>
          </a:p>
        </p:txBody>
      </p:sp>
      <p:sp>
        <p:nvSpPr>
          <p:cNvPr id="23" name="Text 19"/>
          <p:cNvSpPr/>
          <p:nvPr/>
        </p:nvSpPr>
        <p:spPr>
          <a:xfrm>
            <a:off x="660197" y="5354726"/>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無人カフェの経営</a:t>
            </a:r>
            <a:endParaRPr lang="en-US" sz="1300" dirty="0"/>
          </a:p>
        </p:txBody>
      </p:sp>
      <p:sp>
        <p:nvSpPr>
          <p:cNvPr id="24" name="Shape 20"/>
          <p:cNvSpPr/>
          <p:nvPr/>
        </p:nvSpPr>
        <p:spPr>
          <a:xfrm>
            <a:off x="660197" y="5711342"/>
            <a:ext cx="3318967" cy="10058"/>
          </a:xfrm>
          <a:prstGeom prst="rect">
            <a:avLst/>
          </a:prstGeom>
          <a:solidFill>
            <a:srgbClr val="EFEAE0"/>
          </a:solidFill>
          <a:ln/>
        </p:spPr>
      </p:sp>
      <p:sp>
        <p:nvSpPr>
          <p:cNvPr id="25" name="Text 21"/>
          <p:cNvSpPr/>
          <p:nvPr/>
        </p:nvSpPr>
        <p:spPr>
          <a:xfrm>
            <a:off x="4436364" y="5144414"/>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設立日</a:t>
            </a:r>
            <a:endParaRPr lang="en-US" sz="900" dirty="0"/>
          </a:p>
        </p:txBody>
      </p:sp>
      <p:sp>
        <p:nvSpPr>
          <p:cNvPr id="26" name="Text 22"/>
          <p:cNvSpPr/>
          <p:nvPr/>
        </p:nvSpPr>
        <p:spPr>
          <a:xfrm>
            <a:off x="4436364" y="5354726"/>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2024年5月1日</a:t>
            </a:r>
            <a:endParaRPr lang="en-US" sz="1300" dirty="0"/>
          </a:p>
        </p:txBody>
      </p:sp>
      <p:sp>
        <p:nvSpPr>
          <p:cNvPr id="27" name="Shape 23"/>
          <p:cNvSpPr/>
          <p:nvPr/>
        </p:nvSpPr>
        <p:spPr>
          <a:xfrm>
            <a:off x="4436364" y="5711342"/>
            <a:ext cx="3318967" cy="10058"/>
          </a:xfrm>
          <a:prstGeom prst="rect">
            <a:avLst/>
          </a:prstGeom>
          <a:solidFill>
            <a:srgbClr val="EFEAE0"/>
          </a:solidFill>
          <a:ln/>
        </p:spPr>
      </p:sp>
      <p:sp>
        <p:nvSpPr>
          <p:cNvPr id="28" name="Text 24"/>
          <p:cNvSpPr/>
          <p:nvPr/>
        </p:nvSpPr>
        <p:spPr>
          <a:xfrm>
            <a:off x="8212531" y="5144414"/>
            <a:ext cx="3318967" cy="182880"/>
          </a:xfrm>
          <a:prstGeom prst="rect">
            <a:avLst/>
          </a:prstGeom>
          <a:noFill/>
          <a:ln/>
        </p:spPr>
        <p:txBody>
          <a:bodyPr wrap="square" lIns="0" tIns="0" rIns="0" bIns="0" rtlCol="0" anchor="ctr"/>
          <a:lstStyle/>
          <a:p>
            <a:pPr indent="0" marL="0">
              <a:buNone/>
            </a:pPr>
            <a:r>
              <a:rPr lang="en-US" sz="900" b="1" dirty="0">
                <a:solidFill>
                  <a:srgbClr val="7E8882"/>
                </a:solidFill>
                <a:latin typeface="Yu Gothic" pitchFamily="34" charset="0"/>
                <a:ea typeface="Yu Gothic" pitchFamily="34" charset="-122"/>
                <a:cs typeface="Yu Gothic" pitchFamily="34" charset="-120"/>
              </a:rPr>
              <a:t>公式HP</a:t>
            </a:r>
            <a:endParaRPr lang="en-US" sz="900" dirty="0"/>
          </a:p>
        </p:txBody>
      </p:sp>
      <p:sp>
        <p:nvSpPr>
          <p:cNvPr id="29" name="Text 25"/>
          <p:cNvSpPr/>
          <p:nvPr/>
        </p:nvSpPr>
        <p:spPr>
          <a:xfrm>
            <a:off x="8212531" y="5354726"/>
            <a:ext cx="3318967" cy="292608"/>
          </a:xfrm>
          <a:prstGeom prst="rect">
            <a:avLst/>
          </a:prstGeom>
          <a:noFill/>
          <a:ln/>
        </p:spPr>
        <p:txBody>
          <a:bodyPr wrap="square" lIns="0" tIns="0" rIns="0" bIns="0" rtlCol="0" anchor="ctr"/>
          <a:lstStyle/>
          <a:p>
            <a:pPr indent="0" marL="0">
              <a:buNone/>
            </a:pPr>
            <a:r>
              <a:rPr lang="en-US" sz="1300" dirty="0">
                <a:solidFill>
                  <a:srgbClr val="0A3D23"/>
                </a:solidFill>
                <a:latin typeface="Yu Gothic" pitchFamily="34" charset="0"/>
                <a:ea typeface="Yu Gothic" pitchFamily="34" charset="-122"/>
                <a:cs typeface="Yu Gothic" pitchFamily="34" charset="-120"/>
              </a:rPr>
              <a:t>https://selfcafe.jp/</a:t>
            </a:r>
            <a:endParaRPr lang="en-US" sz="1300" dirty="0"/>
          </a:p>
        </p:txBody>
      </p:sp>
      <p:sp>
        <p:nvSpPr>
          <p:cNvPr id="30" name="Shape 26"/>
          <p:cNvSpPr/>
          <p:nvPr/>
        </p:nvSpPr>
        <p:spPr>
          <a:xfrm>
            <a:off x="8212531" y="5711342"/>
            <a:ext cx="3318967" cy="10058"/>
          </a:xfrm>
          <a:prstGeom prst="rect">
            <a:avLst/>
          </a:prstGeom>
          <a:solidFill>
            <a:srgbClr val="EFEAE0"/>
          </a:solidFill>
          <a:ln/>
        </p:spPr>
      </p:sp>
      <p:sp>
        <p:nvSpPr>
          <p:cNvPr id="31" name="Shape 27"/>
          <p:cNvSpPr/>
          <p:nvPr/>
        </p:nvSpPr>
        <p:spPr>
          <a:xfrm>
            <a:off x="660197" y="6022238"/>
            <a:ext cx="10871302" cy="457200"/>
          </a:xfrm>
          <a:prstGeom prst="roundRect">
            <a:avLst>
              <a:gd name="adj" fmla="val 10000"/>
            </a:avLst>
          </a:prstGeom>
          <a:solidFill>
            <a:srgbClr val="F1F8F3"/>
          </a:solidFill>
          <a:ln/>
        </p:spPr>
      </p:sp>
      <p:sp>
        <p:nvSpPr>
          <p:cNvPr id="32" name="Text 28"/>
          <p:cNvSpPr/>
          <p:nvPr/>
        </p:nvSpPr>
        <p:spPr>
          <a:xfrm>
            <a:off x="879653" y="6022238"/>
            <a:ext cx="10432390" cy="457200"/>
          </a:xfrm>
          <a:prstGeom prst="rect">
            <a:avLst/>
          </a:prstGeom>
          <a:noFill/>
          <a:ln/>
        </p:spPr>
        <p:txBody>
          <a:bodyPr wrap="square" lIns="0" tIns="0" rIns="0" bIns="0" rtlCol="0" anchor="ctr"/>
          <a:lstStyle/>
          <a:p>
            <a:pPr indent="0" marL="0">
              <a:buNone/>
            </a:pPr>
            <a:r>
              <a:rPr lang="en-US" sz="1000" dirty="0">
                <a:solidFill>
                  <a:srgbClr val="106838"/>
                </a:solidFill>
                <a:latin typeface="Yu Gothic" pitchFamily="34" charset="0"/>
                <a:ea typeface="Yu Gothic" pitchFamily="34" charset="-122"/>
                <a:cs typeface="Yu Gothic" pitchFamily="34" charset="-120"/>
              </a:rPr>
              <a:t>※ 2024年5月1日よりウッドデザインパーク株式会社から分社化</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02</a:t>
            </a:r>
            <a:r>
              <a:rPr lang="en-US" sz="1050" b="1" dirty="0">
                <a:solidFill>
                  <a:srgbClr val="1B8149"/>
                </a:solidFill>
                <a:latin typeface="Yu Gothic" pitchFamily="34" charset="0"/>
                <a:ea typeface="Yu Gothic" pitchFamily="34" charset="-122"/>
                <a:cs typeface="Yu Gothic" pitchFamily="34" charset="-120"/>
              </a:rPr>
              <a:t>   市場背景</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社会背景と市場性</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現代社会が抱える3つの課題が、無人カフェの需要をつくっています。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03</a:t>
            </a:r>
            <a:endParaRPr lang="en-US" sz="1000" dirty="0"/>
          </a:p>
        </p:txBody>
      </p:sp>
      <p:sp>
        <p:nvSpPr>
          <p:cNvPr id="9" name="Shape 6"/>
          <p:cNvSpPr/>
          <p:nvPr/>
        </p:nvSpPr>
        <p:spPr>
          <a:xfrm>
            <a:off x="660197" y="1651406"/>
            <a:ext cx="3453079" cy="3657600"/>
          </a:xfrm>
          <a:prstGeom prst="roundRect">
            <a:avLst>
              <a:gd name="adj" fmla="val 1589"/>
            </a:avLst>
          </a:prstGeom>
          <a:solidFill>
            <a:srgbClr val="FFFFFF"/>
          </a:solidFill>
          <a:ln w="9525">
            <a:solidFill>
              <a:srgbClr val="EFEAE0"/>
            </a:solidFill>
            <a:prstDash val="solid"/>
          </a:ln>
        </p:spPr>
      </p:sp>
      <p:sp>
        <p:nvSpPr>
          <p:cNvPr id="10" name="Text 7"/>
          <p:cNvSpPr/>
          <p:nvPr/>
        </p:nvSpPr>
        <p:spPr>
          <a:xfrm>
            <a:off x="916229"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ISSUE 01</a:t>
            </a:r>
            <a:endParaRPr lang="en-US" sz="900" dirty="0"/>
          </a:p>
        </p:txBody>
      </p:sp>
      <p:pic>
        <p:nvPicPr>
          <p:cNvPr id="11" name="Image 1" descr="/home/user/suzuki-ceo/selfcafe-partner-deck/assets/icons/LuUsers-green.png">    </p:cNvPr>
          <p:cNvPicPr>
            <a:picLocks noChangeAspect="1"/>
          </p:cNvPicPr>
          <p:nvPr/>
        </p:nvPicPr>
        <p:blipFill>
          <a:blip r:embed="rId2"/>
          <a:stretch>
            <a:fillRect/>
          </a:stretch>
        </p:blipFill>
        <p:spPr>
          <a:xfrm>
            <a:off x="3326892" y="1889150"/>
            <a:ext cx="402336" cy="402336"/>
          </a:xfrm>
          <a:prstGeom prst="rect">
            <a:avLst/>
          </a:prstGeom>
        </p:spPr>
      </p:pic>
      <p:sp>
        <p:nvSpPr>
          <p:cNvPr id="12" name="Text 8"/>
          <p:cNvSpPr/>
          <p:nvPr/>
        </p:nvSpPr>
        <p:spPr>
          <a:xfrm>
            <a:off x="916229" y="2218334"/>
            <a:ext cx="2941015" cy="384048"/>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深刻な労働力不足</a:t>
            </a:r>
            <a:endParaRPr lang="en-US" sz="1600" dirty="0"/>
          </a:p>
        </p:txBody>
      </p:sp>
      <p:sp>
        <p:nvSpPr>
          <p:cNvPr id="13" name="Shape 9"/>
          <p:cNvSpPr/>
          <p:nvPr/>
        </p:nvSpPr>
        <p:spPr>
          <a:xfrm>
            <a:off x="916229" y="2693822"/>
            <a:ext cx="2941015" cy="10058"/>
          </a:xfrm>
          <a:prstGeom prst="rect">
            <a:avLst/>
          </a:prstGeom>
          <a:solidFill>
            <a:srgbClr val="EFEAE0"/>
          </a:solidFill>
          <a:ln/>
        </p:spPr>
      </p:sp>
      <p:sp>
        <p:nvSpPr>
          <p:cNvPr id="14" name="Text 10"/>
          <p:cNvSpPr/>
          <p:nvPr/>
        </p:nvSpPr>
        <p:spPr>
          <a:xfrm>
            <a:off x="916229" y="2821838"/>
            <a:ext cx="2941015" cy="1554480"/>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少子高齢化と働き手の価値観の変化でサービス業の人手確保が難しくなり、人件費が上昇して経営負担が増している。</a:t>
            </a:r>
            <a:endParaRPr lang="en-US" sz="1050" dirty="0"/>
          </a:p>
        </p:txBody>
      </p:sp>
      <p:sp>
        <p:nvSpPr>
          <p:cNvPr id="15" name="Shape 11"/>
          <p:cNvSpPr/>
          <p:nvPr/>
        </p:nvSpPr>
        <p:spPr>
          <a:xfrm>
            <a:off x="916229" y="4522622"/>
            <a:ext cx="2941015" cy="512064"/>
          </a:xfrm>
          <a:prstGeom prst="roundRect">
            <a:avLst>
              <a:gd name="adj" fmla="val 8929"/>
            </a:avLst>
          </a:prstGeom>
          <a:solidFill>
            <a:srgbClr val="F1F8F3"/>
          </a:solidFill>
          <a:ln/>
        </p:spPr>
      </p:sp>
      <p:pic>
        <p:nvPicPr>
          <p:cNvPr id="16" name="Image 2" descr="/home/user/suzuki-ceo/selfcafe-partner-deck/assets/icons/LuTrendingUp-green.png">    </p:cNvPr>
          <p:cNvPicPr>
            <a:picLocks noChangeAspect="1"/>
          </p:cNvPicPr>
          <p:nvPr/>
        </p:nvPicPr>
        <p:blipFill>
          <a:blip r:embed="rId3"/>
          <a:stretch>
            <a:fillRect/>
          </a:stretch>
        </p:blipFill>
        <p:spPr>
          <a:xfrm>
            <a:off x="1062533" y="4659782"/>
            <a:ext cx="237744" cy="237744"/>
          </a:xfrm>
          <a:prstGeom prst="rect">
            <a:avLst/>
          </a:prstGeom>
        </p:spPr>
      </p:pic>
      <p:sp>
        <p:nvSpPr>
          <p:cNvPr id="17" name="Text 12"/>
          <p:cNvSpPr/>
          <p:nvPr/>
        </p:nvSpPr>
        <p:spPr>
          <a:xfrm>
            <a:off x="1373429" y="4522622"/>
            <a:ext cx="2483815" cy="512064"/>
          </a:xfrm>
          <a:prstGeom prst="rect">
            <a:avLst/>
          </a:prstGeom>
          <a:noFill/>
          <a:ln/>
        </p:spPr>
        <p:txBody>
          <a:bodyPr wrap="square" lIns="0" tIns="0" rIns="0" bIns="0" rtlCol="0" anchor="ctr"/>
          <a:lstStyle/>
          <a:p>
            <a:pPr indent="0" marL="0">
              <a:buNone/>
            </a:pPr>
            <a:r>
              <a:rPr lang="en-US" sz="1000" b="1" dirty="0">
                <a:solidFill>
                  <a:srgbClr val="106838"/>
                </a:solidFill>
                <a:latin typeface="Yu Gothic" pitchFamily="34" charset="0"/>
                <a:ea typeface="Yu Gothic" pitchFamily="34" charset="-122"/>
                <a:cs typeface="Yu Gothic" pitchFamily="34" charset="-120"/>
              </a:rPr>
              <a:t>人に依存しない店舗フォーマットが必要</a:t>
            </a:r>
            <a:endParaRPr lang="en-US" sz="1000" dirty="0"/>
          </a:p>
        </p:txBody>
      </p:sp>
      <p:sp>
        <p:nvSpPr>
          <p:cNvPr id="18" name="Shape 13"/>
          <p:cNvSpPr/>
          <p:nvPr/>
        </p:nvSpPr>
        <p:spPr>
          <a:xfrm>
            <a:off x="4369308" y="1651406"/>
            <a:ext cx="3453079" cy="3657600"/>
          </a:xfrm>
          <a:prstGeom prst="roundRect">
            <a:avLst>
              <a:gd name="adj" fmla="val 1589"/>
            </a:avLst>
          </a:prstGeom>
          <a:solidFill>
            <a:srgbClr val="FFFFFF"/>
          </a:solidFill>
          <a:ln w="9525">
            <a:solidFill>
              <a:srgbClr val="EFEAE0"/>
            </a:solidFill>
            <a:prstDash val="solid"/>
          </a:ln>
        </p:spPr>
      </p:sp>
      <p:sp>
        <p:nvSpPr>
          <p:cNvPr id="19" name="Text 14"/>
          <p:cNvSpPr/>
          <p:nvPr/>
        </p:nvSpPr>
        <p:spPr>
          <a:xfrm>
            <a:off x="4625340"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ISSUE 02</a:t>
            </a:r>
            <a:endParaRPr lang="en-US" sz="900" dirty="0"/>
          </a:p>
        </p:txBody>
      </p:sp>
      <p:pic>
        <p:nvPicPr>
          <p:cNvPr id="20" name="Image 3" descr="/home/user/suzuki-ceo/selfcafe-partner-deck/assets/icons/LuLaptop-green.png">    </p:cNvPr>
          <p:cNvPicPr>
            <a:picLocks noChangeAspect="1"/>
          </p:cNvPicPr>
          <p:nvPr/>
        </p:nvPicPr>
        <p:blipFill>
          <a:blip r:embed="rId4"/>
          <a:stretch>
            <a:fillRect/>
          </a:stretch>
        </p:blipFill>
        <p:spPr>
          <a:xfrm>
            <a:off x="7036003" y="1889150"/>
            <a:ext cx="402336" cy="402336"/>
          </a:xfrm>
          <a:prstGeom prst="rect">
            <a:avLst/>
          </a:prstGeom>
        </p:spPr>
      </p:pic>
      <p:sp>
        <p:nvSpPr>
          <p:cNvPr id="21" name="Text 15"/>
          <p:cNvSpPr/>
          <p:nvPr/>
        </p:nvSpPr>
        <p:spPr>
          <a:xfrm>
            <a:off x="4625340" y="2218334"/>
            <a:ext cx="2941015" cy="384048"/>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サードプレイスの枯渇</a:t>
            </a:r>
            <a:endParaRPr lang="en-US" sz="1600" dirty="0"/>
          </a:p>
        </p:txBody>
      </p:sp>
      <p:sp>
        <p:nvSpPr>
          <p:cNvPr id="22" name="Shape 16"/>
          <p:cNvSpPr/>
          <p:nvPr/>
        </p:nvSpPr>
        <p:spPr>
          <a:xfrm>
            <a:off x="4625340" y="2693822"/>
            <a:ext cx="2941015" cy="10058"/>
          </a:xfrm>
          <a:prstGeom prst="rect">
            <a:avLst/>
          </a:prstGeom>
          <a:solidFill>
            <a:srgbClr val="EFEAE0"/>
          </a:solidFill>
          <a:ln/>
        </p:spPr>
      </p:sp>
      <p:sp>
        <p:nvSpPr>
          <p:cNvPr id="23" name="Text 17"/>
          <p:cNvSpPr/>
          <p:nvPr/>
        </p:nvSpPr>
        <p:spPr>
          <a:xfrm>
            <a:off x="4625340" y="2821838"/>
            <a:ext cx="2941015" cy="1554480"/>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リモートワークの普及で自宅以外の手頃な作業場所が不足し、カフェやコワーキングは価格や混雑の課題が残り、学習スペースも制限が多く気軽に利用できない。</a:t>
            </a:r>
            <a:endParaRPr lang="en-US" sz="1050" dirty="0"/>
          </a:p>
        </p:txBody>
      </p:sp>
      <p:sp>
        <p:nvSpPr>
          <p:cNvPr id="24" name="Shape 18"/>
          <p:cNvSpPr/>
          <p:nvPr/>
        </p:nvSpPr>
        <p:spPr>
          <a:xfrm>
            <a:off x="4625340" y="4522622"/>
            <a:ext cx="2941015" cy="512064"/>
          </a:xfrm>
          <a:prstGeom prst="roundRect">
            <a:avLst>
              <a:gd name="adj" fmla="val 8929"/>
            </a:avLst>
          </a:prstGeom>
          <a:solidFill>
            <a:srgbClr val="F1F8F3"/>
          </a:solidFill>
          <a:ln/>
        </p:spPr>
      </p:sp>
      <p:pic>
        <p:nvPicPr>
          <p:cNvPr id="25" name="Image 4" descr="/home/user/suzuki-ceo/selfcafe-partner-deck/assets/icons/LuTrendingUp-green.png">    </p:cNvPr>
          <p:cNvPicPr>
            <a:picLocks noChangeAspect="1"/>
          </p:cNvPicPr>
          <p:nvPr/>
        </p:nvPicPr>
        <p:blipFill>
          <a:blip r:embed="rId5"/>
          <a:stretch>
            <a:fillRect/>
          </a:stretch>
        </p:blipFill>
        <p:spPr>
          <a:xfrm>
            <a:off x="4771644" y="4659782"/>
            <a:ext cx="237744" cy="237744"/>
          </a:xfrm>
          <a:prstGeom prst="rect">
            <a:avLst/>
          </a:prstGeom>
        </p:spPr>
      </p:pic>
      <p:sp>
        <p:nvSpPr>
          <p:cNvPr id="26" name="Text 19"/>
          <p:cNvSpPr/>
          <p:nvPr/>
        </p:nvSpPr>
        <p:spPr>
          <a:xfrm>
            <a:off x="5082540" y="4522622"/>
            <a:ext cx="2483815" cy="512064"/>
          </a:xfrm>
          <a:prstGeom prst="rect">
            <a:avLst/>
          </a:prstGeom>
          <a:noFill/>
          <a:ln/>
        </p:spPr>
        <p:txBody>
          <a:bodyPr wrap="square" lIns="0" tIns="0" rIns="0" bIns="0" rtlCol="0" anchor="ctr"/>
          <a:lstStyle/>
          <a:p>
            <a:pPr indent="0" marL="0">
              <a:buNone/>
            </a:pPr>
            <a:r>
              <a:rPr lang="en-US" sz="1000" b="1" dirty="0">
                <a:solidFill>
                  <a:srgbClr val="106838"/>
                </a:solidFill>
                <a:latin typeface="Yu Gothic" pitchFamily="34" charset="0"/>
                <a:ea typeface="Yu Gothic" pitchFamily="34" charset="-122"/>
                <a:cs typeface="Yu Gothic" pitchFamily="34" charset="-120"/>
              </a:rPr>
              <a:t>手頃で気軽に使える作業場所への需要</a:t>
            </a:r>
            <a:endParaRPr lang="en-US" sz="1000" dirty="0"/>
          </a:p>
        </p:txBody>
      </p:sp>
      <p:sp>
        <p:nvSpPr>
          <p:cNvPr id="27" name="Shape 20"/>
          <p:cNvSpPr/>
          <p:nvPr/>
        </p:nvSpPr>
        <p:spPr>
          <a:xfrm>
            <a:off x="8078419" y="1651406"/>
            <a:ext cx="3453079" cy="3657600"/>
          </a:xfrm>
          <a:prstGeom prst="roundRect">
            <a:avLst>
              <a:gd name="adj" fmla="val 1589"/>
            </a:avLst>
          </a:prstGeom>
          <a:solidFill>
            <a:srgbClr val="FFFFFF"/>
          </a:solidFill>
          <a:ln w="9525">
            <a:solidFill>
              <a:srgbClr val="EFEAE0"/>
            </a:solidFill>
            <a:prstDash val="solid"/>
          </a:ln>
        </p:spPr>
      </p:sp>
      <p:sp>
        <p:nvSpPr>
          <p:cNvPr id="28" name="Text 21"/>
          <p:cNvSpPr/>
          <p:nvPr/>
        </p:nvSpPr>
        <p:spPr>
          <a:xfrm>
            <a:off x="8334451"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ISSUE 03</a:t>
            </a:r>
            <a:endParaRPr lang="en-US" sz="900" dirty="0"/>
          </a:p>
        </p:txBody>
      </p:sp>
      <p:pic>
        <p:nvPicPr>
          <p:cNvPr id="29" name="Image 5" descr="/home/user/suzuki-ceo/selfcafe-partner-deck/assets/icons/LuBuilding2-green.png">    </p:cNvPr>
          <p:cNvPicPr>
            <a:picLocks noChangeAspect="1"/>
          </p:cNvPicPr>
          <p:nvPr/>
        </p:nvPicPr>
        <p:blipFill>
          <a:blip r:embed="rId6"/>
          <a:stretch>
            <a:fillRect/>
          </a:stretch>
        </p:blipFill>
        <p:spPr>
          <a:xfrm>
            <a:off x="10745114" y="1889150"/>
            <a:ext cx="402336" cy="402336"/>
          </a:xfrm>
          <a:prstGeom prst="rect">
            <a:avLst/>
          </a:prstGeom>
        </p:spPr>
      </p:pic>
      <p:sp>
        <p:nvSpPr>
          <p:cNvPr id="30" name="Text 22"/>
          <p:cNvSpPr/>
          <p:nvPr/>
        </p:nvSpPr>
        <p:spPr>
          <a:xfrm>
            <a:off x="8334451" y="2218334"/>
            <a:ext cx="2941015" cy="384048"/>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遊休資産の有効活用</a:t>
            </a:r>
            <a:endParaRPr lang="en-US" sz="1600" dirty="0"/>
          </a:p>
        </p:txBody>
      </p:sp>
      <p:sp>
        <p:nvSpPr>
          <p:cNvPr id="31" name="Shape 23"/>
          <p:cNvSpPr/>
          <p:nvPr/>
        </p:nvSpPr>
        <p:spPr>
          <a:xfrm>
            <a:off x="8334451" y="2693822"/>
            <a:ext cx="2941015" cy="10058"/>
          </a:xfrm>
          <a:prstGeom prst="rect">
            <a:avLst/>
          </a:prstGeom>
          <a:solidFill>
            <a:srgbClr val="EFEAE0"/>
          </a:solidFill>
          <a:ln/>
        </p:spPr>
      </p:sp>
      <p:sp>
        <p:nvSpPr>
          <p:cNvPr id="32" name="Text 24"/>
          <p:cNvSpPr/>
          <p:nvPr/>
        </p:nvSpPr>
        <p:spPr>
          <a:xfrm>
            <a:off x="8334451" y="2821838"/>
            <a:ext cx="2941015" cy="1554480"/>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ビル空室やデッドスペースが増え、従来のテナント誘致だけでは埋まらず、新たな活用モデルの開発が求められている。</a:t>
            </a:r>
            <a:endParaRPr lang="en-US" sz="1050" dirty="0"/>
          </a:p>
        </p:txBody>
      </p:sp>
      <p:sp>
        <p:nvSpPr>
          <p:cNvPr id="33" name="Shape 25"/>
          <p:cNvSpPr/>
          <p:nvPr/>
        </p:nvSpPr>
        <p:spPr>
          <a:xfrm>
            <a:off x="8334451" y="4522622"/>
            <a:ext cx="2941015" cy="512064"/>
          </a:xfrm>
          <a:prstGeom prst="roundRect">
            <a:avLst>
              <a:gd name="adj" fmla="val 8929"/>
            </a:avLst>
          </a:prstGeom>
          <a:solidFill>
            <a:srgbClr val="F1F8F3"/>
          </a:solidFill>
          <a:ln/>
        </p:spPr>
      </p:sp>
      <p:pic>
        <p:nvPicPr>
          <p:cNvPr id="34" name="Image 6" descr="/home/user/suzuki-ceo/selfcafe-partner-deck/assets/icons/LuTrendingUp-green.png">    </p:cNvPr>
          <p:cNvPicPr>
            <a:picLocks noChangeAspect="1"/>
          </p:cNvPicPr>
          <p:nvPr/>
        </p:nvPicPr>
        <p:blipFill>
          <a:blip r:embed="rId7"/>
          <a:stretch>
            <a:fillRect/>
          </a:stretch>
        </p:blipFill>
        <p:spPr>
          <a:xfrm>
            <a:off x="8480755" y="4659782"/>
            <a:ext cx="237744" cy="237744"/>
          </a:xfrm>
          <a:prstGeom prst="rect">
            <a:avLst/>
          </a:prstGeom>
        </p:spPr>
      </p:pic>
      <p:sp>
        <p:nvSpPr>
          <p:cNvPr id="35" name="Text 26"/>
          <p:cNvSpPr/>
          <p:nvPr/>
        </p:nvSpPr>
        <p:spPr>
          <a:xfrm>
            <a:off x="8791651" y="4522622"/>
            <a:ext cx="2483815" cy="512064"/>
          </a:xfrm>
          <a:prstGeom prst="rect">
            <a:avLst/>
          </a:prstGeom>
          <a:noFill/>
          <a:ln/>
        </p:spPr>
        <p:txBody>
          <a:bodyPr wrap="square" lIns="0" tIns="0" rIns="0" bIns="0" rtlCol="0" anchor="ctr"/>
          <a:lstStyle/>
          <a:p>
            <a:pPr indent="0" marL="0">
              <a:buNone/>
            </a:pPr>
            <a:r>
              <a:rPr lang="en-US" sz="1000" b="1" dirty="0">
                <a:solidFill>
                  <a:srgbClr val="106838"/>
                </a:solidFill>
                <a:latin typeface="Yu Gothic" pitchFamily="34" charset="0"/>
                <a:ea typeface="Yu Gothic" pitchFamily="34" charset="-122"/>
                <a:cs typeface="Yu Gothic" pitchFamily="34" charset="-120"/>
              </a:rPr>
              <a:t>空きスペースを収益化する新しいモデル</a:t>
            </a:r>
            <a:endParaRPr lang="en-US" sz="1000" dirty="0"/>
          </a:p>
        </p:txBody>
      </p:sp>
      <p:sp>
        <p:nvSpPr>
          <p:cNvPr id="36" name="Text 27"/>
          <p:cNvSpPr/>
          <p:nvPr/>
        </p:nvSpPr>
        <p:spPr>
          <a:xfrm>
            <a:off x="660197" y="605332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課題認識は当社の市場理解に基づく整理です。</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03</a:t>
            </a:r>
            <a:r>
              <a:rPr lang="en-US" sz="1050" b="1" dirty="0">
                <a:solidFill>
                  <a:srgbClr val="1B8149"/>
                </a:solidFill>
                <a:latin typeface="Yu Gothic" pitchFamily="34" charset="0"/>
                <a:ea typeface="Yu Gothic" pitchFamily="34" charset="-122"/>
                <a:cs typeface="Yu Gothic" pitchFamily="34" charset="-120"/>
              </a:rPr>
              <a:t>   優位性</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人手不足対策：無人管理の優位性</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運営から「人」の変数を外すと、コスト・品質・安定性が同時に改善します。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04</a:t>
            </a:r>
            <a:endParaRPr lang="en-US" sz="1000" dirty="0"/>
          </a:p>
        </p:txBody>
      </p:sp>
      <p:sp>
        <p:nvSpPr>
          <p:cNvPr id="9" name="Shape 6"/>
          <p:cNvSpPr/>
          <p:nvPr/>
        </p:nvSpPr>
        <p:spPr>
          <a:xfrm>
            <a:off x="660197" y="1651406"/>
            <a:ext cx="4206240" cy="4315968"/>
          </a:xfrm>
          <a:prstGeom prst="roundRect">
            <a:avLst>
              <a:gd name="adj" fmla="val 1304"/>
            </a:avLst>
          </a:prstGeom>
          <a:solidFill>
            <a:srgbClr val="0C5230"/>
          </a:solidFill>
          <a:ln/>
        </p:spPr>
      </p:sp>
      <p:sp>
        <p:nvSpPr>
          <p:cNvPr id="10" name="Text 7"/>
          <p:cNvSpPr/>
          <p:nvPr/>
        </p:nvSpPr>
        <p:spPr>
          <a:xfrm>
            <a:off x="1062533" y="2053742"/>
            <a:ext cx="219456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CORE CONCEPT</a:t>
            </a:r>
            <a:endParaRPr lang="en-US" sz="900" dirty="0"/>
          </a:p>
        </p:txBody>
      </p:sp>
      <p:sp>
        <p:nvSpPr>
          <p:cNvPr id="11" name="Text 8"/>
          <p:cNvSpPr/>
          <p:nvPr/>
        </p:nvSpPr>
        <p:spPr>
          <a:xfrm>
            <a:off x="1062533" y="2437790"/>
            <a:ext cx="3401568" cy="1371600"/>
          </a:xfrm>
          <a:prstGeom prst="rect">
            <a:avLst/>
          </a:prstGeom>
          <a:noFill/>
          <a:ln/>
        </p:spPr>
        <p:txBody>
          <a:bodyPr wrap="square" lIns="0" tIns="0" rIns="0" bIns="0" rtlCol="0" anchor="t"/>
          <a:lstStyle/>
          <a:p>
            <a:pPr indent="0" marL="0">
              <a:lnSpc>
                <a:spcPct val="130000"/>
              </a:lnSpc>
              <a:buNone/>
            </a:pPr>
            <a:r>
              <a:rPr lang="en-US" sz="2800" b="1" dirty="0">
                <a:solidFill>
                  <a:srgbClr val="FFFFFF"/>
                </a:solidFill>
                <a:latin typeface="Yu Gothic" pitchFamily="34" charset="0"/>
                <a:ea typeface="Yu Gothic" pitchFamily="34" charset="-122"/>
                <a:cs typeface="Yu Gothic" pitchFamily="34" charset="-120"/>
              </a:rPr>
              <a:t>「人」に</a:t>
            </a:r>
            <a:endParaRPr lang="en-US" sz="2800" dirty="0"/>
          </a:p>
          <a:p>
            <a:pPr indent="0" marL="0">
              <a:lnSpc>
                <a:spcPct val="130000"/>
              </a:lnSpc>
              <a:buNone/>
            </a:pPr>
            <a:r>
              <a:rPr lang="en-US" sz="2800" b="1" dirty="0">
                <a:solidFill>
                  <a:srgbClr val="FFFFFF"/>
                </a:solidFill>
                <a:latin typeface="Yu Gothic" pitchFamily="34" charset="0"/>
                <a:ea typeface="Yu Gothic" pitchFamily="34" charset="-122"/>
                <a:cs typeface="Yu Gothic" pitchFamily="34" charset="-120"/>
              </a:rPr>
              <a:t>頼らない経営へ</a:t>
            </a:r>
            <a:endParaRPr lang="en-US" sz="2800" dirty="0"/>
          </a:p>
        </p:txBody>
      </p:sp>
      <p:sp>
        <p:nvSpPr>
          <p:cNvPr id="12" name="Shape 9"/>
          <p:cNvSpPr/>
          <p:nvPr/>
        </p:nvSpPr>
        <p:spPr>
          <a:xfrm>
            <a:off x="1062533" y="3937406"/>
            <a:ext cx="713232" cy="25603"/>
          </a:xfrm>
          <a:prstGeom prst="rect">
            <a:avLst/>
          </a:prstGeom>
          <a:solidFill>
            <a:srgbClr val="C79A44"/>
          </a:solidFill>
          <a:ln/>
        </p:spPr>
      </p:sp>
      <p:sp>
        <p:nvSpPr>
          <p:cNvPr id="13" name="Text 10"/>
          <p:cNvSpPr/>
          <p:nvPr/>
        </p:nvSpPr>
        <p:spPr>
          <a:xfrm>
            <a:off x="1062533" y="4138574"/>
            <a:ext cx="3401568" cy="1188720"/>
          </a:xfrm>
          <a:prstGeom prst="rect">
            <a:avLst/>
          </a:prstGeom>
          <a:noFill/>
          <a:ln/>
        </p:spPr>
        <p:txBody>
          <a:bodyPr wrap="square" lIns="0" tIns="0" rIns="0" bIns="0" rtlCol="0" anchor="t"/>
          <a:lstStyle/>
          <a:p>
            <a:pPr indent="0" marL="0">
              <a:lnSpc>
                <a:spcPct val="150000"/>
              </a:lnSpc>
              <a:buNone/>
            </a:pPr>
            <a:r>
              <a:rPr lang="en-US" sz="1150" dirty="0">
                <a:solidFill>
                  <a:srgbClr val="AFC2B8"/>
                </a:solidFill>
                <a:latin typeface="Yu Gothic" pitchFamily="34" charset="0"/>
                <a:ea typeface="Yu Gothic" pitchFamily="34" charset="-122"/>
                <a:cs typeface="Yu Gothic" pitchFamily="34" charset="-120"/>
              </a:rPr>
              <a:t>スタッフの採用・教育・シフト管理という、店舗運営でもっとも重い変動要素を仕組みで置き換えます。</a:t>
            </a:r>
            <a:endParaRPr lang="en-US" sz="1150" dirty="0"/>
          </a:p>
        </p:txBody>
      </p:sp>
      <p:pic>
        <p:nvPicPr>
          <p:cNvPr id="14" name="Image 1" descr="/home/user/suzuki-ceo/selfcafe-partner-deck/assets/icons/LuUsers-pale.png">    </p:cNvPr>
          <p:cNvPicPr>
            <a:picLocks noChangeAspect="1"/>
          </p:cNvPicPr>
          <p:nvPr/>
        </p:nvPicPr>
        <p:blipFill>
          <a:blip r:embed="rId2"/>
          <a:stretch>
            <a:fillRect/>
          </a:stretch>
        </p:blipFill>
        <p:spPr>
          <a:xfrm>
            <a:off x="3824021" y="5052974"/>
            <a:ext cx="566928" cy="566928"/>
          </a:xfrm>
          <a:prstGeom prst="rect">
            <a:avLst/>
          </a:prstGeom>
        </p:spPr>
      </p:pic>
      <p:sp>
        <p:nvSpPr>
          <p:cNvPr id="15" name="Shape 11"/>
          <p:cNvSpPr/>
          <p:nvPr/>
        </p:nvSpPr>
        <p:spPr>
          <a:xfrm>
            <a:off x="5250485" y="1651406"/>
            <a:ext cx="6281014" cy="1316736"/>
          </a:xfrm>
          <a:prstGeom prst="roundRect">
            <a:avLst>
              <a:gd name="adj" fmla="val 4167"/>
            </a:avLst>
          </a:prstGeom>
          <a:solidFill>
            <a:srgbClr val="FFFFFF"/>
          </a:solidFill>
          <a:ln w="9525">
            <a:solidFill>
              <a:srgbClr val="EFEAE0"/>
            </a:solidFill>
            <a:prstDash val="solid"/>
          </a:ln>
        </p:spPr>
      </p:sp>
      <p:sp>
        <p:nvSpPr>
          <p:cNvPr id="16" name="Text 12"/>
          <p:cNvSpPr/>
          <p:nvPr/>
        </p:nvSpPr>
        <p:spPr>
          <a:xfrm>
            <a:off x="5524805" y="1925726"/>
            <a:ext cx="365760" cy="365760"/>
          </a:xfrm>
          <a:prstGeom prst="rect">
            <a:avLst/>
          </a:prstGeom>
          <a:noFill/>
          <a:ln/>
        </p:spPr>
        <p:txBody>
          <a:bodyPr wrap="square" lIns="0" tIns="0" rIns="0" bIns="0" rtlCol="0" anchor="ctr"/>
          <a:lstStyle/>
          <a:p>
            <a:pPr indent="0" marL="0">
              <a:buNone/>
            </a:pPr>
            <a:r>
              <a:rPr lang="en-US" sz="2200" b="1" dirty="0">
                <a:solidFill>
                  <a:srgbClr val="A9C6B5"/>
                </a:solidFill>
                <a:latin typeface="Arial" pitchFamily="34" charset="0"/>
                <a:ea typeface="Arial" pitchFamily="34" charset="-122"/>
                <a:cs typeface="Arial" pitchFamily="34" charset="-120"/>
              </a:rPr>
              <a:t>1</a:t>
            </a:r>
            <a:endParaRPr lang="en-US" sz="2200" dirty="0"/>
          </a:p>
        </p:txBody>
      </p:sp>
      <p:sp>
        <p:nvSpPr>
          <p:cNvPr id="17" name="Text 13"/>
          <p:cNvSpPr/>
          <p:nvPr/>
        </p:nvSpPr>
        <p:spPr>
          <a:xfrm>
            <a:off x="6000293" y="1907438"/>
            <a:ext cx="4817974" cy="365760"/>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管理・教育コストの大幅削減</a:t>
            </a:r>
            <a:endParaRPr lang="en-US" sz="1500" dirty="0"/>
          </a:p>
        </p:txBody>
      </p:sp>
      <p:sp>
        <p:nvSpPr>
          <p:cNvPr id="18" name="Text 14"/>
          <p:cNvSpPr/>
          <p:nvPr/>
        </p:nvSpPr>
        <p:spPr>
          <a:xfrm>
            <a:off x="6000293" y="2309774"/>
            <a:ext cx="5183734" cy="475488"/>
          </a:xfrm>
          <a:prstGeom prst="rect">
            <a:avLst/>
          </a:prstGeom>
          <a:noFill/>
          <a:ln/>
        </p:spPr>
        <p:txBody>
          <a:bodyPr wrap="square" lIns="0" tIns="0" rIns="0" bIns="0" rtlCol="0" anchor="t"/>
          <a:lstStyle/>
          <a:p>
            <a:pPr indent="0" marL="0">
              <a:lnSpc>
                <a:spcPct val="135000"/>
              </a:lnSpc>
              <a:buNone/>
            </a:pPr>
            <a:r>
              <a:rPr lang="en-US" sz="1050" dirty="0">
                <a:solidFill>
                  <a:srgbClr val="4B5550"/>
                </a:solidFill>
                <a:latin typeface="Yu Gothic" pitchFamily="34" charset="0"/>
                <a:ea typeface="Yu Gothic" pitchFamily="34" charset="-122"/>
                <a:cs typeface="Yu Gothic" pitchFamily="34" charset="-120"/>
              </a:rPr>
              <a:t>スタッフ管理に伴う工数や人的リスクを抑え、運営にかかる負担を軽減します。</a:t>
            </a:r>
            <a:endParaRPr lang="en-US" sz="1050" dirty="0"/>
          </a:p>
        </p:txBody>
      </p:sp>
      <p:pic>
        <p:nvPicPr>
          <p:cNvPr id="19" name="Image 2" descr="/home/user/suzuki-ceo/selfcafe-partner-deck/assets/icons/LuClipboardList-green.png">    </p:cNvPr>
          <p:cNvPicPr>
            <a:picLocks noChangeAspect="1"/>
          </p:cNvPicPr>
          <p:nvPr/>
        </p:nvPicPr>
        <p:blipFill>
          <a:blip r:embed="rId3"/>
          <a:stretch>
            <a:fillRect/>
          </a:stretch>
        </p:blipFill>
        <p:spPr>
          <a:xfrm>
            <a:off x="10873130" y="1925726"/>
            <a:ext cx="329184" cy="329184"/>
          </a:xfrm>
          <a:prstGeom prst="rect">
            <a:avLst/>
          </a:prstGeom>
        </p:spPr>
      </p:pic>
      <p:sp>
        <p:nvSpPr>
          <p:cNvPr id="20" name="Shape 15"/>
          <p:cNvSpPr/>
          <p:nvPr/>
        </p:nvSpPr>
        <p:spPr>
          <a:xfrm>
            <a:off x="5250485" y="3151022"/>
            <a:ext cx="6281014" cy="1316736"/>
          </a:xfrm>
          <a:prstGeom prst="roundRect">
            <a:avLst>
              <a:gd name="adj" fmla="val 4167"/>
            </a:avLst>
          </a:prstGeom>
          <a:solidFill>
            <a:srgbClr val="FFFFFF"/>
          </a:solidFill>
          <a:ln w="9525">
            <a:solidFill>
              <a:srgbClr val="EFEAE0"/>
            </a:solidFill>
            <a:prstDash val="solid"/>
          </a:ln>
        </p:spPr>
      </p:sp>
      <p:sp>
        <p:nvSpPr>
          <p:cNvPr id="21" name="Text 16"/>
          <p:cNvSpPr/>
          <p:nvPr/>
        </p:nvSpPr>
        <p:spPr>
          <a:xfrm>
            <a:off x="5524805" y="3425342"/>
            <a:ext cx="365760" cy="365760"/>
          </a:xfrm>
          <a:prstGeom prst="rect">
            <a:avLst/>
          </a:prstGeom>
          <a:noFill/>
          <a:ln/>
        </p:spPr>
        <p:txBody>
          <a:bodyPr wrap="square" lIns="0" tIns="0" rIns="0" bIns="0" rtlCol="0" anchor="ctr"/>
          <a:lstStyle/>
          <a:p>
            <a:pPr indent="0" marL="0">
              <a:buNone/>
            </a:pPr>
            <a:r>
              <a:rPr lang="en-US" sz="2200" b="1" dirty="0">
                <a:solidFill>
                  <a:srgbClr val="A9C6B5"/>
                </a:solidFill>
                <a:latin typeface="Arial" pitchFamily="34" charset="0"/>
                <a:ea typeface="Arial" pitchFamily="34" charset="-122"/>
                <a:cs typeface="Arial" pitchFamily="34" charset="-120"/>
              </a:rPr>
              <a:t>2</a:t>
            </a:r>
            <a:endParaRPr lang="en-US" sz="2200" dirty="0"/>
          </a:p>
        </p:txBody>
      </p:sp>
      <p:sp>
        <p:nvSpPr>
          <p:cNvPr id="22" name="Text 17"/>
          <p:cNvSpPr/>
          <p:nvPr/>
        </p:nvSpPr>
        <p:spPr>
          <a:xfrm>
            <a:off x="6000293" y="3407054"/>
            <a:ext cx="4817974" cy="365760"/>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省人力運営で、無駄な人件費をカット</a:t>
            </a:r>
            <a:endParaRPr lang="en-US" sz="1500" dirty="0"/>
          </a:p>
        </p:txBody>
      </p:sp>
      <p:sp>
        <p:nvSpPr>
          <p:cNvPr id="23" name="Text 18"/>
          <p:cNvSpPr/>
          <p:nvPr/>
        </p:nvSpPr>
        <p:spPr>
          <a:xfrm>
            <a:off x="6000293" y="3809390"/>
            <a:ext cx="5183734" cy="475488"/>
          </a:xfrm>
          <a:prstGeom prst="rect">
            <a:avLst/>
          </a:prstGeom>
          <a:noFill/>
          <a:ln/>
        </p:spPr>
        <p:txBody>
          <a:bodyPr wrap="square" lIns="0" tIns="0" rIns="0" bIns="0" rtlCol="0" anchor="t"/>
          <a:lstStyle/>
          <a:p>
            <a:pPr indent="0" marL="0">
              <a:lnSpc>
                <a:spcPct val="135000"/>
              </a:lnSpc>
              <a:buNone/>
            </a:pPr>
            <a:r>
              <a:rPr lang="en-US" sz="1050" dirty="0">
                <a:solidFill>
                  <a:srgbClr val="4B5550"/>
                </a:solidFill>
                <a:latin typeface="Yu Gothic" pitchFamily="34" charset="0"/>
                <a:ea typeface="Yu Gothic" pitchFamily="34" charset="-122"/>
                <a:cs typeface="Yu Gothic" pitchFamily="34" charset="-120"/>
              </a:rPr>
              <a:t>必要最小限の作業で回る仕組みにより、人件費を抑えながら安定した収益を確保できます。</a:t>
            </a:r>
            <a:endParaRPr lang="en-US" sz="1050" dirty="0"/>
          </a:p>
        </p:txBody>
      </p:sp>
      <p:pic>
        <p:nvPicPr>
          <p:cNvPr id="24" name="Image 3" descr="/home/user/suzuki-ceo/selfcafe-partner-deck/assets/icons/LuPiggyBank-green.png">    </p:cNvPr>
          <p:cNvPicPr>
            <a:picLocks noChangeAspect="1"/>
          </p:cNvPicPr>
          <p:nvPr/>
        </p:nvPicPr>
        <p:blipFill>
          <a:blip r:embed="rId4"/>
          <a:stretch>
            <a:fillRect/>
          </a:stretch>
        </p:blipFill>
        <p:spPr>
          <a:xfrm>
            <a:off x="10873130" y="3425342"/>
            <a:ext cx="329184" cy="329184"/>
          </a:xfrm>
          <a:prstGeom prst="rect">
            <a:avLst/>
          </a:prstGeom>
        </p:spPr>
      </p:pic>
      <p:sp>
        <p:nvSpPr>
          <p:cNvPr id="25" name="Shape 19"/>
          <p:cNvSpPr/>
          <p:nvPr/>
        </p:nvSpPr>
        <p:spPr>
          <a:xfrm>
            <a:off x="5250485" y="4650638"/>
            <a:ext cx="6281014" cy="1316736"/>
          </a:xfrm>
          <a:prstGeom prst="roundRect">
            <a:avLst>
              <a:gd name="adj" fmla="val 4167"/>
            </a:avLst>
          </a:prstGeom>
          <a:solidFill>
            <a:srgbClr val="FFFFFF"/>
          </a:solidFill>
          <a:ln w="9525">
            <a:solidFill>
              <a:srgbClr val="EFEAE0"/>
            </a:solidFill>
            <a:prstDash val="solid"/>
          </a:ln>
        </p:spPr>
      </p:sp>
      <p:sp>
        <p:nvSpPr>
          <p:cNvPr id="26" name="Text 20"/>
          <p:cNvSpPr/>
          <p:nvPr/>
        </p:nvSpPr>
        <p:spPr>
          <a:xfrm>
            <a:off x="5524805" y="4924958"/>
            <a:ext cx="365760" cy="365760"/>
          </a:xfrm>
          <a:prstGeom prst="rect">
            <a:avLst/>
          </a:prstGeom>
          <a:noFill/>
          <a:ln/>
        </p:spPr>
        <p:txBody>
          <a:bodyPr wrap="square" lIns="0" tIns="0" rIns="0" bIns="0" rtlCol="0" anchor="ctr"/>
          <a:lstStyle/>
          <a:p>
            <a:pPr indent="0" marL="0">
              <a:buNone/>
            </a:pPr>
            <a:r>
              <a:rPr lang="en-US" sz="2200" b="1" dirty="0">
                <a:solidFill>
                  <a:srgbClr val="A9C6B5"/>
                </a:solidFill>
                <a:latin typeface="Arial" pitchFamily="34" charset="0"/>
                <a:ea typeface="Arial" pitchFamily="34" charset="-122"/>
                <a:cs typeface="Arial" pitchFamily="34" charset="-120"/>
              </a:rPr>
              <a:t>3</a:t>
            </a:r>
            <a:endParaRPr lang="en-US" sz="2200" dirty="0"/>
          </a:p>
        </p:txBody>
      </p:sp>
      <p:sp>
        <p:nvSpPr>
          <p:cNvPr id="27" name="Text 21"/>
          <p:cNvSpPr/>
          <p:nvPr/>
        </p:nvSpPr>
        <p:spPr>
          <a:xfrm>
            <a:off x="6000293" y="4906670"/>
            <a:ext cx="4817974" cy="365760"/>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安定した収益と品質</a:t>
            </a:r>
            <a:endParaRPr lang="en-US" sz="1500" dirty="0"/>
          </a:p>
        </p:txBody>
      </p:sp>
      <p:sp>
        <p:nvSpPr>
          <p:cNvPr id="28" name="Text 22"/>
          <p:cNvSpPr/>
          <p:nvPr/>
        </p:nvSpPr>
        <p:spPr>
          <a:xfrm>
            <a:off x="6000293" y="5309006"/>
            <a:ext cx="5183734" cy="475488"/>
          </a:xfrm>
          <a:prstGeom prst="rect">
            <a:avLst/>
          </a:prstGeom>
          <a:noFill/>
          <a:ln/>
        </p:spPr>
        <p:txBody>
          <a:bodyPr wrap="square" lIns="0" tIns="0" rIns="0" bIns="0" rtlCol="0" anchor="t"/>
          <a:lstStyle/>
          <a:p>
            <a:pPr indent="0" marL="0">
              <a:lnSpc>
                <a:spcPct val="135000"/>
              </a:lnSpc>
              <a:buNone/>
            </a:pPr>
            <a:r>
              <a:rPr lang="en-US" sz="1050" dirty="0">
                <a:solidFill>
                  <a:srgbClr val="4B5550"/>
                </a:solidFill>
                <a:latin typeface="Yu Gothic" pitchFamily="34" charset="0"/>
                <a:ea typeface="Yu Gothic" pitchFamily="34" charset="-122"/>
                <a:cs typeface="Yu Gothic" pitchFamily="34" charset="-120"/>
              </a:rPr>
              <a:t>属人性を排除することで、常に均一したサービス品質を維持し、運営の安定性を高めます。</a:t>
            </a:r>
            <a:endParaRPr lang="en-US" sz="1050" dirty="0"/>
          </a:p>
        </p:txBody>
      </p:sp>
      <p:pic>
        <p:nvPicPr>
          <p:cNvPr id="29" name="Image 4" descr="/home/user/suzuki-ceo/selfcafe-partner-deck/assets/icons/LuBadgeCheck-green.png">    </p:cNvPr>
          <p:cNvPicPr>
            <a:picLocks noChangeAspect="1"/>
          </p:cNvPicPr>
          <p:nvPr/>
        </p:nvPicPr>
        <p:blipFill>
          <a:blip r:embed="rId5"/>
          <a:stretch>
            <a:fillRect/>
          </a:stretch>
        </p:blipFill>
        <p:spPr>
          <a:xfrm>
            <a:off x="10873130" y="4924958"/>
            <a:ext cx="329184" cy="3291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04</a:t>
            </a:r>
            <a:r>
              <a:rPr lang="en-US" sz="1050" b="1" dirty="0">
                <a:solidFill>
                  <a:srgbClr val="1B8149"/>
                </a:solidFill>
                <a:latin typeface="Yu Gothic" pitchFamily="34" charset="0"/>
                <a:ea typeface="Yu Gothic" pitchFamily="34" charset="-122"/>
                <a:cs typeface="Yu Gothic" pitchFamily="34" charset="-120"/>
              </a:rPr>
              <a:t>   不動産活用</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持ち物件オーナー様へ</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自社物件なら家賃コストがゼロ。売上をダイレクトに利益へ繋げられます。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05</a:t>
            </a:r>
            <a:endParaRPr lang="en-US" sz="1000" dirty="0"/>
          </a:p>
        </p:txBody>
      </p:sp>
      <p:sp>
        <p:nvSpPr>
          <p:cNvPr id="9" name="Shape 6"/>
          <p:cNvSpPr/>
          <p:nvPr/>
        </p:nvSpPr>
        <p:spPr>
          <a:xfrm>
            <a:off x="660197" y="1651406"/>
            <a:ext cx="2603297" cy="609905"/>
          </a:xfrm>
          <a:prstGeom prst="roundRect">
            <a:avLst>
              <a:gd name="adj" fmla="val 7496"/>
            </a:avLst>
          </a:prstGeom>
          <a:solidFill>
            <a:srgbClr val="F1F8F3"/>
          </a:solidFill>
          <a:ln w="9525">
            <a:solidFill>
              <a:srgbClr val="D2E7DA"/>
            </a:solidFill>
            <a:prstDash val="solid"/>
          </a:ln>
        </p:spPr>
      </p:sp>
      <p:sp>
        <p:nvSpPr>
          <p:cNvPr id="10" name="Text 7"/>
          <p:cNvSpPr/>
          <p:nvPr/>
        </p:nvSpPr>
        <p:spPr>
          <a:xfrm>
            <a:off x="825703" y="1727302"/>
            <a:ext cx="2274113" cy="279806"/>
          </a:xfrm>
          <a:prstGeom prst="rect">
            <a:avLst/>
          </a:prstGeom>
          <a:noFill/>
          <a:ln/>
        </p:spPr>
        <p:txBody>
          <a:bodyPr wrap="square" lIns="0" tIns="0" rIns="0" bIns="0" rtlCol="0" anchor="ctr"/>
          <a:lstStyle/>
          <a:p>
            <a:pPr indent="0" marL="0">
              <a:buNone/>
            </a:pPr>
            <a:r>
              <a:rPr lang="en-US" sz="2000" b="1" dirty="0">
                <a:solidFill>
                  <a:srgbClr val="106838"/>
                </a:solidFill>
                <a:latin typeface="Arial" pitchFamily="34" charset="0"/>
                <a:ea typeface="Arial" pitchFamily="34" charset="-122"/>
                <a:cs typeface="Arial" pitchFamily="34" charset="-120"/>
              </a:rPr>
              <a:t>0</a:t>
            </a:r>
            <a:r>
              <a:rPr lang="en-US" sz="1100" b="1" dirty="0">
                <a:solidFill>
                  <a:srgbClr val="106838"/>
                </a:solidFill>
                <a:latin typeface="Yu Gothic" pitchFamily="34" charset="0"/>
                <a:ea typeface="Yu Gothic" pitchFamily="34" charset="-122"/>
                <a:cs typeface="Yu Gothic" pitchFamily="34" charset="-120"/>
              </a:rPr>
              <a:t> 円</a:t>
            </a:r>
            <a:endParaRPr lang="en-US" sz="2000" dirty="0"/>
          </a:p>
        </p:txBody>
      </p:sp>
      <p:sp>
        <p:nvSpPr>
          <p:cNvPr id="11" name="Text 8"/>
          <p:cNvSpPr/>
          <p:nvPr/>
        </p:nvSpPr>
        <p:spPr>
          <a:xfrm>
            <a:off x="825703"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自社物件なら新規の家賃負担なし</a:t>
            </a:r>
            <a:endParaRPr lang="en-US" sz="900" dirty="0"/>
          </a:p>
        </p:txBody>
      </p:sp>
      <p:sp>
        <p:nvSpPr>
          <p:cNvPr id="12" name="Shape 9"/>
          <p:cNvSpPr/>
          <p:nvPr/>
        </p:nvSpPr>
        <p:spPr>
          <a:xfrm>
            <a:off x="3416198" y="1651406"/>
            <a:ext cx="2603297" cy="609905"/>
          </a:xfrm>
          <a:prstGeom prst="roundRect">
            <a:avLst>
              <a:gd name="adj" fmla="val 7496"/>
            </a:avLst>
          </a:prstGeom>
          <a:solidFill>
            <a:srgbClr val="F1F8F3"/>
          </a:solidFill>
          <a:ln w="9525">
            <a:solidFill>
              <a:srgbClr val="D2E7DA"/>
            </a:solidFill>
            <a:prstDash val="solid"/>
          </a:ln>
        </p:spPr>
      </p:sp>
      <p:sp>
        <p:nvSpPr>
          <p:cNvPr id="13" name="Text 10"/>
          <p:cNvSpPr/>
          <p:nvPr/>
        </p:nvSpPr>
        <p:spPr>
          <a:xfrm>
            <a:off x="3581705" y="1727302"/>
            <a:ext cx="2274113" cy="279806"/>
          </a:xfrm>
          <a:prstGeom prst="rect">
            <a:avLst/>
          </a:prstGeom>
          <a:noFill/>
          <a:ln/>
        </p:spPr>
        <p:txBody>
          <a:bodyPr wrap="square" lIns="0" tIns="0" rIns="0" bIns="0" rtlCol="0" anchor="ctr"/>
          <a:lstStyle/>
          <a:p>
            <a:pPr indent="0" marL="0">
              <a:buNone/>
            </a:pPr>
            <a:r>
              <a:rPr lang="en-US" sz="2000" b="1" dirty="0">
                <a:solidFill>
                  <a:srgbClr val="106838"/>
                </a:solidFill>
                <a:latin typeface="Arial" pitchFamily="34" charset="0"/>
                <a:ea typeface="Arial" pitchFamily="34" charset="-122"/>
                <a:cs typeface="Arial" pitchFamily="34" charset="-120"/>
              </a:rPr>
              <a:t>20</a:t>
            </a:r>
            <a:r>
              <a:rPr lang="en-US" sz="1100" b="1" dirty="0">
                <a:solidFill>
                  <a:srgbClr val="106838"/>
                </a:solidFill>
                <a:latin typeface="Yu Gothic" pitchFamily="34" charset="0"/>
                <a:ea typeface="Yu Gothic" pitchFamily="34" charset="-122"/>
                <a:cs typeface="Yu Gothic" pitchFamily="34" charset="-120"/>
              </a:rPr>
              <a:t> 坪〜</a:t>
            </a:r>
            <a:endParaRPr lang="en-US" sz="2000" dirty="0"/>
          </a:p>
        </p:txBody>
      </p:sp>
      <p:sp>
        <p:nvSpPr>
          <p:cNvPr id="14" name="Text 11"/>
          <p:cNvSpPr/>
          <p:nvPr/>
        </p:nvSpPr>
        <p:spPr>
          <a:xfrm>
            <a:off x="3581705"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必要面積の目安（40席想定）</a:t>
            </a:r>
            <a:endParaRPr lang="en-US" sz="900" dirty="0"/>
          </a:p>
        </p:txBody>
      </p:sp>
      <p:sp>
        <p:nvSpPr>
          <p:cNvPr id="15" name="Shape 12"/>
          <p:cNvSpPr/>
          <p:nvPr/>
        </p:nvSpPr>
        <p:spPr>
          <a:xfrm>
            <a:off x="6172200" y="1651406"/>
            <a:ext cx="2603297" cy="609905"/>
          </a:xfrm>
          <a:prstGeom prst="roundRect">
            <a:avLst>
              <a:gd name="adj" fmla="val 7496"/>
            </a:avLst>
          </a:prstGeom>
          <a:solidFill>
            <a:srgbClr val="F1F8F3"/>
          </a:solidFill>
          <a:ln w="9525">
            <a:solidFill>
              <a:srgbClr val="D2E7DA"/>
            </a:solidFill>
            <a:prstDash val="solid"/>
          </a:ln>
        </p:spPr>
      </p:sp>
      <p:sp>
        <p:nvSpPr>
          <p:cNvPr id="16" name="Text 13"/>
          <p:cNvSpPr/>
          <p:nvPr/>
        </p:nvSpPr>
        <p:spPr>
          <a:xfrm>
            <a:off x="6337706" y="1727302"/>
            <a:ext cx="2274113" cy="279806"/>
          </a:xfrm>
          <a:prstGeom prst="rect">
            <a:avLst/>
          </a:prstGeom>
          <a:noFill/>
          <a:ln/>
        </p:spPr>
        <p:txBody>
          <a:bodyPr wrap="square" lIns="0" tIns="0" rIns="0" bIns="0" rtlCol="0" anchor="ctr"/>
          <a:lstStyle/>
          <a:p>
            <a:pPr indent="0" marL="0">
              <a:buNone/>
            </a:pPr>
            <a:r>
              <a:rPr lang="en-US" sz="2000" b="1" dirty="0">
                <a:solidFill>
                  <a:srgbClr val="106838"/>
                </a:solidFill>
                <a:latin typeface="Arial" pitchFamily="34" charset="0"/>
                <a:ea typeface="Arial" pitchFamily="34" charset="-122"/>
                <a:cs typeface="Arial" pitchFamily="34" charset="-120"/>
              </a:rPr>
              <a:t>650</a:t>
            </a:r>
            <a:r>
              <a:rPr lang="en-US" sz="1100" b="1" dirty="0">
                <a:solidFill>
                  <a:srgbClr val="106838"/>
                </a:solidFill>
                <a:latin typeface="Yu Gothic" pitchFamily="34" charset="0"/>
                <a:ea typeface="Yu Gothic" pitchFamily="34" charset="-122"/>
                <a:cs typeface="Yu Gothic" pitchFamily="34" charset="-120"/>
              </a:rPr>
              <a:t> 万円〜</a:t>
            </a:r>
            <a:endParaRPr lang="en-US" sz="2000" dirty="0"/>
          </a:p>
        </p:txBody>
      </p:sp>
      <p:sp>
        <p:nvSpPr>
          <p:cNvPr id="17" name="Text 14"/>
          <p:cNvSpPr/>
          <p:nvPr/>
        </p:nvSpPr>
        <p:spPr>
          <a:xfrm>
            <a:off x="6337706"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初期費用（居抜き・20坪想定）</a:t>
            </a:r>
            <a:endParaRPr lang="en-US" sz="900" dirty="0"/>
          </a:p>
        </p:txBody>
      </p:sp>
      <p:sp>
        <p:nvSpPr>
          <p:cNvPr id="18" name="Shape 15"/>
          <p:cNvSpPr/>
          <p:nvPr/>
        </p:nvSpPr>
        <p:spPr>
          <a:xfrm>
            <a:off x="8928202" y="1651406"/>
            <a:ext cx="2603297" cy="609905"/>
          </a:xfrm>
          <a:prstGeom prst="roundRect">
            <a:avLst>
              <a:gd name="adj" fmla="val 7496"/>
            </a:avLst>
          </a:prstGeom>
          <a:solidFill>
            <a:srgbClr val="F1F8F3"/>
          </a:solidFill>
          <a:ln w="9525">
            <a:solidFill>
              <a:srgbClr val="D2E7DA"/>
            </a:solidFill>
            <a:prstDash val="solid"/>
          </a:ln>
        </p:spPr>
      </p:sp>
      <p:sp>
        <p:nvSpPr>
          <p:cNvPr id="19" name="Text 16"/>
          <p:cNvSpPr/>
          <p:nvPr/>
        </p:nvSpPr>
        <p:spPr>
          <a:xfrm>
            <a:off x="9093708" y="1727302"/>
            <a:ext cx="2274113" cy="279806"/>
          </a:xfrm>
          <a:prstGeom prst="rect">
            <a:avLst/>
          </a:prstGeom>
          <a:noFill/>
          <a:ln/>
        </p:spPr>
        <p:txBody>
          <a:bodyPr wrap="square" lIns="0" tIns="0" rIns="0" bIns="0" rtlCol="0" anchor="ctr"/>
          <a:lstStyle/>
          <a:p>
            <a:pPr indent="0" marL="0">
              <a:buNone/>
            </a:pPr>
            <a:r>
              <a:rPr lang="en-US" sz="2000" b="1" dirty="0">
                <a:solidFill>
                  <a:srgbClr val="106838"/>
                </a:solidFill>
                <a:latin typeface="Arial" pitchFamily="34" charset="0"/>
                <a:ea typeface="Arial" pitchFamily="34" charset="-122"/>
                <a:cs typeface="Arial" pitchFamily="34" charset="-120"/>
              </a:rPr>
              <a:t>15</a:t>
            </a:r>
            <a:r>
              <a:rPr lang="en-US" sz="1100" b="1" dirty="0">
                <a:solidFill>
                  <a:srgbClr val="106838"/>
                </a:solidFill>
                <a:latin typeface="Yu Gothic" pitchFamily="34" charset="0"/>
                <a:ea typeface="Yu Gothic" pitchFamily="34" charset="-122"/>
                <a:cs typeface="Yu Gothic" pitchFamily="34" charset="-120"/>
              </a:rPr>
              <a:t> 分／日</a:t>
            </a:r>
            <a:endParaRPr lang="en-US" sz="2000" dirty="0"/>
          </a:p>
        </p:txBody>
      </p:sp>
      <p:sp>
        <p:nvSpPr>
          <p:cNvPr id="20" name="Text 17"/>
          <p:cNvSpPr/>
          <p:nvPr/>
        </p:nvSpPr>
        <p:spPr>
          <a:xfrm>
            <a:off x="9093708"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日常のオーナー業務（清掃・補充）</a:t>
            </a:r>
            <a:endParaRPr lang="en-US" sz="900" dirty="0"/>
          </a:p>
        </p:txBody>
      </p:sp>
      <p:sp>
        <p:nvSpPr>
          <p:cNvPr id="21" name="Shape 18"/>
          <p:cNvSpPr/>
          <p:nvPr/>
        </p:nvSpPr>
        <p:spPr>
          <a:xfrm>
            <a:off x="660197" y="2492654"/>
            <a:ext cx="5243627" cy="2231136"/>
          </a:xfrm>
          <a:prstGeom prst="roundRect">
            <a:avLst>
              <a:gd name="adj" fmla="val 2459"/>
            </a:avLst>
          </a:prstGeom>
          <a:solidFill>
            <a:srgbClr val="FFFFFF"/>
          </a:solidFill>
          <a:ln w="9525">
            <a:solidFill>
              <a:srgbClr val="EFEAE0"/>
            </a:solidFill>
            <a:prstDash val="solid"/>
          </a:ln>
        </p:spPr>
      </p:sp>
      <p:pic>
        <p:nvPicPr>
          <p:cNvPr id="22" name="Image 1" descr="/home/user/suzuki-ceo/selfcafe-partner-deck/assets/icons/LuCoins-green.png">    </p:cNvPr>
          <p:cNvPicPr>
            <a:picLocks noChangeAspect="1"/>
          </p:cNvPicPr>
          <p:nvPr/>
        </p:nvPicPr>
        <p:blipFill>
          <a:blip r:embed="rId2"/>
          <a:stretch>
            <a:fillRect/>
          </a:stretch>
        </p:blipFill>
        <p:spPr>
          <a:xfrm>
            <a:off x="934517" y="2766974"/>
            <a:ext cx="384048" cy="384048"/>
          </a:xfrm>
          <a:prstGeom prst="rect">
            <a:avLst/>
          </a:prstGeom>
        </p:spPr>
      </p:pic>
      <p:sp>
        <p:nvSpPr>
          <p:cNvPr id="23" name="Text 19"/>
          <p:cNvSpPr/>
          <p:nvPr/>
        </p:nvSpPr>
        <p:spPr>
          <a:xfrm>
            <a:off x="1464869" y="2748686"/>
            <a:ext cx="4164635" cy="402336"/>
          </a:xfrm>
          <a:prstGeom prst="rect">
            <a:avLst/>
          </a:prstGeom>
          <a:noFill/>
          <a:ln/>
        </p:spPr>
        <p:txBody>
          <a:bodyPr wrap="square" lIns="0" tIns="0" rIns="0" bIns="0" rtlCol="0" anchor="ctr"/>
          <a:lstStyle/>
          <a:p>
            <a:pPr indent="0" marL="0">
              <a:buNone/>
            </a:pPr>
            <a:r>
              <a:rPr lang="en-US" sz="1700" b="1" dirty="0">
                <a:solidFill>
                  <a:srgbClr val="0A3D23"/>
                </a:solidFill>
                <a:latin typeface="Yu Gothic" pitchFamily="34" charset="0"/>
                <a:ea typeface="Yu Gothic" pitchFamily="34" charset="-122"/>
                <a:cs typeface="Yu Gothic" pitchFamily="34" charset="-120"/>
              </a:rPr>
              <a:t>高い営業利益率</a:t>
            </a:r>
            <a:endParaRPr lang="en-US" sz="1700" dirty="0"/>
          </a:p>
        </p:txBody>
      </p:sp>
      <p:sp>
        <p:nvSpPr>
          <p:cNvPr id="24" name="Text 20"/>
          <p:cNvSpPr/>
          <p:nvPr/>
        </p:nvSpPr>
        <p:spPr>
          <a:xfrm>
            <a:off x="934517" y="3242462"/>
            <a:ext cx="4694987" cy="548640"/>
          </a:xfrm>
          <a:prstGeom prst="rect">
            <a:avLst/>
          </a:prstGeom>
          <a:noFill/>
          <a:ln/>
        </p:spPr>
        <p:txBody>
          <a:bodyPr wrap="square" lIns="0" tIns="0" rIns="0" bIns="0" rtlCol="0" anchor="t"/>
          <a:lstStyle/>
          <a:p>
            <a:pPr indent="0" marL="0">
              <a:lnSpc>
                <a:spcPct val="140000"/>
              </a:lnSpc>
              <a:buNone/>
            </a:pPr>
            <a:r>
              <a:rPr lang="en-US" sz="1100" dirty="0">
                <a:solidFill>
                  <a:srgbClr val="4B5550"/>
                </a:solidFill>
                <a:latin typeface="Yu Gothic" pitchFamily="34" charset="0"/>
                <a:ea typeface="Yu Gothic" pitchFamily="34" charset="-122"/>
                <a:cs typeface="Yu Gothic" pitchFamily="34" charset="-120"/>
              </a:rPr>
              <a:t>自社物件なら「家賃コスト」がゼロ。固定費を抑え、売上をダイレクトに利益へ繋げます。</a:t>
            </a:r>
            <a:endParaRPr lang="en-US" sz="1100" dirty="0"/>
          </a:p>
        </p:txBody>
      </p:sp>
      <p:sp>
        <p:nvSpPr>
          <p:cNvPr id="25" name="Shape 21"/>
          <p:cNvSpPr/>
          <p:nvPr/>
        </p:nvSpPr>
        <p:spPr>
          <a:xfrm>
            <a:off x="934517" y="3845966"/>
            <a:ext cx="4694987" cy="10058"/>
          </a:xfrm>
          <a:prstGeom prst="rect">
            <a:avLst/>
          </a:prstGeom>
          <a:solidFill>
            <a:srgbClr val="EFEAE0"/>
          </a:solidFill>
          <a:ln/>
        </p:spPr>
      </p:sp>
      <p:pic>
        <p:nvPicPr>
          <p:cNvPr id="26" name="Image 2" descr="/home/user/suzuki-ceo/selfcafe-partner-deck/assets/icons/LuCheck-green.png">    </p:cNvPr>
          <p:cNvPicPr>
            <a:picLocks noChangeAspect="1"/>
          </p:cNvPicPr>
          <p:nvPr/>
        </p:nvPicPr>
        <p:blipFill>
          <a:blip r:embed="rId3"/>
          <a:stretch>
            <a:fillRect/>
          </a:stretch>
        </p:blipFill>
        <p:spPr>
          <a:xfrm>
            <a:off x="952805" y="3983126"/>
            <a:ext cx="164592" cy="164592"/>
          </a:xfrm>
          <a:prstGeom prst="rect">
            <a:avLst/>
          </a:prstGeom>
        </p:spPr>
      </p:pic>
      <p:sp>
        <p:nvSpPr>
          <p:cNvPr id="27" name="Text 22"/>
          <p:cNvSpPr/>
          <p:nvPr/>
        </p:nvSpPr>
        <p:spPr>
          <a:xfrm>
            <a:off x="1208837" y="3955694"/>
            <a:ext cx="4420667" cy="219456"/>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家賃という最大の固定費が不要</a:t>
            </a:r>
            <a:endParaRPr lang="en-US" sz="1000" dirty="0"/>
          </a:p>
        </p:txBody>
      </p:sp>
      <p:pic>
        <p:nvPicPr>
          <p:cNvPr id="28" name="Image 3" descr="/home/user/suzuki-ceo/selfcafe-partner-deck/assets/icons/LuCheck-green.png">    </p:cNvPr>
          <p:cNvPicPr>
            <a:picLocks noChangeAspect="1"/>
          </p:cNvPicPr>
          <p:nvPr/>
        </p:nvPicPr>
        <p:blipFill>
          <a:blip r:embed="rId4"/>
          <a:stretch>
            <a:fillRect/>
          </a:stretch>
        </p:blipFill>
        <p:spPr>
          <a:xfrm>
            <a:off x="952805" y="4220870"/>
            <a:ext cx="164592" cy="164592"/>
          </a:xfrm>
          <a:prstGeom prst="rect">
            <a:avLst/>
          </a:prstGeom>
        </p:spPr>
      </p:pic>
      <p:sp>
        <p:nvSpPr>
          <p:cNvPr id="29" name="Text 23"/>
          <p:cNvSpPr/>
          <p:nvPr/>
        </p:nvSpPr>
        <p:spPr>
          <a:xfrm>
            <a:off x="1208837" y="4193438"/>
            <a:ext cx="4420667" cy="219456"/>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空室期間の機会損失を収益に転換</a:t>
            </a:r>
            <a:endParaRPr lang="en-US" sz="1000" dirty="0"/>
          </a:p>
        </p:txBody>
      </p:sp>
      <p:pic>
        <p:nvPicPr>
          <p:cNvPr id="30" name="Image 4" descr="/home/user/suzuki-ceo/selfcafe-partner-deck/assets/icons/LuCheck-green.png">    </p:cNvPr>
          <p:cNvPicPr>
            <a:picLocks noChangeAspect="1"/>
          </p:cNvPicPr>
          <p:nvPr/>
        </p:nvPicPr>
        <p:blipFill>
          <a:blip r:embed="rId5"/>
          <a:stretch>
            <a:fillRect/>
          </a:stretch>
        </p:blipFill>
        <p:spPr>
          <a:xfrm>
            <a:off x="952805" y="4458614"/>
            <a:ext cx="164592" cy="164592"/>
          </a:xfrm>
          <a:prstGeom prst="rect">
            <a:avLst/>
          </a:prstGeom>
        </p:spPr>
      </p:pic>
      <p:sp>
        <p:nvSpPr>
          <p:cNvPr id="31" name="Text 24"/>
          <p:cNvSpPr/>
          <p:nvPr/>
        </p:nvSpPr>
        <p:spPr>
          <a:xfrm>
            <a:off x="1208837" y="4431182"/>
            <a:ext cx="4420667" cy="219456"/>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テナント誘致に頼らない自社運用</a:t>
            </a:r>
            <a:endParaRPr lang="en-US" sz="1000" dirty="0"/>
          </a:p>
        </p:txBody>
      </p:sp>
      <p:sp>
        <p:nvSpPr>
          <p:cNvPr id="32" name="Shape 25"/>
          <p:cNvSpPr/>
          <p:nvPr/>
        </p:nvSpPr>
        <p:spPr>
          <a:xfrm>
            <a:off x="6287872" y="2492654"/>
            <a:ext cx="5243627" cy="2231136"/>
          </a:xfrm>
          <a:prstGeom prst="roundRect">
            <a:avLst>
              <a:gd name="adj" fmla="val 2459"/>
            </a:avLst>
          </a:prstGeom>
          <a:solidFill>
            <a:srgbClr val="FFFFFF"/>
          </a:solidFill>
          <a:ln w="9525">
            <a:solidFill>
              <a:srgbClr val="EFEAE0"/>
            </a:solidFill>
            <a:prstDash val="solid"/>
          </a:ln>
        </p:spPr>
      </p:sp>
      <p:pic>
        <p:nvPicPr>
          <p:cNvPr id="33" name="Image 5" descr="/home/user/suzuki-ceo/selfcafe-partner-deck/assets/icons/LuShoppingBag-green.png">    </p:cNvPr>
          <p:cNvPicPr>
            <a:picLocks noChangeAspect="1"/>
          </p:cNvPicPr>
          <p:nvPr/>
        </p:nvPicPr>
        <p:blipFill>
          <a:blip r:embed="rId6"/>
          <a:stretch>
            <a:fillRect/>
          </a:stretch>
        </p:blipFill>
        <p:spPr>
          <a:xfrm>
            <a:off x="6562192" y="2766974"/>
            <a:ext cx="384048" cy="384048"/>
          </a:xfrm>
          <a:prstGeom prst="rect">
            <a:avLst/>
          </a:prstGeom>
        </p:spPr>
      </p:pic>
      <p:sp>
        <p:nvSpPr>
          <p:cNvPr id="34" name="Text 26"/>
          <p:cNvSpPr/>
          <p:nvPr/>
        </p:nvSpPr>
        <p:spPr>
          <a:xfrm>
            <a:off x="7092544" y="2748686"/>
            <a:ext cx="4164635" cy="402336"/>
          </a:xfrm>
          <a:prstGeom prst="rect">
            <a:avLst/>
          </a:prstGeom>
          <a:noFill/>
          <a:ln/>
        </p:spPr>
        <p:txBody>
          <a:bodyPr wrap="square" lIns="0" tIns="0" rIns="0" bIns="0" rtlCol="0" anchor="ctr"/>
          <a:lstStyle/>
          <a:p>
            <a:pPr indent="0" marL="0">
              <a:buNone/>
            </a:pPr>
            <a:r>
              <a:rPr lang="en-US" sz="1700" b="1" dirty="0">
                <a:solidFill>
                  <a:srgbClr val="0A3D23"/>
                </a:solidFill>
                <a:latin typeface="Yu Gothic" pitchFamily="34" charset="0"/>
                <a:ea typeface="Yu Gothic" pitchFamily="34" charset="-122"/>
                <a:cs typeface="Yu Gothic" pitchFamily="34" charset="-120"/>
              </a:rPr>
              <a:t>相乗効果</a:t>
            </a:r>
            <a:endParaRPr lang="en-US" sz="1700" dirty="0"/>
          </a:p>
        </p:txBody>
      </p:sp>
      <p:sp>
        <p:nvSpPr>
          <p:cNvPr id="35" name="Text 27"/>
          <p:cNvSpPr/>
          <p:nvPr/>
        </p:nvSpPr>
        <p:spPr>
          <a:xfrm>
            <a:off x="6562192" y="3242462"/>
            <a:ext cx="4694987" cy="548640"/>
          </a:xfrm>
          <a:prstGeom prst="rect">
            <a:avLst/>
          </a:prstGeom>
          <a:noFill/>
          <a:ln/>
        </p:spPr>
        <p:txBody>
          <a:bodyPr wrap="square" lIns="0" tIns="0" rIns="0" bIns="0" rtlCol="0" anchor="t"/>
          <a:lstStyle/>
          <a:p>
            <a:pPr indent="0" marL="0">
              <a:lnSpc>
                <a:spcPct val="140000"/>
              </a:lnSpc>
              <a:buNone/>
            </a:pPr>
            <a:r>
              <a:rPr lang="en-US" sz="1100" dirty="0">
                <a:solidFill>
                  <a:srgbClr val="4B5550"/>
                </a:solidFill>
                <a:latin typeface="Yu Gothic" pitchFamily="34" charset="0"/>
                <a:ea typeface="Yu Gothic" pitchFamily="34" charset="-122"/>
                <a:cs typeface="Yu Gothic" pitchFamily="34" charset="-120"/>
              </a:rPr>
              <a:t>既存事業の「待ち時間」解消や、新規集客のフックとして、カフェは最適の組み合わせです。</a:t>
            </a:r>
            <a:endParaRPr lang="en-US" sz="1100" dirty="0"/>
          </a:p>
        </p:txBody>
      </p:sp>
      <p:sp>
        <p:nvSpPr>
          <p:cNvPr id="36" name="Shape 28"/>
          <p:cNvSpPr/>
          <p:nvPr/>
        </p:nvSpPr>
        <p:spPr>
          <a:xfrm>
            <a:off x="6562192" y="3845966"/>
            <a:ext cx="4694987" cy="10058"/>
          </a:xfrm>
          <a:prstGeom prst="rect">
            <a:avLst/>
          </a:prstGeom>
          <a:solidFill>
            <a:srgbClr val="EFEAE0"/>
          </a:solidFill>
          <a:ln/>
        </p:spPr>
      </p:sp>
      <p:pic>
        <p:nvPicPr>
          <p:cNvPr id="37" name="Image 6" descr="/home/user/suzuki-ceo/selfcafe-partner-deck/assets/icons/LuCheck-green.png">    </p:cNvPr>
          <p:cNvPicPr>
            <a:picLocks noChangeAspect="1"/>
          </p:cNvPicPr>
          <p:nvPr/>
        </p:nvPicPr>
        <p:blipFill>
          <a:blip r:embed="rId7"/>
          <a:stretch>
            <a:fillRect/>
          </a:stretch>
        </p:blipFill>
        <p:spPr>
          <a:xfrm>
            <a:off x="6580480" y="3983126"/>
            <a:ext cx="164592" cy="164592"/>
          </a:xfrm>
          <a:prstGeom prst="rect">
            <a:avLst/>
          </a:prstGeom>
        </p:spPr>
      </p:pic>
      <p:sp>
        <p:nvSpPr>
          <p:cNvPr id="38" name="Text 29"/>
          <p:cNvSpPr/>
          <p:nvPr/>
        </p:nvSpPr>
        <p:spPr>
          <a:xfrm>
            <a:off x="6836512" y="3955694"/>
            <a:ext cx="4420667" cy="219456"/>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書店・美容室・整体院・病院の待合と好相性</a:t>
            </a:r>
            <a:endParaRPr lang="en-US" sz="1000" dirty="0"/>
          </a:p>
        </p:txBody>
      </p:sp>
      <p:pic>
        <p:nvPicPr>
          <p:cNvPr id="39" name="Image 7" descr="/home/user/suzuki-ceo/selfcafe-partner-deck/assets/icons/LuCheck-green.png">    </p:cNvPr>
          <p:cNvPicPr>
            <a:picLocks noChangeAspect="1"/>
          </p:cNvPicPr>
          <p:nvPr/>
        </p:nvPicPr>
        <p:blipFill>
          <a:blip r:embed="rId8"/>
          <a:stretch>
            <a:fillRect/>
          </a:stretch>
        </p:blipFill>
        <p:spPr>
          <a:xfrm>
            <a:off x="6580480" y="4220870"/>
            <a:ext cx="164592" cy="164592"/>
          </a:xfrm>
          <a:prstGeom prst="rect">
            <a:avLst/>
          </a:prstGeom>
        </p:spPr>
      </p:pic>
      <p:sp>
        <p:nvSpPr>
          <p:cNvPr id="40" name="Text 30"/>
          <p:cNvSpPr/>
          <p:nvPr/>
        </p:nvSpPr>
        <p:spPr>
          <a:xfrm>
            <a:off x="6836512" y="4193438"/>
            <a:ext cx="4420667" cy="219456"/>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「カフェ」で検索されて新規客に見つかる</a:t>
            </a:r>
            <a:endParaRPr lang="en-US" sz="1000" dirty="0"/>
          </a:p>
        </p:txBody>
      </p:sp>
      <p:pic>
        <p:nvPicPr>
          <p:cNvPr id="41" name="Image 8" descr="/home/user/suzuki-ceo/selfcafe-partner-deck/assets/icons/LuCheck-green.png">    </p:cNvPr>
          <p:cNvPicPr>
            <a:picLocks noChangeAspect="1"/>
          </p:cNvPicPr>
          <p:nvPr/>
        </p:nvPicPr>
        <p:blipFill>
          <a:blip r:embed="rId9"/>
          <a:stretch>
            <a:fillRect/>
          </a:stretch>
        </p:blipFill>
        <p:spPr>
          <a:xfrm>
            <a:off x="6580480" y="4458614"/>
            <a:ext cx="164592" cy="164592"/>
          </a:xfrm>
          <a:prstGeom prst="rect">
            <a:avLst/>
          </a:prstGeom>
        </p:spPr>
      </p:pic>
      <p:sp>
        <p:nvSpPr>
          <p:cNvPr id="42" name="Text 31"/>
          <p:cNvSpPr/>
          <p:nvPr/>
        </p:nvSpPr>
        <p:spPr>
          <a:xfrm>
            <a:off x="6836512" y="4431182"/>
            <a:ext cx="4420667" cy="219456"/>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滞在時間が伸び、ついで買いが生まれる</a:t>
            </a:r>
            <a:endParaRPr lang="en-US" sz="1000" dirty="0"/>
          </a:p>
        </p:txBody>
      </p:sp>
      <p:pic>
        <p:nvPicPr>
          <p:cNvPr id="43" name="Image 9" descr="/home/user/suzuki-ceo/selfcafe-partner-deck/assets/photos/p05-install.jpg">    </p:cNvPr>
          <p:cNvPicPr>
            <a:picLocks noChangeAspect="1"/>
          </p:cNvPicPr>
          <p:nvPr/>
        </p:nvPicPr>
        <p:blipFill>
          <a:blip r:embed="rId10"/>
          <a:srcRect l="0" r="0" t="0" b="0"/>
          <a:stretch/>
        </p:blipFill>
        <p:spPr>
          <a:xfrm>
            <a:off x="660197" y="4924958"/>
            <a:ext cx="10871302" cy="1481328"/>
          </a:xfrm>
          <a:prstGeom prst="rect">
            <a:avLst/>
          </a:prstGeom>
        </p:spPr>
      </p:pic>
      <p:sp>
        <p:nvSpPr>
          <p:cNvPr id="44" name="Shape 32"/>
          <p:cNvSpPr/>
          <p:nvPr/>
        </p:nvSpPr>
        <p:spPr>
          <a:xfrm>
            <a:off x="660197" y="4924958"/>
            <a:ext cx="10871302" cy="1481328"/>
          </a:xfrm>
          <a:prstGeom prst="rect">
            <a:avLst/>
          </a:prstGeom>
          <a:ln w="12700">
            <a:solidFill>
              <a:srgbClr val="D8D2C6"/>
            </a:solidFill>
            <a:prstDash val="solid"/>
          </a:ln>
        </p:spPr>
      </p:sp>
      <p:sp>
        <p:nvSpPr>
          <p:cNvPr id="45" name="Shape 33"/>
          <p:cNvSpPr/>
          <p:nvPr/>
        </p:nvSpPr>
        <p:spPr>
          <a:xfrm>
            <a:off x="788213" y="5949086"/>
            <a:ext cx="3058160" cy="329184"/>
          </a:xfrm>
          <a:prstGeom prst="roundRect">
            <a:avLst>
              <a:gd name="adj" fmla="val 13889"/>
            </a:avLst>
          </a:prstGeom>
          <a:solidFill>
            <a:srgbClr val="FFFFFF">
              <a:alpha val="90000"/>
            </a:srgbClr>
          </a:solidFill>
          <a:ln/>
        </p:spPr>
      </p:sp>
      <p:sp>
        <p:nvSpPr>
          <p:cNvPr id="46" name="Text 34"/>
          <p:cNvSpPr/>
          <p:nvPr/>
        </p:nvSpPr>
        <p:spPr>
          <a:xfrm>
            <a:off x="952805" y="5949086"/>
            <a:ext cx="2783840" cy="329184"/>
          </a:xfrm>
          <a:prstGeom prst="rect">
            <a:avLst/>
          </a:prstGeom>
          <a:noFill/>
          <a:ln/>
        </p:spPr>
        <p:txBody>
          <a:bodyPr wrap="square" lIns="0" tIns="0" rIns="0" bIns="0" rtlCol="0" anchor="ctr"/>
          <a:lstStyle/>
          <a:p>
            <a:pPr indent="0" marL="0">
              <a:buNone/>
            </a:pPr>
            <a:r>
              <a:rPr lang="en-US" sz="1000" b="1" dirty="0">
                <a:solidFill>
                  <a:srgbClr val="0A3D23"/>
                </a:solidFill>
                <a:latin typeface="Yu Gothic" pitchFamily="34" charset="0"/>
                <a:ea typeface="Yu Gothic" pitchFamily="34" charset="-122"/>
                <a:cs typeface="Yu Gothic" pitchFamily="34" charset="-120"/>
              </a:rPr>
              <a:t>自社物件への設置イメージ／併設店舗の外観</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05</a:t>
            </a:r>
            <a:r>
              <a:rPr lang="en-US" sz="1050" b="1" dirty="0">
                <a:solidFill>
                  <a:srgbClr val="1B8149"/>
                </a:solidFill>
                <a:latin typeface="Yu Gothic" pitchFamily="34" charset="0"/>
                <a:ea typeface="Yu Gothic" pitchFamily="34" charset="-122"/>
                <a:cs typeface="Yu Gothic" pitchFamily="34" charset="-120"/>
              </a:rPr>
              <a:t>   活用可能性</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カフェの先にある、場所の可能性</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「集客できる」で終わらせず、その場所で何ができるかを一緒に設計します。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06</a:t>
            </a:r>
            <a:endParaRPr lang="en-US" sz="1000" dirty="0"/>
          </a:p>
        </p:txBody>
      </p:sp>
      <p:sp>
        <p:nvSpPr>
          <p:cNvPr id="9" name="Shape 6"/>
          <p:cNvSpPr/>
          <p:nvPr/>
        </p:nvSpPr>
        <p:spPr>
          <a:xfrm>
            <a:off x="660197" y="1651406"/>
            <a:ext cx="3453079" cy="2395728"/>
          </a:xfrm>
          <a:prstGeom prst="roundRect">
            <a:avLst>
              <a:gd name="adj" fmla="val 2290"/>
            </a:avLst>
          </a:prstGeom>
          <a:solidFill>
            <a:srgbClr val="FFFFFF"/>
          </a:solidFill>
          <a:ln w="9525">
            <a:solidFill>
              <a:srgbClr val="EFEAE0"/>
            </a:solidFill>
            <a:prstDash val="solid"/>
          </a:ln>
        </p:spPr>
      </p:sp>
      <p:sp>
        <p:nvSpPr>
          <p:cNvPr id="10" name="Text 7"/>
          <p:cNvSpPr/>
          <p:nvPr/>
        </p:nvSpPr>
        <p:spPr>
          <a:xfrm>
            <a:off x="934517"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USE 01</a:t>
            </a:r>
            <a:endParaRPr lang="en-US" sz="900" dirty="0"/>
          </a:p>
        </p:txBody>
      </p:sp>
      <p:pic>
        <p:nvPicPr>
          <p:cNvPr id="11" name="Image 1" descr="/home/user/suzuki-ceo/selfcafe-partner-deck/assets/icons/LuUsers-green.png">    </p:cNvPr>
          <p:cNvPicPr>
            <a:picLocks noChangeAspect="1"/>
          </p:cNvPicPr>
          <p:nvPr/>
        </p:nvPicPr>
        <p:blipFill>
          <a:blip r:embed="rId2"/>
          <a:stretch>
            <a:fillRect/>
          </a:stretch>
        </p:blipFill>
        <p:spPr>
          <a:xfrm>
            <a:off x="3345180" y="1889150"/>
            <a:ext cx="384048" cy="384048"/>
          </a:xfrm>
          <a:prstGeom prst="rect">
            <a:avLst/>
          </a:prstGeom>
        </p:spPr>
      </p:pic>
      <p:sp>
        <p:nvSpPr>
          <p:cNvPr id="12" name="Text 8"/>
          <p:cNvSpPr/>
          <p:nvPr/>
        </p:nvSpPr>
        <p:spPr>
          <a:xfrm>
            <a:off x="934517" y="2181758"/>
            <a:ext cx="2904439" cy="384048"/>
          </a:xfrm>
          <a:prstGeom prst="rect">
            <a:avLst/>
          </a:prstGeom>
          <a:noFill/>
          <a:ln/>
        </p:spPr>
        <p:txBody>
          <a:bodyPr wrap="square" lIns="0" tIns="0" rIns="0" bIns="0" rtlCol="0" anchor="ctr"/>
          <a:lstStyle/>
          <a:p>
            <a:pPr indent="0" marL="0">
              <a:buNone/>
            </a:pPr>
            <a:r>
              <a:rPr lang="en-US" sz="1550" b="1" dirty="0">
                <a:solidFill>
                  <a:srgbClr val="0A3D23"/>
                </a:solidFill>
                <a:latin typeface="Yu Gothic" pitchFamily="34" charset="0"/>
                <a:ea typeface="Yu Gothic" pitchFamily="34" charset="-122"/>
                <a:cs typeface="Yu Gothic" pitchFamily="34" charset="-120"/>
              </a:rPr>
              <a:t>まちづくり・地域コミュニティ</a:t>
            </a:r>
            <a:endParaRPr lang="en-US" sz="1550" dirty="0"/>
          </a:p>
        </p:txBody>
      </p:sp>
      <p:sp>
        <p:nvSpPr>
          <p:cNvPr id="13" name="Text 9"/>
          <p:cNvSpPr/>
          <p:nvPr/>
        </p:nvSpPr>
        <p:spPr>
          <a:xfrm>
            <a:off x="934517" y="2620670"/>
            <a:ext cx="2904439" cy="512064"/>
          </a:xfrm>
          <a:prstGeom prst="rect">
            <a:avLst/>
          </a:prstGeom>
          <a:noFill/>
          <a:ln/>
        </p:spPr>
        <p:txBody>
          <a:bodyPr wrap="square" lIns="0" tIns="0" rIns="0" bIns="0" rtlCol="0" anchor="t"/>
          <a:lstStyle/>
          <a:p>
            <a:pPr indent="0" marL="0">
              <a:lnSpc>
                <a:spcPct val="140000"/>
              </a:lnSpc>
              <a:buNone/>
            </a:pPr>
            <a:r>
              <a:rPr lang="en-US" sz="1050" dirty="0">
                <a:solidFill>
                  <a:srgbClr val="4B5550"/>
                </a:solidFill>
                <a:latin typeface="Yu Gothic" pitchFamily="34" charset="0"/>
                <a:ea typeface="Yu Gothic" pitchFamily="34" charset="-122"/>
                <a:cs typeface="Yu Gothic" pitchFamily="34" charset="-120"/>
              </a:rPr>
              <a:t>「人が集まる場所」として、地域の拠点になります。</a:t>
            </a:r>
            <a:endParaRPr lang="en-US" sz="1050" dirty="0"/>
          </a:p>
        </p:txBody>
      </p:sp>
      <p:sp>
        <p:nvSpPr>
          <p:cNvPr id="14" name="Shape 10"/>
          <p:cNvSpPr/>
          <p:nvPr/>
        </p:nvSpPr>
        <p:spPr>
          <a:xfrm>
            <a:off x="934517" y="3205886"/>
            <a:ext cx="2904439" cy="10058"/>
          </a:xfrm>
          <a:prstGeom prst="rect">
            <a:avLst/>
          </a:prstGeom>
          <a:solidFill>
            <a:srgbClr val="EFEAE0"/>
          </a:solidFill>
          <a:ln/>
        </p:spPr>
      </p:sp>
      <p:pic>
        <p:nvPicPr>
          <p:cNvPr id="15" name="Image 2" descr="/home/user/suzuki-ceo/selfcafe-partner-deck/assets/icons/LuCheck-green.png">    </p:cNvPr>
          <p:cNvPicPr>
            <a:picLocks noChangeAspect="1"/>
          </p:cNvPicPr>
          <p:nvPr/>
        </p:nvPicPr>
        <p:blipFill>
          <a:blip r:embed="rId3"/>
          <a:stretch>
            <a:fillRect/>
          </a:stretch>
        </p:blipFill>
        <p:spPr>
          <a:xfrm>
            <a:off x="952805" y="3370478"/>
            <a:ext cx="173736" cy="173736"/>
          </a:xfrm>
          <a:prstGeom prst="rect">
            <a:avLst/>
          </a:prstGeom>
        </p:spPr>
      </p:pic>
      <p:sp>
        <p:nvSpPr>
          <p:cNvPr id="16" name="Text 11"/>
          <p:cNvSpPr/>
          <p:nvPr/>
        </p:nvSpPr>
        <p:spPr>
          <a:xfrm>
            <a:off x="1208837" y="3333902"/>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世代を越えて人が集まる常設スペース</a:t>
            </a:r>
            <a:endParaRPr lang="en-US" sz="1000" dirty="0"/>
          </a:p>
        </p:txBody>
      </p:sp>
      <p:pic>
        <p:nvPicPr>
          <p:cNvPr id="17" name="Image 3" descr="/home/user/suzuki-ceo/selfcafe-partner-deck/assets/icons/LuCheck-green.png">    </p:cNvPr>
          <p:cNvPicPr>
            <a:picLocks noChangeAspect="1"/>
          </p:cNvPicPr>
          <p:nvPr/>
        </p:nvPicPr>
        <p:blipFill>
          <a:blip r:embed="rId4"/>
          <a:stretch>
            <a:fillRect/>
          </a:stretch>
        </p:blipFill>
        <p:spPr>
          <a:xfrm>
            <a:off x="952805" y="3663086"/>
            <a:ext cx="173736" cy="173736"/>
          </a:xfrm>
          <a:prstGeom prst="rect">
            <a:avLst/>
          </a:prstGeom>
        </p:spPr>
      </p:pic>
      <p:sp>
        <p:nvSpPr>
          <p:cNvPr id="18" name="Text 12"/>
          <p:cNvSpPr/>
          <p:nvPr/>
        </p:nvSpPr>
        <p:spPr>
          <a:xfrm>
            <a:off x="1208837" y="3626510"/>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自治体・地域団体との連携の受け皿に</a:t>
            </a:r>
            <a:endParaRPr lang="en-US" sz="1000" dirty="0"/>
          </a:p>
        </p:txBody>
      </p:sp>
      <p:sp>
        <p:nvSpPr>
          <p:cNvPr id="19" name="Shape 13"/>
          <p:cNvSpPr/>
          <p:nvPr/>
        </p:nvSpPr>
        <p:spPr>
          <a:xfrm>
            <a:off x="4369308" y="1651406"/>
            <a:ext cx="3453079" cy="2395728"/>
          </a:xfrm>
          <a:prstGeom prst="roundRect">
            <a:avLst>
              <a:gd name="adj" fmla="val 2290"/>
            </a:avLst>
          </a:prstGeom>
          <a:solidFill>
            <a:srgbClr val="FFFFFF"/>
          </a:solidFill>
          <a:ln w="9525">
            <a:solidFill>
              <a:srgbClr val="EFEAE0"/>
            </a:solidFill>
            <a:prstDash val="solid"/>
          </a:ln>
        </p:spPr>
      </p:sp>
      <p:sp>
        <p:nvSpPr>
          <p:cNvPr id="20" name="Text 14"/>
          <p:cNvSpPr/>
          <p:nvPr/>
        </p:nvSpPr>
        <p:spPr>
          <a:xfrm>
            <a:off x="4643628"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USE 02</a:t>
            </a:r>
            <a:endParaRPr lang="en-US" sz="900" dirty="0"/>
          </a:p>
        </p:txBody>
      </p:sp>
      <p:pic>
        <p:nvPicPr>
          <p:cNvPr id="21" name="Image 4" descr="/home/user/suzuki-ceo/selfcafe-partner-deck/assets/icons/LuGraduationCap-green.png">    </p:cNvPr>
          <p:cNvPicPr>
            <a:picLocks noChangeAspect="1"/>
          </p:cNvPicPr>
          <p:nvPr/>
        </p:nvPicPr>
        <p:blipFill>
          <a:blip r:embed="rId5"/>
          <a:stretch>
            <a:fillRect/>
          </a:stretch>
        </p:blipFill>
        <p:spPr>
          <a:xfrm>
            <a:off x="7054291" y="1889150"/>
            <a:ext cx="384048" cy="384048"/>
          </a:xfrm>
          <a:prstGeom prst="rect">
            <a:avLst/>
          </a:prstGeom>
        </p:spPr>
      </p:pic>
      <p:sp>
        <p:nvSpPr>
          <p:cNvPr id="22" name="Text 15"/>
          <p:cNvSpPr/>
          <p:nvPr/>
        </p:nvSpPr>
        <p:spPr>
          <a:xfrm>
            <a:off x="4643628" y="2181758"/>
            <a:ext cx="2904439" cy="384048"/>
          </a:xfrm>
          <a:prstGeom prst="rect">
            <a:avLst/>
          </a:prstGeom>
          <a:noFill/>
          <a:ln/>
        </p:spPr>
        <p:txBody>
          <a:bodyPr wrap="square" lIns="0" tIns="0" rIns="0" bIns="0" rtlCol="0" anchor="ctr"/>
          <a:lstStyle/>
          <a:p>
            <a:pPr indent="0" marL="0">
              <a:buNone/>
            </a:pPr>
            <a:r>
              <a:rPr lang="en-US" sz="1550" b="1" dirty="0">
                <a:solidFill>
                  <a:srgbClr val="0A3D23"/>
                </a:solidFill>
                <a:latin typeface="Yu Gothic" pitchFamily="34" charset="0"/>
                <a:ea typeface="Yu Gothic" pitchFamily="34" charset="-122"/>
                <a:cs typeface="Yu Gothic" pitchFamily="34" charset="-120"/>
              </a:rPr>
              <a:t>セミナー・イベント会場</a:t>
            </a:r>
            <a:endParaRPr lang="en-US" sz="1550" dirty="0"/>
          </a:p>
        </p:txBody>
      </p:sp>
      <p:sp>
        <p:nvSpPr>
          <p:cNvPr id="23" name="Text 16"/>
          <p:cNvSpPr/>
          <p:nvPr/>
        </p:nvSpPr>
        <p:spPr>
          <a:xfrm>
            <a:off x="4643628" y="2620670"/>
            <a:ext cx="2904439" cy="512064"/>
          </a:xfrm>
          <a:prstGeom prst="rect">
            <a:avLst/>
          </a:prstGeom>
          <a:noFill/>
          <a:ln/>
        </p:spPr>
        <p:txBody>
          <a:bodyPr wrap="square" lIns="0" tIns="0" rIns="0" bIns="0" rtlCol="0" anchor="t"/>
          <a:lstStyle/>
          <a:p>
            <a:pPr indent="0" marL="0">
              <a:lnSpc>
                <a:spcPct val="140000"/>
              </a:lnSpc>
              <a:buNone/>
            </a:pPr>
            <a:r>
              <a:rPr lang="en-US" sz="1050" dirty="0">
                <a:solidFill>
                  <a:srgbClr val="4B5550"/>
                </a:solidFill>
                <a:latin typeface="Yu Gothic" pitchFamily="34" charset="0"/>
                <a:ea typeface="Yu Gothic" pitchFamily="34" charset="-122"/>
                <a:cs typeface="Yu Gothic" pitchFamily="34" charset="-120"/>
              </a:rPr>
              <a:t>営業時間外や一部区画を、貸しスペースとして二次活用できます。</a:t>
            </a:r>
            <a:endParaRPr lang="en-US" sz="1050" dirty="0"/>
          </a:p>
        </p:txBody>
      </p:sp>
      <p:sp>
        <p:nvSpPr>
          <p:cNvPr id="24" name="Shape 17"/>
          <p:cNvSpPr/>
          <p:nvPr/>
        </p:nvSpPr>
        <p:spPr>
          <a:xfrm>
            <a:off x="4643628" y="3205886"/>
            <a:ext cx="2904439" cy="10058"/>
          </a:xfrm>
          <a:prstGeom prst="rect">
            <a:avLst/>
          </a:prstGeom>
          <a:solidFill>
            <a:srgbClr val="EFEAE0"/>
          </a:solidFill>
          <a:ln/>
        </p:spPr>
      </p:sp>
      <p:pic>
        <p:nvPicPr>
          <p:cNvPr id="25" name="Image 5" descr="/home/user/suzuki-ceo/selfcafe-partner-deck/assets/icons/LuCheck-green.png">    </p:cNvPr>
          <p:cNvPicPr>
            <a:picLocks noChangeAspect="1"/>
          </p:cNvPicPr>
          <p:nvPr/>
        </p:nvPicPr>
        <p:blipFill>
          <a:blip r:embed="rId6"/>
          <a:stretch>
            <a:fillRect/>
          </a:stretch>
        </p:blipFill>
        <p:spPr>
          <a:xfrm>
            <a:off x="4661916" y="3370478"/>
            <a:ext cx="173736" cy="173736"/>
          </a:xfrm>
          <a:prstGeom prst="rect">
            <a:avLst/>
          </a:prstGeom>
        </p:spPr>
      </p:pic>
      <p:sp>
        <p:nvSpPr>
          <p:cNvPr id="26" name="Text 18"/>
          <p:cNvSpPr/>
          <p:nvPr/>
        </p:nvSpPr>
        <p:spPr>
          <a:xfrm>
            <a:off x="4917948" y="3333902"/>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勉強会・セミナー・ワークショップ</a:t>
            </a:r>
            <a:endParaRPr lang="en-US" sz="1000" dirty="0"/>
          </a:p>
        </p:txBody>
      </p:sp>
      <p:pic>
        <p:nvPicPr>
          <p:cNvPr id="27" name="Image 6" descr="/home/user/suzuki-ceo/selfcafe-partner-deck/assets/icons/LuCheck-green.png">    </p:cNvPr>
          <p:cNvPicPr>
            <a:picLocks noChangeAspect="1"/>
          </p:cNvPicPr>
          <p:nvPr/>
        </p:nvPicPr>
        <p:blipFill>
          <a:blip r:embed="rId7"/>
          <a:stretch>
            <a:fillRect/>
          </a:stretch>
        </p:blipFill>
        <p:spPr>
          <a:xfrm>
            <a:off x="4661916" y="3663086"/>
            <a:ext cx="173736" cy="173736"/>
          </a:xfrm>
          <a:prstGeom prst="rect">
            <a:avLst/>
          </a:prstGeom>
        </p:spPr>
      </p:pic>
      <p:sp>
        <p:nvSpPr>
          <p:cNvPr id="28" name="Text 19"/>
          <p:cNvSpPr/>
          <p:nvPr/>
        </p:nvSpPr>
        <p:spPr>
          <a:xfrm>
            <a:off x="4917948" y="3626510"/>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席・Wi-Fi・電源をそのまま使える</a:t>
            </a:r>
            <a:endParaRPr lang="en-US" sz="1000" dirty="0"/>
          </a:p>
        </p:txBody>
      </p:sp>
      <p:sp>
        <p:nvSpPr>
          <p:cNvPr id="29" name="Shape 20"/>
          <p:cNvSpPr/>
          <p:nvPr/>
        </p:nvSpPr>
        <p:spPr>
          <a:xfrm>
            <a:off x="8078419" y="1651406"/>
            <a:ext cx="3453079" cy="2395728"/>
          </a:xfrm>
          <a:prstGeom prst="roundRect">
            <a:avLst>
              <a:gd name="adj" fmla="val 2290"/>
            </a:avLst>
          </a:prstGeom>
          <a:solidFill>
            <a:srgbClr val="FFFFFF"/>
          </a:solidFill>
          <a:ln w="9525">
            <a:solidFill>
              <a:srgbClr val="EFEAE0"/>
            </a:solidFill>
            <a:prstDash val="solid"/>
          </a:ln>
        </p:spPr>
      </p:sp>
      <p:sp>
        <p:nvSpPr>
          <p:cNvPr id="30" name="Text 21"/>
          <p:cNvSpPr/>
          <p:nvPr/>
        </p:nvSpPr>
        <p:spPr>
          <a:xfrm>
            <a:off x="8352739"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USE 03</a:t>
            </a:r>
            <a:endParaRPr lang="en-US" sz="900" dirty="0"/>
          </a:p>
        </p:txBody>
      </p:sp>
      <p:pic>
        <p:nvPicPr>
          <p:cNvPr id="31" name="Image 7" descr="/home/user/suzuki-ceo/selfcafe-partner-deck/assets/icons/LuShoppingBag-green.png">    </p:cNvPr>
          <p:cNvPicPr>
            <a:picLocks noChangeAspect="1"/>
          </p:cNvPicPr>
          <p:nvPr/>
        </p:nvPicPr>
        <p:blipFill>
          <a:blip r:embed="rId8"/>
          <a:stretch>
            <a:fillRect/>
          </a:stretch>
        </p:blipFill>
        <p:spPr>
          <a:xfrm>
            <a:off x="10763402" y="1889150"/>
            <a:ext cx="384048" cy="384048"/>
          </a:xfrm>
          <a:prstGeom prst="rect">
            <a:avLst/>
          </a:prstGeom>
        </p:spPr>
      </p:pic>
      <p:sp>
        <p:nvSpPr>
          <p:cNvPr id="32" name="Text 22"/>
          <p:cNvSpPr/>
          <p:nvPr/>
        </p:nvSpPr>
        <p:spPr>
          <a:xfrm>
            <a:off x="8352739" y="2181758"/>
            <a:ext cx="2904439" cy="384048"/>
          </a:xfrm>
          <a:prstGeom prst="rect">
            <a:avLst/>
          </a:prstGeom>
          <a:noFill/>
          <a:ln/>
        </p:spPr>
        <p:txBody>
          <a:bodyPr wrap="square" lIns="0" tIns="0" rIns="0" bIns="0" rtlCol="0" anchor="ctr"/>
          <a:lstStyle/>
          <a:p>
            <a:pPr indent="0" marL="0">
              <a:buNone/>
            </a:pPr>
            <a:r>
              <a:rPr lang="en-US" sz="1550" b="1" dirty="0">
                <a:solidFill>
                  <a:srgbClr val="0A3D23"/>
                </a:solidFill>
                <a:latin typeface="Yu Gothic" pitchFamily="34" charset="0"/>
                <a:ea typeface="Yu Gothic" pitchFamily="34" charset="-122"/>
                <a:cs typeface="Yu Gothic" pitchFamily="34" charset="-120"/>
              </a:rPr>
              <a:t>物販スペース</a:t>
            </a:r>
            <a:endParaRPr lang="en-US" sz="1550" dirty="0"/>
          </a:p>
        </p:txBody>
      </p:sp>
      <p:sp>
        <p:nvSpPr>
          <p:cNvPr id="33" name="Text 23"/>
          <p:cNvSpPr/>
          <p:nvPr/>
        </p:nvSpPr>
        <p:spPr>
          <a:xfrm>
            <a:off x="8352739" y="2620670"/>
            <a:ext cx="2904439" cy="512064"/>
          </a:xfrm>
          <a:prstGeom prst="rect">
            <a:avLst/>
          </a:prstGeom>
          <a:noFill/>
          <a:ln/>
        </p:spPr>
        <p:txBody>
          <a:bodyPr wrap="square" lIns="0" tIns="0" rIns="0" bIns="0" rtlCol="0" anchor="t"/>
          <a:lstStyle/>
          <a:p>
            <a:pPr indent="0" marL="0">
              <a:lnSpc>
                <a:spcPct val="140000"/>
              </a:lnSpc>
              <a:buNone/>
            </a:pPr>
            <a:r>
              <a:rPr lang="en-US" sz="1050" dirty="0">
                <a:solidFill>
                  <a:srgbClr val="4B5550"/>
                </a:solidFill>
                <a:latin typeface="Yu Gothic" pitchFamily="34" charset="0"/>
                <a:ea typeface="Yu Gothic" pitchFamily="34" charset="-122"/>
                <a:cs typeface="Yu Gothic" pitchFamily="34" charset="-120"/>
              </a:rPr>
              <a:t>棚や壁面を使い、物販の売り場としても活用できます。</a:t>
            </a:r>
            <a:endParaRPr lang="en-US" sz="1050" dirty="0"/>
          </a:p>
        </p:txBody>
      </p:sp>
      <p:sp>
        <p:nvSpPr>
          <p:cNvPr id="34" name="Shape 24"/>
          <p:cNvSpPr/>
          <p:nvPr/>
        </p:nvSpPr>
        <p:spPr>
          <a:xfrm>
            <a:off x="8352739" y="3205886"/>
            <a:ext cx="2904439" cy="10058"/>
          </a:xfrm>
          <a:prstGeom prst="rect">
            <a:avLst/>
          </a:prstGeom>
          <a:solidFill>
            <a:srgbClr val="EFEAE0"/>
          </a:solidFill>
          <a:ln/>
        </p:spPr>
      </p:sp>
      <p:pic>
        <p:nvPicPr>
          <p:cNvPr id="35" name="Image 8" descr="/home/user/suzuki-ceo/selfcafe-partner-deck/assets/icons/LuCheck-green.png">    </p:cNvPr>
          <p:cNvPicPr>
            <a:picLocks noChangeAspect="1"/>
          </p:cNvPicPr>
          <p:nvPr/>
        </p:nvPicPr>
        <p:blipFill>
          <a:blip r:embed="rId9"/>
          <a:stretch>
            <a:fillRect/>
          </a:stretch>
        </p:blipFill>
        <p:spPr>
          <a:xfrm>
            <a:off x="8371027" y="3370478"/>
            <a:ext cx="173736" cy="173736"/>
          </a:xfrm>
          <a:prstGeom prst="rect">
            <a:avLst/>
          </a:prstGeom>
        </p:spPr>
      </p:pic>
      <p:sp>
        <p:nvSpPr>
          <p:cNvPr id="36" name="Text 25"/>
          <p:cNvSpPr/>
          <p:nvPr/>
        </p:nvSpPr>
        <p:spPr>
          <a:xfrm>
            <a:off x="8627059" y="3333902"/>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地域産品・書籍・自社商品の販売</a:t>
            </a:r>
            <a:endParaRPr lang="en-US" sz="1000" dirty="0"/>
          </a:p>
        </p:txBody>
      </p:sp>
      <p:pic>
        <p:nvPicPr>
          <p:cNvPr id="37" name="Image 9" descr="/home/user/suzuki-ceo/selfcafe-partner-deck/assets/icons/LuCheck-green.png">    </p:cNvPr>
          <p:cNvPicPr>
            <a:picLocks noChangeAspect="1"/>
          </p:cNvPicPr>
          <p:nvPr/>
        </p:nvPicPr>
        <p:blipFill>
          <a:blip r:embed="rId10"/>
          <a:stretch>
            <a:fillRect/>
          </a:stretch>
        </p:blipFill>
        <p:spPr>
          <a:xfrm>
            <a:off x="8371027" y="3663086"/>
            <a:ext cx="173736" cy="173736"/>
          </a:xfrm>
          <a:prstGeom prst="rect">
            <a:avLst/>
          </a:prstGeom>
        </p:spPr>
      </p:pic>
      <p:sp>
        <p:nvSpPr>
          <p:cNvPr id="38" name="Text 26"/>
          <p:cNvSpPr/>
          <p:nvPr/>
        </p:nvSpPr>
        <p:spPr>
          <a:xfrm>
            <a:off x="8627059" y="3626510"/>
            <a:ext cx="2630119" cy="256032"/>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滞在が長いぶん、商品が目に触れる</a:t>
            </a:r>
            <a:endParaRPr lang="en-US" sz="1000" dirty="0"/>
          </a:p>
        </p:txBody>
      </p:sp>
      <p:sp>
        <p:nvSpPr>
          <p:cNvPr id="39" name="Shape 27"/>
          <p:cNvSpPr/>
          <p:nvPr/>
        </p:nvSpPr>
        <p:spPr>
          <a:xfrm>
            <a:off x="660197" y="4266590"/>
            <a:ext cx="6309360" cy="1773936"/>
          </a:xfrm>
          <a:prstGeom prst="roundRect">
            <a:avLst>
              <a:gd name="adj" fmla="val 3093"/>
            </a:avLst>
          </a:prstGeom>
          <a:solidFill>
            <a:srgbClr val="0C5230"/>
          </a:solidFill>
          <a:ln/>
        </p:spPr>
      </p:sp>
      <p:sp>
        <p:nvSpPr>
          <p:cNvPr id="40" name="Text 28"/>
          <p:cNvSpPr/>
          <p:nvPr/>
        </p:nvSpPr>
        <p:spPr>
          <a:xfrm>
            <a:off x="989381" y="4504334"/>
            <a:ext cx="219456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LOCAL ADVANTAGE</a:t>
            </a:r>
            <a:endParaRPr lang="en-US" sz="900" dirty="0"/>
          </a:p>
        </p:txBody>
      </p:sp>
      <p:sp>
        <p:nvSpPr>
          <p:cNvPr id="41" name="Text 29"/>
          <p:cNvSpPr/>
          <p:nvPr/>
        </p:nvSpPr>
        <p:spPr>
          <a:xfrm>
            <a:off x="989381" y="4742078"/>
            <a:ext cx="5650992" cy="402336"/>
          </a:xfrm>
          <a:prstGeom prst="rect">
            <a:avLst/>
          </a:prstGeom>
          <a:noFill/>
          <a:ln/>
        </p:spPr>
        <p:txBody>
          <a:bodyPr wrap="square" lIns="0" tIns="0" rIns="0" bIns="0" rtlCol="0" anchor="ctr"/>
          <a:lstStyle/>
          <a:p>
            <a:pPr indent="0" marL="0">
              <a:buNone/>
            </a:pPr>
            <a:r>
              <a:rPr lang="en-US" sz="2100" b="1" dirty="0">
                <a:solidFill>
                  <a:srgbClr val="FFFFFF"/>
                </a:solidFill>
                <a:latin typeface="Yu Gothic" pitchFamily="34" charset="0"/>
                <a:ea typeface="Yu Gothic" pitchFamily="34" charset="-122"/>
                <a:cs typeface="Yu Gothic" pitchFamily="34" charset="-120"/>
              </a:rPr>
              <a:t>地方都市ほど、競合がいない。</a:t>
            </a:r>
            <a:endParaRPr lang="en-US" sz="2100" dirty="0"/>
          </a:p>
        </p:txBody>
      </p:sp>
      <p:sp>
        <p:nvSpPr>
          <p:cNvPr id="42" name="Text 30"/>
          <p:cNvSpPr/>
          <p:nvPr/>
        </p:nvSpPr>
        <p:spPr>
          <a:xfrm>
            <a:off x="989381" y="5180990"/>
            <a:ext cx="5650992" cy="676656"/>
          </a:xfrm>
          <a:prstGeom prst="rect">
            <a:avLst/>
          </a:prstGeom>
          <a:noFill/>
          <a:ln/>
        </p:spPr>
        <p:txBody>
          <a:bodyPr wrap="square" lIns="0" tIns="0" rIns="0" bIns="0" rtlCol="0" anchor="t"/>
          <a:lstStyle/>
          <a:p>
            <a:pPr indent="0" marL="0">
              <a:lnSpc>
                <a:spcPct val="142000"/>
              </a:lnSpc>
              <a:buNone/>
            </a:pPr>
            <a:r>
              <a:rPr lang="en-US" sz="1100" dirty="0">
                <a:solidFill>
                  <a:srgbClr val="AFC2B8"/>
                </a:solidFill>
                <a:latin typeface="Yu Gothic" pitchFamily="34" charset="0"/>
                <a:ea typeface="Yu Gothic" pitchFamily="34" charset="-122"/>
                <a:cs typeface="Yu Gothic" pitchFamily="34" charset="-120"/>
              </a:rPr>
              <a:t>都市部に比べて同種の施設が少なく、開店直後から認知が広がりやすい傾向があります。岩手県 盛岡駅前店は1日80杯ペースで稼働しています（出店事例のページ参照）。</a:t>
            </a:r>
            <a:endParaRPr lang="en-US" sz="1100" dirty="0"/>
          </a:p>
        </p:txBody>
      </p:sp>
      <p:pic>
        <p:nvPicPr>
          <p:cNvPr id="43" name="Image 10" descr="/home/user/suzuki-ceo/selfcafe-partner-deck/assets/icons/LuMapPin-pale.png">    </p:cNvPr>
          <p:cNvPicPr>
            <a:picLocks noChangeAspect="1"/>
          </p:cNvPicPr>
          <p:nvPr/>
        </p:nvPicPr>
        <p:blipFill>
          <a:blip r:embed="rId11"/>
          <a:stretch>
            <a:fillRect/>
          </a:stretch>
        </p:blipFill>
        <p:spPr>
          <a:xfrm>
            <a:off x="6073445" y="4540910"/>
            <a:ext cx="402336" cy="402336"/>
          </a:xfrm>
          <a:prstGeom prst="rect">
            <a:avLst/>
          </a:prstGeom>
        </p:spPr>
      </p:pic>
      <p:sp>
        <p:nvSpPr>
          <p:cNvPr id="44" name="Shape 31"/>
          <p:cNvSpPr/>
          <p:nvPr/>
        </p:nvSpPr>
        <p:spPr>
          <a:xfrm>
            <a:off x="7353605" y="4266590"/>
            <a:ext cx="4177894" cy="1773936"/>
          </a:xfrm>
          <a:prstGeom prst="roundRect">
            <a:avLst>
              <a:gd name="adj" fmla="val 2577"/>
            </a:avLst>
          </a:prstGeom>
          <a:solidFill>
            <a:srgbClr val="F4F2EE"/>
          </a:solidFill>
          <a:ln w="12700">
            <a:solidFill>
              <a:srgbClr val="DED8CC"/>
            </a:solidFill>
            <a:prstDash val="dash"/>
          </a:ln>
        </p:spPr>
      </p:sp>
      <p:pic>
        <p:nvPicPr>
          <p:cNvPr id="45" name="Image 11" descr="/home/user/suzuki-ceo/selfcafe-partner-deck/assets/icons/LuImage-muted.png">    </p:cNvPr>
          <p:cNvPicPr>
            <a:picLocks noChangeAspect="1"/>
          </p:cNvPicPr>
          <p:nvPr/>
        </p:nvPicPr>
        <p:blipFill>
          <a:blip r:embed="rId12"/>
          <a:stretch>
            <a:fillRect/>
          </a:stretch>
        </p:blipFill>
        <p:spPr>
          <a:xfrm>
            <a:off x="9247419" y="4879238"/>
            <a:ext cx="390266" cy="390266"/>
          </a:xfrm>
          <a:prstGeom prst="rect">
            <a:avLst/>
          </a:prstGeom>
        </p:spPr>
      </p:pic>
      <p:sp>
        <p:nvSpPr>
          <p:cNvPr id="46" name="Text 32"/>
          <p:cNvSpPr/>
          <p:nvPr/>
        </p:nvSpPr>
        <p:spPr>
          <a:xfrm>
            <a:off x="7426757" y="5306080"/>
            <a:ext cx="4031590" cy="182880"/>
          </a:xfrm>
          <a:prstGeom prst="rect">
            <a:avLst/>
          </a:prstGeom>
          <a:noFill/>
          <a:ln/>
        </p:spPr>
        <p:txBody>
          <a:bodyPr wrap="square" lIns="0" tIns="0" rIns="0" bIns="0" rtlCol="0" anchor="ctr"/>
          <a:lstStyle/>
          <a:p>
            <a:pPr algn="ctr" indent="0" marL="0">
              <a:buNone/>
            </a:pPr>
            <a:r>
              <a:rPr lang="en-US" sz="900" dirty="0">
                <a:solidFill>
                  <a:srgbClr val="7E8882"/>
                </a:solidFill>
                <a:latin typeface="Yu Gothic" pitchFamily="34" charset="0"/>
                <a:ea typeface="Yu Gothic" pitchFamily="34" charset="-122"/>
                <a:cs typeface="Yu Gothic" pitchFamily="34" charset="-120"/>
              </a:rPr>
              <a:t>写真を挿入</a:t>
            </a:r>
            <a:endParaRPr lang="en-US" sz="900" dirty="0"/>
          </a:p>
        </p:txBody>
      </p:sp>
      <p:sp>
        <p:nvSpPr>
          <p:cNvPr id="47" name="Text 33"/>
          <p:cNvSpPr/>
          <p:nvPr/>
        </p:nvSpPr>
        <p:spPr>
          <a:xfrm>
            <a:off x="7426757" y="5498104"/>
            <a:ext cx="4031590" cy="384048"/>
          </a:xfrm>
          <a:prstGeom prst="rect">
            <a:avLst/>
          </a:prstGeom>
          <a:noFill/>
          <a:ln/>
        </p:spPr>
        <p:txBody>
          <a:bodyPr wrap="square" lIns="0" tIns="0" rIns="0" bIns="0" rtlCol="0" anchor="t"/>
          <a:lstStyle/>
          <a:p>
            <a:pPr algn="ctr" indent="0" marL="0">
              <a:lnSpc>
                <a:spcPct val="115000"/>
              </a:lnSpc>
              <a:buNone/>
            </a:pPr>
            <a:r>
              <a:rPr lang="en-US" sz="950" b="1" dirty="0">
                <a:solidFill>
                  <a:srgbClr val="0A3D23"/>
                </a:solidFill>
                <a:latin typeface="Yu Gothic" pitchFamily="34" charset="0"/>
                <a:ea typeface="Yu Gothic" pitchFamily="34" charset="-122"/>
                <a:cs typeface="Yu Gothic" pitchFamily="34" charset="-120"/>
              </a:rPr>
              <a:t>セミナー・イベントでの利用／物販の様子</a:t>
            </a:r>
            <a:endParaRPr lang="en-US" sz="950" dirty="0"/>
          </a:p>
        </p:txBody>
      </p:sp>
      <p:sp>
        <p:nvSpPr>
          <p:cNvPr id="48" name="Text 34"/>
          <p:cNvSpPr/>
          <p:nvPr/>
        </p:nvSpPr>
        <p:spPr>
          <a:xfrm>
            <a:off x="660197" y="614476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二次利用（貸しスペース・物販）の可否は立地・契約条件により異なります。個別にご相談ください。</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06</a:t>
            </a:r>
            <a:r>
              <a:rPr lang="en-US" sz="1050" b="1" dirty="0">
                <a:solidFill>
                  <a:srgbClr val="1B8149"/>
                </a:solidFill>
                <a:latin typeface="Yu Gothic" pitchFamily="34" charset="0"/>
                <a:ea typeface="Yu Gothic" pitchFamily="34" charset="-122"/>
                <a:cs typeface="Yu Gothic" pitchFamily="34" charset="-120"/>
              </a:rPr>
              <a:t>   ブランド</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セルフカフェとは</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“誰もが気軽に使える”第三の居場所を、全国71店舗で展開中。年内にさらに10店舗以上の出店を予定しています。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07</a:t>
            </a:r>
            <a:endParaRPr lang="en-US" sz="1000" dirty="0"/>
          </a:p>
        </p:txBody>
      </p:sp>
      <p:sp>
        <p:nvSpPr>
          <p:cNvPr id="9" name="Shape 6"/>
          <p:cNvSpPr/>
          <p:nvPr/>
        </p:nvSpPr>
        <p:spPr>
          <a:xfrm>
            <a:off x="660197" y="1651406"/>
            <a:ext cx="6675120" cy="786384"/>
          </a:xfrm>
          <a:prstGeom prst="roundRect">
            <a:avLst>
              <a:gd name="adj" fmla="val 6977"/>
            </a:avLst>
          </a:prstGeom>
          <a:solidFill>
            <a:srgbClr val="FFFFFF"/>
          </a:solidFill>
          <a:ln w="9525">
            <a:solidFill>
              <a:srgbClr val="EFEAE0"/>
            </a:solidFill>
            <a:prstDash val="solid"/>
          </a:ln>
        </p:spPr>
      </p:sp>
      <p:pic>
        <p:nvPicPr>
          <p:cNvPr id="10" name="Image 1" descr="/home/user/suzuki-ceo/selfcafe-partner-deck/assets/icons/LuHouse-green.png">    </p:cNvPr>
          <p:cNvPicPr>
            <a:picLocks noChangeAspect="1"/>
          </p:cNvPicPr>
          <p:nvPr/>
        </p:nvPicPr>
        <p:blipFill>
          <a:blip r:embed="rId2"/>
          <a:stretch>
            <a:fillRect/>
          </a:stretch>
        </p:blipFill>
        <p:spPr>
          <a:xfrm>
            <a:off x="916229" y="1852574"/>
            <a:ext cx="384048" cy="384048"/>
          </a:xfrm>
          <a:prstGeom prst="rect">
            <a:avLst/>
          </a:prstGeom>
        </p:spPr>
      </p:pic>
      <p:sp>
        <p:nvSpPr>
          <p:cNvPr id="11" name="Text 7"/>
          <p:cNvSpPr/>
          <p:nvPr/>
        </p:nvSpPr>
        <p:spPr>
          <a:xfrm>
            <a:off x="1464869" y="1779422"/>
            <a:ext cx="1828800" cy="274320"/>
          </a:xfrm>
          <a:prstGeom prst="rect">
            <a:avLst/>
          </a:prstGeom>
          <a:noFill/>
          <a:ln/>
        </p:spPr>
        <p:txBody>
          <a:bodyPr wrap="square" lIns="0" tIns="0" rIns="0" bIns="0" rtlCol="0" anchor="ctr"/>
          <a:lstStyle/>
          <a:p>
            <a:pPr indent="0" marL="0">
              <a:buNone/>
            </a:pPr>
            <a:r>
              <a:rPr lang="en-US" sz="1400" b="1" dirty="0">
                <a:solidFill>
                  <a:srgbClr val="0A3D23"/>
                </a:solidFill>
                <a:latin typeface="Yu Gothic" pitchFamily="34" charset="0"/>
                <a:ea typeface="Yu Gothic" pitchFamily="34" charset="-122"/>
                <a:cs typeface="Yu Gothic" pitchFamily="34" charset="-120"/>
              </a:rPr>
              <a:t>お家のような</a:t>
            </a:r>
            <a:endParaRPr lang="en-US" sz="1400" dirty="0"/>
          </a:p>
        </p:txBody>
      </p:sp>
      <p:sp>
        <p:nvSpPr>
          <p:cNvPr id="12" name="Text 8"/>
          <p:cNvSpPr/>
          <p:nvPr/>
        </p:nvSpPr>
        <p:spPr>
          <a:xfrm>
            <a:off x="1464869" y="2053742"/>
            <a:ext cx="5577840" cy="256032"/>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寛ぎすぎないが、設備が整った集中環境。</a:t>
            </a:r>
            <a:endParaRPr lang="en-US" sz="1050" dirty="0"/>
          </a:p>
        </p:txBody>
      </p:sp>
      <p:sp>
        <p:nvSpPr>
          <p:cNvPr id="13" name="Shape 9"/>
          <p:cNvSpPr/>
          <p:nvPr/>
        </p:nvSpPr>
        <p:spPr>
          <a:xfrm>
            <a:off x="660197" y="2547518"/>
            <a:ext cx="6675120" cy="786384"/>
          </a:xfrm>
          <a:prstGeom prst="roundRect">
            <a:avLst>
              <a:gd name="adj" fmla="val 6977"/>
            </a:avLst>
          </a:prstGeom>
          <a:solidFill>
            <a:srgbClr val="FFFFFF"/>
          </a:solidFill>
          <a:ln w="9525">
            <a:solidFill>
              <a:srgbClr val="EFEAE0"/>
            </a:solidFill>
            <a:prstDash val="solid"/>
          </a:ln>
        </p:spPr>
      </p:sp>
      <p:pic>
        <p:nvPicPr>
          <p:cNvPr id="14" name="Image 2" descr="/home/user/suzuki-ceo/selfcafe-partner-deck/assets/icons/LuCoffee-green.png">    </p:cNvPr>
          <p:cNvPicPr>
            <a:picLocks noChangeAspect="1"/>
          </p:cNvPicPr>
          <p:nvPr/>
        </p:nvPicPr>
        <p:blipFill>
          <a:blip r:embed="rId3"/>
          <a:stretch>
            <a:fillRect/>
          </a:stretch>
        </p:blipFill>
        <p:spPr>
          <a:xfrm>
            <a:off x="916229" y="2748686"/>
            <a:ext cx="384048" cy="384048"/>
          </a:xfrm>
          <a:prstGeom prst="rect">
            <a:avLst/>
          </a:prstGeom>
        </p:spPr>
      </p:pic>
      <p:sp>
        <p:nvSpPr>
          <p:cNvPr id="15" name="Text 10"/>
          <p:cNvSpPr/>
          <p:nvPr/>
        </p:nvSpPr>
        <p:spPr>
          <a:xfrm>
            <a:off x="1464869" y="2675534"/>
            <a:ext cx="1828800" cy="274320"/>
          </a:xfrm>
          <a:prstGeom prst="rect">
            <a:avLst/>
          </a:prstGeom>
          <a:noFill/>
          <a:ln/>
        </p:spPr>
        <p:txBody>
          <a:bodyPr wrap="square" lIns="0" tIns="0" rIns="0" bIns="0" rtlCol="0" anchor="ctr"/>
          <a:lstStyle/>
          <a:p>
            <a:pPr indent="0" marL="0">
              <a:buNone/>
            </a:pPr>
            <a:r>
              <a:rPr lang="en-US" sz="1400" b="1" dirty="0">
                <a:solidFill>
                  <a:srgbClr val="0A3D23"/>
                </a:solidFill>
                <a:latin typeface="Yu Gothic" pitchFamily="34" charset="0"/>
                <a:ea typeface="Yu Gothic" pitchFamily="34" charset="-122"/>
                <a:cs typeface="Yu Gothic" pitchFamily="34" charset="-120"/>
              </a:rPr>
              <a:t>カフェのような</a:t>
            </a:r>
            <a:endParaRPr lang="en-US" sz="1400" dirty="0"/>
          </a:p>
        </p:txBody>
      </p:sp>
      <p:sp>
        <p:nvSpPr>
          <p:cNvPr id="16" name="Text 11"/>
          <p:cNvSpPr/>
          <p:nvPr/>
        </p:nvSpPr>
        <p:spPr>
          <a:xfrm>
            <a:off x="1464869" y="2949854"/>
            <a:ext cx="5577840" cy="256032"/>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食事はないが、時間を気にせず美味しいコーヒーが飲める。</a:t>
            </a:r>
            <a:endParaRPr lang="en-US" sz="1050" dirty="0"/>
          </a:p>
        </p:txBody>
      </p:sp>
      <p:sp>
        <p:nvSpPr>
          <p:cNvPr id="17" name="Shape 12"/>
          <p:cNvSpPr/>
          <p:nvPr/>
        </p:nvSpPr>
        <p:spPr>
          <a:xfrm>
            <a:off x="660197" y="3443630"/>
            <a:ext cx="6675120" cy="786384"/>
          </a:xfrm>
          <a:prstGeom prst="roundRect">
            <a:avLst>
              <a:gd name="adj" fmla="val 6977"/>
            </a:avLst>
          </a:prstGeom>
          <a:solidFill>
            <a:srgbClr val="FFFFFF"/>
          </a:solidFill>
          <a:ln w="9525">
            <a:solidFill>
              <a:srgbClr val="EFEAE0"/>
            </a:solidFill>
            <a:prstDash val="solid"/>
          </a:ln>
        </p:spPr>
      </p:sp>
      <p:pic>
        <p:nvPicPr>
          <p:cNvPr id="18" name="Image 3" descr="/home/user/suzuki-ceo/selfcafe-partner-deck/assets/icons/LuBookOpen-green.png">    </p:cNvPr>
          <p:cNvPicPr>
            <a:picLocks noChangeAspect="1"/>
          </p:cNvPicPr>
          <p:nvPr/>
        </p:nvPicPr>
        <p:blipFill>
          <a:blip r:embed="rId4"/>
          <a:stretch>
            <a:fillRect/>
          </a:stretch>
        </p:blipFill>
        <p:spPr>
          <a:xfrm>
            <a:off x="916229" y="3644798"/>
            <a:ext cx="384048" cy="384048"/>
          </a:xfrm>
          <a:prstGeom prst="rect">
            <a:avLst/>
          </a:prstGeom>
        </p:spPr>
      </p:pic>
      <p:sp>
        <p:nvSpPr>
          <p:cNvPr id="19" name="Text 13"/>
          <p:cNvSpPr/>
          <p:nvPr/>
        </p:nvSpPr>
        <p:spPr>
          <a:xfrm>
            <a:off x="1464869" y="3571646"/>
            <a:ext cx="1828800" cy="274320"/>
          </a:xfrm>
          <a:prstGeom prst="rect">
            <a:avLst/>
          </a:prstGeom>
          <a:noFill/>
          <a:ln/>
        </p:spPr>
        <p:txBody>
          <a:bodyPr wrap="square" lIns="0" tIns="0" rIns="0" bIns="0" rtlCol="0" anchor="ctr"/>
          <a:lstStyle/>
          <a:p>
            <a:pPr indent="0" marL="0">
              <a:buNone/>
            </a:pPr>
            <a:r>
              <a:rPr lang="en-US" sz="1400" b="1" dirty="0">
                <a:solidFill>
                  <a:srgbClr val="0A3D23"/>
                </a:solidFill>
                <a:latin typeface="Yu Gothic" pitchFamily="34" charset="0"/>
                <a:ea typeface="Yu Gothic" pitchFamily="34" charset="-122"/>
                <a:cs typeface="Yu Gothic" pitchFamily="34" charset="-120"/>
              </a:rPr>
              <a:t>図書館のような</a:t>
            </a:r>
            <a:endParaRPr lang="en-US" sz="1400" dirty="0"/>
          </a:p>
        </p:txBody>
      </p:sp>
      <p:sp>
        <p:nvSpPr>
          <p:cNvPr id="20" name="Text 14"/>
          <p:cNvSpPr/>
          <p:nvPr/>
        </p:nvSpPr>
        <p:spPr>
          <a:xfrm>
            <a:off x="1464869" y="3845966"/>
            <a:ext cx="5577840" cy="256032"/>
          </a:xfrm>
          <a:prstGeom prst="rect">
            <a:avLst/>
          </a:prstGeom>
          <a:noFill/>
          <a:ln/>
        </p:spPr>
        <p:txBody>
          <a:bodyPr wrap="square" lIns="0" tIns="0" rIns="0" bIns="0" rtlCol="0" anchor="ctr"/>
          <a:lstStyle/>
          <a:p>
            <a:pPr indent="0" marL="0">
              <a:buNone/>
            </a:pPr>
            <a:r>
              <a:rPr lang="en-US" sz="1050" dirty="0">
                <a:solidFill>
                  <a:srgbClr val="4B5550"/>
                </a:solidFill>
                <a:latin typeface="Yu Gothic" pitchFamily="34" charset="0"/>
                <a:ea typeface="Yu Gothic" pitchFamily="34" charset="-122"/>
                <a:cs typeface="Yu Gothic" pitchFamily="34" charset="-120"/>
              </a:rPr>
              <a:t>静かすぎない、適度な賑やかさがある。</a:t>
            </a:r>
            <a:endParaRPr lang="en-US" sz="1050" dirty="0"/>
          </a:p>
        </p:txBody>
      </p:sp>
      <p:sp>
        <p:nvSpPr>
          <p:cNvPr id="21" name="Shape 15"/>
          <p:cNvSpPr/>
          <p:nvPr/>
        </p:nvSpPr>
        <p:spPr>
          <a:xfrm>
            <a:off x="660197" y="4394606"/>
            <a:ext cx="6675120" cy="969264"/>
          </a:xfrm>
          <a:prstGeom prst="roundRect">
            <a:avLst>
              <a:gd name="adj" fmla="val 5660"/>
            </a:avLst>
          </a:prstGeom>
          <a:solidFill>
            <a:srgbClr val="0C5230"/>
          </a:solidFill>
          <a:ln/>
        </p:spPr>
      </p:sp>
      <p:sp>
        <p:nvSpPr>
          <p:cNvPr id="22" name="Text 16"/>
          <p:cNvSpPr/>
          <p:nvPr/>
        </p:nvSpPr>
        <p:spPr>
          <a:xfrm>
            <a:off x="989381" y="4504334"/>
            <a:ext cx="6016752" cy="274320"/>
          </a:xfrm>
          <a:prstGeom prst="rect">
            <a:avLst/>
          </a:prstGeom>
          <a:noFill/>
          <a:ln/>
        </p:spPr>
        <p:txBody>
          <a:bodyPr wrap="square" lIns="0" tIns="0" rIns="0" bIns="0" rtlCol="0" anchor="ctr"/>
          <a:lstStyle/>
          <a:p>
            <a:pPr indent="0" marL="0">
              <a:buNone/>
            </a:pPr>
            <a:r>
              <a:rPr lang="en-US" sz="1150" dirty="0">
                <a:solidFill>
                  <a:srgbClr val="8CC5A5"/>
                </a:solidFill>
                <a:latin typeface="Yu Gothic" pitchFamily="34" charset="0"/>
                <a:ea typeface="Yu Gothic" pitchFamily="34" charset="-122"/>
                <a:cs typeface="Yu Gothic" pitchFamily="34" charset="-120"/>
              </a:rPr>
              <a:t>“誰もが気軽に使える”</a:t>
            </a:r>
            <a:endParaRPr lang="en-US" sz="1150" dirty="0"/>
          </a:p>
        </p:txBody>
      </p:sp>
      <p:sp>
        <p:nvSpPr>
          <p:cNvPr id="23" name="Text 17"/>
          <p:cNvSpPr/>
          <p:nvPr/>
        </p:nvSpPr>
        <p:spPr>
          <a:xfrm>
            <a:off x="989381" y="4796942"/>
            <a:ext cx="5577840" cy="457200"/>
          </a:xfrm>
          <a:prstGeom prst="rect">
            <a:avLst/>
          </a:prstGeom>
          <a:noFill/>
          <a:ln/>
        </p:spPr>
        <p:txBody>
          <a:bodyPr wrap="square" lIns="0" tIns="0" rIns="0" bIns="0" rtlCol="0" anchor="ctr"/>
          <a:lstStyle/>
          <a:p>
            <a:pPr indent="0" marL="0">
              <a:buNone/>
            </a:pPr>
            <a:r>
              <a:rPr lang="en-US" sz="2400" b="1" dirty="0">
                <a:solidFill>
                  <a:srgbClr val="FFFFFF"/>
                </a:solidFill>
                <a:latin typeface="Yu Gothic" pitchFamily="34" charset="0"/>
                <a:ea typeface="Yu Gothic" pitchFamily="34" charset="-122"/>
                <a:cs typeface="Yu Gothic" pitchFamily="34" charset="-120"/>
              </a:rPr>
              <a:t>第三の居場所</a:t>
            </a:r>
            <a:endParaRPr lang="en-US" sz="2400" dirty="0"/>
          </a:p>
        </p:txBody>
      </p:sp>
      <p:pic>
        <p:nvPicPr>
          <p:cNvPr id="24" name="Image 4" descr="/home/user/suzuki-ceo/selfcafe-partner-deck/assets/icons/LuCoffee-pale.png">    </p:cNvPr>
          <p:cNvPicPr>
            <a:picLocks noChangeAspect="1"/>
          </p:cNvPicPr>
          <p:nvPr/>
        </p:nvPicPr>
        <p:blipFill>
          <a:blip r:embed="rId5"/>
          <a:stretch>
            <a:fillRect/>
          </a:stretch>
        </p:blipFill>
        <p:spPr>
          <a:xfrm>
            <a:off x="6420917" y="4760366"/>
            <a:ext cx="475488" cy="475488"/>
          </a:xfrm>
          <a:prstGeom prst="rect">
            <a:avLst/>
          </a:prstGeom>
        </p:spPr>
      </p:pic>
      <p:sp>
        <p:nvSpPr>
          <p:cNvPr id="25" name="Shape 18"/>
          <p:cNvSpPr/>
          <p:nvPr/>
        </p:nvSpPr>
        <p:spPr>
          <a:xfrm>
            <a:off x="660197" y="5528462"/>
            <a:ext cx="2127504" cy="658368"/>
          </a:xfrm>
          <a:prstGeom prst="roundRect">
            <a:avLst>
              <a:gd name="adj" fmla="val 8333"/>
            </a:avLst>
          </a:prstGeom>
          <a:solidFill>
            <a:srgbClr val="F1F8F3"/>
          </a:solidFill>
          <a:ln w="9525">
            <a:solidFill>
              <a:srgbClr val="D2E7DA"/>
            </a:solidFill>
            <a:prstDash val="solid"/>
          </a:ln>
        </p:spPr>
      </p:sp>
      <p:sp>
        <p:nvSpPr>
          <p:cNvPr id="26" name="Text 19"/>
          <p:cNvSpPr/>
          <p:nvPr/>
        </p:nvSpPr>
        <p:spPr>
          <a:xfrm>
            <a:off x="824789" y="5601614"/>
            <a:ext cx="1798320" cy="292608"/>
          </a:xfrm>
          <a:prstGeom prst="rect">
            <a:avLst/>
          </a:prstGeom>
          <a:noFill/>
          <a:ln/>
        </p:spPr>
        <p:txBody>
          <a:bodyPr wrap="square" lIns="0" tIns="0" rIns="0" bIns="0" rtlCol="0" anchor="ctr"/>
          <a:lstStyle/>
          <a:p>
            <a:pPr indent="0" marL="0">
              <a:buNone/>
            </a:pPr>
            <a:r>
              <a:rPr lang="en-US" sz="1500" b="1" dirty="0">
                <a:solidFill>
                  <a:srgbClr val="106838"/>
                </a:solidFill>
                <a:latin typeface="Yu Gothic" pitchFamily="34" charset="0"/>
                <a:ea typeface="Yu Gothic" pitchFamily="34" charset="-122"/>
                <a:cs typeface="Yu Gothic" pitchFamily="34" charset="-120"/>
              </a:rPr>
              <a:t>2〜3時間</a:t>
            </a:r>
            <a:endParaRPr lang="en-US" sz="1500" dirty="0"/>
          </a:p>
        </p:txBody>
      </p:sp>
      <p:sp>
        <p:nvSpPr>
          <p:cNvPr id="27" name="Text 20"/>
          <p:cNvSpPr/>
          <p:nvPr/>
        </p:nvSpPr>
        <p:spPr>
          <a:xfrm>
            <a:off x="824789" y="5894222"/>
            <a:ext cx="1798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平均滞在時間</a:t>
            </a:r>
            <a:endParaRPr lang="en-US" sz="900" dirty="0"/>
          </a:p>
        </p:txBody>
      </p:sp>
      <p:sp>
        <p:nvSpPr>
          <p:cNvPr id="28" name="Shape 21"/>
          <p:cNvSpPr/>
          <p:nvPr/>
        </p:nvSpPr>
        <p:spPr>
          <a:xfrm>
            <a:off x="2934005" y="5528462"/>
            <a:ext cx="2127504" cy="658368"/>
          </a:xfrm>
          <a:prstGeom prst="roundRect">
            <a:avLst>
              <a:gd name="adj" fmla="val 8333"/>
            </a:avLst>
          </a:prstGeom>
          <a:solidFill>
            <a:srgbClr val="F1F8F3"/>
          </a:solidFill>
          <a:ln w="9525">
            <a:solidFill>
              <a:srgbClr val="D2E7DA"/>
            </a:solidFill>
            <a:prstDash val="solid"/>
          </a:ln>
        </p:spPr>
      </p:sp>
      <p:sp>
        <p:nvSpPr>
          <p:cNvPr id="29" name="Text 22"/>
          <p:cNvSpPr/>
          <p:nvPr/>
        </p:nvSpPr>
        <p:spPr>
          <a:xfrm>
            <a:off x="3098597" y="5601614"/>
            <a:ext cx="1798320" cy="292608"/>
          </a:xfrm>
          <a:prstGeom prst="rect">
            <a:avLst/>
          </a:prstGeom>
          <a:noFill/>
          <a:ln/>
        </p:spPr>
        <p:txBody>
          <a:bodyPr wrap="square" lIns="0" tIns="0" rIns="0" bIns="0" rtlCol="0" anchor="ctr"/>
          <a:lstStyle/>
          <a:p>
            <a:pPr indent="0" marL="0">
              <a:buNone/>
            </a:pPr>
            <a:r>
              <a:rPr lang="en-US" sz="1500" b="1" dirty="0">
                <a:solidFill>
                  <a:srgbClr val="106838"/>
                </a:solidFill>
                <a:latin typeface="Yu Gothic" pitchFamily="34" charset="0"/>
                <a:ea typeface="Yu Gothic" pitchFamily="34" charset="-122"/>
                <a:cs typeface="Yu Gothic" pitchFamily="34" charset="-120"/>
              </a:rPr>
              <a:t>2杯程度</a:t>
            </a:r>
            <a:endParaRPr lang="en-US" sz="1500" dirty="0"/>
          </a:p>
        </p:txBody>
      </p:sp>
      <p:sp>
        <p:nvSpPr>
          <p:cNvPr id="30" name="Text 23"/>
          <p:cNvSpPr/>
          <p:nvPr/>
        </p:nvSpPr>
        <p:spPr>
          <a:xfrm>
            <a:off x="3098597" y="5894222"/>
            <a:ext cx="1798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1人あたり購入数</a:t>
            </a:r>
            <a:endParaRPr lang="en-US" sz="900" dirty="0"/>
          </a:p>
        </p:txBody>
      </p:sp>
      <p:sp>
        <p:nvSpPr>
          <p:cNvPr id="31" name="Shape 24"/>
          <p:cNvSpPr/>
          <p:nvPr/>
        </p:nvSpPr>
        <p:spPr>
          <a:xfrm>
            <a:off x="5207813" y="5528462"/>
            <a:ext cx="2127504" cy="658368"/>
          </a:xfrm>
          <a:prstGeom prst="roundRect">
            <a:avLst>
              <a:gd name="adj" fmla="val 8333"/>
            </a:avLst>
          </a:prstGeom>
          <a:solidFill>
            <a:srgbClr val="F1F8F3"/>
          </a:solidFill>
          <a:ln w="9525">
            <a:solidFill>
              <a:srgbClr val="D2E7DA"/>
            </a:solidFill>
            <a:prstDash val="solid"/>
          </a:ln>
        </p:spPr>
      </p:sp>
      <p:sp>
        <p:nvSpPr>
          <p:cNvPr id="32" name="Text 25"/>
          <p:cNvSpPr/>
          <p:nvPr/>
        </p:nvSpPr>
        <p:spPr>
          <a:xfrm>
            <a:off x="5372405" y="5601614"/>
            <a:ext cx="1798320" cy="292608"/>
          </a:xfrm>
          <a:prstGeom prst="rect">
            <a:avLst/>
          </a:prstGeom>
          <a:noFill/>
          <a:ln/>
        </p:spPr>
        <p:txBody>
          <a:bodyPr wrap="square" lIns="0" tIns="0" rIns="0" bIns="0" rtlCol="0" anchor="ctr"/>
          <a:lstStyle/>
          <a:p>
            <a:pPr indent="0" marL="0">
              <a:buNone/>
            </a:pPr>
            <a:r>
              <a:rPr lang="en-US" sz="1500" b="1" dirty="0">
                <a:solidFill>
                  <a:srgbClr val="106838"/>
                </a:solidFill>
                <a:latin typeface="Yu Gothic" pitchFamily="34" charset="0"/>
                <a:ea typeface="Yu Gothic" pitchFamily="34" charset="-122"/>
                <a:cs typeface="Yu Gothic" pitchFamily="34" charset="-120"/>
              </a:rPr>
              <a:t>24時間</a:t>
            </a:r>
            <a:endParaRPr lang="en-US" sz="1500" dirty="0"/>
          </a:p>
        </p:txBody>
      </p:sp>
      <p:sp>
        <p:nvSpPr>
          <p:cNvPr id="33" name="Text 26"/>
          <p:cNvSpPr/>
          <p:nvPr/>
        </p:nvSpPr>
        <p:spPr>
          <a:xfrm>
            <a:off x="5372405" y="5894222"/>
            <a:ext cx="1798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営業も設定可能</a:t>
            </a:r>
            <a:endParaRPr lang="en-US" sz="900" dirty="0"/>
          </a:p>
        </p:txBody>
      </p:sp>
      <p:sp>
        <p:nvSpPr>
          <p:cNvPr id="34" name="Shape 27"/>
          <p:cNvSpPr/>
          <p:nvPr/>
        </p:nvSpPr>
        <p:spPr>
          <a:xfrm>
            <a:off x="7719365" y="1651406"/>
            <a:ext cx="3812134" cy="4535424"/>
          </a:xfrm>
          <a:prstGeom prst="roundRect">
            <a:avLst>
              <a:gd name="adj" fmla="val 1439"/>
            </a:avLst>
          </a:prstGeom>
          <a:solidFill>
            <a:srgbClr val="FFFFFF"/>
          </a:solidFill>
          <a:ln w="9525">
            <a:solidFill>
              <a:srgbClr val="EFEAE0"/>
            </a:solidFill>
            <a:prstDash val="solid"/>
          </a:ln>
        </p:spPr>
      </p:sp>
      <p:sp>
        <p:nvSpPr>
          <p:cNvPr id="35" name="Text 28"/>
          <p:cNvSpPr/>
          <p:nvPr/>
        </p:nvSpPr>
        <p:spPr>
          <a:xfrm>
            <a:off x="7993685" y="1907438"/>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NETWORK</a:t>
            </a:r>
            <a:endParaRPr lang="en-US" sz="900" dirty="0"/>
          </a:p>
        </p:txBody>
      </p:sp>
      <p:sp>
        <p:nvSpPr>
          <p:cNvPr id="36" name="Text 29"/>
          <p:cNvSpPr/>
          <p:nvPr/>
        </p:nvSpPr>
        <p:spPr>
          <a:xfrm>
            <a:off x="7993685" y="2145182"/>
            <a:ext cx="3263494" cy="548640"/>
          </a:xfrm>
          <a:prstGeom prst="rect">
            <a:avLst/>
          </a:prstGeom>
          <a:noFill/>
          <a:ln/>
        </p:spPr>
        <p:txBody>
          <a:bodyPr wrap="square" lIns="0" tIns="0" rIns="0" bIns="0" rtlCol="0" anchor="ctr"/>
          <a:lstStyle/>
          <a:p>
            <a:pPr indent="0" marL="0">
              <a:buNone/>
            </a:pPr>
            <a:r>
              <a:rPr lang="en-US" sz="4000" b="1" dirty="0">
                <a:solidFill>
                  <a:srgbClr val="106838"/>
                </a:solidFill>
                <a:latin typeface="Arial" pitchFamily="34" charset="0"/>
                <a:ea typeface="Arial" pitchFamily="34" charset="-122"/>
                <a:cs typeface="Arial" pitchFamily="34" charset="-120"/>
              </a:rPr>
              <a:t>71</a:t>
            </a:r>
            <a:r>
              <a:rPr lang="en-US" sz="1400" b="1" dirty="0">
                <a:solidFill>
                  <a:srgbClr val="106838"/>
                </a:solidFill>
                <a:latin typeface="Yu Gothic" pitchFamily="34" charset="0"/>
                <a:ea typeface="Yu Gothic" pitchFamily="34" charset="-122"/>
                <a:cs typeface="Yu Gothic" pitchFamily="34" charset="-120"/>
              </a:rPr>
              <a:t> 店舗</a:t>
            </a:r>
            <a:endParaRPr lang="en-US" sz="4000" dirty="0"/>
          </a:p>
        </p:txBody>
      </p:sp>
      <p:sp>
        <p:nvSpPr>
          <p:cNvPr id="37" name="Text 30"/>
          <p:cNvSpPr/>
          <p:nvPr/>
        </p:nvSpPr>
        <p:spPr>
          <a:xfrm>
            <a:off x="7993685" y="2712110"/>
            <a:ext cx="3263494"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2026年7月時点／11都府県で展開中</a:t>
            </a:r>
            <a:endParaRPr lang="en-US" sz="900" dirty="0"/>
          </a:p>
        </p:txBody>
      </p:sp>
      <p:sp>
        <p:nvSpPr>
          <p:cNvPr id="38" name="Shape 31"/>
          <p:cNvSpPr/>
          <p:nvPr/>
        </p:nvSpPr>
        <p:spPr>
          <a:xfrm>
            <a:off x="7993685" y="3004718"/>
            <a:ext cx="3263494" cy="10058"/>
          </a:xfrm>
          <a:prstGeom prst="rect">
            <a:avLst/>
          </a:prstGeom>
          <a:solidFill>
            <a:srgbClr val="EFEAE0"/>
          </a:solidFill>
          <a:ln/>
        </p:spPr>
      </p:sp>
      <p:sp>
        <p:nvSpPr>
          <p:cNvPr id="39" name="Text 32"/>
          <p:cNvSpPr/>
          <p:nvPr/>
        </p:nvSpPr>
        <p:spPr>
          <a:xfrm>
            <a:off x="7993685" y="3096158"/>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愛知県</a:t>
            </a:r>
            <a:endParaRPr lang="en-US" sz="950" dirty="0"/>
          </a:p>
        </p:txBody>
      </p:sp>
      <p:sp>
        <p:nvSpPr>
          <p:cNvPr id="40" name="Text 33"/>
          <p:cNvSpPr/>
          <p:nvPr/>
        </p:nvSpPr>
        <p:spPr>
          <a:xfrm>
            <a:off x="10525658" y="3096158"/>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36</a:t>
            </a:r>
            <a:endParaRPr lang="en-US" sz="1050" dirty="0"/>
          </a:p>
        </p:txBody>
      </p:sp>
      <p:sp>
        <p:nvSpPr>
          <p:cNvPr id="41" name="Text 34"/>
          <p:cNvSpPr/>
          <p:nvPr/>
        </p:nvSpPr>
        <p:spPr>
          <a:xfrm>
            <a:off x="7993685" y="3308299"/>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大阪府</a:t>
            </a:r>
            <a:endParaRPr lang="en-US" sz="950" dirty="0"/>
          </a:p>
        </p:txBody>
      </p:sp>
      <p:sp>
        <p:nvSpPr>
          <p:cNvPr id="42" name="Text 35"/>
          <p:cNvSpPr/>
          <p:nvPr/>
        </p:nvSpPr>
        <p:spPr>
          <a:xfrm>
            <a:off x="10525658" y="3308299"/>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18</a:t>
            </a:r>
            <a:endParaRPr lang="en-US" sz="1050" dirty="0"/>
          </a:p>
        </p:txBody>
      </p:sp>
      <p:sp>
        <p:nvSpPr>
          <p:cNvPr id="43" name="Text 36"/>
          <p:cNvSpPr/>
          <p:nvPr/>
        </p:nvSpPr>
        <p:spPr>
          <a:xfrm>
            <a:off x="7993685" y="3520440"/>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東京都</a:t>
            </a:r>
            <a:endParaRPr lang="en-US" sz="950" dirty="0"/>
          </a:p>
        </p:txBody>
      </p:sp>
      <p:sp>
        <p:nvSpPr>
          <p:cNvPr id="44" name="Text 37"/>
          <p:cNvSpPr/>
          <p:nvPr/>
        </p:nvSpPr>
        <p:spPr>
          <a:xfrm>
            <a:off x="10525658" y="3520440"/>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7</a:t>
            </a:r>
            <a:endParaRPr lang="en-US" sz="1050" dirty="0"/>
          </a:p>
        </p:txBody>
      </p:sp>
      <p:sp>
        <p:nvSpPr>
          <p:cNvPr id="45" name="Text 38"/>
          <p:cNvSpPr/>
          <p:nvPr/>
        </p:nvSpPr>
        <p:spPr>
          <a:xfrm>
            <a:off x="7993685" y="3732581"/>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岩手県</a:t>
            </a:r>
            <a:endParaRPr lang="en-US" sz="950" dirty="0"/>
          </a:p>
        </p:txBody>
      </p:sp>
      <p:sp>
        <p:nvSpPr>
          <p:cNvPr id="46" name="Text 39"/>
          <p:cNvSpPr/>
          <p:nvPr/>
        </p:nvSpPr>
        <p:spPr>
          <a:xfrm>
            <a:off x="10525658" y="3732581"/>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2</a:t>
            </a:r>
            <a:endParaRPr lang="en-US" sz="1050" dirty="0"/>
          </a:p>
        </p:txBody>
      </p:sp>
      <p:sp>
        <p:nvSpPr>
          <p:cNvPr id="47" name="Text 40"/>
          <p:cNvSpPr/>
          <p:nvPr/>
        </p:nvSpPr>
        <p:spPr>
          <a:xfrm>
            <a:off x="7993685" y="3944722"/>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岐阜県</a:t>
            </a:r>
            <a:endParaRPr lang="en-US" sz="950" dirty="0"/>
          </a:p>
        </p:txBody>
      </p:sp>
      <p:sp>
        <p:nvSpPr>
          <p:cNvPr id="48" name="Text 41"/>
          <p:cNvSpPr/>
          <p:nvPr/>
        </p:nvSpPr>
        <p:spPr>
          <a:xfrm>
            <a:off x="10525658" y="3944722"/>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2</a:t>
            </a:r>
            <a:endParaRPr lang="en-US" sz="1050" dirty="0"/>
          </a:p>
        </p:txBody>
      </p:sp>
      <p:sp>
        <p:nvSpPr>
          <p:cNvPr id="49" name="Text 42"/>
          <p:cNvSpPr/>
          <p:nvPr/>
        </p:nvSpPr>
        <p:spPr>
          <a:xfrm>
            <a:off x="7993685" y="4156862"/>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埼玉県</a:t>
            </a:r>
            <a:endParaRPr lang="en-US" sz="950" dirty="0"/>
          </a:p>
        </p:txBody>
      </p:sp>
      <p:sp>
        <p:nvSpPr>
          <p:cNvPr id="50" name="Text 43"/>
          <p:cNvSpPr/>
          <p:nvPr/>
        </p:nvSpPr>
        <p:spPr>
          <a:xfrm>
            <a:off x="10525658" y="4156862"/>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1" name="Text 44"/>
          <p:cNvSpPr/>
          <p:nvPr/>
        </p:nvSpPr>
        <p:spPr>
          <a:xfrm>
            <a:off x="7993685" y="4369003"/>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千葉県</a:t>
            </a:r>
            <a:endParaRPr lang="en-US" sz="950" dirty="0"/>
          </a:p>
        </p:txBody>
      </p:sp>
      <p:sp>
        <p:nvSpPr>
          <p:cNvPr id="52" name="Text 45"/>
          <p:cNvSpPr/>
          <p:nvPr/>
        </p:nvSpPr>
        <p:spPr>
          <a:xfrm>
            <a:off x="10525658" y="4369003"/>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3" name="Text 46"/>
          <p:cNvSpPr/>
          <p:nvPr/>
        </p:nvSpPr>
        <p:spPr>
          <a:xfrm>
            <a:off x="7993685" y="4581144"/>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静岡県</a:t>
            </a:r>
            <a:endParaRPr lang="en-US" sz="950" dirty="0"/>
          </a:p>
        </p:txBody>
      </p:sp>
      <p:sp>
        <p:nvSpPr>
          <p:cNvPr id="54" name="Text 47"/>
          <p:cNvSpPr/>
          <p:nvPr/>
        </p:nvSpPr>
        <p:spPr>
          <a:xfrm>
            <a:off x="10525658" y="4581144"/>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5" name="Text 48"/>
          <p:cNvSpPr/>
          <p:nvPr/>
        </p:nvSpPr>
        <p:spPr>
          <a:xfrm>
            <a:off x="7993685" y="4793285"/>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滋賀県</a:t>
            </a:r>
            <a:endParaRPr lang="en-US" sz="950" dirty="0"/>
          </a:p>
        </p:txBody>
      </p:sp>
      <p:sp>
        <p:nvSpPr>
          <p:cNvPr id="56" name="Text 49"/>
          <p:cNvSpPr/>
          <p:nvPr/>
        </p:nvSpPr>
        <p:spPr>
          <a:xfrm>
            <a:off x="10525658" y="4793285"/>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7" name="Text 50"/>
          <p:cNvSpPr/>
          <p:nvPr/>
        </p:nvSpPr>
        <p:spPr>
          <a:xfrm>
            <a:off x="7993685" y="5005426"/>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三重県</a:t>
            </a:r>
            <a:endParaRPr lang="en-US" sz="950" dirty="0"/>
          </a:p>
        </p:txBody>
      </p:sp>
      <p:sp>
        <p:nvSpPr>
          <p:cNvPr id="58" name="Text 51"/>
          <p:cNvSpPr/>
          <p:nvPr/>
        </p:nvSpPr>
        <p:spPr>
          <a:xfrm>
            <a:off x="10525658" y="5005426"/>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59" name="Text 52"/>
          <p:cNvSpPr/>
          <p:nvPr/>
        </p:nvSpPr>
        <p:spPr>
          <a:xfrm>
            <a:off x="7993685" y="5217566"/>
            <a:ext cx="1645920" cy="210312"/>
          </a:xfrm>
          <a:prstGeom prst="rect">
            <a:avLst/>
          </a:prstGeom>
          <a:noFill/>
          <a:ln/>
        </p:spPr>
        <p:txBody>
          <a:bodyPr wrap="square" lIns="0" tIns="0" rIns="0" bIns="0" rtlCol="0" anchor="ctr"/>
          <a:lstStyle/>
          <a:p>
            <a:pPr indent="0" marL="0">
              <a:buNone/>
            </a:pPr>
            <a:r>
              <a:rPr lang="en-US" sz="950" dirty="0">
                <a:solidFill>
                  <a:srgbClr val="0A3D23"/>
                </a:solidFill>
                <a:latin typeface="Yu Gothic" pitchFamily="34" charset="0"/>
                <a:ea typeface="Yu Gothic" pitchFamily="34" charset="-122"/>
                <a:cs typeface="Yu Gothic" pitchFamily="34" charset="-120"/>
              </a:rPr>
              <a:t>鳥取県</a:t>
            </a:r>
            <a:endParaRPr lang="en-US" sz="950" dirty="0"/>
          </a:p>
        </p:txBody>
      </p:sp>
      <p:sp>
        <p:nvSpPr>
          <p:cNvPr id="60" name="Text 53"/>
          <p:cNvSpPr/>
          <p:nvPr/>
        </p:nvSpPr>
        <p:spPr>
          <a:xfrm>
            <a:off x="10525658" y="5217566"/>
            <a:ext cx="731520" cy="210312"/>
          </a:xfrm>
          <a:prstGeom prst="rect">
            <a:avLst/>
          </a:prstGeom>
          <a:noFill/>
          <a:ln/>
        </p:spPr>
        <p:txBody>
          <a:bodyPr wrap="square" lIns="0" tIns="0" rIns="0" bIns="0" rtlCol="0" anchor="ctr"/>
          <a:lstStyle/>
          <a:p>
            <a:pPr algn="r" indent="0" marL="0">
              <a:buNone/>
            </a:pPr>
            <a:r>
              <a:rPr lang="en-US" sz="1050" b="1" dirty="0">
                <a:solidFill>
                  <a:srgbClr val="106838"/>
                </a:solidFill>
                <a:latin typeface="Arial" pitchFamily="34" charset="0"/>
                <a:ea typeface="Arial" pitchFamily="34" charset="-122"/>
                <a:cs typeface="Arial" pitchFamily="34" charset="-120"/>
              </a:rPr>
              <a:t>1</a:t>
            </a:r>
            <a:endParaRPr lang="en-US" sz="1050" dirty="0"/>
          </a:p>
        </p:txBody>
      </p:sp>
      <p:sp>
        <p:nvSpPr>
          <p:cNvPr id="61" name="Shape 54"/>
          <p:cNvSpPr/>
          <p:nvPr/>
        </p:nvSpPr>
        <p:spPr>
          <a:xfrm>
            <a:off x="7993685" y="5491886"/>
            <a:ext cx="3263494" cy="512064"/>
          </a:xfrm>
          <a:prstGeom prst="roundRect">
            <a:avLst>
              <a:gd name="adj" fmla="val 8929"/>
            </a:avLst>
          </a:prstGeom>
          <a:solidFill>
            <a:srgbClr val="FBF4E4"/>
          </a:solidFill>
          <a:ln/>
        </p:spPr>
      </p:sp>
      <p:sp>
        <p:nvSpPr>
          <p:cNvPr id="62" name="Text 55"/>
          <p:cNvSpPr/>
          <p:nvPr/>
        </p:nvSpPr>
        <p:spPr>
          <a:xfrm>
            <a:off x="8139989" y="5491886"/>
            <a:ext cx="2989174" cy="512064"/>
          </a:xfrm>
          <a:prstGeom prst="rect">
            <a:avLst/>
          </a:prstGeom>
          <a:noFill/>
          <a:ln/>
        </p:spPr>
        <p:txBody>
          <a:bodyPr wrap="square" lIns="0" tIns="0" rIns="0" bIns="0" rtlCol="0" anchor="ctr"/>
          <a:lstStyle/>
          <a:p>
            <a:pPr indent="0" marL="0">
              <a:buNone/>
            </a:pPr>
            <a:r>
              <a:rPr lang="en-US" sz="1000" b="1" dirty="0">
                <a:solidFill>
                  <a:srgbClr val="A8761F"/>
                </a:solidFill>
                <a:latin typeface="Yu Gothic" pitchFamily="34" charset="0"/>
                <a:ea typeface="Yu Gothic" pitchFamily="34" charset="-122"/>
                <a:cs typeface="Yu Gothic" pitchFamily="34" charset="-120"/>
              </a:rPr>
              <a:t>出店予定：年内にさらに10店舗以上</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07</a:t>
            </a:r>
            <a:r>
              <a:rPr lang="en-US" sz="1050" b="1" dirty="0">
                <a:solidFill>
                  <a:srgbClr val="1B8149"/>
                </a:solidFill>
                <a:latin typeface="Yu Gothic" pitchFamily="34" charset="0"/>
                <a:ea typeface="Yu Gothic" pitchFamily="34" charset="-122"/>
                <a:cs typeface="Yu Gothic" pitchFamily="34" charset="-120"/>
              </a:rPr>
              <a:t>   実績データ</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店舗展開数の推移</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2022年9月の1号店OPENから、驚異的なスピードで出店エリアを拡大。出店は今後も継続していきます。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08</a:t>
            </a:r>
            <a:endParaRPr lang="en-US" sz="1000" dirty="0"/>
          </a:p>
        </p:txBody>
      </p:sp>
      <p:sp>
        <p:nvSpPr>
          <p:cNvPr id="9" name="Shape 6"/>
          <p:cNvSpPr/>
          <p:nvPr/>
        </p:nvSpPr>
        <p:spPr>
          <a:xfrm>
            <a:off x="660197" y="1651406"/>
            <a:ext cx="10871302" cy="2798064"/>
          </a:xfrm>
          <a:prstGeom prst="roundRect">
            <a:avLst>
              <a:gd name="adj" fmla="val 1961"/>
            </a:avLst>
          </a:prstGeom>
          <a:solidFill>
            <a:srgbClr val="FFFFFF"/>
          </a:solidFill>
          <a:ln w="9525">
            <a:solidFill>
              <a:srgbClr val="EFEAE0"/>
            </a:solidFill>
            <a:prstDash val="solid"/>
          </a:ln>
        </p:spPr>
      </p:sp>
      <p:sp>
        <p:nvSpPr>
          <p:cNvPr id="10" name="Text 7"/>
          <p:cNvSpPr/>
          <p:nvPr/>
        </p:nvSpPr>
        <p:spPr>
          <a:xfrm>
            <a:off x="934517" y="1834286"/>
            <a:ext cx="4572000"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営業中店舗の開店月ベース累計</a:t>
            </a:r>
            <a:endParaRPr lang="en-US" sz="1100" dirty="0"/>
          </a:p>
        </p:txBody>
      </p:sp>
      <p:sp>
        <p:nvSpPr>
          <p:cNvPr id="11" name="Text 8"/>
          <p:cNvSpPr/>
          <p:nvPr/>
        </p:nvSpPr>
        <p:spPr>
          <a:xfrm>
            <a:off x="934517" y="2072030"/>
            <a:ext cx="457200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2022.09 〜 2026.07（単位：店舗）</a:t>
            </a:r>
            <a:endParaRPr lang="en-US" sz="900" dirty="0"/>
          </a:p>
        </p:txBody>
      </p:sp>
      <p:sp>
        <p:nvSpPr>
          <p:cNvPr id="12" name="Shape 9"/>
          <p:cNvSpPr/>
          <p:nvPr/>
        </p:nvSpPr>
        <p:spPr>
          <a:xfrm>
            <a:off x="7819034" y="1852574"/>
            <a:ext cx="3438144" cy="420624"/>
          </a:xfrm>
          <a:prstGeom prst="roundRect">
            <a:avLst>
              <a:gd name="adj" fmla="val 50000"/>
            </a:avLst>
          </a:prstGeom>
          <a:solidFill>
            <a:srgbClr val="A8761F"/>
          </a:solidFill>
          <a:ln/>
        </p:spPr>
      </p:sp>
      <p:sp>
        <p:nvSpPr>
          <p:cNvPr id="13" name="Text 10"/>
          <p:cNvSpPr/>
          <p:nvPr/>
        </p:nvSpPr>
        <p:spPr>
          <a:xfrm>
            <a:off x="7819034" y="1852574"/>
            <a:ext cx="343814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サービス開始以来、</a:t>
            </a:r>
            <a:r>
              <a:rPr lang="en-US" sz="1500" b="1" dirty="0">
                <a:solidFill>
                  <a:srgbClr val="FFFFFF"/>
                </a:solidFill>
                <a:latin typeface="Arial" pitchFamily="34" charset="0"/>
                <a:ea typeface="Arial" pitchFamily="34" charset="-122"/>
                <a:cs typeface="Arial" pitchFamily="34" charset="-120"/>
              </a:rPr>
              <a:t>47</a:t>
            </a:r>
            <a:r>
              <a:rPr lang="en-US" sz="1100" b="1" dirty="0">
                <a:solidFill>
                  <a:srgbClr val="FFFFFF"/>
                </a:solidFill>
                <a:latin typeface="Yu Gothic" pitchFamily="34" charset="0"/>
                <a:ea typeface="Yu Gothic" pitchFamily="34" charset="-122"/>
                <a:cs typeface="Yu Gothic" pitchFamily="34" charset="-120"/>
              </a:rPr>
              <a:t> ヶ月で </a:t>
            </a:r>
            <a:r>
              <a:rPr lang="en-US" sz="1500" b="1" dirty="0">
                <a:solidFill>
                  <a:srgbClr val="FFFFFF"/>
                </a:solidFill>
                <a:latin typeface="Arial" pitchFamily="34" charset="0"/>
                <a:ea typeface="Arial" pitchFamily="34" charset="-122"/>
                <a:cs typeface="Arial" pitchFamily="34" charset="-120"/>
              </a:rPr>
              <a:t>71</a:t>
            </a:r>
            <a:r>
              <a:rPr lang="en-US" sz="1100" b="1" dirty="0">
                <a:solidFill>
                  <a:srgbClr val="FFFFFF"/>
                </a:solidFill>
                <a:latin typeface="Yu Gothic" pitchFamily="34" charset="0"/>
                <a:ea typeface="Yu Gothic" pitchFamily="34" charset="-122"/>
                <a:cs typeface="Yu Gothic" pitchFamily="34" charset="-120"/>
              </a:rPr>
              <a:t> 店舗</a:t>
            </a:r>
            <a:endParaRPr lang="en-US" sz="1100" dirty="0"/>
          </a:p>
        </p:txBody>
      </p:sp>
      <p:graphicFrame>
        <p:nvGraphicFramePr>
          <p:cNvPr id="14" name="Chart 0" descr=""/>
          <p:cNvGraphicFramePr/>
          <p:nvPr/>
        </p:nvGraphicFramePr>
        <p:xfrm>
          <a:off x="806501" y="2364638"/>
          <a:ext cx="10505542" cy="1883664"/>
        </p:xfrm>
        <a:graphic xmlns:a="http://schemas.openxmlformats.org/drawingml/2006/main">
          <a:graphicData uri="http://schemas.openxmlformats.org/drawingml/2006/chart">
            <c:chart xmlns:c="http://schemas.openxmlformats.org/drawingml/2006/chart" r:id="rId2"/>
          </a:graphicData>
        </a:graphic>
      </p:graphicFrame>
      <p:sp>
        <p:nvSpPr>
          <p:cNvPr id="15" name="Shape 11"/>
          <p:cNvSpPr/>
          <p:nvPr/>
        </p:nvSpPr>
        <p:spPr>
          <a:xfrm flipV="1">
            <a:off x="3921587" y="2620670"/>
            <a:ext cx="6087929" cy="1243584"/>
          </a:xfrm>
          <a:prstGeom prst="line">
            <a:avLst/>
          </a:prstGeom>
          <a:noFill/>
          <a:ln w="57150">
            <a:solidFill>
              <a:srgbClr val="A8761F"/>
            </a:solidFill>
            <a:prstDash val="solid"/>
            <a:tailEnd type="triangle"/>
          </a:ln>
        </p:spPr>
      </p:sp>
      <p:sp>
        <p:nvSpPr>
          <p:cNvPr id="16" name="Shape 12"/>
          <p:cNvSpPr/>
          <p:nvPr/>
        </p:nvSpPr>
        <p:spPr>
          <a:xfrm>
            <a:off x="10799978" y="2453762"/>
            <a:ext cx="164592" cy="164592"/>
          </a:xfrm>
          <a:prstGeom prst="ellipse">
            <a:avLst/>
          </a:prstGeom>
          <a:solidFill>
            <a:srgbClr val="A8761F"/>
          </a:solidFill>
          <a:ln w="22225">
            <a:solidFill>
              <a:srgbClr val="FFFFFF"/>
            </a:solidFill>
            <a:prstDash val="solid"/>
          </a:ln>
        </p:spPr>
      </p:sp>
      <p:sp>
        <p:nvSpPr>
          <p:cNvPr id="17" name="Shape 13"/>
          <p:cNvSpPr/>
          <p:nvPr/>
        </p:nvSpPr>
        <p:spPr>
          <a:xfrm>
            <a:off x="9218066" y="2700650"/>
            <a:ext cx="1536192" cy="365760"/>
          </a:xfrm>
          <a:prstGeom prst="roundRect">
            <a:avLst>
              <a:gd name="adj" fmla="val 12500"/>
            </a:avLst>
          </a:prstGeom>
          <a:solidFill>
            <a:srgbClr val="0C5230"/>
          </a:solidFill>
          <a:ln/>
        </p:spPr>
      </p:sp>
      <p:sp>
        <p:nvSpPr>
          <p:cNvPr id="18" name="Text 14"/>
          <p:cNvSpPr/>
          <p:nvPr/>
        </p:nvSpPr>
        <p:spPr>
          <a:xfrm>
            <a:off x="9218066" y="2700650"/>
            <a:ext cx="1536192" cy="365760"/>
          </a:xfrm>
          <a:prstGeom prst="rect">
            <a:avLst/>
          </a:prstGeom>
          <a:noFill/>
          <a:ln/>
        </p:spPr>
        <p:txBody>
          <a:bodyPr wrap="square" lIns="0" tIns="0" rIns="0" bIns="0" rtlCol="0" anchor="ctr"/>
          <a:lstStyle/>
          <a:p>
            <a:pPr algn="ctr" indent="0" marL="0">
              <a:buNone/>
            </a:pPr>
            <a:r>
              <a:rPr lang="en-US" sz="900" dirty="0">
                <a:solidFill>
                  <a:srgbClr val="8CC5A5"/>
                </a:solidFill>
                <a:latin typeface="Yu Gothic" pitchFamily="34" charset="0"/>
                <a:ea typeface="Yu Gothic" pitchFamily="34" charset="-122"/>
                <a:cs typeface="Yu Gothic" pitchFamily="34" charset="-120"/>
              </a:rPr>
              <a:t>現在 </a:t>
            </a:r>
            <a:r>
              <a:rPr lang="en-US" sz="1400" b="1" dirty="0">
                <a:solidFill>
                  <a:srgbClr val="FFFFFF"/>
                </a:solidFill>
                <a:latin typeface="Arial" pitchFamily="34" charset="0"/>
                <a:ea typeface="Arial" pitchFamily="34" charset="-122"/>
                <a:cs typeface="Arial" pitchFamily="34" charset="-120"/>
              </a:rPr>
              <a:t>71</a:t>
            </a:r>
            <a:r>
              <a:rPr lang="en-US" sz="950" b="1" dirty="0">
                <a:solidFill>
                  <a:srgbClr val="FFFFFF"/>
                </a:solidFill>
                <a:latin typeface="Yu Gothic" pitchFamily="34" charset="0"/>
                <a:ea typeface="Yu Gothic" pitchFamily="34" charset="-122"/>
                <a:cs typeface="Yu Gothic" pitchFamily="34" charset="-120"/>
              </a:rPr>
              <a:t> 店舗</a:t>
            </a:r>
            <a:endParaRPr lang="en-US" sz="900" dirty="0"/>
          </a:p>
        </p:txBody>
      </p:sp>
      <p:sp>
        <p:nvSpPr>
          <p:cNvPr id="19" name="Shape 15"/>
          <p:cNvSpPr/>
          <p:nvPr/>
        </p:nvSpPr>
        <p:spPr>
          <a:xfrm>
            <a:off x="660197" y="4650638"/>
            <a:ext cx="1689964" cy="841248"/>
          </a:xfrm>
          <a:prstGeom prst="roundRect">
            <a:avLst>
              <a:gd name="adj" fmla="val 5435"/>
            </a:avLst>
          </a:prstGeom>
          <a:solidFill>
            <a:srgbClr val="F1F8F3"/>
          </a:solidFill>
          <a:ln w="9525">
            <a:solidFill>
              <a:srgbClr val="D2E7DA"/>
            </a:solidFill>
            <a:prstDash val="solid"/>
          </a:ln>
        </p:spPr>
      </p:sp>
      <p:sp>
        <p:nvSpPr>
          <p:cNvPr id="20" name="Text 16"/>
          <p:cNvSpPr/>
          <p:nvPr/>
        </p:nvSpPr>
        <p:spPr>
          <a:xfrm>
            <a:off x="660197"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2022.09</a:t>
            </a:r>
            <a:endParaRPr lang="en-US" sz="900" dirty="0"/>
          </a:p>
        </p:txBody>
      </p:sp>
      <p:sp>
        <p:nvSpPr>
          <p:cNvPr id="21" name="Text 17"/>
          <p:cNvSpPr/>
          <p:nvPr/>
        </p:nvSpPr>
        <p:spPr>
          <a:xfrm>
            <a:off x="660197"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1</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22" name="Shape 18"/>
          <p:cNvSpPr/>
          <p:nvPr/>
        </p:nvSpPr>
        <p:spPr>
          <a:xfrm>
            <a:off x="2496464" y="4650638"/>
            <a:ext cx="1689964" cy="841248"/>
          </a:xfrm>
          <a:prstGeom prst="roundRect">
            <a:avLst>
              <a:gd name="adj" fmla="val 5435"/>
            </a:avLst>
          </a:prstGeom>
          <a:solidFill>
            <a:srgbClr val="F1F8F3"/>
          </a:solidFill>
          <a:ln w="9525">
            <a:solidFill>
              <a:srgbClr val="D2E7DA"/>
            </a:solidFill>
            <a:prstDash val="solid"/>
          </a:ln>
        </p:spPr>
      </p:sp>
      <p:sp>
        <p:nvSpPr>
          <p:cNvPr id="23" name="Text 19"/>
          <p:cNvSpPr/>
          <p:nvPr/>
        </p:nvSpPr>
        <p:spPr>
          <a:xfrm>
            <a:off x="2496464"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2023.09</a:t>
            </a:r>
            <a:endParaRPr lang="en-US" sz="900" dirty="0"/>
          </a:p>
        </p:txBody>
      </p:sp>
      <p:sp>
        <p:nvSpPr>
          <p:cNvPr id="24" name="Text 20"/>
          <p:cNvSpPr/>
          <p:nvPr/>
        </p:nvSpPr>
        <p:spPr>
          <a:xfrm>
            <a:off x="2496464"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2</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25" name="Shape 21"/>
          <p:cNvSpPr/>
          <p:nvPr/>
        </p:nvSpPr>
        <p:spPr>
          <a:xfrm>
            <a:off x="4332732" y="4650638"/>
            <a:ext cx="1689964" cy="841248"/>
          </a:xfrm>
          <a:prstGeom prst="roundRect">
            <a:avLst>
              <a:gd name="adj" fmla="val 5435"/>
            </a:avLst>
          </a:prstGeom>
          <a:solidFill>
            <a:srgbClr val="F1F8F3"/>
          </a:solidFill>
          <a:ln w="9525">
            <a:solidFill>
              <a:srgbClr val="D2E7DA"/>
            </a:solidFill>
            <a:prstDash val="solid"/>
          </a:ln>
        </p:spPr>
      </p:sp>
      <p:sp>
        <p:nvSpPr>
          <p:cNvPr id="26" name="Text 22"/>
          <p:cNvSpPr/>
          <p:nvPr/>
        </p:nvSpPr>
        <p:spPr>
          <a:xfrm>
            <a:off x="4332732"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2024.09</a:t>
            </a:r>
            <a:endParaRPr lang="en-US" sz="900" dirty="0"/>
          </a:p>
        </p:txBody>
      </p:sp>
      <p:sp>
        <p:nvSpPr>
          <p:cNvPr id="27" name="Text 23"/>
          <p:cNvSpPr/>
          <p:nvPr/>
        </p:nvSpPr>
        <p:spPr>
          <a:xfrm>
            <a:off x="4332732"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23</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28" name="Shape 24"/>
          <p:cNvSpPr/>
          <p:nvPr/>
        </p:nvSpPr>
        <p:spPr>
          <a:xfrm>
            <a:off x="6169000" y="4650638"/>
            <a:ext cx="1689964" cy="841248"/>
          </a:xfrm>
          <a:prstGeom prst="roundRect">
            <a:avLst>
              <a:gd name="adj" fmla="val 5435"/>
            </a:avLst>
          </a:prstGeom>
          <a:solidFill>
            <a:srgbClr val="F1F8F3"/>
          </a:solidFill>
          <a:ln w="9525">
            <a:solidFill>
              <a:srgbClr val="D2E7DA"/>
            </a:solidFill>
            <a:prstDash val="solid"/>
          </a:ln>
        </p:spPr>
      </p:sp>
      <p:sp>
        <p:nvSpPr>
          <p:cNvPr id="29" name="Text 25"/>
          <p:cNvSpPr/>
          <p:nvPr/>
        </p:nvSpPr>
        <p:spPr>
          <a:xfrm>
            <a:off x="6169000"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2025.09</a:t>
            </a:r>
            <a:endParaRPr lang="en-US" sz="900" dirty="0"/>
          </a:p>
        </p:txBody>
      </p:sp>
      <p:sp>
        <p:nvSpPr>
          <p:cNvPr id="30" name="Text 26"/>
          <p:cNvSpPr/>
          <p:nvPr/>
        </p:nvSpPr>
        <p:spPr>
          <a:xfrm>
            <a:off x="6169000"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48</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31" name="Shape 27"/>
          <p:cNvSpPr/>
          <p:nvPr/>
        </p:nvSpPr>
        <p:spPr>
          <a:xfrm>
            <a:off x="8005267" y="4650638"/>
            <a:ext cx="1689964" cy="841248"/>
          </a:xfrm>
          <a:prstGeom prst="roundRect">
            <a:avLst>
              <a:gd name="adj" fmla="val 5435"/>
            </a:avLst>
          </a:prstGeom>
          <a:solidFill>
            <a:srgbClr val="F1F8F3"/>
          </a:solidFill>
          <a:ln w="9525">
            <a:solidFill>
              <a:srgbClr val="D2E7DA"/>
            </a:solidFill>
            <a:prstDash val="solid"/>
          </a:ln>
        </p:spPr>
      </p:sp>
      <p:sp>
        <p:nvSpPr>
          <p:cNvPr id="32" name="Text 28"/>
          <p:cNvSpPr/>
          <p:nvPr/>
        </p:nvSpPr>
        <p:spPr>
          <a:xfrm>
            <a:off x="8005267" y="4760366"/>
            <a:ext cx="1689964" cy="182880"/>
          </a:xfrm>
          <a:prstGeom prst="rect">
            <a:avLst/>
          </a:prstGeom>
          <a:noFill/>
          <a:ln/>
        </p:spPr>
        <p:txBody>
          <a:bodyPr wrap="square" lIns="0" tIns="0" rIns="0" bIns="0" rtlCol="0" anchor="ctr"/>
          <a:lstStyle/>
          <a:p>
            <a:pPr algn="ctr" indent="0" marL="0">
              <a:buNone/>
            </a:pPr>
            <a:r>
              <a:rPr lang="en-US" sz="900" b="1" dirty="0">
                <a:solidFill>
                  <a:srgbClr val="7E8882"/>
                </a:solidFill>
                <a:latin typeface="Arial" pitchFamily="34" charset="0"/>
                <a:ea typeface="Arial" pitchFamily="34" charset="-122"/>
                <a:cs typeface="Arial" pitchFamily="34" charset="-120"/>
              </a:rPr>
              <a:t>2026.07</a:t>
            </a:r>
            <a:endParaRPr lang="en-US" sz="900" dirty="0"/>
          </a:p>
        </p:txBody>
      </p:sp>
      <p:sp>
        <p:nvSpPr>
          <p:cNvPr id="33" name="Text 29"/>
          <p:cNvSpPr/>
          <p:nvPr/>
        </p:nvSpPr>
        <p:spPr>
          <a:xfrm>
            <a:off x="8005267" y="4961534"/>
            <a:ext cx="1689964" cy="384048"/>
          </a:xfrm>
          <a:prstGeom prst="rect">
            <a:avLst/>
          </a:prstGeom>
          <a:noFill/>
          <a:ln/>
        </p:spPr>
        <p:txBody>
          <a:bodyPr wrap="square" lIns="0" tIns="0" rIns="0" bIns="0" rtlCol="0" anchor="ctr"/>
          <a:lstStyle/>
          <a:p>
            <a:pPr algn="ctr" indent="0" marL="0">
              <a:buNone/>
            </a:pPr>
            <a:r>
              <a:rPr lang="en-US" sz="1900" b="1" dirty="0">
                <a:solidFill>
                  <a:srgbClr val="0A3D23"/>
                </a:solidFill>
                <a:latin typeface="Arial" pitchFamily="34" charset="0"/>
                <a:ea typeface="Arial" pitchFamily="34" charset="-122"/>
                <a:cs typeface="Arial" pitchFamily="34" charset="-120"/>
              </a:rPr>
              <a:t>71</a:t>
            </a:r>
            <a:r>
              <a:rPr lang="en-US" sz="950" b="1" dirty="0">
                <a:solidFill>
                  <a:srgbClr val="0A3D23"/>
                </a:solidFill>
                <a:latin typeface="Yu Gothic" pitchFamily="34" charset="0"/>
                <a:ea typeface="Yu Gothic" pitchFamily="34" charset="-122"/>
                <a:cs typeface="Yu Gothic" pitchFamily="34" charset="-120"/>
              </a:rPr>
              <a:t> 店舗</a:t>
            </a:r>
            <a:endParaRPr lang="en-US" sz="1900" dirty="0"/>
          </a:p>
        </p:txBody>
      </p:sp>
      <p:sp>
        <p:nvSpPr>
          <p:cNvPr id="34" name="Shape 30"/>
          <p:cNvSpPr/>
          <p:nvPr/>
        </p:nvSpPr>
        <p:spPr>
          <a:xfrm>
            <a:off x="9841535" y="4650638"/>
            <a:ext cx="1689964" cy="841248"/>
          </a:xfrm>
          <a:prstGeom prst="roundRect">
            <a:avLst>
              <a:gd name="adj" fmla="val 5435"/>
            </a:avLst>
          </a:prstGeom>
          <a:solidFill>
            <a:srgbClr val="FBF4E4"/>
          </a:solidFill>
          <a:ln w="9525">
            <a:solidFill>
              <a:srgbClr val="E7D3A8"/>
            </a:solidFill>
            <a:prstDash val="solid"/>
          </a:ln>
        </p:spPr>
      </p:sp>
      <p:sp>
        <p:nvSpPr>
          <p:cNvPr id="35" name="Text 31"/>
          <p:cNvSpPr/>
          <p:nvPr/>
        </p:nvSpPr>
        <p:spPr>
          <a:xfrm>
            <a:off x="9841535" y="4760366"/>
            <a:ext cx="1689964" cy="182880"/>
          </a:xfrm>
          <a:prstGeom prst="rect">
            <a:avLst/>
          </a:prstGeom>
          <a:noFill/>
          <a:ln/>
        </p:spPr>
        <p:txBody>
          <a:bodyPr wrap="square" lIns="0" tIns="0" rIns="0" bIns="0" rtlCol="0" anchor="ctr"/>
          <a:lstStyle/>
          <a:p>
            <a:pPr algn="ctr" indent="0" marL="0">
              <a:buNone/>
            </a:pPr>
            <a:r>
              <a:rPr lang="en-US" sz="900" b="1" dirty="0">
                <a:solidFill>
                  <a:srgbClr val="A8761F"/>
                </a:solidFill>
                <a:latin typeface="Arial" pitchFamily="34" charset="0"/>
                <a:ea typeface="Arial" pitchFamily="34" charset="-122"/>
                <a:cs typeface="Arial" pitchFamily="34" charset="-120"/>
              </a:rPr>
              <a:t>年内</a:t>
            </a:r>
            <a:endParaRPr lang="en-US" sz="900" dirty="0"/>
          </a:p>
        </p:txBody>
      </p:sp>
      <p:sp>
        <p:nvSpPr>
          <p:cNvPr id="36" name="Text 32"/>
          <p:cNvSpPr/>
          <p:nvPr/>
        </p:nvSpPr>
        <p:spPr>
          <a:xfrm>
            <a:off x="9841535" y="4961534"/>
            <a:ext cx="1689964" cy="384048"/>
          </a:xfrm>
          <a:prstGeom prst="rect">
            <a:avLst/>
          </a:prstGeom>
          <a:noFill/>
          <a:ln/>
        </p:spPr>
        <p:txBody>
          <a:bodyPr wrap="square" lIns="0" tIns="0" rIns="0" bIns="0" rtlCol="0" anchor="ctr"/>
          <a:lstStyle/>
          <a:p>
            <a:pPr algn="ctr" indent="0" marL="0">
              <a:buNone/>
            </a:pPr>
            <a:r>
              <a:rPr lang="en-US" sz="1900" b="1" dirty="0">
                <a:solidFill>
                  <a:srgbClr val="A8761F"/>
                </a:solidFill>
                <a:latin typeface="Arial" pitchFamily="34" charset="0"/>
                <a:ea typeface="Arial" pitchFamily="34" charset="-122"/>
                <a:cs typeface="Arial" pitchFamily="34" charset="-120"/>
              </a:rPr>
              <a:t>＋10</a:t>
            </a:r>
            <a:r>
              <a:rPr lang="en-US" sz="950" b="1" dirty="0">
                <a:solidFill>
                  <a:srgbClr val="A8761F"/>
                </a:solidFill>
                <a:latin typeface="Yu Gothic" pitchFamily="34" charset="0"/>
                <a:ea typeface="Yu Gothic" pitchFamily="34" charset="-122"/>
                <a:cs typeface="Yu Gothic" pitchFamily="34" charset="-120"/>
              </a:rPr>
              <a:t> 店舗以上</a:t>
            </a:r>
            <a:endParaRPr lang="en-US" sz="1900" dirty="0"/>
          </a:p>
        </p:txBody>
      </p:sp>
      <p:sp>
        <p:nvSpPr>
          <p:cNvPr id="37" name="Text 33"/>
          <p:cNvSpPr/>
          <p:nvPr/>
        </p:nvSpPr>
        <p:spPr>
          <a:xfrm>
            <a:off x="660197" y="5619902"/>
            <a:ext cx="10871302" cy="237744"/>
          </a:xfrm>
          <a:prstGeom prst="rect">
            <a:avLst/>
          </a:prstGeom>
          <a:noFill/>
          <a:ln/>
        </p:spPr>
        <p:txBody>
          <a:bodyPr wrap="square" lIns="0" tIns="0" rIns="0" bIns="0" rtlCol="0" anchor="ctr"/>
          <a:lstStyle/>
          <a:p>
            <a:pPr indent="0" marL="0">
              <a:buNone/>
            </a:pPr>
            <a:r>
              <a:rPr lang="en-US" sz="1200" dirty="0">
                <a:solidFill>
                  <a:srgbClr val="0A3D23"/>
                </a:solidFill>
                <a:latin typeface="Yu Gothic" pitchFamily="34" charset="0"/>
                <a:ea typeface="Yu Gothic" pitchFamily="34" charset="-122"/>
                <a:cs typeface="Yu Gothic" pitchFamily="34" charset="-120"/>
              </a:rPr>
              <a:t>現在は </a:t>
            </a:r>
            <a:r>
              <a:rPr lang="en-US" sz="1200" b="1" dirty="0">
                <a:solidFill>
                  <a:srgbClr val="106838"/>
                </a:solidFill>
                <a:latin typeface="Yu Gothic" pitchFamily="34" charset="0"/>
                <a:ea typeface="Yu Gothic" pitchFamily="34" charset="-122"/>
                <a:cs typeface="Yu Gothic" pitchFamily="34" charset="-120"/>
              </a:rPr>
              <a:t>11都府県・全国71店舗</a:t>
            </a:r>
            <a:r>
              <a:rPr lang="en-US" sz="1200" dirty="0">
                <a:solidFill>
                  <a:srgbClr val="0A3D23"/>
                </a:solidFill>
                <a:latin typeface="Yu Gothic" pitchFamily="34" charset="0"/>
                <a:ea typeface="Yu Gothic" pitchFamily="34" charset="-122"/>
                <a:cs typeface="Yu Gothic" pitchFamily="34" charset="-120"/>
              </a:rPr>
              <a:t>。年内にさらに </a:t>
            </a:r>
            <a:r>
              <a:rPr lang="en-US" sz="1200" b="1" dirty="0">
                <a:solidFill>
                  <a:srgbClr val="106838"/>
                </a:solidFill>
                <a:latin typeface="Yu Gothic" pitchFamily="34" charset="0"/>
                <a:ea typeface="Yu Gothic" pitchFamily="34" charset="-122"/>
                <a:cs typeface="Yu Gothic" pitchFamily="34" charset="-120"/>
              </a:rPr>
              <a:t>10店舗以上</a:t>
            </a:r>
            <a:r>
              <a:rPr lang="en-US" sz="1200" dirty="0">
                <a:solidFill>
                  <a:srgbClr val="0A3D23"/>
                </a:solidFill>
                <a:latin typeface="Yu Gothic" pitchFamily="34" charset="0"/>
                <a:ea typeface="Yu Gothic" pitchFamily="34" charset="-122"/>
                <a:cs typeface="Yu Gothic" pitchFamily="34" charset="-120"/>
              </a:rPr>
              <a:t> の出店を予定。</a:t>
            </a:r>
            <a:endParaRPr lang="en-US" sz="1200" dirty="0"/>
          </a:p>
        </p:txBody>
      </p:sp>
      <p:sp>
        <p:nvSpPr>
          <p:cNvPr id="38" name="Text 34"/>
          <p:cNvSpPr/>
          <p:nvPr/>
        </p:nvSpPr>
        <p:spPr>
          <a:xfrm>
            <a:off x="660197" y="589422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出典：社内管理台帳（営業中店舗の開店月ベース累計）／2026年7月時点。「年内」は今後の出店予定です。</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08</a:t>
            </a:r>
            <a:r>
              <a:rPr lang="en-US" sz="1050" b="1" dirty="0">
                <a:solidFill>
                  <a:srgbClr val="1B8149"/>
                </a:solidFill>
                <a:latin typeface="Yu Gothic" pitchFamily="34" charset="0"/>
                <a:ea typeface="Yu Gothic" pitchFamily="34" charset="-122"/>
                <a:cs typeface="Yu Gothic" pitchFamily="34" charset="-120"/>
              </a:rPr>
              <a:t>   実績データ</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月間利用者数の推移</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ブランドの認知拡大とともに、月間の利用者数は約10万人規模まで拡大しました。</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09</a:t>
            </a:r>
            <a:endParaRPr lang="en-US" sz="1000" dirty="0"/>
          </a:p>
        </p:txBody>
      </p:sp>
      <p:sp>
        <p:nvSpPr>
          <p:cNvPr id="9" name="Shape 6"/>
          <p:cNvSpPr/>
          <p:nvPr/>
        </p:nvSpPr>
        <p:spPr>
          <a:xfrm>
            <a:off x="660197" y="1651406"/>
            <a:ext cx="7680960" cy="3712464"/>
          </a:xfrm>
          <a:prstGeom prst="roundRect">
            <a:avLst>
              <a:gd name="adj" fmla="val 1478"/>
            </a:avLst>
          </a:prstGeom>
          <a:solidFill>
            <a:srgbClr val="FFFFFF"/>
          </a:solidFill>
          <a:ln w="9525">
            <a:solidFill>
              <a:srgbClr val="EFEAE0"/>
            </a:solidFill>
            <a:prstDash val="solid"/>
          </a:ln>
        </p:spPr>
      </p:sp>
      <p:sp>
        <p:nvSpPr>
          <p:cNvPr id="10" name="Text 7"/>
          <p:cNvSpPr/>
          <p:nvPr/>
        </p:nvSpPr>
        <p:spPr>
          <a:xfrm>
            <a:off x="934517" y="1834286"/>
            <a:ext cx="7132320"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全社月間利用者数（各月の合計）／店舗数の拡大に比例して拡大</a:t>
            </a:r>
            <a:endParaRPr lang="en-US" sz="1100" dirty="0"/>
          </a:p>
        </p:txBody>
      </p:sp>
      <p:sp>
        <p:nvSpPr>
          <p:cNvPr id="11" name="Text 8"/>
          <p:cNvSpPr/>
          <p:nvPr/>
        </p:nvSpPr>
        <p:spPr>
          <a:xfrm>
            <a:off x="934517" y="2072030"/>
            <a:ext cx="7132320" cy="201168"/>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2023.01 〜 2026.07（半期ごとの推移）</a:t>
            </a:r>
            <a:endParaRPr lang="en-US" sz="900" dirty="0"/>
          </a:p>
        </p:txBody>
      </p:sp>
      <p:graphicFrame>
        <p:nvGraphicFramePr>
          <p:cNvPr id="12" name="Chart 0" descr=""/>
          <p:cNvGraphicFramePr/>
          <p:nvPr/>
        </p:nvGraphicFramePr>
        <p:xfrm>
          <a:off x="806501" y="2382926"/>
          <a:ext cx="7315200" cy="2779776"/>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flipV="1">
            <a:off x="2708453" y="2840126"/>
            <a:ext cx="4389120" cy="2048256"/>
          </a:xfrm>
          <a:prstGeom prst="line">
            <a:avLst/>
          </a:prstGeom>
          <a:noFill/>
          <a:ln w="57150">
            <a:solidFill>
              <a:srgbClr val="A8761F"/>
            </a:solidFill>
            <a:prstDash val="solid"/>
            <a:tailEnd type="triangle"/>
          </a:ln>
        </p:spPr>
      </p:sp>
      <p:sp>
        <p:nvSpPr>
          <p:cNvPr id="14" name="Shape 10"/>
          <p:cNvSpPr/>
          <p:nvPr/>
        </p:nvSpPr>
        <p:spPr>
          <a:xfrm>
            <a:off x="7322744" y="2675534"/>
            <a:ext cx="731520" cy="274320"/>
          </a:xfrm>
          <a:prstGeom prst="roundRect">
            <a:avLst>
              <a:gd name="adj" fmla="val 50000"/>
            </a:avLst>
          </a:prstGeom>
          <a:solidFill>
            <a:srgbClr val="A8761F"/>
          </a:solidFill>
          <a:ln/>
        </p:spPr>
      </p:sp>
      <p:sp>
        <p:nvSpPr>
          <p:cNvPr id="15" name="Text 11"/>
          <p:cNvSpPr/>
          <p:nvPr/>
        </p:nvSpPr>
        <p:spPr>
          <a:xfrm>
            <a:off x="7322744" y="2675534"/>
            <a:ext cx="7315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現在</a:t>
            </a:r>
            <a:endParaRPr lang="en-US" sz="1000" dirty="0"/>
          </a:p>
        </p:txBody>
      </p:sp>
      <p:sp>
        <p:nvSpPr>
          <p:cNvPr id="16" name="Shape 12"/>
          <p:cNvSpPr/>
          <p:nvPr/>
        </p:nvSpPr>
        <p:spPr>
          <a:xfrm>
            <a:off x="8725205" y="1651406"/>
            <a:ext cx="2806294" cy="1133856"/>
          </a:xfrm>
          <a:prstGeom prst="roundRect">
            <a:avLst>
              <a:gd name="adj" fmla="val 4839"/>
            </a:avLst>
          </a:prstGeom>
          <a:solidFill>
            <a:srgbClr val="0C5230"/>
          </a:solidFill>
          <a:ln/>
        </p:spPr>
      </p:sp>
      <p:sp>
        <p:nvSpPr>
          <p:cNvPr id="17" name="Text 13"/>
          <p:cNvSpPr/>
          <p:nvPr/>
        </p:nvSpPr>
        <p:spPr>
          <a:xfrm>
            <a:off x="8962949" y="1834286"/>
            <a:ext cx="2330806" cy="4023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約10</a:t>
            </a:r>
            <a:r>
              <a:rPr lang="en-US" sz="1200" b="1" dirty="0">
                <a:solidFill>
                  <a:srgbClr val="8CC5A5"/>
                </a:solidFill>
                <a:latin typeface="Yu Gothic" pitchFamily="34" charset="0"/>
                <a:ea typeface="Yu Gothic" pitchFamily="34" charset="-122"/>
                <a:cs typeface="Yu Gothic" pitchFamily="34" charset="-120"/>
              </a:rPr>
              <a:t> 万人</a:t>
            </a:r>
            <a:endParaRPr lang="en-US" sz="2600" dirty="0"/>
          </a:p>
        </p:txBody>
      </p:sp>
      <p:sp>
        <p:nvSpPr>
          <p:cNvPr id="18" name="Text 14"/>
          <p:cNvSpPr/>
          <p:nvPr/>
        </p:nvSpPr>
        <p:spPr>
          <a:xfrm>
            <a:off x="8962949" y="2291486"/>
            <a:ext cx="2330806" cy="365760"/>
          </a:xfrm>
          <a:prstGeom prst="rect">
            <a:avLst/>
          </a:prstGeom>
          <a:noFill/>
          <a:ln/>
        </p:spPr>
        <p:txBody>
          <a:bodyPr wrap="square" lIns="0" tIns="0" rIns="0" bIns="0" rtlCol="0" anchor="t"/>
          <a:lstStyle/>
          <a:p>
            <a:pPr indent="0" marL="0">
              <a:lnSpc>
                <a:spcPct val="120000"/>
              </a:lnSpc>
              <a:buNone/>
            </a:pPr>
            <a:r>
              <a:rPr lang="en-US" sz="950" dirty="0">
                <a:solidFill>
                  <a:srgbClr val="AFC2B8"/>
                </a:solidFill>
                <a:latin typeface="Yu Gothic" pitchFamily="34" charset="0"/>
                <a:ea typeface="Yu Gothic" pitchFamily="34" charset="-122"/>
                <a:cs typeface="Yu Gothic" pitchFamily="34" charset="-120"/>
              </a:rPr>
              <a:t>2026年7月の月間利用者数</a:t>
            </a:r>
            <a:endParaRPr lang="en-US" sz="950" dirty="0"/>
          </a:p>
        </p:txBody>
      </p:sp>
      <p:sp>
        <p:nvSpPr>
          <p:cNvPr id="19" name="Shape 15"/>
          <p:cNvSpPr/>
          <p:nvPr/>
        </p:nvSpPr>
        <p:spPr>
          <a:xfrm>
            <a:off x="8725205" y="2949854"/>
            <a:ext cx="2806294" cy="1133856"/>
          </a:xfrm>
          <a:prstGeom prst="roundRect">
            <a:avLst>
              <a:gd name="adj" fmla="val 4839"/>
            </a:avLst>
          </a:prstGeom>
          <a:solidFill>
            <a:srgbClr val="F1F8F3"/>
          </a:solidFill>
          <a:ln w="9525">
            <a:solidFill>
              <a:srgbClr val="D2E7DA"/>
            </a:solidFill>
            <a:prstDash val="solid"/>
          </a:ln>
        </p:spPr>
      </p:sp>
      <p:sp>
        <p:nvSpPr>
          <p:cNvPr id="20" name="Text 16"/>
          <p:cNvSpPr/>
          <p:nvPr/>
        </p:nvSpPr>
        <p:spPr>
          <a:xfrm>
            <a:off x="8962949" y="3132734"/>
            <a:ext cx="2330806" cy="402336"/>
          </a:xfrm>
          <a:prstGeom prst="rect">
            <a:avLst/>
          </a:prstGeom>
          <a:noFill/>
          <a:ln/>
        </p:spPr>
        <p:txBody>
          <a:bodyPr wrap="square" lIns="0" tIns="0" rIns="0" bIns="0" rtlCol="0" anchor="ctr"/>
          <a:lstStyle/>
          <a:p>
            <a:pPr indent="0" marL="0">
              <a:buNone/>
            </a:pPr>
            <a:r>
              <a:rPr lang="en-US" sz="2600" b="1" dirty="0">
                <a:solidFill>
                  <a:srgbClr val="106838"/>
                </a:solidFill>
                <a:latin typeface="Arial" pitchFamily="34" charset="0"/>
                <a:ea typeface="Arial" pitchFamily="34" charset="-122"/>
                <a:cs typeface="Arial" pitchFamily="34" charset="-120"/>
              </a:rPr>
              <a:t>約100</a:t>
            </a:r>
            <a:r>
              <a:rPr lang="en-US" sz="1200" b="1" dirty="0">
                <a:solidFill>
                  <a:srgbClr val="106838"/>
                </a:solidFill>
                <a:latin typeface="Yu Gothic" pitchFamily="34" charset="0"/>
                <a:ea typeface="Yu Gothic" pitchFamily="34" charset="-122"/>
                <a:cs typeface="Yu Gothic" pitchFamily="34" charset="-120"/>
              </a:rPr>
              <a:t> 倍</a:t>
            </a:r>
            <a:endParaRPr lang="en-US" sz="2600" dirty="0"/>
          </a:p>
        </p:txBody>
      </p:sp>
      <p:sp>
        <p:nvSpPr>
          <p:cNvPr id="21" name="Text 17"/>
          <p:cNvSpPr/>
          <p:nvPr/>
        </p:nvSpPr>
        <p:spPr>
          <a:xfrm>
            <a:off x="8962949" y="3589934"/>
            <a:ext cx="2330806" cy="365760"/>
          </a:xfrm>
          <a:prstGeom prst="rect">
            <a:avLst/>
          </a:prstGeom>
          <a:noFill/>
          <a:ln/>
        </p:spPr>
        <p:txBody>
          <a:bodyPr wrap="square" lIns="0" tIns="0" rIns="0" bIns="0" rtlCol="0" anchor="t"/>
          <a:lstStyle/>
          <a:p>
            <a:pPr indent="0" marL="0">
              <a:lnSpc>
                <a:spcPct val="120000"/>
              </a:lnSpc>
              <a:buNone/>
            </a:pPr>
            <a:r>
              <a:rPr lang="en-US" sz="950" dirty="0">
                <a:solidFill>
                  <a:srgbClr val="7E8882"/>
                </a:solidFill>
                <a:latin typeface="Yu Gothic" pitchFamily="34" charset="0"/>
                <a:ea typeface="Yu Gothic" pitchFamily="34" charset="-122"/>
                <a:cs typeface="Yu Gothic" pitchFamily="34" charset="-120"/>
              </a:rPr>
              <a:t>3年半での月間利用者数の伸び</a:t>
            </a:r>
            <a:endParaRPr lang="en-US" sz="950" dirty="0"/>
          </a:p>
        </p:txBody>
      </p:sp>
      <p:sp>
        <p:nvSpPr>
          <p:cNvPr id="22" name="Shape 18"/>
          <p:cNvSpPr/>
          <p:nvPr/>
        </p:nvSpPr>
        <p:spPr>
          <a:xfrm>
            <a:off x="8725205" y="4248302"/>
            <a:ext cx="2806294" cy="1133856"/>
          </a:xfrm>
          <a:prstGeom prst="roundRect">
            <a:avLst>
              <a:gd name="adj" fmla="val 4839"/>
            </a:avLst>
          </a:prstGeom>
          <a:solidFill>
            <a:srgbClr val="F1F8F3"/>
          </a:solidFill>
          <a:ln w="9525">
            <a:solidFill>
              <a:srgbClr val="D2E7DA"/>
            </a:solidFill>
            <a:prstDash val="solid"/>
          </a:ln>
        </p:spPr>
      </p:sp>
      <p:sp>
        <p:nvSpPr>
          <p:cNvPr id="23" name="Text 19"/>
          <p:cNvSpPr/>
          <p:nvPr/>
        </p:nvSpPr>
        <p:spPr>
          <a:xfrm>
            <a:off x="8962949" y="4431182"/>
            <a:ext cx="2330806" cy="402336"/>
          </a:xfrm>
          <a:prstGeom prst="rect">
            <a:avLst/>
          </a:prstGeom>
          <a:noFill/>
          <a:ln/>
        </p:spPr>
        <p:txBody>
          <a:bodyPr wrap="square" lIns="0" tIns="0" rIns="0" bIns="0" rtlCol="0" anchor="ctr"/>
          <a:lstStyle/>
          <a:p>
            <a:pPr indent="0" marL="0">
              <a:buNone/>
            </a:pPr>
            <a:r>
              <a:rPr lang="en-US" sz="2600" b="1" dirty="0">
                <a:solidFill>
                  <a:srgbClr val="106838"/>
                </a:solidFill>
                <a:latin typeface="Arial" pitchFamily="34" charset="0"/>
                <a:ea typeface="Arial" pitchFamily="34" charset="-122"/>
                <a:cs typeface="Arial" pitchFamily="34" charset="-120"/>
              </a:rPr>
              <a:t>1,400</a:t>
            </a:r>
            <a:r>
              <a:rPr lang="en-US" sz="1200" b="1" dirty="0">
                <a:solidFill>
                  <a:srgbClr val="106838"/>
                </a:solidFill>
                <a:latin typeface="Yu Gothic" pitchFamily="34" charset="0"/>
                <a:ea typeface="Yu Gothic" pitchFamily="34" charset="-122"/>
                <a:cs typeface="Yu Gothic" pitchFamily="34" charset="-120"/>
              </a:rPr>
              <a:t> 人前後</a:t>
            </a:r>
            <a:endParaRPr lang="en-US" sz="2600" dirty="0"/>
          </a:p>
        </p:txBody>
      </p:sp>
      <p:sp>
        <p:nvSpPr>
          <p:cNvPr id="24" name="Text 20"/>
          <p:cNvSpPr/>
          <p:nvPr/>
        </p:nvSpPr>
        <p:spPr>
          <a:xfrm>
            <a:off x="8962949" y="4888382"/>
            <a:ext cx="2330806" cy="365760"/>
          </a:xfrm>
          <a:prstGeom prst="rect">
            <a:avLst/>
          </a:prstGeom>
          <a:noFill/>
          <a:ln/>
        </p:spPr>
        <p:txBody>
          <a:bodyPr wrap="square" lIns="0" tIns="0" rIns="0" bIns="0" rtlCol="0" anchor="t"/>
          <a:lstStyle/>
          <a:p>
            <a:pPr indent="0" marL="0">
              <a:lnSpc>
                <a:spcPct val="120000"/>
              </a:lnSpc>
              <a:buNone/>
            </a:pPr>
            <a:r>
              <a:rPr lang="en-US" sz="950" dirty="0">
                <a:solidFill>
                  <a:srgbClr val="7E8882"/>
                </a:solidFill>
                <a:latin typeface="Yu Gothic" pitchFamily="34" charset="0"/>
                <a:ea typeface="Yu Gothic" pitchFamily="34" charset="-122"/>
                <a:cs typeface="Yu Gothic" pitchFamily="34" charset="-120"/>
              </a:rPr>
              <a:t>1店舗あたりの月間利用者数</a:t>
            </a:r>
            <a:endParaRPr lang="en-US" sz="950" dirty="0"/>
          </a:p>
        </p:txBody>
      </p:sp>
      <p:sp>
        <p:nvSpPr>
          <p:cNvPr id="25" name="Text 21"/>
          <p:cNvSpPr/>
          <p:nvPr/>
        </p:nvSpPr>
        <p:spPr>
          <a:xfrm>
            <a:off x="660197" y="6035040"/>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出典：社内管理台帳（各月の全社利用者数）／2026年7月時点。</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09</a:t>
            </a:r>
            <a:r>
              <a:rPr lang="en-US" sz="1050" b="1" dirty="0">
                <a:solidFill>
                  <a:srgbClr val="1B8149"/>
                </a:solidFill>
                <a:latin typeface="Yu Gothic" pitchFamily="34" charset="0"/>
                <a:ea typeface="Yu Gothic" pitchFamily="34" charset="-122"/>
                <a:cs typeface="Yu Gothic" pitchFamily="34" charset="-120"/>
              </a:rPr>
              <a:t>   利用システム</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利用システム：究極の利便性と価格</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ドリンク1杯で、時間制限なし。だから毎日使われ、リピートが積み上がります。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10</a:t>
            </a:r>
            <a:endParaRPr lang="en-US" sz="1000" dirty="0"/>
          </a:p>
        </p:txBody>
      </p:sp>
      <p:sp>
        <p:nvSpPr>
          <p:cNvPr id="9" name="Shape 6"/>
          <p:cNvSpPr/>
          <p:nvPr/>
        </p:nvSpPr>
        <p:spPr>
          <a:xfrm>
            <a:off x="660197" y="1651406"/>
            <a:ext cx="3453079" cy="2468880"/>
          </a:xfrm>
          <a:prstGeom prst="roundRect">
            <a:avLst>
              <a:gd name="adj" fmla="val 2222"/>
            </a:avLst>
          </a:prstGeom>
          <a:solidFill>
            <a:srgbClr val="FFFFFF"/>
          </a:solidFill>
          <a:ln w="9525">
            <a:solidFill>
              <a:srgbClr val="EFEAE0"/>
            </a:solidFill>
            <a:prstDash val="solid"/>
          </a:ln>
        </p:spPr>
      </p:sp>
      <p:pic>
        <p:nvPicPr>
          <p:cNvPr id="10" name="Image 1" descr="/home/user/suzuki-ceo/selfcafe-partner-deck/assets/icons/LuCoffee-green.png">    </p:cNvPr>
          <p:cNvPicPr>
            <a:picLocks noChangeAspect="1"/>
          </p:cNvPicPr>
          <p:nvPr/>
        </p:nvPicPr>
        <p:blipFill>
          <a:blip r:embed="rId2"/>
          <a:stretch>
            <a:fillRect/>
          </a:stretch>
        </p:blipFill>
        <p:spPr>
          <a:xfrm>
            <a:off x="934517" y="1925726"/>
            <a:ext cx="402336" cy="402336"/>
          </a:xfrm>
          <a:prstGeom prst="rect">
            <a:avLst/>
          </a:prstGeom>
        </p:spPr>
      </p:pic>
      <p:sp>
        <p:nvSpPr>
          <p:cNvPr id="11" name="Text 7"/>
          <p:cNvSpPr/>
          <p:nvPr/>
        </p:nvSpPr>
        <p:spPr>
          <a:xfrm>
            <a:off x="2010156" y="1889150"/>
            <a:ext cx="1828800" cy="384048"/>
          </a:xfrm>
          <a:prstGeom prst="rect">
            <a:avLst/>
          </a:prstGeom>
          <a:noFill/>
          <a:ln/>
        </p:spPr>
        <p:txBody>
          <a:bodyPr wrap="square" lIns="0" tIns="0" rIns="0" bIns="0" rtlCol="0" anchor="ctr"/>
          <a:lstStyle/>
          <a:p>
            <a:pPr algn="r" indent="0" marL="0">
              <a:buNone/>
            </a:pPr>
            <a:r>
              <a:rPr lang="en-US" sz="2400" b="1" dirty="0">
                <a:solidFill>
                  <a:srgbClr val="106838"/>
                </a:solidFill>
                <a:latin typeface="Arial" pitchFamily="34" charset="0"/>
                <a:ea typeface="Arial" pitchFamily="34" charset="-122"/>
                <a:cs typeface="Arial" pitchFamily="34" charset="-120"/>
              </a:rPr>
              <a:t>390円〜</a:t>
            </a:r>
            <a:endParaRPr lang="en-US" sz="2400" dirty="0"/>
          </a:p>
        </p:txBody>
      </p:sp>
      <p:sp>
        <p:nvSpPr>
          <p:cNvPr id="12" name="Text 8"/>
          <p:cNvSpPr/>
          <p:nvPr/>
        </p:nvSpPr>
        <p:spPr>
          <a:xfrm>
            <a:off x="2010156" y="2273198"/>
            <a:ext cx="1828800" cy="182880"/>
          </a:xfrm>
          <a:prstGeom prst="rect">
            <a:avLst/>
          </a:prstGeom>
          <a:noFill/>
          <a:ln/>
        </p:spPr>
        <p:txBody>
          <a:bodyPr wrap="square" lIns="0" tIns="0" rIns="0" bIns="0" rtlCol="0" anchor="ctr"/>
          <a:lstStyle/>
          <a:p>
            <a:pPr algn="r" indent="0" marL="0">
              <a:buNone/>
            </a:pPr>
            <a:r>
              <a:rPr lang="en-US" sz="850" dirty="0">
                <a:solidFill>
                  <a:srgbClr val="7E8882"/>
                </a:solidFill>
                <a:latin typeface="Yu Gothic" pitchFamily="34" charset="0"/>
                <a:ea typeface="Yu Gothic" pitchFamily="34" charset="-122"/>
                <a:cs typeface="Yu Gothic" pitchFamily="34" charset="-120"/>
              </a:rPr>
              <a:t>1杯あたり</a:t>
            </a:r>
            <a:endParaRPr lang="en-US" sz="850" dirty="0"/>
          </a:p>
        </p:txBody>
      </p:sp>
      <p:sp>
        <p:nvSpPr>
          <p:cNvPr id="13" name="Text 9"/>
          <p:cNvSpPr/>
          <p:nvPr/>
        </p:nvSpPr>
        <p:spPr>
          <a:xfrm>
            <a:off x="934517" y="2620670"/>
            <a:ext cx="2904439" cy="365760"/>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ドリンク一杯で入店</a:t>
            </a:r>
            <a:endParaRPr lang="en-US" sz="1600" dirty="0"/>
          </a:p>
        </p:txBody>
      </p:sp>
      <p:sp>
        <p:nvSpPr>
          <p:cNvPr id="14" name="Shape 10"/>
          <p:cNvSpPr/>
          <p:nvPr/>
        </p:nvSpPr>
        <p:spPr>
          <a:xfrm>
            <a:off x="934517" y="3059582"/>
            <a:ext cx="2904439" cy="10058"/>
          </a:xfrm>
          <a:prstGeom prst="rect">
            <a:avLst/>
          </a:prstGeom>
          <a:solidFill>
            <a:srgbClr val="EFEAE0"/>
          </a:solidFill>
          <a:ln/>
        </p:spPr>
      </p:sp>
      <p:sp>
        <p:nvSpPr>
          <p:cNvPr id="15" name="Text 11"/>
          <p:cNvSpPr/>
          <p:nvPr/>
        </p:nvSpPr>
        <p:spPr>
          <a:xfrm>
            <a:off x="934517" y="3187598"/>
            <a:ext cx="2904439" cy="786384"/>
          </a:xfrm>
          <a:prstGeom prst="rect">
            <a:avLst/>
          </a:prstGeom>
          <a:noFill/>
          <a:ln/>
        </p:spPr>
        <p:txBody>
          <a:bodyPr wrap="square" lIns="0" tIns="0" rIns="0" bIns="0" rtlCol="0" anchor="t"/>
          <a:lstStyle/>
          <a:p>
            <a:pPr indent="0" marL="0">
              <a:lnSpc>
                <a:spcPct val="142000"/>
              </a:lnSpc>
              <a:buNone/>
            </a:pPr>
            <a:r>
              <a:rPr lang="en-US" sz="1050" dirty="0">
                <a:solidFill>
                  <a:srgbClr val="4B5550"/>
                </a:solidFill>
                <a:latin typeface="Yu Gothic" pitchFamily="34" charset="0"/>
                <a:ea typeface="Yu Gothic" pitchFamily="34" charset="-122"/>
                <a:cs typeface="Yu Gothic" pitchFamily="34" charset="-120"/>
              </a:rPr>
              <a:t>ドリンク購入だけで、Wi-Fi・電源が完備された空間を自由にご利用いただけます。</a:t>
            </a:r>
            <a:endParaRPr lang="en-US" sz="1050" dirty="0"/>
          </a:p>
        </p:txBody>
      </p:sp>
      <p:sp>
        <p:nvSpPr>
          <p:cNvPr id="16" name="Shape 12"/>
          <p:cNvSpPr/>
          <p:nvPr/>
        </p:nvSpPr>
        <p:spPr>
          <a:xfrm>
            <a:off x="4369308" y="1651406"/>
            <a:ext cx="3453079" cy="2468880"/>
          </a:xfrm>
          <a:prstGeom prst="roundRect">
            <a:avLst>
              <a:gd name="adj" fmla="val 2222"/>
            </a:avLst>
          </a:prstGeom>
          <a:solidFill>
            <a:srgbClr val="FFFFFF"/>
          </a:solidFill>
          <a:ln w="9525">
            <a:solidFill>
              <a:srgbClr val="EFEAE0"/>
            </a:solidFill>
            <a:prstDash val="solid"/>
          </a:ln>
        </p:spPr>
      </p:sp>
      <p:pic>
        <p:nvPicPr>
          <p:cNvPr id="17" name="Image 2" descr="/home/user/suzuki-ceo/selfcafe-partner-deck/assets/icons/LuClock-green.png">    </p:cNvPr>
          <p:cNvPicPr>
            <a:picLocks noChangeAspect="1"/>
          </p:cNvPicPr>
          <p:nvPr/>
        </p:nvPicPr>
        <p:blipFill>
          <a:blip r:embed="rId3"/>
          <a:stretch>
            <a:fillRect/>
          </a:stretch>
        </p:blipFill>
        <p:spPr>
          <a:xfrm>
            <a:off x="4643628" y="1925726"/>
            <a:ext cx="402336" cy="402336"/>
          </a:xfrm>
          <a:prstGeom prst="rect">
            <a:avLst/>
          </a:prstGeom>
        </p:spPr>
      </p:pic>
      <p:sp>
        <p:nvSpPr>
          <p:cNvPr id="18" name="Text 13"/>
          <p:cNvSpPr/>
          <p:nvPr/>
        </p:nvSpPr>
        <p:spPr>
          <a:xfrm>
            <a:off x="5719267" y="1889150"/>
            <a:ext cx="1828800" cy="384048"/>
          </a:xfrm>
          <a:prstGeom prst="rect">
            <a:avLst/>
          </a:prstGeom>
          <a:noFill/>
          <a:ln/>
        </p:spPr>
        <p:txBody>
          <a:bodyPr wrap="square" lIns="0" tIns="0" rIns="0" bIns="0" rtlCol="0" anchor="ctr"/>
          <a:lstStyle/>
          <a:p>
            <a:pPr algn="r" indent="0" marL="0">
              <a:buNone/>
            </a:pPr>
            <a:r>
              <a:rPr lang="en-US" sz="2400" b="1" dirty="0">
                <a:solidFill>
                  <a:srgbClr val="106838"/>
                </a:solidFill>
                <a:latin typeface="Arial" pitchFamily="34" charset="0"/>
                <a:ea typeface="Arial" pitchFamily="34" charset="-122"/>
                <a:cs typeface="Arial" pitchFamily="34" charset="-120"/>
              </a:rPr>
              <a:t>0円</a:t>
            </a:r>
            <a:endParaRPr lang="en-US" sz="2400" dirty="0"/>
          </a:p>
        </p:txBody>
      </p:sp>
      <p:sp>
        <p:nvSpPr>
          <p:cNvPr id="19" name="Text 14"/>
          <p:cNvSpPr/>
          <p:nvPr/>
        </p:nvSpPr>
        <p:spPr>
          <a:xfrm>
            <a:off x="5719267" y="2273198"/>
            <a:ext cx="1828800" cy="182880"/>
          </a:xfrm>
          <a:prstGeom prst="rect">
            <a:avLst/>
          </a:prstGeom>
          <a:noFill/>
          <a:ln/>
        </p:spPr>
        <p:txBody>
          <a:bodyPr wrap="square" lIns="0" tIns="0" rIns="0" bIns="0" rtlCol="0" anchor="ctr"/>
          <a:lstStyle/>
          <a:p>
            <a:pPr algn="r" indent="0" marL="0">
              <a:buNone/>
            </a:pPr>
            <a:r>
              <a:rPr lang="en-US" sz="850" dirty="0">
                <a:solidFill>
                  <a:srgbClr val="7E8882"/>
                </a:solidFill>
                <a:latin typeface="Yu Gothic" pitchFamily="34" charset="0"/>
                <a:ea typeface="Yu Gothic" pitchFamily="34" charset="-122"/>
                <a:cs typeface="Yu Gothic" pitchFamily="34" charset="-120"/>
              </a:rPr>
              <a:t>延長・追加料金</a:t>
            </a:r>
            <a:endParaRPr lang="en-US" sz="850" dirty="0"/>
          </a:p>
        </p:txBody>
      </p:sp>
      <p:sp>
        <p:nvSpPr>
          <p:cNvPr id="20" name="Text 15"/>
          <p:cNvSpPr/>
          <p:nvPr/>
        </p:nvSpPr>
        <p:spPr>
          <a:xfrm>
            <a:off x="4643628" y="2620670"/>
            <a:ext cx="2904439" cy="365760"/>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滞在時間無制限</a:t>
            </a:r>
            <a:endParaRPr lang="en-US" sz="1600" dirty="0"/>
          </a:p>
        </p:txBody>
      </p:sp>
      <p:sp>
        <p:nvSpPr>
          <p:cNvPr id="21" name="Shape 16"/>
          <p:cNvSpPr/>
          <p:nvPr/>
        </p:nvSpPr>
        <p:spPr>
          <a:xfrm>
            <a:off x="4643628" y="3059582"/>
            <a:ext cx="2904439" cy="10058"/>
          </a:xfrm>
          <a:prstGeom prst="rect">
            <a:avLst/>
          </a:prstGeom>
          <a:solidFill>
            <a:srgbClr val="EFEAE0"/>
          </a:solidFill>
          <a:ln/>
        </p:spPr>
      </p:sp>
      <p:sp>
        <p:nvSpPr>
          <p:cNvPr id="22" name="Text 17"/>
          <p:cNvSpPr/>
          <p:nvPr/>
        </p:nvSpPr>
        <p:spPr>
          <a:xfrm>
            <a:off x="4643628" y="3187598"/>
            <a:ext cx="2904439" cy="786384"/>
          </a:xfrm>
          <a:prstGeom prst="rect">
            <a:avLst/>
          </a:prstGeom>
          <a:noFill/>
          <a:ln/>
        </p:spPr>
        <p:txBody>
          <a:bodyPr wrap="square" lIns="0" tIns="0" rIns="0" bIns="0" rtlCol="0" anchor="t"/>
          <a:lstStyle/>
          <a:p>
            <a:pPr indent="0" marL="0">
              <a:lnSpc>
                <a:spcPct val="142000"/>
              </a:lnSpc>
              <a:buNone/>
            </a:pPr>
            <a:r>
              <a:rPr lang="en-US" sz="1050" dirty="0">
                <a:solidFill>
                  <a:srgbClr val="4B5550"/>
                </a:solidFill>
                <a:latin typeface="Yu Gothic" pitchFamily="34" charset="0"/>
                <a:ea typeface="Yu Gothic" pitchFamily="34" charset="-122"/>
                <a:cs typeface="Yu Gothic" pitchFamily="34" charset="-120"/>
              </a:rPr>
              <a:t>追加料金や延長料金を気にせず、仕事や勉強に没頭できる環境を提供します。</a:t>
            </a:r>
            <a:endParaRPr lang="en-US" sz="1050" dirty="0"/>
          </a:p>
        </p:txBody>
      </p:sp>
      <p:sp>
        <p:nvSpPr>
          <p:cNvPr id="23" name="Shape 18"/>
          <p:cNvSpPr/>
          <p:nvPr/>
        </p:nvSpPr>
        <p:spPr>
          <a:xfrm>
            <a:off x="8078419" y="1651406"/>
            <a:ext cx="3453079" cy="2468880"/>
          </a:xfrm>
          <a:prstGeom prst="roundRect">
            <a:avLst>
              <a:gd name="adj" fmla="val 2222"/>
            </a:avLst>
          </a:prstGeom>
          <a:solidFill>
            <a:srgbClr val="FFFFFF"/>
          </a:solidFill>
          <a:ln w="9525">
            <a:solidFill>
              <a:srgbClr val="EFEAE0"/>
            </a:solidFill>
            <a:prstDash val="solid"/>
          </a:ln>
        </p:spPr>
      </p:sp>
      <p:pic>
        <p:nvPicPr>
          <p:cNvPr id="24" name="Image 3" descr="/home/user/suzuki-ceo/selfcafe-partner-deck/assets/icons/LuSmartphone-green.png">    </p:cNvPr>
          <p:cNvPicPr>
            <a:picLocks noChangeAspect="1"/>
          </p:cNvPicPr>
          <p:nvPr/>
        </p:nvPicPr>
        <p:blipFill>
          <a:blip r:embed="rId4"/>
          <a:stretch>
            <a:fillRect/>
          </a:stretch>
        </p:blipFill>
        <p:spPr>
          <a:xfrm>
            <a:off x="8352739" y="1925726"/>
            <a:ext cx="402336" cy="402336"/>
          </a:xfrm>
          <a:prstGeom prst="rect">
            <a:avLst/>
          </a:prstGeom>
        </p:spPr>
      </p:pic>
      <p:sp>
        <p:nvSpPr>
          <p:cNvPr id="25" name="Text 19"/>
          <p:cNvSpPr/>
          <p:nvPr/>
        </p:nvSpPr>
        <p:spPr>
          <a:xfrm>
            <a:off x="9428378" y="1889150"/>
            <a:ext cx="1828800" cy="384048"/>
          </a:xfrm>
          <a:prstGeom prst="rect">
            <a:avLst/>
          </a:prstGeom>
          <a:noFill/>
          <a:ln/>
        </p:spPr>
        <p:txBody>
          <a:bodyPr wrap="square" lIns="0" tIns="0" rIns="0" bIns="0" rtlCol="0" anchor="ctr"/>
          <a:lstStyle/>
          <a:p>
            <a:pPr algn="r" indent="0" marL="0">
              <a:buNone/>
            </a:pPr>
            <a:r>
              <a:rPr lang="en-US" sz="2400" b="1" dirty="0">
                <a:solidFill>
                  <a:srgbClr val="106838"/>
                </a:solidFill>
                <a:latin typeface="Arial" pitchFamily="34" charset="0"/>
                <a:ea typeface="Arial" pitchFamily="34" charset="-122"/>
                <a:cs typeface="Arial" pitchFamily="34" charset="-120"/>
              </a:rPr>
              <a:t>147円〜</a:t>
            </a:r>
            <a:endParaRPr lang="en-US" sz="2400" dirty="0"/>
          </a:p>
        </p:txBody>
      </p:sp>
      <p:sp>
        <p:nvSpPr>
          <p:cNvPr id="26" name="Text 20"/>
          <p:cNvSpPr/>
          <p:nvPr/>
        </p:nvSpPr>
        <p:spPr>
          <a:xfrm>
            <a:off x="9428378" y="2273198"/>
            <a:ext cx="1828800" cy="182880"/>
          </a:xfrm>
          <a:prstGeom prst="rect">
            <a:avLst/>
          </a:prstGeom>
          <a:noFill/>
          <a:ln/>
        </p:spPr>
        <p:txBody>
          <a:bodyPr wrap="square" lIns="0" tIns="0" rIns="0" bIns="0" rtlCol="0" anchor="ctr"/>
          <a:lstStyle/>
          <a:p>
            <a:pPr algn="r" indent="0" marL="0">
              <a:buNone/>
            </a:pPr>
            <a:r>
              <a:rPr lang="en-US" sz="850" dirty="0">
                <a:solidFill>
                  <a:srgbClr val="7E8882"/>
                </a:solidFill>
                <a:latin typeface="Yu Gothic" pitchFamily="34" charset="0"/>
                <a:ea typeface="Yu Gothic" pitchFamily="34" charset="-122"/>
                <a:cs typeface="Yu Gothic" pitchFamily="34" charset="-120"/>
              </a:rPr>
              <a:t>サブスク1杯換算</a:t>
            </a:r>
            <a:endParaRPr lang="en-US" sz="850" dirty="0"/>
          </a:p>
        </p:txBody>
      </p:sp>
      <p:sp>
        <p:nvSpPr>
          <p:cNvPr id="27" name="Text 21"/>
          <p:cNvSpPr/>
          <p:nvPr/>
        </p:nvSpPr>
        <p:spPr>
          <a:xfrm>
            <a:off x="8352739" y="2620670"/>
            <a:ext cx="2904439" cy="365760"/>
          </a:xfrm>
          <a:prstGeom prst="rect">
            <a:avLst/>
          </a:prstGeom>
          <a:noFill/>
          <a:ln/>
        </p:spPr>
        <p:txBody>
          <a:bodyPr wrap="square" lIns="0" tIns="0" rIns="0" bIns="0" rtlCol="0" anchor="ctr"/>
          <a:lstStyle/>
          <a:p>
            <a:pPr indent="0" marL="0">
              <a:buNone/>
            </a:pPr>
            <a:r>
              <a:rPr lang="en-US" sz="1600" b="1" dirty="0">
                <a:solidFill>
                  <a:srgbClr val="0A3D23"/>
                </a:solidFill>
                <a:latin typeface="Yu Gothic" pitchFamily="34" charset="0"/>
                <a:ea typeface="Yu Gothic" pitchFamily="34" charset="-122"/>
                <a:cs typeface="Yu Gothic" pitchFamily="34" charset="-120"/>
              </a:rPr>
              <a:t>サブスクプラン</a:t>
            </a:r>
            <a:endParaRPr lang="en-US" sz="1600" dirty="0"/>
          </a:p>
        </p:txBody>
      </p:sp>
      <p:sp>
        <p:nvSpPr>
          <p:cNvPr id="28" name="Shape 22"/>
          <p:cNvSpPr/>
          <p:nvPr/>
        </p:nvSpPr>
        <p:spPr>
          <a:xfrm>
            <a:off x="8352739" y="3059582"/>
            <a:ext cx="2904439" cy="10058"/>
          </a:xfrm>
          <a:prstGeom prst="rect">
            <a:avLst/>
          </a:prstGeom>
          <a:solidFill>
            <a:srgbClr val="EFEAE0"/>
          </a:solidFill>
          <a:ln/>
        </p:spPr>
      </p:sp>
      <p:sp>
        <p:nvSpPr>
          <p:cNvPr id="29" name="Text 23"/>
          <p:cNvSpPr/>
          <p:nvPr/>
        </p:nvSpPr>
        <p:spPr>
          <a:xfrm>
            <a:off x="8352739" y="3187598"/>
            <a:ext cx="2904439" cy="786384"/>
          </a:xfrm>
          <a:prstGeom prst="rect">
            <a:avLst/>
          </a:prstGeom>
          <a:noFill/>
          <a:ln/>
        </p:spPr>
        <p:txBody>
          <a:bodyPr wrap="square" lIns="0" tIns="0" rIns="0" bIns="0" rtlCol="0" anchor="t"/>
          <a:lstStyle/>
          <a:p>
            <a:pPr indent="0" marL="0">
              <a:lnSpc>
                <a:spcPct val="142000"/>
              </a:lnSpc>
              <a:buNone/>
            </a:pPr>
            <a:r>
              <a:rPr lang="en-US" sz="1050" dirty="0">
                <a:solidFill>
                  <a:srgbClr val="4B5550"/>
                </a:solidFill>
                <a:latin typeface="Yu Gothic" pitchFamily="34" charset="0"/>
                <a:ea typeface="Yu Gothic" pitchFamily="34" charset="-122"/>
                <a:cs typeface="Yu Gothic" pitchFamily="34" charset="-120"/>
              </a:rPr>
              <a:t>ヘビーユーザー向けに、月額定額で通い放題のプランも用意。継続利用を促しやすい仕組みです。</a:t>
            </a:r>
            <a:endParaRPr lang="en-US" sz="1050" dirty="0"/>
          </a:p>
        </p:txBody>
      </p:sp>
      <p:sp>
        <p:nvSpPr>
          <p:cNvPr id="30" name="Shape 24"/>
          <p:cNvSpPr/>
          <p:nvPr/>
        </p:nvSpPr>
        <p:spPr>
          <a:xfrm>
            <a:off x="660197" y="4394606"/>
            <a:ext cx="1689964" cy="914400"/>
          </a:xfrm>
          <a:prstGeom prst="roundRect">
            <a:avLst>
              <a:gd name="adj" fmla="val 6000"/>
            </a:avLst>
          </a:prstGeom>
          <a:solidFill>
            <a:srgbClr val="F1F8F3"/>
          </a:solidFill>
          <a:ln w="9525">
            <a:solidFill>
              <a:srgbClr val="D2E7DA"/>
            </a:solidFill>
            <a:prstDash val="solid"/>
          </a:ln>
        </p:spPr>
      </p:sp>
      <p:pic>
        <p:nvPicPr>
          <p:cNvPr id="31" name="Image 4" descr="/home/user/suzuki-ceo/selfcafe-partner-deck/assets/icons/LuCalendarCheck-green.png">    </p:cNvPr>
          <p:cNvPicPr>
            <a:picLocks noChangeAspect="1"/>
          </p:cNvPicPr>
          <p:nvPr/>
        </p:nvPicPr>
        <p:blipFill>
          <a:blip r:embed="rId5"/>
          <a:stretch>
            <a:fillRect/>
          </a:stretch>
        </p:blipFill>
        <p:spPr>
          <a:xfrm>
            <a:off x="1331443" y="4559198"/>
            <a:ext cx="347472" cy="347472"/>
          </a:xfrm>
          <a:prstGeom prst="rect">
            <a:avLst/>
          </a:prstGeom>
        </p:spPr>
      </p:pic>
      <p:sp>
        <p:nvSpPr>
          <p:cNvPr id="32" name="Text 25"/>
          <p:cNvSpPr/>
          <p:nvPr/>
        </p:nvSpPr>
        <p:spPr>
          <a:xfrm>
            <a:off x="696773"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無人・年中無休</a:t>
            </a:r>
            <a:endParaRPr lang="en-US" sz="1000" dirty="0"/>
          </a:p>
        </p:txBody>
      </p:sp>
      <p:sp>
        <p:nvSpPr>
          <p:cNvPr id="33" name="Shape 26"/>
          <p:cNvSpPr/>
          <p:nvPr/>
        </p:nvSpPr>
        <p:spPr>
          <a:xfrm>
            <a:off x="2496464" y="4394606"/>
            <a:ext cx="1689964" cy="914400"/>
          </a:xfrm>
          <a:prstGeom prst="roundRect">
            <a:avLst>
              <a:gd name="adj" fmla="val 6000"/>
            </a:avLst>
          </a:prstGeom>
          <a:solidFill>
            <a:srgbClr val="F1F8F3"/>
          </a:solidFill>
          <a:ln w="9525">
            <a:solidFill>
              <a:srgbClr val="D2E7DA"/>
            </a:solidFill>
            <a:prstDash val="solid"/>
          </a:ln>
        </p:spPr>
      </p:sp>
      <p:pic>
        <p:nvPicPr>
          <p:cNvPr id="34" name="Image 5" descr="/home/user/suzuki-ceo/selfcafe-partner-deck/assets/icons/LuWifi-green.png">    </p:cNvPr>
          <p:cNvPicPr>
            <a:picLocks noChangeAspect="1"/>
          </p:cNvPicPr>
          <p:nvPr/>
        </p:nvPicPr>
        <p:blipFill>
          <a:blip r:embed="rId6"/>
          <a:stretch>
            <a:fillRect/>
          </a:stretch>
        </p:blipFill>
        <p:spPr>
          <a:xfrm>
            <a:off x="3167710" y="4559198"/>
            <a:ext cx="347472" cy="347472"/>
          </a:xfrm>
          <a:prstGeom prst="rect">
            <a:avLst/>
          </a:prstGeom>
        </p:spPr>
      </p:pic>
      <p:sp>
        <p:nvSpPr>
          <p:cNvPr id="35" name="Text 27"/>
          <p:cNvSpPr/>
          <p:nvPr/>
        </p:nvSpPr>
        <p:spPr>
          <a:xfrm>
            <a:off x="2533040"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高速Wi-Fi</a:t>
            </a:r>
            <a:endParaRPr lang="en-US" sz="1000" dirty="0"/>
          </a:p>
        </p:txBody>
      </p:sp>
      <p:sp>
        <p:nvSpPr>
          <p:cNvPr id="36" name="Shape 28"/>
          <p:cNvSpPr/>
          <p:nvPr/>
        </p:nvSpPr>
        <p:spPr>
          <a:xfrm>
            <a:off x="4332732" y="4394606"/>
            <a:ext cx="1689964" cy="914400"/>
          </a:xfrm>
          <a:prstGeom prst="roundRect">
            <a:avLst>
              <a:gd name="adj" fmla="val 6000"/>
            </a:avLst>
          </a:prstGeom>
          <a:solidFill>
            <a:srgbClr val="F1F8F3"/>
          </a:solidFill>
          <a:ln w="9525">
            <a:solidFill>
              <a:srgbClr val="D2E7DA"/>
            </a:solidFill>
            <a:prstDash val="solid"/>
          </a:ln>
        </p:spPr>
      </p:sp>
      <p:pic>
        <p:nvPicPr>
          <p:cNvPr id="37" name="Image 6" descr="/home/user/suzuki-ceo/selfcafe-partner-deck/assets/icons/LuPlug-green.png">    </p:cNvPr>
          <p:cNvPicPr>
            <a:picLocks noChangeAspect="1"/>
          </p:cNvPicPr>
          <p:nvPr/>
        </p:nvPicPr>
        <p:blipFill>
          <a:blip r:embed="rId7"/>
          <a:stretch>
            <a:fillRect/>
          </a:stretch>
        </p:blipFill>
        <p:spPr>
          <a:xfrm>
            <a:off x="5003978" y="4559198"/>
            <a:ext cx="347472" cy="347472"/>
          </a:xfrm>
          <a:prstGeom prst="rect">
            <a:avLst/>
          </a:prstGeom>
        </p:spPr>
      </p:pic>
      <p:sp>
        <p:nvSpPr>
          <p:cNvPr id="38" name="Text 29"/>
          <p:cNvSpPr/>
          <p:nvPr/>
        </p:nvSpPr>
        <p:spPr>
          <a:xfrm>
            <a:off x="4369308"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電源完備</a:t>
            </a:r>
            <a:endParaRPr lang="en-US" sz="1000" dirty="0"/>
          </a:p>
        </p:txBody>
      </p:sp>
      <p:sp>
        <p:nvSpPr>
          <p:cNvPr id="39" name="Shape 30"/>
          <p:cNvSpPr/>
          <p:nvPr/>
        </p:nvSpPr>
        <p:spPr>
          <a:xfrm>
            <a:off x="6169000" y="4394606"/>
            <a:ext cx="1689964" cy="914400"/>
          </a:xfrm>
          <a:prstGeom prst="roundRect">
            <a:avLst>
              <a:gd name="adj" fmla="val 6000"/>
            </a:avLst>
          </a:prstGeom>
          <a:solidFill>
            <a:srgbClr val="F1F8F3"/>
          </a:solidFill>
          <a:ln w="9525">
            <a:solidFill>
              <a:srgbClr val="D2E7DA"/>
            </a:solidFill>
            <a:prstDash val="solid"/>
          </a:ln>
        </p:spPr>
      </p:sp>
      <p:pic>
        <p:nvPicPr>
          <p:cNvPr id="40" name="Image 7" descr="/home/user/suzuki-ceo/selfcafe-partner-deck/assets/icons/LuClock-green.png">    </p:cNvPr>
          <p:cNvPicPr>
            <a:picLocks noChangeAspect="1"/>
          </p:cNvPicPr>
          <p:nvPr/>
        </p:nvPicPr>
        <p:blipFill>
          <a:blip r:embed="rId8"/>
          <a:stretch>
            <a:fillRect/>
          </a:stretch>
        </p:blipFill>
        <p:spPr>
          <a:xfrm>
            <a:off x="6840245" y="4559198"/>
            <a:ext cx="347472" cy="347472"/>
          </a:xfrm>
          <a:prstGeom prst="rect">
            <a:avLst/>
          </a:prstGeom>
        </p:spPr>
      </p:pic>
      <p:sp>
        <p:nvSpPr>
          <p:cNvPr id="41" name="Text 31"/>
          <p:cNvSpPr/>
          <p:nvPr/>
        </p:nvSpPr>
        <p:spPr>
          <a:xfrm>
            <a:off x="6205576"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席時間無制限</a:t>
            </a:r>
            <a:endParaRPr lang="en-US" sz="1000" dirty="0"/>
          </a:p>
        </p:txBody>
      </p:sp>
      <p:sp>
        <p:nvSpPr>
          <p:cNvPr id="42" name="Shape 32"/>
          <p:cNvSpPr/>
          <p:nvPr/>
        </p:nvSpPr>
        <p:spPr>
          <a:xfrm>
            <a:off x="8005267" y="4394606"/>
            <a:ext cx="1689964" cy="914400"/>
          </a:xfrm>
          <a:prstGeom prst="roundRect">
            <a:avLst>
              <a:gd name="adj" fmla="val 6000"/>
            </a:avLst>
          </a:prstGeom>
          <a:solidFill>
            <a:srgbClr val="F1F8F3"/>
          </a:solidFill>
          <a:ln w="9525">
            <a:solidFill>
              <a:srgbClr val="D2E7DA"/>
            </a:solidFill>
            <a:prstDash val="solid"/>
          </a:ln>
        </p:spPr>
      </p:sp>
      <p:pic>
        <p:nvPicPr>
          <p:cNvPr id="43" name="Image 8" descr="/home/user/suzuki-ceo/selfcafe-partner-deck/assets/icons/LuBookOpen-green.png">    </p:cNvPr>
          <p:cNvPicPr>
            <a:picLocks noChangeAspect="1"/>
          </p:cNvPicPr>
          <p:nvPr/>
        </p:nvPicPr>
        <p:blipFill>
          <a:blip r:embed="rId9"/>
          <a:stretch>
            <a:fillRect/>
          </a:stretch>
        </p:blipFill>
        <p:spPr>
          <a:xfrm>
            <a:off x="8676513" y="4559198"/>
            <a:ext cx="347472" cy="347472"/>
          </a:xfrm>
          <a:prstGeom prst="rect">
            <a:avLst/>
          </a:prstGeom>
        </p:spPr>
      </p:pic>
      <p:sp>
        <p:nvSpPr>
          <p:cNvPr id="44" name="Text 33"/>
          <p:cNvSpPr/>
          <p:nvPr/>
        </p:nvSpPr>
        <p:spPr>
          <a:xfrm>
            <a:off x="8041843"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仕事・勉強</a:t>
            </a:r>
            <a:endParaRPr lang="en-US" sz="1000" dirty="0"/>
          </a:p>
        </p:txBody>
      </p:sp>
      <p:sp>
        <p:nvSpPr>
          <p:cNvPr id="45" name="Shape 34"/>
          <p:cNvSpPr/>
          <p:nvPr/>
        </p:nvSpPr>
        <p:spPr>
          <a:xfrm>
            <a:off x="9841535" y="4394606"/>
            <a:ext cx="1689964" cy="914400"/>
          </a:xfrm>
          <a:prstGeom prst="roundRect">
            <a:avLst>
              <a:gd name="adj" fmla="val 6000"/>
            </a:avLst>
          </a:prstGeom>
          <a:solidFill>
            <a:srgbClr val="F1F8F3"/>
          </a:solidFill>
          <a:ln w="9525">
            <a:solidFill>
              <a:srgbClr val="D2E7DA"/>
            </a:solidFill>
            <a:prstDash val="solid"/>
          </a:ln>
        </p:spPr>
      </p:sp>
      <p:pic>
        <p:nvPicPr>
          <p:cNvPr id="46" name="Image 9" descr="/home/user/suzuki-ceo/selfcafe-partner-deck/assets/icons/LuMessagesSquare-green.png">    </p:cNvPr>
          <p:cNvPicPr>
            <a:picLocks noChangeAspect="1"/>
          </p:cNvPicPr>
          <p:nvPr/>
        </p:nvPicPr>
        <p:blipFill>
          <a:blip r:embed="rId10"/>
          <a:stretch>
            <a:fillRect/>
          </a:stretch>
        </p:blipFill>
        <p:spPr>
          <a:xfrm>
            <a:off x="10512781" y="4559198"/>
            <a:ext cx="347472" cy="347472"/>
          </a:xfrm>
          <a:prstGeom prst="rect">
            <a:avLst/>
          </a:prstGeom>
        </p:spPr>
      </p:pic>
      <p:sp>
        <p:nvSpPr>
          <p:cNvPr id="47" name="Text 35"/>
          <p:cNvSpPr/>
          <p:nvPr/>
        </p:nvSpPr>
        <p:spPr>
          <a:xfrm>
            <a:off x="9878111" y="4961534"/>
            <a:ext cx="1616812" cy="256032"/>
          </a:xfrm>
          <a:prstGeom prst="rect">
            <a:avLst/>
          </a:prstGeom>
          <a:noFill/>
          <a:ln/>
        </p:spPr>
        <p:txBody>
          <a:bodyPr wrap="square" lIns="0" tIns="0" rIns="0" bIns="0" rtlCol="0" anchor="ctr"/>
          <a:lstStyle/>
          <a:p>
            <a:pPr algn="ctr" indent="0" marL="0">
              <a:buNone/>
            </a:pPr>
            <a:r>
              <a:rPr lang="en-US" sz="1000" b="1" dirty="0">
                <a:solidFill>
                  <a:srgbClr val="106838"/>
                </a:solidFill>
                <a:latin typeface="Yu Gothic" pitchFamily="34" charset="0"/>
                <a:ea typeface="Yu Gothic" pitchFamily="34" charset="-122"/>
                <a:cs typeface="Yu Gothic" pitchFamily="34" charset="-120"/>
              </a:rPr>
              <a:t>会話OK</a:t>
            </a:r>
            <a:endParaRPr lang="en-US" sz="1000" dirty="0"/>
          </a:p>
        </p:txBody>
      </p:sp>
      <p:sp>
        <p:nvSpPr>
          <p:cNvPr id="48" name="Text 36"/>
          <p:cNvSpPr/>
          <p:nvPr/>
        </p:nvSpPr>
        <p:spPr>
          <a:xfrm>
            <a:off x="660197" y="543702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予約不要・登録不要。ドリンク1杯からご利用いただけます。</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10</a:t>
            </a:r>
            <a:r>
              <a:rPr lang="en-US" sz="1050" b="1" dirty="0">
                <a:solidFill>
                  <a:srgbClr val="1B8149"/>
                </a:solidFill>
                <a:latin typeface="Yu Gothic" pitchFamily="34" charset="0"/>
                <a:ea typeface="Yu Gothic" pitchFamily="34" charset="-122"/>
                <a:cs typeface="Yu Gothic" pitchFamily="34" charset="-120"/>
              </a:rPr>
              <a:t>   ユーザー層</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セルフカフェのユーザー層</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「勉強」を目的に、若年層が繰り返し来店する——長時間・高頻度の利用構造です。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11</a:t>
            </a:r>
            <a:endParaRPr lang="en-US" sz="1000" dirty="0"/>
          </a:p>
        </p:txBody>
      </p:sp>
      <p:sp>
        <p:nvSpPr>
          <p:cNvPr id="9" name="Shape 6"/>
          <p:cNvSpPr/>
          <p:nvPr/>
        </p:nvSpPr>
        <p:spPr>
          <a:xfrm>
            <a:off x="660197" y="1651406"/>
            <a:ext cx="5243627" cy="4315968"/>
          </a:xfrm>
          <a:prstGeom prst="roundRect">
            <a:avLst>
              <a:gd name="adj" fmla="val 1271"/>
            </a:avLst>
          </a:prstGeom>
          <a:solidFill>
            <a:srgbClr val="FFFFFF"/>
          </a:solidFill>
          <a:ln w="9525">
            <a:solidFill>
              <a:srgbClr val="EFEAE0"/>
            </a:solidFill>
            <a:prstDash val="solid"/>
          </a:ln>
        </p:spPr>
      </p:sp>
      <p:sp>
        <p:nvSpPr>
          <p:cNvPr id="10" name="Text 7"/>
          <p:cNvSpPr/>
          <p:nvPr/>
        </p:nvSpPr>
        <p:spPr>
          <a:xfrm>
            <a:off x="934517" y="1889150"/>
            <a:ext cx="310896" cy="310896"/>
          </a:xfrm>
          <a:prstGeom prst="rect">
            <a:avLst/>
          </a:prstGeom>
          <a:noFill/>
          <a:ln/>
        </p:spPr>
        <p:txBody>
          <a:bodyPr wrap="square" lIns="0" tIns="0" rIns="0" bIns="0" rtlCol="0" anchor="ctr"/>
          <a:lstStyle/>
          <a:p>
            <a:pPr indent="0" marL="0">
              <a:buNone/>
            </a:pPr>
            <a:r>
              <a:rPr lang="en-US" sz="2000" b="1" dirty="0">
                <a:solidFill>
                  <a:srgbClr val="A9C6B5"/>
                </a:solidFill>
                <a:latin typeface="Arial" pitchFamily="34" charset="0"/>
                <a:ea typeface="Arial" pitchFamily="34" charset="-122"/>
                <a:cs typeface="Arial" pitchFamily="34" charset="-120"/>
              </a:rPr>
              <a:t>1</a:t>
            </a:r>
            <a:endParaRPr lang="en-US" sz="2000" dirty="0"/>
          </a:p>
        </p:txBody>
      </p:sp>
      <p:sp>
        <p:nvSpPr>
          <p:cNvPr id="11" name="Text 8"/>
          <p:cNvSpPr/>
          <p:nvPr/>
        </p:nvSpPr>
        <p:spPr>
          <a:xfrm>
            <a:off x="1318565" y="1870862"/>
            <a:ext cx="4329227" cy="347472"/>
          </a:xfrm>
          <a:prstGeom prst="rect">
            <a:avLst/>
          </a:prstGeom>
          <a:noFill/>
          <a:ln/>
        </p:spPr>
        <p:txBody>
          <a:bodyPr wrap="square" lIns="0" tIns="0" rIns="0" bIns="0" rtlCol="0" anchor="ctr"/>
          <a:lstStyle/>
          <a:p>
            <a:pPr indent="0" marL="0">
              <a:buNone/>
            </a:pPr>
            <a:r>
              <a:rPr lang="en-US" sz="1700" b="1" dirty="0">
                <a:solidFill>
                  <a:srgbClr val="0A3D23"/>
                </a:solidFill>
                <a:latin typeface="Yu Gothic" pitchFamily="34" charset="0"/>
                <a:ea typeface="Yu Gothic" pitchFamily="34" charset="-122"/>
                <a:cs typeface="Yu Gothic" pitchFamily="34" charset="-120"/>
              </a:rPr>
              <a:t>若年層から絶大な支持</a:t>
            </a:r>
            <a:endParaRPr lang="en-US" sz="1700" dirty="0"/>
          </a:p>
        </p:txBody>
      </p:sp>
      <p:sp>
        <p:nvSpPr>
          <p:cNvPr id="12" name="Text 9"/>
          <p:cNvSpPr/>
          <p:nvPr/>
        </p:nvSpPr>
        <p:spPr>
          <a:xfrm>
            <a:off x="934517" y="2309774"/>
            <a:ext cx="4694987" cy="548640"/>
          </a:xfrm>
          <a:prstGeom prst="rect">
            <a:avLst/>
          </a:prstGeom>
          <a:noFill/>
          <a:ln/>
        </p:spPr>
        <p:txBody>
          <a:bodyPr wrap="square" lIns="0" tIns="0" rIns="0" bIns="0" rtlCol="0" anchor="t"/>
          <a:lstStyle/>
          <a:p>
            <a:pPr indent="0" marL="0">
              <a:lnSpc>
                <a:spcPct val="135000"/>
              </a:lnSpc>
              <a:buNone/>
            </a:pPr>
            <a:r>
              <a:rPr lang="en-US" sz="1050" dirty="0">
                <a:solidFill>
                  <a:srgbClr val="4B5550"/>
                </a:solidFill>
                <a:latin typeface="Yu Gothic" pitchFamily="34" charset="0"/>
                <a:ea typeface="Yu Gothic" pitchFamily="34" charset="-122"/>
                <a:cs typeface="Yu Gothic" pitchFamily="34" charset="-120"/>
              </a:rPr>
              <a:t>29歳までのユーザーが</a:t>
            </a:r>
            <a:r>
              <a:rPr lang="en-US" sz="1050" b="1" dirty="0">
                <a:solidFill>
                  <a:srgbClr val="106838"/>
                </a:solidFill>
                <a:latin typeface="Yu Gothic" pitchFamily="34" charset="0"/>
                <a:ea typeface="Yu Gothic" pitchFamily="34" charset="-122"/>
                <a:cs typeface="Yu Gothic" pitchFamily="34" charset="-120"/>
              </a:rPr>
              <a:t>約50%</a:t>
            </a:r>
            <a:r>
              <a:rPr lang="en-US" sz="1050" dirty="0">
                <a:solidFill>
                  <a:srgbClr val="4B5550"/>
                </a:solidFill>
                <a:latin typeface="Yu Gothic" pitchFamily="34" charset="0"/>
                <a:ea typeface="Yu Gothic" pitchFamily="34" charset="-122"/>
                <a:cs typeface="Yu Gothic" pitchFamily="34" charset="-120"/>
              </a:rPr>
              <a:t>。デジタルネイティブ世代にとって「無人」は心理的ハードルが低く、快適な空間です。</a:t>
            </a:r>
            <a:endParaRPr lang="en-US" sz="1050" dirty="0"/>
          </a:p>
        </p:txBody>
      </p:sp>
      <p:graphicFrame>
        <p:nvGraphicFramePr>
          <p:cNvPr id="13" name="Chart 0" descr=""/>
          <p:cNvGraphicFramePr/>
          <p:nvPr/>
        </p:nvGraphicFramePr>
        <p:xfrm>
          <a:off x="843077" y="2931566"/>
          <a:ext cx="4877867" cy="2798064"/>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p:nvPr/>
        </p:nvSpPr>
        <p:spPr>
          <a:xfrm>
            <a:off x="4989424" y="5674766"/>
            <a:ext cx="603504" cy="182880"/>
          </a:xfrm>
          <a:prstGeom prst="rect">
            <a:avLst/>
          </a:prstGeom>
          <a:noFill/>
          <a:ln/>
        </p:spPr>
        <p:txBody>
          <a:bodyPr wrap="square" lIns="0" tIns="0" rIns="0" bIns="0" rtlCol="0" anchor="ctr"/>
          <a:lstStyle/>
          <a:p>
            <a:pPr algn="r" indent="0" marL="0">
              <a:buNone/>
            </a:pPr>
            <a:r>
              <a:rPr lang="en-US" sz="850" dirty="0">
                <a:solidFill>
                  <a:srgbClr val="A8B0AA"/>
                </a:solidFill>
                <a:latin typeface="Yu Gothic" pitchFamily="34" charset="0"/>
                <a:ea typeface="Yu Gothic" pitchFamily="34" charset="-122"/>
                <a:cs typeface="Yu Gothic" pitchFamily="34" charset="-120"/>
              </a:rPr>
              <a:t>（歳）</a:t>
            </a:r>
            <a:endParaRPr lang="en-US" sz="850" dirty="0"/>
          </a:p>
        </p:txBody>
      </p:sp>
      <p:sp>
        <p:nvSpPr>
          <p:cNvPr id="15" name="Shape 11"/>
          <p:cNvSpPr/>
          <p:nvPr/>
        </p:nvSpPr>
        <p:spPr>
          <a:xfrm>
            <a:off x="6287872" y="1651406"/>
            <a:ext cx="5243627" cy="4315968"/>
          </a:xfrm>
          <a:prstGeom prst="roundRect">
            <a:avLst>
              <a:gd name="adj" fmla="val 1271"/>
            </a:avLst>
          </a:prstGeom>
          <a:solidFill>
            <a:srgbClr val="FFFFFF"/>
          </a:solidFill>
          <a:ln w="9525">
            <a:solidFill>
              <a:srgbClr val="EFEAE0"/>
            </a:solidFill>
            <a:prstDash val="solid"/>
          </a:ln>
        </p:spPr>
      </p:sp>
      <p:sp>
        <p:nvSpPr>
          <p:cNvPr id="16" name="Text 12"/>
          <p:cNvSpPr/>
          <p:nvPr/>
        </p:nvSpPr>
        <p:spPr>
          <a:xfrm>
            <a:off x="6562192" y="1889150"/>
            <a:ext cx="310896" cy="310896"/>
          </a:xfrm>
          <a:prstGeom prst="rect">
            <a:avLst/>
          </a:prstGeom>
          <a:noFill/>
          <a:ln/>
        </p:spPr>
        <p:txBody>
          <a:bodyPr wrap="square" lIns="0" tIns="0" rIns="0" bIns="0" rtlCol="0" anchor="ctr"/>
          <a:lstStyle/>
          <a:p>
            <a:pPr indent="0" marL="0">
              <a:buNone/>
            </a:pPr>
            <a:r>
              <a:rPr lang="en-US" sz="2000" b="1" dirty="0">
                <a:solidFill>
                  <a:srgbClr val="A9C6B5"/>
                </a:solidFill>
                <a:latin typeface="Arial" pitchFamily="34" charset="0"/>
                <a:ea typeface="Arial" pitchFamily="34" charset="-122"/>
                <a:cs typeface="Arial" pitchFamily="34" charset="-120"/>
              </a:rPr>
              <a:t>2</a:t>
            </a:r>
            <a:endParaRPr lang="en-US" sz="2000" dirty="0"/>
          </a:p>
        </p:txBody>
      </p:sp>
      <p:sp>
        <p:nvSpPr>
          <p:cNvPr id="17" name="Text 13"/>
          <p:cNvSpPr/>
          <p:nvPr/>
        </p:nvSpPr>
        <p:spPr>
          <a:xfrm>
            <a:off x="6946240" y="1870862"/>
            <a:ext cx="4329227" cy="347472"/>
          </a:xfrm>
          <a:prstGeom prst="rect">
            <a:avLst/>
          </a:prstGeom>
          <a:noFill/>
          <a:ln/>
        </p:spPr>
        <p:txBody>
          <a:bodyPr wrap="square" lIns="0" tIns="0" rIns="0" bIns="0" rtlCol="0" anchor="ctr"/>
          <a:lstStyle/>
          <a:p>
            <a:pPr indent="0" marL="0">
              <a:buNone/>
            </a:pPr>
            <a:r>
              <a:rPr lang="en-US" sz="1700" b="1" dirty="0">
                <a:solidFill>
                  <a:srgbClr val="0A3D23"/>
                </a:solidFill>
                <a:latin typeface="Yu Gothic" pitchFamily="34" charset="0"/>
                <a:ea typeface="Yu Gothic" pitchFamily="34" charset="-122"/>
                <a:cs typeface="Yu Gothic" pitchFamily="34" charset="-120"/>
              </a:rPr>
              <a:t>「勉強」が主目的</a:t>
            </a:r>
            <a:endParaRPr lang="en-US" sz="1700" dirty="0"/>
          </a:p>
        </p:txBody>
      </p:sp>
      <p:sp>
        <p:nvSpPr>
          <p:cNvPr id="18" name="Text 14"/>
          <p:cNvSpPr/>
          <p:nvPr/>
        </p:nvSpPr>
        <p:spPr>
          <a:xfrm>
            <a:off x="6562192" y="2309774"/>
            <a:ext cx="4694987" cy="548640"/>
          </a:xfrm>
          <a:prstGeom prst="rect">
            <a:avLst/>
          </a:prstGeom>
          <a:noFill/>
          <a:ln/>
        </p:spPr>
        <p:txBody>
          <a:bodyPr wrap="square" lIns="0" tIns="0" rIns="0" bIns="0" rtlCol="0" anchor="t"/>
          <a:lstStyle/>
          <a:p>
            <a:pPr indent="0" marL="0">
              <a:lnSpc>
                <a:spcPct val="135000"/>
              </a:lnSpc>
              <a:buNone/>
            </a:pPr>
            <a:r>
              <a:rPr lang="en-US" sz="1050" dirty="0">
                <a:solidFill>
                  <a:srgbClr val="4B5550"/>
                </a:solidFill>
                <a:latin typeface="Yu Gothic" pitchFamily="34" charset="0"/>
                <a:ea typeface="Yu Gothic" pitchFamily="34" charset="-122"/>
                <a:cs typeface="Yu Gothic" pitchFamily="34" charset="-120"/>
              </a:rPr>
              <a:t>利用目的の</a:t>
            </a:r>
            <a:r>
              <a:rPr lang="en-US" sz="1050" b="1" dirty="0">
                <a:solidFill>
                  <a:srgbClr val="106838"/>
                </a:solidFill>
                <a:latin typeface="Yu Gothic" pitchFamily="34" charset="0"/>
                <a:ea typeface="Yu Gothic" pitchFamily="34" charset="-122"/>
                <a:cs typeface="Yu Gothic" pitchFamily="34" charset="-120"/>
              </a:rPr>
              <a:t>62.6%が「勉強」</a:t>
            </a:r>
            <a:r>
              <a:rPr lang="en-US" sz="1050" dirty="0">
                <a:solidFill>
                  <a:srgbClr val="4B5550"/>
                </a:solidFill>
                <a:latin typeface="Yu Gothic" pitchFamily="34" charset="0"/>
                <a:ea typeface="Yu Gothic" pitchFamily="34" charset="-122"/>
                <a:cs typeface="Yu Gothic" pitchFamily="34" charset="-120"/>
              </a:rPr>
              <a:t>。一般的なカフェが「休憩」を主目的とするのに対し、高い生産性を求める層が集まります。</a:t>
            </a:r>
            <a:endParaRPr lang="en-US" sz="1050" dirty="0"/>
          </a:p>
        </p:txBody>
      </p:sp>
      <p:graphicFrame>
        <p:nvGraphicFramePr>
          <p:cNvPr id="19" name="Chart 1" descr=""/>
          <p:cNvGraphicFramePr/>
          <p:nvPr/>
        </p:nvGraphicFramePr>
        <p:xfrm>
          <a:off x="6470752" y="2894990"/>
          <a:ext cx="4877867" cy="2889504"/>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11</a:t>
            </a:r>
            <a:r>
              <a:rPr lang="en-US" sz="1050" b="1" dirty="0">
                <a:solidFill>
                  <a:srgbClr val="1B8149"/>
                </a:solidFill>
                <a:latin typeface="Yu Gothic" pitchFamily="34" charset="0"/>
                <a:ea typeface="Yu Gothic" pitchFamily="34" charset="-122"/>
                <a:cs typeface="Yu Gothic" pitchFamily="34" charset="-120"/>
              </a:rPr>
              <a:t>   店舗の様子</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店舗毎の利用状況 ／ 愛知・千葉エリア</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店内カメラで見た実際の様子。平日日中でも席が埋まる店舗が多数あります。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12</a:t>
            </a:r>
            <a:endParaRPr lang="en-US" sz="1000" dirty="0"/>
          </a:p>
        </p:txBody>
      </p:sp>
      <p:pic>
        <p:nvPicPr>
          <p:cNvPr id="9" name="Image 1" descr="/home/user/suzuki-ceo/selfcafe-partner-deck/assets/photos/store-sasashima.jpg">    </p:cNvPr>
          <p:cNvPicPr>
            <a:picLocks noChangeAspect="1"/>
          </p:cNvPicPr>
          <p:nvPr/>
        </p:nvPicPr>
        <p:blipFill>
          <a:blip r:embed="rId2"/>
          <a:srcRect l="0" r="0" t="0" b="0"/>
          <a:stretch/>
        </p:blipFill>
        <p:spPr>
          <a:xfrm>
            <a:off x="660197" y="1651406"/>
            <a:ext cx="3477463" cy="1881378"/>
          </a:xfrm>
          <a:prstGeom prst="rect">
            <a:avLst/>
          </a:prstGeom>
        </p:spPr>
      </p:pic>
      <p:sp>
        <p:nvSpPr>
          <p:cNvPr id="10" name="Shape 6"/>
          <p:cNvSpPr/>
          <p:nvPr/>
        </p:nvSpPr>
        <p:spPr>
          <a:xfrm>
            <a:off x="660197" y="1651406"/>
            <a:ext cx="3477463" cy="1881378"/>
          </a:xfrm>
          <a:prstGeom prst="rect">
            <a:avLst/>
          </a:prstGeom>
          <a:ln w="12700">
            <a:solidFill>
              <a:srgbClr val="D8D2C6"/>
            </a:solidFill>
            <a:prstDash val="solid"/>
          </a:ln>
        </p:spPr>
      </p:sp>
      <p:sp>
        <p:nvSpPr>
          <p:cNvPr id="11" name="Text 7"/>
          <p:cNvSpPr/>
          <p:nvPr/>
        </p:nvSpPr>
        <p:spPr>
          <a:xfrm>
            <a:off x="660197"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ささしまライブ店</a:t>
            </a:r>
            <a:endParaRPr lang="en-US" sz="1100" dirty="0"/>
          </a:p>
        </p:txBody>
      </p:sp>
      <p:sp>
        <p:nvSpPr>
          <p:cNvPr id="12" name="Text 8"/>
          <p:cNvSpPr/>
          <p:nvPr/>
        </p:nvSpPr>
        <p:spPr>
          <a:xfrm>
            <a:off x="2948940"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13" name="Image 2" descr="/home/user/suzuki-ceo/selfcafe-partner-deck/assets/photos/store-meieki.jpg">    </p:cNvPr>
          <p:cNvPicPr>
            <a:picLocks noChangeAspect="1"/>
          </p:cNvPicPr>
          <p:nvPr/>
        </p:nvPicPr>
        <p:blipFill>
          <a:blip r:embed="rId3"/>
          <a:srcRect l="0" r="0" t="0" b="0"/>
          <a:stretch/>
        </p:blipFill>
        <p:spPr>
          <a:xfrm>
            <a:off x="4357116" y="1651406"/>
            <a:ext cx="3477463" cy="1881378"/>
          </a:xfrm>
          <a:prstGeom prst="rect">
            <a:avLst/>
          </a:prstGeom>
        </p:spPr>
      </p:pic>
      <p:sp>
        <p:nvSpPr>
          <p:cNvPr id="14" name="Shape 9"/>
          <p:cNvSpPr/>
          <p:nvPr/>
        </p:nvSpPr>
        <p:spPr>
          <a:xfrm>
            <a:off x="4357116" y="1651406"/>
            <a:ext cx="3477463" cy="1881378"/>
          </a:xfrm>
          <a:prstGeom prst="rect">
            <a:avLst/>
          </a:prstGeom>
          <a:ln w="12700">
            <a:solidFill>
              <a:srgbClr val="D8D2C6"/>
            </a:solidFill>
            <a:prstDash val="solid"/>
          </a:ln>
        </p:spPr>
      </p:sp>
      <p:sp>
        <p:nvSpPr>
          <p:cNvPr id="15" name="Text 10"/>
          <p:cNvSpPr/>
          <p:nvPr/>
        </p:nvSpPr>
        <p:spPr>
          <a:xfrm>
            <a:off x="4357116"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名駅西口店</a:t>
            </a:r>
            <a:endParaRPr lang="en-US" sz="1100" dirty="0"/>
          </a:p>
        </p:txBody>
      </p:sp>
      <p:sp>
        <p:nvSpPr>
          <p:cNvPr id="16" name="Text 11"/>
          <p:cNvSpPr/>
          <p:nvPr/>
        </p:nvSpPr>
        <p:spPr>
          <a:xfrm>
            <a:off x="6645859"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17" name="Image 3" descr="/home/user/suzuki-ceo/selfcafe-partner-deck/assets/photos/store-sakae.jpg">    </p:cNvPr>
          <p:cNvPicPr>
            <a:picLocks noChangeAspect="1"/>
          </p:cNvPicPr>
          <p:nvPr/>
        </p:nvPicPr>
        <p:blipFill>
          <a:blip r:embed="rId4"/>
          <a:srcRect l="0" r="0" t="0" b="0"/>
          <a:stretch/>
        </p:blipFill>
        <p:spPr>
          <a:xfrm>
            <a:off x="8054035" y="1651406"/>
            <a:ext cx="3477463" cy="1881378"/>
          </a:xfrm>
          <a:prstGeom prst="rect">
            <a:avLst/>
          </a:prstGeom>
        </p:spPr>
      </p:pic>
      <p:sp>
        <p:nvSpPr>
          <p:cNvPr id="18" name="Shape 12"/>
          <p:cNvSpPr/>
          <p:nvPr/>
        </p:nvSpPr>
        <p:spPr>
          <a:xfrm>
            <a:off x="8054035" y="1651406"/>
            <a:ext cx="3477463" cy="1881378"/>
          </a:xfrm>
          <a:prstGeom prst="rect">
            <a:avLst/>
          </a:prstGeom>
          <a:ln w="12700">
            <a:solidFill>
              <a:srgbClr val="D8D2C6"/>
            </a:solidFill>
            <a:prstDash val="solid"/>
          </a:ln>
        </p:spPr>
      </p:sp>
      <p:sp>
        <p:nvSpPr>
          <p:cNvPr id="19" name="Text 13"/>
          <p:cNvSpPr/>
          <p:nvPr/>
        </p:nvSpPr>
        <p:spPr>
          <a:xfrm>
            <a:off x="8054035"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栄店</a:t>
            </a:r>
            <a:endParaRPr lang="en-US" sz="1100" dirty="0"/>
          </a:p>
        </p:txBody>
      </p:sp>
      <p:sp>
        <p:nvSpPr>
          <p:cNvPr id="20" name="Text 14"/>
          <p:cNvSpPr/>
          <p:nvPr/>
        </p:nvSpPr>
        <p:spPr>
          <a:xfrm>
            <a:off x="10342778"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21" name="Image 4" descr="/home/user/suzuki-ceo/selfcafe-partner-deck/assets/photos/store-aratama.jpg">    </p:cNvPr>
          <p:cNvPicPr>
            <a:picLocks noChangeAspect="1"/>
          </p:cNvPicPr>
          <p:nvPr/>
        </p:nvPicPr>
        <p:blipFill>
          <a:blip r:embed="rId5"/>
          <a:srcRect l="0" r="0" t="0" b="0"/>
          <a:stretch/>
        </p:blipFill>
        <p:spPr>
          <a:xfrm>
            <a:off x="660197" y="4081424"/>
            <a:ext cx="3477463" cy="1881378"/>
          </a:xfrm>
          <a:prstGeom prst="rect">
            <a:avLst/>
          </a:prstGeom>
        </p:spPr>
      </p:pic>
      <p:sp>
        <p:nvSpPr>
          <p:cNvPr id="22" name="Shape 15"/>
          <p:cNvSpPr/>
          <p:nvPr/>
        </p:nvSpPr>
        <p:spPr>
          <a:xfrm>
            <a:off x="660197" y="4081424"/>
            <a:ext cx="3477463" cy="1881378"/>
          </a:xfrm>
          <a:prstGeom prst="rect">
            <a:avLst/>
          </a:prstGeom>
          <a:ln w="12700">
            <a:solidFill>
              <a:srgbClr val="D8D2C6"/>
            </a:solidFill>
            <a:prstDash val="solid"/>
          </a:ln>
        </p:spPr>
      </p:sp>
      <p:sp>
        <p:nvSpPr>
          <p:cNvPr id="23" name="Text 16"/>
          <p:cNvSpPr/>
          <p:nvPr/>
        </p:nvSpPr>
        <p:spPr>
          <a:xfrm>
            <a:off x="660197"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新瑞橋店</a:t>
            </a:r>
            <a:endParaRPr lang="en-US" sz="1100" dirty="0"/>
          </a:p>
        </p:txBody>
      </p:sp>
      <p:sp>
        <p:nvSpPr>
          <p:cNvPr id="24" name="Text 17"/>
          <p:cNvSpPr/>
          <p:nvPr/>
        </p:nvSpPr>
        <p:spPr>
          <a:xfrm>
            <a:off x="2948940"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25" name="Image 5" descr="/home/user/suzuki-ceo/selfcafe-partner-deck/assets/photos/store-gokiso.jpg">    </p:cNvPr>
          <p:cNvPicPr>
            <a:picLocks noChangeAspect="1"/>
          </p:cNvPicPr>
          <p:nvPr/>
        </p:nvPicPr>
        <p:blipFill>
          <a:blip r:embed="rId6"/>
          <a:srcRect l="0" r="0" t="0" b="0"/>
          <a:stretch/>
        </p:blipFill>
        <p:spPr>
          <a:xfrm>
            <a:off x="4357116" y="4081424"/>
            <a:ext cx="3477463" cy="1881378"/>
          </a:xfrm>
          <a:prstGeom prst="rect">
            <a:avLst/>
          </a:prstGeom>
        </p:spPr>
      </p:pic>
      <p:sp>
        <p:nvSpPr>
          <p:cNvPr id="26" name="Shape 18"/>
          <p:cNvSpPr/>
          <p:nvPr/>
        </p:nvSpPr>
        <p:spPr>
          <a:xfrm>
            <a:off x="4357116" y="4081424"/>
            <a:ext cx="3477463" cy="1881378"/>
          </a:xfrm>
          <a:prstGeom prst="rect">
            <a:avLst/>
          </a:prstGeom>
          <a:ln w="12700">
            <a:solidFill>
              <a:srgbClr val="D8D2C6"/>
            </a:solidFill>
            <a:prstDash val="solid"/>
          </a:ln>
        </p:spPr>
      </p:sp>
      <p:sp>
        <p:nvSpPr>
          <p:cNvPr id="27" name="Text 19"/>
          <p:cNvSpPr/>
          <p:nvPr/>
        </p:nvSpPr>
        <p:spPr>
          <a:xfrm>
            <a:off x="4357116"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御器所店</a:t>
            </a:r>
            <a:endParaRPr lang="en-US" sz="1100" dirty="0"/>
          </a:p>
        </p:txBody>
      </p:sp>
      <p:sp>
        <p:nvSpPr>
          <p:cNvPr id="28" name="Text 20"/>
          <p:cNvSpPr/>
          <p:nvPr/>
        </p:nvSpPr>
        <p:spPr>
          <a:xfrm>
            <a:off x="6645859"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愛知県名古屋市</a:t>
            </a:r>
            <a:endParaRPr lang="en-US" sz="900" dirty="0"/>
          </a:p>
        </p:txBody>
      </p:sp>
      <p:pic>
        <p:nvPicPr>
          <p:cNvPr id="29" name="Image 6" descr="/home/user/suzuki-ceo/selfcafe-partner-deck/assets/photos/store-inzai.jpg">    </p:cNvPr>
          <p:cNvPicPr>
            <a:picLocks noChangeAspect="1"/>
          </p:cNvPicPr>
          <p:nvPr/>
        </p:nvPicPr>
        <p:blipFill>
          <a:blip r:embed="rId7"/>
          <a:srcRect l="0" r="0" t="0" b="0"/>
          <a:stretch/>
        </p:blipFill>
        <p:spPr>
          <a:xfrm>
            <a:off x="8054035" y="4081424"/>
            <a:ext cx="3477463" cy="1881378"/>
          </a:xfrm>
          <a:prstGeom prst="rect">
            <a:avLst/>
          </a:prstGeom>
        </p:spPr>
      </p:pic>
      <p:sp>
        <p:nvSpPr>
          <p:cNvPr id="30" name="Shape 21"/>
          <p:cNvSpPr/>
          <p:nvPr/>
        </p:nvSpPr>
        <p:spPr>
          <a:xfrm>
            <a:off x="8054035" y="4081424"/>
            <a:ext cx="3477463" cy="1881378"/>
          </a:xfrm>
          <a:prstGeom prst="rect">
            <a:avLst/>
          </a:prstGeom>
          <a:ln w="12700">
            <a:solidFill>
              <a:srgbClr val="D8D2C6"/>
            </a:solidFill>
            <a:prstDash val="solid"/>
          </a:ln>
        </p:spPr>
      </p:sp>
      <p:sp>
        <p:nvSpPr>
          <p:cNvPr id="31" name="Text 22"/>
          <p:cNvSpPr/>
          <p:nvPr/>
        </p:nvSpPr>
        <p:spPr>
          <a:xfrm>
            <a:off x="8054035"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印西牧の原店</a:t>
            </a:r>
            <a:endParaRPr lang="en-US" sz="1100" dirty="0"/>
          </a:p>
        </p:txBody>
      </p:sp>
      <p:sp>
        <p:nvSpPr>
          <p:cNvPr id="32" name="Text 23"/>
          <p:cNvSpPr/>
          <p:nvPr/>
        </p:nvSpPr>
        <p:spPr>
          <a:xfrm>
            <a:off x="10342778"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千葉県印西市</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12</a:t>
            </a:r>
            <a:r>
              <a:rPr lang="en-US" sz="1050" b="1" dirty="0">
                <a:solidFill>
                  <a:srgbClr val="1B8149"/>
                </a:solidFill>
                <a:latin typeface="Yu Gothic" pitchFamily="34" charset="0"/>
                <a:ea typeface="Yu Gothic" pitchFamily="34" charset="-122"/>
                <a:cs typeface="Yu Gothic" pitchFamily="34" charset="-120"/>
              </a:rPr>
              <a:t>   店舗の様子</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店舗毎の利用状況 ／ 岩手・静岡・大阪エリア</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店内カメラで見た実際の様子。平日日中でも席が埋まる店舗が多数あります。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13</a:t>
            </a:r>
            <a:endParaRPr lang="en-US" sz="1000" dirty="0"/>
          </a:p>
        </p:txBody>
      </p:sp>
      <p:pic>
        <p:nvPicPr>
          <p:cNvPr id="9" name="Image 1" descr="/home/user/suzuki-ceo/selfcafe-partner-deck/assets/photos/store-morioka.jpg">    </p:cNvPr>
          <p:cNvPicPr>
            <a:picLocks noChangeAspect="1"/>
          </p:cNvPicPr>
          <p:nvPr/>
        </p:nvPicPr>
        <p:blipFill>
          <a:blip r:embed="rId2"/>
          <a:srcRect l="0" r="0" t="0" b="0"/>
          <a:stretch/>
        </p:blipFill>
        <p:spPr>
          <a:xfrm>
            <a:off x="660197" y="1651406"/>
            <a:ext cx="3477463" cy="1881378"/>
          </a:xfrm>
          <a:prstGeom prst="rect">
            <a:avLst/>
          </a:prstGeom>
        </p:spPr>
      </p:pic>
      <p:sp>
        <p:nvSpPr>
          <p:cNvPr id="10" name="Shape 6"/>
          <p:cNvSpPr/>
          <p:nvPr/>
        </p:nvSpPr>
        <p:spPr>
          <a:xfrm>
            <a:off x="660197" y="1651406"/>
            <a:ext cx="3477463" cy="1881378"/>
          </a:xfrm>
          <a:prstGeom prst="rect">
            <a:avLst/>
          </a:prstGeom>
          <a:ln w="12700">
            <a:solidFill>
              <a:srgbClr val="D8D2C6"/>
            </a:solidFill>
            <a:prstDash val="solid"/>
          </a:ln>
        </p:spPr>
      </p:sp>
      <p:sp>
        <p:nvSpPr>
          <p:cNvPr id="11" name="Text 7"/>
          <p:cNvSpPr/>
          <p:nvPr/>
        </p:nvSpPr>
        <p:spPr>
          <a:xfrm>
            <a:off x="660197"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盛岡駅前店</a:t>
            </a:r>
            <a:endParaRPr lang="en-US" sz="1100" dirty="0"/>
          </a:p>
        </p:txBody>
      </p:sp>
      <p:sp>
        <p:nvSpPr>
          <p:cNvPr id="12" name="Text 8"/>
          <p:cNvSpPr/>
          <p:nvPr/>
        </p:nvSpPr>
        <p:spPr>
          <a:xfrm>
            <a:off x="2948940"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岩手県盛岡市</a:t>
            </a:r>
            <a:endParaRPr lang="en-US" sz="900" dirty="0"/>
          </a:p>
        </p:txBody>
      </p:sp>
      <p:pic>
        <p:nvPicPr>
          <p:cNvPr id="13" name="Image 2" descr="/home/user/suzuki-ceo/selfcafe-partner-deck/assets/photos/store-hamamatsu.jpg">    </p:cNvPr>
          <p:cNvPicPr>
            <a:picLocks noChangeAspect="1"/>
          </p:cNvPicPr>
          <p:nvPr/>
        </p:nvPicPr>
        <p:blipFill>
          <a:blip r:embed="rId3"/>
          <a:srcRect l="0" r="0" t="0" b="0"/>
          <a:stretch/>
        </p:blipFill>
        <p:spPr>
          <a:xfrm>
            <a:off x="4357116" y="1651406"/>
            <a:ext cx="3477463" cy="1881378"/>
          </a:xfrm>
          <a:prstGeom prst="rect">
            <a:avLst/>
          </a:prstGeom>
        </p:spPr>
      </p:pic>
      <p:sp>
        <p:nvSpPr>
          <p:cNvPr id="14" name="Shape 9"/>
          <p:cNvSpPr/>
          <p:nvPr/>
        </p:nvSpPr>
        <p:spPr>
          <a:xfrm>
            <a:off x="4357116" y="1651406"/>
            <a:ext cx="3477463" cy="1881378"/>
          </a:xfrm>
          <a:prstGeom prst="rect">
            <a:avLst/>
          </a:prstGeom>
          <a:ln w="12700">
            <a:solidFill>
              <a:srgbClr val="D8D2C6"/>
            </a:solidFill>
            <a:prstDash val="solid"/>
          </a:ln>
        </p:spPr>
      </p:sp>
      <p:sp>
        <p:nvSpPr>
          <p:cNvPr id="15" name="Text 10"/>
          <p:cNvSpPr/>
          <p:nvPr/>
        </p:nvSpPr>
        <p:spPr>
          <a:xfrm>
            <a:off x="4357116"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浜松新橋店</a:t>
            </a:r>
            <a:endParaRPr lang="en-US" sz="1100" dirty="0"/>
          </a:p>
        </p:txBody>
      </p:sp>
      <p:sp>
        <p:nvSpPr>
          <p:cNvPr id="16" name="Text 11"/>
          <p:cNvSpPr/>
          <p:nvPr/>
        </p:nvSpPr>
        <p:spPr>
          <a:xfrm>
            <a:off x="6645859"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静岡県浜松市</a:t>
            </a:r>
            <a:endParaRPr lang="en-US" sz="900" dirty="0"/>
          </a:p>
        </p:txBody>
      </p:sp>
      <p:pic>
        <p:nvPicPr>
          <p:cNvPr id="17" name="Image 3" descr="/home/user/suzuki-ceo/selfcafe-partner-deck/assets/photos/store-aikawa.jpg">    </p:cNvPr>
          <p:cNvPicPr>
            <a:picLocks noChangeAspect="1"/>
          </p:cNvPicPr>
          <p:nvPr/>
        </p:nvPicPr>
        <p:blipFill>
          <a:blip r:embed="rId4"/>
          <a:srcRect l="0" r="0" t="0" b="0"/>
          <a:stretch/>
        </p:blipFill>
        <p:spPr>
          <a:xfrm>
            <a:off x="8054035" y="1651406"/>
            <a:ext cx="3477463" cy="1881378"/>
          </a:xfrm>
          <a:prstGeom prst="rect">
            <a:avLst/>
          </a:prstGeom>
        </p:spPr>
      </p:pic>
      <p:sp>
        <p:nvSpPr>
          <p:cNvPr id="18" name="Shape 12"/>
          <p:cNvSpPr/>
          <p:nvPr/>
        </p:nvSpPr>
        <p:spPr>
          <a:xfrm>
            <a:off x="8054035" y="1651406"/>
            <a:ext cx="3477463" cy="1881378"/>
          </a:xfrm>
          <a:prstGeom prst="rect">
            <a:avLst/>
          </a:prstGeom>
          <a:ln w="12700">
            <a:solidFill>
              <a:srgbClr val="D8D2C6"/>
            </a:solidFill>
            <a:prstDash val="solid"/>
          </a:ln>
        </p:spPr>
      </p:sp>
      <p:sp>
        <p:nvSpPr>
          <p:cNvPr id="19" name="Text 13"/>
          <p:cNvSpPr/>
          <p:nvPr/>
        </p:nvSpPr>
        <p:spPr>
          <a:xfrm>
            <a:off x="8054035" y="3551072"/>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相川駅前店</a:t>
            </a:r>
            <a:endParaRPr lang="en-US" sz="1100" dirty="0"/>
          </a:p>
        </p:txBody>
      </p:sp>
      <p:sp>
        <p:nvSpPr>
          <p:cNvPr id="20" name="Text 14"/>
          <p:cNvSpPr/>
          <p:nvPr/>
        </p:nvSpPr>
        <p:spPr>
          <a:xfrm>
            <a:off x="10342778" y="3551072"/>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pic>
        <p:nvPicPr>
          <p:cNvPr id="21" name="Image 4" descr="/home/user/suzuki-ceo/selfcafe-partner-deck/assets/photos/store-tenma.jpg">    </p:cNvPr>
          <p:cNvPicPr>
            <a:picLocks noChangeAspect="1"/>
          </p:cNvPicPr>
          <p:nvPr/>
        </p:nvPicPr>
        <p:blipFill>
          <a:blip r:embed="rId5"/>
          <a:srcRect l="0" r="0" t="0" b="0"/>
          <a:stretch/>
        </p:blipFill>
        <p:spPr>
          <a:xfrm>
            <a:off x="660197" y="4081424"/>
            <a:ext cx="3477463" cy="1881378"/>
          </a:xfrm>
          <a:prstGeom prst="rect">
            <a:avLst/>
          </a:prstGeom>
        </p:spPr>
      </p:pic>
      <p:sp>
        <p:nvSpPr>
          <p:cNvPr id="22" name="Shape 15"/>
          <p:cNvSpPr/>
          <p:nvPr/>
        </p:nvSpPr>
        <p:spPr>
          <a:xfrm>
            <a:off x="660197" y="4081424"/>
            <a:ext cx="3477463" cy="1881378"/>
          </a:xfrm>
          <a:prstGeom prst="rect">
            <a:avLst/>
          </a:prstGeom>
          <a:ln w="12700">
            <a:solidFill>
              <a:srgbClr val="D8D2C6"/>
            </a:solidFill>
            <a:prstDash val="solid"/>
          </a:ln>
        </p:spPr>
      </p:sp>
      <p:sp>
        <p:nvSpPr>
          <p:cNvPr id="23" name="Text 16"/>
          <p:cNvSpPr/>
          <p:nvPr/>
        </p:nvSpPr>
        <p:spPr>
          <a:xfrm>
            <a:off x="660197"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天満店</a:t>
            </a:r>
            <a:endParaRPr lang="en-US" sz="1100" dirty="0"/>
          </a:p>
        </p:txBody>
      </p:sp>
      <p:sp>
        <p:nvSpPr>
          <p:cNvPr id="24" name="Text 17"/>
          <p:cNvSpPr/>
          <p:nvPr/>
        </p:nvSpPr>
        <p:spPr>
          <a:xfrm>
            <a:off x="2948940"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pic>
        <p:nvPicPr>
          <p:cNvPr id="25" name="Image 5" descr="/home/user/suzuki-ceo/selfcafe-partner-deck/assets/photos/store-abeno.jpg">    </p:cNvPr>
          <p:cNvPicPr>
            <a:picLocks noChangeAspect="1"/>
          </p:cNvPicPr>
          <p:nvPr/>
        </p:nvPicPr>
        <p:blipFill>
          <a:blip r:embed="rId6"/>
          <a:srcRect l="0" r="0" t="0" b="0"/>
          <a:stretch/>
        </p:blipFill>
        <p:spPr>
          <a:xfrm>
            <a:off x="4357116" y="4081424"/>
            <a:ext cx="3477463" cy="1881378"/>
          </a:xfrm>
          <a:prstGeom prst="rect">
            <a:avLst/>
          </a:prstGeom>
        </p:spPr>
      </p:pic>
      <p:sp>
        <p:nvSpPr>
          <p:cNvPr id="26" name="Shape 18"/>
          <p:cNvSpPr/>
          <p:nvPr/>
        </p:nvSpPr>
        <p:spPr>
          <a:xfrm>
            <a:off x="4357116" y="4081424"/>
            <a:ext cx="3477463" cy="1881378"/>
          </a:xfrm>
          <a:prstGeom prst="rect">
            <a:avLst/>
          </a:prstGeom>
          <a:ln w="12700">
            <a:solidFill>
              <a:srgbClr val="D8D2C6"/>
            </a:solidFill>
            <a:prstDash val="solid"/>
          </a:ln>
        </p:spPr>
      </p:sp>
      <p:sp>
        <p:nvSpPr>
          <p:cNvPr id="27" name="Text 19"/>
          <p:cNvSpPr/>
          <p:nvPr/>
        </p:nvSpPr>
        <p:spPr>
          <a:xfrm>
            <a:off x="4357116"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あべの南店</a:t>
            </a:r>
            <a:endParaRPr lang="en-US" sz="1100" dirty="0"/>
          </a:p>
        </p:txBody>
      </p:sp>
      <p:sp>
        <p:nvSpPr>
          <p:cNvPr id="28" name="Text 20"/>
          <p:cNvSpPr/>
          <p:nvPr/>
        </p:nvSpPr>
        <p:spPr>
          <a:xfrm>
            <a:off x="6645859"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pic>
        <p:nvPicPr>
          <p:cNvPr id="29" name="Image 6" descr="/home/user/suzuki-ceo/selfcafe-partner-deck/assets/photos/store-tanimachi.jpg">    </p:cNvPr>
          <p:cNvPicPr>
            <a:picLocks noChangeAspect="1"/>
          </p:cNvPicPr>
          <p:nvPr/>
        </p:nvPicPr>
        <p:blipFill>
          <a:blip r:embed="rId7"/>
          <a:srcRect l="0" r="0" t="0" b="0"/>
          <a:stretch/>
        </p:blipFill>
        <p:spPr>
          <a:xfrm>
            <a:off x="8054035" y="4081424"/>
            <a:ext cx="3477463" cy="1881378"/>
          </a:xfrm>
          <a:prstGeom prst="rect">
            <a:avLst/>
          </a:prstGeom>
        </p:spPr>
      </p:pic>
      <p:sp>
        <p:nvSpPr>
          <p:cNvPr id="30" name="Shape 21"/>
          <p:cNvSpPr/>
          <p:nvPr/>
        </p:nvSpPr>
        <p:spPr>
          <a:xfrm>
            <a:off x="8054035" y="4081424"/>
            <a:ext cx="3477463" cy="1881378"/>
          </a:xfrm>
          <a:prstGeom prst="rect">
            <a:avLst/>
          </a:prstGeom>
          <a:ln w="12700">
            <a:solidFill>
              <a:srgbClr val="D8D2C6"/>
            </a:solidFill>
            <a:prstDash val="solid"/>
          </a:ln>
        </p:spPr>
      </p:sp>
      <p:sp>
        <p:nvSpPr>
          <p:cNvPr id="31" name="Text 22"/>
          <p:cNvSpPr/>
          <p:nvPr/>
        </p:nvSpPr>
        <p:spPr>
          <a:xfrm>
            <a:off x="8054035" y="5981090"/>
            <a:ext cx="2288743" cy="237744"/>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谷町九丁目店</a:t>
            </a:r>
            <a:endParaRPr lang="en-US" sz="1100" dirty="0"/>
          </a:p>
        </p:txBody>
      </p:sp>
      <p:sp>
        <p:nvSpPr>
          <p:cNvPr id="32" name="Text 23"/>
          <p:cNvSpPr/>
          <p:nvPr/>
        </p:nvSpPr>
        <p:spPr>
          <a:xfrm>
            <a:off x="10342778" y="5981090"/>
            <a:ext cx="1188720" cy="237744"/>
          </a:xfrm>
          <a:prstGeom prst="rect">
            <a:avLst/>
          </a:prstGeom>
          <a:noFill/>
          <a:ln/>
        </p:spPr>
        <p:txBody>
          <a:bodyPr wrap="square" lIns="0" tIns="0" rIns="0" bIns="0" rtlCol="0" anchor="ctr"/>
          <a:lstStyle/>
          <a:p>
            <a:pPr algn="r" indent="0" marL="0">
              <a:buNone/>
            </a:pPr>
            <a:r>
              <a:rPr lang="en-US" sz="900" dirty="0">
                <a:solidFill>
                  <a:srgbClr val="7E8882"/>
                </a:solidFill>
                <a:latin typeface="Yu Gothic" pitchFamily="34" charset="0"/>
                <a:ea typeface="Yu Gothic" pitchFamily="34" charset="-122"/>
                <a:cs typeface="Yu Gothic" pitchFamily="34" charset="-120"/>
              </a:rPr>
              <a:t>大阪府大阪市</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13</a:t>
            </a:r>
            <a:r>
              <a:rPr lang="en-US" sz="1050" b="1" dirty="0">
                <a:solidFill>
                  <a:srgbClr val="1B8149"/>
                </a:solidFill>
                <a:latin typeface="Yu Gothic" pitchFamily="34" charset="0"/>
                <a:ea typeface="Yu Gothic" pitchFamily="34" charset="-122"/>
                <a:cs typeface="Yu Gothic" pitchFamily="34" charset="-120"/>
              </a:rPr>
              <a:t>   ポジショニング</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比較表：いいところ取りのビジネスモデル</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カフェの「気軽さ」とオフィスの「機能」、その両方を満たす選択肢がありませんでした。</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14</a:t>
            </a:r>
            <a:endParaRPr lang="en-US" sz="1000" dirty="0"/>
          </a:p>
        </p:txBody>
      </p:sp>
      <p:sp>
        <p:nvSpPr>
          <p:cNvPr id="9" name="Shape 6"/>
          <p:cNvSpPr/>
          <p:nvPr/>
        </p:nvSpPr>
        <p:spPr>
          <a:xfrm>
            <a:off x="2397557" y="1742846"/>
            <a:ext cx="3291840" cy="4224528"/>
          </a:xfrm>
          <a:prstGeom prst="roundRect">
            <a:avLst>
              <a:gd name="adj" fmla="val 1389"/>
            </a:avLst>
          </a:prstGeom>
          <a:solidFill>
            <a:srgbClr val="F1F8F3"/>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197" y="1742846"/>
          <a:ext cx="10871302" cy="914400"/>
        </p:xfrm>
        <a:graphic>
          <a:graphicData uri="http://schemas.openxmlformats.org/drawingml/2006/table">
            <a:tbl>
              <a:tblPr/>
              <a:tblGrid>
                <a:gridCol w="1737360"/>
                <a:gridCol w="3291840"/>
                <a:gridCol w="2926080"/>
                <a:gridCol w="2916022"/>
              </a:tblGrid>
              <a:tr h="384048">
                <a:tc>
                  <a:txBody>
                    <a:bodyPr/>
                    <a:lstStyle/>
                    <a:p>
                      <a:pPr algn="l" indent="0" marL="0">
                        <a:buNone/>
                      </a:pPr>
                      <a:r>
                        <a:rPr lang="en-US" sz="1050" b="1" dirty="0">
                          <a:solidFill>
                            <a:srgbClr val="0A3D23"/>
                          </a:solidFill>
                          <a:latin typeface="Yu Gothic" pitchFamily="34" charset="0"/>
                          <a:ea typeface="Yu Gothic" pitchFamily="34" charset="-122"/>
                          <a:cs typeface="Yu Gothic" pitchFamily="34" charset="-120"/>
                        </a:rPr>
                        <a:t>比較項目</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l" indent="0" marL="0">
                        <a:buNone/>
                      </a:pPr>
                      <a:r>
                        <a:rPr lang="en-US" sz="1050" b="1" dirty="0">
                          <a:solidFill>
                            <a:srgbClr val="FFFFFF"/>
                          </a:solidFill>
                          <a:latin typeface="Yu Gothic" pitchFamily="34" charset="0"/>
                          <a:ea typeface="Yu Gothic" pitchFamily="34" charset="-122"/>
                          <a:cs typeface="Yu Gothic" pitchFamily="34" charset="-120"/>
                        </a:rPr>
                        <a:t>セルフカフェ</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l" indent="0" marL="0">
                        <a:buNone/>
                      </a:pPr>
                      <a:r>
                        <a:rPr lang="en-US" sz="1050" b="1" dirty="0">
                          <a:solidFill>
                            <a:srgbClr val="FFFFFF"/>
                          </a:solidFill>
                          <a:latin typeface="Yu Gothic" pitchFamily="34" charset="0"/>
                          <a:ea typeface="Yu Gothic" pitchFamily="34" charset="-122"/>
                          <a:cs typeface="Yu Gothic" pitchFamily="34" charset="-120"/>
                        </a:rPr>
                        <a:t>コワーキング</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c>
                  <a:txBody>
                    <a:bodyPr/>
                    <a:lstStyle/>
                    <a:p>
                      <a:pPr algn="l" indent="0" marL="0">
                        <a:buNone/>
                      </a:pPr>
                      <a:r>
                        <a:rPr lang="en-US" sz="1050" b="1" dirty="0">
                          <a:solidFill>
                            <a:srgbClr val="FFFFFF"/>
                          </a:solidFill>
                          <a:latin typeface="Yu Gothic" pitchFamily="34" charset="0"/>
                          <a:ea typeface="Yu Gothic" pitchFamily="34" charset="-122"/>
                          <a:cs typeface="Yu Gothic" pitchFamily="34" charset="-120"/>
                        </a:rPr>
                        <a:t>シェアオフィス</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r>
              <a:tr h="71323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利用の手軽さ</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予約不要・1杯〜</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登録や予約が必要</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法人契約がメイン</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空間の雰囲気</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適度な賑わい</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静かすぎて緊張する</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閉鎖的な個室中心</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ドリンクの質</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本格コーヒー</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サーバーが中心</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持ち込みが基本</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運営人員</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完全無人</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スタッフ常駐</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A8761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管理人が必要</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導入コスト</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indent="0" marL="0">
                        <a:buNone/>
                      </a:pPr>
                      <a:r>
                        <a:rPr lang="en-US" sz="1250" b="1" dirty="0">
                          <a:solidFill>
                            <a:srgbClr val="106838"/>
                          </a:solidFill>
                          <a:latin typeface="Yu Gothic" pitchFamily="34" charset="0"/>
                          <a:ea typeface="Yu Gothic" pitchFamily="34" charset="-122"/>
                          <a:cs typeface="Yu Gothic" pitchFamily="34" charset="-120"/>
                        </a:rPr>
                        <a:t>◎ </a:t>
                      </a:r>
                      <a:r>
                        <a:rPr lang="en-US" sz="1050" b="1" dirty="0">
                          <a:solidFill>
                            <a:srgbClr val="106838"/>
                          </a:solidFill>
                          <a:latin typeface="Yu Gothic" pitchFamily="34" charset="0"/>
                          <a:ea typeface="Yu Gothic" pitchFamily="34" charset="-122"/>
                          <a:cs typeface="Yu Gothic" pitchFamily="34" charset="-120"/>
                        </a:rPr>
                        <a:t>低投資パッケージ</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高額な内装・設備</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250" b="1" dirty="0">
                          <a:solidFill>
                            <a:srgbClr val="B0553F"/>
                          </a:solidFill>
                          <a:latin typeface="Yu Gothic" pitchFamily="34" charset="0"/>
                          <a:ea typeface="Yu Gothic" pitchFamily="34" charset="-122"/>
                          <a:cs typeface="Yu Gothic" pitchFamily="34" charset="-120"/>
                        </a:rPr>
                        <a:t>× </a:t>
                      </a:r>
                      <a:r>
                        <a:rPr lang="en-US" sz="1000" dirty="0">
                          <a:solidFill>
                            <a:srgbClr val="8E8B84"/>
                          </a:solidFill>
                          <a:latin typeface="Yu Gothic" pitchFamily="34" charset="0"/>
                          <a:ea typeface="Yu Gothic" pitchFamily="34" charset="-122"/>
                          <a:cs typeface="Yu Gothic" pitchFamily="34" charset="-120"/>
                        </a:rPr>
                        <a:t>莫大な建築コスト</a:t>
                      </a:r>
                      <a:endParaRPr lang="en-US" sz="120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bl>
          </a:graphicData>
        </a:graphic>
      </p:graphicFrame>
      <p:sp>
        <p:nvSpPr>
          <p:cNvPr id="11" name="Shape 7"/>
          <p:cNvSpPr/>
          <p:nvPr/>
        </p:nvSpPr>
        <p:spPr>
          <a:xfrm>
            <a:off x="660197" y="5742432"/>
            <a:ext cx="10871302" cy="475488"/>
          </a:xfrm>
          <a:prstGeom prst="roundRect">
            <a:avLst>
              <a:gd name="adj" fmla="val 9615"/>
            </a:avLst>
          </a:prstGeom>
          <a:solidFill>
            <a:srgbClr val="0C5230"/>
          </a:solidFill>
          <a:ln/>
        </p:spPr>
      </p:sp>
      <p:sp>
        <p:nvSpPr>
          <p:cNvPr id="12" name="Text 8"/>
          <p:cNvSpPr/>
          <p:nvPr/>
        </p:nvSpPr>
        <p:spPr>
          <a:xfrm>
            <a:off x="934517" y="5742432"/>
            <a:ext cx="10322662" cy="475488"/>
          </a:xfrm>
          <a:prstGeom prst="rect">
            <a:avLst/>
          </a:prstGeom>
          <a:noFill/>
          <a:ln/>
        </p:spPr>
        <p:txBody>
          <a:bodyPr wrap="square" lIns="0" tIns="0" rIns="0" bIns="0" rtlCol="0" anchor="ctr"/>
          <a:lstStyle/>
          <a:p>
            <a:pPr indent="0" marL="0">
              <a:buNone/>
            </a:pPr>
            <a:r>
              <a:rPr lang="en-US" sz="1250" b="1" dirty="0">
                <a:solidFill>
                  <a:srgbClr val="FFFFFF"/>
                </a:solidFill>
                <a:latin typeface="Yu Gothic" pitchFamily="34" charset="0"/>
                <a:ea typeface="Yu Gothic" pitchFamily="34" charset="-122"/>
                <a:cs typeface="Yu Gothic" pitchFamily="34" charset="-120"/>
              </a:rPr>
              <a:t>カフェの「気軽さ」とオフィスの「機能」を融合させた、唯一無二のポジション。</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14</a:t>
            </a:r>
            <a:r>
              <a:rPr lang="en-US" sz="1050" b="1" dirty="0">
                <a:solidFill>
                  <a:srgbClr val="1B8149"/>
                </a:solidFill>
                <a:latin typeface="Yu Gothic" pitchFamily="34" charset="0"/>
                <a:ea typeface="Yu Gothic" pitchFamily="34" charset="-122"/>
                <a:cs typeface="Yu Gothic" pitchFamily="34" charset="-120"/>
              </a:rPr>
              <a:t>   運営システム</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独自の無人開閉店システム</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警備会社と連携した安心の自動化。オーナー様が現地に足を運ぶ必要はありません。</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15</a:t>
            </a:r>
            <a:endParaRPr lang="en-US" sz="1000" dirty="0"/>
          </a:p>
        </p:txBody>
      </p:sp>
      <p:sp>
        <p:nvSpPr>
          <p:cNvPr id="9" name="Shape 6"/>
          <p:cNvSpPr/>
          <p:nvPr/>
        </p:nvSpPr>
        <p:spPr>
          <a:xfrm>
            <a:off x="660197" y="1651406"/>
            <a:ext cx="5120640" cy="4315968"/>
          </a:xfrm>
          <a:prstGeom prst="roundRect">
            <a:avLst>
              <a:gd name="adj" fmla="val 1271"/>
            </a:avLst>
          </a:prstGeom>
          <a:solidFill>
            <a:srgbClr val="0C5230"/>
          </a:solidFill>
          <a:ln/>
        </p:spPr>
      </p:sp>
      <p:pic>
        <p:nvPicPr>
          <p:cNvPr id="10" name="Image 1" descr="/home/user/suzuki-ceo/selfcafe-partner-deck/assets/icons/LuKeyRound-white.png">    </p:cNvPr>
          <p:cNvPicPr>
            <a:picLocks noChangeAspect="1"/>
          </p:cNvPicPr>
          <p:nvPr/>
        </p:nvPicPr>
        <p:blipFill>
          <a:blip r:embed="rId2"/>
          <a:stretch>
            <a:fillRect/>
          </a:stretch>
        </p:blipFill>
        <p:spPr>
          <a:xfrm>
            <a:off x="1062533" y="2017166"/>
            <a:ext cx="402336" cy="402336"/>
          </a:xfrm>
          <a:prstGeom prst="rect">
            <a:avLst/>
          </a:prstGeom>
        </p:spPr>
      </p:pic>
      <p:sp>
        <p:nvSpPr>
          <p:cNvPr id="11" name="Text 7"/>
          <p:cNvSpPr/>
          <p:nvPr/>
        </p:nvSpPr>
        <p:spPr>
          <a:xfrm>
            <a:off x="1062533" y="2565806"/>
            <a:ext cx="4315968" cy="1005840"/>
          </a:xfrm>
          <a:prstGeom prst="rect">
            <a:avLst/>
          </a:prstGeom>
          <a:noFill/>
          <a:ln/>
        </p:spPr>
        <p:txBody>
          <a:bodyPr wrap="square" lIns="0" tIns="0" rIns="0" bIns="0" rtlCol="0" anchor="t"/>
          <a:lstStyle/>
          <a:p>
            <a:pPr indent="0" marL="0">
              <a:lnSpc>
                <a:spcPct val="130000"/>
              </a:lnSpc>
              <a:buNone/>
            </a:pPr>
            <a:r>
              <a:rPr lang="en-US" sz="2100" b="1" dirty="0">
                <a:solidFill>
                  <a:srgbClr val="FFFFFF"/>
                </a:solidFill>
                <a:latin typeface="Yu Gothic" pitchFamily="34" charset="0"/>
                <a:ea typeface="Yu Gothic" pitchFamily="34" charset="-122"/>
                <a:cs typeface="Yu Gothic" pitchFamily="34" charset="-120"/>
              </a:rPr>
              <a:t>スマートロックで、</a:t>
            </a:r>
            <a:endParaRPr lang="en-US" sz="2100" dirty="0"/>
          </a:p>
          <a:p>
            <a:pPr indent="0" marL="0">
              <a:lnSpc>
                <a:spcPct val="130000"/>
              </a:lnSpc>
              <a:buNone/>
            </a:pPr>
            <a:r>
              <a:rPr lang="en-US" sz="2100" b="1" dirty="0">
                <a:solidFill>
                  <a:srgbClr val="FFFFFF"/>
                </a:solidFill>
                <a:latin typeface="Yu Gothic" pitchFamily="34" charset="0"/>
                <a:ea typeface="Yu Gothic" pitchFamily="34" charset="-122"/>
                <a:cs typeface="Yu Gothic" pitchFamily="34" charset="-120"/>
              </a:rPr>
              <a:t>開錠／施錠を完全自動化</a:t>
            </a:r>
            <a:endParaRPr lang="en-US" sz="2100" dirty="0"/>
          </a:p>
        </p:txBody>
      </p:sp>
      <p:sp>
        <p:nvSpPr>
          <p:cNvPr id="12" name="Text 8"/>
          <p:cNvSpPr/>
          <p:nvPr/>
        </p:nvSpPr>
        <p:spPr>
          <a:xfrm>
            <a:off x="1062533" y="3699662"/>
            <a:ext cx="4315968" cy="914400"/>
          </a:xfrm>
          <a:prstGeom prst="rect">
            <a:avLst/>
          </a:prstGeom>
          <a:noFill/>
          <a:ln/>
        </p:spPr>
        <p:txBody>
          <a:bodyPr wrap="square" lIns="0" tIns="0" rIns="0" bIns="0" rtlCol="0" anchor="t"/>
          <a:lstStyle/>
          <a:p>
            <a:pPr indent="0" marL="0">
              <a:lnSpc>
                <a:spcPct val="145000"/>
              </a:lnSpc>
              <a:buNone/>
            </a:pPr>
            <a:r>
              <a:rPr lang="en-US" sz="1100" dirty="0">
                <a:solidFill>
                  <a:srgbClr val="AFC2B8"/>
                </a:solidFill>
                <a:latin typeface="Yu Gothic" pitchFamily="34" charset="0"/>
                <a:ea typeface="Yu Gothic" pitchFamily="34" charset="-122"/>
                <a:cs typeface="Yu Gothic" pitchFamily="34" charset="-120"/>
              </a:rPr>
              <a:t>独自のスマートロックシステムにより、店舗の開錠／施錠を遠隔で完全自動化。現地に足を運ばずに営業時間を管理できます。</a:t>
            </a:r>
            <a:endParaRPr lang="en-US" sz="1100" dirty="0"/>
          </a:p>
        </p:txBody>
      </p:sp>
      <p:sp>
        <p:nvSpPr>
          <p:cNvPr id="13" name="Text 9"/>
          <p:cNvSpPr/>
          <p:nvPr/>
        </p:nvSpPr>
        <p:spPr>
          <a:xfrm>
            <a:off x="1062533" y="4705502"/>
            <a:ext cx="219456" cy="274320"/>
          </a:xfrm>
          <a:prstGeom prst="rect">
            <a:avLst/>
          </a:prstGeom>
          <a:noFill/>
          <a:ln/>
        </p:spPr>
        <p:txBody>
          <a:bodyPr wrap="square" lIns="0" tIns="0" rIns="0" bIns="0" rtlCol="0" anchor="ctr"/>
          <a:lstStyle/>
          <a:p>
            <a:pPr indent="0" marL="0">
              <a:buNone/>
            </a:pPr>
            <a:r>
              <a:rPr lang="en-US" sz="1100" b="1" dirty="0">
                <a:solidFill>
                  <a:srgbClr val="8CC5A5"/>
                </a:solidFill>
                <a:latin typeface="Arial" pitchFamily="34" charset="0"/>
                <a:ea typeface="Arial" pitchFamily="34" charset="-122"/>
                <a:cs typeface="Arial" pitchFamily="34" charset="-120"/>
              </a:rPr>
              <a:t>1</a:t>
            </a:r>
            <a:endParaRPr lang="en-US" sz="1100" dirty="0"/>
          </a:p>
        </p:txBody>
      </p:sp>
      <p:sp>
        <p:nvSpPr>
          <p:cNvPr id="14" name="Text 10"/>
          <p:cNvSpPr/>
          <p:nvPr/>
        </p:nvSpPr>
        <p:spPr>
          <a:xfrm>
            <a:off x="1355141" y="4705502"/>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任意の営業時間を分単位でコントロール</a:t>
            </a:r>
            <a:endParaRPr lang="en-US" sz="1100" dirty="0"/>
          </a:p>
        </p:txBody>
      </p:sp>
      <p:sp>
        <p:nvSpPr>
          <p:cNvPr id="15" name="Text 11"/>
          <p:cNvSpPr/>
          <p:nvPr/>
        </p:nvSpPr>
        <p:spPr>
          <a:xfrm>
            <a:off x="1062533" y="5107838"/>
            <a:ext cx="219456" cy="274320"/>
          </a:xfrm>
          <a:prstGeom prst="rect">
            <a:avLst/>
          </a:prstGeom>
          <a:noFill/>
          <a:ln/>
        </p:spPr>
        <p:txBody>
          <a:bodyPr wrap="square" lIns="0" tIns="0" rIns="0" bIns="0" rtlCol="0" anchor="ctr"/>
          <a:lstStyle/>
          <a:p>
            <a:pPr indent="0" marL="0">
              <a:buNone/>
            </a:pPr>
            <a:r>
              <a:rPr lang="en-US" sz="1100" b="1" dirty="0">
                <a:solidFill>
                  <a:srgbClr val="8CC5A5"/>
                </a:solidFill>
                <a:latin typeface="Arial" pitchFamily="34" charset="0"/>
                <a:ea typeface="Arial" pitchFamily="34" charset="-122"/>
                <a:cs typeface="Arial" pitchFamily="34" charset="-120"/>
              </a:rPr>
              <a:t>2</a:t>
            </a:r>
            <a:endParaRPr lang="en-US" sz="1100" dirty="0"/>
          </a:p>
        </p:txBody>
      </p:sp>
      <p:sp>
        <p:nvSpPr>
          <p:cNvPr id="16" name="Text 12"/>
          <p:cNvSpPr/>
          <p:nvPr/>
        </p:nvSpPr>
        <p:spPr>
          <a:xfrm>
            <a:off x="1355141" y="5107838"/>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不審者の侵入を防ぐセキュリティと連携</a:t>
            </a:r>
            <a:endParaRPr lang="en-US" sz="1100" dirty="0"/>
          </a:p>
        </p:txBody>
      </p:sp>
      <p:sp>
        <p:nvSpPr>
          <p:cNvPr id="17" name="Text 13"/>
          <p:cNvSpPr/>
          <p:nvPr/>
        </p:nvSpPr>
        <p:spPr>
          <a:xfrm>
            <a:off x="1062533" y="5510174"/>
            <a:ext cx="219456" cy="274320"/>
          </a:xfrm>
          <a:prstGeom prst="rect">
            <a:avLst/>
          </a:prstGeom>
          <a:noFill/>
          <a:ln/>
        </p:spPr>
        <p:txBody>
          <a:bodyPr wrap="square" lIns="0" tIns="0" rIns="0" bIns="0" rtlCol="0" anchor="ctr"/>
          <a:lstStyle/>
          <a:p>
            <a:pPr indent="0" marL="0">
              <a:buNone/>
            </a:pPr>
            <a:r>
              <a:rPr lang="en-US" sz="1100" b="1" dirty="0">
                <a:solidFill>
                  <a:srgbClr val="8CC5A5"/>
                </a:solidFill>
                <a:latin typeface="Arial" pitchFamily="34" charset="0"/>
                <a:ea typeface="Arial" pitchFamily="34" charset="-122"/>
                <a:cs typeface="Arial" pitchFamily="34" charset="-120"/>
              </a:rPr>
              <a:t>3</a:t>
            </a:r>
            <a:endParaRPr lang="en-US" sz="1100" dirty="0"/>
          </a:p>
        </p:txBody>
      </p:sp>
      <p:sp>
        <p:nvSpPr>
          <p:cNvPr id="18" name="Text 14"/>
          <p:cNvSpPr/>
          <p:nvPr/>
        </p:nvSpPr>
        <p:spPr>
          <a:xfrm>
            <a:off x="1355141" y="5510174"/>
            <a:ext cx="4023360" cy="27432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無人ならではの24時間営業も容易</a:t>
            </a:r>
            <a:endParaRPr lang="en-US" sz="1100" dirty="0"/>
          </a:p>
        </p:txBody>
      </p:sp>
      <p:sp>
        <p:nvSpPr>
          <p:cNvPr id="19" name="Shape 15"/>
          <p:cNvSpPr/>
          <p:nvPr/>
        </p:nvSpPr>
        <p:spPr>
          <a:xfrm>
            <a:off x="6164885" y="1651406"/>
            <a:ext cx="2573579" cy="2048256"/>
          </a:xfrm>
          <a:prstGeom prst="roundRect">
            <a:avLst>
              <a:gd name="adj" fmla="val 2679"/>
            </a:avLst>
          </a:prstGeom>
          <a:solidFill>
            <a:srgbClr val="FFFFFF"/>
          </a:solidFill>
          <a:ln w="9525">
            <a:solidFill>
              <a:srgbClr val="EFEAE0"/>
            </a:solidFill>
            <a:prstDash val="solid"/>
          </a:ln>
        </p:spPr>
      </p:sp>
      <p:pic>
        <p:nvPicPr>
          <p:cNvPr id="20" name="Image 2" descr="/home/user/suzuki-ceo/selfcafe-partner-deck/assets/icons/LuBellRing-green.png">    </p:cNvPr>
          <p:cNvPicPr>
            <a:picLocks noChangeAspect="1"/>
          </p:cNvPicPr>
          <p:nvPr/>
        </p:nvPicPr>
        <p:blipFill>
          <a:blip r:embed="rId3"/>
          <a:stretch>
            <a:fillRect/>
          </a:stretch>
        </p:blipFill>
        <p:spPr>
          <a:xfrm>
            <a:off x="6402629" y="1889150"/>
            <a:ext cx="347472" cy="347472"/>
          </a:xfrm>
          <a:prstGeom prst="rect">
            <a:avLst/>
          </a:prstGeom>
        </p:spPr>
      </p:pic>
      <p:sp>
        <p:nvSpPr>
          <p:cNvPr id="21" name="Text 16"/>
          <p:cNvSpPr/>
          <p:nvPr/>
        </p:nvSpPr>
        <p:spPr>
          <a:xfrm>
            <a:off x="6402629" y="2346350"/>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非常ボタン</a:t>
            </a:r>
            <a:endParaRPr lang="en-US" sz="1300" dirty="0"/>
          </a:p>
        </p:txBody>
      </p:sp>
      <p:sp>
        <p:nvSpPr>
          <p:cNvPr id="22" name="Text 17"/>
          <p:cNvSpPr/>
          <p:nvPr/>
        </p:nvSpPr>
        <p:spPr>
          <a:xfrm>
            <a:off x="6402629" y="2657246"/>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非常・緊急時に押すと、警備員が駆け付けます。</a:t>
            </a:r>
            <a:endParaRPr lang="en-US" sz="1000" dirty="0"/>
          </a:p>
        </p:txBody>
      </p:sp>
      <p:sp>
        <p:nvSpPr>
          <p:cNvPr id="23" name="Shape 18"/>
          <p:cNvSpPr/>
          <p:nvPr/>
        </p:nvSpPr>
        <p:spPr>
          <a:xfrm>
            <a:off x="8957920" y="1651406"/>
            <a:ext cx="2573579" cy="2048256"/>
          </a:xfrm>
          <a:prstGeom prst="roundRect">
            <a:avLst>
              <a:gd name="adj" fmla="val 2679"/>
            </a:avLst>
          </a:prstGeom>
          <a:solidFill>
            <a:srgbClr val="FFFFFF"/>
          </a:solidFill>
          <a:ln w="9525">
            <a:solidFill>
              <a:srgbClr val="EFEAE0"/>
            </a:solidFill>
            <a:prstDash val="solid"/>
          </a:ln>
        </p:spPr>
      </p:sp>
      <p:pic>
        <p:nvPicPr>
          <p:cNvPr id="24" name="Image 3" descr="/home/user/suzuki-ceo/selfcafe-partner-deck/assets/icons/LuCctv-green.png">    </p:cNvPr>
          <p:cNvPicPr>
            <a:picLocks noChangeAspect="1"/>
          </p:cNvPicPr>
          <p:nvPr/>
        </p:nvPicPr>
        <p:blipFill>
          <a:blip r:embed="rId4"/>
          <a:stretch>
            <a:fillRect/>
          </a:stretch>
        </p:blipFill>
        <p:spPr>
          <a:xfrm>
            <a:off x="9195664" y="1889150"/>
            <a:ext cx="347472" cy="347472"/>
          </a:xfrm>
          <a:prstGeom prst="rect">
            <a:avLst/>
          </a:prstGeom>
        </p:spPr>
      </p:pic>
      <p:sp>
        <p:nvSpPr>
          <p:cNvPr id="25" name="Text 19"/>
          <p:cNvSpPr/>
          <p:nvPr/>
        </p:nvSpPr>
        <p:spPr>
          <a:xfrm>
            <a:off x="9195664" y="2346350"/>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画像センサー</a:t>
            </a:r>
            <a:endParaRPr lang="en-US" sz="1300" dirty="0"/>
          </a:p>
        </p:txBody>
      </p:sp>
      <p:sp>
        <p:nvSpPr>
          <p:cNvPr id="26" name="Text 20"/>
          <p:cNvSpPr/>
          <p:nvPr/>
        </p:nvSpPr>
        <p:spPr>
          <a:xfrm>
            <a:off x="9195664" y="2657246"/>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非常時の映像を監視センターへ送信。スピーカーで威嚇可能。閉店後は侵入者を感知して通報します。</a:t>
            </a:r>
            <a:endParaRPr lang="en-US" sz="1000" dirty="0"/>
          </a:p>
        </p:txBody>
      </p:sp>
      <p:sp>
        <p:nvSpPr>
          <p:cNvPr id="27" name="Shape 21"/>
          <p:cNvSpPr/>
          <p:nvPr/>
        </p:nvSpPr>
        <p:spPr>
          <a:xfrm>
            <a:off x="6164885" y="3919118"/>
            <a:ext cx="2573579" cy="2048256"/>
          </a:xfrm>
          <a:prstGeom prst="roundRect">
            <a:avLst>
              <a:gd name="adj" fmla="val 2679"/>
            </a:avLst>
          </a:prstGeom>
          <a:solidFill>
            <a:srgbClr val="FFFFFF"/>
          </a:solidFill>
          <a:ln w="9525">
            <a:solidFill>
              <a:srgbClr val="EFEAE0"/>
            </a:solidFill>
            <a:prstDash val="solid"/>
          </a:ln>
        </p:spPr>
      </p:sp>
      <p:pic>
        <p:nvPicPr>
          <p:cNvPr id="28" name="Image 4" descr="/home/user/suzuki-ceo/selfcafe-partner-deck/assets/icons/LuFlame-green.png">    </p:cNvPr>
          <p:cNvPicPr>
            <a:picLocks noChangeAspect="1"/>
          </p:cNvPicPr>
          <p:nvPr/>
        </p:nvPicPr>
        <p:blipFill>
          <a:blip r:embed="rId5"/>
          <a:stretch>
            <a:fillRect/>
          </a:stretch>
        </p:blipFill>
        <p:spPr>
          <a:xfrm>
            <a:off x="6402629" y="4156862"/>
            <a:ext cx="347472" cy="347472"/>
          </a:xfrm>
          <a:prstGeom prst="rect">
            <a:avLst/>
          </a:prstGeom>
        </p:spPr>
      </p:pic>
      <p:sp>
        <p:nvSpPr>
          <p:cNvPr id="29" name="Text 22"/>
          <p:cNvSpPr/>
          <p:nvPr/>
        </p:nvSpPr>
        <p:spPr>
          <a:xfrm>
            <a:off x="6402629" y="4614062"/>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火災センサー</a:t>
            </a:r>
            <a:endParaRPr lang="en-US" sz="1300" dirty="0"/>
          </a:p>
        </p:txBody>
      </p:sp>
      <p:sp>
        <p:nvSpPr>
          <p:cNvPr id="30" name="Text 23"/>
          <p:cNvSpPr/>
          <p:nvPr/>
        </p:nvSpPr>
        <p:spPr>
          <a:xfrm>
            <a:off x="6402629" y="4924958"/>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火災の発生を感知して、警備員が駆け付けます。</a:t>
            </a:r>
            <a:endParaRPr lang="en-US" sz="1000" dirty="0"/>
          </a:p>
        </p:txBody>
      </p:sp>
      <p:sp>
        <p:nvSpPr>
          <p:cNvPr id="31" name="Shape 24"/>
          <p:cNvSpPr/>
          <p:nvPr/>
        </p:nvSpPr>
        <p:spPr>
          <a:xfrm>
            <a:off x="8957920" y="3919118"/>
            <a:ext cx="2573579" cy="2048256"/>
          </a:xfrm>
          <a:prstGeom prst="roundRect">
            <a:avLst>
              <a:gd name="adj" fmla="val 2679"/>
            </a:avLst>
          </a:prstGeom>
          <a:solidFill>
            <a:srgbClr val="FFFFFF"/>
          </a:solidFill>
          <a:ln w="9525">
            <a:solidFill>
              <a:srgbClr val="EFEAE0"/>
            </a:solidFill>
            <a:prstDash val="solid"/>
          </a:ln>
        </p:spPr>
      </p:sp>
      <p:pic>
        <p:nvPicPr>
          <p:cNvPr id="32" name="Image 5" descr="/home/user/suzuki-ceo/selfcafe-partner-deck/assets/icons/LuKeyRound-green.png">    </p:cNvPr>
          <p:cNvPicPr>
            <a:picLocks noChangeAspect="1"/>
          </p:cNvPicPr>
          <p:nvPr/>
        </p:nvPicPr>
        <p:blipFill>
          <a:blip r:embed="rId6"/>
          <a:stretch>
            <a:fillRect/>
          </a:stretch>
        </p:blipFill>
        <p:spPr>
          <a:xfrm>
            <a:off x="9195664" y="4156862"/>
            <a:ext cx="347472" cy="347472"/>
          </a:xfrm>
          <a:prstGeom prst="rect">
            <a:avLst/>
          </a:prstGeom>
        </p:spPr>
      </p:pic>
      <p:sp>
        <p:nvSpPr>
          <p:cNvPr id="33" name="Text 25"/>
          <p:cNvSpPr/>
          <p:nvPr/>
        </p:nvSpPr>
        <p:spPr>
          <a:xfrm>
            <a:off x="9195664" y="4614062"/>
            <a:ext cx="2098091" cy="274320"/>
          </a:xfrm>
          <a:prstGeom prst="rect">
            <a:avLst/>
          </a:prstGeom>
          <a:noFill/>
          <a:ln/>
        </p:spPr>
        <p:txBody>
          <a:bodyPr wrap="square" lIns="0" tIns="0" rIns="0" bIns="0" rtlCol="0" anchor="ctr"/>
          <a:lstStyle/>
          <a:p>
            <a:pPr indent="0" marL="0">
              <a:buNone/>
            </a:pPr>
            <a:r>
              <a:rPr lang="en-US" sz="1300" b="1" dirty="0">
                <a:solidFill>
                  <a:srgbClr val="0A3D23"/>
                </a:solidFill>
                <a:latin typeface="Yu Gothic" pitchFamily="34" charset="0"/>
                <a:ea typeface="Yu Gothic" pitchFamily="34" charset="-122"/>
                <a:cs typeface="Yu Gothic" pitchFamily="34" charset="-120"/>
              </a:rPr>
              <a:t>出入口の管理</a:t>
            </a:r>
            <a:endParaRPr lang="en-US" sz="1300" dirty="0"/>
          </a:p>
        </p:txBody>
      </p:sp>
      <p:sp>
        <p:nvSpPr>
          <p:cNvPr id="34" name="Text 26"/>
          <p:cNvSpPr/>
          <p:nvPr/>
        </p:nvSpPr>
        <p:spPr>
          <a:xfrm>
            <a:off x="9195664" y="4924958"/>
            <a:ext cx="2098091" cy="91440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電気錠・電磁錠や自動ドアと連携し、閉店／開店時間に自動施錠・開錠。閉店時は自動で侵入警戒をセットします。</a:t>
            </a:r>
            <a:endParaRPr lang="en-US" sz="1000" dirty="0"/>
          </a:p>
        </p:txBody>
      </p:sp>
      <p:sp>
        <p:nvSpPr>
          <p:cNvPr id="35" name="Text 27"/>
          <p:cNvSpPr/>
          <p:nvPr/>
        </p:nvSpPr>
        <p:spPr>
          <a:xfrm>
            <a:off x="660197" y="605332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警備会社は環境により異なる場合がございます。</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15</a:t>
            </a:r>
            <a:r>
              <a:rPr lang="en-US" sz="1050" b="1" dirty="0">
                <a:solidFill>
                  <a:srgbClr val="1B8149"/>
                </a:solidFill>
                <a:latin typeface="Yu Gothic" pitchFamily="34" charset="0"/>
                <a:ea typeface="Yu Gothic" pitchFamily="34" charset="-122"/>
                <a:cs typeface="Yu Gothic" pitchFamily="34" charset="-120"/>
              </a:rPr>
              <a:t>   運営システム</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店内モニタリング＆サポート基盤</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緊急時に強い、安心のサポート体制で無人運営を支えます。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16</a:t>
            </a:r>
            <a:endParaRPr lang="en-US" sz="1000" dirty="0"/>
          </a:p>
        </p:txBody>
      </p:sp>
      <p:sp>
        <p:nvSpPr>
          <p:cNvPr id="9" name="Shape 6"/>
          <p:cNvSpPr/>
          <p:nvPr/>
        </p:nvSpPr>
        <p:spPr>
          <a:xfrm>
            <a:off x="660197" y="1651406"/>
            <a:ext cx="5120640" cy="2743200"/>
          </a:xfrm>
          <a:prstGeom prst="roundRect">
            <a:avLst>
              <a:gd name="adj" fmla="val 2000"/>
            </a:avLst>
          </a:prstGeom>
          <a:solidFill>
            <a:srgbClr val="0C5230"/>
          </a:solidFill>
          <a:ln/>
        </p:spPr>
      </p:sp>
      <p:sp>
        <p:nvSpPr>
          <p:cNvPr id="10" name="Text 7"/>
          <p:cNvSpPr/>
          <p:nvPr/>
        </p:nvSpPr>
        <p:spPr>
          <a:xfrm>
            <a:off x="1062533" y="1944014"/>
            <a:ext cx="182880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SUPPORT</a:t>
            </a:r>
            <a:endParaRPr lang="en-US" sz="900" dirty="0"/>
          </a:p>
        </p:txBody>
      </p:sp>
      <p:sp>
        <p:nvSpPr>
          <p:cNvPr id="11" name="Text 8"/>
          <p:cNvSpPr/>
          <p:nvPr/>
        </p:nvSpPr>
        <p:spPr>
          <a:xfrm>
            <a:off x="1062533" y="2273198"/>
            <a:ext cx="4315968" cy="914400"/>
          </a:xfrm>
          <a:prstGeom prst="rect">
            <a:avLst/>
          </a:prstGeom>
          <a:noFill/>
          <a:ln/>
        </p:spPr>
        <p:txBody>
          <a:bodyPr wrap="square" lIns="0" tIns="0" rIns="0" bIns="0" rtlCol="0" anchor="t"/>
          <a:lstStyle/>
          <a:p>
            <a:pPr indent="0" marL="0">
              <a:lnSpc>
                <a:spcPct val="130000"/>
              </a:lnSpc>
              <a:buNone/>
            </a:pPr>
            <a:r>
              <a:rPr lang="en-US" sz="1900" b="1" dirty="0">
                <a:solidFill>
                  <a:srgbClr val="FFFFFF"/>
                </a:solidFill>
                <a:latin typeface="Yu Gothic" pitchFamily="34" charset="0"/>
                <a:ea typeface="Yu Gothic" pitchFamily="34" charset="-122"/>
                <a:cs typeface="Yu Gothic" pitchFamily="34" charset="-120"/>
              </a:rPr>
              <a:t>災害・体調不良・不審者。</a:t>
            </a:r>
            <a:endParaRPr lang="en-US" sz="1900" dirty="0"/>
          </a:p>
          <a:p>
            <a:pPr indent="0" marL="0">
              <a:lnSpc>
                <a:spcPct val="130000"/>
              </a:lnSpc>
              <a:buNone/>
            </a:pPr>
            <a:r>
              <a:rPr lang="en-US" sz="1900" b="1" dirty="0">
                <a:solidFill>
                  <a:srgbClr val="FFFFFF"/>
                </a:solidFill>
                <a:latin typeface="Yu Gothic" pitchFamily="34" charset="0"/>
                <a:ea typeface="Yu Gothic" pitchFamily="34" charset="-122"/>
                <a:cs typeface="Yu Gothic" pitchFamily="34" charset="-120"/>
              </a:rPr>
              <a:t>あらゆる緊急事態に備える。</a:t>
            </a:r>
            <a:endParaRPr lang="en-US" sz="1900" dirty="0"/>
          </a:p>
        </p:txBody>
      </p:sp>
      <p:sp>
        <p:nvSpPr>
          <p:cNvPr id="12" name="Text 9"/>
          <p:cNvSpPr/>
          <p:nvPr/>
        </p:nvSpPr>
        <p:spPr>
          <a:xfrm>
            <a:off x="1062533" y="3315614"/>
            <a:ext cx="4315968" cy="914400"/>
          </a:xfrm>
          <a:prstGeom prst="rect">
            <a:avLst/>
          </a:prstGeom>
          <a:noFill/>
          <a:ln/>
        </p:spPr>
        <p:txBody>
          <a:bodyPr wrap="square" lIns="0" tIns="0" rIns="0" bIns="0" rtlCol="0" anchor="t"/>
          <a:lstStyle/>
          <a:p>
            <a:pPr indent="0" marL="0">
              <a:lnSpc>
                <a:spcPct val="145000"/>
              </a:lnSpc>
              <a:buNone/>
            </a:pPr>
            <a:r>
              <a:rPr lang="en-US" sz="1050" dirty="0">
                <a:solidFill>
                  <a:srgbClr val="AFC2B8"/>
                </a:solidFill>
                <a:latin typeface="Yu Gothic" pitchFamily="34" charset="0"/>
                <a:ea typeface="Yu Gothic" pitchFamily="34" charset="-122"/>
                <a:cs typeface="Yu Gothic" pitchFamily="34" charset="-120"/>
              </a:rPr>
              <a:t>店内の各所に非常ボタンを設置し、お客様同士のトラブルまで幅広く対応。6台のカメラによるモニタリングで、お問い合わせにも即時対応します。</a:t>
            </a:r>
            <a:endParaRPr lang="en-US" sz="1050" dirty="0"/>
          </a:p>
        </p:txBody>
      </p:sp>
      <p:pic>
        <p:nvPicPr>
          <p:cNvPr id="13" name="Image 1" descr="/home/user/suzuki-ceo/selfcafe-partner-deck/assets/photos/p16-support.jpg">    </p:cNvPr>
          <p:cNvPicPr>
            <a:picLocks noChangeAspect="1"/>
          </p:cNvPicPr>
          <p:nvPr/>
        </p:nvPicPr>
        <p:blipFill>
          <a:blip r:embed="rId2"/>
          <a:srcRect l="0" r="0" t="0" b="0"/>
          <a:stretch/>
        </p:blipFill>
        <p:spPr>
          <a:xfrm>
            <a:off x="660197" y="4595774"/>
            <a:ext cx="5120640" cy="1371600"/>
          </a:xfrm>
          <a:prstGeom prst="rect">
            <a:avLst/>
          </a:prstGeom>
        </p:spPr>
      </p:pic>
      <p:sp>
        <p:nvSpPr>
          <p:cNvPr id="14" name="Shape 10"/>
          <p:cNvSpPr/>
          <p:nvPr/>
        </p:nvSpPr>
        <p:spPr>
          <a:xfrm>
            <a:off x="660197" y="4595774"/>
            <a:ext cx="5120640" cy="1371600"/>
          </a:xfrm>
          <a:prstGeom prst="rect">
            <a:avLst/>
          </a:prstGeom>
          <a:ln w="12700">
            <a:solidFill>
              <a:srgbClr val="D8D2C6"/>
            </a:solidFill>
            <a:prstDash val="solid"/>
          </a:ln>
        </p:spPr>
      </p:sp>
      <p:sp>
        <p:nvSpPr>
          <p:cNvPr id="15" name="Shape 11"/>
          <p:cNvSpPr/>
          <p:nvPr/>
        </p:nvSpPr>
        <p:spPr>
          <a:xfrm>
            <a:off x="788213" y="5510174"/>
            <a:ext cx="2654300" cy="329184"/>
          </a:xfrm>
          <a:prstGeom prst="roundRect">
            <a:avLst>
              <a:gd name="adj" fmla="val 13889"/>
            </a:avLst>
          </a:prstGeom>
          <a:solidFill>
            <a:srgbClr val="FFFFFF">
              <a:alpha val="90000"/>
            </a:srgbClr>
          </a:solidFill>
          <a:ln/>
        </p:spPr>
      </p:sp>
      <p:sp>
        <p:nvSpPr>
          <p:cNvPr id="16" name="Text 12"/>
          <p:cNvSpPr/>
          <p:nvPr/>
        </p:nvSpPr>
        <p:spPr>
          <a:xfrm>
            <a:off x="952805" y="5510174"/>
            <a:ext cx="2379980" cy="329184"/>
          </a:xfrm>
          <a:prstGeom prst="rect">
            <a:avLst/>
          </a:prstGeom>
          <a:noFill/>
          <a:ln/>
        </p:spPr>
        <p:txBody>
          <a:bodyPr wrap="square" lIns="0" tIns="0" rIns="0" bIns="0" rtlCol="0" anchor="ctr"/>
          <a:lstStyle/>
          <a:p>
            <a:pPr indent="0" marL="0">
              <a:buNone/>
            </a:pPr>
            <a:r>
              <a:rPr lang="en-US" sz="1000" b="1" dirty="0">
                <a:solidFill>
                  <a:srgbClr val="0A3D23"/>
                </a:solidFill>
                <a:latin typeface="Yu Gothic" pitchFamily="34" charset="0"/>
                <a:ea typeface="Yu Gothic" pitchFamily="34" charset="-122"/>
                <a:cs typeface="Yu Gothic" pitchFamily="34" charset="-120"/>
              </a:rPr>
              <a:t>モニタリング画面／店内カメラの様子</a:t>
            </a:r>
            <a:endParaRPr lang="en-US" sz="1000" dirty="0"/>
          </a:p>
        </p:txBody>
      </p:sp>
      <p:sp>
        <p:nvSpPr>
          <p:cNvPr id="17" name="Shape 13"/>
          <p:cNvSpPr/>
          <p:nvPr/>
        </p:nvSpPr>
        <p:spPr>
          <a:xfrm>
            <a:off x="6164885" y="1651406"/>
            <a:ext cx="5366614" cy="1316736"/>
          </a:xfrm>
          <a:prstGeom prst="roundRect">
            <a:avLst>
              <a:gd name="adj" fmla="val 4167"/>
            </a:avLst>
          </a:prstGeom>
          <a:solidFill>
            <a:srgbClr val="FFFFFF"/>
          </a:solidFill>
          <a:ln w="9525">
            <a:solidFill>
              <a:srgbClr val="EFEAE0"/>
            </a:solidFill>
            <a:prstDash val="solid"/>
          </a:ln>
        </p:spPr>
      </p:sp>
      <p:pic>
        <p:nvPicPr>
          <p:cNvPr id="18" name="Image 2" descr="/home/user/suzuki-ceo/selfcafe-partner-deck/assets/icons/LuVideo-green.png">    </p:cNvPr>
          <p:cNvPicPr>
            <a:picLocks noChangeAspect="1"/>
          </p:cNvPicPr>
          <p:nvPr/>
        </p:nvPicPr>
        <p:blipFill>
          <a:blip r:embed="rId3"/>
          <a:stretch>
            <a:fillRect/>
          </a:stretch>
        </p:blipFill>
        <p:spPr>
          <a:xfrm>
            <a:off x="6420917" y="1889150"/>
            <a:ext cx="329184" cy="329184"/>
          </a:xfrm>
          <a:prstGeom prst="rect">
            <a:avLst/>
          </a:prstGeom>
        </p:spPr>
      </p:pic>
      <p:sp>
        <p:nvSpPr>
          <p:cNvPr id="19" name="Text 14"/>
          <p:cNvSpPr/>
          <p:nvPr/>
        </p:nvSpPr>
        <p:spPr>
          <a:xfrm>
            <a:off x="6896405" y="1870862"/>
            <a:ext cx="4360774" cy="365760"/>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6台</a:t>
            </a:r>
            <a:r>
              <a:rPr lang="en-US" sz="1300" b="1" dirty="0">
                <a:solidFill>
                  <a:srgbClr val="0A3D23"/>
                </a:solidFill>
                <a:latin typeface="Yu Gothic" pitchFamily="34" charset="0"/>
                <a:ea typeface="Yu Gothic" pitchFamily="34" charset="-122"/>
                <a:cs typeface="Yu Gothic" pitchFamily="34" charset="-120"/>
              </a:rPr>
              <a:t>  カメラモニタリング</a:t>
            </a:r>
            <a:endParaRPr lang="en-US" sz="1800" dirty="0"/>
          </a:p>
        </p:txBody>
      </p:sp>
      <p:sp>
        <p:nvSpPr>
          <p:cNvPr id="20" name="Text 15"/>
          <p:cNvSpPr/>
          <p:nvPr/>
        </p:nvSpPr>
        <p:spPr>
          <a:xfrm>
            <a:off x="6896405" y="2273198"/>
            <a:ext cx="4360774" cy="54864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店内を多角的に常時監視。死角を作らない配置で異常を早期に把握します。</a:t>
            </a:r>
            <a:endParaRPr lang="en-US" sz="1000" dirty="0"/>
          </a:p>
        </p:txBody>
      </p:sp>
      <p:sp>
        <p:nvSpPr>
          <p:cNvPr id="21" name="Shape 16"/>
          <p:cNvSpPr/>
          <p:nvPr/>
        </p:nvSpPr>
        <p:spPr>
          <a:xfrm>
            <a:off x="6164885" y="3151022"/>
            <a:ext cx="5366614" cy="1316736"/>
          </a:xfrm>
          <a:prstGeom prst="roundRect">
            <a:avLst>
              <a:gd name="adj" fmla="val 4167"/>
            </a:avLst>
          </a:prstGeom>
          <a:solidFill>
            <a:srgbClr val="FFFFFF"/>
          </a:solidFill>
          <a:ln w="9525">
            <a:solidFill>
              <a:srgbClr val="EFEAE0"/>
            </a:solidFill>
            <a:prstDash val="solid"/>
          </a:ln>
        </p:spPr>
      </p:sp>
      <p:pic>
        <p:nvPicPr>
          <p:cNvPr id="22" name="Image 3" descr="/home/user/suzuki-ceo/selfcafe-partner-deck/assets/icons/LuMic-green.png">    </p:cNvPr>
          <p:cNvPicPr>
            <a:picLocks noChangeAspect="1"/>
          </p:cNvPicPr>
          <p:nvPr/>
        </p:nvPicPr>
        <p:blipFill>
          <a:blip r:embed="rId4"/>
          <a:stretch>
            <a:fillRect/>
          </a:stretch>
        </p:blipFill>
        <p:spPr>
          <a:xfrm>
            <a:off x="6420917" y="3388766"/>
            <a:ext cx="329184" cy="329184"/>
          </a:xfrm>
          <a:prstGeom prst="rect">
            <a:avLst/>
          </a:prstGeom>
        </p:spPr>
      </p:pic>
      <p:sp>
        <p:nvSpPr>
          <p:cNvPr id="23" name="Text 17"/>
          <p:cNvSpPr/>
          <p:nvPr/>
        </p:nvSpPr>
        <p:spPr>
          <a:xfrm>
            <a:off x="6896405" y="3370478"/>
            <a:ext cx="4360774" cy="365760"/>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双方向</a:t>
            </a:r>
            <a:r>
              <a:rPr lang="en-US" sz="1300" b="1" dirty="0">
                <a:solidFill>
                  <a:srgbClr val="0A3D23"/>
                </a:solidFill>
                <a:latin typeface="Yu Gothic" pitchFamily="34" charset="0"/>
                <a:ea typeface="Yu Gothic" pitchFamily="34" charset="-122"/>
                <a:cs typeface="Yu Gothic" pitchFamily="34" charset="-120"/>
              </a:rPr>
              <a:t>  音声対応</a:t>
            </a:r>
            <a:endParaRPr lang="en-US" sz="1800" dirty="0"/>
          </a:p>
        </p:txBody>
      </p:sp>
      <p:sp>
        <p:nvSpPr>
          <p:cNvPr id="24" name="Text 18"/>
          <p:cNvSpPr/>
          <p:nvPr/>
        </p:nvSpPr>
        <p:spPr>
          <a:xfrm>
            <a:off x="6896405" y="3772814"/>
            <a:ext cx="4360774" cy="54864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カメラはスタッフとお客様が直接やり取りできる双方向音声に対応。その場で声がけやサポートを行えます。</a:t>
            </a:r>
            <a:endParaRPr lang="en-US" sz="1000" dirty="0"/>
          </a:p>
        </p:txBody>
      </p:sp>
      <p:sp>
        <p:nvSpPr>
          <p:cNvPr id="25" name="Shape 19"/>
          <p:cNvSpPr/>
          <p:nvPr/>
        </p:nvSpPr>
        <p:spPr>
          <a:xfrm>
            <a:off x="6164885" y="4650638"/>
            <a:ext cx="5366614" cy="1316736"/>
          </a:xfrm>
          <a:prstGeom prst="roundRect">
            <a:avLst>
              <a:gd name="adj" fmla="val 4167"/>
            </a:avLst>
          </a:prstGeom>
          <a:solidFill>
            <a:srgbClr val="FFFFFF"/>
          </a:solidFill>
          <a:ln w="9525">
            <a:solidFill>
              <a:srgbClr val="EFEAE0"/>
            </a:solidFill>
            <a:prstDash val="solid"/>
          </a:ln>
        </p:spPr>
      </p:sp>
      <p:pic>
        <p:nvPicPr>
          <p:cNvPr id="26" name="Image 4" descr="/home/user/suzuki-ceo/selfcafe-partner-deck/assets/icons/LuMessageCircle-green.png">    </p:cNvPr>
          <p:cNvPicPr>
            <a:picLocks noChangeAspect="1"/>
          </p:cNvPicPr>
          <p:nvPr/>
        </p:nvPicPr>
        <p:blipFill>
          <a:blip r:embed="rId5"/>
          <a:stretch>
            <a:fillRect/>
          </a:stretch>
        </p:blipFill>
        <p:spPr>
          <a:xfrm>
            <a:off x="6420917" y="4888382"/>
            <a:ext cx="329184" cy="329184"/>
          </a:xfrm>
          <a:prstGeom prst="rect">
            <a:avLst/>
          </a:prstGeom>
        </p:spPr>
      </p:pic>
      <p:sp>
        <p:nvSpPr>
          <p:cNvPr id="27" name="Text 20"/>
          <p:cNvSpPr/>
          <p:nvPr/>
        </p:nvSpPr>
        <p:spPr>
          <a:xfrm>
            <a:off x="6896405" y="4870094"/>
            <a:ext cx="4360774" cy="365760"/>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即時</a:t>
            </a:r>
            <a:r>
              <a:rPr lang="en-US" sz="1300" b="1" dirty="0">
                <a:solidFill>
                  <a:srgbClr val="0A3D23"/>
                </a:solidFill>
                <a:latin typeface="Yu Gothic" pitchFamily="34" charset="0"/>
                <a:ea typeface="Yu Gothic" pitchFamily="34" charset="-122"/>
                <a:cs typeface="Yu Gothic" pitchFamily="34" charset="-120"/>
              </a:rPr>
              <a:t>  LINEチャット対応</a:t>
            </a:r>
            <a:endParaRPr lang="en-US" sz="1800" dirty="0"/>
          </a:p>
        </p:txBody>
      </p:sp>
      <p:sp>
        <p:nvSpPr>
          <p:cNvPr id="28" name="Text 21"/>
          <p:cNvSpPr/>
          <p:nvPr/>
        </p:nvSpPr>
        <p:spPr>
          <a:xfrm>
            <a:off x="6896405" y="5272430"/>
            <a:ext cx="4360774" cy="548640"/>
          </a:xfrm>
          <a:prstGeom prst="rect">
            <a:avLst/>
          </a:prstGeom>
          <a:noFill/>
          <a:ln/>
        </p:spPr>
        <p:txBody>
          <a:bodyPr wrap="square" lIns="0" tIns="0" rIns="0" bIns="0" rtlCol="0" anchor="t"/>
          <a:lstStyle/>
          <a:p>
            <a:pPr indent="0" marL="0">
              <a:lnSpc>
                <a:spcPct val="135000"/>
              </a:lnSpc>
              <a:buNone/>
            </a:pPr>
            <a:r>
              <a:rPr lang="en-US" sz="1000" dirty="0">
                <a:solidFill>
                  <a:srgbClr val="4B5550"/>
                </a:solidFill>
                <a:latin typeface="Yu Gothic" pitchFamily="34" charset="0"/>
                <a:ea typeface="Yu Gothic" pitchFamily="34" charset="-122"/>
                <a:cs typeface="Yu Gothic" pitchFamily="34" charset="-120"/>
              </a:rPr>
              <a:t>お客様からのお問い合わせに即時対応。質問対応・意見収集の窓口としても機能します。</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16</a:t>
            </a:r>
            <a:r>
              <a:rPr lang="en-US" sz="1050" b="1" dirty="0">
                <a:solidFill>
                  <a:srgbClr val="1B8149"/>
                </a:solidFill>
                <a:latin typeface="Yu Gothic" pitchFamily="34" charset="0"/>
                <a:ea typeface="Yu Gothic" pitchFamily="34" charset="-122"/>
                <a:cs typeface="Yu Gothic" pitchFamily="34" charset="-120"/>
              </a:rPr>
              <a:t>   パートナー制度</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パートナー制度の3つの特徴</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投資を抑え、既存の資産と人員のまま始められます。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17</a:t>
            </a:r>
            <a:endParaRPr lang="en-US" sz="1000" dirty="0"/>
          </a:p>
        </p:txBody>
      </p:sp>
      <p:sp>
        <p:nvSpPr>
          <p:cNvPr id="9" name="Shape 6"/>
          <p:cNvSpPr/>
          <p:nvPr/>
        </p:nvSpPr>
        <p:spPr>
          <a:xfrm>
            <a:off x="660197" y="1651406"/>
            <a:ext cx="3440887" cy="3877056"/>
          </a:xfrm>
          <a:prstGeom prst="roundRect">
            <a:avLst>
              <a:gd name="adj" fmla="val 1594"/>
            </a:avLst>
          </a:prstGeom>
          <a:solidFill>
            <a:srgbClr val="FFFFFF"/>
          </a:solidFill>
          <a:ln w="9525">
            <a:solidFill>
              <a:srgbClr val="EFEAE0"/>
            </a:solidFill>
            <a:prstDash val="solid"/>
          </a:ln>
        </p:spPr>
      </p:sp>
      <p:sp>
        <p:nvSpPr>
          <p:cNvPr id="10" name="Text 7"/>
          <p:cNvSpPr/>
          <p:nvPr/>
        </p:nvSpPr>
        <p:spPr>
          <a:xfrm>
            <a:off x="934517"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POINT 01</a:t>
            </a:r>
            <a:endParaRPr lang="en-US" sz="900" dirty="0"/>
          </a:p>
        </p:txBody>
      </p:sp>
      <p:pic>
        <p:nvPicPr>
          <p:cNvPr id="11" name="Image 1" descr="/home/user/suzuki-ceo/selfcafe-partner-deck/assets/icons/LuWallet-green.png">    </p:cNvPr>
          <p:cNvPicPr>
            <a:picLocks noChangeAspect="1"/>
          </p:cNvPicPr>
          <p:nvPr/>
        </p:nvPicPr>
        <p:blipFill>
          <a:blip r:embed="rId2"/>
          <a:stretch>
            <a:fillRect/>
          </a:stretch>
        </p:blipFill>
        <p:spPr>
          <a:xfrm>
            <a:off x="3351276" y="1889150"/>
            <a:ext cx="365760" cy="365760"/>
          </a:xfrm>
          <a:prstGeom prst="rect">
            <a:avLst/>
          </a:prstGeom>
        </p:spPr>
      </p:pic>
      <p:sp>
        <p:nvSpPr>
          <p:cNvPr id="12" name="Text 8"/>
          <p:cNvSpPr/>
          <p:nvPr/>
        </p:nvSpPr>
        <p:spPr>
          <a:xfrm>
            <a:off x="934517" y="2218334"/>
            <a:ext cx="2892247" cy="457200"/>
          </a:xfrm>
          <a:prstGeom prst="rect">
            <a:avLst/>
          </a:prstGeom>
          <a:noFill/>
          <a:ln/>
        </p:spPr>
        <p:txBody>
          <a:bodyPr wrap="square" lIns="0" tIns="0" rIns="0" bIns="0" rtlCol="0" anchor="ctr"/>
          <a:lstStyle/>
          <a:p>
            <a:pPr indent="0" marL="0">
              <a:buNone/>
            </a:pPr>
            <a:r>
              <a:rPr lang="en-US" sz="2400" b="1" dirty="0">
                <a:solidFill>
                  <a:srgbClr val="106838"/>
                </a:solidFill>
                <a:latin typeface="Arial" pitchFamily="34" charset="0"/>
                <a:ea typeface="Arial" pitchFamily="34" charset="-122"/>
                <a:cs typeface="Arial" pitchFamily="34" charset="-120"/>
              </a:rPr>
              <a:t>1/10 以下</a:t>
            </a:r>
            <a:endParaRPr lang="en-US" sz="2400" dirty="0"/>
          </a:p>
        </p:txBody>
      </p:sp>
      <p:sp>
        <p:nvSpPr>
          <p:cNvPr id="13" name="Text 9"/>
          <p:cNvSpPr/>
          <p:nvPr/>
        </p:nvSpPr>
        <p:spPr>
          <a:xfrm>
            <a:off x="934517" y="2730398"/>
            <a:ext cx="2892247" cy="329184"/>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低初期コスト</a:t>
            </a:r>
            <a:endParaRPr lang="en-US" sz="1500" dirty="0"/>
          </a:p>
        </p:txBody>
      </p:sp>
      <p:sp>
        <p:nvSpPr>
          <p:cNvPr id="14" name="Shape 10"/>
          <p:cNvSpPr/>
          <p:nvPr/>
        </p:nvSpPr>
        <p:spPr>
          <a:xfrm>
            <a:off x="934517" y="3151022"/>
            <a:ext cx="2892247" cy="10058"/>
          </a:xfrm>
          <a:prstGeom prst="rect">
            <a:avLst/>
          </a:prstGeom>
          <a:solidFill>
            <a:srgbClr val="EFEAE0"/>
          </a:solidFill>
          <a:ln/>
        </p:spPr>
      </p:sp>
      <p:sp>
        <p:nvSpPr>
          <p:cNvPr id="15" name="Text 11"/>
          <p:cNvSpPr/>
          <p:nvPr/>
        </p:nvSpPr>
        <p:spPr>
          <a:xfrm>
            <a:off x="934517" y="3279038"/>
            <a:ext cx="2892247" cy="1188720"/>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他社カフェ業態と比較し、1/10以下のコストで出店が可能。初期費用650万円〜から始められます。</a:t>
            </a:r>
            <a:endParaRPr lang="en-US" sz="1050" dirty="0"/>
          </a:p>
        </p:txBody>
      </p:sp>
      <p:sp>
        <p:nvSpPr>
          <p:cNvPr id="16" name="Shape 12"/>
          <p:cNvSpPr/>
          <p:nvPr/>
        </p:nvSpPr>
        <p:spPr>
          <a:xfrm>
            <a:off x="934517" y="4870094"/>
            <a:ext cx="1280160" cy="256032"/>
          </a:xfrm>
          <a:prstGeom prst="roundRect">
            <a:avLst>
              <a:gd name="adj" fmla="val 50000"/>
            </a:avLst>
          </a:prstGeom>
          <a:solidFill>
            <a:srgbClr val="F1F8F3"/>
          </a:solidFill>
          <a:ln w="9525">
            <a:solidFill>
              <a:srgbClr val="D2E7DA"/>
            </a:solidFill>
            <a:prstDash val="solid"/>
          </a:ln>
        </p:spPr>
      </p:sp>
      <p:sp>
        <p:nvSpPr>
          <p:cNvPr id="17" name="Text 13"/>
          <p:cNvSpPr/>
          <p:nvPr/>
        </p:nvSpPr>
        <p:spPr>
          <a:xfrm>
            <a:off x="934517" y="4870094"/>
            <a:ext cx="1280160" cy="256032"/>
          </a:xfrm>
          <a:prstGeom prst="rect">
            <a:avLst/>
          </a:prstGeom>
          <a:noFill/>
          <a:ln/>
        </p:spPr>
        <p:txBody>
          <a:bodyPr wrap="square" lIns="0" tIns="0" rIns="0" bIns="0" rtlCol="0" anchor="ctr"/>
          <a:lstStyle/>
          <a:p>
            <a:pPr algn="ctr" indent="0" marL="0">
              <a:buNone/>
            </a:pPr>
            <a:r>
              <a:rPr lang="en-US" sz="850" b="1" dirty="0">
                <a:solidFill>
                  <a:srgbClr val="106838"/>
                </a:solidFill>
                <a:latin typeface="Yu Gothic" pitchFamily="34" charset="0"/>
                <a:ea typeface="Yu Gothic" pitchFamily="34" charset="-122"/>
                <a:cs typeface="Yu Gothic" pitchFamily="34" charset="-120"/>
              </a:rPr>
              <a:t>加盟金 100万円</a:t>
            </a:r>
            <a:endParaRPr lang="en-US" sz="850" dirty="0"/>
          </a:p>
        </p:txBody>
      </p:sp>
      <p:sp>
        <p:nvSpPr>
          <p:cNvPr id="18" name="Shape 14"/>
          <p:cNvSpPr/>
          <p:nvPr/>
        </p:nvSpPr>
        <p:spPr>
          <a:xfrm>
            <a:off x="2306117" y="4870094"/>
            <a:ext cx="1280160" cy="256032"/>
          </a:xfrm>
          <a:prstGeom prst="roundRect">
            <a:avLst>
              <a:gd name="adj" fmla="val 50000"/>
            </a:avLst>
          </a:prstGeom>
          <a:solidFill>
            <a:srgbClr val="F1F8F3"/>
          </a:solidFill>
          <a:ln w="9525">
            <a:solidFill>
              <a:srgbClr val="D2E7DA"/>
            </a:solidFill>
            <a:prstDash val="solid"/>
          </a:ln>
        </p:spPr>
      </p:sp>
      <p:sp>
        <p:nvSpPr>
          <p:cNvPr id="19" name="Text 15"/>
          <p:cNvSpPr/>
          <p:nvPr/>
        </p:nvSpPr>
        <p:spPr>
          <a:xfrm>
            <a:off x="2306117" y="4870094"/>
            <a:ext cx="1280160" cy="256032"/>
          </a:xfrm>
          <a:prstGeom prst="rect">
            <a:avLst/>
          </a:prstGeom>
          <a:noFill/>
          <a:ln/>
        </p:spPr>
        <p:txBody>
          <a:bodyPr wrap="square" lIns="0" tIns="0" rIns="0" bIns="0" rtlCol="0" anchor="ctr"/>
          <a:lstStyle/>
          <a:p>
            <a:pPr algn="ctr" indent="0" marL="0">
              <a:buNone/>
            </a:pPr>
            <a:r>
              <a:rPr lang="en-US" sz="850" b="1" dirty="0">
                <a:solidFill>
                  <a:srgbClr val="106838"/>
                </a:solidFill>
                <a:latin typeface="Yu Gothic" pitchFamily="34" charset="0"/>
                <a:ea typeface="Yu Gothic" pitchFamily="34" charset="-122"/>
                <a:cs typeface="Yu Gothic" pitchFamily="34" charset="-120"/>
              </a:rPr>
              <a:t>初期費用 650万円〜</a:t>
            </a:r>
            <a:endParaRPr lang="en-US" sz="850" dirty="0"/>
          </a:p>
        </p:txBody>
      </p:sp>
      <p:sp>
        <p:nvSpPr>
          <p:cNvPr id="20" name="Shape 16"/>
          <p:cNvSpPr/>
          <p:nvPr/>
        </p:nvSpPr>
        <p:spPr>
          <a:xfrm>
            <a:off x="4375404" y="1651406"/>
            <a:ext cx="3440887" cy="3877056"/>
          </a:xfrm>
          <a:prstGeom prst="roundRect">
            <a:avLst>
              <a:gd name="adj" fmla="val 1594"/>
            </a:avLst>
          </a:prstGeom>
          <a:solidFill>
            <a:srgbClr val="FFFFFF"/>
          </a:solidFill>
          <a:ln w="9525">
            <a:solidFill>
              <a:srgbClr val="EFEAE0"/>
            </a:solidFill>
            <a:prstDash val="solid"/>
          </a:ln>
        </p:spPr>
      </p:sp>
      <p:sp>
        <p:nvSpPr>
          <p:cNvPr id="21" name="Text 17"/>
          <p:cNvSpPr/>
          <p:nvPr/>
        </p:nvSpPr>
        <p:spPr>
          <a:xfrm>
            <a:off x="4649724"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POINT 02</a:t>
            </a:r>
            <a:endParaRPr lang="en-US" sz="900" dirty="0"/>
          </a:p>
        </p:txBody>
      </p:sp>
      <p:pic>
        <p:nvPicPr>
          <p:cNvPr id="22" name="Image 2" descr="/home/user/suzuki-ceo/selfcafe-partner-deck/assets/icons/LuBuilding2-green.png">    </p:cNvPr>
          <p:cNvPicPr>
            <a:picLocks noChangeAspect="1"/>
          </p:cNvPicPr>
          <p:nvPr/>
        </p:nvPicPr>
        <p:blipFill>
          <a:blip r:embed="rId3"/>
          <a:stretch>
            <a:fillRect/>
          </a:stretch>
        </p:blipFill>
        <p:spPr>
          <a:xfrm>
            <a:off x="7066483" y="1889150"/>
            <a:ext cx="365760" cy="365760"/>
          </a:xfrm>
          <a:prstGeom prst="rect">
            <a:avLst/>
          </a:prstGeom>
        </p:spPr>
      </p:pic>
      <p:sp>
        <p:nvSpPr>
          <p:cNvPr id="23" name="Text 18"/>
          <p:cNvSpPr/>
          <p:nvPr/>
        </p:nvSpPr>
        <p:spPr>
          <a:xfrm>
            <a:off x="4649724" y="2218334"/>
            <a:ext cx="2892247" cy="457200"/>
          </a:xfrm>
          <a:prstGeom prst="rect">
            <a:avLst/>
          </a:prstGeom>
          <a:noFill/>
          <a:ln/>
        </p:spPr>
        <p:txBody>
          <a:bodyPr wrap="square" lIns="0" tIns="0" rIns="0" bIns="0" rtlCol="0" anchor="ctr"/>
          <a:lstStyle/>
          <a:p>
            <a:pPr indent="0" marL="0">
              <a:buNone/>
            </a:pPr>
            <a:r>
              <a:rPr lang="en-US" sz="2400" b="1" dirty="0">
                <a:solidFill>
                  <a:srgbClr val="106838"/>
                </a:solidFill>
                <a:latin typeface="Arial" pitchFamily="34" charset="0"/>
                <a:ea typeface="Arial" pitchFamily="34" charset="-122"/>
                <a:cs typeface="Arial" pitchFamily="34" charset="-120"/>
              </a:rPr>
              <a:t>0 円の新規賃料</a:t>
            </a:r>
            <a:endParaRPr lang="en-US" sz="2400" dirty="0"/>
          </a:p>
        </p:txBody>
      </p:sp>
      <p:sp>
        <p:nvSpPr>
          <p:cNvPr id="24" name="Text 19"/>
          <p:cNvSpPr/>
          <p:nvPr/>
        </p:nvSpPr>
        <p:spPr>
          <a:xfrm>
            <a:off x="4649724" y="2730398"/>
            <a:ext cx="2892247" cy="329184"/>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遊休スペースの活用</a:t>
            </a:r>
            <a:endParaRPr lang="en-US" sz="1500" dirty="0"/>
          </a:p>
        </p:txBody>
      </p:sp>
      <p:sp>
        <p:nvSpPr>
          <p:cNvPr id="25" name="Shape 20"/>
          <p:cNvSpPr/>
          <p:nvPr/>
        </p:nvSpPr>
        <p:spPr>
          <a:xfrm>
            <a:off x="4649724" y="3151022"/>
            <a:ext cx="2892247" cy="10058"/>
          </a:xfrm>
          <a:prstGeom prst="rect">
            <a:avLst/>
          </a:prstGeom>
          <a:solidFill>
            <a:srgbClr val="EFEAE0"/>
          </a:solidFill>
          <a:ln/>
        </p:spPr>
      </p:sp>
      <p:sp>
        <p:nvSpPr>
          <p:cNvPr id="26" name="Text 21"/>
          <p:cNvSpPr/>
          <p:nvPr/>
        </p:nvSpPr>
        <p:spPr>
          <a:xfrm>
            <a:off x="4649724" y="3279038"/>
            <a:ext cx="2892247" cy="1188720"/>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既存店の空室やデッドスペースを、収益資産へ再構築。限られたスペースの一角に設置できます。</a:t>
            </a:r>
            <a:endParaRPr lang="en-US" sz="1050" dirty="0"/>
          </a:p>
        </p:txBody>
      </p:sp>
      <p:sp>
        <p:nvSpPr>
          <p:cNvPr id="27" name="Shape 22"/>
          <p:cNvSpPr/>
          <p:nvPr/>
        </p:nvSpPr>
        <p:spPr>
          <a:xfrm>
            <a:off x="4649724" y="4870094"/>
            <a:ext cx="612648" cy="256032"/>
          </a:xfrm>
          <a:prstGeom prst="roundRect">
            <a:avLst>
              <a:gd name="adj" fmla="val 50000"/>
            </a:avLst>
          </a:prstGeom>
          <a:solidFill>
            <a:srgbClr val="F1F8F3"/>
          </a:solidFill>
          <a:ln w="9525">
            <a:solidFill>
              <a:srgbClr val="D2E7DA"/>
            </a:solidFill>
            <a:prstDash val="solid"/>
          </a:ln>
        </p:spPr>
      </p:sp>
      <p:sp>
        <p:nvSpPr>
          <p:cNvPr id="28" name="Text 23"/>
          <p:cNvSpPr/>
          <p:nvPr/>
        </p:nvSpPr>
        <p:spPr>
          <a:xfrm>
            <a:off x="4649724" y="4870094"/>
            <a:ext cx="612648" cy="256032"/>
          </a:xfrm>
          <a:prstGeom prst="rect">
            <a:avLst/>
          </a:prstGeom>
          <a:noFill/>
          <a:ln/>
        </p:spPr>
        <p:txBody>
          <a:bodyPr wrap="square" lIns="0" tIns="0" rIns="0" bIns="0" rtlCol="0" anchor="ctr"/>
          <a:lstStyle/>
          <a:p>
            <a:pPr algn="ctr" indent="0" marL="0">
              <a:buNone/>
            </a:pPr>
            <a:r>
              <a:rPr lang="en-US" sz="850" b="1" dirty="0">
                <a:solidFill>
                  <a:srgbClr val="106838"/>
                </a:solidFill>
                <a:latin typeface="Yu Gothic" pitchFamily="34" charset="0"/>
                <a:ea typeface="Yu Gothic" pitchFamily="34" charset="-122"/>
                <a:cs typeface="Yu Gothic" pitchFamily="34" charset="-120"/>
              </a:rPr>
              <a:t>レジ横</a:t>
            </a:r>
            <a:endParaRPr lang="en-US" sz="850" dirty="0"/>
          </a:p>
        </p:txBody>
      </p:sp>
      <p:sp>
        <p:nvSpPr>
          <p:cNvPr id="29" name="Shape 24"/>
          <p:cNvSpPr/>
          <p:nvPr/>
        </p:nvSpPr>
        <p:spPr>
          <a:xfrm>
            <a:off x="6021324" y="4870094"/>
            <a:ext cx="969264" cy="256032"/>
          </a:xfrm>
          <a:prstGeom prst="roundRect">
            <a:avLst>
              <a:gd name="adj" fmla="val 50000"/>
            </a:avLst>
          </a:prstGeom>
          <a:solidFill>
            <a:srgbClr val="F1F8F3"/>
          </a:solidFill>
          <a:ln w="9525">
            <a:solidFill>
              <a:srgbClr val="D2E7DA"/>
            </a:solidFill>
            <a:prstDash val="solid"/>
          </a:ln>
        </p:spPr>
      </p:sp>
      <p:sp>
        <p:nvSpPr>
          <p:cNvPr id="30" name="Text 25"/>
          <p:cNvSpPr/>
          <p:nvPr/>
        </p:nvSpPr>
        <p:spPr>
          <a:xfrm>
            <a:off x="6021324" y="4870094"/>
            <a:ext cx="969264" cy="256032"/>
          </a:xfrm>
          <a:prstGeom prst="rect">
            <a:avLst/>
          </a:prstGeom>
          <a:noFill/>
          <a:ln/>
        </p:spPr>
        <p:txBody>
          <a:bodyPr wrap="square" lIns="0" tIns="0" rIns="0" bIns="0" rtlCol="0" anchor="ctr"/>
          <a:lstStyle/>
          <a:p>
            <a:pPr algn="ctr" indent="0" marL="0">
              <a:buNone/>
            </a:pPr>
            <a:r>
              <a:rPr lang="en-US" sz="850" b="1" dirty="0">
                <a:solidFill>
                  <a:srgbClr val="106838"/>
                </a:solidFill>
                <a:latin typeface="Yu Gothic" pitchFamily="34" charset="0"/>
                <a:ea typeface="Yu Gothic" pitchFamily="34" charset="-122"/>
                <a:cs typeface="Yu Gothic" pitchFamily="34" charset="-120"/>
              </a:rPr>
              <a:t>待合スペース</a:t>
            </a:r>
            <a:endParaRPr lang="en-US" sz="850" dirty="0"/>
          </a:p>
        </p:txBody>
      </p:sp>
      <p:sp>
        <p:nvSpPr>
          <p:cNvPr id="31" name="Shape 26"/>
          <p:cNvSpPr/>
          <p:nvPr/>
        </p:nvSpPr>
        <p:spPr>
          <a:xfrm>
            <a:off x="4649724" y="5199278"/>
            <a:ext cx="731520" cy="256032"/>
          </a:xfrm>
          <a:prstGeom prst="roundRect">
            <a:avLst>
              <a:gd name="adj" fmla="val 50000"/>
            </a:avLst>
          </a:prstGeom>
          <a:solidFill>
            <a:srgbClr val="F1F8F3"/>
          </a:solidFill>
          <a:ln w="9525">
            <a:solidFill>
              <a:srgbClr val="D2E7DA"/>
            </a:solidFill>
            <a:prstDash val="solid"/>
          </a:ln>
        </p:spPr>
      </p:sp>
      <p:sp>
        <p:nvSpPr>
          <p:cNvPr id="32" name="Text 27"/>
          <p:cNvSpPr/>
          <p:nvPr/>
        </p:nvSpPr>
        <p:spPr>
          <a:xfrm>
            <a:off x="4649724" y="5199278"/>
            <a:ext cx="731520" cy="256032"/>
          </a:xfrm>
          <a:prstGeom prst="rect">
            <a:avLst/>
          </a:prstGeom>
          <a:noFill/>
          <a:ln/>
        </p:spPr>
        <p:txBody>
          <a:bodyPr wrap="square" lIns="0" tIns="0" rIns="0" bIns="0" rtlCol="0" anchor="ctr"/>
          <a:lstStyle/>
          <a:p>
            <a:pPr algn="ctr" indent="0" marL="0">
              <a:buNone/>
            </a:pPr>
            <a:r>
              <a:rPr lang="en-US" sz="850" b="1" dirty="0">
                <a:solidFill>
                  <a:srgbClr val="106838"/>
                </a:solidFill>
                <a:latin typeface="Yu Gothic" pitchFamily="34" charset="0"/>
                <a:ea typeface="Yu Gothic" pitchFamily="34" charset="-122"/>
                <a:cs typeface="Yu Gothic" pitchFamily="34" charset="-120"/>
              </a:rPr>
              <a:t>空き区画</a:t>
            </a:r>
            <a:endParaRPr lang="en-US" sz="850" dirty="0"/>
          </a:p>
        </p:txBody>
      </p:sp>
      <p:sp>
        <p:nvSpPr>
          <p:cNvPr id="33" name="Shape 28"/>
          <p:cNvSpPr/>
          <p:nvPr/>
        </p:nvSpPr>
        <p:spPr>
          <a:xfrm>
            <a:off x="8090611" y="1651406"/>
            <a:ext cx="3440887" cy="3877056"/>
          </a:xfrm>
          <a:prstGeom prst="roundRect">
            <a:avLst>
              <a:gd name="adj" fmla="val 1594"/>
            </a:avLst>
          </a:prstGeom>
          <a:solidFill>
            <a:srgbClr val="FFFFFF"/>
          </a:solidFill>
          <a:ln w="9525">
            <a:solidFill>
              <a:srgbClr val="EFEAE0"/>
            </a:solidFill>
            <a:prstDash val="solid"/>
          </a:ln>
        </p:spPr>
      </p:sp>
      <p:sp>
        <p:nvSpPr>
          <p:cNvPr id="34" name="Text 29"/>
          <p:cNvSpPr/>
          <p:nvPr/>
        </p:nvSpPr>
        <p:spPr>
          <a:xfrm>
            <a:off x="8364931" y="1925726"/>
            <a:ext cx="18288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POINT 03</a:t>
            </a:r>
            <a:endParaRPr lang="en-US" sz="900" dirty="0"/>
          </a:p>
        </p:txBody>
      </p:sp>
      <p:pic>
        <p:nvPicPr>
          <p:cNvPr id="35" name="Image 3" descr="/home/user/suzuki-ceo/selfcafe-partner-deck/assets/icons/LuTimer-green.png">    </p:cNvPr>
          <p:cNvPicPr>
            <a:picLocks noChangeAspect="1"/>
          </p:cNvPicPr>
          <p:nvPr/>
        </p:nvPicPr>
        <p:blipFill>
          <a:blip r:embed="rId4"/>
          <a:stretch>
            <a:fillRect/>
          </a:stretch>
        </p:blipFill>
        <p:spPr>
          <a:xfrm>
            <a:off x="10781690" y="1889150"/>
            <a:ext cx="365760" cy="365760"/>
          </a:xfrm>
          <a:prstGeom prst="rect">
            <a:avLst/>
          </a:prstGeom>
        </p:spPr>
      </p:pic>
      <p:sp>
        <p:nvSpPr>
          <p:cNvPr id="36" name="Text 30"/>
          <p:cNvSpPr/>
          <p:nvPr/>
        </p:nvSpPr>
        <p:spPr>
          <a:xfrm>
            <a:off x="8364931" y="2218334"/>
            <a:ext cx="2892247" cy="457200"/>
          </a:xfrm>
          <a:prstGeom prst="rect">
            <a:avLst/>
          </a:prstGeom>
          <a:noFill/>
          <a:ln/>
        </p:spPr>
        <p:txBody>
          <a:bodyPr wrap="square" lIns="0" tIns="0" rIns="0" bIns="0" rtlCol="0" anchor="ctr"/>
          <a:lstStyle/>
          <a:p>
            <a:pPr indent="0" marL="0">
              <a:buNone/>
            </a:pPr>
            <a:r>
              <a:rPr lang="en-US" sz="2400" b="1" dirty="0">
                <a:solidFill>
                  <a:srgbClr val="106838"/>
                </a:solidFill>
                <a:latin typeface="Arial" pitchFamily="34" charset="0"/>
                <a:ea typeface="Arial" pitchFamily="34" charset="-122"/>
                <a:cs typeface="Arial" pitchFamily="34" charset="-120"/>
              </a:rPr>
              <a:t>15 分／日</a:t>
            </a:r>
            <a:endParaRPr lang="en-US" sz="2400" dirty="0"/>
          </a:p>
        </p:txBody>
      </p:sp>
      <p:sp>
        <p:nvSpPr>
          <p:cNvPr id="37" name="Text 31"/>
          <p:cNvSpPr/>
          <p:nvPr/>
        </p:nvSpPr>
        <p:spPr>
          <a:xfrm>
            <a:off x="8364931" y="2730398"/>
            <a:ext cx="2892247" cy="329184"/>
          </a:xfrm>
          <a:prstGeom prst="rect">
            <a:avLst/>
          </a:prstGeom>
          <a:noFill/>
          <a:ln/>
        </p:spPr>
        <p:txBody>
          <a:bodyPr wrap="square" lIns="0" tIns="0" rIns="0" bIns="0" rtlCol="0" anchor="ctr"/>
          <a:lstStyle/>
          <a:p>
            <a:pPr indent="0" marL="0">
              <a:buNone/>
            </a:pPr>
            <a:r>
              <a:rPr lang="en-US" sz="1500" b="1" dirty="0">
                <a:solidFill>
                  <a:srgbClr val="0A3D23"/>
                </a:solidFill>
                <a:latin typeface="Yu Gothic" pitchFamily="34" charset="0"/>
                <a:ea typeface="Yu Gothic" pitchFamily="34" charset="-122"/>
                <a:cs typeface="Yu Gothic" pitchFamily="34" charset="-120"/>
              </a:rPr>
              <a:t>1日15分程度の運営</a:t>
            </a:r>
            <a:endParaRPr lang="en-US" sz="1500" dirty="0"/>
          </a:p>
        </p:txBody>
      </p:sp>
      <p:sp>
        <p:nvSpPr>
          <p:cNvPr id="38" name="Shape 32"/>
          <p:cNvSpPr/>
          <p:nvPr/>
        </p:nvSpPr>
        <p:spPr>
          <a:xfrm>
            <a:off x="8364931" y="3151022"/>
            <a:ext cx="2892247" cy="10058"/>
          </a:xfrm>
          <a:prstGeom prst="rect">
            <a:avLst/>
          </a:prstGeom>
          <a:solidFill>
            <a:srgbClr val="EFEAE0"/>
          </a:solidFill>
          <a:ln/>
        </p:spPr>
      </p:sp>
      <p:sp>
        <p:nvSpPr>
          <p:cNvPr id="39" name="Text 33"/>
          <p:cNvSpPr/>
          <p:nvPr/>
        </p:nvSpPr>
        <p:spPr>
          <a:xfrm>
            <a:off x="8364931" y="3279038"/>
            <a:ext cx="2892247" cy="1188720"/>
          </a:xfrm>
          <a:prstGeom prst="rect">
            <a:avLst/>
          </a:prstGeom>
          <a:noFill/>
          <a:ln/>
        </p:spPr>
        <p:txBody>
          <a:bodyPr wrap="square" lIns="0" tIns="0" rIns="0" bIns="0" rtlCol="0" anchor="t"/>
          <a:lstStyle/>
          <a:p>
            <a:pPr indent="0" marL="0">
              <a:lnSpc>
                <a:spcPct val="145000"/>
              </a:lnSpc>
              <a:buNone/>
            </a:pPr>
            <a:r>
              <a:rPr lang="en-US" sz="1050" dirty="0">
                <a:solidFill>
                  <a:srgbClr val="4B5550"/>
                </a:solidFill>
                <a:latin typeface="Yu Gothic" pitchFamily="34" charset="0"/>
                <a:ea typeface="Yu Gothic" pitchFamily="34" charset="-122"/>
                <a:cs typeface="Yu Gothic" pitchFamily="34" charset="-120"/>
              </a:rPr>
              <a:t>清掃・補充のみ。無人化により人件費を極限までカット。既存スタッフの稼働内で対応でき、新規採用は不要です。</a:t>
            </a:r>
            <a:endParaRPr lang="en-US" sz="1050" dirty="0"/>
          </a:p>
        </p:txBody>
      </p:sp>
      <p:sp>
        <p:nvSpPr>
          <p:cNvPr id="40" name="Shape 34"/>
          <p:cNvSpPr/>
          <p:nvPr/>
        </p:nvSpPr>
        <p:spPr>
          <a:xfrm>
            <a:off x="8364931" y="4870094"/>
            <a:ext cx="493776" cy="256032"/>
          </a:xfrm>
          <a:prstGeom prst="roundRect">
            <a:avLst>
              <a:gd name="adj" fmla="val 50000"/>
            </a:avLst>
          </a:prstGeom>
          <a:solidFill>
            <a:srgbClr val="F1F8F3"/>
          </a:solidFill>
          <a:ln w="9525">
            <a:solidFill>
              <a:srgbClr val="D2E7DA"/>
            </a:solidFill>
            <a:prstDash val="solid"/>
          </a:ln>
        </p:spPr>
      </p:sp>
      <p:sp>
        <p:nvSpPr>
          <p:cNvPr id="41" name="Text 35"/>
          <p:cNvSpPr/>
          <p:nvPr/>
        </p:nvSpPr>
        <p:spPr>
          <a:xfrm>
            <a:off x="8364931" y="4870094"/>
            <a:ext cx="493776" cy="256032"/>
          </a:xfrm>
          <a:prstGeom prst="rect">
            <a:avLst/>
          </a:prstGeom>
          <a:noFill/>
          <a:ln/>
        </p:spPr>
        <p:txBody>
          <a:bodyPr wrap="square" lIns="0" tIns="0" rIns="0" bIns="0" rtlCol="0" anchor="ctr"/>
          <a:lstStyle/>
          <a:p>
            <a:pPr algn="ctr" indent="0" marL="0">
              <a:buNone/>
            </a:pPr>
            <a:r>
              <a:rPr lang="en-US" sz="850" b="1" dirty="0">
                <a:solidFill>
                  <a:srgbClr val="106838"/>
                </a:solidFill>
                <a:latin typeface="Yu Gothic" pitchFamily="34" charset="0"/>
                <a:ea typeface="Yu Gothic" pitchFamily="34" charset="-122"/>
                <a:cs typeface="Yu Gothic" pitchFamily="34" charset="-120"/>
              </a:rPr>
              <a:t>清掃</a:t>
            </a:r>
            <a:endParaRPr lang="en-US" sz="850" dirty="0"/>
          </a:p>
        </p:txBody>
      </p:sp>
      <p:sp>
        <p:nvSpPr>
          <p:cNvPr id="42" name="Shape 36"/>
          <p:cNvSpPr/>
          <p:nvPr/>
        </p:nvSpPr>
        <p:spPr>
          <a:xfrm>
            <a:off x="9736531" y="4870094"/>
            <a:ext cx="731520" cy="256032"/>
          </a:xfrm>
          <a:prstGeom prst="roundRect">
            <a:avLst>
              <a:gd name="adj" fmla="val 50000"/>
            </a:avLst>
          </a:prstGeom>
          <a:solidFill>
            <a:srgbClr val="F1F8F3"/>
          </a:solidFill>
          <a:ln w="9525">
            <a:solidFill>
              <a:srgbClr val="D2E7DA"/>
            </a:solidFill>
            <a:prstDash val="solid"/>
          </a:ln>
        </p:spPr>
      </p:sp>
      <p:sp>
        <p:nvSpPr>
          <p:cNvPr id="43" name="Text 37"/>
          <p:cNvSpPr/>
          <p:nvPr/>
        </p:nvSpPr>
        <p:spPr>
          <a:xfrm>
            <a:off x="9736531" y="4870094"/>
            <a:ext cx="731520" cy="256032"/>
          </a:xfrm>
          <a:prstGeom prst="rect">
            <a:avLst/>
          </a:prstGeom>
          <a:noFill/>
          <a:ln/>
        </p:spPr>
        <p:txBody>
          <a:bodyPr wrap="square" lIns="0" tIns="0" rIns="0" bIns="0" rtlCol="0" anchor="ctr"/>
          <a:lstStyle/>
          <a:p>
            <a:pPr algn="ctr" indent="0" marL="0">
              <a:buNone/>
            </a:pPr>
            <a:r>
              <a:rPr lang="en-US" sz="850" b="1" dirty="0">
                <a:solidFill>
                  <a:srgbClr val="106838"/>
                </a:solidFill>
                <a:latin typeface="Yu Gothic" pitchFamily="34" charset="0"/>
                <a:ea typeface="Yu Gothic" pitchFamily="34" charset="-122"/>
                <a:cs typeface="Yu Gothic" pitchFamily="34" charset="-120"/>
              </a:rPr>
              <a:t>原料補充</a:t>
            </a:r>
            <a:endParaRPr lang="en-US" sz="850" dirty="0"/>
          </a:p>
        </p:txBody>
      </p:sp>
      <p:sp>
        <p:nvSpPr>
          <p:cNvPr id="44" name="Text 38"/>
          <p:cNvSpPr/>
          <p:nvPr/>
        </p:nvSpPr>
        <p:spPr>
          <a:xfrm>
            <a:off x="660197" y="605332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「1/10以下」は他社カフェ業態の開業資金との比較（次ページ参照）。</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17</a:t>
            </a:r>
            <a:r>
              <a:rPr lang="en-US" sz="1050" b="1" dirty="0">
                <a:solidFill>
                  <a:srgbClr val="1B8149"/>
                </a:solidFill>
                <a:latin typeface="Yu Gothic" pitchFamily="34" charset="0"/>
                <a:ea typeface="Yu Gothic" pitchFamily="34" charset="-122"/>
                <a:cs typeface="Yu Gothic" pitchFamily="34" charset="-120"/>
              </a:rPr>
              <a:t>   初期費用</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初期費用：他社カフェ業態との比較</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同じ「カフェ出店」でも、必要な初期投資はまったく違います。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18</a:t>
            </a:r>
            <a:endParaRPr lang="en-US" sz="1000" dirty="0"/>
          </a:p>
        </p:txBody>
      </p:sp>
      <p:sp>
        <p:nvSpPr>
          <p:cNvPr id="9" name="Shape 6"/>
          <p:cNvSpPr/>
          <p:nvPr/>
        </p:nvSpPr>
        <p:spPr>
          <a:xfrm>
            <a:off x="2854757" y="1651406"/>
            <a:ext cx="2377440" cy="4169664"/>
          </a:xfrm>
          <a:prstGeom prst="roundRect">
            <a:avLst>
              <a:gd name="adj" fmla="val 1923"/>
            </a:avLst>
          </a:prstGeom>
          <a:solidFill>
            <a:srgbClr val="F1F8F3"/>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197" y="1651406"/>
          <a:ext cx="10871302" cy="914400"/>
        </p:xfrm>
        <a:graphic>
          <a:graphicData uri="http://schemas.openxmlformats.org/drawingml/2006/table">
            <a:tbl>
              <a:tblPr/>
              <a:tblGrid>
                <a:gridCol w="2194560"/>
                <a:gridCol w="2377440"/>
                <a:gridCol w="3108960"/>
                <a:gridCol w="3190342"/>
              </a:tblGrid>
              <a:tr h="384048">
                <a:tc>
                  <a:txBody>
                    <a:bodyPr/>
                    <a:lstStyle/>
                    <a:p>
                      <a:pPr algn="l" indent="0" marL="0">
                        <a:buNone/>
                      </a:pPr>
                      <a:r>
                        <a:rPr lang="en-US" sz="1050" b="1" dirty="0">
                          <a:solidFill>
                            <a:srgbClr val="0A3D23"/>
                          </a:solidFill>
                          <a:latin typeface="Yu Gothic" pitchFamily="34" charset="0"/>
                          <a:ea typeface="Yu Gothic" pitchFamily="34" charset="-122"/>
                          <a:cs typeface="Yu Gothic" pitchFamily="34" charset="-120"/>
                        </a:rPr>
                        <a:t>項目</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050" b="1" dirty="0">
                          <a:solidFill>
                            <a:srgbClr val="FFFFFF"/>
                          </a:solidFill>
                          <a:latin typeface="Yu Gothic" pitchFamily="34" charset="0"/>
                          <a:ea typeface="Yu Gothic" pitchFamily="34" charset="-122"/>
                          <a:cs typeface="Yu Gothic" pitchFamily="34" charset="-120"/>
                        </a:rPr>
                        <a:t>セルフカフェ</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r" indent="0" marL="0">
                        <a:buNone/>
                      </a:pPr>
                      <a:r>
                        <a:rPr lang="en-US" sz="1050" b="1" dirty="0">
                          <a:solidFill>
                            <a:srgbClr val="FFFFFF"/>
                          </a:solidFill>
                          <a:latin typeface="Yu Gothic" pitchFamily="34" charset="0"/>
                          <a:ea typeface="Yu Gothic" pitchFamily="34" charset="-122"/>
                          <a:cs typeface="Yu Gothic" pitchFamily="34" charset="-120"/>
                        </a:rPr>
                        <a:t>C社</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c>
                  <a:txBody>
                    <a:bodyPr/>
                    <a:lstStyle/>
                    <a:p>
                      <a:pPr algn="r" indent="0" marL="0">
                        <a:buNone/>
                      </a:pPr>
                      <a:r>
                        <a:rPr lang="en-US" sz="1050" b="1" dirty="0">
                          <a:solidFill>
                            <a:srgbClr val="FFFFFF"/>
                          </a:solidFill>
                          <a:latin typeface="Yu Gothic" pitchFamily="34" charset="0"/>
                          <a:ea typeface="Yu Gothic" pitchFamily="34" charset="-122"/>
                          <a:cs typeface="Yu Gothic" pitchFamily="34" charset="-120"/>
                        </a:rPr>
                        <a:t>D社</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8E8B84"/>
                    </a:solidFill>
                  </a:tcPr>
                </a:tc>
              </a:tr>
              <a:tr h="56692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加盟金</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00" b="1" dirty="0">
                          <a:solidFill>
                            <a:srgbClr val="106838"/>
                          </a:solidFill>
                          <a:latin typeface="Arial" pitchFamily="34" charset="0"/>
                          <a:ea typeface="Arial" pitchFamily="34" charset="-122"/>
                          <a:cs typeface="Arial" pitchFamily="34" charset="-120"/>
                        </a:rPr>
                        <a:t>100万円</a:t>
                      </a:r>
                      <a:endParaRPr lang="en-US" sz="11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300万円〜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150万円〜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店舗工事費用</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00" b="1" dirty="0">
                          <a:solidFill>
                            <a:srgbClr val="106838"/>
                          </a:solidFill>
                          <a:latin typeface="Arial" pitchFamily="34" charset="0"/>
                          <a:ea typeface="Arial" pitchFamily="34" charset="-122"/>
                          <a:cs typeface="Arial" pitchFamily="34" charset="-120"/>
                        </a:rPr>
                        <a:t>400万円〜</a:t>
                      </a:r>
                      <a:endParaRPr lang="en-US" sz="11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8,000万円〜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2,000万円〜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保証金</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00" b="1" dirty="0">
                          <a:solidFill>
                            <a:srgbClr val="106838"/>
                          </a:solidFill>
                          <a:latin typeface="Arial" pitchFamily="34" charset="0"/>
                          <a:ea typeface="Arial" pitchFamily="34" charset="-122"/>
                          <a:cs typeface="Arial" pitchFamily="34" charset="-120"/>
                        </a:rPr>
                        <a:t>50万円〜</a:t>
                      </a:r>
                      <a:endParaRPr lang="en-US" sz="11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100万円〜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150万円〜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研修費</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00" b="1" dirty="0">
                          <a:solidFill>
                            <a:srgbClr val="106838"/>
                          </a:solidFill>
                          <a:latin typeface="Arial" pitchFamily="34" charset="0"/>
                          <a:ea typeface="Arial" pitchFamily="34" charset="-122"/>
                          <a:cs typeface="Arial" pitchFamily="34" charset="-120"/>
                        </a:rPr>
                        <a:t>なし</a:t>
                      </a:r>
                      <a:endParaRPr lang="en-US" sz="11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15万円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20万円／1名</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1323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開業資金</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300" b="1" dirty="0">
                          <a:solidFill>
                            <a:srgbClr val="106838"/>
                          </a:solidFill>
                          <a:latin typeface="Arial" pitchFamily="34" charset="0"/>
                          <a:ea typeface="Arial" pitchFamily="34" charset="-122"/>
                          <a:cs typeface="Arial" pitchFamily="34" charset="-120"/>
                        </a:rPr>
                        <a:t>550万円〜</a:t>
                      </a:r>
                      <a:endParaRPr lang="en-US" sz="13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8,400万円〜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3,000万円〜</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65836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ロイヤリティ</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00" b="1" dirty="0">
                          <a:solidFill>
                            <a:srgbClr val="106838"/>
                          </a:solidFill>
                          <a:latin typeface="Arial" pitchFamily="34" charset="0"/>
                          <a:ea typeface="Arial" pitchFamily="34" charset="-122"/>
                          <a:cs typeface="Arial" pitchFamily="34" charset="-120"/>
                        </a:rPr>
                        <a:t>月5万円（一律）</a:t>
                      </a:r>
                      <a:endParaRPr lang="en-US" sz="1100" dirty="0">
                        <a:latin typeface="Arial" charset="0"/>
                        <a:ea typeface="Arial" charset="0"/>
                        <a:cs typeface="Arial"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1F8F3"/>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1席1,500円／月</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050" dirty="0">
                          <a:solidFill>
                            <a:srgbClr val="8E8B84"/>
                          </a:solidFill>
                          <a:latin typeface="Yu Gothic" pitchFamily="34" charset="0"/>
                          <a:ea typeface="Yu Gothic" pitchFamily="34" charset="-122"/>
                          <a:cs typeface="Yu Gothic" pitchFamily="34" charset="-120"/>
                        </a:rPr>
                        <a:t>売上の2%／月</a:t>
                      </a:r>
                      <a:endParaRPr lang="en-US" sz="1050" dirty="0">
                        <a:latin typeface="Yu Gothic" charset="0"/>
                        <a:ea typeface="Yu Gothic" charset="0"/>
                        <a:cs typeface="Yu Gothic" charset="0"/>
                      </a:endParaRPr>
                    </a:p>
                  </a:txBody>
                  <a:tcPr marL="146304" marR="146304"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bl>
          </a:graphicData>
        </a:graphic>
      </p:graphicFrame>
      <p:sp>
        <p:nvSpPr>
          <p:cNvPr id="11" name="Shape 7"/>
          <p:cNvSpPr/>
          <p:nvPr/>
        </p:nvSpPr>
        <p:spPr>
          <a:xfrm>
            <a:off x="660197" y="5705856"/>
            <a:ext cx="10871302" cy="512064"/>
          </a:xfrm>
          <a:prstGeom prst="roundRect">
            <a:avLst>
              <a:gd name="adj" fmla="val 8929"/>
            </a:avLst>
          </a:prstGeom>
          <a:solidFill>
            <a:srgbClr val="0C5230"/>
          </a:solidFill>
          <a:ln/>
        </p:spPr>
      </p:sp>
      <p:sp>
        <p:nvSpPr>
          <p:cNvPr id="12" name="Text 8"/>
          <p:cNvSpPr/>
          <p:nvPr/>
        </p:nvSpPr>
        <p:spPr>
          <a:xfrm>
            <a:off x="934517" y="5705856"/>
            <a:ext cx="10322662" cy="512064"/>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開業資金は他社カフェ業態の </a:t>
            </a:r>
            <a:r>
              <a:rPr lang="en-US" sz="1200" b="1" dirty="0">
                <a:solidFill>
                  <a:srgbClr val="8CC5A5"/>
                </a:solidFill>
                <a:latin typeface="Yu Gothic" pitchFamily="34" charset="0"/>
                <a:ea typeface="Yu Gothic" pitchFamily="34" charset="-122"/>
                <a:cs typeface="Yu Gothic" pitchFamily="34" charset="-120"/>
              </a:rPr>
              <a:t>1/5 〜 1/15</a:t>
            </a:r>
            <a:r>
              <a:rPr lang="en-US" sz="1200" b="1" dirty="0">
                <a:solidFill>
                  <a:srgbClr val="FFFFFF"/>
                </a:solidFill>
                <a:latin typeface="Yu Gothic" pitchFamily="34" charset="0"/>
                <a:ea typeface="Yu Gothic" pitchFamily="34" charset="-122"/>
                <a:cs typeface="Yu Gothic" pitchFamily="34" charset="-120"/>
              </a:rPr>
              <a:t>。ロイヤリティも売上連動ではなく月5万円の一律です。</a:t>
            </a:r>
            <a:endParaRPr lang="en-US" sz="1200" dirty="0"/>
          </a:p>
        </p:txBody>
      </p:sp>
      <p:sp>
        <p:nvSpPr>
          <p:cNvPr id="13" name="Text 9"/>
          <p:cNvSpPr/>
          <p:nvPr/>
        </p:nvSpPr>
        <p:spPr>
          <a:xfrm>
            <a:off x="660197" y="6309360"/>
            <a:ext cx="10871302" cy="182880"/>
          </a:xfrm>
          <a:prstGeom prst="rect">
            <a:avLst/>
          </a:prstGeom>
          <a:noFill/>
          <a:ln/>
        </p:spPr>
        <p:txBody>
          <a:bodyPr wrap="square" lIns="0" tIns="0" rIns="0" bIns="0" rtlCol="0" anchor="ctr"/>
          <a:lstStyle/>
          <a:p>
            <a:pPr indent="0" marL="0">
              <a:buNone/>
            </a:pP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18</a:t>
            </a:r>
            <a:r>
              <a:rPr lang="en-US" sz="1050" b="1" dirty="0">
                <a:solidFill>
                  <a:srgbClr val="1B8149"/>
                </a:solidFill>
                <a:latin typeface="Yu Gothic" pitchFamily="34" charset="0"/>
                <a:ea typeface="Yu Gothic" pitchFamily="34" charset="-122"/>
                <a:cs typeface="Yu Gothic" pitchFamily="34" charset="-120"/>
              </a:rPr>
              <a:t>   初期費用</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初期費用・売上イメージ</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出店方法は2パターン。居抜き・既存店併設なら初期費用を大きく抑えられます。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19</a:t>
            </a:r>
            <a:endParaRPr lang="en-US" sz="1000" dirty="0"/>
          </a:p>
        </p:txBody>
      </p:sp>
      <p:sp>
        <p:nvSpPr>
          <p:cNvPr id="9" name="Shape 6"/>
          <p:cNvSpPr/>
          <p:nvPr/>
        </p:nvSpPr>
        <p:spPr>
          <a:xfrm>
            <a:off x="660197" y="1651406"/>
            <a:ext cx="5243627" cy="1700784"/>
          </a:xfrm>
          <a:prstGeom prst="roundRect">
            <a:avLst>
              <a:gd name="adj" fmla="val 3226"/>
            </a:avLst>
          </a:prstGeom>
          <a:solidFill>
            <a:srgbClr val="0C5230"/>
          </a:solidFill>
          <a:ln/>
        </p:spPr>
      </p:sp>
      <p:sp>
        <p:nvSpPr>
          <p:cNvPr id="10" name="Text 7"/>
          <p:cNvSpPr/>
          <p:nvPr/>
        </p:nvSpPr>
        <p:spPr>
          <a:xfrm>
            <a:off x="934517" y="1870862"/>
            <a:ext cx="4694987" cy="292608"/>
          </a:xfrm>
          <a:prstGeom prst="rect">
            <a:avLst/>
          </a:prstGeom>
          <a:noFill/>
          <a:ln/>
        </p:spPr>
        <p:txBody>
          <a:bodyPr wrap="square" lIns="0" tIns="0" rIns="0" bIns="0" rtlCol="0" anchor="ctr"/>
          <a:lstStyle/>
          <a:p>
            <a:pPr indent="0" marL="0">
              <a:buNone/>
            </a:pPr>
            <a:r>
              <a:rPr lang="en-US" sz="1300" b="1" dirty="0">
                <a:solidFill>
                  <a:srgbClr val="8CC5A5"/>
                </a:solidFill>
                <a:latin typeface="Yu Gothic" pitchFamily="34" charset="0"/>
                <a:ea typeface="Yu Gothic" pitchFamily="34" charset="-122"/>
                <a:cs typeface="Yu Gothic" pitchFamily="34" charset="-120"/>
              </a:rPr>
              <a:t>① 既存店併設 / 居抜き</a:t>
            </a:r>
            <a:endParaRPr lang="en-US" sz="1300" dirty="0"/>
          </a:p>
        </p:txBody>
      </p:sp>
      <p:sp>
        <p:nvSpPr>
          <p:cNvPr id="11" name="Text 8"/>
          <p:cNvSpPr/>
          <p:nvPr/>
        </p:nvSpPr>
        <p:spPr>
          <a:xfrm>
            <a:off x="934517" y="2200046"/>
            <a:ext cx="4694987" cy="182880"/>
          </a:xfrm>
          <a:prstGeom prst="rect">
            <a:avLst/>
          </a:prstGeom>
          <a:noFill/>
          <a:ln/>
        </p:spPr>
        <p:txBody>
          <a:bodyPr wrap="square" lIns="0" tIns="0" rIns="0" bIns="0" rtlCol="0" anchor="ctr"/>
          <a:lstStyle/>
          <a:p>
            <a:pPr indent="0" marL="0">
              <a:buNone/>
            </a:pPr>
            <a:r>
              <a:rPr lang="en-US" sz="900" dirty="0">
                <a:solidFill>
                  <a:srgbClr val="AFC2B8"/>
                </a:solidFill>
                <a:latin typeface="Yu Gothic" pitchFamily="34" charset="0"/>
                <a:ea typeface="Yu Gothic" pitchFamily="34" charset="-122"/>
                <a:cs typeface="Yu Gothic" pitchFamily="34" charset="-120"/>
              </a:rPr>
              <a:t>初期費用目安</a:t>
            </a:r>
            <a:endParaRPr lang="en-US" sz="900" dirty="0"/>
          </a:p>
        </p:txBody>
      </p:sp>
      <p:sp>
        <p:nvSpPr>
          <p:cNvPr id="12" name="Text 9"/>
          <p:cNvSpPr/>
          <p:nvPr/>
        </p:nvSpPr>
        <p:spPr>
          <a:xfrm>
            <a:off x="934517" y="2382926"/>
            <a:ext cx="4694987" cy="4572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650万円〜</a:t>
            </a:r>
            <a:endParaRPr lang="en-US" sz="3000" dirty="0"/>
          </a:p>
        </p:txBody>
      </p:sp>
      <p:sp>
        <p:nvSpPr>
          <p:cNvPr id="13" name="Text 10"/>
          <p:cNvSpPr/>
          <p:nvPr/>
        </p:nvSpPr>
        <p:spPr>
          <a:xfrm>
            <a:off x="934517" y="2876702"/>
            <a:ext cx="4694987" cy="384048"/>
          </a:xfrm>
          <a:prstGeom prst="rect">
            <a:avLst/>
          </a:prstGeom>
          <a:noFill/>
          <a:ln/>
        </p:spPr>
        <p:txBody>
          <a:bodyPr wrap="square" lIns="0" tIns="0" rIns="0" bIns="0" rtlCol="0" anchor="t"/>
          <a:lstStyle/>
          <a:p>
            <a:pPr indent="0" marL="0">
              <a:lnSpc>
                <a:spcPct val="130000"/>
              </a:lnSpc>
              <a:buNone/>
            </a:pPr>
            <a:r>
              <a:rPr lang="en-US" sz="1000" dirty="0">
                <a:solidFill>
                  <a:srgbClr val="AFC2B8"/>
                </a:solidFill>
                <a:latin typeface="Yu Gothic" pitchFamily="34" charset="0"/>
                <a:ea typeface="Yu Gothic" pitchFamily="34" charset="-122"/>
                <a:cs typeface="Yu Gothic" pitchFamily="34" charset="-120"/>
              </a:rPr>
              <a:t>内装が残る区画や自社店舗の一角を活用。工事範囲を最小化できます。</a:t>
            </a:r>
            <a:endParaRPr lang="en-US" sz="1000" dirty="0"/>
          </a:p>
        </p:txBody>
      </p:sp>
      <p:sp>
        <p:nvSpPr>
          <p:cNvPr id="14" name="Shape 11"/>
          <p:cNvSpPr/>
          <p:nvPr/>
        </p:nvSpPr>
        <p:spPr>
          <a:xfrm>
            <a:off x="6287872" y="1651406"/>
            <a:ext cx="5243627" cy="1700784"/>
          </a:xfrm>
          <a:prstGeom prst="roundRect">
            <a:avLst>
              <a:gd name="adj" fmla="val 3226"/>
            </a:avLst>
          </a:prstGeom>
          <a:solidFill>
            <a:srgbClr val="FFFFFF"/>
          </a:solidFill>
          <a:ln w="9525">
            <a:solidFill>
              <a:srgbClr val="EFEAE0"/>
            </a:solidFill>
            <a:prstDash val="solid"/>
          </a:ln>
        </p:spPr>
      </p:sp>
      <p:sp>
        <p:nvSpPr>
          <p:cNvPr id="15" name="Text 12"/>
          <p:cNvSpPr/>
          <p:nvPr/>
        </p:nvSpPr>
        <p:spPr>
          <a:xfrm>
            <a:off x="6562192" y="1870862"/>
            <a:ext cx="4694987" cy="292608"/>
          </a:xfrm>
          <a:prstGeom prst="rect">
            <a:avLst/>
          </a:prstGeom>
          <a:noFill/>
          <a:ln/>
        </p:spPr>
        <p:txBody>
          <a:bodyPr wrap="square" lIns="0" tIns="0" rIns="0" bIns="0" rtlCol="0" anchor="ctr"/>
          <a:lstStyle/>
          <a:p>
            <a:pPr indent="0" marL="0">
              <a:buNone/>
            </a:pPr>
            <a:r>
              <a:rPr lang="en-US" sz="1300" b="1" dirty="0">
                <a:solidFill>
                  <a:srgbClr val="106838"/>
                </a:solidFill>
                <a:latin typeface="Yu Gothic" pitchFamily="34" charset="0"/>
                <a:ea typeface="Yu Gothic" pitchFamily="34" charset="-122"/>
                <a:cs typeface="Yu Gothic" pitchFamily="34" charset="-120"/>
              </a:rPr>
              <a:t>② スケルトン工事</a:t>
            </a:r>
            <a:endParaRPr lang="en-US" sz="1300" dirty="0"/>
          </a:p>
        </p:txBody>
      </p:sp>
      <p:sp>
        <p:nvSpPr>
          <p:cNvPr id="16" name="Text 13"/>
          <p:cNvSpPr/>
          <p:nvPr/>
        </p:nvSpPr>
        <p:spPr>
          <a:xfrm>
            <a:off x="6562192" y="2200046"/>
            <a:ext cx="4694987" cy="182880"/>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初期費用目安</a:t>
            </a:r>
            <a:endParaRPr lang="en-US" sz="900" dirty="0"/>
          </a:p>
        </p:txBody>
      </p:sp>
      <p:sp>
        <p:nvSpPr>
          <p:cNvPr id="17" name="Text 14"/>
          <p:cNvSpPr/>
          <p:nvPr/>
        </p:nvSpPr>
        <p:spPr>
          <a:xfrm>
            <a:off x="6562192" y="2382926"/>
            <a:ext cx="4694987" cy="457200"/>
          </a:xfrm>
          <a:prstGeom prst="rect">
            <a:avLst/>
          </a:prstGeom>
          <a:noFill/>
          <a:ln/>
        </p:spPr>
        <p:txBody>
          <a:bodyPr wrap="square" lIns="0" tIns="0" rIns="0" bIns="0" rtlCol="0" anchor="ctr"/>
          <a:lstStyle/>
          <a:p>
            <a:pPr indent="0" marL="0">
              <a:buNone/>
            </a:pPr>
            <a:r>
              <a:rPr lang="en-US" sz="3000" b="1" dirty="0">
                <a:solidFill>
                  <a:srgbClr val="0A3D23"/>
                </a:solidFill>
                <a:latin typeface="Arial" pitchFamily="34" charset="0"/>
                <a:ea typeface="Arial" pitchFamily="34" charset="-122"/>
                <a:cs typeface="Arial" pitchFamily="34" charset="-120"/>
              </a:rPr>
              <a:t>950万円〜</a:t>
            </a:r>
            <a:endParaRPr lang="en-US" sz="3000" dirty="0"/>
          </a:p>
        </p:txBody>
      </p:sp>
      <p:sp>
        <p:nvSpPr>
          <p:cNvPr id="18" name="Text 15"/>
          <p:cNvSpPr/>
          <p:nvPr/>
        </p:nvSpPr>
        <p:spPr>
          <a:xfrm>
            <a:off x="6562192" y="2876702"/>
            <a:ext cx="4694987" cy="384048"/>
          </a:xfrm>
          <a:prstGeom prst="rect">
            <a:avLst/>
          </a:prstGeom>
          <a:noFill/>
          <a:ln/>
        </p:spPr>
        <p:txBody>
          <a:bodyPr wrap="square" lIns="0" tIns="0" rIns="0" bIns="0" rtlCol="0" anchor="t"/>
          <a:lstStyle/>
          <a:p>
            <a:pPr indent="0" marL="0">
              <a:lnSpc>
                <a:spcPct val="130000"/>
              </a:lnSpc>
              <a:buNone/>
            </a:pPr>
            <a:r>
              <a:rPr lang="en-US" sz="1000" dirty="0">
                <a:solidFill>
                  <a:srgbClr val="4B5550"/>
                </a:solidFill>
                <a:latin typeface="Yu Gothic" pitchFamily="34" charset="0"/>
                <a:ea typeface="Yu Gothic" pitchFamily="34" charset="-122"/>
                <a:cs typeface="Yu Gothic" pitchFamily="34" charset="-120"/>
              </a:rPr>
              <a:t>内装のない状態からの造作。レイアウトを自由に設計できます。</a:t>
            </a:r>
            <a:endParaRPr lang="en-US" sz="1000" dirty="0"/>
          </a:p>
        </p:txBody>
      </p:sp>
      <p:sp>
        <p:nvSpPr>
          <p:cNvPr id="19" name="Shape 16"/>
          <p:cNvSpPr/>
          <p:nvPr/>
        </p:nvSpPr>
        <p:spPr>
          <a:xfrm>
            <a:off x="660197" y="3535070"/>
            <a:ext cx="10871302" cy="2468880"/>
          </a:xfrm>
          <a:prstGeom prst="roundRect">
            <a:avLst>
              <a:gd name="adj" fmla="val 2222"/>
            </a:avLst>
          </a:prstGeom>
          <a:solidFill>
            <a:srgbClr val="FFFFFF"/>
          </a:solidFill>
          <a:ln w="9525">
            <a:solidFill>
              <a:srgbClr val="EFEAE0"/>
            </a:solidFill>
            <a:prstDash val="solid"/>
          </a:ln>
        </p:spPr>
      </p:sp>
      <p:sp>
        <p:nvSpPr>
          <p:cNvPr id="20" name="Text 17"/>
          <p:cNvSpPr/>
          <p:nvPr/>
        </p:nvSpPr>
        <p:spPr>
          <a:xfrm>
            <a:off x="934517" y="3736238"/>
            <a:ext cx="6400800" cy="256032"/>
          </a:xfrm>
          <a:prstGeom prst="rect">
            <a:avLst/>
          </a:prstGeom>
          <a:noFill/>
          <a:ln/>
        </p:spPr>
        <p:txBody>
          <a:bodyPr wrap="square" lIns="0" tIns="0" rIns="0" bIns="0" rtlCol="0" anchor="ctr"/>
          <a:lstStyle/>
          <a:p>
            <a:pPr indent="0" marL="0">
              <a:buNone/>
            </a:pPr>
            <a:r>
              <a:rPr lang="en-US" sz="1150" b="1" dirty="0">
                <a:solidFill>
                  <a:srgbClr val="0A3D23"/>
                </a:solidFill>
                <a:latin typeface="Yu Gothic" pitchFamily="34" charset="0"/>
                <a:ea typeface="Yu Gothic" pitchFamily="34" charset="-122"/>
                <a:cs typeface="Yu Gothic" pitchFamily="34" charset="-120"/>
              </a:rPr>
              <a:t>パートナー制度 初期費用内訳（20坪想定・居抜きパターン）</a:t>
            </a:r>
            <a:endParaRPr lang="en-US" sz="1150" dirty="0"/>
          </a:p>
        </p:txBody>
      </p:sp>
      <p:sp>
        <p:nvSpPr>
          <p:cNvPr id="21" name="Text 18"/>
          <p:cNvSpPr/>
          <p:nvPr/>
        </p:nvSpPr>
        <p:spPr>
          <a:xfrm>
            <a:off x="9154058" y="3699662"/>
            <a:ext cx="2103120" cy="329184"/>
          </a:xfrm>
          <a:prstGeom prst="rect">
            <a:avLst/>
          </a:prstGeom>
          <a:noFill/>
          <a:ln/>
        </p:spPr>
        <p:txBody>
          <a:bodyPr wrap="square" lIns="0" tIns="0" rIns="0" bIns="0" rtlCol="0" anchor="ctr"/>
          <a:lstStyle/>
          <a:p>
            <a:pPr algn="r" indent="0" marL="0">
              <a:buNone/>
            </a:pPr>
            <a:r>
              <a:rPr lang="en-US" sz="1000" dirty="0">
                <a:solidFill>
                  <a:srgbClr val="7E8882"/>
                </a:solidFill>
                <a:latin typeface="Yu Gothic" pitchFamily="34" charset="0"/>
                <a:ea typeface="Yu Gothic" pitchFamily="34" charset="-122"/>
                <a:cs typeface="Yu Gothic" pitchFamily="34" charset="-120"/>
              </a:rPr>
              <a:t>合計 </a:t>
            </a:r>
            <a:r>
              <a:rPr lang="en-US" sz="1500" b="1" dirty="0">
                <a:solidFill>
                  <a:srgbClr val="106838"/>
                </a:solidFill>
                <a:latin typeface="Arial" pitchFamily="34" charset="0"/>
                <a:ea typeface="Arial" pitchFamily="34" charset="-122"/>
                <a:cs typeface="Arial" pitchFamily="34" charset="-120"/>
              </a:rPr>
              <a:t>650万円〜</a:t>
            </a:r>
            <a:endParaRPr lang="en-US" sz="1000" dirty="0"/>
          </a:p>
        </p:txBody>
      </p:sp>
      <p:sp>
        <p:nvSpPr>
          <p:cNvPr id="22" name="Shape 19"/>
          <p:cNvSpPr/>
          <p:nvPr/>
        </p:nvSpPr>
        <p:spPr>
          <a:xfrm>
            <a:off x="934517" y="4138574"/>
            <a:ext cx="2443505" cy="1664208"/>
          </a:xfrm>
          <a:prstGeom prst="roundRect">
            <a:avLst>
              <a:gd name="adj" fmla="val 3297"/>
            </a:avLst>
          </a:prstGeom>
          <a:solidFill>
            <a:srgbClr val="F1F8F3"/>
          </a:solidFill>
          <a:ln w="9525">
            <a:solidFill>
              <a:srgbClr val="D2E7DA"/>
            </a:solidFill>
            <a:prstDash val="solid"/>
          </a:ln>
        </p:spPr>
      </p:sp>
      <p:pic>
        <p:nvPicPr>
          <p:cNvPr id="23" name="Image 1" descr="/home/user/suzuki-ceo/selfcafe-partner-deck/assets/icons/LuHandCoins-green.png">    </p:cNvPr>
          <p:cNvPicPr>
            <a:picLocks noChangeAspect="1"/>
          </p:cNvPicPr>
          <p:nvPr/>
        </p:nvPicPr>
        <p:blipFill>
          <a:blip r:embed="rId2"/>
          <a:stretch>
            <a:fillRect/>
          </a:stretch>
        </p:blipFill>
        <p:spPr>
          <a:xfrm>
            <a:off x="1135685" y="4321454"/>
            <a:ext cx="292608" cy="292608"/>
          </a:xfrm>
          <a:prstGeom prst="rect">
            <a:avLst/>
          </a:prstGeom>
        </p:spPr>
      </p:pic>
      <p:sp>
        <p:nvSpPr>
          <p:cNvPr id="24" name="Text 20"/>
          <p:cNvSpPr/>
          <p:nvPr/>
        </p:nvSpPr>
        <p:spPr>
          <a:xfrm>
            <a:off x="1135685" y="4687214"/>
            <a:ext cx="2041169" cy="23774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加盟金</a:t>
            </a:r>
            <a:endParaRPr lang="en-US" sz="1050" dirty="0"/>
          </a:p>
        </p:txBody>
      </p:sp>
      <p:sp>
        <p:nvSpPr>
          <p:cNvPr id="25" name="Text 21"/>
          <p:cNvSpPr/>
          <p:nvPr/>
        </p:nvSpPr>
        <p:spPr>
          <a:xfrm>
            <a:off x="1135685" y="4924958"/>
            <a:ext cx="2041169" cy="329184"/>
          </a:xfrm>
          <a:prstGeom prst="rect">
            <a:avLst/>
          </a:prstGeom>
          <a:noFill/>
          <a:ln/>
        </p:spPr>
        <p:txBody>
          <a:bodyPr wrap="square" lIns="0" tIns="0" rIns="0" bIns="0" rtlCol="0" anchor="ctr"/>
          <a:lstStyle/>
          <a:p>
            <a:pPr indent="0" marL="0">
              <a:buNone/>
            </a:pPr>
            <a:r>
              <a:rPr lang="en-US" sz="1700" b="1" dirty="0">
                <a:solidFill>
                  <a:srgbClr val="106838"/>
                </a:solidFill>
                <a:latin typeface="Arial" pitchFamily="34" charset="0"/>
                <a:ea typeface="Arial" pitchFamily="34" charset="-122"/>
                <a:cs typeface="Arial" pitchFamily="34" charset="-120"/>
              </a:rPr>
              <a:t>100万円</a:t>
            </a:r>
            <a:endParaRPr lang="en-US" sz="1700" dirty="0"/>
          </a:p>
        </p:txBody>
      </p:sp>
      <p:sp>
        <p:nvSpPr>
          <p:cNvPr id="26" name="Shape 22"/>
          <p:cNvSpPr/>
          <p:nvPr/>
        </p:nvSpPr>
        <p:spPr>
          <a:xfrm>
            <a:off x="3560902" y="4138574"/>
            <a:ext cx="2443505" cy="1664208"/>
          </a:xfrm>
          <a:prstGeom prst="roundRect">
            <a:avLst>
              <a:gd name="adj" fmla="val 3297"/>
            </a:avLst>
          </a:prstGeom>
          <a:solidFill>
            <a:srgbClr val="F1F8F3"/>
          </a:solidFill>
          <a:ln w="9525">
            <a:solidFill>
              <a:srgbClr val="D2E7DA"/>
            </a:solidFill>
            <a:prstDash val="solid"/>
          </a:ln>
        </p:spPr>
      </p:sp>
      <p:pic>
        <p:nvPicPr>
          <p:cNvPr id="27" name="Image 2" descr="/home/user/suzuki-ceo/selfcafe-partner-deck/assets/icons/LuHammer-green.png">    </p:cNvPr>
          <p:cNvPicPr>
            <a:picLocks noChangeAspect="1"/>
          </p:cNvPicPr>
          <p:nvPr/>
        </p:nvPicPr>
        <p:blipFill>
          <a:blip r:embed="rId3"/>
          <a:stretch>
            <a:fillRect/>
          </a:stretch>
        </p:blipFill>
        <p:spPr>
          <a:xfrm>
            <a:off x="3762070" y="4321454"/>
            <a:ext cx="292608" cy="292608"/>
          </a:xfrm>
          <a:prstGeom prst="rect">
            <a:avLst/>
          </a:prstGeom>
        </p:spPr>
      </p:pic>
      <p:sp>
        <p:nvSpPr>
          <p:cNvPr id="28" name="Text 23"/>
          <p:cNvSpPr/>
          <p:nvPr/>
        </p:nvSpPr>
        <p:spPr>
          <a:xfrm>
            <a:off x="3762070" y="4687214"/>
            <a:ext cx="2041169" cy="23774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出店工事費用</a:t>
            </a:r>
            <a:endParaRPr lang="en-US" sz="1050" dirty="0"/>
          </a:p>
        </p:txBody>
      </p:sp>
      <p:sp>
        <p:nvSpPr>
          <p:cNvPr id="29" name="Text 24"/>
          <p:cNvSpPr/>
          <p:nvPr/>
        </p:nvSpPr>
        <p:spPr>
          <a:xfrm>
            <a:off x="3762070" y="4924958"/>
            <a:ext cx="2041169" cy="329184"/>
          </a:xfrm>
          <a:prstGeom prst="rect">
            <a:avLst/>
          </a:prstGeom>
          <a:noFill/>
          <a:ln/>
        </p:spPr>
        <p:txBody>
          <a:bodyPr wrap="square" lIns="0" tIns="0" rIns="0" bIns="0" rtlCol="0" anchor="ctr"/>
          <a:lstStyle/>
          <a:p>
            <a:pPr indent="0" marL="0">
              <a:buNone/>
            </a:pPr>
            <a:r>
              <a:rPr lang="en-US" sz="1700" b="1" dirty="0">
                <a:solidFill>
                  <a:srgbClr val="106838"/>
                </a:solidFill>
                <a:latin typeface="Arial" pitchFamily="34" charset="0"/>
                <a:ea typeface="Arial" pitchFamily="34" charset="-122"/>
                <a:cs typeface="Arial" pitchFamily="34" charset="-120"/>
              </a:rPr>
              <a:t>400万円〜</a:t>
            </a:r>
            <a:endParaRPr lang="en-US" sz="1700" dirty="0"/>
          </a:p>
        </p:txBody>
      </p:sp>
      <p:sp>
        <p:nvSpPr>
          <p:cNvPr id="30" name="Text 25"/>
          <p:cNvSpPr/>
          <p:nvPr/>
        </p:nvSpPr>
        <p:spPr>
          <a:xfrm>
            <a:off x="3762070" y="5272430"/>
            <a:ext cx="2041169" cy="457200"/>
          </a:xfrm>
          <a:prstGeom prst="rect">
            <a:avLst/>
          </a:prstGeom>
          <a:noFill/>
          <a:ln/>
        </p:spPr>
        <p:txBody>
          <a:bodyPr wrap="square" lIns="0" tIns="0" rIns="0" bIns="0" rtlCol="0" anchor="t"/>
          <a:lstStyle/>
          <a:p>
            <a:pPr indent="0" marL="0">
              <a:lnSpc>
                <a:spcPct val="125000"/>
              </a:lnSpc>
              <a:buNone/>
            </a:pPr>
            <a:r>
              <a:rPr lang="en-US" sz="850" dirty="0">
                <a:solidFill>
                  <a:srgbClr val="7E8882"/>
                </a:solidFill>
                <a:latin typeface="Yu Gothic" pitchFamily="34" charset="0"/>
                <a:ea typeface="Yu Gothic" pitchFamily="34" charset="-122"/>
                <a:cs typeface="Yu Gothic" pitchFamily="34" charset="-120"/>
              </a:rPr>
              <a:t>設備・電気・大工・内装工事等</a:t>
            </a:r>
            <a:endParaRPr lang="en-US" sz="850" dirty="0"/>
          </a:p>
        </p:txBody>
      </p:sp>
      <p:sp>
        <p:nvSpPr>
          <p:cNvPr id="31" name="Shape 26"/>
          <p:cNvSpPr/>
          <p:nvPr/>
        </p:nvSpPr>
        <p:spPr>
          <a:xfrm>
            <a:off x="6187288" y="4138574"/>
            <a:ext cx="2443505" cy="1664208"/>
          </a:xfrm>
          <a:prstGeom prst="roundRect">
            <a:avLst>
              <a:gd name="adj" fmla="val 3297"/>
            </a:avLst>
          </a:prstGeom>
          <a:solidFill>
            <a:srgbClr val="F1F8F3"/>
          </a:solidFill>
          <a:ln w="9525">
            <a:solidFill>
              <a:srgbClr val="D2E7DA"/>
            </a:solidFill>
            <a:prstDash val="solid"/>
          </a:ln>
        </p:spPr>
      </p:sp>
      <p:pic>
        <p:nvPicPr>
          <p:cNvPr id="32" name="Image 3" descr="/home/user/suzuki-ceo/selfcafe-partner-deck/assets/icons/LuStore-green.png">    </p:cNvPr>
          <p:cNvPicPr>
            <a:picLocks noChangeAspect="1"/>
          </p:cNvPicPr>
          <p:nvPr/>
        </p:nvPicPr>
        <p:blipFill>
          <a:blip r:embed="rId4"/>
          <a:stretch>
            <a:fillRect/>
          </a:stretch>
        </p:blipFill>
        <p:spPr>
          <a:xfrm>
            <a:off x="6388456" y="4321454"/>
            <a:ext cx="292608" cy="292608"/>
          </a:xfrm>
          <a:prstGeom prst="rect">
            <a:avLst/>
          </a:prstGeom>
        </p:spPr>
      </p:pic>
      <p:sp>
        <p:nvSpPr>
          <p:cNvPr id="33" name="Text 27"/>
          <p:cNvSpPr/>
          <p:nvPr/>
        </p:nvSpPr>
        <p:spPr>
          <a:xfrm>
            <a:off x="6388456" y="4687214"/>
            <a:ext cx="2041169" cy="23774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出店準備金</a:t>
            </a:r>
            <a:endParaRPr lang="en-US" sz="1050" dirty="0"/>
          </a:p>
        </p:txBody>
      </p:sp>
      <p:sp>
        <p:nvSpPr>
          <p:cNvPr id="34" name="Text 28"/>
          <p:cNvSpPr/>
          <p:nvPr/>
        </p:nvSpPr>
        <p:spPr>
          <a:xfrm>
            <a:off x="6388456" y="4924958"/>
            <a:ext cx="2041169" cy="329184"/>
          </a:xfrm>
          <a:prstGeom prst="rect">
            <a:avLst/>
          </a:prstGeom>
          <a:noFill/>
          <a:ln/>
        </p:spPr>
        <p:txBody>
          <a:bodyPr wrap="square" lIns="0" tIns="0" rIns="0" bIns="0" rtlCol="0" anchor="ctr"/>
          <a:lstStyle/>
          <a:p>
            <a:pPr indent="0" marL="0">
              <a:buNone/>
            </a:pPr>
            <a:r>
              <a:rPr lang="en-US" sz="1700" b="1" dirty="0">
                <a:solidFill>
                  <a:srgbClr val="106838"/>
                </a:solidFill>
                <a:latin typeface="Arial" pitchFamily="34" charset="0"/>
                <a:ea typeface="Arial" pitchFamily="34" charset="-122"/>
                <a:cs typeface="Arial" pitchFamily="34" charset="-120"/>
              </a:rPr>
              <a:t>100万円〜</a:t>
            </a:r>
            <a:endParaRPr lang="en-US" sz="1700" dirty="0"/>
          </a:p>
        </p:txBody>
      </p:sp>
      <p:sp>
        <p:nvSpPr>
          <p:cNvPr id="35" name="Text 29"/>
          <p:cNvSpPr/>
          <p:nvPr/>
        </p:nvSpPr>
        <p:spPr>
          <a:xfrm>
            <a:off x="6388456" y="5272430"/>
            <a:ext cx="2041169" cy="457200"/>
          </a:xfrm>
          <a:prstGeom prst="rect">
            <a:avLst/>
          </a:prstGeom>
          <a:noFill/>
          <a:ln/>
        </p:spPr>
        <p:txBody>
          <a:bodyPr wrap="square" lIns="0" tIns="0" rIns="0" bIns="0" rtlCol="0" anchor="t"/>
          <a:lstStyle/>
          <a:p>
            <a:pPr indent="0" marL="0">
              <a:lnSpc>
                <a:spcPct val="125000"/>
              </a:lnSpc>
              <a:buNone/>
            </a:pPr>
            <a:r>
              <a:rPr lang="en-US" sz="850" dirty="0">
                <a:solidFill>
                  <a:srgbClr val="7E8882"/>
                </a:solidFill>
                <a:latin typeface="Yu Gothic" pitchFamily="34" charset="0"/>
                <a:ea typeface="Yu Gothic" pitchFamily="34" charset="-122"/>
                <a:cs typeface="Yu Gothic" pitchFamily="34" charset="-120"/>
              </a:rPr>
              <a:t>カメラ・モニター・机・椅子等の備品類</a:t>
            </a:r>
            <a:endParaRPr lang="en-US" sz="850" dirty="0"/>
          </a:p>
        </p:txBody>
      </p:sp>
      <p:sp>
        <p:nvSpPr>
          <p:cNvPr id="36" name="Shape 30"/>
          <p:cNvSpPr/>
          <p:nvPr/>
        </p:nvSpPr>
        <p:spPr>
          <a:xfrm>
            <a:off x="8813673" y="4138574"/>
            <a:ext cx="2443505" cy="1664208"/>
          </a:xfrm>
          <a:prstGeom prst="roundRect">
            <a:avLst>
              <a:gd name="adj" fmla="val 3297"/>
            </a:avLst>
          </a:prstGeom>
          <a:solidFill>
            <a:srgbClr val="F1F8F3"/>
          </a:solidFill>
          <a:ln w="9525">
            <a:solidFill>
              <a:srgbClr val="D2E7DA"/>
            </a:solidFill>
            <a:prstDash val="solid"/>
          </a:ln>
        </p:spPr>
      </p:sp>
      <p:pic>
        <p:nvPicPr>
          <p:cNvPr id="37" name="Image 4" descr="/home/user/suzuki-ceo/selfcafe-partner-deck/assets/icons/LuReceipt-green.png">    </p:cNvPr>
          <p:cNvPicPr>
            <a:picLocks noChangeAspect="1"/>
          </p:cNvPicPr>
          <p:nvPr/>
        </p:nvPicPr>
        <p:blipFill>
          <a:blip r:embed="rId5"/>
          <a:stretch>
            <a:fillRect/>
          </a:stretch>
        </p:blipFill>
        <p:spPr>
          <a:xfrm>
            <a:off x="9014841" y="4321454"/>
            <a:ext cx="292608" cy="292608"/>
          </a:xfrm>
          <a:prstGeom prst="rect">
            <a:avLst/>
          </a:prstGeom>
        </p:spPr>
      </p:pic>
      <p:sp>
        <p:nvSpPr>
          <p:cNvPr id="38" name="Text 31"/>
          <p:cNvSpPr/>
          <p:nvPr/>
        </p:nvSpPr>
        <p:spPr>
          <a:xfrm>
            <a:off x="9014841" y="4687214"/>
            <a:ext cx="2041169" cy="23774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別途保証金</a:t>
            </a:r>
            <a:endParaRPr lang="en-US" sz="1050" dirty="0"/>
          </a:p>
        </p:txBody>
      </p:sp>
      <p:sp>
        <p:nvSpPr>
          <p:cNvPr id="39" name="Text 32"/>
          <p:cNvSpPr/>
          <p:nvPr/>
        </p:nvSpPr>
        <p:spPr>
          <a:xfrm>
            <a:off x="9014841" y="4924958"/>
            <a:ext cx="2041169" cy="329184"/>
          </a:xfrm>
          <a:prstGeom prst="rect">
            <a:avLst/>
          </a:prstGeom>
          <a:noFill/>
          <a:ln/>
        </p:spPr>
        <p:txBody>
          <a:bodyPr wrap="square" lIns="0" tIns="0" rIns="0" bIns="0" rtlCol="0" anchor="ctr"/>
          <a:lstStyle/>
          <a:p>
            <a:pPr indent="0" marL="0">
              <a:buNone/>
            </a:pPr>
            <a:r>
              <a:rPr lang="en-US" sz="1700" b="1" dirty="0">
                <a:solidFill>
                  <a:srgbClr val="106838"/>
                </a:solidFill>
                <a:latin typeface="Arial" pitchFamily="34" charset="0"/>
                <a:ea typeface="Arial" pitchFamily="34" charset="-122"/>
                <a:cs typeface="Arial" pitchFamily="34" charset="-120"/>
              </a:rPr>
              <a:t>50万円〜</a:t>
            </a:r>
            <a:endParaRPr lang="en-US" sz="1700" dirty="0"/>
          </a:p>
        </p:txBody>
      </p:sp>
      <p:sp>
        <p:nvSpPr>
          <p:cNvPr id="40" name="Text 33"/>
          <p:cNvSpPr/>
          <p:nvPr/>
        </p:nvSpPr>
        <p:spPr>
          <a:xfrm>
            <a:off x="9014841" y="5272430"/>
            <a:ext cx="2041169" cy="457200"/>
          </a:xfrm>
          <a:prstGeom prst="rect">
            <a:avLst/>
          </a:prstGeom>
          <a:noFill/>
          <a:ln/>
        </p:spPr>
        <p:txBody>
          <a:bodyPr wrap="square" lIns="0" tIns="0" rIns="0" bIns="0" rtlCol="0" anchor="t"/>
          <a:lstStyle/>
          <a:p>
            <a:pPr indent="0" marL="0">
              <a:lnSpc>
                <a:spcPct val="125000"/>
              </a:lnSpc>
              <a:buNone/>
            </a:pPr>
            <a:r>
              <a:rPr lang="en-US" sz="850" dirty="0">
                <a:solidFill>
                  <a:srgbClr val="7E8882"/>
                </a:solidFill>
                <a:latin typeface="Yu Gothic" pitchFamily="34" charset="0"/>
                <a:ea typeface="Yu Gothic" pitchFamily="34" charset="-122"/>
                <a:cs typeface="Yu Gothic" pitchFamily="34" charset="-120"/>
              </a:rPr>
              <a:t>預り金。原料やロイヤリティの支払い確認が取れない場合に差し引き</a:t>
            </a:r>
            <a:endParaRPr lang="en-US" sz="850" dirty="0"/>
          </a:p>
        </p:txBody>
      </p:sp>
      <p:sp>
        <p:nvSpPr>
          <p:cNvPr id="41" name="Text 34"/>
          <p:cNvSpPr/>
          <p:nvPr/>
        </p:nvSpPr>
        <p:spPr>
          <a:xfrm>
            <a:off x="660197" y="610819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金額は目安です。物件条件・工事範囲により変動します。</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19</a:t>
            </a:r>
            <a:r>
              <a:rPr lang="en-US" sz="1050" b="1" dirty="0">
                <a:solidFill>
                  <a:srgbClr val="1B8149"/>
                </a:solidFill>
                <a:latin typeface="Yu Gothic" pitchFamily="34" charset="0"/>
                <a:ea typeface="Yu Gothic" pitchFamily="34" charset="-122"/>
                <a:cs typeface="Yu Gothic" pitchFamily="34" charset="-120"/>
              </a:rPr>
              <a:t>   収益</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収益シミュレーション ／ 20坪（40席）</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月次の収支イメージです。売上から諸経費を差し引いた償却前営業利益を示しています。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20</a:t>
            </a:r>
            <a:endParaRPr lang="en-US" sz="1000" dirty="0"/>
          </a:p>
        </p:txBody>
      </p:sp>
      <p:sp>
        <p:nvSpPr>
          <p:cNvPr id="9" name="Shape 6"/>
          <p:cNvSpPr/>
          <p:nvPr/>
        </p:nvSpPr>
        <p:spPr>
          <a:xfrm>
            <a:off x="660197" y="1651406"/>
            <a:ext cx="7223760" cy="530352"/>
          </a:xfrm>
          <a:prstGeom prst="roundRect">
            <a:avLst>
              <a:gd name="adj" fmla="val 8621"/>
            </a:avLst>
          </a:prstGeom>
          <a:solidFill>
            <a:srgbClr val="0C5230"/>
          </a:solidFill>
          <a:ln/>
        </p:spPr>
      </p:sp>
      <p:sp>
        <p:nvSpPr>
          <p:cNvPr id="10" name="Text 7"/>
          <p:cNvSpPr/>
          <p:nvPr/>
        </p:nvSpPr>
        <p:spPr>
          <a:xfrm>
            <a:off x="897941" y="1651406"/>
            <a:ext cx="1463040" cy="530352"/>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売上高</a:t>
            </a:r>
            <a:endParaRPr lang="en-US" sz="1200" dirty="0"/>
          </a:p>
        </p:txBody>
      </p:sp>
      <p:sp>
        <p:nvSpPr>
          <p:cNvPr id="11" name="Text 8"/>
          <p:cNvSpPr/>
          <p:nvPr/>
        </p:nvSpPr>
        <p:spPr>
          <a:xfrm>
            <a:off x="2397557" y="1651406"/>
            <a:ext cx="3291840" cy="530352"/>
          </a:xfrm>
          <a:prstGeom prst="rect">
            <a:avLst/>
          </a:prstGeom>
          <a:noFill/>
          <a:ln/>
        </p:spPr>
        <p:txBody>
          <a:bodyPr wrap="square" lIns="0" tIns="0" rIns="0" bIns="0" rtlCol="0" anchor="ctr"/>
          <a:lstStyle/>
          <a:p>
            <a:pPr indent="0" marL="0">
              <a:buNone/>
            </a:pPr>
            <a:r>
              <a:rPr lang="en-US" sz="950" dirty="0">
                <a:solidFill>
                  <a:srgbClr val="AFC2B8"/>
                </a:solidFill>
                <a:latin typeface="Yu Gothic" pitchFamily="34" charset="0"/>
                <a:ea typeface="Yu Gothic" pitchFamily="34" charset="-122"/>
                <a:cs typeface="Yu Gothic" pitchFamily="34" charset="-120"/>
              </a:rPr>
              <a:t>1杯420円 × 75杯 × 30日</a:t>
            </a:r>
            <a:endParaRPr lang="en-US" sz="950" dirty="0"/>
          </a:p>
        </p:txBody>
      </p:sp>
      <p:sp>
        <p:nvSpPr>
          <p:cNvPr id="12" name="Text 9"/>
          <p:cNvSpPr/>
          <p:nvPr/>
        </p:nvSpPr>
        <p:spPr>
          <a:xfrm>
            <a:off x="5689397" y="1651406"/>
            <a:ext cx="1956816" cy="530352"/>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945,000円</a:t>
            </a:r>
            <a:endParaRPr lang="en-US" sz="1800" dirty="0"/>
          </a:p>
        </p:txBody>
      </p:sp>
      <p:sp>
        <p:nvSpPr>
          <p:cNvPr id="13" name="Text 10"/>
          <p:cNvSpPr/>
          <p:nvPr/>
        </p:nvSpPr>
        <p:spPr>
          <a:xfrm>
            <a:off x="751637" y="2291486"/>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ドリンク原料</a:t>
            </a:r>
            <a:endParaRPr lang="en-US" sz="1050" dirty="0"/>
          </a:p>
        </p:txBody>
      </p:sp>
      <p:sp>
        <p:nvSpPr>
          <p:cNvPr id="14" name="Text 11"/>
          <p:cNvSpPr/>
          <p:nvPr/>
        </p:nvSpPr>
        <p:spPr>
          <a:xfrm>
            <a:off x="2397557" y="2291486"/>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原料・カップ等（20%）</a:t>
            </a:r>
            <a:endParaRPr lang="en-US" sz="900" dirty="0"/>
          </a:p>
        </p:txBody>
      </p:sp>
      <p:sp>
        <p:nvSpPr>
          <p:cNvPr id="15" name="Text 12"/>
          <p:cNvSpPr/>
          <p:nvPr/>
        </p:nvSpPr>
        <p:spPr>
          <a:xfrm>
            <a:off x="5689397" y="2291486"/>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-189,000円</a:t>
            </a:r>
            <a:endParaRPr lang="en-US" sz="1200" dirty="0"/>
          </a:p>
        </p:txBody>
      </p:sp>
      <p:sp>
        <p:nvSpPr>
          <p:cNvPr id="16" name="Shape 13"/>
          <p:cNvSpPr/>
          <p:nvPr/>
        </p:nvSpPr>
        <p:spPr>
          <a:xfrm>
            <a:off x="751637" y="2638958"/>
            <a:ext cx="7040880" cy="10058"/>
          </a:xfrm>
          <a:prstGeom prst="rect">
            <a:avLst/>
          </a:prstGeom>
          <a:solidFill>
            <a:srgbClr val="EFEAE0"/>
          </a:solidFill>
          <a:ln/>
        </p:spPr>
      </p:sp>
      <p:sp>
        <p:nvSpPr>
          <p:cNvPr id="17" name="Text 14"/>
          <p:cNvSpPr/>
          <p:nvPr/>
        </p:nvSpPr>
        <p:spPr>
          <a:xfrm>
            <a:off x="751637" y="2675534"/>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家賃</a:t>
            </a:r>
            <a:endParaRPr lang="en-US" sz="1050" dirty="0"/>
          </a:p>
        </p:txBody>
      </p:sp>
      <p:sp>
        <p:nvSpPr>
          <p:cNvPr id="18" name="Text 15"/>
          <p:cNvSpPr/>
          <p:nvPr/>
        </p:nvSpPr>
        <p:spPr>
          <a:xfrm>
            <a:off x="2397557" y="2675534"/>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仮定坪単価：10,000円</a:t>
            </a:r>
            <a:endParaRPr lang="en-US" sz="900" dirty="0"/>
          </a:p>
        </p:txBody>
      </p:sp>
      <p:sp>
        <p:nvSpPr>
          <p:cNvPr id="19" name="Text 16"/>
          <p:cNvSpPr/>
          <p:nvPr/>
        </p:nvSpPr>
        <p:spPr>
          <a:xfrm>
            <a:off x="5689397" y="2675534"/>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-200,000円</a:t>
            </a:r>
            <a:endParaRPr lang="en-US" sz="1200" dirty="0"/>
          </a:p>
        </p:txBody>
      </p:sp>
      <p:sp>
        <p:nvSpPr>
          <p:cNvPr id="20" name="Shape 17"/>
          <p:cNvSpPr/>
          <p:nvPr/>
        </p:nvSpPr>
        <p:spPr>
          <a:xfrm>
            <a:off x="751637" y="3023006"/>
            <a:ext cx="7040880" cy="10058"/>
          </a:xfrm>
          <a:prstGeom prst="rect">
            <a:avLst/>
          </a:prstGeom>
          <a:solidFill>
            <a:srgbClr val="EFEAE0"/>
          </a:solidFill>
          <a:ln/>
        </p:spPr>
      </p:sp>
      <p:sp>
        <p:nvSpPr>
          <p:cNvPr id="21" name="Text 18"/>
          <p:cNvSpPr/>
          <p:nvPr/>
        </p:nvSpPr>
        <p:spPr>
          <a:xfrm>
            <a:off x="751637" y="3059582"/>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清掃費</a:t>
            </a:r>
            <a:endParaRPr lang="en-US" sz="1050" dirty="0"/>
          </a:p>
        </p:txBody>
      </p:sp>
      <p:sp>
        <p:nvSpPr>
          <p:cNvPr id="22" name="Text 19"/>
          <p:cNvSpPr/>
          <p:nvPr/>
        </p:nvSpPr>
        <p:spPr>
          <a:xfrm>
            <a:off x="2397557" y="3059582"/>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清掃パートナー様への報酬</a:t>
            </a:r>
            <a:endParaRPr lang="en-US" sz="900" dirty="0"/>
          </a:p>
        </p:txBody>
      </p:sp>
      <p:sp>
        <p:nvSpPr>
          <p:cNvPr id="23" name="Text 20"/>
          <p:cNvSpPr/>
          <p:nvPr/>
        </p:nvSpPr>
        <p:spPr>
          <a:xfrm>
            <a:off x="5689397" y="3059582"/>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-30,000円</a:t>
            </a:r>
            <a:endParaRPr lang="en-US" sz="1200" dirty="0"/>
          </a:p>
        </p:txBody>
      </p:sp>
      <p:sp>
        <p:nvSpPr>
          <p:cNvPr id="24" name="Shape 21"/>
          <p:cNvSpPr/>
          <p:nvPr/>
        </p:nvSpPr>
        <p:spPr>
          <a:xfrm>
            <a:off x="751637" y="3407054"/>
            <a:ext cx="7040880" cy="10058"/>
          </a:xfrm>
          <a:prstGeom prst="rect">
            <a:avLst/>
          </a:prstGeom>
          <a:solidFill>
            <a:srgbClr val="EFEAE0"/>
          </a:solidFill>
          <a:ln/>
        </p:spPr>
      </p:sp>
      <p:sp>
        <p:nvSpPr>
          <p:cNvPr id="25" name="Text 22"/>
          <p:cNvSpPr/>
          <p:nvPr/>
        </p:nvSpPr>
        <p:spPr>
          <a:xfrm>
            <a:off x="751637" y="3443630"/>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水道光熱費</a:t>
            </a:r>
            <a:endParaRPr lang="en-US" sz="1050" dirty="0"/>
          </a:p>
        </p:txBody>
      </p:sp>
      <p:sp>
        <p:nvSpPr>
          <p:cNvPr id="26" name="Text 23"/>
          <p:cNvSpPr/>
          <p:nvPr/>
        </p:nvSpPr>
        <p:spPr>
          <a:xfrm>
            <a:off x="2397557" y="3443630"/>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水道9,000円／光熱71,000円（24H営業想定）</a:t>
            </a:r>
            <a:endParaRPr lang="en-US" sz="900" dirty="0"/>
          </a:p>
        </p:txBody>
      </p:sp>
      <p:sp>
        <p:nvSpPr>
          <p:cNvPr id="27" name="Text 24"/>
          <p:cNvSpPr/>
          <p:nvPr/>
        </p:nvSpPr>
        <p:spPr>
          <a:xfrm>
            <a:off x="5689397" y="3443630"/>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-80,000円</a:t>
            </a:r>
            <a:endParaRPr lang="en-US" sz="1200" dirty="0"/>
          </a:p>
        </p:txBody>
      </p:sp>
      <p:sp>
        <p:nvSpPr>
          <p:cNvPr id="28" name="Shape 25"/>
          <p:cNvSpPr/>
          <p:nvPr/>
        </p:nvSpPr>
        <p:spPr>
          <a:xfrm>
            <a:off x="751637" y="3791102"/>
            <a:ext cx="7040880" cy="10058"/>
          </a:xfrm>
          <a:prstGeom prst="rect">
            <a:avLst/>
          </a:prstGeom>
          <a:solidFill>
            <a:srgbClr val="EFEAE0"/>
          </a:solidFill>
          <a:ln/>
        </p:spPr>
      </p:sp>
      <p:sp>
        <p:nvSpPr>
          <p:cNvPr id="29" name="Text 26"/>
          <p:cNvSpPr/>
          <p:nvPr/>
        </p:nvSpPr>
        <p:spPr>
          <a:xfrm>
            <a:off x="751637" y="3827678"/>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機械使用料</a:t>
            </a:r>
            <a:endParaRPr lang="en-US" sz="1050" dirty="0"/>
          </a:p>
        </p:txBody>
      </p:sp>
      <p:sp>
        <p:nvSpPr>
          <p:cNvPr id="30" name="Text 27"/>
          <p:cNvSpPr/>
          <p:nvPr/>
        </p:nvSpPr>
        <p:spPr>
          <a:xfrm>
            <a:off x="2397557" y="3827678"/>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ドリンクマシン×2台、決済端末×2台</a:t>
            </a:r>
            <a:endParaRPr lang="en-US" sz="900" dirty="0"/>
          </a:p>
        </p:txBody>
      </p:sp>
      <p:sp>
        <p:nvSpPr>
          <p:cNvPr id="31" name="Text 28"/>
          <p:cNvSpPr/>
          <p:nvPr/>
        </p:nvSpPr>
        <p:spPr>
          <a:xfrm>
            <a:off x="5689397" y="3827678"/>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-86,000円</a:t>
            </a:r>
            <a:endParaRPr lang="en-US" sz="1200" dirty="0"/>
          </a:p>
        </p:txBody>
      </p:sp>
      <p:sp>
        <p:nvSpPr>
          <p:cNvPr id="32" name="Shape 29"/>
          <p:cNvSpPr/>
          <p:nvPr/>
        </p:nvSpPr>
        <p:spPr>
          <a:xfrm>
            <a:off x="751637" y="4175150"/>
            <a:ext cx="7040880" cy="10058"/>
          </a:xfrm>
          <a:prstGeom prst="rect">
            <a:avLst/>
          </a:prstGeom>
          <a:solidFill>
            <a:srgbClr val="EFEAE0"/>
          </a:solidFill>
          <a:ln/>
        </p:spPr>
      </p:sp>
      <p:sp>
        <p:nvSpPr>
          <p:cNvPr id="33" name="Text 30"/>
          <p:cNvSpPr/>
          <p:nvPr/>
        </p:nvSpPr>
        <p:spPr>
          <a:xfrm>
            <a:off x="751637" y="4211726"/>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セキュリティ費</a:t>
            </a:r>
            <a:endParaRPr lang="en-US" sz="1050" dirty="0"/>
          </a:p>
        </p:txBody>
      </p:sp>
      <p:sp>
        <p:nvSpPr>
          <p:cNvPr id="34" name="Text 31"/>
          <p:cNvSpPr/>
          <p:nvPr/>
        </p:nvSpPr>
        <p:spPr>
          <a:xfrm>
            <a:off x="2397557" y="4211726"/>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警備会社への委託料</a:t>
            </a:r>
            <a:endParaRPr lang="en-US" sz="900" dirty="0"/>
          </a:p>
        </p:txBody>
      </p:sp>
      <p:sp>
        <p:nvSpPr>
          <p:cNvPr id="35" name="Text 32"/>
          <p:cNvSpPr/>
          <p:nvPr/>
        </p:nvSpPr>
        <p:spPr>
          <a:xfrm>
            <a:off x="5689397" y="4211726"/>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-20,000円</a:t>
            </a:r>
            <a:endParaRPr lang="en-US" sz="1200" dirty="0"/>
          </a:p>
        </p:txBody>
      </p:sp>
      <p:sp>
        <p:nvSpPr>
          <p:cNvPr id="36" name="Shape 33"/>
          <p:cNvSpPr/>
          <p:nvPr/>
        </p:nvSpPr>
        <p:spPr>
          <a:xfrm>
            <a:off x="751637" y="4559198"/>
            <a:ext cx="7040880" cy="10058"/>
          </a:xfrm>
          <a:prstGeom prst="rect">
            <a:avLst/>
          </a:prstGeom>
          <a:solidFill>
            <a:srgbClr val="EFEAE0"/>
          </a:solidFill>
          <a:ln/>
        </p:spPr>
      </p:sp>
      <p:sp>
        <p:nvSpPr>
          <p:cNvPr id="37" name="Text 34"/>
          <p:cNvSpPr/>
          <p:nvPr/>
        </p:nvSpPr>
        <p:spPr>
          <a:xfrm>
            <a:off x="751637" y="4595774"/>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ロイヤリティ</a:t>
            </a:r>
            <a:endParaRPr lang="en-US" sz="1050" dirty="0"/>
          </a:p>
        </p:txBody>
      </p:sp>
      <p:sp>
        <p:nvSpPr>
          <p:cNvPr id="38" name="Text 35"/>
          <p:cNvSpPr/>
          <p:nvPr/>
        </p:nvSpPr>
        <p:spPr>
          <a:xfrm>
            <a:off x="2397557" y="4595774"/>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一律5万円</a:t>
            </a:r>
            <a:endParaRPr lang="en-US" sz="900" dirty="0"/>
          </a:p>
        </p:txBody>
      </p:sp>
      <p:sp>
        <p:nvSpPr>
          <p:cNvPr id="39" name="Text 36"/>
          <p:cNvSpPr/>
          <p:nvPr/>
        </p:nvSpPr>
        <p:spPr>
          <a:xfrm>
            <a:off x="5689397" y="4595774"/>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-50,000円</a:t>
            </a:r>
            <a:endParaRPr lang="en-US" sz="1200" dirty="0"/>
          </a:p>
        </p:txBody>
      </p:sp>
      <p:sp>
        <p:nvSpPr>
          <p:cNvPr id="40" name="Shape 37"/>
          <p:cNvSpPr/>
          <p:nvPr/>
        </p:nvSpPr>
        <p:spPr>
          <a:xfrm>
            <a:off x="751637" y="4943246"/>
            <a:ext cx="7040880" cy="10058"/>
          </a:xfrm>
          <a:prstGeom prst="rect">
            <a:avLst/>
          </a:prstGeom>
          <a:solidFill>
            <a:srgbClr val="EFEAE0"/>
          </a:solidFill>
          <a:ln/>
        </p:spPr>
      </p:sp>
      <p:sp>
        <p:nvSpPr>
          <p:cNvPr id="41" name="Text 38"/>
          <p:cNvSpPr/>
          <p:nvPr/>
        </p:nvSpPr>
        <p:spPr>
          <a:xfrm>
            <a:off x="751637" y="4979822"/>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雑費</a:t>
            </a:r>
            <a:endParaRPr lang="en-US" sz="1050" dirty="0"/>
          </a:p>
        </p:txBody>
      </p:sp>
      <p:sp>
        <p:nvSpPr>
          <p:cNvPr id="42" name="Text 39"/>
          <p:cNvSpPr/>
          <p:nvPr/>
        </p:nvSpPr>
        <p:spPr>
          <a:xfrm>
            <a:off x="2397557" y="4979822"/>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ゴミ回収・防犯カメラ・クラウド利用料等</a:t>
            </a:r>
            <a:endParaRPr lang="en-US" sz="900" dirty="0"/>
          </a:p>
        </p:txBody>
      </p:sp>
      <p:sp>
        <p:nvSpPr>
          <p:cNvPr id="43" name="Text 40"/>
          <p:cNvSpPr/>
          <p:nvPr/>
        </p:nvSpPr>
        <p:spPr>
          <a:xfrm>
            <a:off x="5689397" y="4979822"/>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-20,000円</a:t>
            </a:r>
            <a:endParaRPr lang="en-US" sz="1200" dirty="0"/>
          </a:p>
        </p:txBody>
      </p:sp>
      <p:sp>
        <p:nvSpPr>
          <p:cNvPr id="44" name="Shape 41"/>
          <p:cNvSpPr/>
          <p:nvPr/>
        </p:nvSpPr>
        <p:spPr>
          <a:xfrm>
            <a:off x="751637" y="5327294"/>
            <a:ext cx="7040880" cy="10058"/>
          </a:xfrm>
          <a:prstGeom prst="rect">
            <a:avLst/>
          </a:prstGeom>
          <a:solidFill>
            <a:srgbClr val="EFEAE0"/>
          </a:solidFill>
          <a:ln/>
        </p:spPr>
      </p:sp>
      <p:sp>
        <p:nvSpPr>
          <p:cNvPr id="45" name="Shape 42"/>
          <p:cNvSpPr/>
          <p:nvPr/>
        </p:nvSpPr>
        <p:spPr>
          <a:xfrm>
            <a:off x="660197" y="5491886"/>
            <a:ext cx="7223760" cy="585216"/>
          </a:xfrm>
          <a:prstGeom prst="roundRect">
            <a:avLst>
              <a:gd name="adj" fmla="val 7813"/>
            </a:avLst>
          </a:prstGeom>
          <a:solidFill>
            <a:srgbClr val="F1F8F3"/>
          </a:solidFill>
          <a:ln w="9525">
            <a:solidFill>
              <a:srgbClr val="D2E7DA"/>
            </a:solidFill>
            <a:prstDash val="solid"/>
          </a:ln>
        </p:spPr>
      </p:sp>
      <p:sp>
        <p:nvSpPr>
          <p:cNvPr id="46" name="Text 43"/>
          <p:cNvSpPr/>
          <p:nvPr/>
        </p:nvSpPr>
        <p:spPr>
          <a:xfrm>
            <a:off x="897941" y="5491886"/>
            <a:ext cx="2743200" cy="585216"/>
          </a:xfrm>
          <a:prstGeom prst="rect">
            <a:avLst/>
          </a:prstGeom>
          <a:noFill/>
          <a:ln/>
        </p:spPr>
        <p:txBody>
          <a:bodyPr wrap="square" lIns="0" tIns="0" rIns="0" bIns="0" rtlCol="0" anchor="ctr"/>
          <a:lstStyle/>
          <a:p>
            <a:pPr indent="0" marL="0">
              <a:buNone/>
            </a:pPr>
            <a:r>
              <a:rPr lang="en-US" sz="1300" b="1" dirty="0">
                <a:solidFill>
                  <a:srgbClr val="106838"/>
                </a:solidFill>
                <a:latin typeface="Yu Gothic" pitchFamily="34" charset="0"/>
                <a:ea typeface="Yu Gothic" pitchFamily="34" charset="-122"/>
                <a:cs typeface="Yu Gothic" pitchFamily="34" charset="-120"/>
              </a:rPr>
              <a:t>償却前営業利益</a:t>
            </a:r>
            <a:endParaRPr lang="en-US" sz="1300" dirty="0"/>
          </a:p>
        </p:txBody>
      </p:sp>
      <p:sp>
        <p:nvSpPr>
          <p:cNvPr id="47" name="Text 44"/>
          <p:cNvSpPr/>
          <p:nvPr/>
        </p:nvSpPr>
        <p:spPr>
          <a:xfrm>
            <a:off x="5506517" y="5491886"/>
            <a:ext cx="2139696" cy="585216"/>
          </a:xfrm>
          <a:prstGeom prst="rect">
            <a:avLst/>
          </a:prstGeom>
          <a:noFill/>
          <a:ln/>
        </p:spPr>
        <p:txBody>
          <a:bodyPr wrap="square" lIns="0" tIns="0" rIns="0" bIns="0" rtlCol="0" anchor="ctr"/>
          <a:lstStyle/>
          <a:p>
            <a:pPr algn="r" indent="0" marL="0">
              <a:buNone/>
            </a:pPr>
            <a:r>
              <a:rPr lang="en-US" sz="2200" b="1" dirty="0">
                <a:solidFill>
                  <a:srgbClr val="106838"/>
                </a:solidFill>
                <a:latin typeface="Arial" pitchFamily="34" charset="0"/>
                <a:ea typeface="Arial" pitchFamily="34" charset="-122"/>
                <a:cs typeface="Arial" pitchFamily="34" charset="-120"/>
              </a:rPr>
              <a:t>270,000円</a:t>
            </a:r>
            <a:endParaRPr lang="en-US" sz="2200" dirty="0"/>
          </a:p>
        </p:txBody>
      </p:sp>
      <p:sp>
        <p:nvSpPr>
          <p:cNvPr id="48" name="Shape 45"/>
          <p:cNvSpPr/>
          <p:nvPr/>
        </p:nvSpPr>
        <p:spPr>
          <a:xfrm>
            <a:off x="8268005" y="1651406"/>
            <a:ext cx="3263494" cy="1737360"/>
          </a:xfrm>
          <a:prstGeom prst="roundRect">
            <a:avLst>
              <a:gd name="adj" fmla="val 3158"/>
            </a:avLst>
          </a:prstGeom>
          <a:solidFill>
            <a:srgbClr val="0C5230"/>
          </a:solidFill>
          <a:ln/>
        </p:spPr>
      </p:sp>
      <p:sp>
        <p:nvSpPr>
          <p:cNvPr id="49" name="Text 46"/>
          <p:cNvSpPr/>
          <p:nvPr/>
        </p:nvSpPr>
        <p:spPr>
          <a:xfrm>
            <a:off x="8505749" y="1889150"/>
            <a:ext cx="182880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STANDARD</a:t>
            </a:r>
            <a:endParaRPr lang="en-US" sz="900" dirty="0"/>
          </a:p>
        </p:txBody>
      </p:sp>
      <p:sp>
        <p:nvSpPr>
          <p:cNvPr id="50" name="Text 47"/>
          <p:cNvSpPr/>
          <p:nvPr/>
        </p:nvSpPr>
        <p:spPr>
          <a:xfrm>
            <a:off x="8505749" y="2145182"/>
            <a:ext cx="2788006" cy="219456"/>
          </a:xfrm>
          <a:prstGeom prst="rect">
            <a:avLst/>
          </a:prstGeom>
          <a:noFill/>
          <a:ln/>
        </p:spPr>
        <p:txBody>
          <a:bodyPr wrap="square" lIns="0" tIns="0" rIns="0" bIns="0" rtlCol="0" anchor="ctr"/>
          <a:lstStyle/>
          <a:p>
            <a:pPr indent="0" marL="0">
              <a:buNone/>
            </a:pPr>
            <a:r>
              <a:rPr lang="en-US" sz="1000" dirty="0">
                <a:solidFill>
                  <a:srgbClr val="AFC2B8"/>
                </a:solidFill>
                <a:latin typeface="Yu Gothic" pitchFamily="34" charset="0"/>
                <a:ea typeface="Yu Gothic" pitchFamily="34" charset="-122"/>
                <a:cs typeface="Yu Gothic" pitchFamily="34" charset="-120"/>
              </a:rPr>
              <a:t>月間の償却前営業利益</a:t>
            </a:r>
            <a:endParaRPr lang="en-US" sz="1000" dirty="0"/>
          </a:p>
        </p:txBody>
      </p:sp>
      <p:sp>
        <p:nvSpPr>
          <p:cNvPr id="51" name="Text 48"/>
          <p:cNvSpPr/>
          <p:nvPr/>
        </p:nvSpPr>
        <p:spPr>
          <a:xfrm>
            <a:off x="8505749" y="2401214"/>
            <a:ext cx="2788006"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270,000円</a:t>
            </a:r>
            <a:endParaRPr lang="en-US" sz="2600" dirty="0"/>
          </a:p>
        </p:txBody>
      </p:sp>
      <p:sp>
        <p:nvSpPr>
          <p:cNvPr id="52" name="Text 49"/>
          <p:cNvSpPr/>
          <p:nvPr/>
        </p:nvSpPr>
        <p:spPr>
          <a:xfrm>
            <a:off x="8505749" y="2894990"/>
            <a:ext cx="2788006" cy="274320"/>
          </a:xfrm>
          <a:prstGeom prst="rect">
            <a:avLst/>
          </a:prstGeom>
          <a:noFill/>
          <a:ln/>
        </p:spPr>
        <p:txBody>
          <a:bodyPr wrap="square" lIns="0" tIns="0" rIns="0" bIns="0" rtlCol="0" anchor="ctr"/>
          <a:lstStyle/>
          <a:p>
            <a:pPr indent="0" marL="0">
              <a:buNone/>
            </a:pPr>
            <a:r>
              <a:rPr lang="en-US" sz="1100" dirty="0">
                <a:solidFill>
                  <a:srgbClr val="8CC5A5"/>
                </a:solidFill>
                <a:latin typeface="Yu Gothic" pitchFamily="34" charset="0"/>
                <a:ea typeface="Yu Gothic" pitchFamily="34" charset="-122"/>
                <a:cs typeface="Yu Gothic" pitchFamily="34" charset="-120"/>
              </a:rPr>
              <a:t>年間換算 3,240,000円</a:t>
            </a:r>
            <a:endParaRPr lang="en-US" sz="1100" dirty="0"/>
          </a:p>
        </p:txBody>
      </p:sp>
      <p:sp>
        <p:nvSpPr>
          <p:cNvPr id="53" name="Shape 50"/>
          <p:cNvSpPr/>
          <p:nvPr/>
        </p:nvSpPr>
        <p:spPr>
          <a:xfrm>
            <a:off x="8268005" y="3571646"/>
            <a:ext cx="3263494" cy="2395728"/>
          </a:xfrm>
          <a:prstGeom prst="roundRect">
            <a:avLst>
              <a:gd name="adj" fmla="val 2290"/>
            </a:avLst>
          </a:prstGeom>
          <a:solidFill>
            <a:srgbClr val="FFFFFF"/>
          </a:solidFill>
          <a:ln w="9525">
            <a:solidFill>
              <a:srgbClr val="EFEAE0"/>
            </a:solidFill>
            <a:prstDash val="solid"/>
          </a:ln>
        </p:spPr>
      </p:sp>
      <p:sp>
        <p:nvSpPr>
          <p:cNvPr id="54" name="Text 51"/>
          <p:cNvSpPr/>
          <p:nvPr/>
        </p:nvSpPr>
        <p:spPr>
          <a:xfrm>
            <a:off x="8505749" y="3754526"/>
            <a:ext cx="2788006" cy="219456"/>
          </a:xfrm>
          <a:prstGeom prst="rect">
            <a:avLst/>
          </a:prstGeom>
          <a:noFill/>
          <a:ln/>
        </p:spPr>
        <p:txBody>
          <a:bodyPr wrap="square" lIns="0" tIns="0" rIns="0" bIns="0" rtlCol="0" anchor="ctr"/>
          <a:lstStyle/>
          <a:p>
            <a:pPr indent="0" marL="0">
              <a:buNone/>
            </a:pPr>
            <a:r>
              <a:rPr lang="en-US" sz="1000" b="1" dirty="0">
                <a:solidFill>
                  <a:srgbClr val="7E8882"/>
                </a:solidFill>
                <a:latin typeface="Yu Gothic" pitchFamily="34" charset="0"/>
                <a:ea typeface="Yu Gothic" pitchFamily="34" charset="-122"/>
                <a:cs typeface="Yu Gothic" pitchFamily="34" charset="-120"/>
              </a:rPr>
              <a:t>前提</a:t>
            </a:r>
            <a:endParaRPr lang="en-US" sz="1000" dirty="0"/>
          </a:p>
        </p:txBody>
      </p:sp>
      <p:pic>
        <p:nvPicPr>
          <p:cNvPr id="55" name="Image 1" descr="/home/user/suzuki-ceo/selfcafe-partner-deck/assets/icons/LuCheck-green.png">    </p:cNvPr>
          <p:cNvPicPr>
            <a:picLocks noChangeAspect="1"/>
          </p:cNvPicPr>
          <p:nvPr/>
        </p:nvPicPr>
        <p:blipFill>
          <a:blip r:embed="rId2"/>
          <a:stretch>
            <a:fillRect/>
          </a:stretch>
        </p:blipFill>
        <p:spPr>
          <a:xfrm>
            <a:off x="8524037" y="4092854"/>
            <a:ext cx="164592" cy="164592"/>
          </a:xfrm>
          <a:prstGeom prst="rect">
            <a:avLst/>
          </a:prstGeom>
        </p:spPr>
      </p:pic>
      <p:sp>
        <p:nvSpPr>
          <p:cNvPr id="56" name="Text 52"/>
          <p:cNvSpPr/>
          <p:nvPr/>
        </p:nvSpPr>
        <p:spPr>
          <a:xfrm>
            <a:off x="8780069" y="4047134"/>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売上は1杯420円で算出</a:t>
            </a:r>
            <a:endParaRPr lang="en-US" sz="1000" dirty="0"/>
          </a:p>
        </p:txBody>
      </p:sp>
      <p:pic>
        <p:nvPicPr>
          <p:cNvPr id="57" name="Image 2" descr="/home/user/suzuki-ceo/selfcafe-partner-deck/assets/icons/LuCheck-green.png">    </p:cNvPr>
          <p:cNvPicPr>
            <a:picLocks noChangeAspect="1"/>
          </p:cNvPicPr>
          <p:nvPr/>
        </p:nvPicPr>
        <p:blipFill>
          <a:blip r:embed="rId3"/>
          <a:stretch>
            <a:fillRect/>
          </a:stretch>
        </p:blipFill>
        <p:spPr>
          <a:xfrm>
            <a:off x="8524037" y="4476902"/>
            <a:ext cx="164592" cy="164592"/>
          </a:xfrm>
          <a:prstGeom prst="rect">
            <a:avLst/>
          </a:prstGeom>
        </p:spPr>
      </p:pic>
      <p:sp>
        <p:nvSpPr>
          <p:cNvPr id="58" name="Text 53"/>
          <p:cNvSpPr/>
          <p:nvPr/>
        </p:nvSpPr>
        <p:spPr>
          <a:xfrm>
            <a:off x="8780069" y="4431182"/>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家賃は仮定坪単価による試算</a:t>
            </a:r>
            <a:endParaRPr lang="en-US" sz="1000" dirty="0"/>
          </a:p>
        </p:txBody>
      </p:sp>
      <p:pic>
        <p:nvPicPr>
          <p:cNvPr id="59" name="Image 3" descr="/home/user/suzuki-ceo/selfcafe-partner-deck/assets/icons/LuCheck-green.png">    </p:cNvPr>
          <p:cNvPicPr>
            <a:picLocks noChangeAspect="1"/>
          </p:cNvPicPr>
          <p:nvPr/>
        </p:nvPicPr>
        <p:blipFill>
          <a:blip r:embed="rId4"/>
          <a:stretch>
            <a:fillRect/>
          </a:stretch>
        </p:blipFill>
        <p:spPr>
          <a:xfrm>
            <a:off x="8524037" y="4860950"/>
            <a:ext cx="164592" cy="164592"/>
          </a:xfrm>
          <a:prstGeom prst="rect">
            <a:avLst/>
          </a:prstGeom>
        </p:spPr>
      </p:pic>
      <p:sp>
        <p:nvSpPr>
          <p:cNvPr id="60" name="Text 54"/>
          <p:cNvSpPr/>
          <p:nvPr/>
        </p:nvSpPr>
        <p:spPr>
          <a:xfrm>
            <a:off x="8780069" y="4815230"/>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ロイヤリティは月5万円の一律</a:t>
            </a:r>
            <a:endParaRPr lang="en-US" sz="1000" dirty="0"/>
          </a:p>
        </p:txBody>
      </p:sp>
      <p:pic>
        <p:nvPicPr>
          <p:cNvPr id="61" name="Image 4" descr="/home/user/suzuki-ceo/selfcafe-partner-deck/assets/icons/LuCheck-green.png">    </p:cNvPr>
          <p:cNvPicPr>
            <a:picLocks noChangeAspect="1"/>
          </p:cNvPicPr>
          <p:nvPr/>
        </p:nvPicPr>
        <p:blipFill>
          <a:blip r:embed="rId5"/>
          <a:stretch>
            <a:fillRect/>
          </a:stretch>
        </p:blipFill>
        <p:spPr>
          <a:xfrm>
            <a:off x="8524037" y="5244998"/>
            <a:ext cx="164592" cy="164592"/>
          </a:xfrm>
          <a:prstGeom prst="rect">
            <a:avLst/>
          </a:prstGeom>
        </p:spPr>
      </p:pic>
      <p:sp>
        <p:nvSpPr>
          <p:cNvPr id="62" name="Text 55"/>
          <p:cNvSpPr/>
          <p:nvPr/>
        </p:nvSpPr>
        <p:spPr>
          <a:xfrm>
            <a:off x="8780069" y="5199278"/>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減価償却費は含まない</a:t>
            </a:r>
            <a:endParaRPr lang="en-US" sz="1000" dirty="0"/>
          </a:p>
        </p:txBody>
      </p:sp>
      <p:sp>
        <p:nvSpPr>
          <p:cNvPr id="63" name="Text 56"/>
          <p:cNvSpPr/>
          <p:nvPr/>
        </p:nvSpPr>
        <p:spPr>
          <a:xfrm>
            <a:off x="660197" y="620511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シミュレーションは目安であり、売上・利益を保証するものではありません。</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20</a:t>
            </a:r>
            <a:r>
              <a:rPr lang="en-US" sz="1050" b="1" dirty="0">
                <a:solidFill>
                  <a:srgbClr val="1B8149"/>
                </a:solidFill>
                <a:latin typeface="Yu Gothic" pitchFamily="34" charset="0"/>
                <a:ea typeface="Yu Gothic" pitchFamily="34" charset="-122"/>
                <a:cs typeface="Yu Gothic" pitchFamily="34" charset="-120"/>
              </a:rPr>
              <a:t>   収益</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収益シミュレーション ／ 50坪（90席）</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月次の収支イメージです。売上から諸経費を差し引いた償却前営業利益を示しています。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21</a:t>
            </a:r>
            <a:endParaRPr lang="en-US" sz="1000" dirty="0"/>
          </a:p>
        </p:txBody>
      </p:sp>
      <p:sp>
        <p:nvSpPr>
          <p:cNvPr id="9" name="Shape 6"/>
          <p:cNvSpPr/>
          <p:nvPr/>
        </p:nvSpPr>
        <p:spPr>
          <a:xfrm>
            <a:off x="660197" y="1651406"/>
            <a:ext cx="7223760" cy="530352"/>
          </a:xfrm>
          <a:prstGeom prst="roundRect">
            <a:avLst>
              <a:gd name="adj" fmla="val 8621"/>
            </a:avLst>
          </a:prstGeom>
          <a:solidFill>
            <a:srgbClr val="0C5230"/>
          </a:solidFill>
          <a:ln/>
        </p:spPr>
      </p:sp>
      <p:sp>
        <p:nvSpPr>
          <p:cNvPr id="10" name="Text 7"/>
          <p:cNvSpPr/>
          <p:nvPr/>
        </p:nvSpPr>
        <p:spPr>
          <a:xfrm>
            <a:off x="897941" y="1651406"/>
            <a:ext cx="1463040" cy="530352"/>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売上高</a:t>
            </a:r>
            <a:endParaRPr lang="en-US" sz="1200" dirty="0"/>
          </a:p>
        </p:txBody>
      </p:sp>
      <p:sp>
        <p:nvSpPr>
          <p:cNvPr id="11" name="Text 8"/>
          <p:cNvSpPr/>
          <p:nvPr/>
        </p:nvSpPr>
        <p:spPr>
          <a:xfrm>
            <a:off x="2397557" y="1651406"/>
            <a:ext cx="3291840" cy="530352"/>
          </a:xfrm>
          <a:prstGeom prst="rect">
            <a:avLst/>
          </a:prstGeom>
          <a:noFill/>
          <a:ln/>
        </p:spPr>
        <p:txBody>
          <a:bodyPr wrap="square" lIns="0" tIns="0" rIns="0" bIns="0" rtlCol="0" anchor="ctr"/>
          <a:lstStyle/>
          <a:p>
            <a:pPr indent="0" marL="0">
              <a:buNone/>
            </a:pPr>
            <a:r>
              <a:rPr lang="en-US" sz="950" dirty="0">
                <a:solidFill>
                  <a:srgbClr val="AFC2B8"/>
                </a:solidFill>
                <a:latin typeface="Yu Gothic" pitchFamily="34" charset="0"/>
                <a:ea typeface="Yu Gothic" pitchFamily="34" charset="-122"/>
                <a:cs typeface="Yu Gothic" pitchFamily="34" charset="-120"/>
              </a:rPr>
              <a:t>1杯420円 × 110杯 × 30日</a:t>
            </a:r>
            <a:endParaRPr lang="en-US" sz="950" dirty="0"/>
          </a:p>
        </p:txBody>
      </p:sp>
      <p:sp>
        <p:nvSpPr>
          <p:cNvPr id="12" name="Text 9"/>
          <p:cNvSpPr/>
          <p:nvPr/>
        </p:nvSpPr>
        <p:spPr>
          <a:xfrm>
            <a:off x="5689397" y="1651406"/>
            <a:ext cx="1956816" cy="530352"/>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1,386,000円</a:t>
            </a:r>
            <a:endParaRPr lang="en-US" sz="1800" dirty="0"/>
          </a:p>
        </p:txBody>
      </p:sp>
      <p:sp>
        <p:nvSpPr>
          <p:cNvPr id="13" name="Text 10"/>
          <p:cNvSpPr/>
          <p:nvPr/>
        </p:nvSpPr>
        <p:spPr>
          <a:xfrm>
            <a:off x="751637" y="2291486"/>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ドリンク原料</a:t>
            </a:r>
            <a:endParaRPr lang="en-US" sz="1050" dirty="0"/>
          </a:p>
        </p:txBody>
      </p:sp>
      <p:sp>
        <p:nvSpPr>
          <p:cNvPr id="14" name="Text 11"/>
          <p:cNvSpPr/>
          <p:nvPr/>
        </p:nvSpPr>
        <p:spPr>
          <a:xfrm>
            <a:off x="2397557" y="2291486"/>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原料・カップ等（20%）</a:t>
            </a:r>
            <a:endParaRPr lang="en-US" sz="900" dirty="0"/>
          </a:p>
        </p:txBody>
      </p:sp>
      <p:sp>
        <p:nvSpPr>
          <p:cNvPr id="15" name="Text 12"/>
          <p:cNvSpPr/>
          <p:nvPr/>
        </p:nvSpPr>
        <p:spPr>
          <a:xfrm>
            <a:off x="5689397" y="2291486"/>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-277,200円</a:t>
            </a:r>
            <a:endParaRPr lang="en-US" sz="1200" dirty="0"/>
          </a:p>
        </p:txBody>
      </p:sp>
      <p:sp>
        <p:nvSpPr>
          <p:cNvPr id="16" name="Shape 13"/>
          <p:cNvSpPr/>
          <p:nvPr/>
        </p:nvSpPr>
        <p:spPr>
          <a:xfrm>
            <a:off x="751637" y="2638958"/>
            <a:ext cx="7040880" cy="10058"/>
          </a:xfrm>
          <a:prstGeom prst="rect">
            <a:avLst/>
          </a:prstGeom>
          <a:solidFill>
            <a:srgbClr val="EFEAE0"/>
          </a:solidFill>
          <a:ln/>
        </p:spPr>
      </p:sp>
      <p:sp>
        <p:nvSpPr>
          <p:cNvPr id="17" name="Text 14"/>
          <p:cNvSpPr/>
          <p:nvPr/>
        </p:nvSpPr>
        <p:spPr>
          <a:xfrm>
            <a:off x="751637" y="2675534"/>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家賃</a:t>
            </a:r>
            <a:endParaRPr lang="en-US" sz="1050" dirty="0"/>
          </a:p>
        </p:txBody>
      </p:sp>
      <p:sp>
        <p:nvSpPr>
          <p:cNvPr id="18" name="Text 15"/>
          <p:cNvSpPr/>
          <p:nvPr/>
        </p:nvSpPr>
        <p:spPr>
          <a:xfrm>
            <a:off x="2397557" y="2675534"/>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仮定坪単価：8,000円</a:t>
            </a:r>
            <a:endParaRPr lang="en-US" sz="900" dirty="0"/>
          </a:p>
        </p:txBody>
      </p:sp>
      <p:sp>
        <p:nvSpPr>
          <p:cNvPr id="19" name="Text 16"/>
          <p:cNvSpPr/>
          <p:nvPr/>
        </p:nvSpPr>
        <p:spPr>
          <a:xfrm>
            <a:off x="5689397" y="2675534"/>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-400,000円</a:t>
            </a:r>
            <a:endParaRPr lang="en-US" sz="1200" dirty="0"/>
          </a:p>
        </p:txBody>
      </p:sp>
      <p:sp>
        <p:nvSpPr>
          <p:cNvPr id="20" name="Shape 17"/>
          <p:cNvSpPr/>
          <p:nvPr/>
        </p:nvSpPr>
        <p:spPr>
          <a:xfrm>
            <a:off x="751637" y="3023006"/>
            <a:ext cx="7040880" cy="10058"/>
          </a:xfrm>
          <a:prstGeom prst="rect">
            <a:avLst/>
          </a:prstGeom>
          <a:solidFill>
            <a:srgbClr val="EFEAE0"/>
          </a:solidFill>
          <a:ln/>
        </p:spPr>
      </p:sp>
      <p:sp>
        <p:nvSpPr>
          <p:cNvPr id="21" name="Text 18"/>
          <p:cNvSpPr/>
          <p:nvPr/>
        </p:nvSpPr>
        <p:spPr>
          <a:xfrm>
            <a:off x="751637" y="3059582"/>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清掃費</a:t>
            </a:r>
            <a:endParaRPr lang="en-US" sz="1050" dirty="0"/>
          </a:p>
        </p:txBody>
      </p:sp>
      <p:sp>
        <p:nvSpPr>
          <p:cNvPr id="22" name="Text 19"/>
          <p:cNvSpPr/>
          <p:nvPr/>
        </p:nvSpPr>
        <p:spPr>
          <a:xfrm>
            <a:off x="2397557" y="3059582"/>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清掃パートナー様への報酬</a:t>
            </a:r>
            <a:endParaRPr lang="en-US" sz="900" dirty="0"/>
          </a:p>
        </p:txBody>
      </p:sp>
      <p:sp>
        <p:nvSpPr>
          <p:cNvPr id="23" name="Text 20"/>
          <p:cNvSpPr/>
          <p:nvPr/>
        </p:nvSpPr>
        <p:spPr>
          <a:xfrm>
            <a:off x="5689397" y="3059582"/>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-35,000円</a:t>
            </a:r>
            <a:endParaRPr lang="en-US" sz="1200" dirty="0"/>
          </a:p>
        </p:txBody>
      </p:sp>
      <p:sp>
        <p:nvSpPr>
          <p:cNvPr id="24" name="Shape 21"/>
          <p:cNvSpPr/>
          <p:nvPr/>
        </p:nvSpPr>
        <p:spPr>
          <a:xfrm>
            <a:off x="751637" y="3407054"/>
            <a:ext cx="7040880" cy="10058"/>
          </a:xfrm>
          <a:prstGeom prst="rect">
            <a:avLst/>
          </a:prstGeom>
          <a:solidFill>
            <a:srgbClr val="EFEAE0"/>
          </a:solidFill>
          <a:ln/>
        </p:spPr>
      </p:sp>
      <p:sp>
        <p:nvSpPr>
          <p:cNvPr id="25" name="Text 22"/>
          <p:cNvSpPr/>
          <p:nvPr/>
        </p:nvSpPr>
        <p:spPr>
          <a:xfrm>
            <a:off x="751637" y="3443630"/>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水道光熱費</a:t>
            </a:r>
            <a:endParaRPr lang="en-US" sz="1050" dirty="0"/>
          </a:p>
        </p:txBody>
      </p:sp>
      <p:sp>
        <p:nvSpPr>
          <p:cNvPr id="26" name="Text 23"/>
          <p:cNvSpPr/>
          <p:nvPr/>
        </p:nvSpPr>
        <p:spPr>
          <a:xfrm>
            <a:off x="2397557" y="3443630"/>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水道12,000円／光熱78,000円（24H営業想定）</a:t>
            </a:r>
            <a:endParaRPr lang="en-US" sz="900" dirty="0"/>
          </a:p>
        </p:txBody>
      </p:sp>
      <p:sp>
        <p:nvSpPr>
          <p:cNvPr id="27" name="Text 24"/>
          <p:cNvSpPr/>
          <p:nvPr/>
        </p:nvSpPr>
        <p:spPr>
          <a:xfrm>
            <a:off x="5689397" y="3443630"/>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-90,000円</a:t>
            </a:r>
            <a:endParaRPr lang="en-US" sz="1200" dirty="0"/>
          </a:p>
        </p:txBody>
      </p:sp>
      <p:sp>
        <p:nvSpPr>
          <p:cNvPr id="28" name="Shape 25"/>
          <p:cNvSpPr/>
          <p:nvPr/>
        </p:nvSpPr>
        <p:spPr>
          <a:xfrm>
            <a:off x="751637" y="3791102"/>
            <a:ext cx="7040880" cy="10058"/>
          </a:xfrm>
          <a:prstGeom prst="rect">
            <a:avLst/>
          </a:prstGeom>
          <a:solidFill>
            <a:srgbClr val="EFEAE0"/>
          </a:solidFill>
          <a:ln/>
        </p:spPr>
      </p:sp>
      <p:sp>
        <p:nvSpPr>
          <p:cNvPr id="29" name="Text 26"/>
          <p:cNvSpPr/>
          <p:nvPr/>
        </p:nvSpPr>
        <p:spPr>
          <a:xfrm>
            <a:off x="751637" y="3827678"/>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機械使用料</a:t>
            </a:r>
            <a:endParaRPr lang="en-US" sz="1050" dirty="0"/>
          </a:p>
        </p:txBody>
      </p:sp>
      <p:sp>
        <p:nvSpPr>
          <p:cNvPr id="30" name="Text 27"/>
          <p:cNvSpPr/>
          <p:nvPr/>
        </p:nvSpPr>
        <p:spPr>
          <a:xfrm>
            <a:off x="2397557" y="3827678"/>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ドリンクマシン38,000円×2台、決済端末5,000円×2台</a:t>
            </a:r>
            <a:endParaRPr lang="en-US" sz="900" dirty="0"/>
          </a:p>
        </p:txBody>
      </p:sp>
      <p:sp>
        <p:nvSpPr>
          <p:cNvPr id="31" name="Text 28"/>
          <p:cNvSpPr/>
          <p:nvPr/>
        </p:nvSpPr>
        <p:spPr>
          <a:xfrm>
            <a:off x="5689397" y="3827678"/>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-86,000円</a:t>
            </a:r>
            <a:endParaRPr lang="en-US" sz="1200" dirty="0"/>
          </a:p>
        </p:txBody>
      </p:sp>
      <p:sp>
        <p:nvSpPr>
          <p:cNvPr id="32" name="Shape 29"/>
          <p:cNvSpPr/>
          <p:nvPr/>
        </p:nvSpPr>
        <p:spPr>
          <a:xfrm>
            <a:off x="751637" y="4175150"/>
            <a:ext cx="7040880" cy="10058"/>
          </a:xfrm>
          <a:prstGeom prst="rect">
            <a:avLst/>
          </a:prstGeom>
          <a:solidFill>
            <a:srgbClr val="EFEAE0"/>
          </a:solidFill>
          <a:ln/>
        </p:spPr>
      </p:sp>
      <p:sp>
        <p:nvSpPr>
          <p:cNvPr id="33" name="Text 30"/>
          <p:cNvSpPr/>
          <p:nvPr/>
        </p:nvSpPr>
        <p:spPr>
          <a:xfrm>
            <a:off x="751637" y="4211726"/>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セキュリティ費</a:t>
            </a:r>
            <a:endParaRPr lang="en-US" sz="1050" dirty="0"/>
          </a:p>
        </p:txBody>
      </p:sp>
      <p:sp>
        <p:nvSpPr>
          <p:cNvPr id="34" name="Text 31"/>
          <p:cNvSpPr/>
          <p:nvPr/>
        </p:nvSpPr>
        <p:spPr>
          <a:xfrm>
            <a:off x="2397557" y="4211726"/>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警備会社への委託料</a:t>
            </a:r>
            <a:endParaRPr lang="en-US" sz="900" dirty="0"/>
          </a:p>
        </p:txBody>
      </p:sp>
      <p:sp>
        <p:nvSpPr>
          <p:cNvPr id="35" name="Text 32"/>
          <p:cNvSpPr/>
          <p:nvPr/>
        </p:nvSpPr>
        <p:spPr>
          <a:xfrm>
            <a:off x="5689397" y="4211726"/>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-20,000円</a:t>
            </a:r>
            <a:endParaRPr lang="en-US" sz="1200" dirty="0"/>
          </a:p>
        </p:txBody>
      </p:sp>
      <p:sp>
        <p:nvSpPr>
          <p:cNvPr id="36" name="Shape 33"/>
          <p:cNvSpPr/>
          <p:nvPr/>
        </p:nvSpPr>
        <p:spPr>
          <a:xfrm>
            <a:off x="751637" y="4559198"/>
            <a:ext cx="7040880" cy="10058"/>
          </a:xfrm>
          <a:prstGeom prst="rect">
            <a:avLst/>
          </a:prstGeom>
          <a:solidFill>
            <a:srgbClr val="EFEAE0"/>
          </a:solidFill>
          <a:ln/>
        </p:spPr>
      </p:sp>
      <p:sp>
        <p:nvSpPr>
          <p:cNvPr id="37" name="Text 34"/>
          <p:cNvSpPr/>
          <p:nvPr/>
        </p:nvSpPr>
        <p:spPr>
          <a:xfrm>
            <a:off x="751637" y="4595774"/>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ロイヤリティ</a:t>
            </a:r>
            <a:endParaRPr lang="en-US" sz="1050" dirty="0"/>
          </a:p>
        </p:txBody>
      </p:sp>
      <p:sp>
        <p:nvSpPr>
          <p:cNvPr id="38" name="Text 35"/>
          <p:cNvSpPr/>
          <p:nvPr/>
        </p:nvSpPr>
        <p:spPr>
          <a:xfrm>
            <a:off x="2397557" y="4595774"/>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一律5万円</a:t>
            </a:r>
            <a:endParaRPr lang="en-US" sz="900" dirty="0"/>
          </a:p>
        </p:txBody>
      </p:sp>
      <p:sp>
        <p:nvSpPr>
          <p:cNvPr id="39" name="Text 36"/>
          <p:cNvSpPr/>
          <p:nvPr/>
        </p:nvSpPr>
        <p:spPr>
          <a:xfrm>
            <a:off x="5689397" y="4595774"/>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-50,000円</a:t>
            </a:r>
            <a:endParaRPr lang="en-US" sz="1200" dirty="0"/>
          </a:p>
        </p:txBody>
      </p:sp>
      <p:sp>
        <p:nvSpPr>
          <p:cNvPr id="40" name="Shape 37"/>
          <p:cNvSpPr/>
          <p:nvPr/>
        </p:nvSpPr>
        <p:spPr>
          <a:xfrm>
            <a:off x="751637" y="4943246"/>
            <a:ext cx="7040880" cy="10058"/>
          </a:xfrm>
          <a:prstGeom prst="rect">
            <a:avLst/>
          </a:prstGeom>
          <a:solidFill>
            <a:srgbClr val="EFEAE0"/>
          </a:solidFill>
          <a:ln/>
        </p:spPr>
      </p:sp>
      <p:sp>
        <p:nvSpPr>
          <p:cNvPr id="41" name="Text 38"/>
          <p:cNvSpPr/>
          <p:nvPr/>
        </p:nvSpPr>
        <p:spPr>
          <a:xfrm>
            <a:off x="751637" y="4979822"/>
            <a:ext cx="1554480" cy="347472"/>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雑費</a:t>
            </a:r>
            <a:endParaRPr lang="en-US" sz="1050" dirty="0"/>
          </a:p>
        </p:txBody>
      </p:sp>
      <p:sp>
        <p:nvSpPr>
          <p:cNvPr id="42" name="Text 39"/>
          <p:cNvSpPr/>
          <p:nvPr/>
        </p:nvSpPr>
        <p:spPr>
          <a:xfrm>
            <a:off x="2397557" y="4979822"/>
            <a:ext cx="3383280" cy="347472"/>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ゴミ回収・防犯カメラ・クラウド利用料等</a:t>
            </a:r>
            <a:endParaRPr lang="en-US" sz="900" dirty="0"/>
          </a:p>
        </p:txBody>
      </p:sp>
      <p:sp>
        <p:nvSpPr>
          <p:cNvPr id="43" name="Text 40"/>
          <p:cNvSpPr/>
          <p:nvPr/>
        </p:nvSpPr>
        <p:spPr>
          <a:xfrm>
            <a:off x="5689397" y="4979822"/>
            <a:ext cx="1956816" cy="347472"/>
          </a:xfrm>
          <a:prstGeom prst="rect">
            <a:avLst/>
          </a:prstGeom>
          <a:noFill/>
          <a:ln/>
        </p:spPr>
        <p:txBody>
          <a:bodyPr wrap="square" lIns="0" tIns="0" rIns="0" bIns="0" rtlCol="0" anchor="ctr"/>
          <a:lstStyle/>
          <a:p>
            <a:pPr algn="r" indent="0" marL="0">
              <a:buNone/>
            </a:pPr>
            <a:r>
              <a:rPr lang="en-US" sz="1200" dirty="0">
                <a:solidFill>
                  <a:srgbClr val="4B5550"/>
                </a:solidFill>
                <a:latin typeface="Arial" pitchFamily="34" charset="0"/>
                <a:ea typeface="Arial" pitchFamily="34" charset="-122"/>
                <a:cs typeface="Arial" pitchFamily="34" charset="-120"/>
              </a:rPr>
              <a:t>-25,000円</a:t>
            </a:r>
            <a:endParaRPr lang="en-US" sz="1200" dirty="0"/>
          </a:p>
        </p:txBody>
      </p:sp>
      <p:sp>
        <p:nvSpPr>
          <p:cNvPr id="44" name="Shape 41"/>
          <p:cNvSpPr/>
          <p:nvPr/>
        </p:nvSpPr>
        <p:spPr>
          <a:xfrm>
            <a:off x="751637" y="5327294"/>
            <a:ext cx="7040880" cy="10058"/>
          </a:xfrm>
          <a:prstGeom prst="rect">
            <a:avLst/>
          </a:prstGeom>
          <a:solidFill>
            <a:srgbClr val="EFEAE0"/>
          </a:solidFill>
          <a:ln/>
        </p:spPr>
      </p:sp>
      <p:sp>
        <p:nvSpPr>
          <p:cNvPr id="45" name="Shape 42"/>
          <p:cNvSpPr/>
          <p:nvPr/>
        </p:nvSpPr>
        <p:spPr>
          <a:xfrm>
            <a:off x="660197" y="5491886"/>
            <a:ext cx="7223760" cy="585216"/>
          </a:xfrm>
          <a:prstGeom prst="roundRect">
            <a:avLst>
              <a:gd name="adj" fmla="val 7813"/>
            </a:avLst>
          </a:prstGeom>
          <a:solidFill>
            <a:srgbClr val="F1F8F3"/>
          </a:solidFill>
          <a:ln w="9525">
            <a:solidFill>
              <a:srgbClr val="D2E7DA"/>
            </a:solidFill>
            <a:prstDash val="solid"/>
          </a:ln>
        </p:spPr>
      </p:sp>
      <p:sp>
        <p:nvSpPr>
          <p:cNvPr id="46" name="Text 43"/>
          <p:cNvSpPr/>
          <p:nvPr/>
        </p:nvSpPr>
        <p:spPr>
          <a:xfrm>
            <a:off x="897941" y="5491886"/>
            <a:ext cx="2743200" cy="585216"/>
          </a:xfrm>
          <a:prstGeom prst="rect">
            <a:avLst/>
          </a:prstGeom>
          <a:noFill/>
          <a:ln/>
        </p:spPr>
        <p:txBody>
          <a:bodyPr wrap="square" lIns="0" tIns="0" rIns="0" bIns="0" rtlCol="0" anchor="ctr"/>
          <a:lstStyle/>
          <a:p>
            <a:pPr indent="0" marL="0">
              <a:buNone/>
            </a:pPr>
            <a:r>
              <a:rPr lang="en-US" sz="1300" b="1" dirty="0">
                <a:solidFill>
                  <a:srgbClr val="106838"/>
                </a:solidFill>
                <a:latin typeface="Yu Gothic" pitchFamily="34" charset="0"/>
                <a:ea typeface="Yu Gothic" pitchFamily="34" charset="-122"/>
                <a:cs typeface="Yu Gothic" pitchFamily="34" charset="-120"/>
              </a:rPr>
              <a:t>償却前営業利益</a:t>
            </a:r>
            <a:endParaRPr lang="en-US" sz="1300" dirty="0"/>
          </a:p>
        </p:txBody>
      </p:sp>
      <p:sp>
        <p:nvSpPr>
          <p:cNvPr id="47" name="Text 44"/>
          <p:cNvSpPr/>
          <p:nvPr/>
        </p:nvSpPr>
        <p:spPr>
          <a:xfrm>
            <a:off x="5506517" y="5491886"/>
            <a:ext cx="2139696" cy="585216"/>
          </a:xfrm>
          <a:prstGeom prst="rect">
            <a:avLst/>
          </a:prstGeom>
          <a:noFill/>
          <a:ln/>
        </p:spPr>
        <p:txBody>
          <a:bodyPr wrap="square" lIns="0" tIns="0" rIns="0" bIns="0" rtlCol="0" anchor="ctr"/>
          <a:lstStyle/>
          <a:p>
            <a:pPr algn="r" indent="0" marL="0">
              <a:buNone/>
            </a:pPr>
            <a:r>
              <a:rPr lang="en-US" sz="2200" b="1" dirty="0">
                <a:solidFill>
                  <a:srgbClr val="106838"/>
                </a:solidFill>
                <a:latin typeface="Arial" pitchFamily="34" charset="0"/>
                <a:ea typeface="Arial" pitchFamily="34" charset="-122"/>
                <a:cs typeface="Arial" pitchFamily="34" charset="-120"/>
              </a:rPr>
              <a:t>402,800円</a:t>
            </a:r>
            <a:endParaRPr lang="en-US" sz="2200" dirty="0"/>
          </a:p>
        </p:txBody>
      </p:sp>
      <p:sp>
        <p:nvSpPr>
          <p:cNvPr id="48" name="Shape 45"/>
          <p:cNvSpPr/>
          <p:nvPr/>
        </p:nvSpPr>
        <p:spPr>
          <a:xfrm>
            <a:off x="8268005" y="1651406"/>
            <a:ext cx="3263494" cy="1737360"/>
          </a:xfrm>
          <a:prstGeom prst="roundRect">
            <a:avLst>
              <a:gd name="adj" fmla="val 3158"/>
            </a:avLst>
          </a:prstGeom>
          <a:solidFill>
            <a:srgbClr val="0C5230"/>
          </a:solidFill>
          <a:ln/>
        </p:spPr>
      </p:sp>
      <p:sp>
        <p:nvSpPr>
          <p:cNvPr id="49" name="Text 46"/>
          <p:cNvSpPr/>
          <p:nvPr/>
        </p:nvSpPr>
        <p:spPr>
          <a:xfrm>
            <a:off x="8505749" y="1889150"/>
            <a:ext cx="1828800" cy="164592"/>
          </a:xfrm>
          <a:prstGeom prst="rect">
            <a:avLst/>
          </a:prstGeom>
          <a:noFill/>
          <a:ln/>
        </p:spPr>
        <p:txBody>
          <a:bodyPr wrap="square" lIns="0" tIns="0" rIns="0" bIns="0" rtlCol="0" anchor="ctr"/>
          <a:lstStyle/>
          <a:p>
            <a:pPr indent="0" marL="0">
              <a:buNone/>
            </a:pPr>
            <a:r>
              <a:rPr lang="en-US" sz="900" b="1" spc="150" kern="0" dirty="0">
                <a:solidFill>
                  <a:srgbClr val="8CC5A5"/>
                </a:solidFill>
                <a:latin typeface="Arial" pitchFamily="34" charset="0"/>
                <a:ea typeface="Arial" pitchFamily="34" charset="-122"/>
                <a:cs typeface="Arial" pitchFamily="34" charset="-120"/>
              </a:rPr>
              <a:t>LARGE</a:t>
            </a:r>
            <a:endParaRPr lang="en-US" sz="900" dirty="0"/>
          </a:p>
        </p:txBody>
      </p:sp>
      <p:sp>
        <p:nvSpPr>
          <p:cNvPr id="50" name="Text 47"/>
          <p:cNvSpPr/>
          <p:nvPr/>
        </p:nvSpPr>
        <p:spPr>
          <a:xfrm>
            <a:off x="8505749" y="2145182"/>
            <a:ext cx="2788006" cy="219456"/>
          </a:xfrm>
          <a:prstGeom prst="rect">
            <a:avLst/>
          </a:prstGeom>
          <a:noFill/>
          <a:ln/>
        </p:spPr>
        <p:txBody>
          <a:bodyPr wrap="square" lIns="0" tIns="0" rIns="0" bIns="0" rtlCol="0" anchor="ctr"/>
          <a:lstStyle/>
          <a:p>
            <a:pPr indent="0" marL="0">
              <a:buNone/>
            </a:pPr>
            <a:r>
              <a:rPr lang="en-US" sz="1000" dirty="0">
                <a:solidFill>
                  <a:srgbClr val="AFC2B8"/>
                </a:solidFill>
                <a:latin typeface="Yu Gothic" pitchFamily="34" charset="0"/>
                <a:ea typeface="Yu Gothic" pitchFamily="34" charset="-122"/>
                <a:cs typeface="Yu Gothic" pitchFamily="34" charset="-120"/>
              </a:rPr>
              <a:t>月間の償却前営業利益</a:t>
            </a:r>
            <a:endParaRPr lang="en-US" sz="1000" dirty="0"/>
          </a:p>
        </p:txBody>
      </p:sp>
      <p:sp>
        <p:nvSpPr>
          <p:cNvPr id="51" name="Text 48"/>
          <p:cNvSpPr/>
          <p:nvPr/>
        </p:nvSpPr>
        <p:spPr>
          <a:xfrm>
            <a:off x="8505749" y="2401214"/>
            <a:ext cx="2788006"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402,800円</a:t>
            </a:r>
            <a:endParaRPr lang="en-US" sz="2600" dirty="0"/>
          </a:p>
        </p:txBody>
      </p:sp>
      <p:sp>
        <p:nvSpPr>
          <p:cNvPr id="52" name="Text 49"/>
          <p:cNvSpPr/>
          <p:nvPr/>
        </p:nvSpPr>
        <p:spPr>
          <a:xfrm>
            <a:off x="8505749" y="2894990"/>
            <a:ext cx="2788006" cy="274320"/>
          </a:xfrm>
          <a:prstGeom prst="rect">
            <a:avLst/>
          </a:prstGeom>
          <a:noFill/>
          <a:ln/>
        </p:spPr>
        <p:txBody>
          <a:bodyPr wrap="square" lIns="0" tIns="0" rIns="0" bIns="0" rtlCol="0" anchor="ctr"/>
          <a:lstStyle/>
          <a:p>
            <a:pPr indent="0" marL="0">
              <a:buNone/>
            </a:pPr>
            <a:r>
              <a:rPr lang="en-US" sz="1100" dirty="0">
                <a:solidFill>
                  <a:srgbClr val="8CC5A5"/>
                </a:solidFill>
                <a:latin typeface="Yu Gothic" pitchFamily="34" charset="0"/>
                <a:ea typeface="Yu Gothic" pitchFamily="34" charset="-122"/>
                <a:cs typeface="Yu Gothic" pitchFamily="34" charset="-120"/>
              </a:rPr>
              <a:t>年間換算 4,833,600円</a:t>
            </a:r>
            <a:endParaRPr lang="en-US" sz="1100" dirty="0"/>
          </a:p>
        </p:txBody>
      </p:sp>
      <p:sp>
        <p:nvSpPr>
          <p:cNvPr id="53" name="Shape 50"/>
          <p:cNvSpPr/>
          <p:nvPr/>
        </p:nvSpPr>
        <p:spPr>
          <a:xfrm>
            <a:off x="8268005" y="3571646"/>
            <a:ext cx="3263494" cy="2395728"/>
          </a:xfrm>
          <a:prstGeom prst="roundRect">
            <a:avLst>
              <a:gd name="adj" fmla="val 2290"/>
            </a:avLst>
          </a:prstGeom>
          <a:solidFill>
            <a:srgbClr val="FFFFFF"/>
          </a:solidFill>
          <a:ln w="9525">
            <a:solidFill>
              <a:srgbClr val="EFEAE0"/>
            </a:solidFill>
            <a:prstDash val="solid"/>
          </a:ln>
        </p:spPr>
      </p:sp>
      <p:sp>
        <p:nvSpPr>
          <p:cNvPr id="54" name="Text 51"/>
          <p:cNvSpPr/>
          <p:nvPr/>
        </p:nvSpPr>
        <p:spPr>
          <a:xfrm>
            <a:off x="8505749" y="3754526"/>
            <a:ext cx="2788006" cy="219456"/>
          </a:xfrm>
          <a:prstGeom prst="rect">
            <a:avLst/>
          </a:prstGeom>
          <a:noFill/>
          <a:ln/>
        </p:spPr>
        <p:txBody>
          <a:bodyPr wrap="square" lIns="0" tIns="0" rIns="0" bIns="0" rtlCol="0" anchor="ctr"/>
          <a:lstStyle/>
          <a:p>
            <a:pPr indent="0" marL="0">
              <a:buNone/>
            </a:pPr>
            <a:r>
              <a:rPr lang="en-US" sz="1000" b="1" dirty="0">
                <a:solidFill>
                  <a:srgbClr val="7E8882"/>
                </a:solidFill>
                <a:latin typeface="Yu Gothic" pitchFamily="34" charset="0"/>
                <a:ea typeface="Yu Gothic" pitchFamily="34" charset="-122"/>
                <a:cs typeface="Yu Gothic" pitchFamily="34" charset="-120"/>
              </a:rPr>
              <a:t>前提</a:t>
            </a:r>
            <a:endParaRPr lang="en-US" sz="1000" dirty="0"/>
          </a:p>
        </p:txBody>
      </p:sp>
      <p:pic>
        <p:nvPicPr>
          <p:cNvPr id="55" name="Image 1" descr="/home/user/suzuki-ceo/selfcafe-partner-deck/assets/icons/LuCheck-green.png">    </p:cNvPr>
          <p:cNvPicPr>
            <a:picLocks noChangeAspect="1"/>
          </p:cNvPicPr>
          <p:nvPr/>
        </p:nvPicPr>
        <p:blipFill>
          <a:blip r:embed="rId2"/>
          <a:stretch>
            <a:fillRect/>
          </a:stretch>
        </p:blipFill>
        <p:spPr>
          <a:xfrm>
            <a:off x="8524037" y="4092854"/>
            <a:ext cx="164592" cy="164592"/>
          </a:xfrm>
          <a:prstGeom prst="rect">
            <a:avLst/>
          </a:prstGeom>
        </p:spPr>
      </p:pic>
      <p:sp>
        <p:nvSpPr>
          <p:cNvPr id="56" name="Text 52"/>
          <p:cNvSpPr/>
          <p:nvPr/>
        </p:nvSpPr>
        <p:spPr>
          <a:xfrm>
            <a:off x="8780069" y="4047134"/>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売上は1杯420円で算出</a:t>
            </a:r>
            <a:endParaRPr lang="en-US" sz="1000" dirty="0"/>
          </a:p>
        </p:txBody>
      </p:sp>
      <p:pic>
        <p:nvPicPr>
          <p:cNvPr id="57" name="Image 2" descr="/home/user/suzuki-ceo/selfcafe-partner-deck/assets/icons/LuCheck-green.png">    </p:cNvPr>
          <p:cNvPicPr>
            <a:picLocks noChangeAspect="1"/>
          </p:cNvPicPr>
          <p:nvPr/>
        </p:nvPicPr>
        <p:blipFill>
          <a:blip r:embed="rId3"/>
          <a:stretch>
            <a:fillRect/>
          </a:stretch>
        </p:blipFill>
        <p:spPr>
          <a:xfrm>
            <a:off x="8524037" y="4476902"/>
            <a:ext cx="164592" cy="164592"/>
          </a:xfrm>
          <a:prstGeom prst="rect">
            <a:avLst/>
          </a:prstGeom>
        </p:spPr>
      </p:pic>
      <p:sp>
        <p:nvSpPr>
          <p:cNvPr id="58" name="Text 53"/>
          <p:cNvSpPr/>
          <p:nvPr/>
        </p:nvSpPr>
        <p:spPr>
          <a:xfrm>
            <a:off x="8780069" y="4431182"/>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家賃は仮定坪単価による試算</a:t>
            </a:r>
            <a:endParaRPr lang="en-US" sz="1000" dirty="0"/>
          </a:p>
        </p:txBody>
      </p:sp>
      <p:pic>
        <p:nvPicPr>
          <p:cNvPr id="59" name="Image 3" descr="/home/user/suzuki-ceo/selfcafe-partner-deck/assets/icons/LuCheck-green.png">    </p:cNvPr>
          <p:cNvPicPr>
            <a:picLocks noChangeAspect="1"/>
          </p:cNvPicPr>
          <p:nvPr/>
        </p:nvPicPr>
        <p:blipFill>
          <a:blip r:embed="rId4"/>
          <a:stretch>
            <a:fillRect/>
          </a:stretch>
        </p:blipFill>
        <p:spPr>
          <a:xfrm>
            <a:off x="8524037" y="4860950"/>
            <a:ext cx="164592" cy="164592"/>
          </a:xfrm>
          <a:prstGeom prst="rect">
            <a:avLst/>
          </a:prstGeom>
        </p:spPr>
      </p:pic>
      <p:sp>
        <p:nvSpPr>
          <p:cNvPr id="60" name="Text 54"/>
          <p:cNvSpPr/>
          <p:nvPr/>
        </p:nvSpPr>
        <p:spPr>
          <a:xfrm>
            <a:off x="8780069" y="4815230"/>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ロイヤリティは月5万円の一律</a:t>
            </a:r>
            <a:endParaRPr lang="en-US" sz="1000" dirty="0"/>
          </a:p>
        </p:txBody>
      </p:sp>
      <p:pic>
        <p:nvPicPr>
          <p:cNvPr id="61" name="Image 4" descr="/home/user/suzuki-ceo/selfcafe-partner-deck/assets/icons/LuCheck-green.png">    </p:cNvPr>
          <p:cNvPicPr>
            <a:picLocks noChangeAspect="1"/>
          </p:cNvPicPr>
          <p:nvPr/>
        </p:nvPicPr>
        <p:blipFill>
          <a:blip r:embed="rId5"/>
          <a:stretch>
            <a:fillRect/>
          </a:stretch>
        </p:blipFill>
        <p:spPr>
          <a:xfrm>
            <a:off x="8524037" y="5244998"/>
            <a:ext cx="164592" cy="164592"/>
          </a:xfrm>
          <a:prstGeom prst="rect">
            <a:avLst/>
          </a:prstGeom>
        </p:spPr>
      </p:pic>
      <p:sp>
        <p:nvSpPr>
          <p:cNvPr id="62" name="Text 55"/>
          <p:cNvSpPr/>
          <p:nvPr/>
        </p:nvSpPr>
        <p:spPr>
          <a:xfrm>
            <a:off x="8780069" y="5199278"/>
            <a:ext cx="2513686" cy="292608"/>
          </a:xfrm>
          <a:prstGeom prst="rect">
            <a:avLst/>
          </a:prstGeom>
          <a:noFill/>
          <a:ln/>
        </p:spPr>
        <p:txBody>
          <a:bodyPr wrap="square" lIns="0" tIns="0" rIns="0" bIns="0" rtlCol="0" anchor="ctr"/>
          <a:lstStyle/>
          <a:p>
            <a:pPr indent="0" marL="0">
              <a:buNone/>
            </a:pPr>
            <a:r>
              <a:rPr lang="en-US" sz="1000" dirty="0">
                <a:solidFill>
                  <a:srgbClr val="0A3D23"/>
                </a:solidFill>
                <a:latin typeface="Yu Gothic" pitchFamily="34" charset="0"/>
                <a:ea typeface="Yu Gothic" pitchFamily="34" charset="-122"/>
                <a:cs typeface="Yu Gothic" pitchFamily="34" charset="-120"/>
              </a:rPr>
              <a:t>減価償却費は含まない</a:t>
            </a:r>
            <a:endParaRPr lang="en-US" sz="1000" dirty="0"/>
          </a:p>
        </p:txBody>
      </p:sp>
      <p:sp>
        <p:nvSpPr>
          <p:cNvPr id="63" name="Text 56"/>
          <p:cNvSpPr/>
          <p:nvPr/>
        </p:nvSpPr>
        <p:spPr>
          <a:xfrm>
            <a:off x="660197" y="620511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シミュレーションは目安であり、売上・利益を保証するものではありません。</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21</a:t>
            </a:r>
            <a:r>
              <a:rPr lang="en-US" sz="1050" b="1" dirty="0">
                <a:solidFill>
                  <a:srgbClr val="1B8149"/>
                </a:solidFill>
                <a:latin typeface="Yu Gothic" pitchFamily="34" charset="0"/>
                <a:ea typeface="Yu Gothic" pitchFamily="34" charset="-122"/>
                <a:cs typeface="Yu Gothic" pitchFamily="34" charset="-120"/>
              </a:rPr>
              <a:t>   収益</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投資回収シミュレーション ／ 75坪</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初期費用1,000万円を想定し、家賃あり（賃借）と家賃なし（自社物件）の2パターンで回収期間を試算しました。</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22</a:t>
            </a:r>
            <a:endParaRPr lang="en-US" sz="1000" dirty="0"/>
          </a:p>
        </p:txBody>
      </p:sp>
      <p:sp>
        <p:nvSpPr>
          <p:cNvPr id="9" name="Shape 6"/>
          <p:cNvSpPr/>
          <p:nvPr/>
        </p:nvSpPr>
        <p:spPr>
          <a:xfrm>
            <a:off x="660197" y="1651406"/>
            <a:ext cx="2603297" cy="609905"/>
          </a:xfrm>
          <a:prstGeom prst="roundRect">
            <a:avLst>
              <a:gd name="adj" fmla="val 7496"/>
            </a:avLst>
          </a:prstGeom>
          <a:solidFill>
            <a:srgbClr val="FBF4E4"/>
          </a:solidFill>
          <a:ln w="9525">
            <a:solidFill>
              <a:srgbClr val="E7D3A8"/>
            </a:solidFill>
            <a:prstDash val="solid"/>
          </a:ln>
        </p:spPr>
      </p:sp>
      <p:sp>
        <p:nvSpPr>
          <p:cNvPr id="10" name="Text 7"/>
          <p:cNvSpPr/>
          <p:nvPr/>
        </p:nvSpPr>
        <p:spPr>
          <a:xfrm>
            <a:off x="825703" y="1727302"/>
            <a:ext cx="2274113" cy="279806"/>
          </a:xfrm>
          <a:prstGeom prst="rect">
            <a:avLst/>
          </a:prstGeom>
          <a:noFill/>
          <a:ln/>
        </p:spPr>
        <p:txBody>
          <a:bodyPr wrap="square" lIns="0" tIns="0" rIns="0" bIns="0" rtlCol="0" anchor="ctr"/>
          <a:lstStyle/>
          <a:p>
            <a:pPr indent="0" marL="0">
              <a:buNone/>
            </a:pPr>
            <a:r>
              <a:rPr lang="en-US" sz="1700" b="1" dirty="0">
                <a:solidFill>
                  <a:srgbClr val="A8761F"/>
                </a:solidFill>
                <a:latin typeface="Arial" pitchFamily="34" charset="0"/>
                <a:ea typeface="Arial" pitchFamily="34" charset="-122"/>
                <a:cs typeface="Arial" pitchFamily="34" charset="-120"/>
              </a:rPr>
              <a:t>1,000</a:t>
            </a:r>
            <a:r>
              <a:rPr lang="en-US" sz="1100" b="1" dirty="0">
                <a:solidFill>
                  <a:srgbClr val="A8761F"/>
                </a:solidFill>
                <a:latin typeface="Yu Gothic" pitchFamily="34" charset="0"/>
                <a:ea typeface="Yu Gothic" pitchFamily="34" charset="-122"/>
                <a:cs typeface="Yu Gothic" pitchFamily="34" charset="-120"/>
              </a:rPr>
              <a:t> 万円</a:t>
            </a:r>
            <a:endParaRPr lang="en-US" sz="1700" dirty="0"/>
          </a:p>
        </p:txBody>
      </p:sp>
      <p:sp>
        <p:nvSpPr>
          <p:cNvPr id="11" name="Text 8"/>
          <p:cNvSpPr/>
          <p:nvPr/>
        </p:nvSpPr>
        <p:spPr>
          <a:xfrm>
            <a:off x="825703"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想定初期費用</a:t>
            </a:r>
            <a:endParaRPr lang="en-US" sz="900" dirty="0"/>
          </a:p>
        </p:txBody>
      </p:sp>
      <p:sp>
        <p:nvSpPr>
          <p:cNvPr id="12" name="Shape 9"/>
          <p:cNvSpPr/>
          <p:nvPr/>
        </p:nvSpPr>
        <p:spPr>
          <a:xfrm>
            <a:off x="3416198" y="1651406"/>
            <a:ext cx="2603297" cy="609905"/>
          </a:xfrm>
          <a:prstGeom prst="roundRect">
            <a:avLst>
              <a:gd name="adj" fmla="val 7496"/>
            </a:avLst>
          </a:prstGeom>
          <a:solidFill>
            <a:srgbClr val="F1F8F3"/>
          </a:solidFill>
          <a:ln w="9525">
            <a:solidFill>
              <a:srgbClr val="D2E7DA"/>
            </a:solidFill>
            <a:prstDash val="solid"/>
          </a:ln>
        </p:spPr>
      </p:sp>
      <p:sp>
        <p:nvSpPr>
          <p:cNvPr id="13" name="Text 10"/>
          <p:cNvSpPr/>
          <p:nvPr/>
        </p:nvSpPr>
        <p:spPr>
          <a:xfrm>
            <a:off x="3581705" y="1727302"/>
            <a:ext cx="2274113" cy="279806"/>
          </a:xfrm>
          <a:prstGeom prst="rect">
            <a:avLst/>
          </a:prstGeom>
          <a:noFill/>
          <a:ln/>
        </p:spPr>
        <p:txBody>
          <a:bodyPr wrap="square" lIns="0" tIns="0" rIns="0" bIns="0" rtlCol="0" anchor="ctr"/>
          <a:lstStyle/>
          <a:p>
            <a:pPr indent="0" marL="0">
              <a:buNone/>
            </a:pPr>
            <a:r>
              <a:rPr lang="en-US" sz="1700" b="1" dirty="0">
                <a:solidFill>
                  <a:srgbClr val="106838"/>
                </a:solidFill>
                <a:latin typeface="Arial" pitchFamily="34" charset="0"/>
                <a:ea typeface="Arial" pitchFamily="34" charset="-122"/>
                <a:cs typeface="Arial" pitchFamily="34" charset="-120"/>
              </a:rPr>
              <a:t>75</a:t>
            </a:r>
            <a:r>
              <a:rPr lang="en-US" sz="1100" b="1" dirty="0">
                <a:solidFill>
                  <a:srgbClr val="106838"/>
                </a:solidFill>
                <a:latin typeface="Yu Gothic" pitchFamily="34" charset="0"/>
                <a:ea typeface="Yu Gothic" pitchFamily="34" charset="-122"/>
                <a:cs typeface="Yu Gothic" pitchFamily="34" charset="-120"/>
              </a:rPr>
              <a:t> 坪（130席）</a:t>
            </a:r>
            <a:endParaRPr lang="en-US" sz="1700" dirty="0"/>
          </a:p>
        </p:txBody>
      </p:sp>
      <p:sp>
        <p:nvSpPr>
          <p:cNvPr id="14" name="Text 11"/>
          <p:cNvSpPr/>
          <p:nvPr/>
        </p:nvSpPr>
        <p:spPr>
          <a:xfrm>
            <a:off x="3581705"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想定規模</a:t>
            </a:r>
            <a:endParaRPr lang="en-US" sz="900" dirty="0"/>
          </a:p>
        </p:txBody>
      </p:sp>
      <p:sp>
        <p:nvSpPr>
          <p:cNvPr id="15" name="Shape 12"/>
          <p:cNvSpPr/>
          <p:nvPr/>
        </p:nvSpPr>
        <p:spPr>
          <a:xfrm>
            <a:off x="6172200" y="1651406"/>
            <a:ext cx="2603297" cy="609905"/>
          </a:xfrm>
          <a:prstGeom prst="roundRect">
            <a:avLst>
              <a:gd name="adj" fmla="val 7496"/>
            </a:avLst>
          </a:prstGeom>
          <a:solidFill>
            <a:srgbClr val="F1F8F3"/>
          </a:solidFill>
          <a:ln w="9525">
            <a:solidFill>
              <a:srgbClr val="D2E7DA"/>
            </a:solidFill>
            <a:prstDash val="solid"/>
          </a:ln>
        </p:spPr>
      </p:sp>
      <p:sp>
        <p:nvSpPr>
          <p:cNvPr id="16" name="Text 13"/>
          <p:cNvSpPr/>
          <p:nvPr/>
        </p:nvSpPr>
        <p:spPr>
          <a:xfrm>
            <a:off x="6337706" y="1727302"/>
            <a:ext cx="2274113" cy="279806"/>
          </a:xfrm>
          <a:prstGeom prst="rect">
            <a:avLst/>
          </a:prstGeom>
          <a:noFill/>
          <a:ln/>
        </p:spPr>
        <p:txBody>
          <a:bodyPr wrap="square" lIns="0" tIns="0" rIns="0" bIns="0" rtlCol="0" anchor="ctr"/>
          <a:lstStyle/>
          <a:p>
            <a:pPr indent="0" marL="0">
              <a:buNone/>
            </a:pPr>
            <a:r>
              <a:rPr lang="en-US" sz="1700" b="1" dirty="0">
                <a:solidFill>
                  <a:srgbClr val="106838"/>
                </a:solidFill>
                <a:latin typeface="Arial" pitchFamily="34" charset="0"/>
                <a:ea typeface="Arial" pitchFamily="34" charset="-122"/>
                <a:cs typeface="Arial" pitchFamily="34" charset="-120"/>
              </a:rPr>
              <a:t>1,638,000</a:t>
            </a:r>
            <a:r>
              <a:rPr lang="en-US" sz="1100" b="1" dirty="0">
                <a:solidFill>
                  <a:srgbClr val="106838"/>
                </a:solidFill>
                <a:latin typeface="Yu Gothic" pitchFamily="34" charset="0"/>
                <a:ea typeface="Yu Gothic" pitchFamily="34" charset="-122"/>
                <a:cs typeface="Yu Gothic" pitchFamily="34" charset="-120"/>
              </a:rPr>
              <a:t> 円</a:t>
            </a:r>
            <a:endParaRPr lang="en-US" sz="1700" dirty="0"/>
          </a:p>
        </p:txBody>
      </p:sp>
      <p:sp>
        <p:nvSpPr>
          <p:cNvPr id="17" name="Text 14"/>
          <p:cNvSpPr/>
          <p:nvPr/>
        </p:nvSpPr>
        <p:spPr>
          <a:xfrm>
            <a:off x="6337706"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月間売上（420円×130杯×30日）</a:t>
            </a:r>
            <a:endParaRPr lang="en-US" sz="900" dirty="0"/>
          </a:p>
        </p:txBody>
      </p:sp>
      <p:sp>
        <p:nvSpPr>
          <p:cNvPr id="18" name="Shape 15"/>
          <p:cNvSpPr/>
          <p:nvPr/>
        </p:nvSpPr>
        <p:spPr>
          <a:xfrm>
            <a:off x="8928202" y="1651406"/>
            <a:ext cx="2603297" cy="609905"/>
          </a:xfrm>
          <a:prstGeom prst="roundRect">
            <a:avLst>
              <a:gd name="adj" fmla="val 7496"/>
            </a:avLst>
          </a:prstGeom>
          <a:solidFill>
            <a:srgbClr val="F1F8F3"/>
          </a:solidFill>
          <a:ln w="9525">
            <a:solidFill>
              <a:srgbClr val="D2E7DA"/>
            </a:solidFill>
            <a:prstDash val="solid"/>
          </a:ln>
        </p:spPr>
      </p:sp>
      <p:sp>
        <p:nvSpPr>
          <p:cNvPr id="19" name="Text 16"/>
          <p:cNvSpPr/>
          <p:nvPr/>
        </p:nvSpPr>
        <p:spPr>
          <a:xfrm>
            <a:off x="9093708" y="1727302"/>
            <a:ext cx="2274113" cy="279806"/>
          </a:xfrm>
          <a:prstGeom prst="rect">
            <a:avLst/>
          </a:prstGeom>
          <a:noFill/>
          <a:ln/>
        </p:spPr>
        <p:txBody>
          <a:bodyPr wrap="square" lIns="0" tIns="0" rIns="0" bIns="0" rtlCol="0" anchor="ctr"/>
          <a:lstStyle/>
          <a:p>
            <a:pPr indent="0" marL="0">
              <a:buNone/>
            </a:pPr>
            <a:r>
              <a:rPr lang="en-US" sz="1700" b="1" dirty="0">
                <a:solidFill>
                  <a:srgbClr val="106838"/>
                </a:solidFill>
                <a:latin typeface="Arial" pitchFamily="34" charset="0"/>
                <a:ea typeface="Arial" pitchFamily="34" charset="-122"/>
                <a:cs typeface="Arial" pitchFamily="34" charset="-120"/>
              </a:rPr>
              <a:t>648,600</a:t>
            </a:r>
            <a:r>
              <a:rPr lang="en-US" sz="1100" b="1" dirty="0">
                <a:solidFill>
                  <a:srgbClr val="106838"/>
                </a:solidFill>
                <a:latin typeface="Yu Gothic" pitchFamily="34" charset="0"/>
                <a:ea typeface="Yu Gothic" pitchFamily="34" charset="-122"/>
                <a:cs typeface="Yu Gothic" pitchFamily="34" charset="-120"/>
              </a:rPr>
              <a:t> 円</a:t>
            </a:r>
            <a:endParaRPr lang="en-US" sz="1700" dirty="0"/>
          </a:p>
        </p:txBody>
      </p:sp>
      <p:sp>
        <p:nvSpPr>
          <p:cNvPr id="20" name="Text 17"/>
          <p:cNvSpPr/>
          <p:nvPr/>
        </p:nvSpPr>
        <p:spPr>
          <a:xfrm>
            <a:off x="9093708"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月間経費（家賃を除く）</a:t>
            </a:r>
            <a:endParaRPr lang="en-US" sz="900" dirty="0"/>
          </a:p>
        </p:txBody>
      </p:sp>
      <p:sp>
        <p:nvSpPr>
          <p:cNvPr id="21" name="Shape 18"/>
          <p:cNvSpPr/>
          <p:nvPr/>
        </p:nvSpPr>
        <p:spPr>
          <a:xfrm>
            <a:off x="660197" y="2492654"/>
            <a:ext cx="5243627" cy="2798064"/>
          </a:xfrm>
          <a:prstGeom prst="roundRect">
            <a:avLst>
              <a:gd name="adj" fmla="val 1961"/>
            </a:avLst>
          </a:prstGeom>
          <a:solidFill>
            <a:srgbClr val="FFFFFF"/>
          </a:solidFill>
          <a:ln w="9525">
            <a:solidFill>
              <a:srgbClr val="EFEAE0"/>
            </a:solidFill>
            <a:prstDash val="solid"/>
          </a:ln>
        </p:spPr>
      </p:sp>
      <p:sp>
        <p:nvSpPr>
          <p:cNvPr id="22" name="Text 19"/>
          <p:cNvSpPr/>
          <p:nvPr/>
        </p:nvSpPr>
        <p:spPr>
          <a:xfrm>
            <a:off x="934517" y="2712110"/>
            <a:ext cx="4694987" cy="292608"/>
          </a:xfrm>
          <a:prstGeom prst="rect">
            <a:avLst/>
          </a:prstGeom>
          <a:noFill/>
          <a:ln/>
        </p:spPr>
        <p:txBody>
          <a:bodyPr wrap="square" lIns="0" tIns="0" rIns="0" bIns="0" rtlCol="0" anchor="ctr"/>
          <a:lstStyle/>
          <a:p>
            <a:pPr indent="0" marL="0">
              <a:buNone/>
            </a:pPr>
            <a:r>
              <a:rPr lang="en-US" sz="1400" b="1" dirty="0">
                <a:solidFill>
                  <a:srgbClr val="106838"/>
                </a:solidFill>
                <a:latin typeface="Yu Gothic" pitchFamily="34" charset="0"/>
                <a:ea typeface="Yu Gothic" pitchFamily="34" charset="-122"/>
                <a:cs typeface="Yu Gothic" pitchFamily="34" charset="-120"/>
              </a:rPr>
              <a:t>① 家賃あり（賃借物件）</a:t>
            </a:r>
            <a:endParaRPr lang="en-US" sz="1400" dirty="0"/>
          </a:p>
        </p:txBody>
      </p:sp>
      <p:sp>
        <p:nvSpPr>
          <p:cNvPr id="23" name="Text 20"/>
          <p:cNvSpPr/>
          <p:nvPr/>
        </p:nvSpPr>
        <p:spPr>
          <a:xfrm>
            <a:off x="934517" y="3096158"/>
            <a:ext cx="2103120" cy="51206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家賃</a:t>
            </a:r>
            <a:endParaRPr lang="en-US" sz="1050" dirty="0"/>
          </a:p>
        </p:txBody>
      </p:sp>
      <p:sp>
        <p:nvSpPr>
          <p:cNvPr id="24" name="Text 21"/>
          <p:cNvSpPr/>
          <p:nvPr/>
        </p:nvSpPr>
        <p:spPr>
          <a:xfrm>
            <a:off x="2854757" y="3370478"/>
            <a:ext cx="2774747" cy="219456"/>
          </a:xfrm>
          <a:prstGeom prst="rect">
            <a:avLst/>
          </a:prstGeom>
          <a:noFill/>
          <a:ln/>
        </p:spPr>
        <p:txBody>
          <a:bodyPr wrap="square" lIns="0" tIns="0" rIns="0" bIns="0" rtlCol="0" anchor="ctr"/>
          <a:lstStyle/>
          <a:p>
            <a:pPr algn="r" indent="0" marL="0">
              <a:buNone/>
            </a:pPr>
            <a:r>
              <a:rPr lang="en-US" sz="850" dirty="0">
                <a:solidFill>
                  <a:srgbClr val="7E8882"/>
                </a:solidFill>
                <a:latin typeface="Yu Gothic" pitchFamily="34" charset="0"/>
                <a:ea typeface="Yu Gothic" pitchFamily="34" charset="-122"/>
                <a:cs typeface="Yu Gothic" pitchFamily="34" charset="-120"/>
              </a:rPr>
              <a:t>仮定坪単価 8,000円 × 75坪</a:t>
            </a:r>
            <a:endParaRPr lang="en-US" sz="850" dirty="0"/>
          </a:p>
        </p:txBody>
      </p:sp>
      <p:sp>
        <p:nvSpPr>
          <p:cNvPr id="25" name="Text 22"/>
          <p:cNvSpPr/>
          <p:nvPr/>
        </p:nvSpPr>
        <p:spPr>
          <a:xfrm>
            <a:off x="2854757" y="3096158"/>
            <a:ext cx="2774747" cy="310896"/>
          </a:xfrm>
          <a:prstGeom prst="rect">
            <a:avLst/>
          </a:prstGeom>
          <a:noFill/>
          <a:ln/>
        </p:spPr>
        <p:txBody>
          <a:bodyPr wrap="square" lIns="0" tIns="0" rIns="0" bIns="0" rtlCol="0" anchor="ctr"/>
          <a:lstStyle/>
          <a:p>
            <a:pPr algn="r" indent="0" marL="0">
              <a:buNone/>
            </a:pPr>
            <a:r>
              <a:rPr lang="en-US" sz="1500" b="1" dirty="0">
                <a:solidFill>
                  <a:srgbClr val="0A3D23"/>
                </a:solidFill>
                <a:latin typeface="Arial" pitchFamily="34" charset="0"/>
                <a:ea typeface="Arial" pitchFamily="34" charset="-122"/>
                <a:cs typeface="Arial" pitchFamily="34" charset="-120"/>
              </a:rPr>
              <a:t>-600,000円</a:t>
            </a:r>
            <a:endParaRPr lang="en-US" sz="1500" dirty="0"/>
          </a:p>
        </p:txBody>
      </p:sp>
      <p:sp>
        <p:nvSpPr>
          <p:cNvPr id="26" name="Shape 23"/>
          <p:cNvSpPr/>
          <p:nvPr/>
        </p:nvSpPr>
        <p:spPr>
          <a:xfrm>
            <a:off x="934517" y="3608222"/>
            <a:ext cx="4694987" cy="10058"/>
          </a:xfrm>
          <a:prstGeom prst="rect">
            <a:avLst/>
          </a:prstGeom>
          <a:solidFill>
            <a:srgbClr val="EFEAE0"/>
          </a:solidFill>
          <a:ln/>
        </p:spPr>
      </p:sp>
      <p:sp>
        <p:nvSpPr>
          <p:cNvPr id="27" name="Text 24"/>
          <p:cNvSpPr/>
          <p:nvPr/>
        </p:nvSpPr>
        <p:spPr>
          <a:xfrm>
            <a:off x="934517" y="3663086"/>
            <a:ext cx="2103120" cy="51206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月間 償却前営業利益</a:t>
            </a:r>
            <a:endParaRPr lang="en-US" sz="1050" dirty="0"/>
          </a:p>
        </p:txBody>
      </p:sp>
      <p:sp>
        <p:nvSpPr>
          <p:cNvPr id="28" name="Text 25"/>
          <p:cNvSpPr/>
          <p:nvPr/>
        </p:nvSpPr>
        <p:spPr>
          <a:xfrm>
            <a:off x="2854757" y="3937406"/>
            <a:ext cx="2774747" cy="219456"/>
          </a:xfrm>
          <a:prstGeom prst="rect">
            <a:avLst/>
          </a:prstGeom>
          <a:noFill/>
          <a:ln/>
        </p:spPr>
        <p:txBody>
          <a:bodyPr wrap="square" lIns="0" tIns="0" rIns="0" bIns="0" rtlCol="0" anchor="ctr"/>
          <a:lstStyle/>
          <a:p>
            <a:pPr algn="r" indent="0" marL="0">
              <a:buNone/>
            </a:pPr>
            <a:r>
              <a:rPr lang="en-US" sz="850" dirty="0">
                <a:solidFill>
                  <a:srgbClr val="7E8882"/>
                </a:solidFill>
                <a:latin typeface="Yu Gothic" pitchFamily="34" charset="0"/>
                <a:ea typeface="Yu Gothic" pitchFamily="34" charset="-122"/>
                <a:cs typeface="Yu Gothic" pitchFamily="34" charset="-120"/>
              </a:rPr>
              <a:t>年間換算 4,672,800円</a:t>
            </a:r>
            <a:endParaRPr lang="en-US" sz="850" dirty="0"/>
          </a:p>
        </p:txBody>
      </p:sp>
      <p:sp>
        <p:nvSpPr>
          <p:cNvPr id="29" name="Text 26"/>
          <p:cNvSpPr/>
          <p:nvPr/>
        </p:nvSpPr>
        <p:spPr>
          <a:xfrm>
            <a:off x="2854757" y="3663086"/>
            <a:ext cx="2774747" cy="310896"/>
          </a:xfrm>
          <a:prstGeom prst="rect">
            <a:avLst/>
          </a:prstGeom>
          <a:noFill/>
          <a:ln/>
        </p:spPr>
        <p:txBody>
          <a:bodyPr wrap="square" lIns="0" tIns="0" rIns="0" bIns="0" rtlCol="0" anchor="ctr"/>
          <a:lstStyle/>
          <a:p>
            <a:pPr algn="r" indent="0" marL="0">
              <a:buNone/>
            </a:pPr>
            <a:r>
              <a:rPr lang="en-US" sz="1500" b="1" dirty="0">
                <a:solidFill>
                  <a:srgbClr val="0A3D23"/>
                </a:solidFill>
                <a:latin typeface="Arial" pitchFamily="34" charset="0"/>
                <a:ea typeface="Arial" pitchFamily="34" charset="-122"/>
                <a:cs typeface="Arial" pitchFamily="34" charset="-120"/>
              </a:rPr>
              <a:t>389,400円</a:t>
            </a:r>
            <a:endParaRPr lang="en-US" sz="1500" dirty="0"/>
          </a:p>
        </p:txBody>
      </p:sp>
      <p:sp>
        <p:nvSpPr>
          <p:cNvPr id="30" name="Shape 27"/>
          <p:cNvSpPr/>
          <p:nvPr/>
        </p:nvSpPr>
        <p:spPr>
          <a:xfrm>
            <a:off x="934517" y="4175150"/>
            <a:ext cx="4694987" cy="10058"/>
          </a:xfrm>
          <a:prstGeom prst="rect">
            <a:avLst/>
          </a:prstGeom>
          <a:solidFill>
            <a:srgbClr val="EFEAE0"/>
          </a:solidFill>
          <a:ln/>
        </p:spPr>
      </p:sp>
      <p:sp>
        <p:nvSpPr>
          <p:cNvPr id="31" name="Text 28"/>
          <p:cNvSpPr/>
          <p:nvPr/>
        </p:nvSpPr>
        <p:spPr>
          <a:xfrm>
            <a:off x="934517" y="4339742"/>
            <a:ext cx="4694987" cy="20116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初期費用の回収期間</a:t>
            </a:r>
            <a:endParaRPr lang="en-US" sz="950" dirty="0"/>
          </a:p>
        </p:txBody>
      </p:sp>
      <p:sp>
        <p:nvSpPr>
          <p:cNvPr id="32" name="Text 29"/>
          <p:cNvSpPr/>
          <p:nvPr/>
        </p:nvSpPr>
        <p:spPr>
          <a:xfrm>
            <a:off x="934517" y="4540910"/>
            <a:ext cx="4694987" cy="475488"/>
          </a:xfrm>
          <a:prstGeom prst="rect">
            <a:avLst/>
          </a:prstGeom>
          <a:noFill/>
          <a:ln/>
        </p:spPr>
        <p:txBody>
          <a:bodyPr wrap="square" lIns="0" tIns="0" rIns="0" bIns="0" rtlCol="0" anchor="ctr"/>
          <a:lstStyle/>
          <a:p>
            <a:pPr indent="0" marL="0">
              <a:buNone/>
            </a:pPr>
            <a:r>
              <a:rPr lang="en-US" sz="2700" b="1" dirty="0">
                <a:solidFill>
                  <a:srgbClr val="106838"/>
                </a:solidFill>
                <a:latin typeface="Yu Gothic" pitchFamily="34" charset="0"/>
                <a:ea typeface="Yu Gothic" pitchFamily="34" charset="-122"/>
                <a:cs typeface="Yu Gothic" pitchFamily="34" charset="-120"/>
              </a:rPr>
              <a:t>約2年2ヶ月</a:t>
            </a:r>
            <a:endParaRPr lang="en-US" sz="2700" dirty="0"/>
          </a:p>
        </p:txBody>
      </p:sp>
      <p:sp>
        <p:nvSpPr>
          <p:cNvPr id="33" name="Text 30"/>
          <p:cNvSpPr/>
          <p:nvPr/>
        </p:nvSpPr>
        <p:spPr>
          <a:xfrm>
            <a:off x="934517" y="4998110"/>
            <a:ext cx="4694987" cy="201168"/>
          </a:xfrm>
          <a:prstGeom prst="rect">
            <a:avLst/>
          </a:prstGeom>
          <a:noFill/>
          <a:ln/>
        </p:spPr>
        <p:txBody>
          <a:bodyPr wrap="square" lIns="0" tIns="0" rIns="0" bIns="0" rtlCol="0" anchor="ctr"/>
          <a:lstStyle/>
          <a:p>
            <a:pPr indent="0" marL="0">
              <a:buNone/>
            </a:pPr>
            <a:r>
              <a:rPr lang="en-US" sz="850" dirty="0">
                <a:solidFill>
                  <a:srgbClr val="7E8882"/>
                </a:solidFill>
                <a:latin typeface="Arial" pitchFamily="34" charset="0"/>
                <a:ea typeface="Arial" pitchFamily="34" charset="-122"/>
                <a:cs typeface="Arial" pitchFamily="34" charset="-120"/>
              </a:rPr>
              <a:t>1,000万円 ÷ 38.9万円 ≒ 26ヶ月</a:t>
            </a:r>
            <a:endParaRPr lang="en-US" sz="850" dirty="0"/>
          </a:p>
        </p:txBody>
      </p:sp>
      <p:sp>
        <p:nvSpPr>
          <p:cNvPr id="34" name="Shape 31"/>
          <p:cNvSpPr/>
          <p:nvPr/>
        </p:nvSpPr>
        <p:spPr>
          <a:xfrm>
            <a:off x="6287872" y="2492654"/>
            <a:ext cx="5243627" cy="2798064"/>
          </a:xfrm>
          <a:prstGeom prst="roundRect">
            <a:avLst>
              <a:gd name="adj" fmla="val 1961"/>
            </a:avLst>
          </a:prstGeom>
          <a:solidFill>
            <a:srgbClr val="0C5230"/>
          </a:solidFill>
          <a:ln/>
        </p:spPr>
      </p:sp>
      <p:sp>
        <p:nvSpPr>
          <p:cNvPr id="35" name="Text 32"/>
          <p:cNvSpPr/>
          <p:nvPr/>
        </p:nvSpPr>
        <p:spPr>
          <a:xfrm>
            <a:off x="6562192" y="2712110"/>
            <a:ext cx="4694987" cy="292608"/>
          </a:xfrm>
          <a:prstGeom prst="rect">
            <a:avLst/>
          </a:prstGeom>
          <a:noFill/>
          <a:ln/>
        </p:spPr>
        <p:txBody>
          <a:bodyPr wrap="square" lIns="0" tIns="0" rIns="0" bIns="0" rtlCol="0" anchor="ctr"/>
          <a:lstStyle/>
          <a:p>
            <a:pPr indent="0" marL="0">
              <a:buNone/>
            </a:pPr>
            <a:r>
              <a:rPr lang="en-US" sz="1400" b="1" dirty="0">
                <a:solidFill>
                  <a:srgbClr val="8CC5A5"/>
                </a:solidFill>
                <a:latin typeface="Yu Gothic" pitchFamily="34" charset="0"/>
                <a:ea typeface="Yu Gothic" pitchFamily="34" charset="-122"/>
                <a:cs typeface="Yu Gothic" pitchFamily="34" charset="-120"/>
              </a:rPr>
              <a:t>② 家賃なし（自社物件）</a:t>
            </a:r>
            <a:endParaRPr lang="en-US" sz="1400" dirty="0"/>
          </a:p>
        </p:txBody>
      </p:sp>
      <p:sp>
        <p:nvSpPr>
          <p:cNvPr id="36" name="Text 33"/>
          <p:cNvSpPr/>
          <p:nvPr/>
        </p:nvSpPr>
        <p:spPr>
          <a:xfrm>
            <a:off x="6562192" y="3096158"/>
            <a:ext cx="2103120" cy="512064"/>
          </a:xfrm>
          <a:prstGeom prst="rect">
            <a:avLst/>
          </a:prstGeom>
          <a:noFill/>
          <a:ln/>
        </p:spPr>
        <p:txBody>
          <a:bodyPr wrap="square" lIns="0" tIns="0" rIns="0" bIns="0" rtlCol="0" anchor="ctr"/>
          <a:lstStyle/>
          <a:p>
            <a:pPr indent="0" marL="0">
              <a:buNone/>
            </a:pPr>
            <a:r>
              <a:rPr lang="en-US" sz="1050" b="1" dirty="0">
                <a:solidFill>
                  <a:srgbClr val="FFFFFF"/>
                </a:solidFill>
                <a:latin typeface="Yu Gothic" pitchFamily="34" charset="0"/>
                <a:ea typeface="Yu Gothic" pitchFamily="34" charset="-122"/>
                <a:cs typeface="Yu Gothic" pitchFamily="34" charset="-120"/>
              </a:rPr>
              <a:t>家賃</a:t>
            </a:r>
            <a:endParaRPr lang="en-US" sz="1050" dirty="0"/>
          </a:p>
        </p:txBody>
      </p:sp>
      <p:sp>
        <p:nvSpPr>
          <p:cNvPr id="37" name="Text 34"/>
          <p:cNvSpPr/>
          <p:nvPr/>
        </p:nvSpPr>
        <p:spPr>
          <a:xfrm>
            <a:off x="8482432" y="3370478"/>
            <a:ext cx="2774747" cy="219456"/>
          </a:xfrm>
          <a:prstGeom prst="rect">
            <a:avLst/>
          </a:prstGeom>
          <a:noFill/>
          <a:ln/>
        </p:spPr>
        <p:txBody>
          <a:bodyPr wrap="square" lIns="0" tIns="0" rIns="0" bIns="0" rtlCol="0" anchor="ctr"/>
          <a:lstStyle/>
          <a:p>
            <a:pPr algn="r" indent="0" marL="0">
              <a:buNone/>
            </a:pPr>
            <a:r>
              <a:rPr lang="en-US" sz="850" dirty="0">
                <a:solidFill>
                  <a:srgbClr val="AFC2B8"/>
                </a:solidFill>
                <a:latin typeface="Yu Gothic" pitchFamily="34" charset="0"/>
                <a:ea typeface="Yu Gothic" pitchFamily="34" charset="-122"/>
                <a:cs typeface="Yu Gothic" pitchFamily="34" charset="-120"/>
              </a:rPr>
              <a:t>自社物件のため家賃負担なし</a:t>
            </a:r>
            <a:endParaRPr lang="en-US" sz="850" dirty="0"/>
          </a:p>
        </p:txBody>
      </p:sp>
      <p:sp>
        <p:nvSpPr>
          <p:cNvPr id="38" name="Text 35"/>
          <p:cNvSpPr/>
          <p:nvPr/>
        </p:nvSpPr>
        <p:spPr>
          <a:xfrm>
            <a:off x="8482432" y="3096158"/>
            <a:ext cx="2774747" cy="310896"/>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0円</a:t>
            </a:r>
            <a:endParaRPr lang="en-US" sz="1500" dirty="0"/>
          </a:p>
        </p:txBody>
      </p:sp>
      <p:sp>
        <p:nvSpPr>
          <p:cNvPr id="39" name="Shape 36"/>
          <p:cNvSpPr/>
          <p:nvPr/>
        </p:nvSpPr>
        <p:spPr>
          <a:xfrm>
            <a:off x="6562192" y="3608222"/>
            <a:ext cx="4694987" cy="10058"/>
          </a:xfrm>
          <a:prstGeom prst="rect">
            <a:avLst/>
          </a:prstGeom>
          <a:solidFill>
            <a:srgbClr val="1E6A44"/>
          </a:solidFill>
          <a:ln/>
        </p:spPr>
      </p:sp>
      <p:sp>
        <p:nvSpPr>
          <p:cNvPr id="40" name="Text 37"/>
          <p:cNvSpPr/>
          <p:nvPr/>
        </p:nvSpPr>
        <p:spPr>
          <a:xfrm>
            <a:off x="6562192" y="3663086"/>
            <a:ext cx="2103120" cy="512064"/>
          </a:xfrm>
          <a:prstGeom prst="rect">
            <a:avLst/>
          </a:prstGeom>
          <a:noFill/>
          <a:ln/>
        </p:spPr>
        <p:txBody>
          <a:bodyPr wrap="square" lIns="0" tIns="0" rIns="0" bIns="0" rtlCol="0" anchor="ctr"/>
          <a:lstStyle/>
          <a:p>
            <a:pPr indent="0" marL="0">
              <a:buNone/>
            </a:pPr>
            <a:r>
              <a:rPr lang="en-US" sz="1050" b="1" dirty="0">
                <a:solidFill>
                  <a:srgbClr val="FFFFFF"/>
                </a:solidFill>
                <a:latin typeface="Yu Gothic" pitchFamily="34" charset="0"/>
                <a:ea typeface="Yu Gothic" pitchFamily="34" charset="-122"/>
                <a:cs typeface="Yu Gothic" pitchFamily="34" charset="-120"/>
              </a:rPr>
              <a:t>月間 償却前営業利益</a:t>
            </a:r>
            <a:endParaRPr lang="en-US" sz="1050" dirty="0"/>
          </a:p>
        </p:txBody>
      </p:sp>
      <p:sp>
        <p:nvSpPr>
          <p:cNvPr id="41" name="Text 38"/>
          <p:cNvSpPr/>
          <p:nvPr/>
        </p:nvSpPr>
        <p:spPr>
          <a:xfrm>
            <a:off x="8482432" y="3937406"/>
            <a:ext cx="2774747" cy="219456"/>
          </a:xfrm>
          <a:prstGeom prst="rect">
            <a:avLst/>
          </a:prstGeom>
          <a:noFill/>
          <a:ln/>
        </p:spPr>
        <p:txBody>
          <a:bodyPr wrap="square" lIns="0" tIns="0" rIns="0" bIns="0" rtlCol="0" anchor="ctr"/>
          <a:lstStyle/>
          <a:p>
            <a:pPr algn="r" indent="0" marL="0">
              <a:buNone/>
            </a:pPr>
            <a:r>
              <a:rPr lang="en-US" sz="850" dirty="0">
                <a:solidFill>
                  <a:srgbClr val="AFC2B8"/>
                </a:solidFill>
                <a:latin typeface="Yu Gothic" pitchFamily="34" charset="0"/>
                <a:ea typeface="Yu Gothic" pitchFamily="34" charset="-122"/>
                <a:cs typeface="Yu Gothic" pitchFamily="34" charset="-120"/>
              </a:rPr>
              <a:t>年間換算 11,872,800円</a:t>
            </a:r>
            <a:endParaRPr lang="en-US" sz="850" dirty="0"/>
          </a:p>
        </p:txBody>
      </p:sp>
      <p:sp>
        <p:nvSpPr>
          <p:cNvPr id="42" name="Text 39"/>
          <p:cNvSpPr/>
          <p:nvPr/>
        </p:nvSpPr>
        <p:spPr>
          <a:xfrm>
            <a:off x="8482432" y="3663086"/>
            <a:ext cx="2774747" cy="310896"/>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989,400円</a:t>
            </a:r>
            <a:endParaRPr lang="en-US" sz="1500" dirty="0"/>
          </a:p>
        </p:txBody>
      </p:sp>
      <p:sp>
        <p:nvSpPr>
          <p:cNvPr id="43" name="Shape 40"/>
          <p:cNvSpPr/>
          <p:nvPr/>
        </p:nvSpPr>
        <p:spPr>
          <a:xfrm>
            <a:off x="6562192" y="4175150"/>
            <a:ext cx="4694987" cy="10058"/>
          </a:xfrm>
          <a:prstGeom prst="rect">
            <a:avLst/>
          </a:prstGeom>
          <a:solidFill>
            <a:srgbClr val="1E6A44"/>
          </a:solidFill>
          <a:ln/>
        </p:spPr>
      </p:sp>
      <p:sp>
        <p:nvSpPr>
          <p:cNvPr id="44" name="Text 41"/>
          <p:cNvSpPr/>
          <p:nvPr/>
        </p:nvSpPr>
        <p:spPr>
          <a:xfrm>
            <a:off x="6562192" y="4339742"/>
            <a:ext cx="4694987" cy="201168"/>
          </a:xfrm>
          <a:prstGeom prst="rect">
            <a:avLst/>
          </a:prstGeom>
          <a:noFill/>
          <a:ln/>
        </p:spPr>
        <p:txBody>
          <a:bodyPr wrap="square" lIns="0" tIns="0" rIns="0" bIns="0" rtlCol="0" anchor="ctr"/>
          <a:lstStyle/>
          <a:p>
            <a:pPr indent="0" marL="0">
              <a:buNone/>
            </a:pPr>
            <a:r>
              <a:rPr lang="en-US" sz="950" dirty="0">
                <a:solidFill>
                  <a:srgbClr val="AFC2B8"/>
                </a:solidFill>
                <a:latin typeface="Yu Gothic" pitchFamily="34" charset="0"/>
                <a:ea typeface="Yu Gothic" pitchFamily="34" charset="-122"/>
                <a:cs typeface="Yu Gothic" pitchFamily="34" charset="-120"/>
              </a:rPr>
              <a:t>初期費用の回収期間</a:t>
            </a:r>
            <a:endParaRPr lang="en-US" sz="950" dirty="0"/>
          </a:p>
        </p:txBody>
      </p:sp>
      <p:sp>
        <p:nvSpPr>
          <p:cNvPr id="45" name="Text 42"/>
          <p:cNvSpPr/>
          <p:nvPr/>
        </p:nvSpPr>
        <p:spPr>
          <a:xfrm>
            <a:off x="6562192" y="4540910"/>
            <a:ext cx="4694987" cy="475488"/>
          </a:xfrm>
          <a:prstGeom prst="rect">
            <a:avLst/>
          </a:prstGeom>
          <a:noFill/>
          <a:ln/>
        </p:spPr>
        <p:txBody>
          <a:bodyPr wrap="square" lIns="0" tIns="0" rIns="0" bIns="0" rtlCol="0" anchor="ctr"/>
          <a:lstStyle/>
          <a:p>
            <a:pPr indent="0" marL="0">
              <a:buNone/>
            </a:pPr>
            <a:r>
              <a:rPr lang="en-US" sz="2700" b="1" dirty="0">
                <a:solidFill>
                  <a:srgbClr val="FFFFFF"/>
                </a:solidFill>
                <a:latin typeface="Yu Gothic" pitchFamily="34" charset="0"/>
                <a:ea typeface="Yu Gothic" pitchFamily="34" charset="-122"/>
                <a:cs typeface="Yu Gothic" pitchFamily="34" charset="-120"/>
              </a:rPr>
              <a:t>約10ヶ月</a:t>
            </a:r>
            <a:endParaRPr lang="en-US" sz="2700" dirty="0"/>
          </a:p>
        </p:txBody>
      </p:sp>
      <p:sp>
        <p:nvSpPr>
          <p:cNvPr id="46" name="Text 43"/>
          <p:cNvSpPr/>
          <p:nvPr/>
        </p:nvSpPr>
        <p:spPr>
          <a:xfrm>
            <a:off x="6562192" y="4998110"/>
            <a:ext cx="4694987" cy="201168"/>
          </a:xfrm>
          <a:prstGeom prst="rect">
            <a:avLst/>
          </a:prstGeom>
          <a:noFill/>
          <a:ln/>
        </p:spPr>
        <p:txBody>
          <a:bodyPr wrap="square" lIns="0" tIns="0" rIns="0" bIns="0" rtlCol="0" anchor="ctr"/>
          <a:lstStyle/>
          <a:p>
            <a:pPr indent="0" marL="0">
              <a:buNone/>
            </a:pPr>
            <a:r>
              <a:rPr lang="en-US" sz="850" dirty="0">
                <a:solidFill>
                  <a:srgbClr val="AFC2B8"/>
                </a:solidFill>
                <a:latin typeface="Arial" pitchFamily="34" charset="0"/>
                <a:ea typeface="Arial" pitchFamily="34" charset="-122"/>
                <a:cs typeface="Arial" pitchFamily="34" charset="-120"/>
              </a:rPr>
              <a:t>1,000万円 ÷ 98.9万円 ≒ 10ヶ月</a:t>
            </a:r>
            <a:endParaRPr lang="en-US" sz="850" dirty="0"/>
          </a:p>
        </p:txBody>
      </p:sp>
      <p:sp>
        <p:nvSpPr>
          <p:cNvPr id="47" name="Shape 44"/>
          <p:cNvSpPr/>
          <p:nvPr/>
        </p:nvSpPr>
        <p:spPr>
          <a:xfrm>
            <a:off x="660197" y="5455310"/>
            <a:ext cx="10871302" cy="694944"/>
          </a:xfrm>
          <a:prstGeom prst="roundRect">
            <a:avLst>
              <a:gd name="adj" fmla="val 7895"/>
            </a:avLst>
          </a:prstGeom>
          <a:solidFill>
            <a:srgbClr val="F1F8F3"/>
          </a:solidFill>
          <a:ln w="9525">
            <a:solidFill>
              <a:srgbClr val="D2E7DA"/>
            </a:solidFill>
            <a:prstDash val="solid"/>
          </a:ln>
        </p:spPr>
      </p:sp>
      <p:sp>
        <p:nvSpPr>
          <p:cNvPr id="48" name="Text 45"/>
          <p:cNvSpPr/>
          <p:nvPr/>
        </p:nvSpPr>
        <p:spPr>
          <a:xfrm>
            <a:off x="897941" y="5455310"/>
            <a:ext cx="2194560" cy="694944"/>
          </a:xfrm>
          <a:prstGeom prst="rect">
            <a:avLst/>
          </a:prstGeom>
          <a:noFill/>
          <a:ln/>
        </p:spPr>
        <p:txBody>
          <a:bodyPr wrap="square" lIns="0" tIns="0" rIns="0" bIns="0" rtlCol="0" anchor="ctr"/>
          <a:lstStyle/>
          <a:p>
            <a:pPr indent="0" marL="0">
              <a:buNone/>
            </a:pPr>
            <a:r>
              <a:rPr lang="en-US" sz="950" b="1" dirty="0">
                <a:solidFill>
                  <a:srgbClr val="7E8882"/>
                </a:solidFill>
                <a:latin typeface="Yu Gothic" pitchFamily="34" charset="0"/>
                <a:ea typeface="Yu Gothic" pitchFamily="34" charset="-122"/>
                <a:cs typeface="Yu Gothic" pitchFamily="34" charset="-120"/>
              </a:rPr>
              <a:t>回収スピード比較（月数）</a:t>
            </a:r>
            <a:endParaRPr lang="en-US" sz="950" dirty="0"/>
          </a:p>
        </p:txBody>
      </p:sp>
      <p:sp>
        <p:nvSpPr>
          <p:cNvPr id="49" name="Text 46"/>
          <p:cNvSpPr/>
          <p:nvPr/>
        </p:nvSpPr>
        <p:spPr>
          <a:xfrm>
            <a:off x="3220517" y="5555894"/>
            <a:ext cx="1280160" cy="219456"/>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① 家賃あり</a:t>
            </a:r>
            <a:endParaRPr lang="en-US" sz="950" dirty="0"/>
          </a:p>
        </p:txBody>
      </p:sp>
      <p:sp>
        <p:nvSpPr>
          <p:cNvPr id="50" name="Shape 47"/>
          <p:cNvSpPr/>
          <p:nvPr/>
        </p:nvSpPr>
        <p:spPr>
          <a:xfrm>
            <a:off x="4592117" y="5583326"/>
            <a:ext cx="4219296" cy="164592"/>
          </a:xfrm>
          <a:prstGeom prst="roundRect">
            <a:avLst>
              <a:gd name="adj" fmla="val 27778"/>
            </a:avLst>
          </a:prstGeom>
          <a:solidFill>
            <a:srgbClr val="A8761F"/>
          </a:solidFill>
          <a:ln/>
        </p:spPr>
      </p:sp>
      <p:sp>
        <p:nvSpPr>
          <p:cNvPr id="51" name="Text 48"/>
          <p:cNvSpPr/>
          <p:nvPr/>
        </p:nvSpPr>
        <p:spPr>
          <a:xfrm>
            <a:off x="8902852" y="5555894"/>
            <a:ext cx="1005840" cy="219456"/>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26ヶ月</a:t>
            </a:r>
            <a:endParaRPr lang="en-US" sz="1050" dirty="0"/>
          </a:p>
        </p:txBody>
      </p:sp>
      <p:sp>
        <p:nvSpPr>
          <p:cNvPr id="52" name="Text 49"/>
          <p:cNvSpPr/>
          <p:nvPr/>
        </p:nvSpPr>
        <p:spPr>
          <a:xfrm>
            <a:off x="3220517" y="5830214"/>
            <a:ext cx="1280160" cy="219456"/>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② 家賃なし</a:t>
            </a:r>
            <a:endParaRPr lang="en-US" sz="950" dirty="0"/>
          </a:p>
        </p:txBody>
      </p:sp>
      <p:sp>
        <p:nvSpPr>
          <p:cNvPr id="53" name="Shape 50"/>
          <p:cNvSpPr/>
          <p:nvPr/>
        </p:nvSpPr>
        <p:spPr>
          <a:xfrm>
            <a:off x="4592117" y="5857646"/>
            <a:ext cx="1622806" cy="164592"/>
          </a:xfrm>
          <a:prstGeom prst="roundRect">
            <a:avLst>
              <a:gd name="adj" fmla="val 27778"/>
            </a:avLst>
          </a:prstGeom>
          <a:solidFill>
            <a:srgbClr val="106838"/>
          </a:solidFill>
          <a:ln/>
        </p:spPr>
      </p:sp>
      <p:sp>
        <p:nvSpPr>
          <p:cNvPr id="54" name="Text 51"/>
          <p:cNvSpPr/>
          <p:nvPr/>
        </p:nvSpPr>
        <p:spPr>
          <a:xfrm>
            <a:off x="6306363" y="5830214"/>
            <a:ext cx="1005840" cy="219456"/>
          </a:xfrm>
          <a:prstGeom prst="rect">
            <a:avLst/>
          </a:prstGeom>
          <a:noFill/>
          <a:ln/>
        </p:spPr>
        <p:txBody>
          <a:bodyPr wrap="square" lIns="0" tIns="0" rIns="0" bIns="0" rtlCol="0" anchor="ctr"/>
          <a:lstStyle/>
          <a:p>
            <a:pPr indent="0" marL="0">
              <a:buNone/>
            </a:pPr>
            <a:r>
              <a:rPr lang="en-US" sz="1050" b="1" dirty="0">
                <a:solidFill>
                  <a:srgbClr val="106838"/>
                </a:solidFill>
                <a:latin typeface="Arial" pitchFamily="34" charset="0"/>
                <a:ea typeface="Arial" pitchFamily="34" charset="-122"/>
                <a:cs typeface="Arial" pitchFamily="34" charset="-120"/>
              </a:rPr>
              <a:t>10ヶ月</a:t>
            </a:r>
            <a:endParaRPr lang="en-US" sz="1050" dirty="0"/>
          </a:p>
        </p:txBody>
      </p:sp>
      <p:sp>
        <p:nvSpPr>
          <p:cNvPr id="55" name="Text 52"/>
          <p:cNvSpPr/>
          <p:nvPr/>
        </p:nvSpPr>
        <p:spPr>
          <a:xfrm>
            <a:off x="660197" y="6259982"/>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売上・経費は収益シミュレーション（1杯420円）を基にした75坪換算の目安です。減価償却費・税は含みません。回収期間・利益を保証するものではありません。</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22</a:t>
            </a:r>
            <a:r>
              <a:rPr lang="en-US" sz="1050" b="1" dirty="0">
                <a:solidFill>
                  <a:srgbClr val="1B8149"/>
                </a:solidFill>
                <a:latin typeface="Yu Gothic" pitchFamily="34" charset="0"/>
                <a:ea typeface="Yu Gothic" pitchFamily="34" charset="-122"/>
                <a:cs typeface="Yu Gothic" pitchFamily="34" charset="-120"/>
              </a:rPr>
              <a:t>   出店事例</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出店事例：岩手県 盛岡駅前店</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地方都市の駅前立地。1日80杯ペースで稼働し、家賃を吸収して利益を確保しています。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23</a:t>
            </a:r>
            <a:endParaRPr lang="en-US" sz="1000" dirty="0"/>
          </a:p>
        </p:txBody>
      </p:sp>
      <p:sp>
        <p:nvSpPr>
          <p:cNvPr id="9" name="Shape 6"/>
          <p:cNvSpPr/>
          <p:nvPr/>
        </p:nvSpPr>
        <p:spPr>
          <a:xfrm>
            <a:off x="660197" y="1651406"/>
            <a:ext cx="2603297" cy="609905"/>
          </a:xfrm>
          <a:prstGeom prst="roundRect">
            <a:avLst>
              <a:gd name="adj" fmla="val 7496"/>
            </a:avLst>
          </a:prstGeom>
          <a:solidFill>
            <a:srgbClr val="F1F8F3"/>
          </a:solidFill>
          <a:ln w="9525">
            <a:solidFill>
              <a:srgbClr val="D2E7DA"/>
            </a:solidFill>
            <a:prstDash val="solid"/>
          </a:ln>
        </p:spPr>
      </p:sp>
      <p:sp>
        <p:nvSpPr>
          <p:cNvPr id="10" name="Text 7"/>
          <p:cNvSpPr/>
          <p:nvPr/>
        </p:nvSpPr>
        <p:spPr>
          <a:xfrm>
            <a:off x="825703" y="1727302"/>
            <a:ext cx="2274113" cy="279806"/>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960,000</a:t>
            </a:r>
            <a:r>
              <a:rPr lang="en-US" sz="1100" b="1" dirty="0">
                <a:solidFill>
                  <a:srgbClr val="106838"/>
                </a:solidFill>
                <a:latin typeface="Yu Gothic" pitchFamily="34" charset="0"/>
                <a:ea typeface="Yu Gothic" pitchFamily="34" charset="-122"/>
                <a:cs typeface="Yu Gothic" pitchFamily="34" charset="-120"/>
              </a:rPr>
              <a:t> 円</a:t>
            </a:r>
            <a:endParaRPr lang="en-US" sz="1800" dirty="0"/>
          </a:p>
        </p:txBody>
      </p:sp>
      <p:sp>
        <p:nvSpPr>
          <p:cNvPr id="11" name="Text 8"/>
          <p:cNvSpPr/>
          <p:nvPr/>
        </p:nvSpPr>
        <p:spPr>
          <a:xfrm>
            <a:off x="825703"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月間売上高（20坪／40席）</a:t>
            </a:r>
            <a:endParaRPr lang="en-US" sz="900" dirty="0"/>
          </a:p>
        </p:txBody>
      </p:sp>
      <p:sp>
        <p:nvSpPr>
          <p:cNvPr id="12" name="Shape 9"/>
          <p:cNvSpPr/>
          <p:nvPr/>
        </p:nvSpPr>
        <p:spPr>
          <a:xfrm>
            <a:off x="3416198" y="1651406"/>
            <a:ext cx="2603297" cy="609905"/>
          </a:xfrm>
          <a:prstGeom prst="roundRect">
            <a:avLst>
              <a:gd name="adj" fmla="val 7496"/>
            </a:avLst>
          </a:prstGeom>
          <a:solidFill>
            <a:srgbClr val="F1F8F3"/>
          </a:solidFill>
          <a:ln w="9525">
            <a:solidFill>
              <a:srgbClr val="D2E7DA"/>
            </a:solidFill>
            <a:prstDash val="solid"/>
          </a:ln>
        </p:spPr>
      </p:sp>
      <p:sp>
        <p:nvSpPr>
          <p:cNvPr id="13" name="Text 10"/>
          <p:cNvSpPr/>
          <p:nvPr/>
        </p:nvSpPr>
        <p:spPr>
          <a:xfrm>
            <a:off x="3581705" y="1727302"/>
            <a:ext cx="2274113" cy="279806"/>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280,000</a:t>
            </a:r>
            <a:r>
              <a:rPr lang="en-US" sz="1100" b="1" dirty="0">
                <a:solidFill>
                  <a:srgbClr val="106838"/>
                </a:solidFill>
                <a:latin typeface="Yu Gothic" pitchFamily="34" charset="0"/>
                <a:ea typeface="Yu Gothic" pitchFamily="34" charset="-122"/>
                <a:cs typeface="Yu Gothic" pitchFamily="34" charset="-120"/>
              </a:rPr>
              <a:t> 円</a:t>
            </a:r>
            <a:endParaRPr lang="en-US" sz="1800" dirty="0"/>
          </a:p>
        </p:txBody>
      </p:sp>
      <p:sp>
        <p:nvSpPr>
          <p:cNvPr id="14" name="Text 11"/>
          <p:cNvSpPr/>
          <p:nvPr/>
        </p:nvSpPr>
        <p:spPr>
          <a:xfrm>
            <a:off x="3581705"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家賃</a:t>
            </a:r>
            <a:endParaRPr lang="en-US" sz="900" dirty="0"/>
          </a:p>
        </p:txBody>
      </p:sp>
      <p:sp>
        <p:nvSpPr>
          <p:cNvPr id="15" name="Shape 12"/>
          <p:cNvSpPr/>
          <p:nvPr/>
        </p:nvSpPr>
        <p:spPr>
          <a:xfrm>
            <a:off x="6172200" y="1651406"/>
            <a:ext cx="2603297" cy="609905"/>
          </a:xfrm>
          <a:prstGeom prst="roundRect">
            <a:avLst>
              <a:gd name="adj" fmla="val 7496"/>
            </a:avLst>
          </a:prstGeom>
          <a:solidFill>
            <a:srgbClr val="F1F8F3"/>
          </a:solidFill>
          <a:ln w="9525">
            <a:solidFill>
              <a:srgbClr val="D2E7DA"/>
            </a:solidFill>
            <a:prstDash val="solid"/>
          </a:ln>
        </p:spPr>
      </p:sp>
      <p:sp>
        <p:nvSpPr>
          <p:cNvPr id="16" name="Text 13"/>
          <p:cNvSpPr/>
          <p:nvPr/>
        </p:nvSpPr>
        <p:spPr>
          <a:xfrm>
            <a:off x="6337706" y="1727302"/>
            <a:ext cx="2274113" cy="279806"/>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232,000</a:t>
            </a:r>
            <a:r>
              <a:rPr lang="en-US" sz="1100" b="1" dirty="0">
                <a:solidFill>
                  <a:srgbClr val="106838"/>
                </a:solidFill>
                <a:latin typeface="Yu Gothic" pitchFamily="34" charset="0"/>
                <a:ea typeface="Yu Gothic" pitchFamily="34" charset="-122"/>
                <a:cs typeface="Yu Gothic" pitchFamily="34" charset="-120"/>
              </a:rPr>
              <a:t> 円</a:t>
            </a:r>
            <a:endParaRPr lang="en-US" sz="1800" dirty="0"/>
          </a:p>
        </p:txBody>
      </p:sp>
      <p:sp>
        <p:nvSpPr>
          <p:cNvPr id="17" name="Text 14"/>
          <p:cNvSpPr/>
          <p:nvPr/>
        </p:nvSpPr>
        <p:spPr>
          <a:xfrm>
            <a:off x="6337706"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償却前営業利益</a:t>
            </a:r>
            <a:endParaRPr lang="en-US" sz="900" dirty="0"/>
          </a:p>
        </p:txBody>
      </p:sp>
      <p:sp>
        <p:nvSpPr>
          <p:cNvPr id="18" name="Shape 15"/>
          <p:cNvSpPr/>
          <p:nvPr/>
        </p:nvSpPr>
        <p:spPr>
          <a:xfrm>
            <a:off x="8928202" y="1651406"/>
            <a:ext cx="2603297" cy="609905"/>
          </a:xfrm>
          <a:prstGeom prst="roundRect">
            <a:avLst>
              <a:gd name="adj" fmla="val 7496"/>
            </a:avLst>
          </a:prstGeom>
          <a:solidFill>
            <a:srgbClr val="F1F8F3"/>
          </a:solidFill>
          <a:ln w="9525">
            <a:solidFill>
              <a:srgbClr val="D2E7DA"/>
            </a:solidFill>
            <a:prstDash val="solid"/>
          </a:ln>
        </p:spPr>
      </p:sp>
      <p:sp>
        <p:nvSpPr>
          <p:cNvPr id="19" name="Text 16"/>
          <p:cNvSpPr/>
          <p:nvPr/>
        </p:nvSpPr>
        <p:spPr>
          <a:xfrm>
            <a:off x="9093708" y="1727302"/>
            <a:ext cx="2274113" cy="279806"/>
          </a:xfrm>
          <a:prstGeom prst="rect">
            <a:avLst/>
          </a:prstGeom>
          <a:noFill/>
          <a:ln/>
        </p:spPr>
        <p:txBody>
          <a:bodyPr wrap="square" lIns="0" tIns="0" rIns="0" bIns="0" rtlCol="0" anchor="ctr"/>
          <a:lstStyle/>
          <a:p>
            <a:pPr indent="0" marL="0">
              <a:buNone/>
            </a:pPr>
            <a:r>
              <a:rPr lang="en-US" sz="1800" b="1" dirty="0">
                <a:solidFill>
                  <a:srgbClr val="106838"/>
                </a:solidFill>
                <a:latin typeface="Arial" pitchFamily="34" charset="0"/>
                <a:ea typeface="Arial" pitchFamily="34" charset="-122"/>
                <a:cs typeface="Arial" pitchFamily="34" charset="-120"/>
              </a:rPr>
              <a:t>80</a:t>
            </a:r>
            <a:r>
              <a:rPr lang="en-US" sz="1100" b="1" dirty="0">
                <a:solidFill>
                  <a:srgbClr val="106838"/>
                </a:solidFill>
                <a:latin typeface="Yu Gothic" pitchFamily="34" charset="0"/>
                <a:ea typeface="Yu Gothic" pitchFamily="34" charset="-122"/>
                <a:cs typeface="Yu Gothic" pitchFamily="34" charset="-120"/>
              </a:rPr>
              <a:t> 杯／日</a:t>
            </a:r>
            <a:endParaRPr lang="en-US" sz="1800" dirty="0"/>
          </a:p>
        </p:txBody>
      </p:sp>
      <p:sp>
        <p:nvSpPr>
          <p:cNvPr id="20" name="Text 17"/>
          <p:cNvSpPr/>
          <p:nvPr/>
        </p:nvSpPr>
        <p:spPr>
          <a:xfrm>
            <a:off x="9093708" y="2018995"/>
            <a:ext cx="2310689" cy="165506"/>
          </a:xfrm>
          <a:prstGeom prst="rect">
            <a:avLst/>
          </a:prstGeom>
          <a:noFill/>
          <a:ln/>
        </p:spPr>
        <p:txBody>
          <a:bodyPr wrap="square" lIns="0" tIns="0" rIns="0" bIns="0" rtlCol="0" anchor="ctr"/>
          <a:lstStyle/>
          <a:p>
            <a:pPr indent="0" marL="0">
              <a:buNone/>
            </a:pPr>
            <a:r>
              <a:rPr lang="en-US" sz="900" dirty="0">
                <a:solidFill>
                  <a:srgbClr val="7E8882"/>
                </a:solidFill>
                <a:latin typeface="Yu Gothic" pitchFamily="34" charset="0"/>
                <a:ea typeface="Yu Gothic" pitchFamily="34" charset="-122"/>
                <a:cs typeface="Yu Gothic" pitchFamily="34" charset="-120"/>
              </a:rPr>
              <a:t>1日あたりの販売杯数</a:t>
            </a:r>
            <a:endParaRPr lang="en-US" sz="900" dirty="0"/>
          </a:p>
        </p:txBody>
      </p:sp>
      <p:pic>
        <p:nvPicPr>
          <p:cNvPr id="21" name="Image 1" descr="/home/user/suzuki-ceo/selfcafe-partner-deck/assets/photos/store-morioka.jpg">    </p:cNvPr>
          <p:cNvPicPr>
            <a:picLocks noChangeAspect="1"/>
          </p:cNvPicPr>
          <p:nvPr/>
        </p:nvPicPr>
        <p:blipFill>
          <a:blip r:embed="rId2"/>
          <a:srcRect l="0" r="0" t="0" b="0"/>
          <a:stretch/>
        </p:blipFill>
        <p:spPr>
          <a:xfrm>
            <a:off x="660197" y="2492654"/>
            <a:ext cx="6035040" cy="3566160"/>
          </a:xfrm>
          <a:prstGeom prst="rect">
            <a:avLst/>
          </a:prstGeom>
        </p:spPr>
      </p:pic>
      <p:sp>
        <p:nvSpPr>
          <p:cNvPr id="22" name="Shape 18"/>
          <p:cNvSpPr/>
          <p:nvPr/>
        </p:nvSpPr>
        <p:spPr>
          <a:xfrm>
            <a:off x="660197" y="2492654"/>
            <a:ext cx="6035040" cy="3566160"/>
          </a:xfrm>
          <a:prstGeom prst="rect">
            <a:avLst/>
          </a:prstGeom>
          <a:ln w="12700">
            <a:solidFill>
              <a:srgbClr val="D8D2C6"/>
            </a:solidFill>
            <a:prstDash val="solid"/>
          </a:ln>
        </p:spPr>
      </p:sp>
      <p:sp>
        <p:nvSpPr>
          <p:cNvPr id="23" name="Shape 19"/>
          <p:cNvSpPr/>
          <p:nvPr/>
        </p:nvSpPr>
        <p:spPr>
          <a:xfrm>
            <a:off x="788213" y="5601614"/>
            <a:ext cx="2910078" cy="329184"/>
          </a:xfrm>
          <a:prstGeom prst="roundRect">
            <a:avLst>
              <a:gd name="adj" fmla="val 13889"/>
            </a:avLst>
          </a:prstGeom>
          <a:solidFill>
            <a:srgbClr val="FFFFFF">
              <a:alpha val="90000"/>
            </a:srgbClr>
          </a:solidFill>
          <a:ln/>
        </p:spPr>
      </p:sp>
      <p:sp>
        <p:nvSpPr>
          <p:cNvPr id="24" name="Text 20"/>
          <p:cNvSpPr/>
          <p:nvPr/>
        </p:nvSpPr>
        <p:spPr>
          <a:xfrm>
            <a:off x="952805" y="5601614"/>
            <a:ext cx="2635758" cy="32918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盛岡駅前店の店内の様子（店内カメラ）</a:t>
            </a:r>
            <a:endParaRPr lang="en-US" sz="1050" dirty="0"/>
          </a:p>
        </p:txBody>
      </p:sp>
      <p:sp>
        <p:nvSpPr>
          <p:cNvPr id="25" name="Shape 21"/>
          <p:cNvSpPr/>
          <p:nvPr/>
        </p:nvSpPr>
        <p:spPr>
          <a:xfrm>
            <a:off x="7079285" y="2492654"/>
            <a:ext cx="4452214" cy="3566160"/>
          </a:xfrm>
          <a:prstGeom prst="roundRect">
            <a:avLst>
              <a:gd name="adj" fmla="val 1538"/>
            </a:avLst>
          </a:prstGeom>
          <a:solidFill>
            <a:srgbClr val="FFFFFF"/>
          </a:solidFill>
          <a:ln w="9525">
            <a:solidFill>
              <a:srgbClr val="EFEAE0"/>
            </a:solidFill>
            <a:prstDash val="solid"/>
          </a:ln>
        </p:spPr>
      </p:sp>
      <p:sp>
        <p:nvSpPr>
          <p:cNvPr id="26" name="Text 22"/>
          <p:cNvSpPr/>
          <p:nvPr/>
        </p:nvSpPr>
        <p:spPr>
          <a:xfrm>
            <a:off x="7353605" y="2748686"/>
            <a:ext cx="219456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CASE STUDY</a:t>
            </a:r>
            <a:endParaRPr lang="en-US" sz="900" dirty="0"/>
          </a:p>
        </p:txBody>
      </p:sp>
      <p:sp>
        <p:nvSpPr>
          <p:cNvPr id="27" name="Text 23"/>
          <p:cNvSpPr/>
          <p:nvPr/>
        </p:nvSpPr>
        <p:spPr>
          <a:xfrm>
            <a:off x="7353605" y="3004718"/>
            <a:ext cx="3903574" cy="384048"/>
          </a:xfrm>
          <a:prstGeom prst="rect">
            <a:avLst/>
          </a:prstGeom>
          <a:noFill/>
          <a:ln/>
        </p:spPr>
        <p:txBody>
          <a:bodyPr wrap="square" lIns="0" tIns="0" rIns="0" bIns="0" rtlCol="0" anchor="ctr"/>
          <a:lstStyle/>
          <a:p>
            <a:pPr indent="0" marL="0">
              <a:buNone/>
            </a:pPr>
            <a:r>
              <a:rPr lang="en-US" sz="1800" b="1" dirty="0">
                <a:solidFill>
                  <a:srgbClr val="0A3D23"/>
                </a:solidFill>
                <a:latin typeface="Yu Gothic" pitchFamily="34" charset="0"/>
                <a:ea typeface="Yu Gothic" pitchFamily="34" charset="-122"/>
                <a:cs typeface="Yu Gothic" pitchFamily="34" charset="-120"/>
              </a:rPr>
              <a:t>1日80杯ペースでの稼働</a:t>
            </a:r>
            <a:endParaRPr lang="en-US" sz="1800" dirty="0"/>
          </a:p>
        </p:txBody>
      </p:sp>
      <p:sp>
        <p:nvSpPr>
          <p:cNvPr id="28" name="Text 24"/>
          <p:cNvSpPr/>
          <p:nvPr/>
        </p:nvSpPr>
        <p:spPr>
          <a:xfrm>
            <a:off x="7353605" y="3461918"/>
            <a:ext cx="3903574" cy="822960"/>
          </a:xfrm>
          <a:prstGeom prst="rect">
            <a:avLst/>
          </a:prstGeom>
          <a:noFill/>
          <a:ln/>
        </p:spPr>
        <p:txBody>
          <a:bodyPr wrap="square" lIns="0" tIns="0" rIns="0" bIns="0" rtlCol="0" anchor="t"/>
          <a:lstStyle/>
          <a:p>
            <a:pPr indent="0" marL="0">
              <a:lnSpc>
                <a:spcPct val="145000"/>
              </a:lnSpc>
              <a:buNone/>
            </a:pPr>
            <a:r>
              <a:rPr lang="en-US" sz="1100" dirty="0">
                <a:solidFill>
                  <a:srgbClr val="4B5550"/>
                </a:solidFill>
                <a:latin typeface="Yu Gothic" pitchFamily="34" charset="0"/>
                <a:ea typeface="Yu Gothic" pitchFamily="34" charset="-122"/>
                <a:cs typeface="Yu Gothic" pitchFamily="34" charset="-120"/>
              </a:rPr>
              <a:t>1回の利用で2〜3時間、2杯程度購入する傾向があります。地方都市の駅前立地で、学生からビジネスマンまで幅広い層を獲得しています。</a:t>
            </a:r>
            <a:endParaRPr lang="en-US" sz="1100" dirty="0"/>
          </a:p>
        </p:txBody>
      </p:sp>
      <p:sp>
        <p:nvSpPr>
          <p:cNvPr id="29" name="Shape 25"/>
          <p:cNvSpPr/>
          <p:nvPr/>
        </p:nvSpPr>
        <p:spPr>
          <a:xfrm>
            <a:off x="7353605" y="4358030"/>
            <a:ext cx="3903574" cy="10058"/>
          </a:xfrm>
          <a:prstGeom prst="rect">
            <a:avLst/>
          </a:prstGeom>
          <a:solidFill>
            <a:srgbClr val="EFEAE0"/>
          </a:solidFill>
          <a:ln/>
        </p:spPr>
      </p:sp>
      <p:sp>
        <p:nvSpPr>
          <p:cNvPr id="30" name="Text 26"/>
          <p:cNvSpPr/>
          <p:nvPr/>
        </p:nvSpPr>
        <p:spPr>
          <a:xfrm>
            <a:off x="7353605" y="4504334"/>
            <a:ext cx="146304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開業</a:t>
            </a:r>
            <a:endParaRPr lang="en-US" sz="950" dirty="0"/>
          </a:p>
        </p:txBody>
      </p:sp>
      <p:sp>
        <p:nvSpPr>
          <p:cNvPr id="31" name="Text 27"/>
          <p:cNvSpPr/>
          <p:nvPr/>
        </p:nvSpPr>
        <p:spPr>
          <a:xfrm>
            <a:off x="8816645" y="4504334"/>
            <a:ext cx="2440534" cy="292608"/>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2025年4月</a:t>
            </a:r>
            <a:endParaRPr lang="en-US" sz="1100" dirty="0"/>
          </a:p>
        </p:txBody>
      </p:sp>
      <p:sp>
        <p:nvSpPr>
          <p:cNvPr id="32" name="Text 28"/>
          <p:cNvSpPr/>
          <p:nvPr/>
        </p:nvSpPr>
        <p:spPr>
          <a:xfrm>
            <a:off x="7353605" y="4870094"/>
            <a:ext cx="146304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面積・席数</a:t>
            </a:r>
            <a:endParaRPr lang="en-US" sz="950" dirty="0"/>
          </a:p>
        </p:txBody>
      </p:sp>
      <p:sp>
        <p:nvSpPr>
          <p:cNvPr id="33" name="Text 29"/>
          <p:cNvSpPr/>
          <p:nvPr/>
        </p:nvSpPr>
        <p:spPr>
          <a:xfrm>
            <a:off x="8816645" y="4870094"/>
            <a:ext cx="2440534" cy="292608"/>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20坪／40席</a:t>
            </a:r>
            <a:endParaRPr lang="en-US" sz="1100" dirty="0"/>
          </a:p>
        </p:txBody>
      </p:sp>
      <p:sp>
        <p:nvSpPr>
          <p:cNvPr id="34" name="Text 30"/>
          <p:cNvSpPr/>
          <p:nvPr/>
        </p:nvSpPr>
        <p:spPr>
          <a:xfrm>
            <a:off x="7353605" y="5235854"/>
            <a:ext cx="146304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立地</a:t>
            </a:r>
            <a:endParaRPr lang="en-US" sz="950" dirty="0"/>
          </a:p>
        </p:txBody>
      </p:sp>
      <p:sp>
        <p:nvSpPr>
          <p:cNvPr id="35" name="Text 31"/>
          <p:cNvSpPr/>
          <p:nvPr/>
        </p:nvSpPr>
        <p:spPr>
          <a:xfrm>
            <a:off x="8816645" y="5235854"/>
            <a:ext cx="2440534" cy="292608"/>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岩手県盛岡市・駅前</a:t>
            </a:r>
            <a:endParaRPr lang="en-US" sz="1100" dirty="0"/>
          </a:p>
        </p:txBody>
      </p:sp>
      <p:sp>
        <p:nvSpPr>
          <p:cNvPr id="36" name="Text 32"/>
          <p:cNvSpPr/>
          <p:nvPr/>
        </p:nvSpPr>
        <p:spPr>
          <a:xfrm>
            <a:off x="7353605" y="5601614"/>
            <a:ext cx="146304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営業時間</a:t>
            </a:r>
            <a:endParaRPr lang="en-US" sz="950" dirty="0"/>
          </a:p>
        </p:txBody>
      </p:sp>
      <p:sp>
        <p:nvSpPr>
          <p:cNvPr id="37" name="Text 33"/>
          <p:cNvSpPr/>
          <p:nvPr/>
        </p:nvSpPr>
        <p:spPr>
          <a:xfrm>
            <a:off x="8816645" y="5601614"/>
            <a:ext cx="2440534" cy="292608"/>
          </a:xfrm>
          <a:prstGeom prst="rect">
            <a:avLst/>
          </a:prstGeom>
          <a:noFill/>
          <a:ln/>
        </p:spPr>
        <p:txBody>
          <a:bodyPr wrap="square" lIns="0" tIns="0" rIns="0" bIns="0" rtlCol="0" anchor="ctr"/>
          <a:lstStyle/>
          <a:p>
            <a:pPr indent="0" marL="0">
              <a:buNone/>
            </a:pPr>
            <a:r>
              <a:rPr lang="en-US" sz="1100" b="1" dirty="0">
                <a:solidFill>
                  <a:srgbClr val="0A3D23"/>
                </a:solidFill>
                <a:latin typeface="Yu Gothic" pitchFamily="34" charset="0"/>
                <a:ea typeface="Yu Gothic" pitchFamily="34" charset="-122"/>
                <a:cs typeface="Yu Gothic" pitchFamily="34" charset="-120"/>
              </a:rPr>
              <a:t>24時間</a:t>
            </a:r>
            <a:endParaRPr lang="en-US" sz="1100" dirty="0"/>
          </a:p>
        </p:txBody>
      </p:sp>
      <p:sp>
        <p:nvSpPr>
          <p:cNvPr id="38" name="Text 34"/>
          <p:cNvSpPr/>
          <p:nvPr/>
        </p:nvSpPr>
        <p:spPr>
          <a:xfrm>
            <a:off x="660197" y="6089904"/>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実績値であり、他店舗での同等の売上・利益を保証するものではありません。</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23</a:t>
            </a:r>
            <a:r>
              <a:rPr lang="en-US" sz="1050" b="1" dirty="0">
                <a:solidFill>
                  <a:srgbClr val="1B8149"/>
                </a:solidFill>
                <a:latin typeface="Yu Gothic" pitchFamily="34" charset="0"/>
                <a:ea typeface="Yu Gothic" pitchFamily="34" charset="-122"/>
                <a:cs typeface="Yu Gothic" pitchFamily="34" charset="-120"/>
              </a:rPr>
              <a:t>   オプション</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有料オプション一覧</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必要に応じて追加できるオプションです（金額は税抜き）。SEO・MEO対策は費用なしで標準提供します。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197" y="1651406"/>
          <a:ext cx="10871302" cy="914400"/>
        </p:xfrm>
        <a:graphic>
          <a:graphicData uri="http://schemas.openxmlformats.org/drawingml/2006/table">
            <a:tbl>
              <a:tblPr/>
              <a:tblGrid>
                <a:gridCol w="2286000"/>
                <a:gridCol w="1371600"/>
                <a:gridCol w="1371600"/>
                <a:gridCol w="5842102"/>
              </a:tblGrid>
              <a:tr h="365760">
                <a:tc>
                  <a:txBody>
                    <a:bodyPr/>
                    <a:lstStyle/>
                    <a:p>
                      <a:pPr algn="l" indent="0" marL="0">
                        <a:buNone/>
                      </a:pPr>
                      <a:r>
                        <a:rPr lang="en-US" sz="1050" b="1" dirty="0">
                          <a:solidFill>
                            <a:srgbClr val="0A3D23"/>
                          </a:solidFill>
                          <a:latin typeface="Yu Gothic" pitchFamily="34" charset="0"/>
                          <a:ea typeface="Yu Gothic" pitchFamily="34" charset="-122"/>
                          <a:cs typeface="Yu Gothic" pitchFamily="34" charset="-120"/>
                        </a:rPr>
                        <a:t>項目</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050" b="1" dirty="0">
                          <a:solidFill>
                            <a:srgbClr val="FFFFFF"/>
                          </a:solidFill>
                          <a:latin typeface="Yu Gothic" pitchFamily="34" charset="0"/>
                          <a:ea typeface="Yu Gothic" pitchFamily="34" charset="-122"/>
                          <a:cs typeface="Yu Gothic" pitchFamily="34" charset="-120"/>
                        </a:rPr>
                        <a:t>初期費用</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r" indent="0" marL="0">
                        <a:buNone/>
                      </a:pPr>
                      <a:r>
                        <a:rPr lang="en-US" sz="1050" b="1" dirty="0">
                          <a:solidFill>
                            <a:srgbClr val="FFFFFF"/>
                          </a:solidFill>
                          <a:latin typeface="Yu Gothic" pitchFamily="34" charset="0"/>
                          <a:ea typeface="Yu Gothic" pitchFamily="34" charset="-122"/>
                          <a:cs typeface="Yu Gothic" pitchFamily="34" charset="-120"/>
                        </a:rPr>
                        <a:t>月額費用</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c>
                  <a:txBody>
                    <a:bodyPr/>
                    <a:lstStyle/>
                    <a:p>
                      <a:pPr algn="l" indent="0" marL="0">
                        <a:buNone/>
                      </a:pPr>
                      <a:r>
                        <a:rPr lang="en-US" sz="1050" b="1" dirty="0">
                          <a:solidFill>
                            <a:srgbClr val="FFFFFF"/>
                          </a:solidFill>
                          <a:latin typeface="Yu Gothic" pitchFamily="34" charset="0"/>
                          <a:ea typeface="Yu Gothic" pitchFamily="34" charset="-122"/>
                          <a:cs typeface="Yu Gothic" pitchFamily="34" charset="-120"/>
                        </a:rPr>
                        <a:t>内容・備考</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0C5230"/>
                    </a:solidFill>
                  </a:tcPr>
                </a:tc>
              </a:tr>
              <a:tr h="53035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SEO対策</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標準提供（費用なし）</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HP作成／定期更新、プレスリリース 等</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530352">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MEO対策</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標準提供（費用なし）</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Google MAP設置、定期投稿／更新 等</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93268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公式LINE作成</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15,000円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FC店の公式LINEを新規作成できます。</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メリット：独自の発信や告知、広告が打てます。</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デメリット：セルフカフェ公式LINEから切り離されるため問い合わせが直に届き、本部情報の発信も都度パートナー様側で行う必要があります。</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640080">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顧客用コピー機</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50,000円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20,000円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PayPay決済のみ</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 本体代は別途</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 グローバルIPの取得が必要です</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74980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営業サポートプラン</a:t>
                      </a:r>
                      <a:endParaRPr lang="en-US" sz="1050" dirty="0">
                        <a:latin typeface="Yu Gothic" charset="0"/>
                        <a:ea typeface="Yu Gothic" charset="0"/>
                        <a:cs typeface="Yu Gothic" charset="0"/>
                      </a:endParaRPr>
                    </a:p>
                    <a:p>
                      <a:pPr indent="0" marL="0">
                        <a:buNone/>
                      </a:pPr>
                      <a:r>
                        <a:rPr lang="en-US" sz="1050" b="1" dirty="0">
                          <a:solidFill>
                            <a:srgbClr val="0A3D23"/>
                          </a:solidFill>
                          <a:latin typeface="Yu Gothic" pitchFamily="34" charset="0"/>
                          <a:ea typeface="Yu Gothic" pitchFamily="34" charset="-122"/>
                          <a:cs typeface="Yu Gothic" pitchFamily="34" charset="-120"/>
                        </a:rPr>
                        <a:t>（フルサポート）</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55,000円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顧客チャット対応</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セルフカフェ公式LINEやHPからの問い合わせに対応</a:t>
                      </a:r>
                      <a:endParaRPr lang="en-US" sz="1200" dirty="0">
                        <a:latin typeface="Yu Gothic" charset="0"/>
                        <a:ea typeface="Yu Gothic" charset="0"/>
                        <a:cs typeface="Yu Gothic" charset="0"/>
                      </a:endParaRPr>
                    </a:p>
                    <a:p>
                      <a:pPr indent="0" marL="0">
                        <a:buNone/>
                      </a:pPr>
                      <a:r>
                        <a:rPr lang="en-US" sz="1000" b="1" dirty="0">
                          <a:solidFill>
                            <a:srgbClr val="106838"/>
                          </a:solidFill>
                          <a:latin typeface="Yu Gothic" pitchFamily="34" charset="0"/>
                          <a:ea typeface="Yu Gothic" pitchFamily="34" charset="-122"/>
                          <a:cs typeface="Yu Gothic" pitchFamily="34" charset="-120"/>
                        </a:rPr>
                        <a:t>現地対応</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エリア限定</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548640">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営業サポートプラン</a:t>
                      </a:r>
                      <a:endParaRPr lang="en-US" sz="1050" dirty="0">
                        <a:latin typeface="Yu Gothic" charset="0"/>
                        <a:ea typeface="Yu Gothic" charset="0"/>
                        <a:cs typeface="Yu Gothic" charset="0"/>
                      </a:endParaRPr>
                    </a:p>
                    <a:p>
                      <a:pPr indent="0" marL="0">
                        <a:buNone/>
                      </a:pPr>
                      <a:r>
                        <a:rPr lang="en-US" sz="1050" b="1" dirty="0">
                          <a:solidFill>
                            <a:srgbClr val="0A3D23"/>
                          </a:solidFill>
                          <a:latin typeface="Yu Gothic" pitchFamily="34" charset="0"/>
                          <a:ea typeface="Yu Gothic" pitchFamily="34" charset="-122"/>
                          <a:cs typeface="Yu Gothic" pitchFamily="34" charset="-120"/>
                        </a:rPr>
                        <a:t>（ミニマムサポート）</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06838"/>
                          </a:solidFill>
                          <a:latin typeface="Arial" pitchFamily="34" charset="0"/>
                          <a:ea typeface="Arial" pitchFamily="34" charset="-122"/>
                          <a:cs typeface="Arial" pitchFamily="34" charset="-120"/>
                        </a:rPr>
                        <a:t>15,000円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顧客チャット対応</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セルフカフェ公式LINEやHPからの問い合わせに対応</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0A3D23"/>
                          </a:solidFill>
                          <a:latin typeface="Yu Gothic" pitchFamily="34" charset="0"/>
                          <a:ea typeface="Yu Gothic" pitchFamily="34" charset="-122"/>
                          <a:cs typeface="Yu Gothic" pitchFamily="34" charset="-120"/>
                        </a:rPr>
                        <a:t>PayPayポイント</a:t>
                      </a:r>
                      <a:endParaRPr lang="en-US" sz="1050" dirty="0">
                        <a:latin typeface="Yu Gothic" charset="0"/>
                        <a:ea typeface="Yu Gothic" charset="0"/>
                        <a:cs typeface="Yu Gothic"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4F2EE"/>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algn="r" indent="0" marL="0">
                        <a:buNone/>
                      </a:pPr>
                      <a:r>
                        <a:rPr lang="en-US" sz="1150" dirty="0">
                          <a:solidFill>
                            <a:srgbClr val="7E8882"/>
                          </a:solidFill>
                          <a:latin typeface="Arial" pitchFamily="34" charset="0"/>
                          <a:ea typeface="Arial" pitchFamily="34" charset="-122"/>
                          <a:cs typeface="Arial" pitchFamily="34" charset="-120"/>
                        </a:rPr>
                        <a:t>0円</a:t>
                      </a:r>
                      <a:endParaRPr lang="en-US" sz="1150" dirty="0">
                        <a:latin typeface="Arial" charset="0"/>
                        <a:ea typeface="Arial" charset="0"/>
                        <a:cs typeface="Arial" charset="0"/>
                      </a:endParaRPr>
                    </a:p>
                  </a:txBody>
                  <a:tcPr marL="128016" marR="128016" marT="45720" marB="45720"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b="1" dirty="0">
                          <a:solidFill>
                            <a:srgbClr val="106838"/>
                          </a:solidFill>
                          <a:latin typeface="Yu Gothic" pitchFamily="34" charset="0"/>
                          <a:ea typeface="Yu Gothic" pitchFamily="34" charset="-122"/>
                          <a:cs typeface="Yu Gothic" pitchFamily="34" charset="-120"/>
                        </a:rPr>
                        <a:t>標準提供（費用なし）</a:t>
                      </a:r>
                      <a:endParaRPr lang="en-US" sz="1200" dirty="0">
                        <a:latin typeface="Yu Gothic" charset="0"/>
                        <a:ea typeface="Yu Gothic" charset="0"/>
                        <a:cs typeface="Yu Gothic" charset="0"/>
                      </a:endParaRPr>
                    </a:p>
                    <a:p>
                      <a:pPr indent="0" marL="0">
                        <a:buNone/>
                      </a:pPr>
                      <a:r>
                        <a:rPr lang="en-US" sz="950" dirty="0">
                          <a:solidFill>
                            <a:srgbClr val="4B5550"/>
                          </a:solidFill>
                          <a:latin typeface="Yu Gothic" pitchFamily="34" charset="0"/>
                          <a:ea typeface="Yu Gothic" pitchFamily="34" charset="-122"/>
                          <a:cs typeface="Yu Gothic" pitchFamily="34" charset="-120"/>
                        </a:rPr>
                        <a:t>PayPayポイントの付与に対応します。</a:t>
                      </a:r>
                      <a:endParaRPr lang="en-US" sz="1200" dirty="0">
                        <a:latin typeface="Yu Gothic" charset="0"/>
                        <a:ea typeface="Yu Gothic" charset="0"/>
                        <a:cs typeface="Yu Gothic" charset="0"/>
                      </a:endParaRPr>
                    </a:p>
                  </a:txBody>
                  <a:tcPr marL="146304" marR="146304" marT="54864" marB="54864" anchor="ctr">
                    <a:lnL w="9525" cap="flat" cmpd="sng" algn="ctr">
                      <a:solidFill>
                        <a:srgbClr val="EFEAE0"/>
                      </a:solidFill>
                      <a:prstDash val="solid"/>
                      <a:round/>
                      <a:headEnd type="none" w="med" len="med"/>
                      <a:tailEnd type="none" w="med" len="med"/>
                    </a:lnL>
                    <a:lnR w="9525" cap="flat" cmpd="sng" algn="ctr">
                      <a:solidFill>
                        <a:srgbClr val="EFEAE0"/>
                      </a:solidFill>
                      <a:prstDash val="solid"/>
                      <a:round/>
                      <a:headEnd type="none" w="med" len="med"/>
                      <a:tailEnd type="none" w="med" len="med"/>
                    </a:lnR>
                    <a:lnT w="9525" cap="flat" cmpd="sng" algn="ctr">
                      <a:solidFill>
                        <a:srgbClr val="EFEAE0"/>
                      </a:solidFill>
                      <a:prstDash val="solid"/>
                      <a:round/>
                      <a:headEnd type="none" w="med" len="med"/>
                      <a:tailEnd type="none" w="med" len="med"/>
                    </a:lnT>
                    <a:lnB w="9525" cap="flat" cmpd="sng" algn="ctr">
                      <a:solidFill>
                        <a:srgbClr val="EFE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24</a:t>
            </a:r>
            <a:r>
              <a:rPr lang="en-US" sz="1050" b="1" dirty="0">
                <a:solidFill>
                  <a:srgbClr val="1B8149"/>
                </a:solidFill>
                <a:latin typeface="Yu Gothic" pitchFamily="34" charset="0"/>
                <a:ea typeface="Yu Gothic" pitchFamily="34" charset="-122"/>
                <a:cs typeface="Yu Gothic" pitchFamily="34" charset="-120"/>
              </a:rPr>
              <a:t>   設備</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ドリンクマシンに関して</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マシン・備品・メンテナンスまで含めたトータルサポートパックでご提供します。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25</a:t>
            </a:r>
            <a:endParaRPr lang="en-US" sz="1000" dirty="0"/>
          </a:p>
        </p:txBody>
      </p:sp>
      <p:sp>
        <p:nvSpPr>
          <p:cNvPr id="9" name="Shape 6"/>
          <p:cNvSpPr/>
          <p:nvPr/>
        </p:nvSpPr>
        <p:spPr>
          <a:xfrm>
            <a:off x="660197" y="1651406"/>
            <a:ext cx="4206240" cy="4315968"/>
          </a:xfrm>
          <a:prstGeom prst="roundRect">
            <a:avLst>
              <a:gd name="adj" fmla="val 1304"/>
            </a:avLst>
          </a:prstGeom>
          <a:solidFill>
            <a:srgbClr val="FFFFFF"/>
          </a:solidFill>
          <a:ln w="9525">
            <a:solidFill>
              <a:srgbClr val="EFEAE0"/>
            </a:solidFill>
            <a:prstDash val="solid"/>
          </a:ln>
        </p:spPr>
      </p:sp>
      <p:sp>
        <p:nvSpPr>
          <p:cNvPr id="10" name="Shape 7"/>
          <p:cNvSpPr/>
          <p:nvPr/>
        </p:nvSpPr>
        <p:spPr>
          <a:xfrm>
            <a:off x="934517" y="1907438"/>
            <a:ext cx="3657600" cy="457200"/>
          </a:xfrm>
          <a:prstGeom prst="roundRect">
            <a:avLst>
              <a:gd name="adj" fmla="val 50000"/>
            </a:avLst>
          </a:prstGeom>
          <a:solidFill>
            <a:srgbClr val="0C5230"/>
          </a:solidFill>
          <a:ln/>
        </p:spPr>
      </p:sp>
      <p:pic>
        <p:nvPicPr>
          <p:cNvPr id="11" name="Image 1" descr="/home/user/suzuki-ceo/selfcafe-partner-deck/assets/icons/LuCoffee-white.png">    </p:cNvPr>
          <p:cNvPicPr>
            <a:picLocks noChangeAspect="1"/>
          </p:cNvPicPr>
          <p:nvPr/>
        </p:nvPicPr>
        <p:blipFill>
          <a:blip r:embed="rId2"/>
          <a:stretch>
            <a:fillRect/>
          </a:stretch>
        </p:blipFill>
        <p:spPr>
          <a:xfrm>
            <a:off x="1135685" y="1989734"/>
            <a:ext cx="292608" cy="292608"/>
          </a:xfrm>
          <a:prstGeom prst="rect">
            <a:avLst/>
          </a:prstGeom>
        </p:spPr>
      </p:pic>
      <p:sp>
        <p:nvSpPr>
          <p:cNvPr id="12" name="Text 8"/>
          <p:cNvSpPr/>
          <p:nvPr/>
        </p:nvSpPr>
        <p:spPr>
          <a:xfrm>
            <a:off x="1501445" y="1907438"/>
            <a:ext cx="3090672" cy="45720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トータルサポートパック</a:t>
            </a:r>
            <a:endParaRPr lang="en-US" sz="1300" dirty="0"/>
          </a:p>
        </p:txBody>
      </p:sp>
      <p:sp>
        <p:nvSpPr>
          <p:cNvPr id="13" name="Text 9"/>
          <p:cNvSpPr/>
          <p:nvPr/>
        </p:nvSpPr>
        <p:spPr>
          <a:xfrm>
            <a:off x="934517" y="2547518"/>
            <a:ext cx="118872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マシン型番</a:t>
            </a:r>
            <a:endParaRPr lang="en-US" sz="950" dirty="0"/>
          </a:p>
        </p:txBody>
      </p:sp>
      <p:sp>
        <p:nvSpPr>
          <p:cNvPr id="14" name="Text 10"/>
          <p:cNvSpPr/>
          <p:nvPr/>
        </p:nvSpPr>
        <p:spPr>
          <a:xfrm>
            <a:off x="2159813" y="2547518"/>
            <a:ext cx="2432304"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100RS</a:t>
            </a:r>
            <a:endParaRPr lang="en-US" sz="1150" dirty="0"/>
          </a:p>
        </p:txBody>
      </p:sp>
      <p:sp>
        <p:nvSpPr>
          <p:cNvPr id="15" name="Shape 11"/>
          <p:cNvSpPr/>
          <p:nvPr/>
        </p:nvSpPr>
        <p:spPr>
          <a:xfrm>
            <a:off x="934517" y="2894990"/>
            <a:ext cx="3657600" cy="10058"/>
          </a:xfrm>
          <a:prstGeom prst="rect">
            <a:avLst/>
          </a:prstGeom>
          <a:solidFill>
            <a:srgbClr val="EFEAE0"/>
          </a:solidFill>
          <a:ln/>
        </p:spPr>
      </p:sp>
      <p:sp>
        <p:nvSpPr>
          <p:cNvPr id="16" name="Text 12"/>
          <p:cNvSpPr/>
          <p:nvPr/>
        </p:nvSpPr>
        <p:spPr>
          <a:xfrm>
            <a:off x="934517" y="3096158"/>
            <a:ext cx="118872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付属</a:t>
            </a:r>
            <a:endParaRPr lang="en-US" sz="950" dirty="0"/>
          </a:p>
        </p:txBody>
      </p:sp>
      <p:sp>
        <p:nvSpPr>
          <p:cNvPr id="17" name="Text 13"/>
          <p:cNvSpPr/>
          <p:nvPr/>
        </p:nvSpPr>
        <p:spPr>
          <a:xfrm>
            <a:off x="2159813" y="3096158"/>
            <a:ext cx="2432304"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コーヒーサーバー、備品ラック</a:t>
            </a:r>
            <a:endParaRPr lang="en-US" sz="1150" dirty="0"/>
          </a:p>
        </p:txBody>
      </p:sp>
      <p:sp>
        <p:nvSpPr>
          <p:cNvPr id="18" name="Shape 14"/>
          <p:cNvSpPr/>
          <p:nvPr/>
        </p:nvSpPr>
        <p:spPr>
          <a:xfrm>
            <a:off x="934517" y="3443630"/>
            <a:ext cx="3657600" cy="10058"/>
          </a:xfrm>
          <a:prstGeom prst="rect">
            <a:avLst/>
          </a:prstGeom>
          <a:solidFill>
            <a:srgbClr val="EFEAE0"/>
          </a:solidFill>
          <a:ln/>
        </p:spPr>
      </p:sp>
      <p:sp>
        <p:nvSpPr>
          <p:cNvPr id="19" name="Text 15"/>
          <p:cNvSpPr/>
          <p:nvPr/>
        </p:nvSpPr>
        <p:spPr>
          <a:xfrm>
            <a:off x="934517" y="3644798"/>
            <a:ext cx="1188720" cy="292608"/>
          </a:xfrm>
          <a:prstGeom prst="rect">
            <a:avLst/>
          </a:prstGeom>
          <a:noFill/>
          <a:ln/>
        </p:spPr>
        <p:txBody>
          <a:bodyPr wrap="square" lIns="0" tIns="0" rIns="0" bIns="0" rtlCol="0" anchor="ctr"/>
          <a:lstStyle/>
          <a:p>
            <a:pPr indent="0" marL="0">
              <a:buNone/>
            </a:pPr>
            <a:r>
              <a:rPr lang="en-US" sz="950" dirty="0">
                <a:solidFill>
                  <a:srgbClr val="7E8882"/>
                </a:solidFill>
                <a:latin typeface="Yu Gothic" pitchFamily="34" charset="0"/>
                <a:ea typeface="Yu Gothic" pitchFamily="34" charset="-122"/>
                <a:cs typeface="Yu Gothic" pitchFamily="34" charset="-120"/>
              </a:rPr>
              <a:t>メンテナンス</a:t>
            </a:r>
            <a:endParaRPr lang="en-US" sz="950" dirty="0"/>
          </a:p>
        </p:txBody>
      </p:sp>
      <p:sp>
        <p:nvSpPr>
          <p:cNvPr id="20" name="Text 16"/>
          <p:cNvSpPr/>
          <p:nvPr/>
        </p:nvSpPr>
        <p:spPr>
          <a:xfrm>
            <a:off x="2159813" y="3644798"/>
            <a:ext cx="2432304"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月1回</a:t>
            </a:r>
            <a:endParaRPr lang="en-US" sz="1150" dirty="0"/>
          </a:p>
        </p:txBody>
      </p:sp>
      <p:sp>
        <p:nvSpPr>
          <p:cNvPr id="21" name="Shape 17"/>
          <p:cNvSpPr/>
          <p:nvPr/>
        </p:nvSpPr>
        <p:spPr>
          <a:xfrm>
            <a:off x="934517" y="3992270"/>
            <a:ext cx="3657600" cy="10058"/>
          </a:xfrm>
          <a:prstGeom prst="rect">
            <a:avLst/>
          </a:prstGeom>
          <a:solidFill>
            <a:srgbClr val="EFEAE0"/>
          </a:solidFill>
          <a:ln/>
        </p:spPr>
      </p:sp>
      <p:pic>
        <p:nvPicPr>
          <p:cNvPr id="22" name="Image 2" descr="/home/user/suzuki-ceo/selfcafe-partner-deck/assets/photos/p24-machine.jpg">    </p:cNvPr>
          <p:cNvPicPr>
            <a:picLocks noChangeAspect="1"/>
          </p:cNvPicPr>
          <p:nvPr/>
        </p:nvPicPr>
        <p:blipFill>
          <a:blip r:embed="rId3"/>
          <a:srcRect l="0" r="0" t="0" b="0"/>
          <a:stretch/>
        </p:blipFill>
        <p:spPr>
          <a:xfrm>
            <a:off x="934517" y="4266590"/>
            <a:ext cx="3657600" cy="1463040"/>
          </a:xfrm>
          <a:prstGeom prst="rect">
            <a:avLst/>
          </a:prstGeom>
        </p:spPr>
      </p:pic>
      <p:sp>
        <p:nvSpPr>
          <p:cNvPr id="23" name="Shape 18"/>
          <p:cNvSpPr/>
          <p:nvPr/>
        </p:nvSpPr>
        <p:spPr>
          <a:xfrm>
            <a:off x="934517" y="4266590"/>
            <a:ext cx="3657600" cy="1463040"/>
          </a:xfrm>
          <a:prstGeom prst="rect">
            <a:avLst/>
          </a:prstGeom>
          <a:ln w="12700">
            <a:solidFill>
              <a:srgbClr val="D8D2C6"/>
            </a:solidFill>
            <a:prstDash val="solid"/>
          </a:ln>
        </p:spPr>
      </p:sp>
      <p:sp>
        <p:nvSpPr>
          <p:cNvPr id="24" name="Shape 19"/>
          <p:cNvSpPr/>
          <p:nvPr/>
        </p:nvSpPr>
        <p:spPr>
          <a:xfrm>
            <a:off x="1062533" y="5272430"/>
            <a:ext cx="2411984" cy="329184"/>
          </a:xfrm>
          <a:prstGeom prst="roundRect">
            <a:avLst>
              <a:gd name="adj" fmla="val 13889"/>
            </a:avLst>
          </a:prstGeom>
          <a:solidFill>
            <a:srgbClr val="FFFFFF">
              <a:alpha val="90000"/>
            </a:srgbClr>
          </a:solidFill>
          <a:ln/>
        </p:spPr>
      </p:sp>
      <p:sp>
        <p:nvSpPr>
          <p:cNvPr id="25" name="Text 20"/>
          <p:cNvSpPr/>
          <p:nvPr/>
        </p:nvSpPr>
        <p:spPr>
          <a:xfrm>
            <a:off x="1227125" y="5272430"/>
            <a:ext cx="2137664" cy="329184"/>
          </a:xfrm>
          <a:prstGeom prst="rect">
            <a:avLst/>
          </a:prstGeom>
          <a:noFill/>
          <a:ln/>
        </p:spPr>
        <p:txBody>
          <a:bodyPr wrap="square" lIns="0" tIns="0" rIns="0" bIns="0" rtlCol="0" anchor="ctr"/>
          <a:lstStyle/>
          <a:p>
            <a:pPr indent="0" marL="0">
              <a:buNone/>
            </a:pPr>
            <a:r>
              <a:rPr lang="en-US" sz="950" b="1" dirty="0">
                <a:solidFill>
                  <a:srgbClr val="0A3D23"/>
                </a:solidFill>
                <a:latin typeface="Yu Gothic" pitchFamily="34" charset="0"/>
                <a:ea typeface="Yu Gothic" pitchFamily="34" charset="-122"/>
                <a:cs typeface="Yu Gothic" pitchFamily="34" charset="-120"/>
              </a:rPr>
              <a:t>ドリンクマシン本体（100RS）</a:t>
            </a:r>
            <a:endParaRPr lang="en-US" sz="950" dirty="0"/>
          </a:p>
        </p:txBody>
      </p:sp>
      <p:sp>
        <p:nvSpPr>
          <p:cNvPr id="26" name="Text 21"/>
          <p:cNvSpPr/>
          <p:nvPr/>
        </p:nvSpPr>
        <p:spPr>
          <a:xfrm>
            <a:off x="5250485" y="1651406"/>
            <a:ext cx="6281014" cy="274320"/>
          </a:xfrm>
          <a:prstGeom prst="rect">
            <a:avLst/>
          </a:prstGeom>
          <a:noFill/>
          <a:ln/>
        </p:spPr>
        <p:txBody>
          <a:bodyPr wrap="square" lIns="0" tIns="0" rIns="0" bIns="0" rtlCol="0" anchor="ctr"/>
          <a:lstStyle/>
          <a:p>
            <a:pPr indent="0" marL="0">
              <a:buNone/>
            </a:pPr>
            <a:r>
              <a:rPr lang="en-US" sz="1200" b="1" dirty="0">
                <a:solidFill>
                  <a:srgbClr val="0A3D23"/>
                </a:solidFill>
                <a:latin typeface="Yu Gothic" pitchFamily="34" charset="0"/>
                <a:ea typeface="Yu Gothic" pitchFamily="34" charset="-122"/>
                <a:cs typeface="Yu Gothic" pitchFamily="34" charset="-120"/>
              </a:rPr>
              <a:t>＜設置イメージ＞</a:t>
            </a:r>
            <a:endParaRPr lang="en-US" sz="1200" dirty="0"/>
          </a:p>
        </p:txBody>
      </p:sp>
      <p:pic>
        <p:nvPicPr>
          <p:cNvPr id="27" name="Image 3" descr="/home/user/suzuki-ceo/selfcafe-partner-deck/assets/photos/p24-install.jpg">    </p:cNvPr>
          <p:cNvPicPr>
            <a:picLocks noChangeAspect="1"/>
          </p:cNvPicPr>
          <p:nvPr/>
        </p:nvPicPr>
        <p:blipFill>
          <a:blip r:embed="rId4"/>
          <a:srcRect l="0" r="0" t="0" b="0"/>
          <a:stretch/>
        </p:blipFill>
        <p:spPr>
          <a:xfrm>
            <a:off x="5250485" y="2017166"/>
            <a:ext cx="6281014" cy="3346704"/>
          </a:xfrm>
          <a:prstGeom prst="rect">
            <a:avLst/>
          </a:prstGeom>
        </p:spPr>
      </p:pic>
      <p:sp>
        <p:nvSpPr>
          <p:cNvPr id="28" name="Shape 22"/>
          <p:cNvSpPr/>
          <p:nvPr/>
        </p:nvSpPr>
        <p:spPr>
          <a:xfrm>
            <a:off x="5250485" y="2017166"/>
            <a:ext cx="6281014" cy="3346704"/>
          </a:xfrm>
          <a:prstGeom prst="rect">
            <a:avLst/>
          </a:prstGeom>
          <a:ln w="12700">
            <a:solidFill>
              <a:srgbClr val="D8D2C6"/>
            </a:solidFill>
            <a:prstDash val="solid"/>
          </a:ln>
        </p:spPr>
      </p:sp>
      <p:sp>
        <p:nvSpPr>
          <p:cNvPr id="29" name="Shape 23"/>
          <p:cNvSpPr/>
          <p:nvPr/>
        </p:nvSpPr>
        <p:spPr>
          <a:xfrm>
            <a:off x="5378501" y="4906670"/>
            <a:ext cx="2344674" cy="329184"/>
          </a:xfrm>
          <a:prstGeom prst="roundRect">
            <a:avLst>
              <a:gd name="adj" fmla="val 13889"/>
            </a:avLst>
          </a:prstGeom>
          <a:solidFill>
            <a:srgbClr val="FFFFFF">
              <a:alpha val="90000"/>
            </a:srgbClr>
          </a:solidFill>
          <a:ln/>
        </p:spPr>
      </p:sp>
      <p:sp>
        <p:nvSpPr>
          <p:cNvPr id="30" name="Text 24"/>
          <p:cNvSpPr/>
          <p:nvPr/>
        </p:nvSpPr>
        <p:spPr>
          <a:xfrm>
            <a:off x="5543093" y="4906670"/>
            <a:ext cx="2070354" cy="329184"/>
          </a:xfrm>
          <a:prstGeom prst="rect">
            <a:avLst/>
          </a:prstGeom>
          <a:noFill/>
          <a:ln/>
        </p:spPr>
        <p:txBody>
          <a:bodyPr wrap="square" lIns="0" tIns="0" rIns="0" bIns="0" rtlCol="0" anchor="ctr"/>
          <a:lstStyle/>
          <a:p>
            <a:pPr indent="0" marL="0">
              <a:buNone/>
            </a:pPr>
            <a:r>
              <a:rPr lang="en-US" sz="1050" b="1" dirty="0">
                <a:solidFill>
                  <a:srgbClr val="0A3D23"/>
                </a:solidFill>
                <a:latin typeface="Yu Gothic" pitchFamily="34" charset="0"/>
                <a:ea typeface="Yu Gothic" pitchFamily="34" charset="-122"/>
                <a:cs typeface="Yu Gothic" pitchFamily="34" charset="-120"/>
              </a:rPr>
              <a:t>店内に設置したドリンクマシン</a:t>
            </a:r>
            <a:endParaRPr lang="en-US" sz="1050" dirty="0"/>
          </a:p>
        </p:txBody>
      </p:sp>
      <p:sp>
        <p:nvSpPr>
          <p:cNvPr id="31" name="Shape 25"/>
          <p:cNvSpPr/>
          <p:nvPr/>
        </p:nvSpPr>
        <p:spPr>
          <a:xfrm>
            <a:off x="5250485" y="5491886"/>
            <a:ext cx="6281014" cy="475488"/>
          </a:xfrm>
          <a:prstGeom prst="roundRect">
            <a:avLst>
              <a:gd name="adj" fmla="val 9615"/>
            </a:avLst>
          </a:prstGeom>
          <a:solidFill>
            <a:srgbClr val="F1F8F3"/>
          </a:solidFill>
          <a:ln/>
        </p:spPr>
      </p:sp>
      <p:sp>
        <p:nvSpPr>
          <p:cNvPr id="32" name="Text 26"/>
          <p:cNvSpPr/>
          <p:nvPr/>
        </p:nvSpPr>
        <p:spPr>
          <a:xfrm>
            <a:off x="5488229" y="5491886"/>
            <a:ext cx="5805526" cy="475488"/>
          </a:xfrm>
          <a:prstGeom prst="rect">
            <a:avLst/>
          </a:prstGeom>
          <a:noFill/>
          <a:ln/>
        </p:spPr>
        <p:txBody>
          <a:bodyPr wrap="square" lIns="0" tIns="0" rIns="0" bIns="0" rtlCol="0" anchor="ctr"/>
          <a:lstStyle/>
          <a:p>
            <a:pPr indent="0" marL="0">
              <a:buNone/>
            </a:pPr>
            <a:r>
              <a:rPr lang="en-US" sz="1100" b="1" dirty="0">
                <a:solidFill>
                  <a:srgbClr val="106838"/>
                </a:solidFill>
                <a:latin typeface="Yu Gothic" pitchFamily="34" charset="0"/>
                <a:ea typeface="Yu Gothic" pitchFamily="34" charset="-122"/>
                <a:cs typeface="Yu Gothic" pitchFamily="34" charset="-120"/>
              </a:rPr>
              <a:t>既存スペースの一角に、2台並べての設置も可能です。</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25</a:t>
            </a:r>
            <a:r>
              <a:rPr lang="en-US" sz="1050" b="1" dirty="0">
                <a:solidFill>
                  <a:srgbClr val="1B8149"/>
                </a:solidFill>
                <a:latin typeface="Yu Gothic" pitchFamily="34" charset="0"/>
                <a:ea typeface="Yu Gothic" pitchFamily="34" charset="-122"/>
                <a:cs typeface="Yu Gothic" pitchFamily="34" charset="-120"/>
              </a:rPr>
              <a:t>   FAQ</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よくある質問</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導入をご検討いただく際に、よくいただくご質問をまとめました。</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26</a:t>
            </a:r>
            <a:endParaRPr lang="en-US" sz="1000" dirty="0"/>
          </a:p>
        </p:txBody>
      </p:sp>
      <p:sp>
        <p:nvSpPr>
          <p:cNvPr id="9" name="Shape 6"/>
          <p:cNvSpPr/>
          <p:nvPr/>
        </p:nvSpPr>
        <p:spPr>
          <a:xfrm>
            <a:off x="660197" y="1651406"/>
            <a:ext cx="5243627" cy="1371600"/>
          </a:xfrm>
          <a:prstGeom prst="roundRect">
            <a:avLst>
              <a:gd name="adj" fmla="val 4000"/>
            </a:avLst>
          </a:prstGeom>
          <a:solidFill>
            <a:srgbClr val="FFFFFF"/>
          </a:solidFill>
          <a:ln w="9525">
            <a:solidFill>
              <a:srgbClr val="EFEAE0"/>
            </a:solidFill>
            <a:prstDash val="solid"/>
          </a:ln>
        </p:spPr>
      </p:sp>
      <p:sp>
        <p:nvSpPr>
          <p:cNvPr id="10" name="Text 7"/>
          <p:cNvSpPr/>
          <p:nvPr/>
        </p:nvSpPr>
        <p:spPr>
          <a:xfrm>
            <a:off x="934517" y="1834286"/>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準備</a:t>
            </a:r>
            <a:endParaRPr lang="en-US" sz="900" dirty="0"/>
          </a:p>
        </p:txBody>
      </p:sp>
      <p:sp>
        <p:nvSpPr>
          <p:cNvPr id="11" name="Text 8"/>
          <p:cNvSpPr/>
          <p:nvPr/>
        </p:nvSpPr>
        <p:spPr>
          <a:xfrm>
            <a:off x="934517" y="2035454"/>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12" name="Text 9"/>
          <p:cNvSpPr/>
          <p:nvPr/>
        </p:nvSpPr>
        <p:spPr>
          <a:xfrm>
            <a:off x="1300277" y="2017166"/>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準備は難しいですか？</a:t>
            </a:r>
            <a:endParaRPr lang="en-US" sz="1450" dirty="0"/>
          </a:p>
        </p:txBody>
      </p:sp>
      <p:sp>
        <p:nvSpPr>
          <p:cNvPr id="13" name="Shape 10"/>
          <p:cNvSpPr/>
          <p:nvPr/>
        </p:nvSpPr>
        <p:spPr>
          <a:xfrm>
            <a:off x="934517" y="2401214"/>
            <a:ext cx="4694987" cy="10058"/>
          </a:xfrm>
          <a:prstGeom prst="rect">
            <a:avLst/>
          </a:prstGeom>
          <a:solidFill>
            <a:srgbClr val="EFEAE0"/>
          </a:solidFill>
          <a:ln/>
        </p:spPr>
      </p:sp>
      <p:sp>
        <p:nvSpPr>
          <p:cNvPr id="14" name="Text 11"/>
          <p:cNvSpPr/>
          <p:nvPr/>
        </p:nvSpPr>
        <p:spPr>
          <a:xfrm>
            <a:off x="934517" y="2492654"/>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15" name="Text 12"/>
          <p:cNvSpPr/>
          <p:nvPr/>
        </p:nvSpPr>
        <p:spPr>
          <a:xfrm>
            <a:off x="1300277" y="2474366"/>
            <a:ext cx="4329227" cy="512064"/>
          </a:xfrm>
          <a:prstGeom prst="rect">
            <a:avLst/>
          </a:prstGeom>
          <a:noFill/>
          <a:ln/>
        </p:spPr>
        <p:txBody>
          <a:bodyPr wrap="square" lIns="0" tIns="0" rIns="0" bIns="0" rtlCol="0" anchor="t"/>
          <a:lstStyle/>
          <a:p>
            <a:pPr indent="0" marL="0">
              <a:lnSpc>
                <a:spcPct val="136000"/>
              </a:lnSpc>
              <a:buNone/>
            </a:pPr>
            <a:r>
              <a:rPr lang="en-US" sz="1000" dirty="0">
                <a:solidFill>
                  <a:srgbClr val="4B5550"/>
                </a:solidFill>
                <a:latin typeface="Yu Gothic" pitchFamily="34" charset="0"/>
                <a:ea typeface="Yu Gothic" pitchFamily="34" charset="-122"/>
                <a:cs typeface="Yu Gothic" pitchFamily="34" charset="-120"/>
              </a:rPr>
              <a:t>内装、システム導入まで本部がフルサポートするため、初めての方でも安心です。</a:t>
            </a:r>
            <a:endParaRPr lang="en-US" sz="1000" dirty="0"/>
          </a:p>
        </p:txBody>
      </p:sp>
      <p:sp>
        <p:nvSpPr>
          <p:cNvPr id="16" name="Shape 13"/>
          <p:cNvSpPr/>
          <p:nvPr/>
        </p:nvSpPr>
        <p:spPr>
          <a:xfrm>
            <a:off x="6287872" y="1651406"/>
            <a:ext cx="5243627" cy="1371600"/>
          </a:xfrm>
          <a:prstGeom prst="roundRect">
            <a:avLst>
              <a:gd name="adj" fmla="val 4000"/>
            </a:avLst>
          </a:prstGeom>
          <a:solidFill>
            <a:srgbClr val="FFFFFF"/>
          </a:solidFill>
          <a:ln w="9525">
            <a:solidFill>
              <a:srgbClr val="EFEAE0"/>
            </a:solidFill>
            <a:prstDash val="solid"/>
          </a:ln>
        </p:spPr>
      </p:sp>
      <p:sp>
        <p:nvSpPr>
          <p:cNvPr id="17" name="Text 14"/>
          <p:cNvSpPr/>
          <p:nvPr/>
        </p:nvSpPr>
        <p:spPr>
          <a:xfrm>
            <a:off x="6562192" y="1834286"/>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トラブル対応</a:t>
            </a:r>
            <a:endParaRPr lang="en-US" sz="900" dirty="0"/>
          </a:p>
        </p:txBody>
      </p:sp>
      <p:sp>
        <p:nvSpPr>
          <p:cNvPr id="18" name="Text 15"/>
          <p:cNvSpPr/>
          <p:nvPr/>
        </p:nvSpPr>
        <p:spPr>
          <a:xfrm>
            <a:off x="6562192" y="2035454"/>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19" name="Text 16"/>
          <p:cNvSpPr/>
          <p:nvPr/>
        </p:nvSpPr>
        <p:spPr>
          <a:xfrm>
            <a:off x="6927952" y="2017166"/>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トラブル時の対応は？</a:t>
            </a:r>
            <a:endParaRPr lang="en-US" sz="1450" dirty="0"/>
          </a:p>
        </p:txBody>
      </p:sp>
      <p:sp>
        <p:nvSpPr>
          <p:cNvPr id="20" name="Shape 17"/>
          <p:cNvSpPr/>
          <p:nvPr/>
        </p:nvSpPr>
        <p:spPr>
          <a:xfrm>
            <a:off x="6562192" y="2401214"/>
            <a:ext cx="4694987" cy="10058"/>
          </a:xfrm>
          <a:prstGeom prst="rect">
            <a:avLst/>
          </a:prstGeom>
          <a:solidFill>
            <a:srgbClr val="EFEAE0"/>
          </a:solidFill>
          <a:ln/>
        </p:spPr>
      </p:sp>
      <p:sp>
        <p:nvSpPr>
          <p:cNvPr id="21" name="Text 18"/>
          <p:cNvSpPr/>
          <p:nvPr/>
        </p:nvSpPr>
        <p:spPr>
          <a:xfrm>
            <a:off x="6562192" y="2492654"/>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22" name="Text 19"/>
          <p:cNvSpPr/>
          <p:nvPr/>
        </p:nvSpPr>
        <p:spPr>
          <a:xfrm>
            <a:off x="6927952" y="2474366"/>
            <a:ext cx="4329227" cy="512064"/>
          </a:xfrm>
          <a:prstGeom prst="rect">
            <a:avLst/>
          </a:prstGeom>
          <a:noFill/>
          <a:ln/>
        </p:spPr>
        <p:txBody>
          <a:bodyPr wrap="square" lIns="0" tIns="0" rIns="0" bIns="0" rtlCol="0" anchor="t"/>
          <a:lstStyle/>
          <a:p>
            <a:pPr indent="0" marL="0">
              <a:lnSpc>
                <a:spcPct val="136000"/>
              </a:lnSpc>
              <a:buNone/>
            </a:pPr>
            <a:r>
              <a:rPr lang="en-US" sz="1000" dirty="0">
                <a:solidFill>
                  <a:srgbClr val="4B5550"/>
                </a:solidFill>
                <a:latin typeface="Yu Gothic" pitchFamily="34" charset="0"/>
                <a:ea typeface="Yu Gothic" pitchFamily="34" charset="-122"/>
                <a:cs typeface="Yu Gothic" pitchFamily="34" charset="-120"/>
              </a:rPr>
              <a:t>24時間体制の警備会社と遠隔監視システムにより、オーナー様が現場に駆けつける必要はほぼありません。また顧客とのLINEチャットを設けており、そこで質問対応・意見収集を行っています。</a:t>
            </a:r>
            <a:endParaRPr lang="en-US" sz="1000" dirty="0"/>
          </a:p>
        </p:txBody>
      </p:sp>
      <p:sp>
        <p:nvSpPr>
          <p:cNvPr id="23" name="Shape 20"/>
          <p:cNvSpPr/>
          <p:nvPr/>
        </p:nvSpPr>
        <p:spPr>
          <a:xfrm>
            <a:off x="660197" y="3224174"/>
            <a:ext cx="5243627" cy="1371600"/>
          </a:xfrm>
          <a:prstGeom prst="roundRect">
            <a:avLst>
              <a:gd name="adj" fmla="val 4000"/>
            </a:avLst>
          </a:prstGeom>
          <a:solidFill>
            <a:srgbClr val="FFFFFF"/>
          </a:solidFill>
          <a:ln w="9525">
            <a:solidFill>
              <a:srgbClr val="EFEAE0"/>
            </a:solidFill>
            <a:prstDash val="solid"/>
          </a:ln>
        </p:spPr>
      </p:sp>
      <p:sp>
        <p:nvSpPr>
          <p:cNvPr id="24" name="Text 21"/>
          <p:cNvSpPr/>
          <p:nvPr/>
        </p:nvSpPr>
        <p:spPr>
          <a:xfrm>
            <a:off x="934517" y="3407054"/>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人材</a:t>
            </a:r>
            <a:endParaRPr lang="en-US" sz="900" dirty="0"/>
          </a:p>
        </p:txBody>
      </p:sp>
      <p:sp>
        <p:nvSpPr>
          <p:cNvPr id="25" name="Text 22"/>
          <p:cNvSpPr/>
          <p:nvPr/>
        </p:nvSpPr>
        <p:spPr>
          <a:xfrm>
            <a:off x="934517" y="3608222"/>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26" name="Text 23"/>
          <p:cNvSpPr/>
          <p:nvPr/>
        </p:nvSpPr>
        <p:spPr>
          <a:xfrm>
            <a:off x="1300277" y="3589934"/>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人材採用については？</a:t>
            </a:r>
            <a:endParaRPr lang="en-US" sz="1450" dirty="0"/>
          </a:p>
        </p:txBody>
      </p:sp>
      <p:sp>
        <p:nvSpPr>
          <p:cNvPr id="27" name="Shape 24"/>
          <p:cNvSpPr/>
          <p:nvPr/>
        </p:nvSpPr>
        <p:spPr>
          <a:xfrm>
            <a:off x="934517" y="3973982"/>
            <a:ext cx="4694987" cy="10058"/>
          </a:xfrm>
          <a:prstGeom prst="rect">
            <a:avLst/>
          </a:prstGeom>
          <a:solidFill>
            <a:srgbClr val="EFEAE0"/>
          </a:solidFill>
          <a:ln/>
        </p:spPr>
      </p:sp>
      <p:sp>
        <p:nvSpPr>
          <p:cNvPr id="28" name="Text 25"/>
          <p:cNvSpPr/>
          <p:nvPr/>
        </p:nvSpPr>
        <p:spPr>
          <a:xfrm>
            <a:off x="934517" y="4065422"/>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29" name="Text 26"/>
          <p:cNvSpPr/>
          <p:nvPr/>
        </p:nvSpPr>
        <p:spPr>
          <a:xfrm>
            <a:off x="1300277" y="4047134"/>
            <a:ext cx="4329227" cy="512064"/>
          </a:xfrm>
          <a:prstGeom prst="rect">
            <a:avLst/>
          </a:prstGeom>
          <a:noFill/>
          <a:ln/>
        </p:spPr>
        <p:txBody>
          <a:bodyPr wrap="square" lIns="0" tIns="0" rIns="0" bIns="0" rtlCol="0" anchor="t"/>
          <a:lstStyle/>
          <a:p>
            <a:pPr indent="0" marL="0">
              <a:lnSpc>
                <a:spcPct val="136000"/>
              </a:lnSpc>
              <a:buNone/>
            </a:pPr>
            <a:r>
              <a:rPr lang="en-US" sz="1000" dirty="0">
                <a:solidFill>
                  <a:srgbClr val="4B5550"/>
                </a:solidFill>
                <a:latin typeface="Yu Gothic" pitchFamily="34" charset="0"/>
                <a:ea typeface="Yu Gothic" pitchFamily="34" charset="-122"/>
                <a:cs typeface="Yu Gothic" pitchFamily="34" charset="-120"/>
              </a:rPr>
              <a:t>新しく人材を採用する必要はありません。清掃管理・原料補充はご自身でもご対応可能ですが、業務委託として委託することも可能です。</a:t>
            </a:r>
            <a:endParaRPr lang="en-US" sz="1000" dirty="0"/>
          </a:p>
        </p:txBody>
      </p:sp>
      <p:sp>
        <p:nvSpPr>
          <p:cNvPr id="30" name="Shape 27"/>
          <p:cNvSpPr/>
          <p:nvPr/>
        </p:nvSpPr>
        <p:spPr>
          <a:xfrm>
            <a:off x="6287872" y="3224174"/>
            <a:ext cx="5243627" cy="1371600"/>
          </a:xfrm>
          <a:prstGeom prst="roundRect">
            <a:avLst>
              <a:gd name="adj" fmla="val 4000"/>
            </a:avLst>
          </a:prstGeom>
          <a:solidFill>
            <a:srgbClr val="FFFFFF"/>
          </a:solidFill>
          <a:ln w="9525">
            <a:solidFill>
              <a:srgbClr val="EFEAE0"/>
            </a:solidFill>
            <a:prstDash val="solid"/>
          </a:ln>
        </p:spPr>
      </p:sp>
      <p:sp>
        <p:nvSpPr>
          <p:cNvPr id="31" name="Text 28"/>
          <p:cNvSpPr/>
          <p:nvPr/>
        </p:nvSpPr>
        <p:spPr>
          <a:xfrm>
            <a:off x="6562192" y="3407054"/>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集客</a:t>
            </a:r>
            <a:endParaRPr lang="en-US" sz="900" dirty="0"/>
          </a:p>
        </p:txBody>
      </p:sp>
      <p:sp>
        <p:nvSpPr>
          <p:cNvPr id="32" name="Text 29"/>
          <p:cNvSpPr/>
          <p:nvPr/>
        </p:nvSpPr>
        <p:spPr>
          <a:xfrm>
            <a:off x="6562192" y="3608222"/>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33" name="Text 30"/>
          <p:cNvSpPr/>
          <p:nvPr/>
        </p:nvSpPr>
        <p:spPr>
          <a:xfrm>
            <a:off x="6927952" y="3589934"/>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集客はどうすれば？</a:t>
            </a:r>
            <a:endParaRPr lang="en-US" sz="1450" dirty="0"/>
          </a:p>
        </p:txBody>
      </p:sp>
      <p:sp>
        <p:nvSpPr>
          <p:cNvPr id="34" name="Shape 31"/>
          <p:cNvSpPr/>
          <p:nvPr/>
        </p:nvSpPr>
        <p:spPr>
          <a:xfrm>
            <a:off x="6562192" y="3973982"/>
            <a:ext cx="4694987" cy="10058"/>
          </a:xfrm>
          <a:prstGeom prst="rect">
            <a:avLst/>
          </a:prstGeom>
          <a:solidFill>
            <a:srgbClr val="EFEAE0"/>
          </a:solidFill>
          <a:ln/>
        </p:spPr>
      </p:sp>
      <p:sp>
        <p:nvSpPr>
          <p:cNvPr id="35" name="Text 32"/>
          <p:cNvSpPr/>
          <p:nvPr/>
        </p:nvSpPr>
        <p:spPr>
          <a:xfrm>
            <a:off x="6562192" y="4065422"/>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36" name="Text 33"/>
          <p:cNvSpPr/>
          <p:nvPr/>
        </p:nvSpPr>
        <p:spPr>
          <a:xfrm>
            <a:off x="6927952" y="4047134"/>
            <a:ext cx="4329227" cy="512064"/>
          </a:xfrm>
          <a:prstGeom prst="rect">
            <a:avLst/>
          </a:prstGeom>
          <a:noFill/>
          <a:ln/>
        </p:spPr>
        <p:txBody>
          <a:bodyPr wrap="square" lIns="0" tIns="0" rIns="0" bIns="0" rtlCol="0" anchor="t"/>
          <a:lstStyle/>
          <a:p>
            <a:pPr indent="0" marL="0">
              <a:lnSpc>
                <a:spcPct val="136000"/>
              </a:lnSpc>
              <a:buNone/>
            </a:pPr>
            <a:r>
              <a:rPr lang="en-US" sz="1000" dirty="0">
                <a:solidFill>
                  <a:srgbClr val="4B5550"/>
                </a:solidFill>
                <a:latin typeface="Yu Gothic" pitchFamily="34" charset="0"/>
                <a:ea typeface="Yu Gothic" pitchFamily="34" charset="-122"/>
                <a:cs typeface="Yu Gothic" pitchFamily="34" charset="-120"/>
              </a:rPr>
              <a:t>数々のメディア取材や、本部によるSEO/MEO対策をはじめとしたWebマーケティングによって集客を支援します。</a:t>
            </a:r>
            <a:endParaRPr lang="en-US" sz="1000" dirty="0"/>
          </a:p>
        </p:txBody>
      </p:sp>
      <p:sp>
        <p:nvSpPr>
          <p:cNvPr id="37" name="Shape 34"/>
          <p:cNvSpPr/>
          <p:nvPr/>
        </p:nvSpPr>
        <p:spPr>
          <a:xfrm>
            <a:off x="660197" y="4796942"/>
            <a:ext cx="5243627" cy="1371600"/>
          </a:xfrm>
          <a:prstGeom prst="roundRect">
            <a:avLst>
              <a:gd name="adj" fmla="val 4000"/>
            </a:avLst>
          </a:prstGeom>
          <a:solidFill>
            <a:srgbClr val="FFFFFF"/>
          </a:solidFill>
          <a:ln w="9525">
            <a:solidFill>
              <a:srgbClr val="EFEAE0"/>
            </a:solidFill>
            <a:prstDash val="solid"/>
          </a:ln>
        </p:spPr>
      </p:sp>
      <p:sp>
        <p:nvSpPr>
          <p:cNvPr id="38" name="Text 35"/>
          <p:cNvSpPr/>
          <p:nvPr/>
        </p:nvSpPr>
        <p:spPr>
          <a:xfrm>
            <a:off x="934517" y="4979822"/>
            <a:ext cx="2377440" cy="164592"/>
          </a:xfrm>
          <a:prstGeom prst="rect">
            <a:avLst/>
          </a:prstGeom>
          <a:noFill/>
          <a:ln/>
        </p:spPr>
        <p:txBody>
          <a:bodyPr wrap="square" lIns="0" tIns="0" rIns="0" bIns="0" rtlCol="0" anchor="ctr"/>
          <a:lstStyle/>
          <a:p>
            <a:pPr indent="0" marL="0">
              <a:buNone/>
            </a:pPr>
            <a:r>
              <a:rPr lang="en-US" sz="900" b="1" spc="150" kern="0" dirty="0">
                <a:solidFill>
                  <a:srgbClr val="1B8149"/>
                </a:solidFill>
                <a:latin typeface="Arial" pitchFamily="34" charset="0"/>
                <a:ea typeface="Arial" pitchFamily="34" charset="-122"/>
                <a:cs typeface="Arial" pitchFamily="34" charset="-120"/>
              </a:rPr>
              <a:t>許認可</a:t>
            </a:r>
            <a:endParaRPr lang="en-US" sz="900" dirty="0"/>
          </a:p>
        </p:txBody>
      </p:sp>
      <p:sp>
        <p:nvSpPr>
          <p:cNvPr id="39" name="Text 36"/>
          <p:cNvSpPr/>
          <p:nvPr/>
        </p:nvSpPr>
        <p:spPr>
          <a:xfrm>
            <a:off x="934517" y="5180990"/>
            <a:ext cx="329184" cy="292608"/>
          </a:xfrm>
          <a:prstGeom prst="rect">
            <a:avLst/>
          </a:prstGeom>
          <a:noFill/>
          <a:ln/>
        </p:spPr>
        <p:txBody>
          <a:bodyPr wrap="square" lIns="0" tIns="0" rIns="0" bIns="0" rtlCol="0" anchor="ctr"/>
          <a:lstStyle/>
          <a:p>
            <a:pPr indent="0" marL="0">
              <a:buNone/>
            </a:pPr>
            <a:r>
              <a:rPr lang="en-US" sz="1300" b="1" dirty="0">
                <a:solidFill>
                  <a:srgbClr val="A8761F"/>
                </a:solidFill>
                <a:latin typeface="Arial" pitchFamily="34" charset="0"/>
                <a:ea typeface="Arial" pitchFamily="34" charset="-122"/>
                <a:cs typeface="Arial" pitchFamily="34" charset="-120"/>
              </a:rPr>
              <a:t>Q.</a:t>
            </a:r>
            <a:endParaRPr lang="en-US" sz="1300" dirty="0"/>
          </a:p>
        </p:txBody>
      </p:sp>
      <p:sp>
        <p:nvSpPr>
          <p:cNvPr id="40" name="Text 37"/>
          <p:cNvSpPr/>
          <p:nvPr/>
        </p:nvSpPr>
        <p:spPr>
          <a:xfrm>
            <a:off x="1300277" y="5162702"/>
            <a:ext cx="4329227" cy="310896"/>
          </a:xfrm>
          <a:prstGeom prst="rect">
            <a:avLst/>
          </a:prstGeom>
          <a:noFill/>
          <a:ln/>
        </p:spPr>
        <p:txBody>
          <a:bodyPr wrap="square" lIns="0" tIns="0" rIns="0" bIns="0" rtlCol="0" anchor="ctr"/>
          <a:lstStyle/>
          <a:p>
            <a:pPr indent="0" marL="0">
              <a:buNone/>
            </a:pPr>
            <a:r>
              <a:rPr lang="en-US" sz="1450" b="1" dirty="0">
                <a:solidFill>
                  <a:srgbClr val="0A3D23"/>
                </a:solidFill>
                <a:latin typeface="Yu Gothic" pitchFamily="34" charset="0"/>
                <a:ea typeface="Yu Gothic" pitchFamily="34" charset="-122"/>
                <a:cs typeface="Yu Gothic" pitchFamily="34" charset="-120"/>
              </a:rPr>
              <a:t>許認可の申請は必要ですか？</a:t>
            </a:r>
            <a:endParaRPr lang="en-US" sz="1450" dirty="0"/>
          </a:p>
        </p:txBody>
      </p:sp>
      <p:sp>
        <p:nvSpPr>
          <p:cNvPr id="41" name="Shape 38"/>
          <p:cNvSpPr/>
          <p:nvPr/>
        </p:nvSpPr>
        <p:spPr>
          <a:xfrm>
            <a:off x="934517" y="5546750"/>
            <a:ext cx="4694987" cy="10058"/>
          </a:xfrm>
          <a:prstGeom prst="rect">
            <a:avLst/>
          </a:prstGeom>
          <a:solidFill>
            <a:srgbClr val="EFEAE0"/>
          </a:solidFill>
          <a:ln/>
        </p:spPr>
      </p:sp>
      <p:sp>
        <p:nvSpPr>
          <p:cNvPr id="42" name="Text 39"/>
          <p:cNvSpPr/>
          <p:nvPr/>
        </p:nvSpPr>
        <p:spPr>
          <a:xfrm>
            <a:off x="934517" y="5638190"/>
            <a:ext cx="329184" cy="237744"/>
          </a:xfrm>
          <a:prstGeom prst="rect">
            <a:avLst/>
          </a:prstGeom>
          <a:noFill/>
          <a:ln/>
        </p:spPr>
        <p:txBody>
          <a:bodyPr wrap="square" lIns="0" tIns="0" rIns="0" bIns="0" rtlCol="0" anchor="ctr"/>
          <a:lstStyle/>
          <a:p>
            <a:pPr indent="0" marL="0">
              <a:buNone/>
            </a:pPr>
            <a:r>
              <a:rPr lang="en-US" sz="1150" b="1" dirty="0">
                <a:solidFill>
                  <a:srgbClr val="106838"/>
                </a:solidFill>
                <a:latin typeface="Arial" pitchFamily="34" charset="0"/>
                <a:ea typeface="Arial" pitchFamily="34" charset="-122"/>
                <a:cs typeface="Arial" pitchFamily="34" charset="-120"/>
              </a:rPr>
              <a:t>A.</a:t>
            </a:r>
            <a:endParaRPr lang="en-US" sz="1150" dirty="0"/>
          </a:p>
        </p:txBody>
      </p:sp>
      <p:sp>
        <p:nvSpPr>
          <p:cNvPr id="43" name="Text 40"/>
          <p:cNvSpPr/>
          <p:nvPr/>
        </p:nvSpPr>
        <p:spPr>
          <a:xfrm>
            <a:off x="1300277" y="5619902"/>
            <a:ext cx="4329227" cy="512064"/>
          </a:xfrm>
          <a:prstGeom prst="rect">
            <a:avLst/>
          </a:prstGeom>
          <a:noFill/>
          <a:ln/>
        </p:spPr>
        <p:txBody>
          <a:bodyPr wrap="square" lIns="0" tIns="0" rIns="0" bIns="0" rtlCol="0" anchor="t"/>
          <a:lstStyle/>
          <a:p>
            <a:pPr indent="0" marL="0">
              <a:lnSpc>
                <a:spcPct val="136000"/>
              </a:lnSpc>
              <a:buNone/>
            </a:pPr>
            <a:r>
              <a:rPr lang="en-US" sz="1000" dirty="0">
                <a:solidFill>
                  <a:srgbClr val="4B5550"/>
                </a:solidFill>
                <a:latin typeface="Yu Gothic" pitchFamily="34" charset="0"/>
                <a:ea typeface="Yu Gothic" pitchFamily="34" charset="-122"/>
                <a:cs typeface="Yu Gothic" pitchFamily="34" charset="-120"/>
              </a:rPr>
              <a:t>営業届の提出と、食品衛生責任者の設置が必要です。食品衛生責任者の資格は貴社にて取得いただき、営業届の申請は本部が行います。</a:t>
            </a:r>
            <a:endParaRPr lang="en-US" sz="1000" dirty="0"/>
          </a:p>
        </p:txBody>
      </p:sp>
      <p:sp>
        <p:nvSpPr>
          <p:cNvPr id="44" name="Shape 41"/>
          <p:cNvSpPr/>
          <p:nvPr/>
        </p:nvSpPr>
        <p:spPr>
          <a:xfrm>
            <a:off x="6287872" y="4796942"/>
            <a:ext cx="5243627" cy="1371600"/>
          </a:xfrm>
          <a:prstGeom prst="roundRect">
            <a:avLst>
              <a:gd name="adj" fmla="val 4000"/>
            </a:avLst>
          </a:prstGeom>
          <a:solidFill>
            <a:srgbClr val="0C5230"/>
          </a:solidFill>
          <a:ln/>
        </p:spPr>
      </p:sp>
      <p:pic>
        <p:nvPicPr>
          <p:cNvPr id="45" name="Image 1" descr="/home/user/suzuki-ceo/selfcafe-partner-deck/assets/icons/LuMessageCircle-white.png">    </p:cNvPr>
          <p:cNvPicPr>
            <a:picLocks noChangeAspect="1"/>
          </p:cNvPicPr>
          <p:nvPr/>
        </p:nvPicPr>
        <p:blipFill>
          <a:blip r:embed="rId2"/>
          <a:stretch>
            <a:fillRect/>
          </a:stretch>
        </p:blipFill>
        <p:spPr>
          <a:xfrm>
            <a:off x="6598768" y="5107838"/>
            <a:ext cx="329184" cy="329184"/>
          </a:xfrm>
          <a:prstGeom prst="rect">
            <a:avLst/>
          </a:prstGeom>
        </p:spPr>
      </p:pic>
      <p:sp>
        <p:nvSpPr>
          <p:cNvPr id="46" name="Text 42"/>
          <p:cNvSpPr/>
          <p:nvPr/>
        </p:nvSpPr>
        <p:spPr>
          <a:xfrm>
            <a:off x="7092544" y="5071262"/>
            <a:ext cx="4146347" cy="329184"/>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その他のご質問もお気軽に</a:t>
            </a:r>
            <a:endParaRPr lang="en-US" sz="1500" dirty="0"/>
          </a:p>
        </p:txBody>
      </p:sp>
      <p:sp>
        <p:nvSpPr>
          <p:cNvPr id="47" name="Text 43"/>
          <p:cNvSpPr/>
          <p:nvPr/>
        </p:nvSpPr>
        <p:spPr>
          <a:xfrm>
            <a:off x="7092544" y="5455310"/>
            <a:ext cx="4146347" cy="548640"/>
          </a:xfrm>
          <a:prstGeom prst="rect">
            <a:avLst/>
          </a:prstGeom>
          <a:noFill/>
          <a:ln/>
        </p:spPr>
        <p:txBody>
          <a:bodyPr wrap="square" lIns="0" tIns="0" rIns="0" bIns="0" rtlCol="0" anchor="t"/>
          <a:lstStyle/>
          <a:p>
            <a:pPr indent="0" marL="0">
              <a:lnSpc>
                <a:spcPct val="136000"/>
              </a:lnSpc>
              <a:buNone/>
            </a:pPr>
            <a:r>
              <a:rPr lang="en-US" sz="1000" dirty="0">
                <a:solidFill>
                  <a:srgbClr val="AFC2B8"/>
                </a:solidFill>
                <a:latin typeface="Yu Gothic" pitchFamily="34" charset="0"/>
                <a:ea typeface="Yu Gothic" pitchFamily="34" charset="-122"/>
                <a:cs typeface="Yu Gothic" pitchFamily="34" charset="-120"/>
              </a:rPr>
              <a:t>初回面談で、立地条件やご希望に合わせて個別にご説明します。スペースの写真や図面をお持ちいただけると、収益試算までご案内できます。</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26</a:t>
            </a:r>
            <a:r>
              <a:rPr lang="en-US" sz="1050" b="1" dirty="0">
                <a:solidFill>
                  <a:srgbClr val="1B8149"/>
                </a:solidFill>
                <a:latin typeface="Yu Gothic" pitchFamily="34" charset="0"/>
                <a:ea typeface="Yu Gothic" pitchFamily="34" charset="-122"/>
                <a:cs typeface="Yu Gothic" pitchFamily="34" charset="-120"/>
              </a:rPr>
              <a:t>   サポート</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万全のサポート体制</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新たに人を採用・配置する必要はありません。開業前から開業後まで本部が伴走します。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27</a:t>
            </a:r>
            <a:endParaRPr lang="en-US" sz="1000" dirty="0"/>
          </a:p>
        </p:txBody>
      </p:sp>
      <p:sp>
        <p:nvSpPr>
          <p:cNvPr id="9" name="Shape 6"/>
          <p:cNvSpPr/>
          <p:nvPr/>
        </p:nvSpPr>
        <p:spPr>
          <a:xfrm>
            <a:off x="660197" y="1651406"/>
            <a:ext cx="5243627" cy="3200400"/>
          </a:xfrm>
          <a:prstGeom prst="roundRect">
            <a:avLst>
              <a:gd name="adj" fmla="val 1714"/>
            </a:avLst>
          </a:prstGeom>
          <a:solidFill>
            <a:srgbClr val="FFFFFF"/>
          </a:solidFill>
          <a:ln w="9525">
            <a:solidFill>
              <a:srgbClr val="EFEAE0"/>
            </a:solidFill>
            <a:prstDash val="solid"/>
          </a:ln>
        </p:spPr>
      </p:sp>
      <p:pic>
        <p:nvPicPr>
          <p:cNvPr id="10" name="Image 1" descr="/home/user/suzuki-ceo/selfcafe-partner-deck/assets/icons/LuFileCheck-green.png">    </p:cNvPr>
          <p:cNvPicPr>
            <a:picLocks noChangeAspect="1"/>
          </p:cNvPicPr>
          <p:nvPr/>
        </p:nvPicPr>
        <p:blipFill>
          <a:blip r:embed="rId2"/>
          <a:stretch>
            <a:fillRect/>
          </a:stretch>
        </p:blipFill>
        <p:spPr>
          <a:xfrm>
            <a:off x="934517" y="1925726"/>
            <a:ext cx="384048" cy="384048"/>
          </a:xfrm>
          <a:prstGeom prst="rect">
            <a:avLst/>
          </a:prstGeom>
        </p:spPr>
      </p:pic>
      <p:sp>
        <p:nvSpPr>
          <p:cNvPr id="11" name="Text 7"/>
          <p:cNvSpPr/>
          <p:nvPr/>
        </p:nvSpPr>
        <p:spPr>
          <a:xfrm>
            <a:off x="1483157" y="1925726"/>
            <a:ext cx="27432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BEFORE OPENING</a:t>
            </a:r>
            <a:endParaRPr lang="en-US" sz="900" dirty="0"/>
          </a:p>
        </p:txBody>
      </p:sp>
      <p:sp>
        <p:nvSpPr>
          <p:cNvPr id="12" name="Text 8"/>
          <p:cNvSpPr/>
          <p:nvPr/>
        </p:nvSpPr>
        <p:spPr>
          <a:xfrm>
            <a:off x="1483157" y="2108606"/>
            <a:ext cx="4146347" cy="329184"/>
          </a:xfrm>
          <a:prstGeom prst="rect">
            <a:avLst/>
          </a:prstGeom>
          <a:noFill/>
          <a:ln/>
        </p:spPr>
        <p:txBody>
          <a:bodyPr wrap="square" lIns="0" tIns="0" rIns="0" bIns="0" rtlCol="0" anchor="ctr"/>
          <a:lstStyle/>
          <a:p>
            <a:pPr indent="0" marL="0">
              <a:buNone/>
            </a:pPr>
            <a:r>
              <a:rPr lang="en-US" sz="1800" b="1" dirty="0">
                <a:solidFill>
                  <a:srgbClr val="0A3D23"/>
                </a:solidFill>
                <a:latin typeface="Yu Gothic" pitchFamily="34" charset="0"/>
                <a:ea typeface="Yu Gothic" pitchFamily="34" charset="-122"/>
                <a:cs typeface="Yu Gothic" pitchFamily="34" charset="-120"/>
              </a:rPr>
              <a:t>開業前サポート</a:t>
            </a:r>
            <a:endParaRPr lang="en-US" sz="1800" dirty="0"/>
          </a:p>
        </p:txBody>
      </p:sp>
      <p:sp>
        <p:nvSpPr>
          <p:cNvPr id="13" name="Shape 9"/>
          <p:cNvSpPr/>
          <p:nvPr/>
        </p:nvSpPr>
        <p:spPr>
          <a:xfrm>
            <a:off x="934517" y="2565806"/>
            <a:ext cx="4694987" cy="10058"/>
          </a:xfrm>
          <a:prstGeom prst="rect">
            <a:avLst/>
          </a:prstGeom>
          <a:solidFill>
            <a:srgbClr val="EFEAE0"/>
          </a:solidFill>
          <a:ln/>
        </p:spPr>
      </p:sp>
      <p:pic>
        <p:nvPicPr>
          <p:cNvPr id="14" name="Image 2" descr="/home/user/suzuki-ceo/selfcafe-partner-deck/assets/icons/LuCheck-green.png">    </p:cNvPr>
          <p:cNvPicPr>
            <a:picLocks noChangeAspect="1"/>
          </p:cNvPicPr>
          <p:nvPr/>
        </p:nvPicPr>
        <p:blipFill>
          <a:blip r:embed="rId3"/>
          <a:stretch>
            <a:fillRect/>
          </a:stretch>
        </p:blipFill>
        <p:spPr>
          <a:xfrm>
            <a:off x="952805" y="2766974"/>
            <a:ext cx="182880" cy="182880"/>
          </a:xfrm>
          <a:prstGeom prst="rect">
            <a:avLst/>
          </a:prstGeom>
        </p:spPr>
      </p:pic>
      <p:sp>
        <p:nvSpPr>
          <p:cNvPr id="15" name="Text 10"/>
          <p:cNvSpPr/>
          <p:nvPr/>
        </p:nvSpPr>
        <p:spPr>
          <a:xfrm>
            <a:off x="1263701" y="2712110"/>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パートナー制度のご説明</a:t>
            </a:r>
            <a:endParaRPr lang="en-US" sz="1150" dirty="0"/>
          </a:p>
        </p:txBody>
      </p:sp>
      <p:pic>
        <p:nvPicPr>
          <p:cNvPr id="16" name="Image 3" descr="/home/user/suzuki-ceo/selfcafe-partner-deck/assets/icons/LuCheck-green.png">    </p:cNvPr>
          <p:cNvPicPr>
            <a:picLocks noChangeAspect="1"/>
          </p:cNvPicPr>
          <p:nvPr/>
        </p:nvPicPr>
        <p:blipFill>
          <a:blip r:embed="rId4"/>
          <a:stretch>
            <a:fillRect/>
          </a:stretch>
        </p:blipFill>
        <p:spPr>
          <a:xfrm>
            <a:off x="952805" y="3169310"/>
            <a:ext cx="182880" cy="182880"/>
          </a:xfrm>
          <a:prstGeom prst="rect">
            <a:avLst/>
          </a:prstGeom>
        </p:spPr>
      </p:pic>
      <p:sp>
        <p:nvSpPr>
          <p:cNvPr id="17" name="Text 11"/>
          <p:cNvSpPr/>
          <p:nvPr/>
        </p:nvSpPr>
        <p:spPr>
          <a:xfrm>
            <a:off x="1263701" y="3114446"/>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収益試算表の作成</a:t>
            </a:r>
            <a:endParaRPr lang="en-US" sz="1150" dirty="0"/>
          </a:p>
        </p:txBody>
      </p:sp>
      <p:pic>
        <p:nvPicPr>
          <p:cNvPr id="18" name="Image 4" descr="/home/user/suzuki-ceo/selfcafe-partner-deck/assets/icons/LuCheck-green.png">    </p:cNvPr>
          <p:cNvPicPr>
            <a:picLocks noChangeAspect="1"/>
          </p:cNvPicPr>
          <p:nvPr/>
        </p:nvPicPr>
        <p:blipFill>
          <a:blip r:embed="rId5"/>
          <a:stretch>
            <a:fillRect/>
          </a:stretch>
        </p:blipFill>
        <p:spPr>
          <a:xfrm>
            <a:off x="952805" y="3571646"/>
            <a:ext cx="182880" cy="182880"/>
          </a:xfrm>
          <a:prstGeom prst="rect">
            <a:avLst/>
          </a:prstGeom>
        </p:spPr>
      </p:pic>
      <p:sp>
        <p:nvSpPr>
          <p:cNvPr id="19" name="Text 12"/>
          <p:cNvSpPr/>
          <p:nvPr/>
        </p:nvSpPr>
        <p:spPr>
          <a:xfrm>
            <a:off x="1263701" y="3516782"/>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現地調査・工事業者手配</a:t>
            </a:r>
            <a:endParaRPr lang="en-US" sz="1150" dirty="0"/>
          </a:p>
        </p:txBody>
      </p:sp>
      <p:pic>
        <p:nvPicPr>
          <p:cNvPr id="20" name="Image 5" descr="/home/user/suzuki-ceo/selfcafe-partner-deck/assets/icons/LuCheck-green.png">    </p:cNvPr>
          <p:cNvPicPr>
            <a:picLocks noChangeAspect="1"/>
          </p:cNvPicPr>
          <p:nvPr/>
        </p:nvPicPr>
        <p:blipFill>
          <a:blip r:embed="rId6"/>
          <a:stretch>
            <a:fillRect/>
          </a:stretch>
        </p:blipFill>
        <p:spPr>
          <a:xfrm>
            <a:off x="952805" y="3973982"/>
            <a:ext cx="182880" cy="182880"/>
          </a:xfrm>
          <a:prstGeom prst="rect">
            <a:avLst/>
          </a:prstGeom>
        </p:spPr>
      </p:pic>
      <p:sp>
        <p:nvSpPr>
          <p:cNvPr id="21" name="Text 13"/>
          <p:cNvSpPr/>
          <p:nvPr/>
        </p:nvSpPr>
        <p:spPr>
          <a:xfrm>
            <a:off x="1263701" y="3919118"/>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店舗デザイン・設計</a:t>
            </a:r>
            <a:endParaRPr lang="en-US" sz="1150" dirty="0"/>
          </a:p>
        </p:txBody>
      </p:sp>
      <p:pic>
        <p:nvPicPr>
          <p:cNvPr id="22" name="Image 6" descr="/home/user/suzuki-ceo/selfcafe-partner-deck/assets/icons/LuCheck-green.png">    </p:cNvPr>
          <p:cNvPicPr>
            <a:picLocks noChangeAspect="1"/>
          </p:cNvPicPr>
          <p:nvPr/>
        </p:nvPicPr>
        <p:blipFill>
          <a:blip r:embed="rId7"/>
          <a:stretch>
            <a:fillRect/>
          </a:stretch>
        </p:blipFill>
        <p:spPr>
          <a:xfrm>
            <a:off x="952805" y="4376318"/>
            <a:ext cx="182880" cy="182880"/>
          </a:xfrm>
          <a:prstGeom prst="rect">
            <a:avLst/>
          </a:prstGeom>
        </p:spPr>
      </p:pic>
      <p:sp>
        <p:nvSpPr>
          <p:cNvPr id="23" name="Text 14"/>
          <p:cNvSpPr/>
          <p:nvPr/>
        </p:nvSpPr>
        <p:spPr>
          <a:xfrm>
            <a:off x="1263701" y="4321454"/>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運営研修</a:t>
            </a:r>
            <a:endParaRPr lang="en-US" sz="1150" dirty="0"/>
          </a:p>
        </p:txBody>
      </p:sp>
      <p:sp>
        <p:nvSpPr>
          <p:cNvPr id="24" name="Shape 15"/>
          <p:cNvSpPr/>
          <p:nvPr/>
        </p:nvSpPr>
        <p:spPr>
          <a:xfrm>
            <a:off x="6287872" y="1651406"/>
            <a:ext cx="5243627" cy="3200400"/>
          </a:xfrm>
          <a:prstGeom prst="roundRect">
            <a:avLst>
              <a:gd name="adj" fmla="val 1714"/>
            </a:avLst>
          </a:prstGeom>
          <a:solidFill>
            <a:srgbClr val="FFFFFF"/>
          </a:solidFill>
          <a:ln w="9525">
            <a:solidFill>
              <a:srgbClr val="EFEAE0"/>
            </a:solidFill>
            <a:prstDash val="solid"/>
          </a:ln>
        </p:spPr>
      </p:sp>
      <p:pic>
        <p:nvPicPr>
          <p:cNvPr id="25" name="Image 7" descr="/home/user/suzuki-ceo/selfcafe-partner-deck/assets/icons/LuLifeBuoy-green.png">    </p:cNvPr>
          <p:cNvPicPr>
            <a:picLocks noChangeAspect="1"/>
          </p:cNvPicPr>
          <p:nvPr/>
        </p:nvPicPr>
        <p:blipFill>
          <a:blip r:embed="rId8"/>
          <a:stretch>
            <a:fillRect/>
          </a:stretch>
        </p:blipFill>
        <p:spPr>
          <a:xfrm>
            <a:off x="6562192" y="1925726"/>
            <a:ext cx="384048" cy="384048"/>
          </a:xfrm>
          <a:prstGeom prst="rect">
            <a:avLst/>
          </a:prstGeom>
        </p:spPr>
      </p:pic>
      <p:sp>
        <p:nvSpPr>
          <p:cNvPr id="26" name="Text 16"/>
          <p:cNvSpPr/>
          <p:nvPr/>
        </p:nvSpPr>
        <p:spPr>
          <a:xfrm>
            <a:off x="7110832" y="1925726"/>
            <a:ext cx="2743200" cy="164592"/>
          </a:xfrm>
          <a:prstGeom prst="rect">
            <a:avLst/>
          </a:prstGeom>
          <a:noFill/>
          <a:ln/>
        </p:spPr>
        <p:txBody>
          <a:bodyPr wrap="square" lIns="0" tIns="0" rIns="0" bIns="0" rtlCol="0" anchor="ctr"/>
          <a:lstStyle/>
          <a:p>
            <a:pPr indent="0" marL="0">
              <a:buNone/>
            </a:pPr>
            <a:r>
              <a:rPr lang="en-US" sz="900" b="1" spc="150" kern="0" dirty="0">
                <a:solidFill>
                  <a:srgbClr val="A8761F"/>
                </a:solidFill>
                <a:latin typeface="Arial" pitchFamily="34" charset="0"/>
                <a:ea typeface="Arial" pitchFamily="34" charset="-122"/>
                <a:cs typeface="Arial" pitchFamily="34" charset="-120"/>
              </a:rPr>
              <a:t>AFTER OPENING</a:t>
            </a:r>
            <a:endParaRPr lang="en-US" sz="900" dirty="0"/>
          </a:p>
        </p:txBody>
      </p:sp>
      <p:sp>
        <p:nvSpPr>
          <p:cNvPr id="27" name="Text 17"/>
          <p:cNvSpPr/>
          <p:nvPr/>
        </p:nvSpPr>
        <p:spPr>
          <a:xfrm>
            <a:off x="7110832" y="2108606"/>
            <a:ext cx="4146347" cy="329184"/>
          </a:xfrm>
          <a:prstGeom prst="rect">
            <a:avLst/>
          </a:prstGeom>
          <a:noFill/>
          <a:ln/>
        </p:spPr>
        <p:txBody>
          <a:bodyPr wrap="square" lIns="0" tIns="0" rIns="0" bIns="0" rtlCol="0" anchor="ctr"/>
          <a:lstStyle/>
          <a:p>
            <a:pPr indent="0" marL="0">
              <a:buNone/>
            </a:pPr>
            <a:r>
              <a:rPr lang="en-US" sz="1800" b="1" dirty="0">
                <a:solidFill>
                  <a:srgbClr val="0A3D23"/>
                </a:solidFill>
                <a:latin typeface="Yu Gothic" pitchFamily="34" charset="0"/>
                <a:ea typeface="Yu Gothic" pitchFamily="34" charset="-122"/>
                <a:cs typeface="Yu Gothic" pitchFamily="34" charset="-120"/>
              </a:rPr>
              <a:t>開業後サポート</a:t>
            </a:r>
            <a:endParaRPr lang="en-US" sz="1800" dirty="0"/>
          </a:p>
        </p:txBody>
      </p:sp>
      <p:sp>
        <p:nvSpPr>
          <p:cNvPr id="28" name="Shape 18"/>
          <p:cNvSpPr/>
          <p:nvPr/>
        </p:nvSpPr>
        <p:spPr>
          <a:xfrm>
            <a:off x="6562192" y="2565806"/>
            <a:ext cx="4694987" cy="10058"/>
          </a:xfrm>
          <a:prstGeom prst="rect">
            <a:avLst/>
          </a:prstGeom>
          <a:solidFill>
            <a:srgbClr val="EFEAE0"/>
          </a:solidFill>
          <a:ln/>
        </p:spPr>
      </p:sp>
      <p:pic>
        <p:nvPicPr>
          <p:cNvPr id="29" name="Image 8" descr="/home/user/suzuki-ceo/selfcafe-partner-deck/assets/icons/LuCheck-green.png">    </p:cNvPr>
          <p:cNvPicPr>
            <a:picLocks noChangeAspect="1"/>
          </p:cNvPicPr>
          <p:nvPr/>
        </p:nvPicPr>
        <p:blipFill>
          <a:blip r:embed="rId9"/>
          <a:stretch>
            <a:fillRect/>
          </a:stretch>
        </p:blipFill>
        <p:spPr>
          <a:xfrm>
            <a:off x="6580480" y="2766974"/>
            <a:ext cx="182880" cy="182880"/>
          </a:xfrm>
          <a:prstGeom prst="rect">
            <a:avLst/>
          </a:prstGeom>
        </p:spPr>
      </p:pic>
      <p:sp>
        <p:nvSpPr>
          <p:cNvPr id="30" name="Text 19"/>
          <p:cNvSpPr/>
          <p:nvPr/>
        </p:nvSpPr>
        <p:spPr>
          <a:xfrm>
            <a:off x="6891376" y="2712110"/>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店舗運営相談</a:t>
            </a:r>
            <a:endParaRPr lang="en-US" sz="1150" dirty="0"/>
          </a:p>
        </p:txBody>
      </p:sp>
      <p:pic>
        <p:nvPicPr>
          <p:cNvPr id="31" name="Image 9" descr="/home/user/suzuki-ceo/selfcafe-partner-deck/assets/icons/LuCheck-green.png">    </p:cNvPr>
          <p:cNvPicPr>
            <a:picLocks noChangeAspect="1"/>
          </p:cNvPicPr>
          <p:nvPr/>
        </p:nvPicPr>
        <p:blipFill>
          <a:blip r:embed="rId10"/>
          <a:stretch>
            <a:fillRect/>
          </a:stretch>
        </p:blipFill>
        <p:spPr>
          <a:xfrm>
            <a:off x="6580480" y="3169310"/>
            <a:ext cx="182880" cy="182880"/>
          </a:xfrm>
          <a:prstGeom prst="rect">
            <a:avLst/>
          </a:prstGeom>
        </p:spPr>
      </p:pic>
      <p:sp>
        <p:nvSpPr>
          <p:cNvPr id="32" name="Text 20"/>
          <p:cNvSpPr/>
          <p:nvPr/>
        </p:nvSpPr>
        <p:spPr>
          <a:xfrm>
            <a:off x="6891376" y="3114446"/>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マシンの定期メンテナンス</a:t>
            </a:r>
            <a:endParaRPr lang="en-US" sz="1150" dirty="0"/>
          </a:p>
        </p:txBody>
      </p:sp>
      <p:pic>
        <p:nvPicPr>
          <p:cNvPr id="33" name="Image 10" descr="/home/user/suzuki-ceo/selfcafe-partner-deck/assets/icons/LuCheck-green.png">    </p:cNvPr>
          <p:cNvPicPr>
            <a:picLocks noChangeAspect="1"/>
          </p:cNvPicPr>
          <p:nvPr/>
        </p:nvPicPr>
        <p:blipFill>
          <a:blip r:embed="rId11"/>
          <a:stretch>
            <a:fillRect/>
          </a:stretch>
        </p:blipFill>
        <p:spPr>
          <a:xfrm>
            <a:off x="6580480" y="3571646"/>
            <a:ext cx="182880" cy="182880"/>
          </a:xfrm>
          <a:prstGeom prst="rect">
            <a:avLst/>
          </a:prstGeom>
        </p:spPr>
      </p:pic>
      <p:sp>
        <p:nvSpPr>
          <p:cNvPr id="34" name="Text 21"/>
          <p:cNvSpPr/>
          <p:nvPr/>
        </p:nvSpPr>
        <p:spPr>
          <a:xfrm>
            <a:off x="6891376" y="3516782"/>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WEBサイト作成・更新</a:t>
            </a:r>
            <a:endParaRPr lang="en-US" sz="1150" dirty="0"/>
          </a:p>
        </p:txBody>
      </p:sp>
      <p:pic>
        <p:nvPicPr>
          <p:cNvPr id="35" name="Image 11" descr="/home/user/suzuki-ceo/selfcafe-partner-deck/assets/icons/LuCheck-green.png">    </p:cNvPr>
          <p:cNvPicPr>
            <a:picLocks noChangeAspect="1"/>
          </p:cNvPicPr>
          <p:nvPr/>
        </p:nvPicPr>
        <p:blipFill>
          <a:blip r:embed="rId12"/>
          <a:stretch>
            <a:fillRect/>
          </a:stretch>
        </p:blipFill>
        <p:spPr>
          <a:xfrm>
            <a:off x="6580480" y="3973982"/>
            <a:ext cx="182880" cy="182880"/>
          </a:xfrm>
          <a:prstGeom prst="rect">
            <a:avLst/>
          </a:prstGeom>
        </p:spPr>
      </p:pic>
      <p:sp>
        <p:nvSpPr>
          <p:cNvPr id="36" name="Text 22"/>
          <p:cNvSpPr/>
          <p:nvPr/>
        </p:nvSpPr>
        <p:spPr>
          <a:xfrm>
            <a:off x="6891376" y="3919118"/>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SEO / MEO対策</a:t>
            </a:r>
            <a:endParaRPr lang="en-US" sz="1150" dirty="0"/>
          </a:p>
        </p:txBody>
      </p:sp>
      <p:pic>
        <p:nvPicPr>
          <p:cNvPr id="37" name="Image 12" descr="/home/user/suzuki-ceo/selfcafe-partner-deck/assets/icons/LuCheck-green.png">    </p:cNvPr>
          <p:cNvPicPr>
            <a:picLocks noChangeAspect="1"/>
          </p:cNvPicPr>
          <p:nvPr/>
        </p:nvPicPr>
        <p:blipFill>
          <a:blip r:embed="rId13"/>
          <a:stretch>
            <a:fillRect/>
          </a:stretch>
        </p:blipFill>
        <p:spPr>
          <a:xfrm>
            <a:off x="6580480" y="4376318"/>
            <a:ext cx="182880" cy="182880"/>
          </a:xfrm>
          <a:prstGeom prst="rect">
            <a:avLst/>
          </a:prstGeom>
        </p:spPr>
      </p:pic>
      <p:sp>
        <p:nvSpPr>
          <p:cNvPr id="38" name="Text 23"/>
          <p:cNvSpPr/>
          <p:nvPr/>
        </p:nvSpPr>
        <p:spPr>
          <a:xfrm>
            <a:off x="6891376" y="4321454"/>
            <a:ext cx="4365803" cy="292608"/>
          </a:xfrm>
          <a:prstGeom prst="rect">
            <a:avLst/>
          </a:prstGeom>
          <a:noFill/>
          <a:ln/>
        </p:spPr>
        <p:txBody>
          <a:bodyPr wrap="square" lIns="0" tIns="0" rIns="0" bIns="0" rtlCol="0" anchor="ctr"/>
          <a:lstStyle/>
          <a:p>
            <a:pPr indent="0" marL="0">
              <a:buNone/>
            </a:pPr>
            <a:r>
              <a:rPr lang="en-US" sz="1150" dirty="0">
                <a:solidFill>
                  <a:srgbClr val="0A3D23"/>
                </a:solidFill>
                <a:latin typeface="Yu Gothic" pitchFamily="34" charset="0"/>
                <a:ea typeface="Yu Gothic" pitchFamily="34" charset="-122"/>
                <a:cs typeface="Yu Gothic" pitchFamily="34" charset="-120"/>
              </a:rPr>
              <a:t>改修工事サポート</a:t>
            </a:r>
            <a:endParaRPr lang="en-US" sz="1150" dirty="0"/>
          </a:p>
        </p:txBody>
      </p:sp>
      <p:sp>
        <p:nvSpPr>
          <p:cNvPr id="39" name="Shape 24"/>
          <p:cNvSpPr/>
          <p:nvPr/>
        </p:nvSpPr>
        <p:spPr>
          <a:xfrm>
            <a:off x="660197" y="5052974"/>
            <a:ext cx="10871302" cy="914400"/>
          </a:xfrm>
          <a:prstGeom prst="roundRect">
            <a:avLst>
              <a:gd name="adj" fmla="val 6000"/>
            </a:avLst>
          </a:prstGeom>
          <a:solidFill>
            <a:srgbClr val="0C5230"/>
          </a:solidFill>
          <a:ln/>
        </p:spPr>
      </p:sp>
      <p:pic>
        <p:nvPicPr>
          <p:cNvPr id="40" name="Image 13" descr="/home/user/suzuki-ceo/selfcafe-partner-deck/assets/icons/LuUsers-white.png">    </p:cNvPr>
          <p:cNvPicPr>
            <a:picLocks noChangeAspect="1"/>
          </p:cNvPicPr>
          <p:nvPr/>
        </p:nvPicPr>
        <p:blipFill>
          <a:blip r:embed="rId14"/>
          <a:stretch>
            <a:fillRect/>
          </a:stretch>
        </p:blipFill>
        <p:spPr>
          <a:xfrm>
            <a:off x="989381" y="5363870"/>
            <a:ext cx="292608" cy="292608"/>
          </a:xfrm>
          <a:prstGeom prst="rect">
            <a:avLst/>
          </a:prstGeom>
        </p:spPr>
      </p:pic>
      <p:sp>
        <p:nvSpPr>
          <p:cNvPr id="41" name="Text 25"/>
          <p:cNvSpPr/>
          <p:nvPr/>
        </p:nvSpPr>
        <p:spPr>
          <a:xfrm>
            <a:off x="1428293" y="5180990"/>
            <a:ext cx="9774022" cy="329184"/>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専任スタッフを置かずに、店舗運営を続けられる体制をつくります。</a:t>
            </a:r>
            <a:endParaRPr lang="en-US" sz="1600" dirty="0"/>
          </a:p>
        </p:txBody>
      </p:sp>
      <p:sp>
        <p:nvSpPr>
          <p:cNvPr id="42" name="Text 26"/>
          <p:cNvSpPr/>
          <p:nvPr/>
        </p:nvSpPr>
        <p:spPr>
          <a:xfrm>
            <a:off x="1428293" y="5528462"/>
            <a:ext cx="9774022" cy="274320"/>
          </a:xfrm>
          <a:prstGeom prst="rect">
            <a:avLst/>
          </a:prstGeom>
          <a:noFill/>
          <a:ln/>
        </p:spPr>
        <p:txBody>
          <a:bodyPr wrap="square" lIns="0" tIns="0" rIns="0" bIns="0" rtlCol="0" anchor="ctr"/>
          <a:lstStyle/>
          <a:p>
            <a:pPr indent="0" marL="0">
              <a:buNone/>
            </a:pPr>
            <a:r>
              <a:rPr lang="en-US" sz="1050" dirty="0">
                <a:solidFill>
                  <a:srgbClr val="AFC2B8"/>
                </a:solidFill>
                <a:latin typeface="Yu Gothic" pitchFamily="34" charset="0"/>
                <a:ea typeface="Yu Gothic" pitchFamily="34" charset="-122"/>
                <a:cs typeface="Yu Gothic" pitchFamily="34" charset="-120"/>
              </a:rPr>
              <a:t>開業前の試算から、開業後のWEB集客・メンテナンスまで本部が担当します。</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660197" y="545897"/>
            <a:ext cx="202997" cy="25603"/>
          </a:xfrm>
          <a:prstGeom prst="rect">
            <a:avLst/>
          </a:prstGeom>
          <a:solidFill>
            <a:srgbClr val="106838"/>
          </a:solidFill>
          <a:ln/>
        </p:spPr>
      </p:sp>
      <p:sp>
        <p:nvSpPr>
          <p:cNvPr id="3" name="Text 1"/>
          <p:cNvSpPr/>
          <p:nvPr/>
        </p:nvSpPr>
        <p:spPr>
          <a:xfrm>
            <a:off x="952805" y="444398"/>
            <a:ext cx="6400800" cy="177394"/>
          </a:xfrm>
          <a:prstGeom prst="rect">
            <a:avLst/>
          </a:prstGeom>
          <a:noFill/>
          <a:ln/>
        </p:spPr>
        <p:txBody>
          <a:bodyPr wrap="square" lIns="0" tIns="0" rIns="0" bIns="0" rtlCol="0" anchor="ctr"/>
          <a:lstStyle/>
          <a:p>
            <a:pPr indent="0" marL="0">
              <a:buNone/>
            </a:pPr>
            <a:r>
              <a:rPr lang="en-US" sz="1050" b="1" dirty="0">
                <a:solidFill>
                  <a:srgbClr val="A8761F"/>
                </a:solidFill>
                <a:latin typeface="Arial" pitchFamily="34" charset="0"/>
                <a:ea typeface="Arial" pitchFamily="34" charset="-122"/>
                <a:cs typeface="Arial" pitchFamily="34" charset="-120"/>
              </a:rPr>
              <a:t>27</a:t>
            </a:r>
            <a:r>
              <a:rPr lang="en-US" sz="1050" b="1" dirty="0">
                <a:solidFill>
                  <a:srgbClr val="1B8149"/>
                </a:solidFill>
                <a:latin typeface="Yu Gothic" pitchFamily="34" charset="0"/>
                <a:ea typeface="Yu Gothic" pitchFamily="34" charset="-122"/>
                <a:cs typeface="Yu Gothic" pitchFamily="34" charset="-120"/>
              </a:rPr>
              <a:t>   導入プロセス</a:t>
            </a:r>
            <a:endParaRPr lang="en-US" sz="1050" dirty="0"/>
          </a:p>
        </p:txBody>
      </p:sp>
      <p:sp>
        <p:nvSpPr>
          <p:cNvPr id="4" name="Text 2"/>
          <p:cNvSpPr/>
          <p:nvPr/>
        </p:nvSpPr>
        <p:spPr>
          <a:xfrm>
            <a:off x="660197" y="660197"/>
            <a:ext cx="8889797" cy="508406"/>
          </a:xfrm>
          <a:prstGeom prst="rect">
            <a:avLst/>
          </a:prstGeom>
          <a:noFill/>
          <a:ln/>
        </p:spPr>
        <p:txBody>
          <a:bodyPr wrap="square" lIns="0" tIns="0" rIns="0" bIns="0" rtlCol="0" anchor="ctr"/>
          <a:lstStyle/>
          <a:p>
            <a:pPr indent="0" marL="0">
              <a:buNone/>
            </a:pPr>
            <a:r>
              <a:rPr lang="en-US" sz="2900" b="1" dirty="0">
                <a:solidFill>
                  <a:srgbClr val="0A3D23"/>
                </a:solidFill>
                <a:latin typeface="Yu Gothic" pitchFamily="34" charset="0"/>
                <a:ea typeface="Yu Gothic" pitchFamily="34" charset="-122"/>
                <a:cs typeface="Yu Gothic" pitchFamily="34" charset="-120"/>
              </a:rPr>
              <a:t>開業までの流れ</a:t>
            </a:r>
            <a:endParaRPr lang="en-US" sz="2900" dirty="0"/>
          </a:p>
        </p:txBody>
      </p:sp>
      <p:sp>
        <p:nvSpPr>
          <p:cNvPr id="5" name="Text 3"/>
          <p:cNvSpPr/>
          <p:nvPr/>
        </p:nvSpPr>
        <p:spPr>
          <a:xfrm>
            <a:off x="660197" y="1308506"/>
            <a:ext cx="10032797" cy="228600"/>
          </a:xfrm>
          <a:prstGeom prst="rect">
            <a:avLst/>
          </a:prstGeom>
          <a:noFill/>
          <a:ln/>
        </p:spPr>
        <p:txBody>
          <a:bodyPr wrap="square" lIns="0" tIns="0" rIns="0" bIns="0" rtlCol="0" anchor="ctr"/>
          <a:lstStyle/>
          <a:p>
            <a:pPr indent="0" marL="0">
              <a:buNone/>
            </a:pPr>
            <a:r>
              <a:rPr lang="en-US" sz="1250" dirty="0">
                <a:solidFill>
                  <a:srgbClr val="4B5550"/>
                </a:solidFill>
                <a:latin typeface="Yu Gothic" pitchFamily="34" charset="0"/>
                <a:ea typeface="Yu Gothic" pitchFamily="34" charset="-122"/>
                <a:cs typeface="Yu Gothic" pitchFamily="34" charset="-120"/>
              </a:rPr>
              <a:t>お問い合わせから運営開始まで、2〜3か月程度が目安です。</a:t>
            </a:r>
            <a:endParaRPr lang="en-US" sz="1250" dirty="0"/>
          </a:p>
        </p:txBody>
      </p:sp>
      <p:pic>
        <p:nvPicPr>
          <p:cNvPr id="6" name="Image 0" descr="/home/user/suzuki-ceo/selfcafe-partner-deck/assets/logo-green.png">    </p:cNvPr>
          <p:cNvPicPr>
            <a:picLocks noChangeAspect="1"/>
          </p:cNvPicPr>
          <p:nvPr/>
        </p:nvPicPr>
        <p:blipFill>
          <a:blip r:embed="rId1"/>
          <a:stretch>
            <a:fillRect/>
          </a:stretch>
        </p:blipFill>
        <p:spPr>
          <a:xfrm>
            <a:off x="9855403" y="482803"/>
            <a:ext cx="1676095" cy="238658"/>
          </a:xfrm>
          <a:prstGeom prst="rect">
            <a:avLst/>
          </a:prstGeom>
        </p:spPr>
      </p:pic>
      <p:sp>
        <p:nvSpPr>
          <p:cNvPr id="7" name="Text 4"/>
          <p:cNvSpPr/>
          <p:nvPr/>
        </p:nvSpPr>
        <p:spPr>
          <a:xfrm>
            <a:off x="660197" y="6476695"/>
            <a:ext cx="5080406" cy="152705"/>
          </a:xfrm>
          <a:prstGeom prst="rect">
            <a:avLst/>
          </a:prstGeom>
          <a:noFill/>
          <a:ln/>
        </p:spPr>
        <p:txBody>
          <a:bodyPr wrap="square" lIns="0" tIns="0" rIns="0" bIns="0" rtlCol="0" anchor="ctr"/>
          <a:lstStyle/>
          <a:p>
            <a:pPr indent="0" marL="0">
              <a:buNone/>
            </a:pPr>
            <a:r>
              <a:rPr lang="en-US" sz="900" dirty="0">
                <a:solidFill>
                  <a:srgbClr val="A8B0AA"/>
                </a:solidFill>
                <a:latin typeface="Yu Gothic" pitchFamily="34" charset="0"/>
                <a:ea typeface="Yu Gothic" pitchFamily="34" charset="-122"/>
                <a:cs typeface="Yu Gothic" pitchFamily="34" charset="-120"/>
              </a:rPr>
              <a:t>セルフカフェ パートナー制度</a:t>
            </a:r>
            <a:endParaRPr lang="en-US" sz="900" dirty="0"/>
          </a:p>
        </p:txBody>
      </p:sp>
      <p:sp>
        <p:nvSpPr>
          <p:cNvPr id="8" name="Text 5"/>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7E8882"/>
                </a:solidFill>
                <a:latin typeface="Arial" pitchFamily="34" charset="0"/>
                <a:ea typeface="Arial" pitchFamily="34" charset="-122"/>
                <a:cs typeface="Arial" pitchFamily="34" charset="-120"/>
              </a:rPr>
              <a:t>28</a:t>
            </a:r>
            <a:endParaRPr lang="en-US" sz="1000" dirty="0"/>
          </a:p>
        </p:txBody>
      </p:sp>
      <p:sp>
        <p:nvSpPr>
          <p:cNvPr id="9" name="Shape 6"/>
          <p:cNvSpPr/>
          <p:nvPr/>
        </p:nvSpPr>
        <p:spPr>
          <a:xfrm>
            <a:off x="7410572" y="1651406"/>
            <a:ext cx="1828800" cy="420624"/>
          </a:xfrm>
          <a:prstGeom prst="roundRect">
            <a:avLst>
              <a:gd name="adj" fmla="val 50000"/>
            </a:avLst>
          </a:prstGeom>
          <a:solidFill>
            <a:srgbClr val="FBF4E4"/>
          </a:solidFill>
          <a:ln w="9525">
            <a:solidFill>
              <a:srgbClr val="E7D3A8"/>
            </a:solidFill>
            <a:prstDash val="solid"/>
          </a:ln>
        </p:spPr>
      </p:sp>
      <p:pic>
        <p:nvPicPr>
          <p:cNvPr id="10" name="Image 1" descr="/home/user/suzuki-ceo/selfcafe-partner-deck/assets/icons/LuClock-gold.png">    </p:cNvPr>
          <p:cNvPicPr>
            <a:picLocks noChangeAspect="1"/>
          </p:cNvPicPr>
          <p:nvPr/>
        </p:nvPicPr>
        <p:blipFill>
          <a:blip r:embed="rId2"/>
          <a:stretch>
            <a:fillRect/>
          </a:stretch>
        </p:blipFill>
        <p:spPr>
          <a:xfrm>
            <a:off x="7611740" y="1751990"/>
            <a:ext cx="219456" cy="219456"/>
          </a:xfrm>
          <a:prstGeom prst="rect">
            <a:avLst/>
          </a:prstGeom>
        </p:spPr>
      </p:pic>
      <p:sp>
        <p:nvSpPr>
          <p:cNvPr id="11" name="Text 7"/>
          <p:cNvSpPr/>
          <p:nvPr/>
        </p:nvSpPr>
        <p:spPr>
          <a:xfrm>
            <a:off x="7886060" y="1651406"/>
            <a:ext cx="1371600" cy="420624"/>
          </a:xfrm>
          <a:prstGeom prst="rect">
            <a:avLst/>
          </a:prstGeom>
          <a:noFill/>
          <a:ln/>
        </p:spPr>
        <p:txBody>
          <a:bodyPr wrap="square" lIns="0" tIns="0" rIns="0" bIns="0" rtlCol="0" anchor="ctr"/>
          <a:lstStyle/>
          <a:p>
            <a:pPr indent="0" marL="0">
              <a:buNone/>
            </a:pPr>
            <a:r>
              <a:rPr lang="en-US" sz="1150" b="1" dirty="0">
                <a:solidFill>
                  <a:srgbClr val="A8761F"/>
                </a:solidFill>
                <a:latin typeface="Yu Gothic" pitchFamily="34" charset="0"/>
                <a:ea typeface="Yu Gothic" pitchFamily="34" charset="-122"/>
                <a:cs typeface="Yu Gothic" pitchFamily="34" charset="-120"/>
              </a:rPr>
              <a:t>2〜3か月程度</a:t>
            </a:r>
            <a:endParaRPr lang="en-US" sz="1150" dirty="0"/>
          </a:p>
        </p:txBody>
      </p:sp>
      <p:sp>
        <p:nvSpPr>
          <p:cNvPr id="12" name="Shape 8"/>
          <p:cNvSpPr/>
          <p:nvPr/>
        </p:nvSpPr>
        <p:spPr>
          <a:xfrm>
            <a:off x="5118445" y="2072030"/>
            <a:ext cx="12802" cy="274320"/>
          </a:xfrm>
          <a:prstGeom prst="rect">
            <a:avLst/>
          </a:prstGeom>
          <a:solidFill>
            <a:srgbClr val="DCC79B"/>
          </a:solidFill>
          <a:ln/>
        </p:spPr>
      </p:sp>
      <p:sp>
        <p:nvSpPr>
          <p:cNvPr id="13" name="Shape 9"/>
          <p:cNvSpPr/>
          <p:nvPr/>
        </p:nvSpPr>
        <p:spPr>
          <a:xfrm>
            <a:off x="11518697" y="2072030"/>
            <a:ext cx="12802" cy="274320"/>
          </a:xfrm>
          <a:prstGeom prst="rect">
            <a:avLst/>
          </a:prstGeom>
          <a:solidFill>
            <a:srgbClr val="DCC79B"/>
          </a:solidFill>
          <a:ln/>
        </p:spPr>
      </p:sp>
      <p:sp>
        <p:nvSpPr>
          <p:cNvPr id="14" name="Shape 10"/>
          <p:cNvSpPr/>
          <p:nvPr/>
        </p:nvSpPr>
        <p:spPr>
          <a:xfrm>
            <a:off x="5118445" y="2337206"/>
            <a:ext cx="6413053" cy="12802"/>
          </a:xfrm>
          <a:prstGeom prst="rect">
            <a:avLst/>
          </a:prstGeom>
          <a:solidFill>
            <a:srgbClr val="DCC79B"/>
          </a:solidFill>
          <a:ln/>
        </p:spPr>
      </p:sp>
      <p:sp>
        <p:nvSpPr>
          <p:cNvPr id="15" name="Shape 11"/>
          <p:cNvSpPr/>
          <p:nvPr/>
        </p:nvSpPr>
        <p:spPr>
          <a:xfrm>
            <a:off x="660197" y="2437790"/>
            <a:ext cx="1954804" cy="2688336"/>
          </a:xfrm>
          <a:prstGeom prst="roundRect">
            <a:avLst>
              <a:gd name="adj" fmla="val 2807"/>
            </a:avLst>
          </a:prstGeom>
          <a:solidFill>
            <a:srgbClr val="FFFFFF"/>
          </a:solidFill>
          <a:ln w="9525">
            <a:solidFill>
              <a:srgbClr val="EFEAE0"/>
            </a:solidFill>
            <a:prstDash val="solid"/>
          </a:ln>
        </p:spPr>
      </p:sp>
      <p:sp>
        <p:nvSpPr>
          <p:cNvPr id="16" name="Text 12"/>
          <p:cNvSpPr/>
          <p:nvPr/>
        </p:nvSpPr>
        <p:spPr>
          <a:xfrm>
            <a:off x="879653"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01</a:t>
            </a:r>
            <a:endParaRPr lang="en-US" sz="900" dirty="0"/>
          </a:p>
        </p:txBody>
      </p:sp>
      <p:sp>
        <p:nvSpPr>
          <p:cNvPr id="17" name="Shape 13"/>
          <p:cNvSpPr/>
          <p:nvPr/>
        </p:nvSpPr>
        <p:spPr>
          <a:xfrm>
            <a:off x="1271839" y="3041294"/>
            <a:ext cx="731520" cy="731520"/>
          </a:xfrm>
          <a:prstGeom prst="ellipse">
            <a:avLst/>
          </a:prstGeom>
          <a:solidFill>
            <a:srgbClr val="F1F8F3"/>
          </a:solidFill>
          <a:ln/>
        </p:spPr>
      </p:sp>
      <p:pic>
        <p:nvPicPr>
          <p:cNvPr id="18" name="Image 2" descr="/home/user/suzuki-ceo/selfcafe-partner-deck/assets/icons/LuUsers-green.png">    </p:cNvPr>
          <p:cNvPicPr>
            <a:picLocks noChangeAspect="1"/>
          </p:cNvPicPr>
          <p:nvPr/>
        </p:nvPicPr>
        <p:blipFill>
          <a:blip r:embed="rId3"/>
          <a:stretch>
            <a:fillRect/>
          </a:stretch>
        </p:blipFill>
        <p:spPr>
          <a:xfrm>
            <a:off x="1436431" y="3205886"/>
            <a:ext cx="402336" cy="402336"/>
          </a:xfrm>
          <a:prstGeom prst="rect">
            <a:avLst/>
          </a:prstGeom>
        </p:spPr>
      </p:pic>
      <p:sp>
        <p:nvSpPr>
          <p:cNvPr id="19" name="Text 14"/>
          <p:cNvSpPr/>
          <p:nvPr/>
        </p:nvSpPr>
        <p:spPr>
          <a:xfrm>
            <a:off x="788213"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面談</a:t>
            </a:r>
            <a:endParaRPr lang="en-US" sz="1600" dirty="0"/>
          </a:p>
        </p:txBody>
      </p:sp>
      <p:sp>
        <p:nvSpPr>
          <p:cNvPr id="20" name="Text 15"/>
          <p:cNvSpPr/>
          <p:nvPr/>
        </p:nvSpPr>
        <p:spPr>
          <a:xfrm>
            <a:off x="788213"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制度のご説明と、ご希望条件のヒアリング。</a:t>
            </a:r>
            <a:endParaRPr lang="en-US" sz="950" dirty="0"/>
          </a:p>
        </p:txBody>
      </p:sp>
      <p:sp>
        <p:nvSpPr>
          <p:cNvPr id="21" name="Shape 16"/>
          <p:cNvSpPr/>
          <p:nvPr/>
        </p:nvSpPr>
        <p:spPr>
          <a:xfrm rot="5400000">
            <a:off x="2669865" y="3699662"/>
            <a:ext cx="164592" cy="164592"/>
          </a:xfrm>
          <a:prstGeom prst="triangle">
            <a:avLst/>
          </a:prstGeom>
          <a:solidFill>
            <a:srgbClr val="CFC9BB"/>
          </a:solidFill>
          <a:ln/>
        </p:spPr>
      </p:sp>
      <p:sp>
        <p:nvSpPr>
          <p:cNvPr id="22" name="Shape 17"/>
          <p:cNvSpPr/>
          <p:nvPr/>
        </p:nvSpPr>
        <p:spPr>
          <a:xfrm>
            <a:off x="2889321" y="2437790"/>
            <a:ext cx="1954804" cy="2688336"/>
          </a:xfrm>
          <a:prstGeom prst="roundRect">
            <a:avLst>
              <a:gd name="adj" fmla="val 2807"/>
            </a:avLst>
          </a:prstGeom>
          <a:solidFill>
            <a:srgbClr val="FFFFFF"/>
          </a:solidFill>
          <a:ln w="9525">
            <a:solidFill>
              <a:srgbClr val="EFEAE0"/>
            </a:solidFill>
            <a:prstDash val="solid"/>
          </a:ln>
        </p:spPr>
      </p:sp>
      <p:sp>
        <p:nvSpPr>
          <p:cNvPr id="23" name="Text 18"/>
          <p:cNvSpPr/>
          <p:nvPr/>
        </p:nvSpPr>
        <p:spPr>
          <a:xfrm>
            <a:off x="3108777"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02</a:t>
            </a:r>
            <a:endParaRPr lang="en-US" sz="900" dirty="0"/>
          </a:p>
        </p:txBody>
      </p:sp>
      <p:sp>
        <p:nvSpPr>
          <p:cNvPr id="24" name="Shape 19"/>
          <p:cNvSpPr/>
          <p:nvPr/>
        </p:nvSpPr>
        <p:spPr>
          <a:xfrm>
            <a:off x="3500963" y="3041294"/>
            <a:ext cx="731520" cy="731520"/>
          </a:xfrm>
          <a:prstGeom prst="ellipse">
            <a:avLst/>
          </a:prstGeom>
          <a:solidFill>
            <a:srgbClr val="F1F8F3"/>
          </a:solidFill>
          <a:ln/>
        </p:spPr>
      </p:sp>
      <p:pic>
        <p:nvPicPr>
          <p:cNvPr id="25" name="Image 3" descr="/home/user/suzuki-ceo/selfcafe-partner-deck/assets/icons/LuFileSearch-green.png">    </p:cNvPr>
          <p:cNvPicPr>
            <a:picLocks noChangeAspect="1"/>
          </p:cNvPicPr>
          <p:nvPr/>
        </p:nvPicPr>
        <p:blipFill>
          <a:blip r:embed="rId4"/>
          <a:stretch>
            <a:fillRect/>
          </a:stretch>
        </p:blipFill>
        <p:spPr>
          <a:xfrm>
            <a:off x="3665555" y="3205886"/>
            <a:ext cx="402336" cy="402336"/>
          </a:xfrm>
          <a:prstGeom prst="rect">
            <a:avLst/>
          </a:prstGeom>
        </p:spPr>
      </p:pic>
      <p:sp>
        <p:nvSpPr>
          <p:cNvPr id="26" name="Text 20"/>
          <p:cNvSpPr/>
          <p:nvPr/>
        </p:nvSpPr>
        <p:spPr>
          <a:xfrm>
            <a:off x="3017337"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加盟審査</a:t>
            </a:r>
            <a:endParaRPr lang="en-US" sz="1600" dirty="0"/>
          </a:p>
        </p:txBody>
      </p:sp>
      <p:sp>
        <p:nvSpPr>
          <p:cNvPr id="27" name="Text 21"/>
          <p:cNvSpPr/>
          <p:nvPr/>
        </p:nvSpPr>
        <p:spPr>
          <a:xfrm>
            <a:off x="3017337"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立地・スペースの現地調査と収益試算。</a:t>
            </a:r>
            <a:endParaRPr lang="en-US" sz="950" dirty="0"/>
          </a:p>
        </p:txBody>
      </p:sp>
      <p:sp>
        <p:nvSpPr>
          <p:cNvPr id="28" name="Shape 22"/>
          <p:cNvSpPr/>
          <p:nvPr/>
        </p:nvSpPr>
        <p:spPr>
          <a:xfrm rot="5400000">
            <a:off x="4898989" y="3699662"/>
            <a:ext cx="164592" cy="164592"/>
          </a:xfrm>
          <a:prstGeom prst="triangle">
            <a:avLst/>
          </a:prstGeom>
          <a:solidFill>
            <a:srgbClr val="CFC9BB"/>
          </a:solidFill>
          <a:ln/>
        </p:spPr>
      </p:sp>
      <p:sp>
        <p:nvSpPr>
          <p:cNvPr id="29" name="Shape 23"/>
          <p:cNvSpPr/>
          <p:nvPr/>
        </p:nvSpPr>
        <p:spPr>
          <a:xfrm>
            <a:off x="5118445" y="2437790"/>
            <a:ext cx="1954804" cy="2688336"/>
          </a:xfrm>
          <a:prstGeom prst="roundRect">
            <a:avLst>
              <a:gd name="adj" fmla="val 2807"/>
            </a:avLst>
          </a:prstGeom>
          <a:solidFill>
            <a:srgbClr val="FFFFFF"/>
          </a:solidFill>
          <a:ln w="9525">
            <a:solidFill>
              <a:srgbClr val="EFEAE0"/>
            </a:solidFill>
            <a:prstDash val="solid"/>
          </a:ln>
        </p:spPr>
      </p:sp>
      <p:sp>
        <p:nvSpPr>
          <p:cNvPr id="30" name="Text 24"/>
          <p:cNvSpPr/>
          <p:nvPr/>
        </p:nvSpPr>
        <p:spPr>
          <a:xfrm>
            <a:off x="5337901"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03</a:t>
            </a:r>
            <a:endParaRPr lang="en-US" sz="900" dirty="0"/>
          </a:p>
        </p:txBody>
      </p:sp>
      <p:sp>
        <p:nvSpPr>
          <p:cNvPr id="31" name="Shape 25"/>
          <p:cNvSpPr/>
          <p:nvPr/>
        </p:nvSpPr>
        <p:spPr>
          <a:xfrm>
            <a:off x="5730088" y="3041294"/>
            <a:ext cx="731520" cy="731520"/>
          </a:xfrm>
          <a:prstGeom prst="ellipse">
            <a:avLst/>
          </a:prstGeom>
          <a:solidFill>
            <a:srgbClr val="F1F8F3"/>
          </a:solidFill>
          <a:ln/>
        </p:spPr>
      </p:sp>
      <p:pic>
        <p:nvPicPr>
          <p:cNvPr id="32" name="Image 4" descr="/home/user/suzuki-ceo/selfcafe-partner-deck/assets/icons/LuPenLine-green.png">    </p:cNvPr>
          <p:cNvPicPr>
            <a:picLocks noChangeAspect="1"/>
          </p:cNvPicPr>
          <p:nvPr/>
        </p:nvPicPr>
        <p:blipFill>
          <a:blip r:embed="rId5"/>
          <a:stretch>
            <a:fillRect/>
          </a:stretch>
        </p:blipFill>
        <p:spPr>
          <a:xfrm>
            <a:off x="5894680" y="3205886"/>
            <a:ext cx="402336" cy="402336"/>
          </a:xfrm>
          <a:prstGeom prst="rect">
            <a:avLst/>
          </a:prstGeom>
        </p:spPr>
      </p:pic>
      <p:sp>
        <p:nvSpPr>
          <p:cNvPr id="33" name="Text 26"/>
          <p:cNvSpPr/>
          <p:nvPr/>
        </p:nvSpPr>
        <p:spPr>
          <a:xfrm>
            <a:off x="5246461"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加盟申込み</a:t>
            </a:r>
            <a:endParaRPr lang="en-US" sz="1600" dirty="0"/>
          </a:p>
        </p:txBody>
      </p:sp>
      <p:sp>
        <p:nvSpPr>
          <p:cNvPr id="34" name="Text 27"/>
          <p:cNvSpPr/>
          <p:nvPr/>
        </p:nvSpPr>
        <p:spPr>
          <a:xfrm>
            <a:off x="5246461"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契約締結。契約期間は最低3年〜。</a:t>
            </a:r>
            <a:endParaRPr lang="en-US" sz="950" dirty="0"/>
          </a:p>
        </p:txBody>
      </p:sp>
      <p:sp>
        <p:nvSpPr>
          <p:cNvPr id="35" name="Shape 28"/>
          <p:cNvSpPr/>
          <p:nvPr/>
        </p:nvSpPr>
        <p:spPr>
          <a:xfrm rot="5400000">
            <a:off x="7128114" y="3699662"/>
            <a:ext cx="164592" cy="164592"/>
          </a:xfrm>
          <a:prstGeom prst="triangle">
            <a:avLst/>
          </a:prstGeom>
          <a:solidFill>
            <a:srgbClr val="CFC9BB"/>
          </a:solidFill>
          <a:ln/>
        </p:spPr>
      </p:sp>
      <p:sp>
        <p:nvSpPr>
          <p:cNvPr id="36" name="Shape 29"/>
          <p:cNvSpPr/>
          <p:nvPr/>
        </p:nvSpPr>
        <p:spPr>
          <a:xfrm>
            <a:off x="7347570" y="2437790"/>
            <a:ext cx="1954804" cy="2688336"/>
          </a:xfrm>
          <a:prstGeom prst="roundRect">
            <a:avLst>
              <a:gd name="adj" fmla="val 2807"/>
            </a:avLst>
          </a:prstGeom>
          <a:solidFill>
            <a:srgbClr val="FFFFFF"/>
          </a:solidFill>
          <a:ln w="9525">
            <a:solidFill>
              <a:srgbClr val="EFEAE0"/>
            </a:solidFill>
            <a:prstDash val="solid"/>
          </a:ln>
        </p:spPr>
      </p:sp>
      <p:sp>
        <p:nvSpPr>
          <p:cNvPr id="37" name="Text 30"/>
          <p:cNvSpPr/>
          <p:nvPr/>
        </p:nvSpPr>
        <p:spPr>
          <a:xfrm>
            <a:off x="7567026" y="2675534"/>
            <a:ext cx="1515892" cy="182880"/>
          </a:xfrm>
          <a:prstGeom prst="rect">
            <a:avLst/>
          </a:prstGeom>
          <a:noFill/>
          <a:ln/>
        </p:spPr>
        <p:txBody>
          <a:bodyPr wrap="square" lIns="0" tIns="0" rIns="0" bIns="0" rtlCol="0" anchor="ctr"/>
          <a:lstStyle/>
          <a:p>
            <a:pPr indent="0" marL="0">
              <a:buNone/>
            </a:pPr>
            <a:r>
              <a:rPr lang="en-US" sz="900" b="1" spc="120" kern="0" dirty="0">
                <a:solidFill>
                  <a:srgbClr val="A8761F"/>
                </a:solidFill>
                <a:latin typeface="Arial" pitchFamily="34" charset="0"/>
                <a:ea typeface="Arial" pitchFamily="34" charset="-122"/>
                <a:cs typeface="Arial" pitchFamily="34" charset="-120"/>
              </a:rPr>
              <a:t>STEP 04</a:t>
            </a:r>
            <a:endParaRPr lang="en-US" sz="900" dirty="0"/>
          </a:p>
        </p:txBody>
      </p:sp>
      <p:sp>
        <p:nvSpPr>
          <p:cNvPr id="38" name="Shape 31"/>
          <p:cNvSpPr/>
          <p:nvPr/>
        </p:nvSpPr>
        <p:spPr>
          <a:xfrm>
            <a:off x="7959212" y="3041294"/>
            <a:ext cx="731520" cy="731520"/>
          </a:xfrm>
          <a:prstGeom prst="ellipse">
            <a:avLst/>
          </a:prstGeom>
          <a:solidFill>
            <a:srgbClr val="F1F8F3"/>
          </a:solidFill>
          <a:ln/>
        </p:spPr>
      </p:sp>
      <p:pic>
        <p:nvPicPr>
          <p:cNvPr id="39" name="Image 5" descr="/home/user/suzuki-ceo/selfcafe-partner-deck/assets/icons/LuHammer-green.png">    </p:cNvPr>
          <p:cNvPicPr>
            <a:picLocks noChangeAspect="1"/>
          </p:cNvPicPr>
          <p:nvPr/>
        </p:nvPicPr>
        <p:blipFill>
          <a:blip r:embed="rId6"/>
          <a:stretch>
            <a:fillRect/>
          </a:stretch>
        </p:blipFill>
        <p:spPr>
          <a:xfrm>
            <a:off x="8123804" y="3205886"/>
            <a:ext cx="402336" cy="402336"/>
          </a:xfrm>
          <a:prstGeom prst="rect">
            <a:avLst/>
          </a:prstGeom>
        </p:spPr>
      </p:pic>
      <p:sp>
        <p:nvSpPr>
          <p:cNvPr id="40" name="Text 32"/>
          <p:cNvSpPr/>
          <p:nvPr/>
        </p:nvSpPr>
        <p:spPr>
          <a:xfrm>
            <a:off x="7475586" y="3919118"/>
            <a:ext cx="1698772" cy="365760"/>
          </a:xfrm>
          <a:prstGeom prst="rect">
            <a:avLst/>
          </a:prstGeom>
          <a:noFill/>
          <a:ln/>
        </p:spPr>
        <p:txBody>
          <a:bodyPr wrap="square" lIns="0" tIns="0" rIns="0" bIns="0" rtlCol="0" anchor="ctr"/>
          <a:lstStyle/>
          <a:p>
            <a:pPr algn="ctr" indent="0" marL="0">
              <a:buNone/>
            </a:pPr>
            <a:r>
              <a:rPr lang="en-US" sz="1600" b="1" dirty="0">
                <a:solidFill>
                  <a:srgbClr val="0A3D23"/>
                </a:solidFill>
                <a:latin typeface="Yu Gothic" pitchFamily="34" charset="0"/>
                <a:ea typeface="Yu Gothic" pitchFamily="34" charset="-122"/>
                <a:cs typeface="Yu Gothic" pitchFamily="34" charset="-120"/>
              </a:rPr>
              <a:t>工事</a:t>
            </a:r>
            <a:endParaRPr lang="en-US" sz="1600" dirty="0"/>
          </a:p>
        </p:txBody>
      </p:sp>
      <p:sp>
        <p:nvSpPr>
          <p:cNvPr id="41" name="Text 33"/>
          <p:cNvSpPr/>
          <p:nvPr/>
        </p:nvSpPr>
        <p:spPr>
          <a:xfrm>
            <a:off x="7475586"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4B5550"/>
                </a:solidFill>
                <a:latin typeface="Yu Gothic" pitchFamily="34" charset="0"/>
                <a:ea typeface="Yu Gothic" pitchFamily="34" charset="-122"/>
                <a:cs typeface="Yu Gothic" pitchFamily="34" charset="-120"/>
              </a:rPr>
              <a:t>内装・機器設置。工事業者は本部が手配。</a:t>
            </a:r>
            <a:endParaRPr lang="en-US" sz="950" dirty="0"/>
          </a:p>
        </p:txBody>
      </p:sp>
      <p:sp>
        <p:nvSpPr>
          <p:cNvPr id="42" name="Shape 34"/>
          <p:cNvSpPr/>
          <p:nvPr/>
        </p:nvSpPr>
        <p:spPr>
          <a:xfrm rot="5400000">
            <a:off x="9357238" y="3699662"/>
            <a:ext cx="164592" cy="164592"/>
          </a:xfrm>
          <a:prstGeom prst="triangle">
            <a:avLst/>
          </a:prstGeom>
          <a:solidFill>
            <a:srgbClr val="CFC9BB"/>
          </a:solidFill>
          <a:ln/>
        </p:spPr>
      </p:sp>
      <p:sp>
        <p:nvSpPr>
          <p:cNvPr id="43" name="Shape 35"/>
          <p:cNvSpPr/>
          <p:nvPr/>
        </p:nvSpPr>
        <p:spPr>
          <a:xfrm>
            <a:off x="9576694" y="2437790"/>
            <a:ext cx="1954804" cy="2688336"/>
          </a:xfrm>
          <a:prstGeom prst="roundRect">
            <a:avLst>
              <a:gd name="adj" fmla="val 2807"/>
            </a:avLst>
          </a:prstGeom>
          <a:solidFill>
            <a:srgbClr val="0C5230"/>
          </a:solidFill>
          <a:ln/>
        </p:spPr>
      </p:sp>
      <p:sp>
        <p:nvSpPr>
          <p:cNvPr id="44" name="Text 36"/>
          <p:cNvSpPr/>
          <p:nvPr/>
        </p:nvSpPr>
        <p:spPr>
          <a:xfrm>
            <a:off x="9796150" y="2675534"/>
            <a:ext cx="1515892" cy="182880"/>
          </a:xfrm>
          <a:prstGeom prst="rect">
            <a:avLst/>
          </a:prstGeom>
          <a:noFill/>
          <a:ln/>
        </p:spPr>
        <p:txBody>
          <a:bodyPr wrap="square" lIns="0" tIns="0" rIns="0" bIns="0" rtlCol="0" anchor="ctr"/>
          <a:lstStyle/>
          <a:p>
            <a:pPr indent="0" marL="0">
              <a:buNone/>
            </a:pPr>
            <a:r>
              <a:rPr lang="en-US" sz="900" b="1" spc="120" kern="0" dirty="0">
                <a:solidFill>
                  <a:srgbClr val="8CC5A5"/>
                </a:solidFill>
                <a:latin typeface="Arial" pitchFamily="34" charset="0"/>
                <a:ea typeface="Arial" pitchFamily="34" charset="-122"/>
                <a:cs typeface="Arial" pitchFamily="34" charset="-120"/>
              </a:rPr>
              <a:t>STEP 05</a:t>
            </a:r>
            <a:endParaRPr lang="en-US" sz="900" dirty="0"/>
          </a:p>
        </p:txBody>
      </p:sp>
      <p:sp>
        <p:nvSpPr>
          <p:cNvPr id="45" name="Shape 37"/>
          <p:cNvSpPr/>
          <p:nvPr/>
        </p:nvSpPr>
        <p:spPr>
          <a:xfrm>
            <a:off x="10188336" y="3041294"/>
            <a:ext cx="731520" cy="731520"/>
          </a:xfrm>
          <a:prstGeom prst="ellipse">
            <a:avLst/>
          </a:prstGeom>
          <a:solidFill>
            <a:srgbClr val="17553A"/>
          </a:solidFill>
          <a:ln/>
        </p:spPr>
      </p:sp>
      <p:pic>
        <p:nvPicPr>
          <p:cNvPr id="46" name="Image 6" descr="/home/user/suzuki-ceo/selfcafe-partner-deck/assets/icons/LuStore-white.png">    </p:cNvPr>
          <p:cNvPicPr>
            <a:picLocks noChangeAspect="1"/>
          </p:cNvPicPr>
          <p:nvPr/>
        </p:nvPicPr>
        <p:blipFill>
          <a:blip r:embed="rId7"/>
          <a:stretch>
            <a:fillRect/>
          </a:stretch>
        </p:blipFill>
        <p:spPr>
          <a:xfrm>
            <a:off x="10352928" y="3205886"/>
            <a:ext cx="402336" cy="402336"/>
          </a:xfrm>
          <a:prstGeom prst="rect">
            <a:avLst/>
          </a:prstGeom>
        </p:spPr>
      </p:pic>
      <p:sp>
        <p:nvSpPr>
          <p:cNvPr id="47" name="Text 38"/>
          <p:cNvSpPr/>
          <p:nvPr/>
        </p:nvSpPr>
        <p:spPr>
          <a:xfrm>
            <a:off x="9704710" y="3919118"/>
            <a:ext cx="169877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運営開始</a:t>
            </a:r>
            <a:endParaRPr lang="en-US" sz="1600" dirty="0"/>
          </a:p>
        </p:txBody>
      </p:sp>
      <p:sp>
        <p:nvSpPr>
          <p:cNvPr id="48" name="Text 39"/>
          <p:cNvSpPr/>
          <p:nvPr/>
        </p:nvSpPr>
        <p:spPr>
          <a:xfrm>
            <a:off x="9704710" y="4321454"/>
            <a:ext cx="1698772" cy="713232"/>
          </a:xfrm>
          <a:prstGeom prst="rect">
            <a:avLst/>
          </a:prstGeom>
          <a:noFill/>
          <a:ln/>
        </p:spPr>
        <p:txBody>
          <a:bodyPr wrap="square" lIns="0" tIns="0" rIns="0" bIns="0" rtlCol="0" anchor="t"/>
          <a:lstStyle/>
          <a:p>
            <a:pPr algn="ctr" indent="0" marL="0">
              <a:lnSpc>
                <a:spcPct val="135000"/>
              </a:lnSpc>
              <a:buNone/>
            </a:pPr>
            <a:r>
              <a:rPr lang="en-US" sz="950" dirty="0">
                <a:solidFill>
                  <a:srgbClr val="AFC2B8"/>
                </a:solidFill>
                <a:latin typeface="Yu Gothic" pitchFamily="34" charset="0"/>
                <a:ea typeface="Yu Gothic" pitchFamily="34" charset="-122"/>
                <a:cs typeface="Yu Gothic" pitchFamily="34" charset="-120"/>
              </a:rPr>
              <a:t>運営研修を経て、オープン。</a:t>
            </a:r>
            <a:endParaRPr lang="en-US" sz="950" dirty="0"/>
          </a:p>
        </p:txBody>
      </p:sp>
      <p:sp>
        <p:nvSpPr>
          <p:cNvPr id="49" name="Text 40"/>
          <p:cNvSpPr/>
          <p:nvPr/>
        </p:nvSpPr>
        <p:spPr>
          <a:xfrm>
            <a:off x="660197" y="6053328"/>
            <a:ext cx="10871302" cy="182880"/>
          </a:xfrm>
          <a:prstGeom prst="rect">
            <a:avLst/>
          </a:prstGeom>
          <a:noFill/>
          <a:ln/>
        </p:spPr>
        <p:txBody>
          <a:bodyPr wrap="square" lIns="0" tIns="0" rIns="0" bIns="0" rtlCol="0" anchor="ctr"/>
          <a:lstStyle/>
          <a:p>
            <a:pPr indent="0" marL="0">
              <a:buNone/>
            </a:pPr>
            <a:r>
              <a:rPr lang="en-US" sz="850" dirty="0">
                <a:solidFill>
                  <a:srgbClr val="A8B0AA"/>
                </a:solidFill>
                <a:latin typeface="Yu Gothic" pitchFamily="34" charset="0"/>
                <a:ea typeface="Yu Gothic" pitchFamily="34" charset="-122"/>
                <a:cs typeface="Yu Gothic" pitchFamily="34" charset="-120"/>
              </a:rPr>
              <a:t>※ 工事内容・立地条件により期間は変動します。</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home/user/suzuki-ceo/selfcafe-partner-deck/assets/cover-bg.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suzuki-ceo/selfcafe-partner-deck/assets/logo-white.png">    </p:cNvPr>
          <p:cNvPicPr>
            <a:picLocks noChangeAspect="1"/>
          </p:cNvPicPr>
          <p:nvPr/>
        </p:nvPicPr>
        <p:blipFill>
          <a:blip r:embed="rId2"/>
          <a:stretch>
            <a:fillRect/>
          </a:stretch>
        </p:blipFill>
        <p:spPr>
          <a:xfrm>
            <a:off x="812902" y="1014984"/>
            <a:ext cx="2616098" cy="372161"/>
          </a:xfrm>
          <a:prstGeom prst="rect">
            <a:avLst/>
          </a:prstGeom>
        </p:spPr>
      </p:pic>
      <p:sp>
        <p:nvSpPr>
          <p:cNvPr id="4" name="Text 0"/>
          <p:cNvSpPr/>
          <p:nvPr/>
        </p:nvSpPr>
        <p:spPr>
          <a:xfrm>
            <a:off x="10261397" y="6463894"/>
            <a:ext cx="1270102" cy="152705"/>
          </a:xfrm>
          <a:prstGeom prst="rect">
            <a:avLst/>
          </a:prstGeom>
          <a:noFill/>
          <a:ln/>
        </p:spPr>
        <p:txBody>
          <a:bodyPr wrap="square" lIns="0" tIns="0" rIns="0" bIns="0" rtlCol="0" anchor="ctr"/>
          <a:lstStyle/>
          <a:p>
            <a:pPr algn="r" indent="0" marL="0">
              <a:buNone/>
            </a:pPr>
            <a:r>
              <a:rPr lang="en-US" sz="1000" b="1" dirty="0">
                <a:solidFill>
                  <a:srgbClr val="8FA398"/>
                </a:solidFill>
                <a:latin typeface="Arial" pitchFamily="34" charset="0"/>
                <a:ea typeface="Arial" pitchFamily="34" charset="-122"/>
                <a:cs typeface="Arial" pitchFamily="34" charset="-120"/>
              </a:rPr>
              <a:t>29</a:t>
            </a:r>
            <a:endParaRPr lang="en-US" sz="1000" dirty="0"/>
          </a:p>
        </p:txBody>
      </p:sp>
      <p:sp>
        <p:nvSpPr>
          <p:cNvPr id="5" name="Shape 1"/>
          <p:cNvSpPr/>
          <p:nvPr/>
        </p:nvSpPr>
        <p:spPr>
          <a:xfrm>
            <a:off x="812902" y="1874520"/>
            <a:ext cx="711403" cy="25603"/>
          </a:xfrm>
          <a:prstGeom prst="rect">
            <a:avLst/>
          </a:prstGeom>
          <a:solidFill>
            <a:srgbClr val="C79A44"/>
          </a:solidFill>
          <a:ln/>
        </p:spPr>
      </p:sp>
      <p:sp>
        <p:nvSpPr>
          <p:cNvPr id="6" name="Text 2"/>
          <p:cNvSpPr/>
          <p:nvPr/>
        </p:nvSpPr>
        <p:spPr>
          <a:xfrm>
            <a:off x="812902" y="2084832"/>
            <a:ext cx="7315200" cy="786384"/>
          </a:xfrm>
          <a:prstGeom prst="rect">
            <a:avLst/>
          </a:prstGeom>
          <a:noFill/>
          <a:ln/>
        </p:spPr>
        <p:txBody>
          <a:bodyPr wrap="square" lIns="0" tIns="0" rIns="0" bIns="0" rtlCol="0" anchor="ctr"/>
          <a:lstStyle/>
          <a:p>
            <a:pPr indent="0" marL="0">
              <a:buNone/>
            </a:pPr>
            <a:r>
              <a:rPr lang="en-US" sz="4200" b="1" dirty="0">
                <a:solidFill>
                  <a:srgbClr val="FFFFFF"/>
                </a:solidFill>
                <a:latin typeface="Yu Gothic" pitchFamily="34" charset="0"/>
                <a:ea typeface="Yu Gothic" pitchFamily="34" charset="-122"/>
                <a:cs typeface="Yu Gothic" pitchFamily="34" charset="-120"/>
              </a:rPr>
              <a:t>お問い合わせ</a:t>
            </a:r>
            <a:endParaRPr lang="en-US" sz="4200" dirty="0"/>
          </a:p>
        </p:txBody>
      </p:sp>
      <p:sp>
        <p:nvSpPr>
          <p:cNvPr id="7" name="Text 3"/>
          <p:cNvSpPr/>
          <p:nvPr/>
        </p:nvSpPr>
        <p:spPr>
          <a:xfrm>
            <a:off x="812902" y="2962656"/>
            <a:ext cx="6949440" cy="658368"/>
          </a:xfrm>
          <a:prstGeom prst="rect">
            <a:avLst/>
          </a:prstGeom>
          <a:noFill/>
          <a:ln/>
        </p:spPr>
        <p:txBody>
          <a:bodyPr wrap="square" lIns="0" tIns="0" rIns="0" bIns="0" rtlCol="0" anchor="t"/>
          <a:lstStyle/>
          <a:p>
            <a:pPr indent="0" marL="0">
              <a:lnSpc>
                <a:spcPct val="145000"/>
              </a:lnSpc>
              <a:buNone/>
            </a:pPr>
            <a:r>
              <a:rPr lang="en-US" sz="1250" dirty="0">
                <a:solidFill>
                  <a:srgbClr val="AFC2B8"/>
                </a:solidFill>
                <a:latin typeface="Yu Gothic" pitchFamily="34" charset="0"/>
                <a:ea typeface="Yu Gothic" pitchFamily="34" charset="-122"/>
                <a:cs typeface="Yu Gothic" pitchFamily="34" charset="-120"/>
              </a:rPr>
              <a:t>会社名・氏名・連絡先をご記入の上ご連絡ください。</a:t>
            </a:r>
            <a:endParaRPr lang="en-US" sz="1250" dirty="0"/>
          </a:p>
          <a:p>
            <a:pPr indent="0" marL="0">
              <a:lnSpc>
                <a:spcPct val="145000"/>
              </a:lnSpc>
              <a:buNone/>
            </a:pPr>
            <a:r>
              <a:rPr lang="en-US" sz="1250" dirty="0">
                <a:solidFill>
                  <a:srgbClr val="AFC2B8"/>
                </a:solidFill>
                <a:latin typeface="Yu Gothic" pitchFamily="34" charset="0"/>
                <a:ea typeface="Yu Gothic" pitchFamily="34" charset="-122"/>
                <a:cs typeface="Yu Gothic" pitchFamily="34" charset="-120"/>
              </a:rPr>
              <a:t>スペースの写真や図面をお持ちいただけると、初回面談で収益試算までご案内できます。</a:t>
            </a:r>
            <a:endParaRPr lang="en-US" sz="1250" dirty="0"/>
          </a:p>
        </p:txBody>
      </p:sp>
      <p:sp>
        <p:nvSpPr>
          <p:cNvPr id="8" name="Shape 4"/>
          <p:cNvSpPr/>
          <p:nvPr/>
        </p:nvSpPr>
        <p:spPr>
          <a:xfrm>
            <a:off x="812902" y="3931920"/>
            <a:ext cx="457200" cy="457200"/>
          </a:xfrm>
          <a:prstGeom prst="ellipse">
            <a:avLst/>
          </a:prstGeom>
          <a:solidFill>
            <a:srgbClr val="17553A"/>
          </a:solidFill>
          <a:ln/>
        </p:spPr>
      </p:sp>
      <p:pic>
        <p:nvPicPr>
          <p:cNvPr id="9" name="Image 2" descr="/home/user/suzuki-ceo/selfcafe-partner-deck/assets/icons/LuPhone-white.png">    </p:cNvPr>
          <p:cNvPicPr>
            <a:picLocks noChangeAspect="1"/>
          </p:cNvPicPr>
          <p:nvPr/>
        </p:nvPicPr>
        <p:blipFill>
          <a:blip r:embed="rId3"/>
          <a:stretch>
            <a:fillRect/>
          </a:stretch>
        </p:blipFill>
        <p:spPr>
          <a:xfrm>
            <a:off x="941832" y="4059936"/>
            <a:ext cx="201168" cy="201168"/>
          </a:xfrm>
          <a:prstGeom prst="rect">
            <a:avLst/>
          </a:prstGeom>
        </p:spPr>
      </p:pic>
      <p:sp>
        <p:nvSpPr>
          <p:cNvPr id="10" name="Text 5"/>
          <p:cNvSpPr/>
          <p:nvPr/>
        </p:nvSpPr>
        <p:spPr>
          <a:xfrm>
            <a:off x="1444752" y="3931920"/>
            <a:ext cx="1005840" cy="457200"/>
          </a:xfrm>
          <a:prstGeom prst="rect">
            <a:avLst/>
          </a:prstGeom>
          <a:noFill/>
          <a:ln/>
        </p:spPr>
        <p:txBody>
          <a:bodyPr wrap="square" lIns="0" tIns="0" rIns="0" bIns="0" rtlCol="0" anchor="ctr"/>
          <a:lstStyle/>
          <a:p>
            <a:pPr indent="0" marL="0">
              <a:buNone/>
            </a:pPr>
            <a:r>
              <a:rPr lang="en-US" sz="950" b="1" spc="100" kern="0" dirty="0">
                <a:solidFill>
                  <a:srgbClr val="8CC5A5"/>
                </a:solidFill>
                <a:latin typeface="Arial" pitchFamily="34" charset="0"/>
                <a:ea typeface="Arial" pitchFamily="34" charset="-122"/>
                <a:cs typeface="Arial" pitchFamily="34" charset="-120"/>
              </a:rPr>
              <a:t>TEL</a:t>
            </a:r>
            <a:endParaRPr lang="en-US" sz="950" dirty="0"/>
          </a:p>
        </p:txBody>
      </p:sp>
      <p:sp>
        <p:nvSpPr>
          <p:cNvPr id="11" name="Text 6"/>
          <p:cNvSpPr/>
          <p:nvPr/>
        </p:nvSpPr>
        <p:spPr>
          <a:xfrm>
            <a:off x="2487168" y="3931920"/>
            <a:ext cx="42062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XXX-XXXX-XXXX</a:t>
            </a:r>
            <a:endParaRPr lang="en-US" sz="1700" dirty="0"/>
          </a:p>
        </p:txBody>
      </p:sp>
      <p:sp>
        <p:nvSpPr>
          <p:cNvPr id="12" name="Text 7"/>
          <p:cNvSpPr/>
          <p:nvPr/>
        </p:nvSpPr>
        <p:spPr>
          <a:xfrm>
            <a:off x="6766560" y="3931920"/>
            <a:ext cx="1828800" cy="457200"/>
          </a:xfrm>
          <a:prstGeom prst="rect">
            <a:avLst/>
          </a:prstGeom>
          <a:noFill/>
          <a:ln/>
        </p:spPr>
        <p:txBody>
          <a:bodyPr wrap="square" lIns="0" tIns="0" rIns="0" bIns="0" rtlCol="0" anchor="ctr"/>
          <a:lstStyle/>
          <a:p>
            <a:pPr indent="0" marL="0">
              <a:buNone/>
            </a:pPr>
            <a:r>
              <a:rPr lang="en-US" sz="1050" dirty="0">
                <a:solidFill>
                  <a:srgbClr val="8FA398"/>
                </a:solidFill>
                <a:latin typeface="Yu Gothic" pitchFamily="34" charset="0"/>
                <a:ea typeface="Yu Gothic" pitchFamily="34" charset="-122"/>
                <a:cs typeface="Yu Gothic" pitchFamily="34" charset="-120"/>
              </a:rPr>
              <a:t>担当：XXX</a:t>
            </a:r>
            <a:endParaRPr lang="en-US" sz="1050" dirty="0"/>
          </a:p>
        </p:txBody>
      </p:sp>
      <p:sp>
        <p:nvSpPr>
          <p:cNvPr id="13" name="Shape 8"/>
          <p:cNvSpPr/>
          <p:nvPr/>
        </p:nvSpPr>
        <p:spPr>
          <a:xfrm>
            <a:off x="812902" y="4645152"/>
            <a:ext cx="457200" cy="457200"/>
          </a:xfrm>
          <a:prstGeom prst="ellipse">
            <a:avLst/>
          </a:prstGeom>
          <a:solidFill>
            <a:srgbClr val="17553A"/>
          </a:solidFill>
          <a:ln/>
        </p:spPr>
      </p:sp>
      <p:pic>
        <p:nvPicPr>
          <p:cNvPr id="14" name="Image 3" descr="/home/user/suzuki-ceo/selfcafe-partner-deck/assets/icons/LuMail-white.png">    </p:cNvPr>
          <p:cNvPicPr>
            <a:picLocks noChangeAspect="1"/>
          </p:cNvPicPr>
          <p:nvPr/>
        </p:nvPicPr>
        <p:blipFill>
          <a:blip r:embed="rId4"/>
          <a:stretch>
            <a:fillRect/>
          </a:stretch>
        </p:blipFill>
        <p:spPr>
          <a:xfrm>
            <a:off x="941832" y="4773168"/>
            <a:ext cx="201168" cy="201168"/>
          </a:xfrm>
          <a:prstGeom prst="rect">
            <a:avLst/>
          </a:prstGeom>
        </p:spPr>
      </p:pic>
      <p:sp>
        <p:nvSpPr>
          <p:cNvPr id="15" name="Text 9"/>
          <p:cNvSpPr/>
          <p:nvPr/>
        </p:nvSpPr>
        <p:spPr>
          <a:xfrm>
            <a:off x="1444752" y="4645152"/>
            <a:ext cx="1005840" cy="457200"/>
          </a:xfrm>
          <a:prstGeom prst="rect">
            <a:avLst/>
          </a:prstGeom>
          <a:noFill/>
          <a:ln/>
        </p:spPr>
        <p:txBody>
          <a:bodyPr wrap="square" lIns="0" tIns="0" rIns="0" bIns="0" rtlCol="0" anchor="ctr"/>
          <a:lstStyle/>
          <a:p>
            <a:pPr indent="0" marL="0">
              <a:buNone/>
            </a:pPr>
            <a:r>
              <a:rPr lang="en-US" sz="950" b="1" spc="100" kern="0" dirty="0">
                <a:solidFill>
                  <a:srgbClr val="8CC5A5"/>
                </a:solidFill>
                <a:latin typeface="Arial" pitchFamily="34" charset="0"/>
                <a:ea typeface="Arial" pitchFamily="34" charset="-122"/>
                <a:cs typeface="Arial" pitchFamily="34" charset="-120"/>
              </a:rPr>
              <a:t>E-MAIL</a:t>
            </a:r>
            <a:endParaRPr lang="en-US" sz="950" dirty="0"/>
          </a:p>
        </p:txBody>
      </p:sp>
      <p:sp>
        <p:nvSpPr>
          <p:cNvPr id="16" name="Text 10"/>
          <p:cNvSpPr/>
          <p:nvPr/>
        </p:nvSpPr>
        <p:spPr>
          <a:xfrm>
            <a:off x="2487168" y="4645152"/>
            <a:ext cx="42062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aaaaa@aaaa.aaa</a:t>
            </a:r>
            <a:endParaRPr lang="en-US" sz="1700" dirty="0"/>
          </a:p>
        </p:txBody>
      </p:sp>
      <p:sp>
        <p:nvSpPr>
          <p:cNvPr id="17" name="Shape 11"/>
          <p:cNvSpPr/>
          <p:nvPr/>
        </p:nvSpPr>
        <p:spPr>
          <a:xfrm>
            <a:off x="812902" y="5358384"/>
            <a:ext cx="457200" cy="457200"/>
          </a:xfrm>
          <a:prstGeom prst="ellipse">
            <a:avLst/>
          </a:prstGeom>
          <a:solidFill>
            <a:srgbClr val="17553A"/>
          </a:solidFill>
          <a:ln/>
        </p:spPr>
      </p:sp>
      <p:pic>
        <p:nvPicPr>
          <p:cNvPr id="18" name="Image 4" descr="/home/user/suzuki-ceo/selfcafe-partner-deck/assets/icons/LuGlobe-white.png">    </p:cNvPr>
          <p:cNvPicPr>
            <a:picLocks noChangeAspect="1"/>
          </p:cNvPicPr>
          <p:nvPr/>
        </p:nvPicPr>
        <p:blipFill>
          <a:blip r:embed="rId5"/>
          <a:stretch>
            <a:fillRect/>
          </a:stretch>
        </p:blipFill>
        <p:spPr>
          <a:xfrm>
            <a:off x="941832" y="5486400"/>
            <a:ext cx="201168" cy="201168"/>
          </a:xfrm>
          <a:prstGeom prst="rect">
            <a:avLst/>
          </a:prstGeom>
        </p:spPr>
      </p:pic>
      <p:sp>
        <p:nvSpPr>
          <p:cNvPr id="19" name="Text 12"/>
          <p:cNvSpPr/>
          <p:nvPr/>
        </p:nvSpPr>
        <p:spPr>
          <a:xfrm>
            <a:off x="1444752" y="5358384"/>
            <a:ext cx="1005840" cy="457200"/>
          </a:xfrm>
          <a:prstGeom prst="rect">
            <a:avLst/>
          </a:prstGeom>
          <a:noFill/>
          <a:ln/>
        </p:spPr>
        <p:txBody>
          <a:bodyPr wrap="square" lIns="0" tIns="0" rIns="0" bIns="0" rtlCol="0" anchor="ctr"/>
          <a:lstStyle/>
          <a:p>
            <a:pPr indent="0" marL="0">
              <a:buNone/>
            </a:pPr>
            <a:r>
              <a:rPr lang="en-US" sz="950" b="1" spc="100" kern="0" dirty="0">
                <a:solidFill>
                  <a:srgbClr val="8CC5A5"/>
                </a:solidFill>
                <a:latin typeface="Arial" pitchFamily="34" charset="0"/>
                <a:ea typeface="Arial" pitchFamily="34" charset="-122"/>
                <a:cs typeface="Arial" pitchFamily="34" charset="-120"/>
              </a:rPr>
              <a:t>WEB</a:t>
            </a:r>
            <a:endParaRPr lang="en-US" sz="950" dirty="0"/>
          </a:p>
        </p:txBody>
      </p:sp>
      <p:sp>
        <p:nvSpPr>
          <p:cNvPr id="20" name="Text 13"/>
          <p:cNvSpPr/>
          <p:nvPr/>
        </p:nvSpPr>
        <p:spPr>
          <a:xfrm>
            <a:off x="2487168" y="5358384"/>
            <a:ext cx="42062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https://selfcafe.jp/</a:t>
            </a:r>
            <a:endParaRPr lang="en-US" sz="1700" dirty="0"/>
          </a:p>
        </p:txBody>
      </p:sp>
      <p:sp>
        <p:nvSpPr>
          <p:cNvPr id="21" name="Text 14"/>
          <p:cNvSpPr/>
          <p:nvPr/>
        </p:nvSpPr>
        <p:spPr>
          <a:xfrm>
            <a:off x="812902" y="6217920"/>
            <a:ext cx="4572000" cy="237744"/>
          </a:xfrm>
          <a:prstGeom prst="rect">
            <a:avLst/>
          </a:prstGeom>
          <a:noFill/>
          <a:ln/>
        </p:spPr>
        <p:txBody>
          <a:bodyPr wrap="square" lIns="0" tIns="0" rIns="0" bIns="0" rtlCol="0" anchor="ctr"/>
          <a:lstStyle/>
          <a:p>
            <a:pPr indent="0" marL="0">
              <a:buNone/>
            </a:pPr>
            <a:r>
              <a:rPr lang="en-US" sz="1100" dirty="0">
                <a:solidFill>
                  <a:srgbClr val="8FA398"/>
                </a:solidFill>
                <a:latin typeface="Yu Gothic" pitchFamily="34" charset="0"/>
                <a:ea typeface="Yu Gothic" pitchFamily="34" charset="-122"/>
                <a:cs typeface="Yu Gothic" pitchFamily="34" charset="-120"/>
              </a:rPr>
              <a:t>お気軽にご連絡ください</a:t>
            </a:r>
            <a:endParaRPr lang="en-US" sz="1100" dirty="0"/>
          </a:p>
        </p:txBody>
      </p:sp>
      <p:sp>
        <p:nvSpPr>
          <p:cNvPr id="22" name="Text 15"/>
          <p:cNvSpPr/>
          <p:nvPr/>
        </p:nvSpPr>
        <p:spPr>
          <a:xfrm>
            <a:off x="8229600" y="6217920"/>
            <a:ext cx="3301898" cy="237744"/>
          </a:xfrm>
          <a:prstGeom prst="rect">
            <a:avLst/>
          </a:prstGeom>
          <a:noFill/>
          <a:ln/>
        </p:spPr>
        <p:txBody>
          <a:bodyPr wrap="square" lIns="0" tIns="0" rIns="0" bIns="0" rtlCol="0" anchor="ctr"/>
          <a:lstStyle/>
          <a:p>
            <a:pPr algn="r" indent="0" marL="0">
              <a:buNone/>
            </a:pPr>
            <a:r>
              <a:rPr lang="en-US" sz="1050" dirty="0">
                <a:solidFill>
                  <a:srgbClr val="8FA398"/>
                </a:solidFill>
                <a:latin typeface="Yu Gothic" pitchFamily="34" charset="0"/>
                <a:ea typeface="Yu Gothic" pitchFamily="34" charset="-122"/>
                <a:cs typeface="Yu Gothic" pitchFamily="34" charset="-120"/>
              </a:rPr>
              <a:t>セルフカフェ株式会社</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セルフカフェ パートナー制度</dc:title>
  <dc:subject>PptxGenJS Presentation</dc:subject>
  <dc:creator>セルフカフェ株式会社</dc:creator>
  <cp:lastModifiedBy>セルフカフェ株式会社</cp:lastModifiedBy>
  <cp:revision>1</cp:revision>
  <dcterms:created xsi:type="dcterms:W3CDTF">2026-08-25T03:10:00Z</dcterms:created>
  <dcterms:modified xsi:type="dcterms:W3CDTF">2026-08-25T03:10:00Z</dcterms:modified>
</cp:coreProperties>
</file>