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3.png"/><Relationship Id="rId5" Type="http://schemas.openxmlformats.org/officeDocument/2006/relationships/image" Target="../media/image-6-5.png"/><Relationship Id="rId6" Type="http://schemas.openxmlformats.org/officeDocument/2006/relationships/image" Target="../media/image-6-3.png"/><Relationship Id="rId7" Type="http://schemas.openxmlformats.org/officeDocument/2006/relationships/image" Target="../media/image-6-3.png"/><Relationship Id="rId8" Type="http://schemas.openxmlformats.org/officeDocument/2006/relationships/image" Target="../media/image-6-8.png"/><Relationship Id="rId9" Type="http://schemas.openxmlformats.org/officeDocument/2006/relationships/image" Target="../media/image-6-3.png"/><Relationship Id="rId10" Type="http://schemas.openxmlformats.org/officeDocument/2006/relationships/image" Target="../media/image-6-3.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3.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jpg"/><Relationship Id="rId4" Type="http://schemas.openxmlformats.org/officeDocument/2006/relationships/image" Target="../media/image-25-4.jp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3.png"/><Relationship Id="rId5" Type="http://schemas.openxmlformats.org/officeDocument/2006/relationships/image" Target="../media/image-27-3.png"/><Relationship Id="rId6" Type="http://schemas.openxmlformats.org/officeDocument/2006/relationships/image" Target="../media/image-27-3.png"/><Relationship Id="rId7" Type="http://schemas.openxmlformats.org/officeDocument/2006/relationships/image" Target="../media/image-27-3.png"/><Relationship Id="rId8" Type="http://schemas.openxmlformats.org/officeDocument/2006/relationships/image" Target="../media/image-27-8.png"/><Relationship Id="rId9" Type="http://schemas.openxmlformats.org/officeDocument/2006/relationships/image" Target="../media/image-27-3.png"/><Relationship Id="rId10" Type="http://schemas.openxmlformats.org/officeDocument/2006/relationships/image" Target="../media/image-27-3.png"/><Relationship Id="rId11" Type="http://schemas.openxmlformats.org/officeDocument/2006/relationships/image" Target="../media/image-27-3.png"/><Relationship Id="rId12" Type="http://schemas.openxmlformats.org/officeDocument/2006/relationships/image" Target="../media/image-27-3.png"/><Relationship Id="rId13" Type="http://schemas.openxmlformats.org/officeDocument/2006/relationships/image" Target="../media/image-27-3.png"/><Relationship Id="rId14" Type="http://schemas.openxmlformats.org/officeDocument/2006/relationships/image" Target="../media/image-27-14.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2-storefront-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846580" cy="329184"/>
          </a:xfrm>
          <a:prstGeom prst="roundRect">
            <a:avLst>
              <a:gd name="adj" fmla="val 13889"/>
            </a:avLst>
          </a:prstGeom>
          <a:solidFill>
            <a:srgbClr val="FFFFFF">
              <a:alpha val="90000"/>
            </a:srgbClr>
          </a:solidFill>
          <a:ln/>
        </p:spPr>
      </p:sp>
      <p:sp>
        <p:nvSpPr>
          <p:cNvPr id="50" name="Text 37"/>
          <p:cNvSpPr/>
          <p:nvPr/>
        </p:nvSpPr>
        <p:spPr>
          <a:xfrm>
            <a:off x="6525616" y="5949086"/>
            <a:ext cx="157226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店舗外観（盛岡駅前店）</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6309360"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42078"/>
            <a:ext cx="5650992" cy="402336"/>
          </a:xfrm>
          <a:prstGeom prst="rect">
            <a:avLst/>
          </a:prstGeom>
          <a:noFill/>
          <a:ln/>
        </p:spPr>
        <p:txBody>
          <a:bodyPr wrap="square" lIns="0" tIns="0" rIns="0" bIns="0" rtlCol="0" anchor="ctr"/>
          <a:lstStyle/>
          <a:p>
            <a:pPr indent="0" marL="0">
              <a:buNone/>
            </a:pPr>
            <a:r>
              <a:rPr lang="en-US" sz="2100" b="1" dirty="0">
                <a:solidFill>
                  <a:srgbClr val="FFFFFF"/>
                </a:solidFill>
                <a:latin typeface="Yu Gothic" pitchFamily="34" charset="0"/>
                <a:ea typeface="Yu Gothic" pitchFamily="34" charset="-122"/>
                <a:cs typeface="Yu Gothic" pitchFamily="34" charset="-120"/>
              </a:rPr>
              <a:t>地方都市ほど、競合がいない。</a:t>
            </a:r>
            <a:endParaRPr lang="en-US" sz="2100" dirty="0"/>
          </a:p>
        </p:txBody>
      </p:sp>
      <p:sp>
        <p:nvSpPr>
          <p:cNvPr id="42" name="Text 30"/>
          <p:cNvSpPr/>
          <p:nvPr/>
        </p:nvSpPr>
        <p:spPr>
          <a:xfrm>
            <a:off x="989381" y="5180990"/>
            <a:ext cx="5650992" cy="676656"/>
          </a:xfrm>
          <a:prstGeom prst="rect">
            <a:avLst/>
          </a:prstGeom>
          <a:noFill/>
          <a:ln/>
        </p:spPr>
        <p:txBody>
          <a:bodyPr wrap="square" lIns="0" tIns="0" rIns="0" bIns="0" rtlCol="0" anchor="t"/>
          <a:lstStyle/>
          <a:p>
            <a:pPr indent="0" marL="0">
              <a:lnSpc>
                <a:spcPct val="142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都市部に比べて同種の施設が少なく、開店直後から認知が広がりやすい傾向があります。岩手県 盛岡駅前店は1日80杯ペースで稼働しています（出店事例のページ参照）。</a:t>
            </a:r>
            <a:endParaRPr lang="en-US" sz="1100" dirty="0"/>
          </a:p>
        </p:txBody>
      </p:sp>
      <p:pic>
        <p:nvPicPr>
          <p:cNvPr id="43" name="Image 10" descr="/home/user/suzuki-ceo/selfcafe-partner-deck/assets/icons/LuMapPin-pale.png">    </p:cNvPr>
          <p:cNvPicPr>
            <a:picLocks noChangeAspect="1"/>
          </p:cNvPicPr>
          <p:nvPr/>
        </p:nvPicPr>
        <p:blipFill>
          <a:blip r:embed="rId11"/>
          <a:stretch>
            <a:fillRect/>
          </a:stretch>
        </p:blipFill>
        <p:spPr>
          <a:xfrm>
            <a:off x="6073445" y="4540910"/>
            <a:ext cx="402336" cy="402336"/>
          </a:xfrm>
          <a:prstGeom prst="rect">
            <a:avLst/>
          </a:prstGeom>
        </p:spPr>
      </p:pic>
      <p:sp>
        <p:nvSpPr>
          <p:cNvPr id="44" name="Shape 31"/>
          <p:cNvSpPr/>
          <p:nvPr/>
        </p:nvSpPr>
        <p:spPr>
          <a:xfrm>
            <a:off x="7353605" y="4266590"/>
            <a:ext cx="4177894" cy="1773936"/>
          </a:xfrm>
          <a:prstGeom prst="roundRect">
            <a:avLst>
              <a:gd name="adj" fmla="val 2577"/>
            </a:avLst>
          </a:prstGeom>
          <a:solidFill>
            <a:srgbClr val="F4F2EE"/>
          </a:solidFill>
          <a:ln w="12700">
            <a:solidFill>
              <a:srgbClr val="DED8CC"/>
            </a:solidFill>
            <a:prstDash val="dash"/>
          </a:ln>
        </p:spPr>
      </p:sp>
      <p:pic>
        <p:nvPicPr>
          <p:cNvPr id="45" name="Image 11" descr="/home/user/suzuki-ceo/selfcafe-partner-deck/assets/icons/LuImage-muted.png">    </p:cNvPr>
          <p:cNvPicPr>
            <a:picLocks noChangeAspect="1"/>
          </p:cNvPicPr>
          <p:nvPr/>
        </p:nvPicPr>
        <p:blipFill>
          <a:blip r:embed="rId12"/>
          <a:stretch>
            <a:fillRect/>
          </a:stretch>
        </p:blipFill>
        <p:spPr>
          <a:xfrm>
            <a:off x="9247419" y="4879238"/>
            <a:ext cx="390266" cy="390266"/>
          </a:xfrm>
          <a:prstGeom prst="rect">
            <a:avLst/>
          </a:prstGeom>
        </p:spPr>
      </p:pic>
      <p:sp>
        <p:nvSpPr>
          <p:cNvPr id="46" name="Text 32"/>
          <p:cNvSpPr/>
          <p:nvPr/>
        </p:nvSpPr>
        <p:spPr>
          <a:xfrm>
            <a:off x="7426757" y="5306080"/>
            <a:ext cx="403159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7" name="Text 33"/>
          <p:cNvSpPr/>
          <p:nvPr/>
        </p:nvSpPr>
        <p:spPr>
          <a:xfrm>
            <a:off x="7426757" y="5498104"/>
            <a:ext cx="4031590"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セミナー・イベントでの利用／物販の様子</a:t>
            </a:r>
            <a:endParaRPr lang="en-US" sz="950" dirty="0"/>
          </a:p>
        </p:txBody>
      </p:sp>
      <p:sp>
        <p:nvSpPr>
          <p:cNvPr id="48" name="Text 34"/>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10799978" y="2453762"/>
            <a:ext cx="164592" cy="164592"/>
          </a:xfrm>
          <a:prstGeom prst="ellipse">
            <a:avLst/>
          </a:prstGeom>
          <a:solidFill>
            <a:srgbClr val="A8761F"/>
          </a:solidFill>
          <a:ln w="22225">
            <a:solidFill>
              <a:srgbClr val="FFFFFF"/>
            </a:solidFill>
            <a:prstDash val="solid"/>
          </a:ln>
        </p:spPr>
      </p:sp>
      <p:sp>
        <p:nvSpPr>
          <p:cNvPr id="17" name="Shape 13"/>
          <p:cNvSpPr/>
          <p:nvPr/>
        </p:nvSpPr>
        <p:spPr>
          <a:xfrm>
            <a:off x="9218066" y="2700650"/>
            <a:ext cx="1536192" cy="365760"/>
          </a:xfrm>
          <a:prstGeom prst="roundRect">
            <a:avLst>
              <a:gd name="adj" fmla="val 12500"/>
            </a:avLst>
          </a:prstGeom>
          <a:solidFill>
            <a:srgbClr val="0C5230"/>
          </a:solidFill>
          <a:ln/>
        </p:spPr>
      </p:sp>
      <p:sp>
        <p:nvSpPr>
          <p:cNvPr id="18" name="Text 14"/>
          <p:cNvSpPr/>
          <p:nvPr/>
        </p:nvSpPr>
        <p:spPr>
          <a:xfrm>
            <a:off x="9218066" y="2700650"/>
            <a:ext cx="1536192" cy="365760"/>
          </a:xfrm>
          <a:prstGeom prst="rect">
            <a:avLst/>
          </a:prstGeom>
          <a:noFill/>
          <a:ln/>
        </p:spPr>
        <p:txBody>
          <a:bodyPr wrap="square" lIns="0" tIns="0" rIns="0" bIns="0" rtlCol="0" anchor="ctr"/>
          <a:lstStyle/>
          <a:p>
            <a:pPr algn="ctr" indent="0" marL="0">
              <a:buNone/>
            </a:pPr>
            <a:r>
              <a:rPr lang="en-US" sz="900" dirty="0">
                <a:solidFill>
                  <a:srgbClr val="8CC5A5"/>
                </a:solidFill>
                <a:latin typeface="Yu Gothic" pitchFamily="34" charset="0"/>
                <a:ea typeface="Yu Gothic" pitchFamily="34" charset="-122"/>
                <a:cs typeface="Yu Gothic" pitchFamily="34" charset="-120"/>
              </a:rPr>
              <a:t>現在 </a:t>
            </a:r>
            <a:r>
              <a:rPr lang="en-US" sz="1400" b="1" dirty="0">
                <a:solidFill>
                  <a:srgbClr val="FFFFFF"/>
                </a:solidFill>
                <a:latin typeface="Arial" pitchFamily="34" charset="0"/>
                <a:ea typeface="Arial" pitchFamily="34" charset="-122"/>
                <a:cs typeface="Arial" pitchFamily="34" charset="-120"/>
              </a:rPr>
              <a:t>71</a:t>
            </a:r>
            <a:r>
              <a:rPr lang="en-US" sz="950" b="1" dirty="0">
                <a:solidFill>
                  <a:srgbClr val="FFFFFF"/>
                </a:solidFill>
                <a:latin typeface="Yu Gothic" pitchFamily="34" charset="0"/>
                <a:ea typeface="Yu Gothic" pitchFamily="34" charset="-122"/>
                <a:cs typeface="Yu Gothic" pitchFamily="34" charset="-120"/>
              </a:rPr>
              <a:t> 店舗</a:t>
            </a:r>
            <a:endParaRPr lang="en-US" sz="900" dirty="0"/>
          </a:p>
        </p:txBody>
      </p:sp>
      <p:sp>
        <p:nvSpPr>
          <p:cNvPr id="19" name="Shape 15"/>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21" name="Text 17"/>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4" name="Text 20"/>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7" name="Text 23"/>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30" name="Text 26"/>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32" name="Text 28"/>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3" name="Text 29"/>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4" name="Shape 30"/>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5" name="Text 31"/>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6" name="Text 32"/>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7" name="Text 33"/>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8" name="Text 34"/>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211123" y="4819802"/>
            <a:ext cx="530352" cy="32004"/>
          </a:xfrm>
          <a:prstGeom prst="rect">
            <a:avLst/>
          </a:prstGeom>
          <a:solidFill>
            <a:srgbClr val="D8E8DE"/>
          </a:solidFill>
          <a:ln/>
        </p:spPr>
      </p:sp>
      <p:sp>
        <p:nvSpPr>
          <p:cNvPr id="14" name="Text 11"/>
          <p:cNvSpPr/>
          <p:nvPr/>
        </p:nvSpPr>
        <p:spPr>
          <a:xfrm>
            <a:off x="836219" y="4563770"/>
            <a:ext cx="1280160" cy="201168"/>
          </a:xfrm>
          <a:prstGeom prst="rect">
            <a:avLst/>
          </a:prstGeom>
          <a:noFill/>
          <a:ln/>
        </p:spPr>
        <p:txBody>
          <a:bodyPr wrap="square" lIns="0" tIns="0" rIns="0" bIns="0" rtlCol="0" anchor="ctr"/>
          <a:lstStyle/>
          <a:p>
            <a:pPr algn="ctr" indent="0" marL="0">
              <a:buNone/>
            </a:pPr>
            <a:r>
              <a:rPr lang="en-US" sz="850" b="1" dirty="0">
                <a:solidFill>
                  <a:srgbClr val="7E8882"/>
                </a:solidFill>
                <a:latin typeface="Yu Gothic" pitchFamily="34" charset="0"/>
                <a:ea typeface="Yu Gothic" pitchFamily="34" charset="-122"/>
                <a:cs typeface="Yu Gothic" pitchFamily="34" charset="-120"/>
              </a:rPr>
              <a:t>約900人</a:t>
            </a:r>
            <a:endParaRPr lang="en-US" sz="850" dirty="0"/>
          </a:p>
        </p:txBody>
      </p:sp>
      <p:sp>
        <p:nvSpPr>
          <p:cNvPr id="15" name="Text 12"/>
          <p:cNvSpPr/>
          <p:nvPr/>
        </p:nvSpPr>
        <p:spPr>
          <a:xfrm>
            <a:off x="1044245"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23.01</a:t>
            </a:r>
            <a:endParaRPr lang="en-US" sz="950" dirty="0"/>
          </a:p>
        </p:txBody>
      </p:sp>
      <p:sp>
        <p:nvSpPr>
          <p:cNvPr id="16" name="Shape 13"/>
          <p:cNvSpPr/>
          <p:nvPr/>
        </p:nvSpPr>
        <p:spPr>
          <a:xfrm>
            <a:off x="2075231" y="4819802"/>
            <a:ext cx="530352" cy="32004"/>
          </a:xfrm>
          <a:prstGeom prst="rect">
            <a:avLst/>
          </a:prstGeom>
          <a:solidFill>
            <a:srgbClr val="CCE0D4"/>
          </a:solidFill>
          <a:ln/>
        </p:spPr>
      </p:sp>
      <p:sp>
        <p:nvSpPr>
          <p:cNvPr id="17" name="Text 14"/>
          <p:cNvSpPr/>
          <p:nvPr/>
        </p:nvSpPr>
        <p:spPr>
          <a:xfrm>
            <a:off x="1700327" y="4563770"/>
            <a:ext cx="1280160" cy="201168"/>
          </a:xfrm>
          <a:prstGeom prst="rect">
            <a:avLst/>
          </a:prstGeom>
          <a:noFill/>
          <a:ln/>
        </p:spPr>
        <p:txBody>
          <a:bodyPr wrap="square" lIns="0" tIns="0" rIns="0" bIns="0" rtlCol="0" anchor="ctr"/>
          <a:lstStyle/>
          <a:p>
            <a:pPr algn="ctr" indent="0" marL="0">
              <a:buNone/>
            </a:pPr>
            <a:r>
              <a:rPr lang="en-US" sz="850" b="1" dirty="0">
                <a:solidFill>
                  <a:srgbClr val="7E8882"/>
                </a:solidFill>
                <a:latin typeface="Yu Gothic" pitchFamily="34" charset="0"/>
                <a:ea typeface="Yu Gothic" pitchFamily="34" charset="-122"/>
                <a:cs typeface="Yu Gothic" pitchFamily="34" charset="-120"/>
              </a:rPr>
              <a:t>約1,400人</a:t>
            </a:r>
            <a:endParaRPr lang="en-US" sz="850" dirty="0"/>
          </a:p>
        </p:txBody>
      </p:sp>
      <p:sp>
        <p:nvSpPr>
          <p:cNvPr id="18" name="Text 15"/>
          <p:cNvSpPr/>
          <p:nvPr/>
        </p:nvSpPr>
        <p:spPr>
          <a:xfrm>
            <a:off x="1908353"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23.07</a:t>
            </a:r>
            <a:endParaRPr lang="en-US" sz="950" dirty="0"/>
          </a:p>
        </p:txBody>
      </p:sp>
      <p:sp>
        <p:nvSpPr>
          <p:cNvPr id="19" name="Shape 16"/>
          <p:cNvSpPr/>
          <p:nvPr/>
        </p:nvSpPr>
        <p:spPr>
          <a:xfrm>
            <a:off x="2939339" y="4746731"/>
            <a:ext cx="530352" cy="105076"/>
          </a:xfrm>
          <a:prstGeom prst="rect">
            <a:avLst/>
          </a:prstGeom>
          <a:solidFill>
            <a:srgbClr val="B8D4C2"/>
          </a:solidFill>
          <a:ln/>
        </p:spPr>
      </p:sp>
      <p:sp>
        <p:nvSpPr>
          <p:cNvPr id="20" name="Text 17"/>
          <p:cNvSpPr/>
          <p:nvPr/>
        </p:nvSpPr>
        <p:spPr>
          <a:xfrm>
            <a:off x="2564435" y="4490699"/>
            <a:ext cx="1280160" cy="201168"/>
          </a:xfrm>
          <a:prstGeom prst="rect">
            <a:avLst/>
          </a:prstGeom>
          <a:noFill/>
          <a:ln/>
        </p:spPr>
        <p:txBody>
          <a:bodyPr wrap="square" lIns="0" tIns="0" rIns="0" bIns="0" rtlCol="0" anchor="ctr"/>
          <a:lstStyle/>
          <a:p>
            <a:pPr algn="ctr" indent="0" marL="0">
              <a:buNone/>
            </a:pPr>
            <a:r>
              <a:rPr lang="en-US" sz="850" b="1" dirty="0">
                <a:solidFill>
                  <a:srgbClr val="7E8882"/>
                </a:solidFill>
                <a:latin typeface="Yu Gothic" pitchFamily="34" charset="0"/>
                <a:ea typeface="Yu Gothic" pitchFamily="34" charset="-122"/>
                <a:cs typeface="Yu Gothic" pitchFamily="34" charset="-120"/>
              </a:rPr>
              <a:t>約9,700人</a:t>
            </a:r>
            <a:endParaRPr lang="en-US" sz="850" dirty="0"/>
          </a:p>
        </p:txBody>
      </p:sp>
      <p:sp>
        <p:nvSpPr>
          <p:cNvPr id="21" name="Text 18"/>
          <p:cNvSpPr/>
          <p:nvPr/>
        </p:nvSpPr>
        <p:spPr>
          <a:xfrm>
            <a:off x="2772461"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24.01</a:t>
            </a:r>
            <a:endParaRPr lang="en-US" sz="950" dirty="0"/>
          </a:p>
        </p:txBody>
      </p:sp>
      <p:sp>
        <p:nvSpPr>
          <p:cNvPr id="22" name="Shape 19"/>
          <p:cNvSpPr/>
          <p:nvPr/>
        </p:nvSpPr>
        <p:spPr>
          <a:xfrm>
            <a:off x="3803447" y="4467090"/>
            <a:ext cx="530352" cy="384717"/>
          </a:xfrm>
          <a:prstGeom prst="rect">
            <a:avLst/>
          </a:prstGeom>
          <a:solidFill>
            <a:srgbClr val="9CC3AA"/>
          </a:solidFill>
          <a:ln/>
        </p:spPr>
      </p:sp>
      <p:sp>
        <p:nvSpPr>
          <p:cNvPr id="23" name="Text 20"/>
          <p:cNvSpPr/>
          <p:nvPr/>
        </p:nvSpPr>
        <p:spPr>
          <a:xfrm>
            <a:off x="3428543" y="4211058"/>
            <a:ext cx="1280160" cy="201168"/>
          </a:xfrm>
          <a:prstGeom prst="rect">
            <a:avLst/>
          </a:prstGeom>
          <a:noFill/>
          <a:ln/>
        </p:spPr>
        <p:txBody>
          <a:bodyPr wrap="square" lIns="0" tIns="0" rIns="0" bIns="0" rtlCol="0" anchor="ctr"/>
          <a:lstStyle/>
          <a:p>
            <a:pPr algn="ctr" indent="0" marL="0">
              <a:buNone/>
            </a:pPr>
            <a:r>
              <a:rPr lang="en-US" sz="850" b="1" dirty="0">
                <a:solidFill>
                  <a:srgbClr val="7E8882"/>
                </a:solidFill>
                <a:latin typeface="Yu Gothic" pitchFamily="34" charset="0"/>
                <a:ea typeface="Yu Gothic" pitchFamily="34" charset="-122"/>
                <a:cs typeface="Yu Gothic" pitchFamily="34" charset="-120"/>
              </a:rPr>
              <a:t>約26,000人</a:t>
            </a:r>
            <a:endParaRPr lang="en-US" sz="850" dirty="0"/>
          </a:p>
        </p:txBody>
      </p:sp>
      <p:sp>
        <p:nvSpPr>
          <p:cNvPr id="24" name="Text 21"/>
          <p:cNvSpPr/>
          <p:nvPr/>
        </p:nvSpPr>
        <p:spPr>
          <a:xfrm>
            <a:off x="3636569"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24.07</a:t>
            </a:r>
            <a:endParaRPr lang="en-US" sz="950" dirty="0"/>
          </a:p>
        </p:txBody>
      </p:sp>
      <p:sp>
        <p:nvSpPr>
          <p:cNvPr id="25" name="Shape 22"/>
          <p:cNvSpPr/>
          <p:nvPr/>
        </p:nvSpPr>
        <p:spPr>
          <a:xfrm>
            <a:off x="4667555" y="4058915"/>
            <a:ext cx="530352" cy="792891"/>
          </a:xfrm>
          <a:prstGeom prst="rect">
            <a:avLst/>
          </a:prstGeom>
          <a:solidFill>
            <a:srgbClr val="7BAE8F"/>
          </a:solidFill>
          <a:ln/>
        </p:spPr>
      </p:sp>
      <p:sp>
        <p:nvSpPr>
          <p:cNvPr id="26" name="Text 23"/>
          <p:cNvSpPr/>
          <p:nvPr/>
        </p:nvSpPr>
        <p:spPr>
          <a:xfrm>
            <a:off x="4292651" y="3802883"/>
            <a:ext cx="1280160" cy="201168"/>
          </a:xfrm>
          <a:prstGeom prst="rect">
            <a:avLst/>
          </a:prstGeom>
          <a:noFill/>
          <a:ln/>
        </p:spPr>
        <p:txBody>
          <a:bodyPr wrap="square" lIns="0" tIns="0" rIns="0" bIns="0" rtlCol="0" anchor="ctr"/>
          <a:lstStyle/>
          <a:p>
            <a:pPr algn="ctr" indent="0" marL="0">
              <a:buNone/>
            </a:pPr>
            <a:r>
              <a:rPr lang="en-US" sz="850" b="1" dirty="0">
                <a:solidFill>
                  <a:srgbClr val="7E8882"/>
                </a:solidFill>
                <a:latin typeface="Yu Gothic" pitchFamily="34" charset="0"/>
                <a:ea typeface="Yu Gothic" pitchFamily="34" charset="-122"/>
                <a:cs typeface="Yu Gothic" pitchFamily="34" charset="-120"/>
              </a:rPr>
              <a:t>約46,000人</a:t>
            </a:r>
            <a:endParaRPr lang="en-US" sz="850" dirty="0"/>
          </a:p>
        </p:txBody>
      </p:sp>
      <p:sp>
        <p:nvSpPr>
          <p:cNvPr id="27" name="Text 24"/>
          <p:cNvSpPr/>
          <p:nvPr/>
        </p:nvSpPr>
        <p:spPr>
          <a:xfrm>
            <a:off x="4500677"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25.01</a:t>
            </a:r>
            <a:endParaRPr lang="en-US" sz="950" dirty="0"/>
          </a:p>
        </p:txBody>
      </p:sp>
      <p:sp>
        <p:nvSpPr>
          <p:cNvPr id="28" name="Shape 25"/>
          <p:cNvSpPr/>
          <p:nvPr/>
        </p:nvSpPr>
        <p:spPr>
          <a:xfrm>
            <a:off x="5531663" y="3374736"/>
            <a:ext cx="530352" cy="1477070"/>
          </a:xfrm>
          <a:prstGeom prst="rect">
            <a:avLst/>
          </a:prstGeom>
          <a:solidFill>
            <a:srgbClr val="579970"/>
          </a:solidFill>
          <a:ln/>
        </p:spPr>
      </p:sp>
      <p:sp>
        <p:nvSpPr>
          <p:cNvPr id="29" name="Text 26"/>
          <p:cNvSpPr/>
          <p:nvPr/>
        </p:nvSpPr>
        <p:spPr>
          <a:xfrm>
            <a:off x="5156759" y="3438744"/>
            <a:ext cx="1280160"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約74,000人</a:t>
            </a:r>
            <a:endParaRPr lang="en-US" sz="850" dirty="0"/>
          </a:p>
        </p:txBody>
      </p:sp>
      <p:sp>
        <p:nvSpPr>
          <p:cNvPr id="30" name="Text 27"/>
          <p:cNvSpPr/>
          <p:nvPr/>
        </p:nvSpPr>
        <p:spPr>
          <a:xfrm>
            <a:off x="5364785"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25.07</a:t>
            </a:r>
            <a:endParaRPr lang="en-US" sz="950" dirty="0"/>
          </a:p>
        </p:txBody>
      </p:sp>
      <p:sp>
        <p:nvSpPr>
          <p:cNvPr id="31" name="Shape 28"/>
          <p:cNvSpPr/>
          <p:nvPr/>
        </p:nvSpPr>
        <p:spPr>
          <a:xfrm>
            <a:off x="6395771" y="3216871"/>
            <a:ext cx="530352" cy="1634936"/>
          </a:xfrm>
          <a:prstGeom prst="rect">
            <a:avLst/>
          </a:prstGeom>
          <a:solidFill>
            <a:srgbClr val="2E824F"/>
          </a:solidFill>
          <a:ln/>
        </p:spPr>
      </p:sp>
      <p:sp>
        <p:nvSpPr>
          <p:cNvPr id="32" name="Text 29"/>
          <p:cNvSpPr/>
          <p:nvPr/>
        </p:nvSpPr>
        <p:spPr>
          <a:xfrm>
            <a:off x="6020867" y="3280879"/>
            <a:ext cx="1280160"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約80,000人</a:t>
            </a:r>
            <a:endParaRPr lang="en-US" sz="850" dirty="0"/>
          </a:p>
        </p:txBody>
      </p:sp>
      <p:sp>
        <p:nvSpPr>
          <p:cNvPr id="33" name="Text 30"/>
          <p:cNvSpPr/>
          <p:nvPr/>
        </p:nvSpPr>
        <p:spPr>
          <a:xfrm>
            <a:off x="6228893"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26.01</a:t>
            </a:r>
            <a:endParaRPr lang="en-US" sz="950" dirty="0"/>
          </a:p>
        </p:txBody>
      </p:sp>
      <p:sp>
        <p:nvSpPr>
          <p:cNvPr id="34" name="Shape 31"/>
          <p:cNvSpPr/>
          <p:nvPr/>
        </p:nvSpPr>
        <p:spPr>
          <a:xfrm>
            <a:off x="7259879" y="2638958"/>
            <a:ext cx="530352" cy="2212848"/>
          </a:xfrm>
          <a:prstGeom prst="rect">
            <a:avLst/>
          </a:prstGeom>
          <a:solidFill>
            <a:srgbClr val="106838"/>
          </a:solidFill>
          <a:ln/>
        </p:spPr>
      </p:sp>
      <p:sp>
        <p:nvSpPr>
          <p:cNvPr id="35" name="Shape 32"/>
          <p:cNvSpPr/>
          <p:nvPr/>
        </p:nvSpPr>
        <p:spPr>
          <a:xfrm>
            <a:off x="6811823" y="2200046"/>
            <a:ext cx="1426464" cy="365760"/>
          </a:xfrm>
          <a:prstGeom prst="roundRect">
            <a:avLst>
              <a:gd name="adj" fmla="val 50000"/>
            </a:avLst>
          </a:prstGeom>
          <a:solidFill>
            <a:srgbClr val="A8761F"/>
          </a:solidFill>
          <a:ln/>
        </p:spPr>
      </p:sp>
      <p:sp>
        <p:nvSpPr>
          <p:cNvPr id="36" name="Text 33"/>
          <p:cNvSpPr/>
          <p:nvPr/>
        </p:nvSpPr>
        <p:spPr>
          <a:xfrm>
            <a:off x="6811823" y="2200046"/>
            <a:ext cx="1426464" cy="365760"/>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現在 </a:t>
            </a:r>
            <a:r>
              <a:rPr lang="en-US" sz="1300" b="1" dirty="0">
                <a:solidFill>
                  <a:srgbClr val="FFFFFF"/>
                </a:solidFill>
                <a:latin typeface="Yu Gothic" pitchFamily="34" charset="0"/>
                <a:ea typeface="Yu Gothic" pitchFamily="34" charset="-122"/>
                <a:cs typeface="Yu Gothic" pitchFamily="34" charset="-120"/>
              </a:rPr>
              <a:t>約10万人</a:t>
            </a:r>
            <a:endParaRPr lang="en-US" sz="950" dirty="0"/>
          </a:p>
        </p:txBody>
      </p:sp>
      <p:sp>
        <p:nvSpPr>
          <p:cNvPr id="37" name="Text 34"/>
          <p:cNvSpPr/>
          <p:nvPr/>
        </p:nvSpPr>
        <p:spPr>
          <a:xfrm>
            <a:off x="7093001" y="4924958"/>
            <a:ext cx="864108" cy="182880"/>
          </a:xfrm>
          <a:prstGeom prst="rect">
            <a:avLst/>
          </a:prstGeom>
          <a:noFill/>
          <a:ln/>
        </p:spPr>
        <p:txBody>
          <a:bodyPr wrap="square" lIns="0" tIns="0" rIns="0" bIns="0" rtlCol="0" anchor="ctr"/>
          <a:lstStyle/>
          <a:p>
            <a:pPr algn="ctr" indent="0" marL="0">
              <a:buNone/>
            </a:pPr>
            <a:r>
              <a:rPr lang="en-US" sz="950" dirty="0">
                <a:solidFill>
                  <a:srgbClr val="7E8882"/>
                </a:solidFill>
                <a:latin typeface="Arial" pitchFamily="34" charset="0"/>
                <a:ea typeface="Arial" pitchFamily="34" charset="-122"/>
                <a:cs typeface="Arial" pitchFamily="34" charset="-120"/>
              </a:rPr>
              <a:t>26.07</a:t>
            </a:r>
            <a:endParaRPr lang="en-US" sz="950" dirty="0"/>
          </a:p>
        </p:txBody>
      </p:sp>
      <p:sp>
        <p:nvSpPr>
          <p:cNvPr id="38" name="Shape 35"/>
          <p:cNvSpPr/>
          <p:nvPr/>
        </p:nvSpPr>
        <p:spPr>
          <a:xfrm flipV="1">
            <a:off x="2426818" y="2815986"/>
            <a:ext cx="4579772" cy="1814535"/>
          </a:xfrm>
          <a:prstGeom prst="line">
            <a:avLst/>
          </a:prstGeom>
          <a:noFill/>
          <a:ln w="57150">
            <a:solidFill>
              <a:srgbClr val="A8761F"/>
            </a:solidFill>
            <a:prstDash val="solid"/>
            <a:tailEnd type="triangle"/>
          </a:ln>
        </p:spPr>
      </p:sp>
      <p:sp>
        <p:nvSpPr>
          <p:cNvPr id="39" name="Shape 36"/>
          <p:cNvSpPr/>
          <p:nvPr/>
        </p:nvSpPr>
        <p:spPr>
          <a:xfrm>
            <a:off x="8725205" y="1651406"/>
            <a:ext cx="2806294" cy="1133856"/>
          </a:xfrm>
          <a:prstGeom prst="roundRect">
            <a:avLst>
              <a:gd name="adj" fmla="val 4839"/>
            </a:avLst>
          </a:prstGeom>
          <a:solidFill>
            <a:srgbClr val="0C5230"/>
          </a:solidFill>
          <a:ln/>
        </p:spPr>
      </p:sp>
      <p:sp>
        <p:nvSpPr>
          <p:cNvPr id="40" name="Text 37"/>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41" name="Text 38"/>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42" name="Shape 39"/>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43" name="Text 40"/>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44" name="Text 41"/>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45" name="Shape 42"/>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46" name="Text 43"/>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47" name="Text 44"/>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48" name="Text 45"/>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約50%</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sp>
        <p:nvSpPr>
          <p:cNvPr id="13" name="Shape 10"/>
          <p:cNvSpPr/>
          <p:nvPr/>
        </p:nvSpPr>
        <p:spPr>
          <a:xfrm>
            <a:off x="660197" y="4595774"/>
            <a:ext cx="5120640" cy="1371600"/>
          </a:xfrm>
          <a:prstGeom prst="roundRect">
            <a:avLst>
              <a:gd name="adj" fmla="val 3333"/>
            </a:avLst>
          </a:prstGeom>
          <a:solidFill>
            <a:srgbClr val="F4F2EE"/>
          </a:solidFill>
          <a:ln w="12700">
            <a:solidFill>
              <a:srgbClr val="DED8CC"/>
            </a:solidFill>
            <a:prstDash val="dash"/>
          </a:ln>
        </p:spPr>
      </p:sp>
      <p:pic>
        <p:nvPicPr>
          <p:cNvPr id="14" name="Image 1" descr="/home/user/suzuki-ceo/selfcafe-partner-deck/assets/icons/LuImage-muted.png">    </p:cNvPr>
          <p:cNvPicPr>
            <a:picLocks noChangeAspect="1"/>
          </p:cNvPicPr>
          <p:nvPr/>
        </p:nvPicPr>
        <p:blipFill>
          <a:blip r:embed="rId2"/>
          <a:stretch>
            <a:fillRect/>
          </a:stretch>
        </p:blipFill>
        <p:spPr>
          <a:xfrm>
            <a:off x="3069641" y="5007254"/>
            <a:ext cx="301752" cy="301752"/>
          </a:xfrm>
          <a:prstGeom prst="rect">
            <a:avLst/>
          </a:prstGeom>
        </p:spPr>
      </p:pic>
      <p:sp>
        <p:nvSpPr>
          <p:cNvPr id="15" name="Text 11"/>
          <p:cNvSpPr/>
          <p:nvPr/>
        </p:nvSpPr>
        <p:spPr>
          <a:xfrm>
            <a:off x="733349" y="5345582"/>
            <a:ext cx="49743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6" name="Text 12"/>
          <p:cNvSpPr/>
          <p:nvPr/>
        </p:nvSpPr>
        <p:spPr>
          <a:xfrm>
            <a:off x="733349" y="5537606"/>
            <a:ext cx="497433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100万円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初期費用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100万円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550万円〜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1/5 〜 1/15</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20坪（初期費用800万円）と50坪（同1,200万円）について、家賃あり／家賃なし（自社物件）の回収期間を試算しました。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50坪（90席）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110杯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1,386,000円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-583,200円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-400,000円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40.3万円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100.3万円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a:t>
            </a:r>
            <a:r>
              <a:rPr lang="en-US" sz="850" dirty="0">
                <a:solidFill>
                  <a:srgbClr val="AFC2B8"/>
                </a:solidFill>
                <a:latin typeface="Arial" pitchFamily="34" charset="0"/>
                <a:ea typeface="Arial" pitchFamily="34" charset="-122"/>
                <a:cs typeface="Arial" pitchFamily="34" charset="-120"/>
              </a:rPr>
              <a:t>（12ヶ月）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前提：1杯420円／販売数 20坪=75杯・50坪=110杯／日／ロイヤリティ 月5万円／減価償却費・税は含まない</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pic>
        <p:nvPicPr>
          <p:cNvPr id="21" name="Image 1" descr="/home/user/suzuki-ceo/selfcafe-partner-deck/assets/photos/.crops/p02-storefront-660x390.jpg">    </p:cNvPr>
          <p:cNvPicPr>
            <a:picLocks noChangeAspect="1"/>
          </p:cNvPicPr>
          <p:nvPr/>
        </p:nvPicPr>
        <p:blipFill>
          <a:blip r:embed="rId2"/>
          <a:stretch>
            <a:fillRect/>
          </a:stretch>
        </p:blipFill>
        <p:spPr>
          <a:xfrm>
            <a:off x="660197" y="2492654"/>
            <a:ext cx="6035040" cy="3566160"/>
          </a:xfrm>
          <a:prstGeom prst="rect">
            <a:avLst/>
          </a:prstGeom>
        </p:spPr>
      </p:pic>
      <p:sp>
        <p:nvSpPr>
          <p:cNvPr id="22" name="Shape 18"/>
          <p:cNvSpPr/>
          <p:nvPr/>
        </p:nvSpPr>
        <p:spPr>
          <a:xfrm>
            <a:off x="660197" y="2492654"/>
            <a:ext cx="6035040" cy="3566160"/>
          </a:xfrm>
          <a:prstGeom prst="rect">
            <a:avLst/>
          </a:prstGeom>
          <a:ln w="12700">
            <a:solidFill>
              <a:srgbClr val="D8D2C6"/>
            </a:solidFill>
            <a:prstDash val="solid"/>
          </a:ln>
        </p:spPr>
      </p:sp>
      <p:sp>
        <p:nvSpPr>
          <p:cNvPr id="23" name="Shape 19"/>
          <p:cNvSpPr/>
          <p:nvPr/>
        </p:nvSpPr>
        <p:spPr>
          <a:xfrm>
            <a:off x="788213" y="5601614"/>
            <a:ext cx="1496568" cy="329184"/>
          </a:xfrm>
          <a:prstGeom prst="roundRect">
            <a:avLst>
              <a:gd name="adj" fmla="val 13889"/>
            </a:avLst>
          </a:prstGeom>
          <a:solidFill>
            <a:srgbClr val="FFFFFF">
              <a:alpha val="90000"/>
            </a:srgbClr>
          </a:solidFill>
          <a:ln/>
        </p:spPr>
      </p:sp>
      <p:sp>
        <p:nvSpPr>
          <p:cNvPr id="24" name="Text 20"/>
          <p:cNvSpPr/>
          <p:nvPr/>
        </p:nvSpPr>
        <p:spPr>
          <a:xfrm>
            <a:off x="952805" y="5601614"/>
            <a:ext cx="1222248"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盛岡駅前店の外観</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（A3対応）</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pic>
        <p:nvPicPr>
          <p:cNvPr id="22" name="Image 2" descr="/home/user/suzuki-ceo/selfcafe-partner-deck/assets/photos/.crops/p24-machine-400x160.jpg">    </p:cNvPr>
          <p:cNvPicPr>
            <a:picLocks noChangeAspect="1"/>
          </p:cNvPicPr>
          <p:nvPr/>
        </p:nvPicPr>
        <p:blipFill>
          <a:blip r:embed="rId3"/>
          <a:stretch>
            <a:fillRect/>
          </a:stretch>
        </p:blipFill>
        <p:spPr>
          <a:xfrm>
            <a:off x="934517" y="4266590"/>
            <a:ext cx="3657600" cy="1463040"/>
          </a:xfrm>
          <a:prstGeom prst="rect">
            <a:avLst/>
          </a:prstGeom>
        </p:spPr>
      </p:pic>
      <p:sp>
        <p:nvSpPr>
          <p:cNvPr id="23" name="Shape 18"/>
          <p:cNvSpPr/>
          <p:nvPr/>
        </p:nvSpPr>
        <p:spPr>
          <a:xfrm>
            <a:off x="934517" y="4266590"/>
            <a:ext cx="3657600" cy="1463040"/>
          </a:xfrm>
          <a:prstGeom prst="rect">
            <a:avLst/>
          </a:prstGeom>
          <a:ln w="12700">
            <a:solidFill>
              <a:srgbClr val="D8D2C6"/>
            </a:solidFill>
            <a:prstDash val="solid"/>
          </a:ln>
        </p:spPr>
      </p:sp>
      <p:sp>
        <p:nvSpPr>
          <p:cNvPr id="24" name="Shape 19"/>
          <p:cNvSpPr/>
          <p:nvPr/>
        </p:nvSpPr>
        <p:spPr>
          <a:xfrm>
            <a:off x="1062533" y="5272430"/>
            <a:ext cx="2411984" cy="329184"/>
          </a:xfrm>
          <a:prstGeom prst="roundRect">
            <a:avLst>
              <a:gd name="adj" fmla="val 13889"/>
            </a:avLst>
          </a:prstGeom>
          <a:solidFill>
            <a:srgbClr val="FFFFFF">
              <a:alpha val="90000"/>
            </a:srgbClr>
          </a:solidFill>
          <a:ln/>
        </p:spPr>
      </p:sp>
      <p:sp>
        <p:nvSpPr>
          <p:cNvPr id="25" name="Text 20"/>
          <p:cNvSpPr/>
          <p:nvPr/>
        </p:nvSpPr>
        <p:spPr>
          <a:xfrm>
            <a:off x="1227125" y="5272430"/>
            <a:ext cx="2137664"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27" name="Image 3" descr="/home/user/suzuki-ceo/selfcafe-partner-deck/assets/photos/.crops/p24-install-687x366.jpg">    </p:cNvPr>
          <p:cNvPicPr>
            <a:picLocks noChangeAspect="1"/>
          </p:cNvPicPr>
          <p:nvPr/>
        </p:nvPicPr>
        <p:blipFill>
          <a:blip r:embed="rId4"/>
          <a:stretch>
            <a:fillRect/>
          </a:stretch>
        </p:blipFill>
        <p:spPr>
          <a:xfrm>
            <a:off x="5250485" y="2017166"/>
            <a:ext cx="6281014" cy="3346704"/>
          </a:xfrm>
          <a:prstGeom prst="rect">
            <a:avLst/>
          </a:prstGeom>
        </p:spPr>
      </p:pic>
      <p:sp>
        <p:nvSpPr>
          <p:cNvPr id="28" name="Shape 22"/>
          <p:cNvSpPr/>
          <p:nvPr/>
        </p:nvSpPr>
        <p:spPr>
          <a:xfrm>
            <a:off x="5250485" y="2017166"/>
            <a:ext cx="6281014" cy="3346704"/>
          </a:xfrm>
          <a:prstGeom prst="rect">
            <a:avLst/>
          </a:prstGeom>
          <a:ln w="12700">
            <a:solidFill>
              <a:srgbClr val="D8D2C6"/>
            </a:solidFill>
            <a:prstDash val="solid"/>
          </a:ln>
        </p:spPr>
      </p:sp>
      <p:sp>
        <p:nvSpPr>
          <p:cNvPr id="29" name="Shape 23"/>
          <p:cNvSpPr/>
          <p:nvPr/>
        </p:nvSpPr>
        <p:spPr>
          <a:xfrm>
            <a:off x="5378501" y="4906670"/>
            <a:ext cx="2344674" cy="329184"/>
          </a:xfrm>
          <a:prstGeom prst="roundRect">
            <a:avLst>
              <a:gd name="adj" fmla="val 13889"/>
            </a:avLst>
          </a:prstGeom>
          <a:solidFill>
            <a:srgbClr val="FFFFFF">
              <a:alpha val="90000"/>
            </a:srgbClr>
          </a:solidFill>
          <a:ln/>
        </p:spPr>
      </p:sp>
      <p:sp>
        <p:nvSpPr>
          <p:cNvPr id="30" name="Text 24"/>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5243627" cy="1371600"/>
          </a:xfrm>
          <a:prstGeom prst="roundRect">
            <a:avLst>
              <a:gd name="adj" fmla="val 4000"/>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00" dirty="0"/>
          </a:p>
        </p:txBody>
      </p:sp>
      <p:sp>
        <p:nvSpPr>
          <p:cNvPr id="16" name="Shape 13"/>
          <p:cNvSpPr/>
          <p:nvPr/>
        </p:nvSpPr>
        <p:spPr>
          <a:xfrm>
            <a:off x="6287872" y="1651406"/>
            <a:ext cx="5243627" cy="1371600"/>
          </a:xfrm>
          <a:prstGeom prst="roundRect">
            <a:avLst>
              <a:gd name="adj" fmla="val 4000"/>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00" dirty="0"/>
          </a:p>
        </p:txBody>
      </p:sp>
      <p:sp>
        <p:nvSpPr>
          <p:cNvPr id="23" name="Shape 20"/>
          <p:cNvSpPr/>
          <p:nvPr/>
        </p:nvSpPr>
        <p:spPr>
          <a:xfrm>
            <a:off x="660197" y="3224174"/>
            <a:ext cx="5243627" cy="1371600"/>
          </a:xfrm>
          <a:prstGeom prst="roundRect">
            <a:avLst>
              <a:gd name="adj" fmla="val 4000"/>
            </a:avLst>
          </a:prstGeom>
          <a:solidFill>
            <a:srgbClr val="FFFFFF"/>
          </a:solidFill>
          <a:ln w="9525">
            <a:solidFill>
              <a:srgbClr val="EFEAE0"/>
            </a:solidFill>
            <a:prstDash val="solid"/>
          </a:ln>
        </p:spPr>
      </p:sp>
      <p:sp>
        <p:nvSpPr>
          <p:cNvPr id="24" name="Text 21"/>
          <p:cNvSpPr/>
          <p:nvPr/>
        </p:nvSpPr>
        <p:spPr>
          <a:xfrm>
            <a:off x="934517"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73982"/>
            <a:ext cx="4694987" cy="10058"/>
          </a:xfrm>
          <a:prstGeom prst="rect">
            <a:avLst/>
          </a:prstGeom>
          <a:solidFill>
            <a:srgbClr val="EFEAE0"/>
          </a:solidFill>
          <a:ln/>
        </p:spPr>
      </p:sp>
      <p:sp>
        <p:nvSpPr>
          <p:cNvPr id="28" name="Text 25"/>
          <p:cNvSpPr/>
          <p:nvPr/>
        </p:nvSpPr>
        <p:spPr>
          <a:xfrm>
            <a:off x="934517"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00" dirty="0"/>
          </a:p>
        </p:txBody>
      </p:sp>
      <p:sp>
        <p:nvSpPr>
          <p:cNvPr id="30" name="Shape 27"/>
          <p:cNvSpPr/>
          <p:nvPr/>
        </p:nvSpPr>
        <p:spPr>
          <a:xfrm>
            <a:off x="6287872" y="3224174"/>
            <a:ext cx="5243627" cy="1371600"/>
          </a:xfrm>
          <a:prstGeom prst="roundRect">
            <a:avLst>
              <a:gd name="adj" fmla="val 4000"/>
            </a:avLst>
          </a:prstGeom>
          <a:solidFill>
            <a:srgbClr val="FFFFFF"/>
          </a:solidFill>
          <a:ln w="9525">
            <a:solidFill>
              <a:srgbClr val="EFEAE0"/>
            </a:solidFill>
            <a:prstDash val="solid"/>
          </a:ln>
        </p:spPr>
      </p:sp>
      <p:sp>
        <p:nvSpPr>
          <p:cNvPr id="31" name="Text 28"/>
          <p:cNvSpPr/>
          <p:nvPr/>
        </p:nvSpPr>
        <p:spPr>
          <a:xfrm>
            <a:off x="6562192" y="3407054"/>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08222"/>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589934"/>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73982"/>
            <a:ext cx="4694987" cy="10058"/>
          </a:xfrm>
          <a:prstGeom prst="rect">
            <a:avLst/>
          </a:prstGeom>
          <a:solidFill>
            <a:srgbClr val="EFEAE0"/>
          </a:solidFill>
          <a:ln/>
        </p:spPr>
      </p:sp>
      <p:sp>
        <p:nvSpPr>
          <p:cNvPr id="35" name="Text 32"/>
          <p:cNvSpPr/>
          <p:nvPr/>
        </p:nvSpPr>
        <p:spPr>
          <a:xfrm>
            <a:off x="6562192" y="4065422"/>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47134"/>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00" dirty="0"/>
          </a:p>
        </p:txBody>
      </p:sp>
      <p:sp>
        <p:nvSpPr>
          <p:cNvPr id="37" name="Shape 34"/>
          <p:cNvSpPr/>
          <p:nvPr/>
        </p:nvSpPr>
        <p:spPr>
          <a:xfrm>
            <a:off x="660197" y="4796942"/>
            <a:ext cx="5243627" cy="1371600"/>
          </a:xfrm>
          <a:prstGeom prst="roundRect">
            <a:avLst>
              <a:gd name="adj" fmla="val 4000"/>
            </a:avLst>
          </a:prstGeom>
          <a:solidFill>
            <a:srgbClr val="FFFFFF"/>
          </a:solidFill>
          <a:ln w="9525">
            <a:solidFill>
              <a:srgbClr val="EFEAE0"/>
            </a:solidFill>
            <a:prstDash val="solid"/>
          </a:ln>
        </p:spPr>
      </p:sp>
      <p:sp>
        <p:nvSpPr>
          <p:cNvPr id="38" name="Text 35"/>
          <p:cNvSpPr/>
          <p:nvPr/>
        </p:nvSpPr>
        <p:spPr>
          <a:xfrm>
            <a:off x="934517" y="497982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18099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6270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46750"/>
            <a:ext cx="4694987" cy="10058"/>
          </a:xfrm>
          <a:prstGeom prst="rect">
            <a:avLst/>
          </a:prstGeom>
          <a:solidFill>
            <a:srgbClr val="EFEAE0"/>
          </a:solidFill>
          <a:ln/>
        </p:spPr>
      </p:sp>
      <p:sp>
        <p:nvSpPr>
          <p:cNvPr id="42" name="Text 39"/>
          <p:cNvSpPr/>
          <p:nvPr/>
        </p:nvSpPr>
        <p:spPr>
          <a:xfrm>
            <a:off x="934517" y="563819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19902"/>
            <a:ext cx="4329227" cy="512064"/>
          </a:xfrm>
          <a:prstGeom prst="rect">
            <a:avLst/>
          </a:prstGeom>
          <a:noFill/>
          <a:ln/>
        </p:spPr>
        <p:txBody>
          <a:bodyPr wrap="square" lIns="0" tIns="0" rIns="0" bIns="0" rtlCol="0" anchor="t"/>
          <a:lstStyle/>
          <a:p>
            <a:pPr indent="0" marL="0">
              <a:lnSpc>
                <a:spcPct val="136000"/>
              </a:lnSpc>
              <a:buNone/>
            </a:pPr>
            <a:r>
              <a:rPr lang="en-US" sz="100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1000" dirty="0"/>
          </a:p>
        </p:txBody>
      </p:sp>
      <p:sp>
        <p:nvSpPr>
          <p:cNvPr id="44" name="Shape 41"/>
          <p:cNvSpPr/>
          <p:nvPr/>
        </p:nvSpPr>
        <p:spPr>
          <a:xfrm>
            <a:off x="6287872" y="4796942"/>
            <a:ext cx="5243627" cy="1371600"/>
          </a:xfrm>
          <a:prstGeom prst="roundRect">
            <a:avLst>
              <a:gd name="adj" fmla="val 4000"/>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07838"/>
            <a:ext cx="329184" cy="329184"/>
          </a:xfrm>
          <a:prstGeom prst="rect">
            <a:avLst/>
          </a:prstGeom>
        </p:spPr>
      </p:pic>
      <p:sp>
        <p:nvSpPr>
          <p:cNvPr id="46" name="Text 42"/>
          <p:cNvSpPr/>
          <p:nvPr/>
        </p:nvSpPr>
        <p:spPr>
          <a:xfrm>
            <a:off x="7092544" y="5071262"/>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55310"/>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29</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2026-08-25T03:47:51Z</dcterms:created>
  <dcterms:modified xsi:type="dcterms:W3CDTF">2026-08-25T03:47:51Z</dcterms:modified>
</cp:coreProperties>
</file>