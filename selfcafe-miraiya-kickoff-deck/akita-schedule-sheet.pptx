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82880" cy="23774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28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　カフェ区画 業態転換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84048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スケジュールと役割分担</a:t>
            </a:r>
            <a:endParaRPr lang="en-US" sz="2200" dirty="0"/>
          </a:p>
        </p:txBody>
      </p:sp>
      <p:pic>
        <p:nvPicPr>
          <p:cNvPr id="5" name="Image 0" descr="/home/user/suzuki-ceo/selfcafe-miraiya-kickoff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68" y="274320"/>
            <a:ext cx="1417320" cy="2020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13448" y="53035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2026年10月17日　セルフカフェ株式会社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84048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12064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12064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93899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21915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契約形態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2521915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業務委託型・3年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03750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1766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御社の初期費用（設置工事費）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4531766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30〜50万円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13602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41618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オープン目標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541618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2027年2月末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423453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51469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閉店後の工期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8551469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約1か月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426464"/>
          <a:ext cx="9921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077456"/>
                <a:gridCol w="1472184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担当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施工担当による現地内見（実測・電源・給排水・既存ネット回線・残置設備）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11月中旬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レイアウト図・什器リストのご提出／設置工事費のご案内（30〜50万円）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11月中旬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クリエ様の解約条件・原状回復範囲の確定（残置の範囲を確定）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11月下旬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仕様の確定／業務委託契約の締結（カメラ映像の取扱いを含む）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11月下旬〜12月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館（イオンモール様）への工事申請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ネット回線の新規お申込み（開通まで1〜2か月）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什器・機器の発注（リードタイム4〜6週間）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1月末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カフェ・ド・クリエ 閉店・退去（造作・床・設備は残置）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2月（約1か月）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 → 機器設置・試運転 → 什器搬入／回線開通の確認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2月下旬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オープン準備・研修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2月末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オープン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384048" y="4261104"/>
            <a:ext cx="9921240" cy="640080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24" name="Text 20"/>
          <p:cNvSpPr/>
          <p:nvPr/>
        </p:nvSpPr>
        <p:spPr>
          <a:xfrm>
            <a:off x="621792" y="4261104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工期約1か月は造作・床・給排水・電気が残置される前提です。ネット回線は12月中のお申込みが必要です。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ルトン戻しとなる場合は工期が延び、2月末オープンが厳しくなります。回線は申込から開通まで1〜2か月かかります。また1/31閉店→2/28オープンは正味28日のためバッファがありません。閉店を1月中旬〜下旬に前倒しできると安全です。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84048" y="4992624"/>
            <a:ext cx="3703320" cy="2212848"/>
          </a:xfrm>
          <a:prstGeom prst="roundRect">
            <a:avLst>
              <a:gd name="adj" fmla="val 24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85216" y="5102352"/>
            <a:ext cx="3300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セルフカフェ（弊社）で進めること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585216" y="5340096"/>
            <a:ext cx="3300984" cy="9144"/>
          </a:xfrm>
          <a:prstGeom prst="rect">
            <a:avLst/>
          </a:prstGeom>
          <a:solidFill>
            <a:srgbClr val="D2E7DA"/>
          </a:solidFill>
          <a:ln/>
        </p:spPr>
      </p:sp>
      <p:sp>
        <p:nvSpPr>
          <p:cNvPr id="28" name="Text 24"/>
          <p:cNvSpPr/>
          <p:nvPr/>
        </p:nvSpPr>
        <p:spPr>
          <a:xfrm>
            <a:off x="603504" y="5449824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768096" y="5449824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施工担当の内見日程の調整（11月上旬）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603504" y="5618988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768096" y="5618988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レイアウト図・什器リストの作成（30坪）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603504" y="5788152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768096" y="5788152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設置工事費のご案内（30〜50万円）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603504" y="5957316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768096" y="5957316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業務委託契約書のドラフト送付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603504" y="6126480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768096" y="6126480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カメラ映像の取扱いに関する取り決めのご提示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603504" y="6295644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768096" y="6295644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館への工事申請用 図面・仕様書の作成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603504" y="6464808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41" name="Text 37"/>
          <p:cNvSpPr/>
          <p:nvPr/>
        </p:nvSpPr>
        <p:spPr>
          <a:xfrm>
            <a:off x="768096" y="6464808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什器・機器の発注（12月上旬）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603504" y="6633972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43" name="Text 39"/>
          <p:cNvSpPr/>
          <p:nvPr/>
        </p:nvSpPr>
        <p:spPr>
          <a:xfrm>
            <a:off x="768096" y="6633972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内装工事・機器設置・試運転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603504" y="6803136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768096" y="6803136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開業スケジュール確定版の提示（内見後）</a:t>
            </a:r>
            <a:endParaRPr lang="en-US" sz="850" dirty="0"/>
          </a:p>
        </p:txBody>
      </p:sp>
      <p:sp>
        <p:nvSpPr>
          <p:cNvPr id="46" name="Text 42"/>
          <p:cNvSpPr/>
          <p:nvPr/>
        </p:nvSpPr>
        <p:spPr>
          <a:xfrm>
            <a:off x="603504" y="6972300"/>
            <a:ext cx="1463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47" name="Text 43"/>
          <p:cNvSpPr/>
          <p:nvPr/>
        </p:nvSpPr>
        <p:spPr>
          <a:xfrm>
            <a:off x="768096" y="6972300"/>
            <a:ext cx="3118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オープン後の集客・お客様対応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4306824" y="4992624"/>
            <a:ext cx="599846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C79A44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07992" y="5102352"/>
            <a:ext cx="5596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未来屋書店様にご確認・ご準備いただきたいこと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4507992" y="5340096"/>
            <a:ext cx="5596128" cy="9144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51" name="Text 47"/>
          <p:cNvSpPr/>
          <p:nvPr/>
        </p:nvSpPr>
        <p:spPr>
          <a:xfrm>
            <a:off x="4507992" y="5394960"/>
            <a:ext cx="2660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ご確認事項（★＝工期・コストに直結）</a:t>
            </a:r>
            <a:endParaRPr lang="en-US" sz="800" dirty="0"/>
          </a:p>
        </p:txBody>
      </p:sp>
      <p:sp>
        <p:nvSpPr>
          <p:cNvPr id="52" name="Text 48"/>
          <p:cNvSpPr/>
          <p:nvPr/>
        </p:nvSpPr>
        <p:spPr>
          <a:xfrm>
            <a:off x="4526280" y="5559552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4709160" y="5559552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クリエ様の解約条件・閉店日の確定</a:t>
            </a:r>
            <a:endParaRPr lang="en-US" sz="800" dirty="0"/>
          </a:p>
        </p:txBody>
      </p:sp>
      <p:sp>
        <p:nvSpPr>
          <p:cNvPr id="54" name="Text 50"/>
          <p:cNvSpPr/>
          <p:nvPr/>
        </p:nvSpPr>
        <p:spPr>
          <a:xfrm>
            <a:off x="4526280" y="5715000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4709160" y="5715000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原状回復の範囲（造作・床・設備の残置）</a:t>
            </a:r>
            <a:endParaRPr lang="en-US" sz="800" dirty="0"/>
          </a:p>
        </p:txBody>
      </p:sp>
      <p:sp>
        <p:nvSpPr>
          <p:cNvPr id="56" name="Text 52"/>
          <p:cNvSpPr/>
          <p:nvPr/>
        </p:nvSpPr>
        <p:spPr>
          <a:xfrm>
            <a:off x="4526280" y="5870448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4709160" y="5870448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残置する既存設備（給排水・電気容量）</a:t>
            </a:r>
            <a:endParaRPr lang="en-US" sz="800" dirty="0"/>
          </a:p>
        </p:txBody>
      </p:sp>
      <p:sp>
        <p:nvSpPr>
          <p:cNvPr id="58" name="Text 54"/>
          <p:cNvSpPr/>
          <p:nvPr/>
        </p:nvSpPr>
        <p:spPr>
          <a:xfrm>
            <a:off x="4526280" y="6025896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4709160" y="6025896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ネット回線の新規敷設（12月中に申込）</a:t>
            </a:r>
            <a:endParaRPr lang="en-US" sz="800" dirty="0"/>
          </a:p>
        </p:txBody>
      </p:sp>
      <p:sp>
        <p:nvSpPr>
          <p:cNvPr id="60" name="Text 56"/>
          <p:cNvSpPr/>
          <p:nvPr/>
        </p:nvSpPr>
        <p:spPr>
          <a:xfrm>
            <a:off x="4526280" y="6181344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61" name="Text 57"/>
          <p:cNvSpPr/>
          <p:nvPr/>
        </p:nvSpPr>
        <p:spPr>
          <a:xfrm>
            <a:off x="4709160" y="6181344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開業日の確定（契約期間の起算日）</a:t>
            </a:r>
            <a:endParaRPr lang="en-US" sz="800" dirty="0"/>
          </a:p>
        </p:txBody>
      </p:sp>
      <p:sp>
        <p:nvSpPr>
          <p:cNvPr id="62" name="Text 58"/>
          <p:cNvSpPr/>
          <p:nvPr/>
        </p:nvSpPr>
        <p:spPr>
          <a:xfrm>
            <a:off x="4526280" y="6336792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63" name="Text 59"/>
          <p:cNvSpPr/>
          <p:nvPr/>
        </p:nvSpPr>
        <p:spPr>
          <a:xfrm>
            <a:off x="4709160" y="6336792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カメラ映像（個人情報）の取扱いの取決め</a:t>
            </a:r>
            <a:endParaRPr lang="en-US" sz="800" dirty="0"/>
          </a:p>
        </p:txBody>
      </p:sp>
      <p:sp>
        <p:nvSpPr>
          <p:cNvPr id="64" name="Text 60"/>
          <p:cNvSpPr/>
          <p:nvPr/>
        </p:nvSpPr>
        <p:spPr>
          <a:xfrm>
            <a:off x="4526280" y="6492240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65" name="Text 61"/>
          <p:cNvSpPr/>
          <p:nvPr/>
        </p:nvSpPr>
        <p:spPr>
          <a:xfrm>
            <a:off x="4709160" y="6492240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館への工事申請（様式・期限・搬入ルート）</a:t>
            </a:r>
            <a:endParaRPr lang="en-US" sz="800" dirty="0"/>
          </a:p>
        </p:txBody>
      </p:sp>
      <p:sp>
        <p:nvSpPr>
          <p:cNvPr id="66" name="Text 62"/>
          <p:cNvSpPr/>
          <p:nvPr/>
        </p:nvSpPr>
        <p:spPr>
          <a:xfrm>
            <a:off x="4526280" y="6647688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67" name="Text 63"/>
          <p:cNvSpPr/>
          <p:nvPr/>
        </p:nvSpPr>
        <p:spPr>
          <a:xfrm>
            <a:off x="4709160" y="6647688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サイン表記の確定（MIRAIYA Book &amp; Cafe）</a:t>
            </a:r>
            <a:endParaRPr lang="en-US" sz="800" dirty="0"/>
          </a:p>
        </p:txBody>
      </p:sp>
      <p:sp>
        <p:nvSpPr>
          <p:cNvPr id="68" name="Text 64"/>
          <p:cNvSpPr/>
          <p:nvPr/>
        </p:nvSpPr>
        <p:spPr>
          <a:xfrm>
            <a:off x="4526280" y="6803136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69" name="Text 65"/>
          <p:cNvSpPr/>
          <p:nvPr/>
        </p:nvSpPr>
        <p:spPr>
          <a:xfrm>
            <a:off x="4709160" y="6803136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運営体制（営業時間・清掃補充の担当分け）</a:t>
            </a:r>
            <a:endParaRPr lang="en-US" sz="800" dirty="0"/>
          </a:p>
        </p:txBody>
      </p:sp>
      <p:sp>
        <p:nvSpPr>
          <p:cNvPr id="70" name="Text 66"/>
          <p:cNvSpPr/>
          <p:nvPr/>
        </p:nvSpPr>
        <p:spPr>
          <a:xfrm>
            <a:off x="4526280" y="6958584"/>
            <a:ext cx="164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1" name="Text 67"/>
          <p:cNvSpPr/>
          <p:nvPr/>
        </p:nvSpPr>
        <p:spPr>
          <a:xfrm>
            <a:off x="4709160" y="6958584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社内稟議の進捗・決裁完了の目処</a:t>
            </a:r>
            <a:endParaRPr lang="en-US" sz="800" dirty="0"/>
          </a:p>
        </p:txBody>
      </p:sp>
      <p:sp>
        <p:nvSpPr>
          <p:cNvPr id="72" name="Text 68"/>
          <p:cNvSpPr/>
          <p:nvPr/>
        </p:nvSpPr>
        <p:spPr>
          <a:xfrm>
            <a:off x="7443216" y="5394960"/>
            <a:ext cx="2660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ご提供いただきたい資料</a:t>
            </a:r>
            <a:endParaRPr lang="en-US" sz="800" dirty="0"/>
          </a:p>
        </p:txBody>
      </p:sp>
      <p:sp>
        <p:nvSpPr>
          <p:cNvPr id="73" name="Text 69"/>
          <p:cNvSpPr/>
          <p:nvPr/>
        </p:nvSpPr>
        <p:spPr>
          <a:xfrm>
            <a:off x="7461504" y="555955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4" name="Text 70"/>
          <p:cNvSpPr/>
          <p:nvPr/>
        </p:nvSpPr>
        <p:spPr>
          <a:xfrm>
            <a:off x="7626096" y="5559552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区画図面（平面図・展開図／CADデータ）</a:t>
            </a:r>
            <a:endParaRPr lang="en-US" sz="800" dirty="0"/>
          </a:p>
        </p:txBody>
      </p:sp>
      <p:sp>
        <p:nvSpPr>
          <p:cNvPr id="75" name="Text 71"/>
          <p:cNvSpPr/>
          <p:nvPr/>
        </p:nvSpPr>
        <p:spPr>
          <a:xfrm>
            <a:off x="7461504" y="5715000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6" name="Text 72"/>
          <p:cNvSpPr/>
          <p:nvPr/>
        </p:nvSpPr>
        <p:spPr>
          <a:xfrm>
            <a:off x="7626096" y="5715000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電気容量・分電盤の位置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7461504" y="5870448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8" name="Text 74"/>
          <p:cNvSpPr/>
          <p:nvPr/>
        </p:nvSpPr>
        <p:spPr>
          <a:xfrm>
            <a:off x="7626096" y="5870448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給排水の位置・系統</a:t>
            </a:r>
            <a:endParaRPr lang="en-US" sz="800" dirty="0"/>
          </a:p>
        </p:txBody>
      </p:sp>
      <p:sp>
        <p:nvSpPr>
          <p:cNvPr id="79" name="Text 75"/>
          <p:cNvSpPr/>
          <p:nvPr/>
        </p:nvSpPr>
        <p:spPr>
          <a:xfrm>
            <a:off x="7461504" y="6025896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80" name="Text 76"/>
          <p:cNvSpPr/>
          <p:nvPr/>
        </p:nvSpPr>
        <p:spPr>
          <a:xfrm>
            <a:off x="7626096" y="6025896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既存ネット回線の有無・引込経路</a:t>
            </a:r>
            <a:endParaRPr lang="en-US" sz="800" dirty="0"/>
          </a:p>
        </p:txBody>
      </p:sp>
      <p:sp>
        <p:nvSpPr>
          <p:cNvPr id="81" name="Text 77"/>
          <p:cNvSpPr/>
          <p:nvPr/>
        </p:nvSpPr>
        <p:spPr>
          <a:xfrm>
            <a:off x="7461504" y="6181344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626096" y="6181344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現況写真（既存設備・厨房まわり）</a:t>
            </a:r>
            <a:endParaRPr lang="en-US" sz="800" dirty="0"/>
          </a:p>
        </p:txBody>
      </p:sp>
      <p:sp>
        <p:nvSpPr>
          <p:cNvPr id="83" name="Text 79"/>
          <p:cNvSpPr/>
          <p:nvPr/>
        </p:nvSpPr>
        <p:spPr>
          <a:xfrm>
            <a:off x="7461504" y="633679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84" name="Text 80"/>
          <p:cNvSpPr/>
          <p:nvPr/>
        </p:nvSpPr>
        <p:spPr>
          <a:xfrm>
            <a:off x="7626096" y="6336792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館の工事規定・申請様式</a:t>
            </a:r>
            <a:endParaRPr lang="en-US" sz="800" dirty="0"/>
          </a:p>
        </p:txBody>
      </p:sp>
      <p:sp>
        <p:nvSpPr>
          <p:cNvPr id="85" name="Text 81"/>
          <p:cNvSpPr/>
          <p:nvPr/>
        </p:nvSpPr>
        <p:spPr>
          <a:xfrm>
            <a:off x="7461504" y="6492240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86" name="Text 82"/>
          <p:cNvSpPr/>
          <p:nvPr/>
        </p:nvSpPr>
        <p:spPr>
          <a:xfrm>
            <a:off x="7626096" y="6492240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クリエ様の原状回復条件がわかる資料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7461504" y="6647688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88" name="Text 84"/>
          <p:cNvSpPr/>
          <p:nvPr/>
        </p:nvSpPr>
        <p:spPr>
          <a:xfrm>
            <a:off x="7626096" y="6647688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ご契約者情報（会社名・所在地・代表者名）</a:t>
            </a:r>
            <a:endParaRPr lang="en-US" sz="800" dirty="0"/>
          </a:p>
        </p:txBody>
      </p:sp>
      <p:sp>
        <p:nvSpPr>
          <p:cNvPr id="89" name="Text 85"/>
          <p:cNvSpPr/>
          <p:nvPr/>
        </p:nvSpPr>
        <p:spPr>
          <a:xfrm>
            <a:off x="7461504" y="6803136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90" name="Text 86"/>
          <p:cNvSpPr/>
          <p:nvPr/>
        </p:nvSpPr>
        <p:spPr>
          <a:xfrm>
            <a:off x="7626096" y="6803136"/>
            <a:ext cx="24780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業務委託料のお振込先口座</a:t>
            </a:r>
            <a:endParaRPr lang="en-US" sz="800" dirty="0"/>
          </a:p>
        </p:txBody>
      </p:sp>
      <p:sp>
        <p:nvSpPr>
          <p:cNvPr id="91" name="Text 87"/>
          <p:cNvSpPr/>
          <p:nvPr/>
        </p:nvSpPr>
        <p:spPr>
          <a:xfrm>
            <a:off x="384048" y="7260336"/>
            <a:ext cx="9921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業務委託型のため、工事費のお見積り提出はございません。御社にご負担いただくのは設置工事費（30〜50万円・税抜）のみです。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384048" y="7388352"/>
            <a:ext cx="6400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業務委託契約書は別途ご送付済みです。別表は仕様確定後に作成いたします。工期・納期は目安で、館の工事申請期間は未織り込みです。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7013448" y="7388352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　052-879-3557 ／ info@selfcafe.jp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未来屋書店 秋田店 スケジュールと役割分担</dc:title>
  <dc:subject>PptxGenJS Presentation</dc:subject>
  <dc:creator>セルフカフェ株式会社</dc:creator>
  <cp:lastModifiedBy>セルフカフェ株式会社</cp:lastModifiedBy>
  <cp:revision>1</cp:revision>
  <dcterms:created xsi:type="dcterms:W3CDTF">2026-10-17T08:12:42Z</dcterms:created>
  <dcterms:modified xsi:type="dcterms:W3CDTF">2026-10-17T08:12:42Z</dcterms:modified>
</cp:coreProperties>
</file>