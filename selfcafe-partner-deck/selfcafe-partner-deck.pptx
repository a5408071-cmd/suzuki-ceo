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店舗数</c:v>
                </c:pt>
              </c:strCache>
            </c:strRef>
          </c:tx>
          <c:spPr>
            <a:solidFill>
              <a:srgbClr val="106838"/>
            </a:solidFill>
            <a:ln w="25400" cap="flat">
              <a:solidFill>
                <a:srgbClr val="10683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06838"/>
              </a:solidFill>
              <a:ln w="9525" cap="flat">
                <a:solidFill>
                  <a:srgbClr val="106838"/>
                </a:solidFill>
                <a:prstDash val="solid"/>
                <a:round/>
              </a:ln>
              <a:effectLst/>
            </c:spPr>
          </c:marker>
          <c:cat>
            <c:multiLvlStrRef>
              <c:f>Sheet1!$A$2:$A$49</c:f>
              <c:multiLvlStrCache>
                <c:ptCount val="48"/>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
                  </c:pt>
                  <c:pt idx="47">
                    <c:v>2026.08</c:v>
                  </c:pt>
                </c:lvl>
              </c:multiLvlStrCache>
            </c:multiLvlStrRef>
          </c:cat>
          <c:val>
            <c:numRef>
              <c:f>Sheet1!$B$2:$B$49</c:f>
              <c:numCache>
                <c:formatCode>General</c:formatCode>
                <c:ptCount val="48"/>
                <c:pt idx="0">
                  <c:v>1</c:v>
                </c:pt>
                <c:pt idx="1">
                  <c:v>1</c:v>
                </c:pt>
                <c:pt idx="2">
                  <c:v>1</c:v>
                </c:pt>
                <c:pt idx="3">
                  <c:v>1</c:v>
                </c:pt>
                <c:pt idx="4">
                  <c:v>1</c:v>
                </c:pt>
                <c:pt idx="5">
                  <c:v>1</c:v>
                </c:pt>
                <c:pt idx="6">
                  <c:v>1</c:v>
                </c:pt>
                <c:pt idx="7">
                  <c:v>1</c:v>
                </c:pt>
                <c:pt idx="8">
                  <c:v>1</c:v>
                </c:pt>
                <c:pt idx="9">
                  <c:v>1</c:v>
                </c:pt>
                <c:pt idx="10">
                  <c:v>1</c:v>
                </c:pt>
                <c:pt idx="11">
                  <c:v>1</c:v>
                </c:pt>
                <c:pt idx="12">
                  <c:v>2</c:v>
                </c:pt>
                <c:pt idx="13">
                  <c:v>5</c:v>
                </c:pt>
                <c:pt idx="14">
                  <c:v>8</c:v>
                </c:pt>
                <c:pt idx="15">
                  <c:v>8</c:v>
                </c:pt>
                <c:pt idx="16">
                  <c:v>9</c:v>
                </c:pt>
                <c:pt idx="17">
                  <c:v>9</c:v>
                </c:pt>
                <c:pt idx="18">
                  <c:v>12</c:v>
                </c:pt>
                <c:pt idx="19">
                  <c:v>16</c:v>
                </c:pt>
                <c:pt idx="20">
                  <c:v>18</c:v>
                </c:pt>
                <c:pt idx="21">
                  <c:v>20</c:v>
                </c:pt>
                <c:pt idx="22">
                  <c:v>22</c:v>
                </c:pt>
                <c:pt idx="23">
                  <c:v>22</c:v>
                </c:pt>
                <c:pt idx="24">
                  <c:v>23</c:v>
                </c:pt>
                <c:pt idx="25">
                  <c:v>24</c:v>
                </c:pt>
                <c:pt idx="26">
                  <c:v>28</c:v>
                </c:pt>
                <c:pt idx="27">
                  <c:v>30</c:v>
                </c:pt>
                <c:pt idx="28">
                  <c:v>31</c:v>
                </c:pt>
                <c:pt idx="29">
                  <c:v>33</c:v>
                </c:pt>
                <c:pt idx="30">
                  <c:v>37</c:v>
                </c:pt>
                <c:pt idx="31">
                  <c:v>42</c:v>
                </c:pt>
                <c:pt idx="32">
                  <c:v>43</c:v>
                </c:pt>
                <c:pt idx="33">
                  <c:v>43</c:v>
                </c:pt>
                <c:pt idx="34">
                  <c:v>45</c:v>
                </c:pt>
                <c:pt idx="35">
                  <c:v>46</c:v>
                </c:pt>
                <c:pt idx="36">
                  <c:v>48</c:v>
                </c:pt>
                <c:pt idx="37">
                  <c:v>47</c:v>
                </c:pt>
                <c:pt idx="38">
                  <c:v>49</c:v>
                </c:pt>
                <c:pt idx="39">
                  <c:v>49</c:v>
                </c:pt>
                <c:pt idx="40">
                  <c:v>50</c:v>
                </c:pt>
                <c:pt idx="41">
                  <c:v>51</c:v>
                </c:pt>
                <c:pt idx="42">
                  <c:v>54</c:v>
                </c:pt>
                <c:pt idx="43">
                  <c:v>56</c:v>
                </c:pt>
                <c:pt idx="44">
                  <c:v>58</c:v>
                </c:pt>
                <c:pt idx="45">
                  <c:v>59</c:v>
                </c:pt>
                <c:pt idx="46">
                  <c:v>62</c:v>
                </c:pt>
                <c:pt idx="47">
                  <c:v>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tickLblSkip val="1"/>
      </c:catAx>
      <c:valAx>
        <c:axId val="2094734552"/>
        <c:scaling>
          <c:orientation val="minMax"/>
          <c:max val="90"/>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3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月間利用者数</c:v>
                </c:pt>
              </c:strCache>
            </c:strRef>
          </c:tx>
          <c:spPr>
            <a:solidFill>
              <a:srgbClr val="106838"/>
            </a:solidFill>
            <a:effectLst/>
          </c:spPr>
          <c:invertIfNegative val="0"/>
          <c:dLbls>
            <c:numFmt formatCode="#,##0" sourceLinked="0"/>
            <c:txPr>
              <a:bodyPr/>
              <a:lstStyle/>
              <a:p>
                <a:pPr>
                  <a:defRPr b="0" i="0" strike="noStrike" sz="90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23.01</c:v>
                  </c:pt>
                  <c:pt idx="1">
                    <c:v>23.07</c:v>
                  </c:pt>
                  <c:pt idx="2">
                    <c:v>24.01</c:v>
                  </c:pt>
                  <c:pt idx="3">
                    <c:v>24.07</c:v>
                  </c:pt>
                  <c:pt idx="4">
                    <c:v>25.01</c:v>
                  </c:pt>
                  <c:pt idx="5">
                    <c:v>25.07</c:v>
                  </c:pt>
                  <c:pt idx="6">
                    <c:v>26.01</c:v>
                  </c:pt>
                  <c:pt idx="7">
                    <c:v>26.07</c:v>
                  </c:pt>
                </c:lvl>
              </c:multiLvlStrCache>
            </c:multiLvlStrRef>
          </c:cat>
          <c:val>
            <c:numRef>
              <c:f>Sheet1!$B$2:$B$9</c:f>
              <c:numCache>
                <c:formatCode>General</c:formatCode>
                <c:ptCount val="8"/>
                <c:pt idx="0">
                  <c:v>900</c:v>
                </c:pt>
                <c:pt idx="1">
                  <c:v>1400</c:v>
                </c:pt>
                <c:pt idx="2">
                  <c:v>10000</c:v>
                </c:pt>
                <c:pt idx="3">
                  <c:v>26000</c:v>
                </c:pt>
                <c:pt idx="4">
                  <c:v>46000</c:v>
                </c:pt>
                <c:pt idx="5">
                  <c:v>74000</c:v>
                </c:pt>
                <c:pt idx="6">
                  <c:v>80000</c:v>
                </c:pt>
                <c:pt idx="7">
                  <c:v>100000</c:v>
                </c:pt>
              </c:numCache>
            </c:numRef>
          </c:val>
        </c:ser>
        <c:dLbls>
          <c:numFmt formatCode="#,##0" sourceLinked="0"/>
          <c:txPr>
            <a:bodyPr/>
            <a:lstStyle/>
            <a:p>
              <a:pPr>
                <a:defRPr b="0" i="0" strike="noStrike" sz="900" u="none">
                  <a:solidFill>
                    <a:srgbClr val="106838"/>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5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120000"/>
          <c:min val="0"/>
        </c:scaling>
        <c:delete val="0"/>
        <c:axPos val="l"/>
        <c:majorGridlines>
          <c:spPr>
            <a:ln w="9525" cap="flat">
              <a:solidFill>
                <a:srgbClr val="EFEAE0"/>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40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cat>
            <c:multiLvlStrRef>
              <c:f>Sheet1!$A$2:$A$8</c:f>
              <c:multiLvlStrCache>
                <c:ptCount val="7"/>
                <c:lvl>
                  <c:pt idx="0">
                    <c:v>〜14</c:v>
                  </c:pt>
                  <c:pt idx="1">
                    <c:v>15〜19</c:v>
                  </c:pt>
                  <c:pt idx="2">
                    <c:v>20〜29</c:v>
                  </c:pt>
                  <c:pt idx="3">
                    <c:v>30〜39</c:v>
                  </c:pt>
                  <c:pt idx="4">
                    <c:v>40〜49</c:v>
                  </c:pt>
                  <c:pt idx="5">
                    <c:v>50〜59</c:v>
                  </c:pt>
                  <c:pt idx="6">
                    <c:v>60〜</c:v>
                  </c:pt>
                </c:lvl>
              </c:multiLvlStrCache>
            </c:multiLvlStrRef>
          </c:cat>
          <c:val>
            <c:numRef>
              <c:f>Sheet1!$B$2:$B$8</c:f>
              <c:numCache>
                <c:formatCode>General</c:formatCode>
                <c:ptCount val="7"/>
                <c:pt idx="0">
                  <c:v>3</c:v>
                </c:pt>
                <c:pt idx="1">
                  <c:v>24</c:v>
                </c:pt>
                <c:pt idx="2">
                  <c:v>29</c:v>
                </c:pt>
                <c:pt idx="3">
                  <c:v>16</c:v>
                </c:pt>
                <c:pt idx="4">
                  <c:v>13</c:v>
                </c:pt>
                <c:pt idx="5">
                  <c:v>4</c:v>
                </c:pt>
                <c:pt idx="6">
                  <c:v>1</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3.png"/><Relationship Id="rId6" Type="http://schemas.openxmlformats.org/officeDocument/2006/relationships/image" Target="../media/image-5-6.png"/><Relationship Id="rId7" Type="http://schemas.openxmlformats.org/officeDocument/2006/relationships/image" Target="../media/image-5-3.png"/><Relationship Id="rId8" Type="http://schemas.openxmlformats.org/officeDocument/2006/relationships/image" Target="../media/image-5-3.png"/><Relationship Id="rId9" Type="http://schemas.openxmlformats.org/officeDocument/2006/relationships/image" Target="../media/image-5-3.png"/><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3.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3.xml"/><Relationship Id="rId3" Type="http://schemas.openxmlformats.org/officeDocument/2006/relationships/chart" Target="/ppt/charts/chart4.xm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2.png"/><Relationship Id="rId4" Type="http://schemas.openxmlformats.org/officeDocument/2006/relationships/image" Target="../media/image-11-2.png"/><Relationship Id="rId5" Type="http://schemas.openxmlformats.org/officeDocument/2006/relationships/image" Target="../media/image-11-2.png"/><Relationship Id="rId6" Type="http://schemas.openxmlformats.org/officeDocument/2006/relationships/image" Target="../media/image-11-2.png"/><Relationship Id="rId7" Type="http://schemas.openxmlformats.org/officeDocument/2006/relationships/image" Target="../media/image-11-2.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2.png"/><Relationship Id="rId5" Type="http://schemas.openxmlformats.org/officeDocument/2006/relationships/image" Target="../media/image-12-2.png"/><Relationship Id="rId6" Type="http://schemas.openxmlformats.org/officeDocument/2006/relationships/image" Target="../media/image-12-2.png"/><Relationship Id="rId7" Type="http://schemas.openxmlformats.org/officeDocument/2006/relationships/image" Target="../media/image-12-2.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2.png"/><Relationship Id="rId4" Type="http://schemas.openxmlformats.org/officeDocument/2006/relationships/image" Target="../media/image-19-2.png"/><Relationship Id="rId5" Type="http://schemas.openxmlformats.org/officeDocument/2006/relationships/image" Target="../media/image-19-2.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2.png"/><Relationship Id="rId4" Type="http://schemas.openxmlformats.org/officeDocument/2006/relationships/image" Target="../media/image-20-2.png"/><Relationship Id="rId5" Type="http://schemas.openxmlformats.org/officeDocument/2006/relationships/image" Target="../media/image-20-2.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3.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3.png"/><Relationship Id="rId5" Type="http://schemas.openxmlformats.org/officeDocument/2006/relationships/image" Target="../media/image-25-3.png"/><Relationship Id="rId6" Type="http://schemas.openxmlformats.org/officeDocument/2006/relationships/image" Target="../media/image-25-3.png"/><Relationship Id="rId7" Type="http://schemas.openxmlformats.org/officeDocument/2006/relationships/image" Target="../media/image-25-3.png"/><Relationship Id="rId8" Type="http://schemas.openxmlformats.org/officeDocument/2006/relationships/image" Target="../media/image-25-8.png"/><Relationship Id="rId9" Type="http://schemas.openxmlformats.org/officeDocument/2006/relationships/image" Target="../media/image-25-3.png"/><Relationship Id="rId10" Type="http://schemas.openxmlformats.org/officeDocument/2006/relationships/image" Target="../media/image-25-3.png"/><Relationship Id="rId11" Type="http://schemas.openxmlformats.org/officeDocument/2006/relationships/image" Target="../media/image-25-3.png"/><Relationship Id="rId12" Type="http://schemas.openxmlformats.org/officeDocument/2006/relationships/image" Target="../media/image-25-3.png"/><Relationship Id="rId13" Type="http://schemas.openxmlformats.org/officeDocument/2006/relationships/image" Target="../media/image-25-3.png"/><Relationship Id="rId14" Type="http://schemas.openxmlformats.org/officeDocument/2006/relationships/image" Target="../media/image-25-14.png"/><Relationship Id="rId15" Type="http://schemas.openxmlformats.org/officeDocument/2006/relationships/slideLayout" Target="../slideLayouts/slideLayout1.xml"/><Relationship Id="rId1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66</a:t>
            </a:r>
            <a:pPr indent="0" marL="0">
              <a:buNone/>
            </a:pP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pPr indent="0" marL="0">
              <a:buNone/>
            </a:pP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650</a:t>
            </a:r>
            <a:pPr indent="0" marL="0">
              <a:buNone/>
            </a:pP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pPr indent="0" marL="0">
              <a:buNone/>
            </a:pP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sp>
        <p:nvSpPr>
          <p:cNvPr id="9" name="Shape 6"/>
          <p:cNvSpPr/>
          <p:nvPr/>
        </p:nvSpPr>
        <p:spPr>
          <a:xfrm>
            <a:off x="660197" y="1651406"/>
            <a:ext cx="4572000" cy="4315968"/>
          </a:xfrm>
          <a:prstGeom prst="roundRect">
            <a:avLst>
              <a:gd name="adj" fmla="val 1059"/>
            </a:avLst>
          </a:prstGeom>
          <a:solidFill>
            <a:srgbClr val="F4F2EE"/>
          </a:solidFill>
          <a:ln w="12700">
            <a:solidFill>
              <a:srgbClr val="DED8CC"/>
            </a:solidFill>
            <a:prstDash val="dash"/>
          </a:ln>
        </p:spPr>
      </p:sp>
      <p:pic>
        <p:nvPicPr>
          <p:cNvPr id="10" name="Image 1" descr="/home/user/suzuki-ceo/selfcafe-partner-deck/assets/icons/LuImage-muted.png">    </p:cNvPr>
          <p:cNvPicPr>
            <a:picLocks noChangeAspect="1"/>
          </p:cNvPicPr>
          <p:nvPr/>
        </p:nvPicPr>
        <p:blipFill>
          <a:blip r:embed="rId2"/>
          <a:stretch>
            <a:fillRect/>
          </a:stretch>
        </p:blipFill>
        <p:spPr>
          <a:xfrm>
            <a:off x="2708453" y="3535070"/>
            <a:ext cx="475488" cy="475488"/>
          </a:xfrm>
          <a:prstGeom prst="rect">
            <a:avLst/>
          </a:prstGeom>
        </p:spPr>
      </p:pic>
      <p:sp>
        <p:nvSpPr>
          <p:cNvPr id="11" name="Text 7"/>
          <p:cNvSpPr/>
          <p:nvPr/>
        </p:nvSpPr>
        <p:spPr>
          <a:xfrm>
            <a:off x="733349" y="4047134"/>
            <a:ext cx="4425696"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2" name="Text 8"/>
          <p:cNvSpPr/>
          <p:nvPr/>
        </p:nvSpPr>
        <p:spPr>
          <a:xfrm>
            <a:off x="733349" y="4239158"/>
            <a:ext cx="4425696" cy="384048"/>
          </a:xfrm>
          <a:prstGeom prst="rect">
            <a:avLst/>
          </a:prstGeom>
          <a:noFill/>
          <a:ln/>
        </p:spPr>
        <p:txBody>
          <a:bodyPr wrap="square" lIns="0" tIns="0" rIns="0" bIns="0" rtlCol="0" anchor="t"/>
          <a:lstStyle/>
          <a:p>
            <a:pPr algn="ctr" indent="0" marL="0">
              <a:lnSpc>
                <a:spcPct val="115000"/>
              </a:lnSpc>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897941" y="1870862"/>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STORE</a:t>
            </a:r>
            <a:endParaRPr lang="en-US" sz="900" dirty="0"/>
          </a:p>
        </p:txBody>
      </p:sp>
      <p:sp>
        <p:nvSpPr>
          <p:cNvPr id="14" name="Text 10"/>
          <p:cNvSpPr/>
          <p:nvPr/>
        </p:nvSpPr>
        <p:spPr>
          <a:xfrm>
            <a:off x="5689397" y="165140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5" name="Text 11"/>
          <p:cNvSpPr/>
          <p:nvPr/>
        </p:nvSpPr>
        <p:spPr>
          <a:xfrm>
            <a:off x="5689397" y="188915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セルフカフェ株式会社</a:t>
            </a:r>
            <a:endParaRPr lang="en-US" sz="1350" dirty="0"/>
          </a:p>
        </p:txBody>
      </p:sp>
      <p:sp>
        <p:nvSpPr>
          <p:cNvPr id="16" name="Shape 12"/>
          <p:cNvSpPr/>
          <p:nvPr/>
        </p:nvSpPr>
        <p:spPr>
          <a:xfrm>
            <a:off x="5689397" y="2309774"/>
            <a:ext cx="2729027" cy="10058"/>
          </a:xfrm>
          <a:prstGeom prst="rect">
            <a:avLst/>
          </a:prstGeom>
          <a:solidFill>
            <a:srgbClr val="EFEAE0"/>
          </a:solidFill>
          <a:ln/>
        </p:spPr>
      </p:sp>
      <p:sp>
        <p:nvSpPr>
          <p:cNvPr id="17" name="Text 13"/>
          <p:cNvSpPr/>
          <p:nvPr/>
        </p:nvSpPr>
        <p:spPr>
          <a:xfrm>
            <a:off x="8802472" y="165140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18" name="Text 14"/>
          <p:cNvSpPr/>
          <p:nvPr/>
        </p:nvSpPr>
        <p:spPr>
          <a:xfrm>
            <a:off x="8802472" y="188915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2,000万円</a:t>
            </a:r>
            <a:endParaRPr lang="en-US" sz="1350" dirty="0"/>
          </a:p>
        </p:txBody>
      </p:sp>
      <p:sp>
        <p:nvSpPr>
          <p:cNvPr id="19" name="Shape 15"/>
          <p:cNvSpPr/>
          <p:nvPr/>
        </p:nvSpPr>
        <p:spPr>
          <a:xfrm>
            <a:off x="8802472" y="2309774"/>
            <a:ext cx="2729027" cy="10058"/>
          </a:xfrm>
          <a:prstGeom prst="rect">
            <a:avLst/>
          </a:prstGeom>
          <a:solidFill>
            <a:srgbClr val="EFEAE0"/>
          </a:solidFill>
          <a:ln/>
        </p:spPr>
      </p:sp>
      <p:sp>
        <p:nvSpPr>
          <p:cNvPr id="20" name="Text 16"/>
          <p:cNvSpPr/>
          <p:nvPr/>
        </p:nvSpPr>
        <p:spPr>
          <a:xfrm>
            <a:off x="5689397" y="274868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21" name="Text 17"/>
          <p:cNvSpPr/>
          <p:nvPr/>
        </p:nvSpPr>
        <p:spPr>
          <a:xfrm>
            <a:off x="5689397" y="298643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鈴木 大基</a:t>
            </a:r>
            <a:endParaRPr lang="en-US" sz="1350" dirty="0"/>
          </a:p>
        </p:txBody>
      </p:sp>
      <p:sp>
        <p:nvSpPr>
          <p:cNvPr id="22" name="Shape 18"/>
          <p:cNvSpPr/>
          <p:nvPr/>
        </p:nvSpPr>
        <p:spPr>
          <a:xfrm>
            <a:off x="5689397" y="3407054"/>
            <a:ext cx="2729027" cy="10058"/>
          </a:xfrm>
          <a:prstGeom prst="rect">
            <a:avLst/>
          </a:prstGeom>
          <a:solidFill>
            <a:srgbClr val="EFEAE0"/>
          </a:solidFill>
          <a:ln/>
        </p:spPr>
      </p:sp>
      <p:sp>
        <p:nvSpPr>
          <p:cNvPr id="23" name="Text 19"/>
          <p:cNvSpPr/>
          <p:nvPr/>
        </p:nvSpPr>
        <p:spPr>
          <a:xfrm>
            <a:off x="8802472" y="274868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4" name="Text 20"/>
          <p:cNvSpPr/>
          <p:nvPr/>
        </p:nvSpPr>
        <p:spPr>
          <a:xfrm>
            <a:off x="8802472" y="298643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無人カフェの経営</a:t>
            </a:r>
            <a:endParaRPr lang="en-US" sz="1350" dirty="0"/>
          </a:p>
        </p:txBody>
      </p:sp>
      <p:sp>
        <p:nvSpPr>
          <p:cNvPr id="25" name="Shape 21"/>
          <p:cNvSpPr/>
          <p:nvPr/>
        </p:nvSpPr>
        <p:spPr>
          <a:xfrm>
            <a:off x="8802472" y="3407054"/>
            <a:ext cx="2729027" cy="10058"/>
          </a:xfrm>
          <a:prstGeom prst="rect">
            <a:avLst/>
          </a:prstGeom>
          <a:solidFill>
            <a:srgbClr val="EFEAE0"/>
          </a:solidFill>
          <a:ln/>
        </p:spPr>
      </p:sp>
      <p:sp>
        <p:nvSpPr>
          <p:cNvPr id="26" name="Text 22"/>
          <p:cNvSpPr/>
          <p:nvPr/>
        </p:nvSpPr>
        <p:spPr>
          <a:xfrm>
            <a:off x="5689397" y="384596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7" name="Text 23"/>
          <p:cNvSpPr/>
          <p:nvPr/>
        </p:nvSpPr>
        <p:spPr>
          <a:xfrm>
            <a:off x="5689397" y="408371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2024年5月1日</a:t>
            </a:r>
            <a:endParaRPr lang="en-US" sz="1350" dirty="0"/>
          </a:p>
        </p:txBody>
      </p:sp>
      <p:sp>
        <p:nvSpPr>
          <p:cNvPr id="28" name="Shape 24"/>
          <p:cNvSpPr/>
          <p:nvPr/>
        </p:nvSpPr>
        <p:spPr>
          <a:xfrm>
            <a:off x="5689397" y="4504334"/>
            <a:ext cx="2729027" cy="10058"/>
          </a:xfrm>
          <a:prstGeom prst="rect">
            <a:avLst/>
          </a:prstGeom>
          <a:solidFill>
            <a:srgbClr val="EFEAE0"/>
          </a:solidFill>
          <a:ln/>
        </p:spPr>
      </p:sp>
      <p:sp>
        <p:nvSpPr>
          <p:cNvPr id="29" name="Text 25"/>
          <p:cNvSpPr/>
          <p:nvPr/>
        </p:nvSpPr>
        <p:spPr>
          <a:xfrm>
            <a:off x="8802472" y="384596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30" name="Text 26"/>
          <p:cNvSpPr/>
          <p:nvPr/>
        </p:nvSpPr>
        <p:spPr>
          <a:xfrm>
            <a:off x="8802472" y="408371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https://selfcafe.jp/</a:t>
            </a:r>
            <a:endParaRPr lang="en-US" sz="1350" dirty="0"/>
          </a:p>
        </p:txBody>
      </p:sp>
      <p:sp>
        <p:nvSpPr>
          <p:cNvPr id="31" name="Shape 27"/>
          <p:cNvSpPr/>
          <p:nvPr/>
        </p:nvSpPr>
        <p:spPr>
          <a:xfrm>
            <a:off x="8802472" y="4504334"/>
            <a:ext cx="2729027" cy="10058"/>
          </a:xfrm>
          <a:prstGeom prst="rect">
            <a:avLst/>
          </a:prstGeom>
          <a:solidFill>
            <a:srgbClr val="EFEAE0"/>
          </a:solidFill>
          <a:ln/>
        </p:spPr>
      </p:sp>
      <p:sp>
        <p:nvSpPr>
          <p:cNvPr id="32" name="Shape 28"/>
          <p:cNvSpPr/>
          <p:nvPr/>
        </p:nvSpPr>
        <p:spPr>
          <a:xfrm>
            <a:off x="5689397" y="5491886"/>
            <a:ext cx="5842102" cy="475488"/>
          </a:xfrm>
          <a:prstGeom prst="roundRect">
            <a:avLst>
              <a:gd name="adj" fmla="val 9615"/>
            </a:avLst>
          </a:prstGeom>
          <a:solidFill>
            <a:srgbClr val="F1F8F3"/>
          </a:solidFill>
          <a:ln/>
        </p:spPr>
      </p:sp>
      <p:sp>
        <p:nvSpPr>
          <p:cNvPr id="33" name="Text 29"/>
          <p:cNvSpPr/>
          <p:nvPr/>
        </p:nvSpPr>
        <p:spPr>
          <a:xfrm>
            <a:off x="5872277" y="5491886"/>
            <a:ext cx="5476342" cy="475488"/>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pPr indent="0" marL="0">
              <a:buNone/>
            </a:pPr>
            <a:r>
              <a:rPr lang="en-US" sz="1050" b="1" dirty="0">
                <a:solidFill>
                  <a:srgbClr val="1B8149"/>
                </a:solidFill>
                <a:latin typeface="Yu Gothic" pitchFamily="34" charset="0"/>
                <a:ea typeface="Yu Gothic" pitchFamily="34" charset="-122"/>
                <a:cs typeface="Yu Gothic" pitchFamily="34" charset="-120"/>
              </a:rPr>
              <a:t>   市場背景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社会背景と市場性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現代社会が抱える3つの課題が、無人カフェの需要をつくっています。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3453079" cy="3657600"/>
          </a:xfrm>
          <a:prstGeom prst="roundRect">
            <a:avLst>
              <a:gd name="adj" fmla="val 1589"/>
            </a:avLst>
          </a:prstGeom>
          <a:solidFill>
            <a:srgbClr val="FFFFFF"/>
          </a:solidFill>
          <a:ln w="9525">
            <a:solidFill>
              <a:srgbClr val="EFEAE0"/>
            </a:solidFill>
            <a:prstDash val="solid"/>
          </a:ln>
        </p:spPr>
      </p:sp>
      <p:sp>
        <p:nvSpPr>
          <p:cNvPr id="10" name="Text 7"/>
          <p:cNvSpPr/>
          <p:nvPr/>
        </p:nvSpPr>
        <p:spPr>
          <a:xfrm>
            <a:off x="91622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26892" y="1889150"/>
            <a:ext cx="402336" cy="402336"/>
          </a:xfrm>
          <a:prstGeom prst="rect">
            <a:avLst/>
          </a:prstGeom>
        </p:spPr>
      </p:pic>
      <p:sp>
        <p:nvSpPr>
          <p:cNvPr id="12" name="Text 8"/>
          <p:cNvSpPr/>
          <p:nvPr/>
        </p:nvSpPr>
        <p:spPr>
          <a:xfrm>
            <a:off x="916229"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深刻な労働力不足</a:t>
            </a:r>
            <a:endParaRPr lang="en-US" sz="1600" dirty="0"/>
          </a:p>
        </p:txBody>
      </p:sp>
      <p:sp>
        <p:nvSpPr>
          <p:cNvPr id="13" name="Shape 9"/>
          <p:cNvSpPr/>
          <p:nvPr/>
        </p:nvSpPr>
        <p:spPr>
          <a:xfrm>
            <a:off x="916229" y="2693822"/>
            <a:ext cx="2941015" cy="10058"/>
          </a:xfrm>
          <a:prstGeom prst="rect">
            <a:avLst/>
          </a:prstGeom>
          <a:solidFill>
            <a:srgbClr val="EFEAE0"/>
          </a:solidFill>
          <a:ln/>
        </p:spPr>
      </p:sp>
      <p:sp>
        <p:nvSpPr>
          <p:cNvPr id="14" name="Text 10"/>
          <p:cNvSpPr/>
          <p:nvPr/>
        </p:nvSpPr>
        <p:spPr>
          <a:xfrm>
            <a:off x="916229"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少子高齢化と働き手の価値観の変化でサービス業の人手確保が難しくなり、人件費が上昇して経営負担が増している。</a:t>
            </a:r>
            <a:endParaRPr lang="en-US" sz="1050" dirty="0"/>
          </a:p>
        </p:txBody>
      </p:sp>
      <p:sp>
        <p:nvSpPr>
          <p:cNvPr id="15" name="Shape 11"/>
          <p:cNvSpPr/>
          <p:nvPr/>
        </p:nvSpPr>
        <p:spPr>
          <a:xfrm>
            <a:off x="916229" y="4522622"/>
            <a:ext cx="2941015" cy="512064"/>
          </a:xfrm>
          <a:prstGeom prst="roundRect">
            <a:avLst>
              <a:gd name="adj" fmla="val 8929"/>
            </a:avLst>
          </a:prstGeom>
          <a:solidFill>
            <a:srgbClr val="F1F8F3"/>
          </a:solidFill>
          <a:ln/>
        </p:spPr>
      </p:sp>
      <p:pic>
        <p:nvPicPr>
          <p:cNvPr id="16" name="Image 2" descr="/home/user/suzuki-ceo/selfcafe-partner-deck/assets/icons/LuTrendingUp-green.png">    </p:cNvPr>
          <p:cNvPicPr>
            <a:picLocks noChangeAspect="1"/>
          </p:cNvPicPr>
          <p:nvPr/>
        </p:nvPicPr>
        <p:blipFill>
          <a:blip r:embed="rId3"/>
          <a:stretch>
            <a:fillRect/>
          </a:stretch>
        </p:blipFill>
        <p:spPr>
          <a:xfrm>
            <a:off x="1062533" y="4659782"/>
            <a:ext cx="237744" cy="237744"/>
          </a:xfrm>
          <a:prstGeom prst="rect">
            <a:avLst/>
          </a:prstGeom>
        </p:spPr>
      </p:pic>
      <p:sp>
        <p:nvSpPr>
          <p:cNvPr id="17" name="Text 12"/>
          <p:cNvSpPr/>
          <p:nvPr/>
        </p:nvSpPr>
        <p:spPr>
          <a:xfrm>
            <a:off x="1373429"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人に依存しない店舗フォーマットが必要</a:t>
            </a:r>
            <a:endParaRPr lang="en-US" sz="1000" dirty="0"/>
          </a:p>
        </p:txBody>
      </p:sp>
      <p:sp>
        <p:nvSpPr>
          <p:cNvPr id="18" name="Shape 13"/>
          <p:cNvSpPr/>
          <p:nvPr/>
        </p:nvSpPr>
        <p:spPr>
          <a:xfrm>
            <a:off x="4369308" y="1651406"/>
            <a:ext cx="3453079" cy="3657600"/>
          </a:xfrm>
          <a:prstGeom prst="roundRect">
            <a:avLst>
              <a:gd name="adj" fmla="val 1589"/>
            </a:avLst>
          </a:prstGeom>
          <a:solidFill>
            <a:srgbClr val="FFFFFF"/>
          </a:solidFill>
          <a:ln w="9525">
            <a:solidFill>
              <a:srgbClr val="EFEAE0"/>
            </a:solidFill>
            <a:prstDash val="solid"/>
          </a:ln>
        </p:spPr>
      </p:sp>
      <p:sp>
        <p:nvSpPr>
          <p:cNvPr id="19" name="Text 14"/>
          <p:cNvSpPr/>
          <p:nvPr/>
        </p:nvSpPr>
        <p:spPr>
          <a:xfrm>
            <a:off x="4625340"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02</a:t>
            </a:r>
            <a:endParaRPr lang="en-US" sz="900" dirty="0"/>
          </a:p>
        </p:txBody>
      </p:sp>
      <p:pic>
        <p:nvPicPr>
          <p:cNvPr id="20" name="Image 3" descr="/home/user/suzuki-ceo/selfcafe-partner-deck/assets/icons/LuLaptop-green.png">    </p:cNvPr>
          <p:cNvPicPr>
            <a:picLocks noChangeAspect="1"/>
          </p:cNvPicPr>
          <p:nvPr/>
        </p:nvPicPr>
        <p:blipFill>
          <a:blip r:embed="rId4"/>
          <a:stretch>
            <a:fillRect/>
          </a:stretch>
        </p:blipFill>
        <p:spPr>
          <a:xfrm>
            <a:off x="7036003" y="1889150"/>
            <a:ext cx="402336" cy="402336"/>
          </a:xfrm>
          <a:prstGeom prst="rect">
            <a:avLst/>
          </a:prstGeom>
        </p:spPr>
      </p:pic>
      <p:sp>
        <p:nvSpPr>
          <p:cNvPr id="21" name="Text 15"/>
          <p:cNvSpPr/>
          <p:nvPr/>
        </p:nvSpPr>
        <p:spPr>
          <a:xfrm>
            <a:off x="4625340"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サードプレイスの枯渇</a:t>
            </a:r>
            <a:endParaRPr lang="en-US" sz="1600" dirty="0"/>
          </a:p>
        </p:txBody>
      </p:sp>
      <p:sp>
        <p:nvSpPr>
          <p:cNvPr id="22" name="Shape 16"/>
          <p:cNvSpPr/>
          <p:nvPr/>
        </p:nvSpPr>
        <p:spPr>
          <a:xfrm>
            <a:off x="4625340" y="2693822"/>
            <a:ext cx="2941015" cy="10058"/>
          </a:xfrm>
          <a:prstGeom prst="rect">
            <a:avLst/>
          </a:prstGeom>
          <a:solidFill>
            <a:srgbClr val="EFEAE0"/>
          </a:solidFill>
          <a:ln/>
        </p:spPr>
      </p:sp>
      <p:sp>
        <p:nvSpPr>
          <p:cNvPr id="23" name="Text 17"/>
          <p:cNvSpPr/>
          <p:nvPr/>
        </p:nvSpPr>
        <p:spPr>
          <a:xfrm>
            <a:off x="4625340"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リモートワークの普及で自宅以外の手頃な作業場所が不足し、カフェやコワーキングは価格や混雑の課題が残り、学習スペースも制限が多く気軽に利用できない。</a:t>
            </a:r>
            <a:endParaRPr lang="en-US" sz="1050" dirty="0"/>
          </a:p>
        </p:txBody>
      </p:sp>
      <p:sp>
        <p:nvSpPr>
          <p:cNvPr id="24" name="Shape 18"/>
          <p:cNvSpPr/>
          <p:nvPr/>
        </p:nvSpPr>
        <p:spPr>
          <a:xfrm>
            <a:off x="4625340" y="4522622"/>
            <a:ext cx="2941015" cy="512064"/>
          </a:xfrm>
          <a:prstGeom prst="roundRect">
            <a:avLst>
              <a:gd name="adj" fmla="val 8929"/>
            </a:avLst>
          </a:prstGeom>
          <a:solidFill>
            <a:srgbClr val="F1F8F3"/>
          </a:solidFill>
          <a:ln/>
        </p:spPr>
      </p:sp>
      <p:pic>
        <p:nvPicPr>
          <p:cNvPr id="25" name="Image 4" descr="/home/user/suzuki-ceo/selfcafe-partner-deck/assets/icons/LuTrendingUp-green.png">    </p:cNvPr>
          <p:cNvPicPr>
            <a:picLocks noChangeAspect="1"/>
          </p:cNvPicPr>
          <p:nvPr/>
        </p:nvPicPr>
        <p:blipFill>
          <a:blip r:embed="rId5"/>
          <a:stretch>
            <a:fillRect/>
          </a:stretch>
        </p:blipFill>
        <p:spPr>
          <a:xfrm>
            <a:off x="4771644" y="4659782"/>
            <a:ext cx="237744" cy="237744"/>
          </a:xfrm>
          <a:prstGeom prst="rect">
            <a:avLst/>
          </a:prstGeom>
        </p:spPr>
      </p:pic>
      <p:sp>
        <p:nvSpPr>
          <p:cNvPr id="26" name="Text 19"/>
          <p:cNvSpPr/>
          <p:nvPr/>
        </p:nvSpPr>
        <p:spPr>
          <a:xfrm>
            <a:off x="5082540"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手頃で気軽に使える作業場所への需要</a:t>
            </a:r>
            <a:endParaRPr lang="en-US" sz="1000" dirty="0"/>
          </a:p>
        </p:txBody>
      </p:sp>
      <p:sp>
        <p:nvSpPr>
          <p:cNvPr id="27" name="Shape 20"/>
          <p:cNvSpPr/>
          <p:nvPr/>
        </p:nvSpPr>
        <p:spPr>
          <a:xfrm>
            <a:off x="8078419" y="1651406"/>
            <a:ext cx="3453079" cy="3657600"/>
          </a:xfrm>
          <a:prstGeom prst="roundRect">
            <a:avLst>
              <a:gd name="adj" fmla="val 1589"/>
            </a:avLst>
          </a:prstGeom>
          <a:solidFill>
            <a:srgbClr val="FFFFFF"/>
          </a:solidFill>
          <a:ln w="9525">
            <a:solidFill>
              <a:srgbClr val="EFEAE0"/>
            </a:solidFill>
            <a:prstDash val="solid"/>
          </a:ln>
        </p:spPr>
      </p:sp>
      <p:sp>
        <p:nvSpPr>
          <p:cNvPr id="28" name="Text 21"/>
          <p:cNvSpPr/>
          <p:nvPr/>
        </p:nvSpPr>
        <p:spPr>
          <a:xfrm>
            <a:off x="833445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03</a:t>
            </a:r>
            <a:endParaRPr lang="en-US" sz="900" dirty="0"/>
          </a:p>
        </p:txBody>
      </p:sp>
      <p:pic>
        <p:nvPicPr>
          <p:cNvPr id="29" name="Image 5" descr="/home/user/suzuki-ceo/selfcafe-partner-deck/assets/icons/LuBuilding2-green.png">    </p:cNvPr>
          <p:cNvPicPr>
            <a:picLocks noChangeAspect="1"/>
          </p:cNvPicPr>
          <p:nvPr/>
        </p:nvPicPr>
        <p:blipFill>
          <a:blip r:embed="rId6"/>
          <a:stretch>
            <a:fillRect/>
          </a:stretch>
        </p:blipFill>
        <p:spPr>
          <a:xfrm>
            <a:off x="10745114" y="1889150"/>
            <a:ext cx="402336" cy="402336"/>
          </a:xfrm>
          <a:prstGeom prst="rect">
            <a:avLst/>
          </a:prstGeom>
        </p:spPr>
      </p:pic>
      <p:sp>
        <p:nvSpPr>
          <p:cNvPr id="30" name="Text 22"/>
          <p:cNvSpPr/>
          <p:nvPr/>
        </p:nvSpPr>
        <p:spPr>
          <a:xfrm>
            <a:off x="8334451"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遊休資産の有効活用</a:t>
            </a:r>
            <a:endParaRPr lang="en-US" sz="1600" dirty="0"/>
          </a:p>
        </p:txBody>
      </p:sp>
      <p:sp>
        <p:nvSpPr>
          <p:cNvPr id="31" name="Shape 23"/>
          <p:cNvSpPr/>
          <p:nvPr/>
        </p:nvSpPr>
        <p:spPr>
          <a:xfrm>
            <a:off x="8334451" y="2693822"/>
            <a:ext cx="2941015" cy="10058"/>
          </a:xfrm>
          <a:prstGeom prst="rect">
            <a:avLst/>
          </a:prstGeom>
          <a:solidFill>
            <a:srgbClr val="EFEAE0"/>
          </a:solidFill>
          <a:ln/>
        </p:spPr>
      </p:sp>
      <p:sp>
        <p:nvSpPr>
          <p:cNvPr id="32" name="Text 24"/>
          <p:cNvSpPr/>
          <p:nvPr/>
        </p:nvSpPr>
        <p:spPr>
          <a:xfrm>
            <a:off x="8334451"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ビル空室やデッドスペースが増え、従来のテナント誘致だけでは埋まらず、新たな活用モデルの開発が求められている。</a:t>
            </a:r>
            <a:endParaRPr lang="en-US" sz="1050" dirty="0"/>
          </a:p>
        </p:txBody>
      </p:sp>
      <p:sp>
        <p:nvSpPr>
          <p:cNvPr id="33" name="Shape 25"/>
          <p:cNvSpPr/>
          <p:nvPr/>
        </p:nvSpPr>
        <p:spPr>
          <a:xfrm>
            <a:off x="8334451" y="4522622"/>
            <a:ext cx="2941015" cy="512064"/>
          </a:xfrm>
          <a:prstGeom prst="roundRect">
            <a:avLst>
              <a:gd name="adj" fmla="val 8929"/>
            </a:avLst>
          </a:prstGeom>
          <a:solidFill>
            <a:srgbClr val="F1F8F3"/>
          </a:solidFill>
          <a:ln/>
        </p:spPr>
      </p:sp>
      <p:pic>
        <p:nvPicPr>
          <p:cNvPr id="34" name="Image 6" descr="/home/user/suzuki-ceo/selfcafe-partner-deck/assets/icons/LuTrendingUp-green.png">    </p:cNvPr>
          <p:cNvPicPr>
            <a:picLocks noChangeAspect="1"/>
          </p:cNvPicPr>
          <p:nvPr/>
        </p:nvPicPr>
        <p:blipFill>
          <a:blip r:embed="rId7"/>
          <a:stretch>
            <a:fillRect/>
          </a:stretch>
        </p:blipFill>
        <p:spPr>
          <a:xfrm>
            <a:off x="8480755" y="4659782"/>
            <a:ext cx="237744" cy="237744"/>
          </a:xfrm>
          <a:prstGeom prst="rect">
            <a:avLst/>
          </a:prstGeom>
        </p:spPr>
      </p:pic>
      <p:sp>
        <p:nvSpPr>
          <p:cNvPr id="35" name="Text 26"/>
          <p:cNvSpPr/>
          <p:nvPr/>
        </p:nvSpPr>
        <p:spPr>
          <a:xfrm>
            <a:off x="8791651"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空きスペースを収益化する新しいモデル</a:t>
            </a:r>
            <a:endParaRPr lang="en-US" sz="1000" dirty="0"/>
          </a:p>
        </p:txBody>
      </p:sp>
      <p:sp>
        <p:nvSpPr>
          <p:cNvPr id="36"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課題認識は当社の市場理解に基づく整理です。</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pPr indent="0" marL="0">
              <a:buNone/>
            </a:pPr>
            <a:r>
              <a:rPr lang="en-US" sz="1050" b="1" dirty="0">
                <a:solidFill>
                  <a:srgbClr val="1B8149"/>
                </a:solidFill>
                <a:latin typeface="Yu Gothic" pitchFamily="34" charset="0"/>
                <a:ea typeface="Yu Gothic" pitchFamily="34" charset="-122"/>
                <a:cs typeface="Yu Gothic" pitchFamily="34" charset="-120"/>
              </a:rPr>
              <a:t>   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人手不足対策：無人管理の優位性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運営から「人」の変数を外すと、コスト・品質・安定性が同時に改善します。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Shape 6"/>
          <p:cNvSpPr/>
          <p:nvPr/>
        </p:nvSpPr>
        <p:spPr>
          <a:xfrm>
            <a:off x="660197" y="1651406"/>
            <a:ext cx="4206240" cy="4315968"/>
          </a:xfrm>
          <a:prstGeom prst="roundRect">
            <a:avLst>
              <a:gd name="adj" fmla="val 1304"/>
            </a:avLst>
          </a:prstGeom>
          <a:solidFill>
            <a:srgbClr val="0C5230"/>
          </a:solidFill>
          <a:ln/>
        </p:spPr>
      </p:sp>
      <p:sp>
        <p:nvSpPr>
          <p:cNvPr id="10" name="Text 7"/>
          <p:cNvSpPr/>
          <p:nvPr/>
        </p:nvSpPr>
        <p:spPr>
          <a:xfrm>
            <a:off x="1062533" y="2053742"/>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CORE CONCEPT</a:t>
            </a:r>
            <a:endParaRPr lang="en-US" sz="900" dirty="0"/>
          </a:p>
        </p:txBody>
      </p:sp>
      <p:sp>
        <p:nvSpPr>
          <p:cNvPr id="11" name="Text 8"/>
          <p:cNvSpPr/>
          <p:nvPr/>
        </p:nvSpPr>
        <p:spPr>
          <a:xfrm>
            <a:off x="1062533" y="2437790"/>
            <a:ext cx="3401568" cy="1371600"/>
          </a:xfrm>
          <a:prstGeom prst="rect">
            <a:avLst/>
          </a:prstGeom>
          <a:noFill/>
          <a:ln/>
        </p:spPr>
        <p:txBody>
          <a:bodyPr wrap="square" lIns="0" tIns="0" rIns="0" bIns="0" rtlCol="0" anchor="t"/>
          <a:lstStyle/>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「人」に</a:t>
            </a:r>
            <a:endParaRPr lang="en-US" sz="2800" dirty="0"/>
          </a:p>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頼らない経営へ</a:t>
            </a:r>
            <a:endParaRPr lang="en-US" sz="2800" dirty="0"/>
          </a:p>
        </p:txBody>
      </p:sp>
      <p:sp>
        <p:nvSpPr>
          <p:cNvPr id="12" name="Shape 9"/>
          <p:cNvSpPr/>
          <p:nvPr/>
        </p:nvSpPr>
        <p:spPr>
          <a:xfrm>
            <a:off x="1062533" y="3937406"/>
            <a:ext cx="713232" cy="25603"/>
          </a:xfrm>
          <a:prstGeom prst="rect">
            <a:avLst/>
          </a:prstGeom>
          <a:solidFill>
            <a:srgbClr val="C79A44"/>
          </a:solidFill>
          <a:ln/>
        </p:spPr>
      </p:sp>
      <p:sp>
        <p:nvSpPr>
          <p:cNvPr id="13" name="Text 10"/>
          <p:cNvSpPr/>
          <p:nvPr/>
        </p:nvSpPr>
        <p:spPr>
          <a:xfrm>
            <a:off x="1062533" y="4138574"/>
            <a:ext cx="3401568" cy="1188720"/>
          </a:xfrm>
          <a:prstGeom prst="rect">
            <a:avLst/>
          </a:prstGeom>
          <a:noFill/>
          <a:ln/>
        </p:spPr>
        <p:txBody>
          <a:bodyPr wrap="square" lIns="0" tIns="0" rIns="0" bIns="0" rtlCol="0" anchor="t"/>
          <a:lstStyle/>
          <a:p>
            <a:pPr indent="0" marL="0">
              <a:lnSpc>
                <a:spcPct val="150000"/>
              </a:lnSpc>
              <a:buNone/>
            </a:pPr>
            <a:r>
              <a:rPr lang="en-US" sz="1150" dirty="0">
                <a:solidFill>
                  <a:srgbClr val="AFC2B8"/>
                </a:solidFill>
                <a:latin typeface="Yu Gothic" pitchFamily="34" charset="0"/>
                <a:ea typeface="Yu Gothic" pitchFamily="34" charset="-122"/>
                <a:cs typeface="Yu Gothic" pitchFamily="34" charset="-120"/>
              </a:rPr>
              <a:t>スタッフの採用・教育・シフト管理という、店舗運営でもっとも重い変動要素を仕組みで置き換えます。</a:t>
            </a:r>
            <a:endParaRPr lang="en-US" sz="1150" dirty="0"/>
          </a:p>
        </p:txBody>
      </p:sp>
      <p:pic>
        <p:nvPicPr>
          <p:cNvPr id="14" name="Image 1" descr="/home/user/suzuki-ceo/selfcafe-partner-deck/assets/icons/LuUsers-pale.png">    </p:cNvPr>
          <p:cNvPicPr>
            <a:picLocks noChangeAspect="1"/>
          </p:cNvPicPr>
          <p:nvPr/>
        </p:nvPicPr>
        <p:blipFill>
          <a:blip r:embed="rId2"/>
          <a:stretch>
            <a:fillRect/>
          </a:stretch>
        </p:blipFill>
        <p:spPr>
          <a:xfrm>
            <a:off x="3824021" y="5052974"/>
            <a:ext cx="566928" cy="566928"/>
          </a:xfrm>
          <a:prstGeom prst="rect">
            <a:avLst/>
          </a:prstGeom>
        </p:spPr>
      </p:pic>
      <p:sp>
        <p:nvSpPr>
          <p:cNvPr id="15" name="Shape 11"/>
          <p:cNvSpPr/>
          <p:nvPr/>
        </p:nvSpPr>
        <p:spPr>
          <a:xfrm>
            <a:off x="5250485" y="1651406"/>
            <a:ext cx="6281014" cy="1316736"/>
          </a:xfrm>
          <a:prstGeom prst="roundRect">
            <a:avLst>
              <a:gd name="adj" fmla="val 4167"/>
            </a:avLst>
          </a:prstGeom>
          <a:solidFill>
            <a:srgbClr val="FFFFFF"/>
          </a:solidFill>
          <a:ln w="9525">
            <a:solidFill>
              <a:srgbClr val="EFEAE0"/>
            </a:solidFill>
            <a:prstDash val="solid"/>
          </a:ln>
        </p:spPr>
      </p:sp>
      <p:sp>
        <p:nvSpPr>
          <p:cNvPr id="16" name="Text 12"/>
          <p:cNvSpPr/>
          <p:nvPr/>
        </p:nvSpPr>
        <p:spPr>
          <a:xfrm>
            <a:off x="5524805" y="1925726"/>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1</a:t>
            </a:r>
            <a:endParaRPr lang="en-US" sz="2200" dirty="0"/>
          </a:p>
        </p:txBody>
      </p:sp>
      <p:sp>
        <p:nvSpPr>
          <p:cNvPr id="17" name="Text 13"/>
          <p:cNvSpPr/>
          <p:nvPr/>
        </p:nvSpPr>
        <p:spPr>
          <a:xfrm>
            <a:off x="6000293" y="1907438"/>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管理・教育コストの大幅削減</a:t>
            </a:r>
            <a:endParaRPr lang="en-US" sz="1500" dirty="0"/>
          </a:p>
        </p:txBody>
      </p:sp>
      <p:sp>
        <p:nvSpPr>
          <p:cNvPr id="18" name="Text 14"/>
          <p:cNvSpPr/>
          <p:nvPr/>
        </p:nvSpPr>
        <p:spPr>
          <a:xfrm>
            <a:off x="6000293" y="2309774"/>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スタッフ管理に伴う工数や人的リスクを抑え、運営にかかる負担を軽減します。</a:t>
            </a:r>
            <a:endParaRPr lang="en-US" sz="1050" dirty="0"/>
          </a:p>
        </p:txBody>
      </p:sp>
      <p:pic>
        <p:nvPicPr>
          <p:cNvPr id="19" name="Image 2" descr="/home/user/suzuki-ceo/selfcafe-partner-deck/assets/icons/LuClipboardList-green.png">    </p:cNvPr>
          <p:cNvPicPr>
            <a:picLocks noChangeAspect="1"/>
          </p:cNvPicPr>
          <p:nvPr/>
        </p:nvPicPr>
        <p:blipFill>
          <a:blip r:embed="rId3"/>
          <a:stretch>
            <a:fillRect/>
          </a:stretch>
        </p:blipFill>
        <p:spPr>
          <a:xfrm>
            <a:off x="10873130" y="1925726"/>
            <a:ext cx="329184" cy="329184"/>
          </a:xfrm>
          <a:prstGeom prst="rect">
            <a:avLst/>
          </a:prstGeom>
        </p:spPr>
      </p:pic>
      <p:sp>
        <p:nvSpPr>
          <p:cNvPr id="20" name="Shape 15"/>
          <p:cNvSpPr/>
          <p:nvPr/>
        </p:nvSpPr>
        <p:spPr>
          <a:xfrm>
            <a:off x="5250485" y="3151022"/>
            <a:ext cx="6281014" cy="1316736"/>
          </a:xfrm>
          <a:prstGeom prst="roundRect">
            <a:avLst>
              <a:gd name="adj" fmla="val 4167"/>
            </a:avLst>
          </a:prstGeom>
          <a:solidFill>
            <a:srgbClr val="FFFFFF"/>
          </a:solidFill>
          <a:ln w="9525">
            <a:solidFill>
              <a:srgbClr val="EFEAE0"/>
            </a:solidFill>
            <a:prstDash val="solid"/>
          </a:ln>
        </p:spPr>
      </p:sp>
      <p:sp>
        <p:nvSpPr>
          <p:cNvPr id="21" name="Text 16"/>
          <p:cNvSpPr/>
          <p:nvPr/>
        </p:nvSpPr>
        <p:spPr>
          <a:xfrm>
            <a:off x="5524805" y="3425342"/>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2</a:t>
            </a:r>
            <a:endParaRPr lang="en-US" sz="2200" dirty="0"/>
          </a:p>
        </p:txBody>
      </p:sp>
      <p:sp>
        <p:nvSpPr>
          <p:cNvPr id="22" name="Text 17"/>
          <p:cNvSpPr/>
          <p:nvPr/>
        </p:nvSpPr>
        <p:spPr>
          <a:xfrm>
            <a:off x="6000293" y="3407054"/>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省人力運営で、無駄な人件費をカット</a:t>
            </a:r>
            <a:endParaRPr lang="en-US" sz="1500" dirty="0"/>
          </a:p>
        </p:txBody>
      </p:sp>
      <p:sp>
        <p:nvSpPr>
          <p:cNvPr id="23" name="Text 18"/>
          <p:cNvSpPr/>
          <p:nvPr/>
        </p:nvSpPr>
        <p:spPr>
          <a:xfrm>
            <a:off x="6000293" y="3809390"/>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必要最小限の作業で回る仕組みにより、人件費を抑えながら安定した収益を確保できます。</a:t>
            </a:r>
            <a:endParaRPr lang="en-US" sz="1050" dirty="0"/>
          </a:p>
        </p:txBody>
      </p:sp>
      <p:pic>
        <p:nvPicPr>
          <p:cNvPr id="24" name="Image 3" descr="/home/user/suzuki-ceo/selfcafe-partner-deck/assets/icons/LuPiggyBank-green.png">    </p:cNvPr>
          <p:cNvPicPr>
            <a:picLocks noChangeAspect="1"/>
          </p:cNvPicPr>
          <p:nvPr/>
        </p:nvPicPr>
        <p:blipFill>
          <a:blip r:embed="rId4"/>
          <a:stretch>
            <a:fillRect/>
          </a:stretch>
        </p:blipFill>
        <p:spPr>
          <a:xfrm>
            <a:off x="10873130" y="3425342"/>
            <a:ext cx="329184" cy="329184"/>
          </a:xfrm>
          <a:prstGeom prst="rect">
            <a:avLst/>
          </a:prstGeom>
        </p:spPr>
      </p:pic>
      <p:sp>
        <p:nvSpPr>
          <p:cNvPr id="25" name="Shape 19"/>
          <p:cNvSpPr/>
          <p:nvPr/>
        </p:nvSpPr>
        <p:spPr>
          <a:xfrm>
            <a:off x="5250485" y="4650638"/>
            <a:ext cx="6281014" cy="1316736"/>
          </a:xfrm>
          <a:prstGeom prst="roundRect">
            <a:avLst>
              <a:gd name="adj" fmla="val 4167"/>
            </a:avLst>
          </a:prstGeom>
          <a:solidFill>
            <a:srgbClr val="FFFFFF"/>
          </a:solidFill>
          <a:ln w="9525">
            <a:solidFill>
              <a:srgbClr val="EFEAE0"/>
            </a:solidFill>
            <a:prstDash val="solid"/>
          </a:ln>
        </p:spPr>
      </p:sp>
      <p:sp>
        <p:nvSpPr>
          <p:cNvPr id="26" name="Text 20"/>
          <p:cNvSpPr/>
          <p:nvPr/>
        </p:nvSpPr>
        <p:spPr>
          <a:xfrm>
            <a:off x="5524805" y="4924958"/>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3</a:t>
            </a:r>
            <a:endParaRPr lang="en-US" sz="2200" dirty="0"/>
          </a:p>
        </p:txBody>
      </p:sp>
      <p:sp>
        <p:nvSpPr>
          <p:cNvPr id="27" name="Text 21"/>
          <p:cNvSpPr/>
          <p:nvPr/>
        </p:nvSpPr>
        <p:spPr>
          <a:xfrm>
            <a:off x="6000293" y="4906670"/>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安定した収益と品質</a:t>
            </a:r>
            <a:endParaRPr lang="en-US" sz="1500" dirty="0"/>
          </a:p>
        </p:txBody>
      </p:sp>
      <p:sp>
        <p:nvSpPr>
          <p:cNvPr id="28" name="Text 22"/>
          <p:cNvSpPr/>
          <p:nvPr/>
        </p:nvSpPr>
        <p:spPr>
          <a:xfrm>
            <a:off x="6000293" y="5309006"/>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属人性を排除することで、常に均一したサービス品質を維持し、運営の安定性を高めます。</a:t>
            </a:r>
            <a:endParaRPr lang="en-US" sz="1050" dirty="0"/>
          </a:p>
        </p:txBody>
      </p:sp>
      <p:pic>
        <p:nvPicPr>
          <p:cNvPr id="29" name="Image 4" descr="/home/user/suzuki-ceo/selfcafe-partner-deck/assets/icons/LuBadgeCheck-green.png">    </p:cNvPr>
          <p:cNvPicPr>
            <a:picLocks noChangeAspect="1"/>
          </p:cNvPicPr>
          <p:nvPr/>
        </p:nvPicPr>
        <p:blipFill>
          <a:blip r:embed="rId5"/>
          <a:stretch>
            <a:fillRect/>
          </a:stretch>
        </p:blipFill>
        <p:spPr>
          <a:xfrm>
            <a:off x="10873130" y="4924958"/>
            <a:ext cx="329184" cy="32918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pPr indent="0" marL="0">
              <a:buNone/>
            </a:pPr>
            <a:r>
              <a:rPr lang="en-US" sz="1050" b="1" dirty="0">
                <a:solidFill>
                  <a:srgbClr val="1B8149"/>
                </a:solidFill>
                <a:latin typeface="Yu Gothic" pitchFamily="34" charset="0"/>
                <a:ea typeface="Yu Gothic" pitchFamily="34" charset="-122"/>
                <a:cs typeface="Yu Gothic" pitchFamily="34" charset="-120"/>
              </a:rPr>
              <a:t>   不動産活用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持ち物件オーナー様へ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自社物件なら家賃コストがゼロ。売上をダイレクトに利益へ繋げられます。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自社物件なら新規の家賃負担なし</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pPr indent="0" marL="0">
              <a:buNone/>
            </a:pP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必要面積の目安（40席想定）</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650</a:t>
            </a:r>
            <a:pPr indent="0" marL="0">
              <a:buNone/>
            </a:pPr>
            <a:r>
              <a:rPr lang="en-US" sz="1100" b="1" dirty="0">
                <a:solidFill>
                  <a:srgbClr val="106838"/>
                </a:solidFill>
                <a:latin typeface="Yu Gothic" pitchFamily="34" charset="0"/>
                <a:ea typeface="Yu Gothic" pitchFamily="34" charset="-122"/>
                <a:cs typeface="Yu Gothic" pitchFamily="34" charset="-120"/>
              </a:rPr>
              <a:t> 万円〜</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初期費用（居抜き・20坪想定）</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pPr indent="0" marL="0">
              <a:buNone/>
            </a:pP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日常のオーナー業務（清掃・補充）</a:t>
            </a:r>
            <a:endParaRPr lang="en-US" sz="900" dirty="0"/>
          </a:p>
        </p:txBody>
      </p:sp>
      <p:sp>
        <p:nvSpPr>
          <p:cNvPr id="21" name="Shape 18"/>
          <p:cNvSpPr/>
          <p:nvPr/>
        </p:nvSpPr>
        <p:spPr>
          <a:xfrm>
            <a:off x="660197" y="2492654"/>
            <a:ext cx="5243627" cy="2231136"/>
          </a:xfrm>
          <a:prstGeom prst="roundRect">
            <a:avLst>
              <a:gd name="adj" fmla="val 2459"/>
            </a:avLst>
          </a:prstGeom>
          <a:solidFill>
            <a:srgbClr val="FFFFFF"/>
          </a:solidFill>
          <a:ln w="9525">
            <a:solidFill>
              <a:srgbClr val="EFEAE0"/>
            </a:solidFill>
            <a:prstDash val="solid"/>
          </a:ln>
        </p:spPr>
      </p:sp>
      <p:pic>
        <p:nvPicPr>
          <p:cNvPr id="22" name="Image 1" descr="/home/user/suzuki-ceo/selfcafe-partner-deck/assets/icons/LuCoins-green.png">    </p:cNvPr>
          <p:cNvPicPr>
            <a:picLocks noChangeAspect="1"/>
          </p:cNvPicPr>
          <p:nvPr/>
        </p:nvPicPr>
        <p:blipFill>
          <a:blip r:embed="rId2"/>
          <a:stretch>
            <a:fillRect/>
          </a:stretch>
        </p:blipFill>
        <p:spPr>
          <a:xfrm>
            <a:off x="934517" y="2766974"/>
            <a:ext cx="384048" cy="384048"/>
          </a:xfrm>
          <a:prstGeom prst="rect">
            <a:avLst/>
          </a:prstGeom>
        </p:spPr>
      </p:pic>
      <p:sp>
        <p:nvSpPr>
          <p:cNvPr id="23" name="Text 19"/>
          <p:cNvSpPr/>
          <p:nvPr/>
        </p:nvSpPr>
        <p:spPr>
          <a:xfrm>
            <a:off x="1464869"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高い営業利益率</a:t>
            </a:r>
            <a:endParaRPr lang="en-US" sz="1700" dirty="0"/>
          </a:p>
        </p:txBody>
      </p:sp>
      <p:sp>
        <p:nvSpPr>
          <p:cNvPr id="24" name="Text 20"/>
          <p:cNvSpPr/>
          <p:nvPr/>
        </p:nvSpPr>
        <p:spPr>
          <a:xfrm>
            <a:off x="934517"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自社物件なら「家賃コスト」がゼロ。固定費を抑え、売上をダイレクトに利益へ繋げます。</a:t>
            </a:r>
            <a:endParaRPr lang="en-US" sz="1100" dirty="0"/>
          </a:p>
        </p:txBody>
      </p:sp>
      <p:sp>
        <p:nvSpPr>
          <p:cNvPr id="25" name="Shape 21"/>
          <p:cNvSpPr/>
          <p:nvPr/>
        </p:nvSpPr>
        <p:spPr>
          <a:xfrm>
            <a:off x="934517" y="3845966"/>
            <a:ext cx="4694987" cy="10058"/>
          </a:xfrm>
          <a:prstGeom prst="rect">
            <a:avLst/>
          </a:prstGeom>
          <a:solidFill>
            <a:srgbClr val="EFEAE0"/>
          </a:solidFill>
          <a:ln/>
        </p:spPr>
      </p:sp>
      <p:pic>
        <p:nvPicPr>
          <p:cNvPr id="26" name="Image 2" descr="/home/user/suzuki-ceo/selfcafe-partner-deck/assets/icons/LuCheck-green.png">    </p:cNvPr>
          <p:cNvPicPr>
            <a:picLocks noChangeAspect="1"/>
          </p:cNvPicPr>
          <p:nvPr/>
        </p:nvPicPr>
        <p:blipFill>
          <a:blip r:embed="rId3"/>
          <a:stretch>
            <a:fillRect/>
          </a:stretch>
        </p:blipFill>
        <p:spPr>
          <a:xfrm>
            <a:off x="952805" y="3983126"/>
            <a:ext cx="164592" cy="164592"/>
          </a:xfrm>
          <a:prstGeom prst="rect">
            <a:avLst/>
          </a:prstGeom>
        </p:spPr>
      </p:pic>
      <p:sp>
        <p:nvSpPr>
          <p:cNvPr id="27" name="Text 22"/>
          <p:cNvSpPr/>
          <p:nvPr/>
        </p:nvSpPr>
        <p:spPr>
          <a:xfrm>
            <a:off x="1208837"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家賃という最大の固定費が不要</a:t>
            </a:r>
            <a:endParaRPr lang="en-US" sz="1000" dirty="0"/>
          </a:p>
        </p:txBody>
      </p:sp>
      <p:pic>
        <p:nvPicPr>
          <p:cNvPr id="28" name="Image 3" descr="/home/user/suzuki-ceo/selfcafe-partner-deck/assets/icons/LuCheck-green.png">    </p:cNvPr>
          <p:cNvPicPr>
            <a:picLocks noChangeAspect="1"/>
          </p:cNvPicPr>
          <p:nvPr/>
        </p:nvPicPr>
        <p:blipFill>
          <a:blip r:embed="rId4"/>
          <a:stretch>
            <a:fillRect/>
          </a:stretch>
        </p:blipFill>
        <p:spPr>
          <a:xfrm>
            <a:off x="952805" y="4220870"/>
            <a:ext cx="164592" cy="164592"/>
          </a:xfrm>
          <a:prstGeom prst="rect">
            <a:avLst/>
          </a:prstGeom>
        </p:spPr>
      </p:pic>
      <p:sp>
        <p:nvSpPr>
          <p:cNvPr id="29" name="Text 23"/>
          <p:cNvSpPr/>
          <p:nvPr/>
        </p:nvSpPr>
        <p:spPr>
          <a:xfrm>
            <a:off x="1208837"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空室期間の機会損失を収益に転換</a:t>
            </a:r>
            <a:endParaRPr lang="en-US" sz="1000" dirty="0"/>
          </a:p>
        </p:txBody>
      </p:sp>
      <p:pic>
        <p:nvPicPr>
          <p:cNvPr id="30" name="Image 4" descr="/home/user/suzuki-ceo/selfcafe-partner-deck/assets/icons/LuCheck-green.png">    </p:cNvPr>
          <p:cNvPicPr>
            <a:picLocks noChangeAspect="1"/>
          </p:cNvPicPr>
          <p:nvPr/>
        </p:nvPicPr>
        <p:blipFill>
          <a:blip r:embed="rId5"/>
          <a:stretch>
            <a:fillRect/>
          </a:stretch>
        </p:blipFill>
        <p:spPr>
          <a:xfrm>
            <a:off x="952805" y="4458614"/>
            <a:ext cx="164592" cy="164592"/>
          </a:xfrm>
          <a:prstGeom prst="rect">
            <a:avLst/>
          </a:prstGeom>
        </p:spPr>
      </p:pic>
      <p:sp>
        <p:nvSpPr>
          <p:cNvPr id="31" name="Text 24"/>
          <p:cNvSpPr/>
          <p:nvPr/>
        </p:nvSpPr>
        <p:spPr>
          <a:xfrm>
            <a:off x="1208837"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テナント誘致に頼らない自社運用</a:t>
            </a:r>
            <a:endParaRPr lang="en-US" sz="1000" dirty="0"/>
          </a:p>
        </p:txBody>
      </p:sp>
      <p:sp>
        <p:nvSpPr>
          <p:cNvPr id="32" name="Shape 25"/>
          <p:cNvSpPr/>
          <p:nvPr/>
        </p:nvSpPr>
        <p:spPr>
          <a:xfrm>
            <a:off x="6287872" y="2492654"/>
            <a:ext cx="5243627" cy="2231136"/>
          </a:xfrm>
          <a:prstGeom prst="roundRect">
            <a:avLst>
              <a:gd name="adj" fmla="val 2459"/>
            </a:avLst>
          </a:prstGeom>
          <a:solidFill>
            <a:srgbClr val="FFFFFF"/>
          </a:solidFill>
          <a:ln w="9525">
            <a:solidFill>
              <a:srgbClr val="EFEAE0"/>
            </a:solidFill>
            <a:prstDash val="solid"/>
          </a:ln>
        </p:spPr>
      </p:sp>
      <p:pic>
        <p:nvPicPr>
          <p:cNvPr id="33" name="Image 5" descr="/home/user/suzuki-ceo/selfcafe-partner-deck/assets/icons/LuShoppingBag-green.png">    </p:cNvPr>
          <p:cNvPicPr>
            <a:picLocks noChangeAspect="1"/>
          </p:cNvPicPr>
          <p:nvPr/>
        </p:nvPicPr>
        <p:blipFill>
          <a:blip r:embed="rId6"/>
          <a:stretch>
            <a:fillRect/>
          </a:stretch>
        </p:blipFill>
        <p:spPr>
          <a:xfrm>
            <a:off x="6562192" y="2766974"/>
            <a:ext cx="384048" cy="384048"/>
          </a:xfrm>
          <a:prstGeom prst="rect">
            <a:avLst/>
          </a:prstGeom>
        </p:spPr>
      </p:pic>
      <p:sp>
        <p:nvSpPr>
          <p:cNvPr id="34" name="Text 26"/>
          <p:cNvSpPr/>
          <p:nvPr/>
        </p:nvSpPr>
        <p:spPr>
          <a:xfrm>
            <a:off x="7092544"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相乗効果</a:t>
            </a:r>
            <a:endParaRPr lang="en-US" sz="1700" dirty="0"/>
          </a:p>
        </p:txBody>
      </p:sp>
      <p:sp>
        <p:nvSpPr>
          <p:cNvPr id="35" name="Text 27"/>
          <p:cNvSpPr/>
          <p:nvPr/>
        </p:nvSpPr>
        <p:spPr>
          <a:xfrm>
            <a:off x="6562192"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既存事業の「待ち時間」解消や、新規集客のフックとして、カフェは最適の組み合わせです。</a:t>
            </a:r>
            <a:endParaRPr lang="en-US" sz="1100" dirty="0"/>
          </a:p>
        </p:txBody>
      </p:sp>
      <p:sp>
        <p:nvSpPr>
          <p:cNvPr id="36" name="Shape 28"/>
          <p:cNvSpPr/>
          <p:nvPr/>
        </p:nvSpPr>
        <p:spPr>
          <a:xfrm>
            <a:off x="6562192" y="3845966"/>
            <a:ext cx="4694987" cy="10058"/>
          </a:xfrm>
          <a:prstGeom prst="rect">
            <a:avLst/>
          </a:prstGeom>
          <a:solidFill>
            <a:srgbClr val="EFEAE0"/>
          </a:solidFill>
          <a:ln/>
        </p:spPr>
      </p:sp>
      <p:pic>
        <p:nvPicPr>
          <p:cNvPr id="37" name="Image 6" descr="/home/user/suzuki-ceo/selfcafe-partner-deck/assets/icons/LuCheck-green.png">    </p:cNvPr>
          <p:cNvPicPr>
            <a:picLocks noChangeAspect="1"/>
          </p:cNvPicPr>
          <p:nvPr/>
        </p:nvPicPr>
        <p:blipFill>
          <a:blip r:embed="rId7"/>
          <a:stretch>
            <a:fillRect/>
          </a:stretch>
        </p:blipFill>
        <p:spPr>
          <a:xfrm>
            <a:off x="6580480" y="3983126"/>
            <a:ext cx="164592" cy="164592"/>
          </a:xfrm>
          <a:prstGeom prst="rect">
            <a:avLst/>
          </a:prstGeom>
        </p:spPr>
      </p:pic>
      <p:sp>
        <p:nvSpPr>
          <p:cNvPr id="38" name="Text 29"/>
          <p:cNvSpPr/>
          <p:nvPr/>
        </p:nvSpPr>
        <p:spPr>
          <a:xfrm>
            <a:off x="6836512"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書店・美容室・整体院・病院の待合と好相性</a:t>
            </a:r>
            <a:endParaRPr lang="en-US" sz="1000" dirty="0"/>
          </a:p>
        </p:txBody>
      </p:sp>
      <p:pic>
        <p:nvPicPr>
          <p:cNvPr id="39" name="Image 7" descr="/home/user/suzuki-ceo/selfcafe-partner-deck/assets/icons/LuCheck-green.png">    </p:cNvPr>
          <p:cNvPicPr>
            <a:picLocks noChangeAspect="1"/>
          </p:cNvPicPr>
          <p:nvPr/>
        </p:nvPicPr>
        <p:blipFill>
          <a:blip r:embed="rId8"/>
          <a:stretch>
            <a:fillRect/>
          </a:stretch>
        </p:blipFill>
        <p:spPr>
          <a:xfrm>
            <a:off x="6580480" y="4220870"/>
            <a:ext cx="164592" cy="164592"/>
          </a:xfrm>
          <a:prstGeom prst="rect">
            <a:avLst/>
          </a:prstGeom>
        </p:spPr>
      </p:pic>
      <p:sp>
        <p:nvSpPr>
          <p:cNvPr id="40" name="Text 30"/>
          <p:cNvSpPr/>
          <p:nvPr/>
        </p:nvSpPr>
        <p:spPr>
          <a:xfrm>
            <a:off x="6836512"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「カフェ」で検索されて新規客に見つかる</a:t>
            </a:r>
            <a:endParaRPr lang="en-US" sz="1000" dirty="0"/>
          </a:p>
        </p:txBody>
      </p:sp>
      <p:pic>
        <p:nvPicPr>
          <p:cNvPr id="41" name="Image 8" descr="/home/user/suzuki-ceo/selfcafe-partner-deck/assets/icons/LuCheck-green.png">    </p:cNvPr>
          <p:cNvPicPr>
            <a:picLocks noChangeAspect="1"/>
          </p:cNvPicPr>
          <p:nvPr/>
        </p:nvPicPr>
        <p:blipFill>
          <a:blip r:embed="rId9"/>
          <a:stretch>
            <a:fillRect/>
          </a:stretch>
        </p:blipFill>
        <p:spPr>
          <a:xfrm>
            <a:off x="6580480" y="4458614"/>
            <a:ext cx="164592" cy="164592"/>
          </a:xfrm>
          <a:prstGeom prst="rect">
            <a:avLst/>
          </a:prstGeom>
        </p:spPr>
      </p:pic>
      <p:sp>
        <p:nvSpPr>
          <p:cNvPr id="42" name="Text 31"/>
          <p:cNvSpPr/>
          <p:nvPr/>
        </p:nvSpPr>
        <p:spPr>
          <a:xfrm>
            <a:off x="6836512"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滞在時間が伸び、ついで買いが生まれる</a:t>
            </a:r>
            <a:endParaRPr lang="en-US" sz="1000" dirty="0"/>
          </a:p>
        </p:txBody>
      </p:sp>
      <p:sp>
        <p:nvSpPr>
          <p:cNvPr id="43" name="Shape 32"/>
          <p:cNvSpPr/>
          <p:nvPr/>
        </p:nvSpPr>
        <p:spPr>
          <a:xfrm>
            <a:off x="660197" y="4924958"/>
            <a:ext cx="10871302" cy="1481328"/>
          </a:xfrm>
          <a:prstGeom prst="roundRect">
            <a:avLst>
              <a:gd name="adj" fmla="val 3086"/>
            </a:avLst>
          </a:prstGeom>
          <a:solidFill>
            <a:srgbClr val="F4F2EE"/>
          </a:solidFill>
          <a:ln w="12700">
            <a:solidFill>
              <a:srgbClr val="DED8CC"/>
            </a:solidFill>
            <a:prstDash val="dash"/>
          </a:ln>
        </p:spPr>
      </p:sp>
      <p:pic>
        <p:nvPicPr>
          <p:cNvPr id="44" name="Image 9" descr="/home/user/suzuki-ceo/selfcafe-partner-deck/assets/icons/LuImage-muted.png">    </p:cNvPr>
          <p:cNvPicPr>
            <a:picLocks noChangeAspect="1"/>
          </p:cNvPicPr>
          <p:nvPr/>
        </p:nvPicPr>
        <p:blipFill>
          <a:blip r:embed="rId10"/>
          <a:stretch>
            <a:fillRect/>
          </a:stretch>
        </p:blipFill>
        <p:spPr>
          <a:xfrm>
            <a:off x="5932902" y="5391302"/>
            <a:ext cx="325892" cy="325892"/>
          </a:xfrm>
          <a:prstGeom prst="rect">
            <a:avLst/>
          </a:prstGeom>
        </p:spPr>
      </p:pic>
      <p:sp>
        <p:nvSpPr>
          <p:cNvPr id="45" name="Text 33"/>
          <p:cNvSpPr/>
          <p:nvPr/>
        </p:nvSpPr>
        <p:spPr>
          <a:xfrm>
            <a:off x="733349" y="5753771"/>
            <a:ext cx="10724998"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46" name="Text 34"/>
          <p:cNvSpPr/>
          <p:nvPr/>
        </p:nvSpPr>
        <p:spPr>
          <a:xfrm>
            <a:off x="733349" y="5945795"/>
            <a:ext cx="10724998" cy="384048"/>
          </a:xfrm>
          <a:prstGeom prst="rect">
            <a:avLst/>
          </a:prstGeom>
          <a:noFill/>
          <a:ln/>
        </p:spPr>
        <p:txBody>
          <a:bodyPr wrap="square" lIns="0" tIns="0" rIns="0" bIns="0" rtlCol="0" anchor="t"/>
          <a:lstStyle/>
          <a:p>
            <a:pPr algn="ctr" indent="0" marL="0">
              <a:lnSpc>
                <a:spcPct val="115000"/>
              </a:lnSpc>
              <a:buNone/>
            </a:pPr>
            <a:r>
              <a:rPr lang="en-US" sz="1000" b="1" dirty="0">
                <a:solidFill>
                  <a:srgbClr val="0A3D23"/>
                </a:solidFill>
                <a:latin typeface="Yu Gothic" pitchFamily="34" charset="0"/>
                <a:ea typeface="Yu Gothic" pitchFamily="34" charset="-122"/>
                <a:cs typeface="Yu Gothic" pitchFamily="34" charset="-120"/>
              </a:rPr>
              <a:t>自社物件への設置イメージ／併設店舗の外観</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pPr indent="0" marL="0">
              <a:buNone/>
            </a:pP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“誰もが気軽に使える”第三の居場所を、全国66店舗で展開中。年内にさらに10店舗以上の出店を予定しています。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営業も設定可能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4000" b="1" dirty="0">
                <a:solidFill>
                  <a:srgbClr val="106838"/>
                </a:solidFill>
                <a:latin typeface="Arial" pitchFamily="34" charset="0"/>
                <a:ea typeface="Arial" pitchFamily="34" charset="-122"/>
                <a:cs typeface="Arial" pitchFamily="34" charset="-120"/>
              </a:rPr>
              <a:t>66</a:t>
            </a:r>
            <a:pPr indent="0" marL="0">
              <a:buNone/>
            </a:pPr>
            <a:r>
              <a:rPr lang="en-US" sz="1400" b="1" dirty="0">
                <a:solidFill>
                  <a:srgbClr val="106838"/>
                </a:solidFill>
                <a:latin typeface="Yu Gothic" pitchFamily="34" charset="0"/>
                <a:ea typeface="Yu Gothic" pitchFamily="34" charset="-122"/>
                <a:cs typeface="Yu Gothic" pitchFamily="34" charset="-120"/>
              </a:rPr>
              <a:t> 店舗</a:t>
            </a:r>
            <a:endParaRPr lang="en-US" sz="40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2026年8月時点／9都府県で展開中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132734"/>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愛知県</a:t>
            </a:r>
            <a:endParaRPr lang="en-US" sz="1050" dirty="0"/>
          </a:p>
        </p:txBody>
      </p:sp>
      <p:sp>
        <p:nvSpPr>
          <p:cNvPr id="40" name="Text 33"/>
          <p:cNvSpPr/>
          <p:nvPr/>
        </p:nvSpPr>
        <p:spPr>
          <a:xfrm>
            <a:off x="10525658" y="3132734"/>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35</a:t>
            </a:r>
            <a:endParaRPr lang="en-US" sz="1100" dirty="0"/>
          </a:p>
        </p:txBody>
      </p:sp>
      <p:sp>
        <p:nvSpPr>
          <p:cNvPr id="41" name="Text 34"/>
          <p:cNvSpPr/>
          <p:nvPr/>
        </p:nvSpPr>
        <p:spPr>
          <a:xfrm>
            <a:off x="7993685" y="3388766"/>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大阪府</a:t>
            </a:r>
            <a:endParaRPr lang="en-US" sz="1050" dirty="0"/>
          </a:p>
        </p:txBody>
      </p:sp>
      <p:sp>
        <p:nvSpPr>
          <p:cNvPr id="42" name="Text 35"/>
          <p:cNvSpPr/>
          <p:nvPr/>
        </p:nvSpPr>
        <p:spPr>
          <a:xfrm>
            <a:off x="10525658" y="3388766"/>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18</a:t>
            </a:r>
            <a:endParaRPr lang="en-US" sz="1100" dirty="0"/>
          </a:p>
        </p:txBody>
      </p:sp>
      <p:sp>
        <p:nvSpPr>
          <p:cNvPr id="43" name="Text 36"/>
          <p:cNvSpPr/>
          <p:nvPr/>
        </p:nvSpPr>
        <p:spPr>
          <a:xfrm>
            <a:off x="7993685" y="3644798"/>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東京都</a:t>
            </a:r>
            <a:endParaRPr lang="en-US" sz="1050" dirty="0"/>
          </a:p>
        </p:txBody>
      </p:sp>
      <p:sp>
        <p:nvSpPr>
          <p:cNvPr id="44" name="Text 37"/>
          <p:cNvSpPr/>
          <p:nvPr/>
        </p:nvSpPr>
        <p:spPr>
          <a:xfrm>
            <a:off x="10525658" y="3644798"/>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5</a:t>
            </a:r>
            <a:endParaRPr lang="en-US" sz="1100" dirty="0"/>
          </a:p>
        </p:txBody>
      </p:sp>
      <p:sp>
        <p:nvSpPr>
          <p:cNvPr id="45" name="Text 38"/>
          <p:cNvSpPr/>
          <p:nvPr/>
        </p:nvSpPr>
        <p:spPr>
          <a:xfrm>
            <a:off x="7993685" y="3900830"/>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岩手県</a:t>
            </a:r>
            <a:endParaRPr lang="en-US" sz="1050" dirty="0"/>
          </a:p>
        </p:txBody>
      </p:sp>
      <p:sp>
        <p:nvSpPr>
          <p:cNvPr id="46" name="Text 39"/>
          <p:cNvSpPr/>
          <p:nvPr/>
        </p:nvSpPr>
        <p:spPr>
          <a:xfrm>
            <a:off x="10525658" y="3900830"/>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2</a:t>
            </a:r>
            <a:endParaRPr lang="en-US" sz="1100" dirty="0"/>
          </a:p>
        </p:txBody>
      </p:sp>
      <p:sp>
        <p:nvSpPr>
          <p:cNvPr id="47" name="Text 40"/>
          <p:cNvSpPr/>
          <p:nvPr/>
        </p:nvSpPr>
        <p:spPr>
          <a:xfrm>
            <a:off x="7993685" y="4156862"/>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岐阜県</a:t>
            </a:r>
            <a:endParaRPr lang="en-US" sz="1050" dirty="0"/>
          </a:p>
        </p:txBody>
      </p:sp>
      <p:sp>
        <p:nvSpPr>
          <p:cNvPr id="48" name="Text 41"/>
          <p:cNvSpPr/>
          <p:nvPr/>
        </p:nvSpPr>
        <p:spPr>
          <a:xfrm>
            <a:off x="10525658" y="4156862"/>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2</a:t>
            </a:r>
            <a:endParaRPr lang="en-US" sz="1100" dirty="0"/>
          </a:p>
        </p:txBody>
      </p:sp>
      <p:sp>
        <p:nvSpPr>
          <p:cNvPr id="49" name="Text 42"/>
          <p:cNvSpPr/>
          <p:nvPr/>
        </p:nvSpPr>
        <p:spPr>
          <a:xfrm>
            <a:off x="7993685" y="4412894"/>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埼玉県</a:t>
            </a:r>
            <a:endParaRPr lang="en-US" sz="1050" dirty="0"/>
          </a:p>
        </p:txBody>
      </p:sp>
      <p:sp>
        <p:nvSpPr>
          <p:cNvPr id="50" name="Text 43"/>
          <p:cNvSpPr/>
          <p:nvPr/>
        </p:nvSpPr>
        <p:spPr>
          <a:xfrm>
            <a:off x="10525658" y="4412894"/>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1</a:t>
            </a:r>
            <a:endParaRPr lang="en-US" sz="1100" dirty="0"/>
          </a:p>
        </p:txBody>
      </p:sp>
      <p:sp>
        <p:nvSpPr>
          <p:cNvPr id="51" name="Text 44"/>
          <p:cNvSpPr/>
          <p:nvPr/>
        </p:nvSpPr>
        <p:spPr>
          <a:xfrm>
            <a:off x="7993685" y="4668926"/>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千葉県</a:t>
            </a:r>
            <a:endParaRPr lang="en-US" sz="1050" dirty="0"/>
          </a:p>
        </p:txBody>
      </p:sp>
      <p:sp>
        <p:nvSpPr>
          <p:cNvPr id="52" name="Text 45"/>
          <p:cNvSpPr/>
          <p:nvPr/>
        </p:nvSpPr>
        <p:spPr>
          <a:xfrm>
            <a:off x="10525658" y="4668926"/>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1</a:t>
            </a:r>
            <a:endParaRPr lang="en-US" sz="1100" dirty="0"/>
          </a:p>
        </p:txBody>
      </p:sp>
      <p:sp>
        <p:nvSpPr>
          <p:cNvPr id="53" name="Text 46"/>
          <p:cNvSpPr/>
          <p:nvPr/>
        </p:nvSpPr>
        <p:spPr>
          <a:xfrm>
            <a:off x="7993685" y="4924958"/>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静岡県</a:t>
            </a:r>
            <a:endParaRPr lang="en-US" sz="1050" dirty="0"/>
          </a:p>
        </p:txBody>
      </p:sp>
      <p:sp>
        <p:nvSpPr>
          <p:cNvPr id="54" name="Text 47"/>
          <p:cNvSpPr/>
          <p:nvPr/>
        </p:nvSpPr>
        <p:spPr>
          <a:xfrm>
            <a:off x="10525658" y="4924958"/>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1</a:t>
            </a:r>
            <a:endParaRPr lang="en-US" sz="1100" dirty="0"/>
          </a:p>
        </p:txBody>
      </p:sp>
      <p:sp>
        <p:nvSpPr>
          <p:cNvPr id="55" name="Text 48"/>
          <p:cNvSpPr/>
          <p:nvPr/>
        </p:nvSpPr>
        <p:spPr>
          <a:xfrm>
            <a:off x="7993685" y="5180990"/>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滋賀県</a:t>
            </a:r>
            <a:endParaRPr lang="en-US" sz="1050" dirty="0"/>
          </a:p>
        </p:txBody>
      </p:sp>
      <p:sp>
        <p:nvSpPr>
          <p:cNvPr id="56" name="Text 49"/>
          <p:cNvSpPr/>
          <p:nvPr/>
        </p:nvSpPr>
        <p:spPr>
          <a:xfrm>
            <a:off x="10525658" y="5180990"/>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1</a:t>
            </a:r>
            <a:endParaRPr lang="en-US" sz="1100" dirty="0"/>
          </a:p>
        </p:txBody>
      </p:sp>
      <p:sp>
        <p:nvSpPr>
          <p:cNvPr id="57" name="Shape 50"/>
          <p:cNvSpPr/>
          <p:nvPr/>
        </p:nvSpPr>
        <p:spPr>
          <a:xfrm>
            <a:off x="7993685" y="5491886"/>
            <a:ext cx="3263494" cy="512064"/>
          </a:xfrm>
          <a:prstGeom prst="roundRect">
            <a:avLst>
              <a:gd name="adj" fmla="val 8929"/>
            </a:avLst>
          </a:prstGeom>
          <a:solidFill>
            <a:srgbClr val="FBF4E4"/>
          </a:solidFill>
          <a:ln/>
        </p:spPr>
      </p:sp>
      <p:sp>
        <p:nvSpPr>
          <p:cNvPr id="58" name="Text 51"/>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pPr indent="0" marL="0">
              <a:buNone/>
            </a:pP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2026.08（単位：店舗）</a:t>
            </a:r>
            <a:endParaRPr lang="en-US" sz="900" dirty="0"/>
          </a:p>
        </p:txBody>
      </p:sp>
      <p:sp>
        <p:nvSpPr>
          <p:cNvPr id="12" name="Shape 9"/>
          <p:cNvSpPr/>
          <p:nvPr/>
        </p:nvSpPr>
        <p:spPr>
          <a:xfrm>
            <a:off x="9044330" y="1852574"/>
            <a:ext cx="2212848" cy="384048"/>
          </a:xfrm>
          <a:prstGeom prst="roundRect">
            <a:avLst>
              <a:gd name="adj" fmla="val 50000"/>
            </a:avLst>
          </a:prstGeom>
          <a:solidFill>
            <a:srgbClr val="0C5230"/>
          </a:solidFill>
          <a:ln/>
        </p:spPr>
      </p:sp>
      <p:sp>
        <p:nvSpPr>
          <p:cNvPr id="13" name="Text 10"/>
          <p:cNvSpPr/>
          <p:nvPr/>
        </p:nvSpPr>
        <p:spPr>
          <a:xfrm>
            <a:off x="9044330" y="1852574"/>
            <a:ext cx="22128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47</a:t>
            </a:r>
            <a:pPr algn="ctr" indent="0" marL="0">
              <a:buNone/>
            </a:pPr>
            <a:r>
              <a:rPr lang="en-US" sz="1050" dirty="0">
                <a:solidFill>
                  <a:srgbClr val="FFFFFF"/>
                </a:solidFill>
                <a:latin typeface="Yu Gothic" pitchFamily="34" charset="0"/>
                <a:ea typeface="Yu Gothic" pitchFamily="34" charset="-122"/>
                <a:cs typeface="Yu Gothic" pitchFamily="34" charset="-120"/>
              </a:rPr>
              <a:t> ヶ月で </a:t>
            </a:r>
            <a:pPr algn="ctr" indent="0" marL="0">
              <a:buNone/>
            </a:pPr>
            <a:r>
              <a:rPr lang="en-US" sz="1300" b="1" dirty="0">
                <a:solidFill>
                  <a:srgbClr val="FFFFFF"/>
                </a:solidFill>
                <a:latin typeface="Arial" pitchFamily="34" charset="0"/>
                <a:ea typeface="Arial" pitchFamily="34" charset="-122"/>
                <a:cs typeface="Arial" pitchFamily="34" charset="-120"/>
              </a:rPr>
              <a:t>66</a:t>
            </a:r>
            <a:pPr algn="ctr" indent="0" marL="0">
              <a:buNone/>
            </a:pPr>
            <a:r>
              <a:rPr lang="en-US" sz="1050" dirty="0">
                <a:solidFill>
                  <a:srgbClr val="FFFFFF"/>
                </a:solidFill>
                <a:latin typeface="Yu Gothic" pitchFamily="34" charset="0"/>
                <a:ea typeface="Yu Gothic" pitchFamily="34" charset="-122"/>
                <a:cs typeface="Yu Gothic" pitchFamily="34" charset="-120"/>
              </a:rPr>
              <a:t> 倍  </a:t>
            </a:r>
            <a:pPr algn="ctr" indent="0" marL="0">
              <a:buNone/>
            </a:pPr>
            <a:r>
              <a:rPr lang="en-US" sz="850" b="1" dirty="0">
                <a:solidFill>
                  <a:srgbClr val="8CC5A5"/>
                </a:solidFill>
                <a:latin typeface="Arial" pitchFamily="34" charset="0"/>
                <a:ea typeface="Arial" pitchFamily="34" charset="-122"/>
                <a:cs typeface="Arial" pitchFamily="34" charset="-120"/>
              </a:rPr>
              <a:t>GROWTH</a:t>
            </a:r>
            <a:endParaRPr lang="en-US" sz="13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6" name="Text 12"/>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7" name="Text 13"/>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8" name="Shape 14"/>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19" name="Text 15"/>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0" name="Text 16"/>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1" name="Shape 17"/>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2" name="Text 18"/>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3" name="Text 19"/>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4" name="Shape 20"/>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5" name="Text 21"/>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6" name="Text 22"/>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7" name="Shape 23"/>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8" name="Text 24"/>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2026.08</a:t>
            </a:r>
            <a:endParaRPr lang="en-US" sz="900" dirty="0"/>
          </a:p>
        </p:txBody>
      </p:sp>
      <p:sp>
        <p:nvSpPr>
          <p:cNvPr id="29" name="Text 25"/>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66</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0" name="Shape 26"/>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1" name="Text 27"/>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Arial" pitchFamily="34" charset="0"/>
                <a:ea typeface="Arial" pitchFamily="34" charset="-122"/>
                <a:cs typeface="Arial" pitchFamily="34" charset="-120"/>
              </a:rPr>
              <a:t>年内</a:t>
            </a:r>
            <a:endParaRPr lang="en-US" sz="900" dirty="0"/>
          </a:p>
        </p:txBody>
      </p:sp>
      <p:sp>
        <p:nvSpPr>
          <p:cNvPr id="32" name="Text 28"/>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pPr algn="ctr" indent="0" marL="0">
              <a:buNone/>
            </a:pP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3" name="Text 29"/>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pPr indent="0" marL="0">
              <a:buNone/>
            </a:pPr>
            <a:r>
              <a:rPr lang="en-US" sz="1200" b="1" dirty="0">
                <a:solidFill>
                  <a:srgbClr val="106838"/>
                </a:solidFill>
                <a:latin typeface="Yu Gothic" pitchFamily="34" charset="0"/>
                <a:ea typeface="Yu Gothic" pitchFamily="34" charset="-122"/>
                <a:cs typeface="Yu Gothic" pitchFamily="34" charset="-120"/>
              </a:rPr>
              <a:t>9都府県・全国66店舗</a:t>
            </a:r>
            <a:pPr indent="0" marL="0">
              <a:buNone/>
            </a:pPr>
            <a:r>
              <a:rPr lang="en-US" sz="1200" dirty="0">
                <a:solidFill>
                  <a:srgbClr val="0A3D23"/>
                </a:solidFill>
                <a:latin typeface="Yu Gothic" pitchFamily="34" charset="0"/>
                <a:ea typeface="Yu Gothic" pitchFamily="34" charset="-122"/>
                <a:cs typeface="Yu Gothic" pitchFamily="34" charset="-120"/>
              </a:rPr>
              <a:t>。年内にさらに </a:t>
            </a:r>
            <a:pPr indent="0" marL="0">
              <a:buNone/>
            </a:pPr>
            <a:r>
              <a:rPr lang="en-US" sz="1200" b="1" dirty="0">
                <a:solidFill>
                  <a:srgbClr val="106838"/>
                </a:solidFill>
                <a:latin typeface="Yu Gothic" pitchFamily="34" charset="0"/>
                <a:ea typeface="Yu Gothic" pitchFamily="34" charset="-122"/>
                <a:cs typeface="Yu Gothic" pitchFamily="34" charset="-120"/>
              </a:rPr>
              <a:t>10店舗以上</a:t>
            </a:r>
            <a:pPr indent="0" marL="0">
              <a:buNone/>
            </a:pP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4" name="Text 30"/>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出典：社内管理台帳（営業中店舗の開店月ベース累計）／2026年8月時点。「年内」は今後の出店予定です。</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pPr indent="0" marL="0">
              <a:buNone/>
            </a:pP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2026.07（半期ごとの推移／数値は概数）</a:t>
            </a:r>
            <a:endParaRPr lang="en-US" sz="900" dirty="0"/>
          </a:p>
        </p:txBody>
      </p:sp>
      <p:graphicFrame>
        <p:nvGraphicFramePr>
          <p:cNvPr id="12" name="Chart 0" descr=""/>
          <p:cNvGraphicFramePr/>
          <p:nvPr/>
        </p:nvGraphicFramePr>
        <p:xfrm>
          <a:off x="806501" y="2382926"/>
          <a:ext cx="7315200" cy="2779776"/>
        </p:xfrm>
        <a:graphic xmlns:a="http://schemas.openxmlformats.org/drawingml/2006/main">
          <a:graphicData uri="http://schemas.openxmlformats.org/drawingml/2006/chart">
            <c:chart xmlns:c="http://schemas.openxmlformats.org/drawingml/2006/chart" r:id="rId2"/>
          </a:graphicData>
        </a:graphic>
      </p:graphicFrame>
      <p:sp>
        <p:nvSpPr>
          <p:cNvPr id="13" name="Shape 9"/>
          <p:cNvSpPr/>
          <p:nvPr/>
        </p:nvSpPr>
        <p:spPr>
          <a:xfrm>
            <a:off x="8725205" y="1651406"/>
            <a:ext cx="2806294" cy="1133856"/>
          </a:xfrm>
          <a:prstGeom prst="roundRect">
            <a:avLst>
              <a:gd name="adj" fmla="val 4839"/>
            </a:avLst>
          </a:prstGeom>
          <a:solidFill>
            <a:srgbClr val="0C5230"/>
          </a:solidFill>
          <a:ln/>
        </p:spPr>
      </p:sp>
      <p:sp>
        <p:nvSpPr>
          <p:cNvPr id="14" name="Text 10"/>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pPr indent="0" marL="0">
              <a:buNone/>
            </a:pP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15" name="Text 11"/>
          <p:cNvSpPr/>
          <p:nvPr/>
        </p:nvSpPr>
        <p:spPr>
          <a:xfrm>
            <a:off x="8962949" y="2291486"/>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AFC2B8"/>
                </a:solidFill>
                <a:latin typeface="Yu Gothic" pitchFamily="34" charset="0"/>
                <a:ea typeface="Yu Gothic" pitchFamily="34" charset="-122"/>
                <a:cs typeface="Yu Gothic" pitchFamily="34" charset="-120"/>
              </a:rPr>
              <a:t>2026年7月の月間利用者数</a:t>
            </a:r>
            <a:endParaRPr lang="en-US" sz="950" dirty="0"/>
          </a:p>
        </p:txBody>
      </p:sp>
      <p:sp>
        <p:nvSpPr>
          <p:cNvPr id="16" name="Shape 12"/>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17" name="Text 13"/>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約100</a:t>
            </a:r>
            <a:pPr indent="0" marL="0">
              <a:buNone/>
            </a:pP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18" name="Text 14"/>
          <p:cNvSpPr/>
          <p:nvPr/>
        </p:nvSpPr>
        <p:spPr>
          <a:xfrm>
            <a:off x="8962949" y="3589934"/>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3年半での月間利用者数の伸び</a:t>
            </a:r>
            <a:endParaRPr lang="en-US" sz="950" dirty="0"/>
          </a:p>
        </p:txBody>
      </p:sp>
      <p:sp>
        <p:nvSpPr>
          <p:cNvPr id="19" name="Shape 15"/>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20" name="Text 16"/>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1,500</a:t>
            </a:r>
            <a:pPr indent="0" marL="0">
              <a:buNone/>
            </a:pPr>
            <a:r>
              <a:rPr lang="en-US" sz="1200" b="1" dirty="0">
                <a:solidFill>
                  <a:srgbClr val="106838"/>
                </a:solidFill>
                <a:latin typeface="Yu Gothic" pitchFamily="34" charset="0"/>
                <a:ea typeface="Yu Gothic" pitchFamily="34" charset="-122"/>
                <a:cs typeface="Yu Gothic" pitchFamily="34" charset="-120"/>
              </a:rPr>
              <a:t> 〜1,600人</a:t>
            </a:r>
            <a:endParaRPr lang="en-US" sz="2600" dirty="0"/>
          </a:p>
        </p:txBody>
      </p:sp>
      <p:sp>
        <p:nvSpPr>
          <p:cNvPr id="21" name="Text 17"/>
          <p:cNvSpPr/>
          <p:nvPr/>
        </p:nvSpPr>
        <p:spPr>
          <a:xfrm>
            <a:off x="8962949" y="4888382"/>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1店舗あたりの月間利用者数</a:t>
            </a:r>
            <a:endParaRPr lang="en-US" sz="950" dirty="0"/>
          </a:p>
        </p:txBody>
      </p:sp>
      <p:sp>
        <p:nvSpPr>
          <p:cNvPr id="22" name="Text 18"/>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出典：社内管理台帳（各月の全社利用者数）／グラフ内の数値は概数で表示しています。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pPr indent="0" marL="0">
              <a:buNone/>
            </a:pP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3453079"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934517" y="1925726"/>
            <a:ext cx="402336" cy="402336"/>
          </a:xfrm>
          <a:prstGeom prst="rect">
            <a:avLst/>
          </a:prstGeom>
        </p:spPr>
      </p:pic>
      <p:sp>
        <p:nvSpPr>
          <p:cNvPr id="11" name="Text 7"/>
          <p:cNvSpPr/>
          <p:nvPr/>
        </p:nvSpPr>
        <p:spPr>
          <a:xfrm>
            <a:off x="2010156"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390円〜</a:t>
            </a:r>
            <a:endParaRPr lang="en-US" sz="2400" dirty="0"/>
          </a:p>
        </p:txBody>
      </p:sp>
      <p:sp>
        <p:nvSpPr>
          <p:cNvPr id="12" name="Text 8"/>
          <p:cNvSpPr/>
          <p:nvPr/>
        </p:nvSpPr>
        <p:spPr>
          <a:xfrm>
            <a:off x="2010156"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1杯あたり</a:t>
            </a:r>
            <a:endParaRPr lang="en-US" sz="850" dirty="0"/>
          </a:p>
        </p:txBody>
      </p:sp>
      <p:sp>
        <p:nvSpPr>
          <p:cNvPr id="13" name="Text 9"/>
          <p:cNvSpPr/>
          <p:nvPr/>
        </p:nvSpPr>
        <p:spPr>
          <a:xfrm>
            <a:off x="934517"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ドリンク一杯で入店</a:t>
            </a:r>
            <a:endParaRPr lang="en-US" sz="1600" dirty="0"/>
          </a:p>
        </p:txBody>
      </p:sp>
      <p:sp>
        <p:nvSpPr>
          <p:cNvPr id="14" name="Shape 10"/>
          <p:cNvSpPr/>
          <p:nvPr/>
        </p:nvSpPr>
        <p:spPr>
          <a:xfrm>
            <a:off x="934517" y="3059582"/>
            <a:ext cx="2904439" cy="10058"/>
          </a:xfrm>
          <a:prstGeom prst="rect">
            <a:avLst/>
          </a:prstGeom>
          <a:solidFill>
            <a:srgbClr val="EFEAE0"/>
          </a:solidFill>
          <a:ln/>
        </p:spPr>
      </p:sp>
      <p:sp>
        <p:nvSpPr>
          <p:cNvPr id="15" name="Text 11"/>
          <p:cNvSpPr/>
          <p:nvPr/>
        </p:nvSpPr>
        <p:spPr>
          <a:xfrm>
            <a:off x="934517"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ドリンク購入だけで、Wi-Fi・電源が完備された空間を自由にご利用いただけます。</a:t>
            </a:r>
            <a:endParaRPr lang="en-US" sz="1050" dirty="0"/>
          </a:p>
        </p:txBody>
      </p:sp>
      <p:sp>
        <p:nvSpPr>
          <p:cNvPr id="16" name="Shape 12"/>
          <p:cNvSpPr/>
          <p:nvPr/>
        </p:nvSpPr>
        <p:spPr>
          <a:xfrm>
            <a:off x="4369308" y="1651406"/>
            <a:ext cx="3453079"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Clock-green.png">    </p:cNvPr>
          <p:cNvPicPr>
            <a:picLocks noChangeAspect="1"/>
          </p:cNvPicPr>
          <p:nvPr/>
        </p:nvPicPr>
        <p:blipFill>
          <a:blip r:embed="rId3"/>
          <a:stretch>
            <a:fillRect/>
          </a:stretch>
        </p:blipFill>
        <p:spPr>
          <a:xfrm>
            <a:off x="4643628" y="1925726"/>
            <a:ext cx="402336" cy="402336"/>
          </a:xfrm>
          <a:prstGeom prst="rect">
            <a:avLst/>
          </a:prstGeom>
        </p:spPr>
      </p:pic>
      <p:sp>
        <p:nvSpPr>
          <p:cNvPr id="18" name="Text 13"/>
          <p:cNvSpPr/>
          <p:nvPr/>
        </p:nvSpPr>
        <p:spPr>
          <a:xfrm>
            <a:off x="5719267"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0円</a:t>
            </a:r>
            <a:endParaRPr lang="en-US" sz="2400" dirty="0"/>
          </a:p>
        </p:txBody>
      </p:sp>
      <p:sp>
        <p:nvSpPr>
          <p:cNvPr id="19" name="Text 14"/>
          <p:cNvSpPr/>
          <p:nvPr/>
        </p:nvSpPr>
        <p:spPr>
          <a:xfrm>
            <a:off x="5719267"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延長・追加料金</a:t>
            </a:r>
            <a:endParaRPr lang="en-US" sz="850" dirty="0"/>
          </a:p>
        </p:txBody>
      </p:sp>
      <p:sp>
        <p:nvSpPr>
          <p:cNvPr id="20" name="Text 15"/>
          <p:cNvSpPr/>
          <p:nvPr/>
        </p:nvSpPr>
        <p:spPr>
          <a:xfrm>
            <a:off x="4643628"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滞在時間無制限</a:t>
            </a:r>
            <a:endParaRPr lang="en-US" sz="1600" dirty="0"/>
          </a:p>
        </p:txBody>
      </p:sp>
      <p:sp>
        <p:nvSpPr>
          <p:cNvPr id="21" name="Shape 16"/>
          <p:cNvSpPr/>
          <p:nvPr/>
        </p:nvSpPr>
        <p:spPr>
          <a:xfrm>
            <a:off x="4643628" y="3059582"/>
            <a:ext cx="2904439" cy="10058"/>
          </a:xfrm>
          <a:prstGeom prst="rect">
            <a:avLst/>
          </a:prstGeom>
          <a:solidFill>
            <a:srgbClr val="EFEAE0"/>
          </a:solidFill>
          <a:ln/>
        </p:spPr>
      </p:sp>
      <p:sp>
        <p:nvSpPr>
          <p:cNvPr id="22" name="Text 17"/>
          <p:cNvSpPr/>
          <p:nvPr/>
        </p:nvSpPr>
        <p:spPr>
          <a:xfrm>
            <a:off x="4643628"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追加料金や延長料金を気にせず、仕事や勉強に没頭できる環境を提供します。</a:t>
            </a:r>
            <a:endParaRPr lang="en-US" sz="1050" dirty="0"/>
          </a:p>
        </p:txBody>
      </p:sp>
      <p:sp>
        <p:nvSpPr>
          <p:cNvPr id="23" name="Shape 18"/>
          <p:cNvSpPr/>
          <p:nvPr/>
        </p:nvSpPr>
        <p:spPr>
          <a:xfrm>
            <a:off x="8078419" y="1651406"/>
            <a:ext cx="3453079"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Smartphone-green.png">    </p:cNvPr>
          <p:cNvPicPr>
            <a:picLocks noChangeAspect="1"/>
          </p:cNvPicPr>
          <p:nvPr/>
        </p:nvPicPr>
        <p:blipFill>
          <a:blip r:embed="rId4"/>
          <a:stretch>
            <a:fillRect/>
          </a:stretch>
        </p:blipFill>
        <p:spPr>
          <a:xfrm>
            <a:off x="8352739" y="1925726"/>
            <a:ext cx="402336" cy="402336"/>
          </a:xfrm>
          <a:prstGeom prst="rect">
            <a:avLst/>
          </a:prstGeom>
        </p:spPr>
      </p:pic>
      <p:sp>
        <p:nvSpPr>
          <p:cNvPr id="25" name="Text 19"/>
          <p:cNvSpPr/>
          <p:nvPr/>
        </p:nvSpPr>
        <p:spPr>
          <a:xfrm>
            <a:off x="9428378"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147円〜</a:t>
            </a:r>
            <a:endParaRPr lang="en-US" sz="2400" dirty="0"/>
          </a:p>
        </p:txBody>
      </p:sp>
      <p:sp>
        <p:nvSpPr>
          <p:cNvPr id="26" name="Text 20"/>
          <p:cNvSpPr/>
          <p:nvPr/>
        </p:nvSpPr>
        <p:spPr>
          <a:xfrm>
            <a:off x="9428378"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サブスク1杯換算</a:t>
            </a:r>
            <a:endParaRPr lang="en-US" sz="850" dirty="0"/>
          </a:p>
        </p:txBody>
      </p:sp>
      <p:sp>
        <p:nvSpPr>
          <p:cNvPr id="27" name="Text 21"/>
          <p:cNvSpPr/>
          <p:nvPr/>
        </p:nvSpPr>
        <p:spPr>
          <a:xfrm>
            <a:off x="8352739"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サブスクプラン</a:t>
            </a:r>
            <a:endParaRPr lang="en-US" sz="1600" dirty="0"/>
          </a:p>
        </p:txBody>
      </p:sp>
      <p:sp>
        <p:nvSpPr>
          <p:cNvPr id="28" name="Shape 22"/>
          <p:cNvSpPr/>
          <p:nvPr/>
        </p:nvSpPr>
        <p:spPr>
          <a:xfrm>
            <a:off x="8352739" y="3059582"/>
            <a:ext cx="2904439" cy="10058"/>
          </a:xfrm>
          <a:prstGeom prst="rect">
            <a:avLst/>
          </a:prstGeom>
          <a:solidFill>
            <a:srgbClr val="EFEAE0"/>
          </a:solidFill>
          <a:ln/>
        </p:spPr>
      </p:sp>
      <p:sp>
        <p:nvSpPr>
          <p:cNvPr id="29" name="Text 23"/>
          <p:cNvSpPr/>
          <p:nvPr/>
        </p:nvSpPr>
        <p:spPr>
          <a:xfrm>
            <a:off x="8352739"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ヘビーユーザー向けに、月額定額で通い放題のプランも用意。継続利用を促しやすい仕組みです。</a:t>
            </a:r>
            <a:endParaRPr lang="en-US" sz="1050" dirty="0"/>
          </a:p>
        </p:txBody>
      </p:sp>
      <p:sp>
        <p:nvSpPr>
          <p:cNvPr id="30" name="Shape 24"/>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1" name="Image 4" descr="/home/user/suzuki-ceo/selfcafe-partner-deck/assets/icons/LuCalendarCheck-green.png">    </p:cNvPr>
          <p:cNvPicPr>
            <a:picLocks noChangeAspect="1"/>
          </p:cNvPicPr>
          <p:nvPr/>
        </p:nvPicPr>
        <p:blipFill>
          <a:blip r:embed="rId5"/>
          <a:stretch>
            <a:fillRect/>
          </a:stretch>
        </p:blipFill>
        <p:spPr>
          <a:xfrm>
            <a:off x="1331443" y="4559198"/>
            <a:ext cx="347472" cy="347472"/>
          </a:xfrm>
          <a:prstGeom prst="rect">
            <a:avLst/>
          </a:prstGeom>
        </p:spPr>
      </p:pic>
      <p:sp>
        <p:nvSpPr>
          <p:cNvPr id="32" name="Text 25"/>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33" name="Shape 26"/>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34" name="Image 5" descr="/home/user/suzuki-ceo/selfcafe-partner-deck/assets/icons/LuWifi-green.png">    </p:cNvPr>
          <p:cNvPicPr>
            <a:picLocks noChangeAspect="1"/>
          </p:cNvPicPr>
          <p:nvPr/>
        </p:nvPicPr>
        <p:blipFill>
          <a:blip r:embed="rId6"/>
          <a:stretch>
            <a:fillRect/>
          </a:stretch>
        </p:blipFill>
        <p:spPr>
          <a:xfrm>
            <a:off x="3167710" y="4559198"/>
            <a:ext cx="347472" cy="347472"/>
          </a:xfrm>
          <a:prstGeom prst="rect">
            <a:avLst/>
          </a:prstGeom>
        </p:spPr>
      </p:pic>
      <p:sp>
        <p:nvSpPr>
          <p:cNvPr id="35" name="Text 27"/>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36" name="Shape 28"/>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37" name="Image 6" descr="/home/user/suzuki-ceo/selfcafe-partner-deck/assets/icons/LuPlug-green.png">    </p:cNvPr>
          <p:cNvPicPr>
            <a:picLocks noChangeAspect="1"/>
          </p:cNvPicPr>
          <p:nvPr/>
        </p:nvPicPr>
        <p:blipFill>
          <a:blip r:embed="rId7"/>
          <a:stretch>
            <a:fillRect/>
          </a:stretch>
        </p:blipFill>
        <p:spPr>
          <a:xfrm>
            <a:off x="5003978" y="4559198"/>
            <a:ext cx="347472" cy="347472"/>
          </a:xfrm>
          <a:prstGeom prst="rect">
            <a:avLst/>
          </a:prstGeom>
        </p:spPr>
      </p:pic>
      <p:sp>
        <p:nvSpPr>
          <p:cNvPr id="38" name="Text 29"/>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39" name="Shape 30"/>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0" name="Image 7" descr="/home/user/suzuki-ceo/selfcafe-partner-deck/assets/icons/LuClock-green.png">    </p:cNvPr>
          <p:cNvPicPr>
            <a:picLocks noChangeAspect="1"/>
          </p:cNvPicPr>
          <p:nvPr/>
        </p:nvPicPr>
        <p:blipFill>
          <a:blip r:embed="rId8"/>
          <a:stretch>
            <a:fillRect/>
          </a:stretch>
        </p:blipFill>
        <p:spPr>
          <a:xfrm>
            <a:off x="6840245" y="4559198"/>
            <a:ext cx="347472" cy="347472"/>
          </a:xfrm>
          <a:prstGeom prst="rect">
            <a:avLst/>
          </a:prstGeom>
        </p:spPr>
      </p:pic>
      <p:sp>
        <p:nvSpPr>
          <p:cNvPr id="41" name="Text 31"/>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2" name="Shape 32"/>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43" name="Image 8" descr="/home/user/suzuki-ceo/selfcafe-partner-deck/assets/icons/LuBookOpen-green.png">    </p:cNvPr>
          <p:cNvPicPr>
            <a:picLocks noChangeAspect="1"/>
          </p:cNvPicPr>
          <p:nvPr/>
        </p:nvPicPr>
        <p:blipFill>
          <a:blip r:embed="rId9"/>
          <a:stretch>
            <a:fillRect/>
          </a:stretch>
        </p:blipFill>
        <p:spPr>
          <a:xfrm>
            <a:off x="8676513" y="4559198"/>
            <a:ext cx="347472" cy="347472"/>
          </a:xfrm>
          <a:prstGeom prst="rect">
            <a:avLst/>
          </a:prstGeom>
        </p:spPr>
      </p:pic>
      <p:sp>
        <p:nvSpPr>
          <p:cNvPr id="44" name="Text 33"/>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45" name="Shape 34"/>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46" name="Image 9" descr="/home/user/suzuki-ceo/selfcafe-partner-deck/assets/icons/LuMessagesSquare-green.png">    </p:cNvPr>
          <p:cNvPicPr>
            <a:picLocks noChangeAspect="1"/>
          </p:cNvPicPr>
          <p:nvPr/>
        </p:nvPicPr>
        <p:blipFill>
          <a:blip r:embed="rId10"/>
          <a:stretch>
            <a:fillRect/>
          </a:stretch>
        </p:blipFill>
        <p:spPr>
          <a:xfrm>
            <a:off x="10512781" y="4559198"/>
            <a:ext cx="347472" cy="347472"/>
          </a:xfrm>
          <a:prstGeom prst="rect">
            <a:avLst/>
          </a:prstGeom>
        </p:spPr>
      </p:pic>
      <p:sp>
        <p:nvSpPr>
          <p:cNvPr id="47" name="Text 35"/>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48" name="Text 36"/>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pPr indent="0" marL="0">
              <a:buNone/>
            </a:pP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pPr indent="0" marL="0">
              <a:lnSpc>
                <a:spcPct val="135000"/>
              </a:lnSpc>
              <a:buNone/>
            </a:pPr>
            <a:r>
              <a:rPr lang="en-US" sz="1050" b="1" dirty="0">
                <a:solidFill>
                  <a:srgbClr val="106838"/>
                </a:solidFill>
                <a:latin typeface="Yu Gothic" pitchFamily="34" charset="0"/>
                <a:ea typeface="Yu Gothic" pitchFamily="34" charset="-122"/>
                <a:cs typeface="Yu Gothic" pitchFamily="34" charset="-120"/>
              </a:rPr>
              <a:t>約50%</a:t>
            </a:r>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Shape 11"/>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6" name="Text 12"/>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7" name="Text 13"/>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8" name="Text 14"/>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pPr indent="0" marL="0">
              <a:lnSpc>
                <a:spcPct val="135000"/>
              </a:lnSpc>
              <a:buNone/>
            </a:pPr>
            <a:r>
              <a:rPr lang="en-US" sz="1050" b="1" dirty="0">
                <a:solidFill>
                  <a:srgbClr val="106838"/>
                </a:solidFill>
                <a:latin typeface="Yu Gothic" pitchFamily="34" charset="0"/>
                <a:ea typeface="Yu Gothic" pitchFamily="34" charset="-122"/>
                <a:cs typeface="Yu Gothic" pitchFamily="34" charset="-120"/>
              </a:rPr>
              <a:t>62.6%が「勉強」</a:t>
            </a:r>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19"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pPr indent="0" marL="0">
              <a:buNone/>
            </a:pP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3477463" cy="1881378"/>
          </a:xfrm>
          <a:prstGeom prst="roundRect">
            <a:avLst>
              <a:gd name="adj" fmla="val 2430"/>
            </a:avLst>
          </a:prstGeom>
          <a:solidFill>
            <a:srgbClr val="F4F2EE"/>
          </a:solidFill>
          <a:ln w="12700">
            <a:solidFill>
              <a:srgbClr val="DED8CC"/>
            </a:solidFill>
            <a:prstDash val="dash"/>
          </a:ln>
        </p:spPr>
      </p:sp>
      <p:pic>
        <p:nvPicPr>
          <p:cNvPr id="10" name="Image 1" descr="/home/user/suzuki-ceo/selfcafe-partner-deck/assets/icons/LuImage-muted.png">    </p:cNvPr>
          <p:cNvPicPr>
            <a:picLocks noChangeAspect="1"/>
          </p:cNvPicPr>
          <p:nvPr/>
        </p:nvPicPr>
        <p:blipFill>
          <a:blip r:embed="rId2"/>
          <a:stretch>
            <a:fillRect/>
          </a:stretch>
        </p:blipFill>
        <p:spPr>
          <a:xfrm>
            <a:off x="2191977" y="2385144"/>
            <a:ext cx="413903" cy="413903"/>
          </a:xfrm>
          <a:prstGeom prst="rect">
            <a:avLst/>
          </a:prstGeom>
        </p:spPr>
      </p:pic>
      <p:sp>
        <p:nvSpPr>
          <p:cNvPr id="11" name="Text 7"/>
          <p:cNvSpPr/>
          <p:nvPr/>
        </p:nvSpPr>
        <p:spPr>
          <a:xfrm>
            <a:off x="733349"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2" name="Text 8"/>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3" name="Text 9"/>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sp>
        <p:nvSpPr>
          <p:cNvPr id="14" name="Shape 10"/>
          <p:cNvSpPr/>
          <p:nvPr/>
        </p:nvSpPr>
        <p:spPr>
          <a:xfrm>
            <a:off x="4357116" y="1651406"/>
            <a:ext cx="3477463" cy="1881378"/>
          </a:xfrm>
          <a:prstGeom prst="roundRect">
            <a:avLst>
              <a:gd name="adj" fmla="val 2430"/>
            </a:avLst>
          </a:prstGeom>
          <a:solidFill>
            <a:srgbClr val="F4F2EE"/>
          </a:solidFill>
          <a:ln w="12700">
            <a:solidFill>
              <a:srgbClr val="DED8CC"/>
            </a:solidFill>
            <a:prstDash val="dash"/>
          </a:ln>
        </p:spPr>
      </p:sp>
      <p:pic>
        <p:nvPicPr>
          <p:cNvPr id="15" name="Image 2" descr="/home/user/suzuki-ceo/selfcafe-partner-deck/assets/icons/LuImage-muted.png">    </p:cNvPr>
          <p:cNvPicPr>
            <a:picLocks noChangeAspect="1"/>
          </p:cNvPicPr>
          <p:nvPr/>
        </p:nvPicPr>
        <p:blipFill>
          <a:blip r:embed="rId3"/>
          <a:stretch>
            <a:fillRect/>
          </a:stretch>
        </p:blipFill>
        <p:spPr>
          <a:xfrm>
            <a:off x="5888896" y="2385144"/>
            <a:ext cx="413903" cy="413903"/>
          </a:xfrm>
          <a:prstGeom prst="rect">
            <a:avLst/>
          </a:prstGeom>
        </p:spPr>
      </p:pic>
      <p:sp>
        <p:nvSpPr>
          <p:cNvPr id="16" name="Text 11"/>
          <p:cNvSpPr/>
          <p:nvPr/>
        </p:nvSpPr>
        <p:spPr>
          <a:xfrm>
            <a:off x="4430268"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7" name="Text 12"/>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8" name="Text 13"/>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sp>
        <p:nvSpPr>
          <p:cNvPr id="19" name="Shape 14"/>
          <p:cNvSpPr/>
          <p:nvPr/>
        </p:nvSpPr>
        <p:spPr>
          <a:xfrm>
            <a:off x="8054035" y="1651406"/>
            <a:ext cx="3477463" cy="1881378"/>
          </a:xfrm>
          <a:prstGeom prst="roundRect">
            <a:avLst>
              <a:gd name="adj" fmla="val 2430"/>
            </a:avLst>
          </a:prstGeom>
          <a:solidFill>
            <a:srgbClr val="F4F2EE"/>
          </a:solidFill>
          <a:ln w="12700">
            <a:solidFill>
              <a:srgbClr val="DED8CC"/>
            </a:solidFill>
            <a:prstDash val="dash"/>
          </a:ln>
        </p:spPr>
      </p:sp>
      <p:pic>
        <p:nvPicPr>
          <p:cNvPr id="20" name="Image 3" descr="/home/user/suzuki-ceo/selfcafe-partner-deck/assets/icons/LuImage-muted.png">    </p:cNvPr>
          <p:cNvPicPr>
            <a:picLocks noChangeAspect="1"/>
          </p:cNvPicPr>
          <p:nvPr/>
        </p:nvPicPr>
        <p:blipFill>
          <a:blip r:embed="rId4"/>
          <a:stretch>
            <a:fillRect/>
          </a:stretch>
        </p:blipFill>
        <p:spPr>
          <a:xfrm>
            <a:off x="9585815" y="2385144"/>
            <a:ext cx="413903" cy="413903"/>
          </a:xfrm>
          <a:prstGeom prst="rect">
            <a:avLst/>
          </a:prstGeom>
        </p:spPr>
      </p:pic>
      <p:sp>
        <p:nvSpPr>
          <p:cNvPr id="21" name="Text 15"/>
          <p:cNvSpPr/>
          <p:nvPr/>
        </p:nvSpPr>
        <p:spPr>
          <a:xfrm>
            <a:off x="8127187"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2" name="Text 16"/>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3" name="Text 17"/>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sp>
        <p:nvSpPr>
          <p:cNvPr id="24" name="Shape 18"/>
          <p:cNvSpPr/>
          <p:nvPr/>
        </p:nvSpPr>
        <p:spPr>
          <a:xfrm>
            <a:off x="660197" y="4081424"/>
            <a:ext cx="3477463" cy="1881378"/>
          </a:xfrm>
          <a:prstGeom prst="roundRect">
            <a:avLst>
              <a:gd name="adj" fmla="val 2430"/>
            </a:avLst>
          </a:prstGeom>
          <a:solidFill>
            <a:srgbClr val="F4F2EE"/>
          </a:solidFill>
          <a:ln w="12700">
            <a:solidFill>
              <a:srgbClr val="DED8CC"/>
            </a:solidFill>
            <a:prstDash val="dash"/>
          </a:ln>
        </p:spPr>
      </p:sp>
      <p:pic>
        <p:nvPicPr>
          <p:cNvPr id="25" name="Image 4" descr="/home/user/suzuki-ceo/selfcafe-partner-deck/assets/icons/LuImage-muted.png">    </p:cNvPr>
          <p:cNvPicPr>
            <a:picLocks noChangeAspect="1"/>
          </p:cNvPicPr>
          <p:nvPr/>
        </p:nvPicPr>
        <p:blipFill>
          <a:blip r:embed="rId5"/>
          <a:stretch>
            <a:fillRect/>
          </a:stretch>
        </p:blipFill>
        <p:spPr>
          <a:xfrm>
            <a:off x="2191977" y="4815162"/>
            <a:ext cx="413903" cy="413903"/>
          </a:xfrm>
          <a:prstGeom prst="rect">
            <a:avLst/>
          </a:prstGeom>
        </p:spPr>
      </p:pic>
      <p:sp>
        <p:nvSpPr>
          <p:cNvPr id="26" name="Text 19"/>
          <p:cNvSpPr/>
          <p:nvPr/>
        </p:nvSpPr>
        <p:spPr>
          <a:xfrm>
            <a:off x="733349"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7" name="Text 20"/>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8" name="Text 21"/>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sp>
        <p:nvSpPr>
          <p:cNvPr id="29" name="Shape 22"/>
          <p:cNvSpPr/>
          <p:nvPr/>
        </p:nvSpPr>
        <p:spPr>
          <a:xfrm>
            <a:off x="4357116" y="4081424"/>
            <a:ext cx="3477463" cy="1881378"/>
          </a:xfrm>
          <a:prstGeom prst="roundRect">
            <a:avLst>
              <a:gd name="adj" fmla="val 2430"/>
            </a:avLst>
          </a:prstGeom>
          <a:solidFill>
            <a:srgbClr val="F4F2EE"/>
          </a:solidFill>
          <a:ln w="12700">
            <a:solidFill>
              <a:srgbClr val="DED8CC"/>
            </a:solidFill>
            <a:prstDash val="dash"/>
          </a:ln>
        </p:spPr>
      </p:sp>
      <p:pic>
        <p:nvPicPr>
          <p:cNvPr id="30" name="Image 5" descr="/home/user/suzuki-ceo/selfcafe-partner-deck/assets/icons/LuImage-muted.png">    </p:cNvPr>
          <p:cNvPicPr>
            <a:picLocks noChangeAspect="1"/>
          </p:cNvPicPr>
          <p:nvPr/>
        </p:nvPicPr>
        <p:blipFill>
          <a:blip r:embed="rId6"/>
          <a:stretch>
            <a:fillRect/>
          </a:stretch>
        </p:blipFill>
        <p:spPr>
          <a:xfrm>
            <a:off x="5888896" y="4815162"/>
            <a:ext cx="413903" cy="413903"/>
          </a:xfrm>
          <a:prstGeom prst="rect">
            <a:avLst/>
          </a:prstGeom>
        </p:spPr>
      </p:pic>
      <p:sp>
        <p:nvSpPr>
          <p:cNvPr id="31" name="Text 23"/>
          <p:cNvSpPr/>
          <p:nvPr/>
        </p:nvSpPr>
        <p:spPr>
          <a:xfrm>
            <a:off x="4430268"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32" name="Text 24"/>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33" name="Text 25"/>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sp>
        <p:nvSpPr>
          <p:cNvPr id="34" name="Shape 26"/>
          <p:cNvSpPr/>
          <p:nvPr/>
        </p:nvSpPr>
        <p:spPr>
          <a:xfrm>
            <a:off x="8054035" y="4081424"/>
            <a:ext cx="3477463" cy="1881378"/>
          </a:xfrm>
          <a:prstGeom prst="roundRect">
            <a:avLst>
              <a:gd name="adj" fmla="val 2430"/>
            </a:avLst>
          </a:prstGeom>
          <a:solidFill>
            <a:srgbClr val="F4F2EE"/>
          </a:solidFill>
          <a:ln w="12700">
            <a:solidFill>
              <a:srgbClr val="DED8CC"/>
            </a:solidFill>
            <a:prstDash val="dash"/>
          </a:ln>
        </p:spPr>
      </p:sp>
      <p:pic>
        <p:nvPicPr>
          <p:cNvPr id="35" name="Image 6" descr="/home/user/suzuki-ceo/selfcafe-partner-deck/assets/icons/LuImage-muted.png">    </p:cNvPr>
          <p:cNvPicPr>
            <a:picLocks noChangeAspect="1"/>
          </p:cNvPicPr>
          <p:nvPr/>
        </p:nvPicPr>
        <p:blipFill>
          <a:blip r:embed="rId7"/>
          <a:stretch>
            <a:fillRect/>
          </a:stretch>
        </p:blipFill>
        <p:spPr>
          <a:xfrm>
            <a:off x="9585815" y="4815162"/>
            <a:ext cx="413903" cy="413903"/>
          </a:xfrm>
          <a:prstGeom prst="rect">
            <a:avLst/>
          </a:prstGeom>
        </p:spPr>
      </p:pic>
      <p:sp>
        <p:nvSpPr>
          <p:cNvPr id="36" name="Text 27"/>
          <p:cNvSpPr/>
          <p:nvPr/>
        </p:nvSpPr>
        <p:spPr>
          <a:xfrm>
            <a:off x="8127187"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37" name="Text 28"/>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8" name="Text 29"/>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pPr indent="0" marL="0">
              <a:buNone/>
            </a:pP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660197" y="1651406"/>
            <a:ext cx="3477463" cy="1881378"/>
          </a:xfrm>
          <a:prstGeom prst="roundRect">
            <a:avLst>
              <a:gd name="adj" fmla="val 2430"/>
            </a:avLst>
          </a:prstGeom>
          <a:solidFill>
            <a:srgbClr val="F4F2EE"/>
          </a:solidFill>
          <a:ln w="12700">
            <a:solidFill>
              <a:srgbClr val="DED8CC"/>
            </a:solidFill>
            <a:prstDash val="dash"/>
          </a:ln>
        </p:spPr>
      </p:sp>
      <p:pic>
        <p:nvPicPr>
          <p:cNvPr id="10" name="Image 1" descr="/home/user/suzuki-ceo/selfcafe-partner-deck/assets/icons/LuImage-muted.png">    </p:cNvPr>
          <p:cNvPicPr>
            <a:picLocks noChangeAspect="1"/>
          </p:cNvPicPr>
          <p:nvPr/>
        </p:nvPicPr>
        <p:blipFill>
          <a:blip r:embed="rId2"/>
          <a:stretch>
            <a:fillRect/>
          </a:stretch>
        </p:blipFill>
        <p:spPr>
          <a:xfrm>
            <a:off x="2191977" y="2385144"/>
            <a:ext cx="413903" cy="413903"/>
          </a:xfrm>
          <a:prstGeom prst="rect">
            <a:avLst/>
          </a:prstGeom>
        </p:spPr>
      </p:pic>
      <p:sp>
        <p:nvSpPr>
          <p:cNvPr id="11" name="Text 7"/>
          <p:cNvSpPr/>
          <p:nvPr/>
        </p:nvSpPr>
        <p:spPr>
          <a:xfrm>
            <a:off x="733349"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2" name="Text 8"/>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3" name="Text 9"/>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sp>
        <p:nvSpPr>
          <p:cNvPr id="14" name="Shape 10"/>
          <p:cNvSpPr/>
          <p:nvPr/>
        </p:nvSpPr>
        <p:spPr>
          <a:xfrm>
            <a:off x="4357116" y="1651406"/>
            <a:ext cx="3477463" cy="1881378"/>
          </a:xfrm>
          <a:prstGeom prst="roundRect">
            <a:avLst>
              <a:gd name="adj" fmla="val 2430"/>
            </a:avLst>
          </a:prstGeom>
          <a:solidFill>
            <a:srgbClr val="F4F2EE"/>
          </a:solidFill>
          <a:ln w="12700">
            <a:solidFill>
              <a:srgbClr val="DED8CC"/>
            </a:solidFill>
            <a:prstDash val="dash"/>
          </a:ln>
        </p:spPr>
      </p:sp>
      <p:pic>
        <p:nvPicPr>
          <p:cNvPr id="15" name="Image 2" descr="/home/user/suzuki-ceo/selfcafe-partner-deck/assets/icons/LuImage-muted.png">    </p:cNvPr>
          <p:cNvPicPr>
            <a:picLocks noChangeAspect="1"/>
          </p:cNvPicPr>
          <p:nvPr/>
        </p:nvPicPr>
        <p:blipFill>
          <a:blip r:embed="rId3"/>
          <a:stretch>
            <a:fillRect/>
          </a:stretch>
        </p:blipFill>
        <p:spPr>
          <a:xfrm>
            <a:off x="5888896" y="2385144"/>
            <a:ext cx="413903" cy="413903"/>
          </a:xfrm>
          <a:prstGeom prst="rect">
            <a:avLst/>
          </a:prstGeom>
        </p:spPr>
      </p:pic>
      <p:sp>
        <p:nvSpPr>
          <p:cNvPr id="16" name="Text 11"/>
          <p:cNvSpPr/>
          <p:nvPr/>
        </p:nvSpPr>
        <p:spPr>
          <a:xfrm>
            <a:off x="4430268"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7" name="Text 12"/>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8" name="Text 13"/>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sp>
        <p:nvSpPr>
          <p:cNvPr id="19" name="Shape 14"/>
          <p:cNvSpPr/>
          <p:nvPr/>
        </p:nvSpPr>
        <p:spPr>
          <a:xfrm>
            <a:off x="8054035" y="1651406"/>
            <a:ext cx="3477463" cy="1881378"/>
          </a:xfrm>
          <a:prstGeom prst="roundRect">
            <a:avLst>
              <a:gd name="adj" fmla="val 2430"/>
            </a:avLst>
          </a:prstGeom>
          <a:solidFill>
            <a:srgbClr val="F4F2EE"/>
          </a:solidFill>
          <a:ln w="12700">
            <a:solidFill>
              <a:srgbClr val="DED8CC"/>
            </a:solidFill>
            <a:prstDash val="dash"/>
          </a:ln>
        </p:spPr>
      </p:sp>
      <p:pic>
        <p:nvPicPr>
          <p:cNvPr id="20" name="Image 3" descr="/home/user/suzuki-ceo/selfcafe-partner-deck/assets/icons/LuImage-muted.png">    </p:cNvPr>
          <p:cNvPicPr>
            <a:picLocks noChangeAspect="1"/>
          </p:cNvPicPr>
          <p:nvPr/>
        </p:nvPicPr>
        <p:blipFill>
          <a:blip r:embed="rId4"/>
          <a:stretch>
            <a:fillRect/>
          </a:stretch>
        </p:blipFill>
        <p:spPr>
          <a:xfrm>
            <a:off x="9585815" y="2385144"/>
            <a:ext cx="413903" cy="413903"/>
          </a:xfrm>
          <a:prstGeom prst="rect">
            <a:avLst/>
          </a:prstGeom>
        </p:spPr>
      </p:pic>
      <p:sp>
        <p:nvSpPr>
          <p:cNvPr id="21" name="Text 15"/>
          <p:cNvSpPr/>
          <p:nvPr/>
        </p:nvSpPr>
        <p:spPr>
          <a:xfrm>
            <a:off x="8127187"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2" name="Text 16"/>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3" name="Text 17"/>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
        <p:nvSpPr>
          <p:cNvPr id="24" name="Shape 18"/>
          <p:cNvSpPr/>
          <p:nvPr/>
        </p:nvSpPr>
        <p:spPr>
          <a:xfrm>
            <a:off x="660197" y="4081424"/>
            <a:ext cx="3477463" cy="1881378"/>
          </a:xfrm>
          <a:prstGeom prst="roundRect">
            <a:avLst>
              <a:gd name="adj" fmla="val 2430"/>
            </a:avLst>
          </a:prstGeom>
          <a:solidFill>
            <a:srgbClr val="F4F2EE"/>
          </a:solidFill>
          <a:ln w="12700">
            <a:solidFill>
              <a:srgbClr val="DED8CC"/>
            </a:solidFill>
            <a:prstDash val="dash"/>
          </a:ln>
        </p:spPr>
      </p:sp>
      <p:pic>
        <p:nvPicPr>
          <p:cNvPr id="25" name="Image 4" descr="/home/user/suzuki-ceo/selfcafe-partner-deck/assets/icons/LuImage-muted.png">    </p:cNvPr>
          <p:cNvPicPr>
            <a:picLocks noChangeAspect="1"/>
          </p:cNvPicPr>
          <p:nvPr/>
        </p:nvPicPr>
        <p:blipFill>
          <a:blip r:embed="rId5"/>
          <a:stretch>
            <a:fillRect/>
          </a:stretch>
        </p:blipFill>
        <p:spPr>
          <a:xfrm>
            <a:off x="2191977" y="4815162"/>
            <a:ext cx="413903" cy="413903"/>
          </a:xfrm>
          <a:prstGeom prst="rect">
            <a:avLst/>
          </a:prstGeom>
        </p:spPr>
      </p:pic>
      <p:sp>
        <p:nvSpPr>
          <p:cNvPr id="26" name="Text 19"/>
          <p:cNvSpPr/>
          <p:nvPr/>
        </p:nvSpPr>
        <p:spPr>
          <a:xfrm>
            <a:off x="733349"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7" name="Text 20"/>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8" name="Text 21"/>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
        <p:nvSpPr>
          <p:cNvPr id="29" name="Shape 22"/>
          <p:cNvSpPr/>
          <p:nvPr/>
        </p:nvSpPr>
        <p:spPr>
          <a:xfrm>
            <a:off x="4357116" y="4081424"/>
            <a:ext cx="3477463" cy="1881378"/>
          </a:xfrm>
          <a:prstGeom prst="roundRect">
            <a:avLst>
              <a:gd name="adj" fmla="val 2430"/>
            </a:avLst>
          </a:prstGeom>
          <a:solidFill>
            <a:srgbClr val="F4F2EE"/>
          </a:solidFill>
          <a:ln w="12700">
            <a:solidFill>
              <a:srgbClr val="DED8CC"/>
            </a:solidFill>
            <a:prstDash val="dash"/>
          </a:ln>
        </p:spPr>
      </p:sp>
      <p:pic>
        <p:nvPicPr>
          <p:cNvPr id="30" name="Image 5" descr="/home/user/suzuki-ceo/selfcafe-partner-deck/assets/icons/LuImage-muted.png">    </p:cNvPr>
          <p:cNvPicPr>
            <a:picLocks noChangeAspect="1"/>
          </p:cNvPicPr>
          <p:nvPr/>
        </p:nvPicPr>
        <p:blipFill>
          <a:blip r:embed="rId6"/>
          <a:stretch>
            <a:fillRect/>
          </a:stretch>
        </p:blipFill>
        <p:spPr>
          <a:xfrm>
            <a:off x="5888896" y="4815162"/>
            <a:ext cx="413903" cy="413903"/>
          </a:xfrm>
          <a:prstGeom prst="rect">
            <a:avLst/>
          </a:prstGeom>
        </p:spPr>
      </p:pic>
      <p:sp>
        <p:nvSpPr>
          <p:cNvPr id="31" name="Text 23"/>
          <p:cNvSpPr/>
          <p:nvPr/>
        </p:nvSpPr>
        <p:spPr>
          <a:xfrm>
            <a:off x="4430268"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32" name="Text 24"/>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33" name="Text 25"/>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
        <p:nvSpPr>
          <p:cNvPr id="34" name="Shape 26"/>
          <p:cNvSpPr/>
          <p:nvPr/>
        </p:nvSpPr>
        <p:spPr>
          <a:xfrm>
            <a:off x="8054035" y="4081424"/>
            <a:ext cx="3477463" cy="1881378"/>
          </a:xfrm>
          <a:prstGeom prst="roundRect">
            <a:avLst>
              <a:gd name="adj" fmla="val 2430"/>
            </a:avLst>
          </a:prstGeom>
          <a:solidFill>
            <a:srgbClr val="F4F2EE"/>
          </a:solidFill>
          <a:ln w="12700">
            <a:solidFill>
              <a:srgbClr val="DED8CC"/>
            </a:solidFill>
            <a:prstDash val="dash"/>
          </a:ln>
        </p:spPr>
      </p:sp>
      <p:pic>
        <p:nvPicPr>
          <p:cNvPr id="35" name="Image 6" descr="/home/user/suzuki-ceo/selfcafe-partner-deck/assets/icons/LuImage-muted.png">    </p:cNvPr>
          <p:cNvPicPr>
            <a:picLocks noChangeAspect="1"/>
          </p:cNvPicPr>
          <p:nvPr/>
        </p:nvPicPr>
        <p:blipFill>
          <a:blip r:embed="rId7"/>
          <a:stretch>
            <a:fillRect/>
          </a:stretch>
        </p:blipFill>
        <p:spPr>
          <a:xfrm>
            <a:off x="9585815" y="4815162"/>
            <a:ext cx="413903" cy="413903"/>
          </a:xfrm>
          <a:prstGeom prst="rect">
            <a:avLst/>
          </a:prstGeom>
        </p:spPr>
      </p:pic>
      <p:sp>
        <p:nvSpPr>
          <p:cNvPr id="36" name="Text 27"/>
          <p:cNvSpPr/>
          <p:nvPr/>
        </p:nvSpPr>
        <p:spPr>
          <a:xfrm>
            <a:off x="8127187"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37" name="Text 28"/>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8" name="Text 29"/>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pPr indent="0" marL="0">
              <a:buNone/>
            </a:pP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比較項目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セルフカフェ</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コワーキング</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シェアオフィス</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利用の手軽さ</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空間の雰囲気</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ドリンクの質</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運営人員</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導入コスト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pPr indent="0" marL="0">
              <a:buNone/>
            </a:pP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pPr indent="0" marL="0">
              <a:buNone/>
            </a:pP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660197" y="1651406"/>
            <a:ext cx="5120640" cy="2743200"/>
          </a:xfrm>
          <a:prstGeom prst="roundRect">
            <a:avLst>
              <a:gd name="adj" fmla="val 2000"/>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914400"/>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店内の各所に非常ボタンを設置し、お客様同士のトラブルまで幅広く対応。6台のカメラによるモニタリングで、お問い合わせにも即時対応します。</a:t>
            </a:r>
            <a:endParaRPr lang="en-US" sz="1050" dirty="0"/>
          </a:p>
        </p:txBody>
      </p:sp>
      <p:sp>
        <p:nvSpPr>
          <p:cNvPr id="13" name="Shape 10"/>
          <p:cNvSpPr/>
          <p:nvPr/>
        </p:nvSpPr>
        <p:spPr>
          <a:xfrm>
            <a:off x="660197" y="4595774"/>
            <a:ext cx="5120640" cy="1371600"/>
          </a:xfrm>
          <a:prstGeom prst="roundRect">
            <a:avLst>
              <a:gd name="adj" fmla="val 3333"/>
            </a:avLst>
          </a:prstGeom>
          <a:solidFill>
            <a:srgbClr val="F4F2EE"/>
          </a:solidFill>
          <a:ln w="12700">
            <a:solidFill>
              <a:srgbClr val="DED8CC"/>
            </a:solidFill>
            <a:prstDash val="dash"/>
          </a:ln>
        </p:spPr>
      </p:sp>
      <p:pic>
        <p:nvPicPr>
          <p:cNvPr id="14" name="Image 1" descr="/home/user/suzuki-ceo/selfcafe-partner-deck/assets/icons/LuImage-muted.png">    </p:cNvPr>
          <p:cNvPicPr>
            <a:picLocks noChangeAspect="1"/>
          </p:cNvPicPr>
          <p:nvPr/>
        </p:nvPicPr>
        <p:blipFill>
          <a:blip r:embed="rId2"/>
          <a:stretch>
            <a:fillRect/>
          </a:stretch>
        </p:blipFill>
        <p:spPr>
          <a:xfrm>
            <a:off x="3069641" y="5007254"/>
            <a:ext cx="301752" cy="301752"/>
          </a:xfrm>
          <a:prstGeom prst="rect">
            <a:avLst/>
          </a:prstGeom>
        </p:spPr>
      </p:pic>
      <p:sp>
        <p:nvSpPr>
          <p:cNvPr id="15" name="Text 11"/>
          <p:cNvSpPr/>
          <p:nvPr/>
        </p:nvSpPr>
        <p:spPr>
          <a:xfrm>
            <a:off x="733349" y="5345582"/>
            <a:ext cx="4974336"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6" name="Text 12"/>
          <p:cNvSpPr/>
          <p:nvPr/>
        </p:nvSpPr>
        <p:spPr>
          <a:xfrm>
            <a:off x="733349" y="5537606"/>
            <a:ext cx="4974336" cy="384048"/>
          </a:xfrm>
          <a:prstGeom prst="rect">
            <a:avLst/>
          </a:prstGeom>
          <a:noFill/>
          <a:ln/>
        </p:spPr>
        <p:txBody>
          <a:bodyPr wrap="square" lIns="0" tIns="0" rIns="0" bIns="0" rtlCol="0" anchor="t"/>
          <a:lstStyle/>
          <a:p>
            <a:pPr algn="ctr" indent="0" marL="0">
              <a:lnSpc>
                <a:spcPct val="115000"/>
              </a:lnSpc>
              <a:buNone/>
            </a:pPr>
            <a:r>
              <a:rPr lang="en-US" sz="1000" b="1" dirty="0">
                <a:solidFill>
                  <a:srgbClr val="0A3D23"/>
                </a:solidFill>
                <a:latin typeface="Yu Gothic" pitchFamily="34" charset="0"/>
                <a:ea typeface="Yu Gothic" pitchFamily="34" charset="-122"/>
                <a:cs typeface="Yu Gothic" pitchFamily="34" charset="-120"/>
              </a:rPr>
              <a:t>モニタリング画面／店内カメラの様子</a:t>
            </a:r>
            <a:endParaRPr lang="en-US" sz="1000" dirty="0"/>
          </a:p>
        </p:txBody>
      </p:sp>
      <p:sp>
        <p:nvSpPr>
          <p:cNvPr id="17" name="Shape 13"/>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18" name="Image 2" descr="/home/user/suzuki-ceo/selfcafe-partner-deck/assets/icons/LuVideo-green.png">    </p:cNvPr>
          <p:cNvPicPr>
            <a:picLocks noChangeAspect="1"/>
          </p:cNvPicPr>
          <p:nvPr/>
        </p:nvPicPr>
        <p:blipFill>
          <a:blip r:embed="rId3"/>
          <a:stretch>
            <a:fillRect/>
          </a:stretch>
        </p:blipFill>
        <p:spPr>
          <a:xfrm>
            <a:off x="6420917" y="1889150"/>
            <a:ext cx="329184" cy="329184"/>
          </a:xfrm>
          <a:prstGeom prst="rect">
            <a:avLst/>
          </a:prstGeom>
        </p:spPr>
      </p:pic>
      <p:sp>
        <p:nvSpPr>
          <p:cNvPr id="19" name="Text 14"/>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a:t>
            </a:r>
            <a:pPr indent="0" marL="0">
              <a:buNone/>
            </a:pP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0" name="Text 15"/>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1" name="Shape 16"/>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2" name="Image 3" descr="/home/user/suzuki-ceo/selfcafe-partner-deck/assets/icons/LuMic-green.png">    </p:cNvPr>
          <p:cNvPicPr>
            <a:picLocks noChangeAspect="1"/>
          </p:cNvPicPr>
          <p:nvPr/>
        </p:nvPicPr>
        <p:blipFill>
          <a:blip r:embed="rId4"/>
          <a:stretch>
            <a:fillRect/>
          </a:stretch>
        </p:blipFill>
        <p:spPr>
          <a:xfrm>
            <a:off x="6420917" y="3388766"/>
            <a:ext cx="329184" cy="329184"/>
          </a:xfrm>
          <a:prstGeom prst="rect">
            <a:avLst/>
          </a:prstGeom>
        </p:spPr>
      </p:pic>
      <p:sp>
        <p:nvSpPr>
          <p:cNvPr id="23" name="Text 17"/>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pPr indent="0" marL="0">
              <a:buNone/>
            </a:pP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24" name="Text 18"/>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25" name="Shape 19"/>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26" name="Image 4" descr="/home/user/suzuki-ceo/selfcafe-partner-deck/assets/icons/LuMessageCircle-green.png">    </p:cNvPr>
          <p:cNvPicPr>
            <a:picLocks noChangeAspect="1"/>
          </p:cNvPicPr>
          <p:nvPr/>
        </p:nvPicPr>
        <p:blipFill>
          <a:blip r:embed="rId5"/>
          <a:stretch>
            <a:fillRect/>
          </a:stretch>
        </p:blipFill>
        <p:spPr>
          <a:xfrm>
            <a:off x="6420917" y="4888382"/>
            <a:ext cx="329184" cy="329184"/>
          </a:xfrm>
          <a:prstGeom prst="rect">
            <a:avLst/>
          </a:prstGeom>
        </p:spPr>
      </p:pic>
      <p:sp>
        <p:nvSpPr>
          <p:cNvPr id="27" name="Text 20"/>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pPr indent="0" marL="0">
              <a:buNone/>
            </a:pP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28" name="Text 21"/>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お客様からのお問い合わせに即時対応。質問対応・意見収集の窓口としても機能します。</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pPr indent="0" marL="0">
              <a:buNone/>
            </a:pP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050" dirty="0"/>
          </a:p>
        </p:txBody>
      </p:sp>
      <p:sp>
        <p:nvSpPr>
          <p:cNvPr id="16" name="Shape 12"/>
          <p:cNvSpPr/>
          <p:nvPr/>
        </p:nvSpPr>
        <p:spPr>
          <a:xfrm>
            <a:off x="934517" y="4870094"/>
            <a:ext cx="1280160" cy="256032"/>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870094"/>
            <a:ext cx="128016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加盟金 100万円</a:t>
            </a:r>
            <a:endParaRPr lang="en-US" sz="850" dirty="0"/>
          </a:p>
        </p:txBody>
      </p:sp>
      <p:sp>
        <p:nvSpPr>
          <p:cNvPr id="18" name="Shape 14"/>
          <p:cNvSpPr/>
          <p:nvPr/>
        </p:nvSpPr>
        <p:spPr>
          <a:xfrm>
            <a:off x="2306117" y="4870094"/>
            <a:ext cx="1280160" cy="256032"/>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306117" y="4870094"/>
            <a:ext cx="128016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初期費用 650万円〜</a:t>
            </a:r>
            <a:endParaRPr lang="en-US" sz="85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050" dirty="0"/>
          </a:p>
        </p:txBody>
      </p:sp>
      <p:sp>
        <p:nvSpPr>
          <p:cNvPr id="27" name="Shape 22"/>
          <p:cNvSpPr/>
          <p:nvPr/>
        </p:nvSpPr>
        <p:spPr>
          <a:xfrm>
            <a:off x="4649724" y="4870094"/>
            <a:ext cx="612648" cy="256032"/>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870094"/>
            <a:ext cx="612648"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レジ横</a:t>
            </a:r>
            <a:endParaRPr lang="en-US" sz="850" dirty="0"/>
          </a:p>
        </p:txBody>
      </p:sp>
      <p:sp>
        <p:nvSpPr>
          <p:cNvPr id="29" name="Shape 24"/>
          <p:cNvSpPr/>
          <p:nvPr/>
        </p:nvSpPr>
        <p:spPr>
          <a:xfrm>
            <a:off x="6021324" y="4870094"/>
            <a:ext cx="969264" cy="256032"/>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6021324" y="4870094"/>
            <a:ext cx="969264"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待合スペース</a:t>
            </a:r>
            <a:endParaRPr lang="en-US" sz="850" dirty="0"/>
          </a:p>
        </p:txBody>
      </p:sp>
      <p:sp>
        <p:nvSpPr>
          <p:cNvPr id="31" name="Shape 26"/>
          <p:cNvSpPr/>
          <p:nvPr/>
        </p:nvSpPr>
        <p:spPr>
          <a:xfrm>
            <a:off x="4649724" y="5199278"/>
            <a:ext cx="731520" cy="256032"/>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4649724" y="5199278"/>
            <a:ext cx="73152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空き区画</a:t>
            </a:r>
            <a:endParaRPr lang="en-US" sz="85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050" dirty="0"/>
          </a:p>
        </p:txBody>
      </p:sp>
      <p:sp>
        <p:nvSpPr>
          <p:cNvPr id="40" name="Shape 34"/>
          <p:cNvSpPr/>
          <p:nvPr/>
        </p:nvSpPr>
        <p:spPr>
          <a:xfrm>
            <a:off x="8364931" y="4870094"/>
            <a:ext cx="493776" cy="256032"/>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870094"/>
            <a:ext cx="493776"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清掃</a:t>
            </a:r>
            <a:endParaRPr lang="en-US" sz="850" dirty="0"/>
          </a:p>
        </p:txBody>
      </p:sp>
      <p:sp>
        <p:nvSpPr>
          <p:cNvPr id="42" name="Shape 36"/>
          <p:cNvSpPr/>
          <p:nvPr/>
        </p:nvSpPr>
        <p:spPr>
          <a:xfrm>
            <a:off x="9736531" y="4870094"/>
            <a:ext cx="731520" cy="256032"/>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736531" y="4870094"/>
            <a:ext cx="73152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原料補充</a:t>
            </a:r>
            <a:endParaRPr lang="en-US" sz="850" dirty="0"/>
          </a:p>
        </p:txBody>
      </p:sp>
      <p:sp>
        <p:nvSpPr>
          <p:cNvPr id="44" name="Text 38"/>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「1/10以下」は他社カフェ業態の開業資金との比較（次ページ参照）。</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pPr indent="0" marL="0">
              <a:buNone/>
            </a:pP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84048">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セルフカフェ</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C社</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D社</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100万円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300万円〜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店舗工事費用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400万円〜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8,000万円〜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2,000万円〜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保証金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50万円〜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研修費</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なし</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20万円／1名</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開業資金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300" b="1" dirty="0">
                          <a:solidFill>
                            <a:srgbClr val="106838"/>
                          </a:solidFill>
                          <a:latin typeface="Arial" pitchFamily="34" charset="0"/>
                          <a:ea typeface="Arial" pitchFamily="34" charset="-122"/>
                          <a:cs typeface="Arial" pitchFamily="34" charset="-120"/>
                        </a:rPr>
                        <a:t>550万円〜</a:t>
                      </a:r>
                      <a:endParaRPr lang="en-US" sz="13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8,400万円〜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3,000万円〜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月5万円（一律）</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1席1,500円／月</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売上の2%／月</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pPr indent="0" marL="0">
              <a:buNone/>
            </a:pPr>
            <a:r>
              <a:rPr lang="en-US" sz="1200" b="1" dirty="0">
                <a:solidFill>
                  <a:srgbClr val="8CC5A5"/>
                </a:solidFill>
                <a:latin typeface="Yu Gothic" pitchFamily="34" charset="0"/>
                <a:ea typeface="Yu Gothic" pitchFamily="34" charset="-122"/>
                <a:cs typeface="Yu Gothic" pitchFamily="34" charset="-120"/>
              </a:rPr>
              <a:t>1/5 〜 1/15</a:t>
            </a:r>
            <a:pPr indent="0" marL="0">
              <a:buNone/>
            </a:pP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09360"/>
            <a:ext cx="10871302" cy="18288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pPr indent="0" marL="0">
              <a:buNone/>
            </a:pP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初期費用・売上イメージ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出店方法は2パターン。居抜き・既存店併設なら初期費用を大きく抑えられます。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660197" y="1651406"/>
            <a:ext cx="5243627" cy="1700784"/>
          </a:xfrm>
          <a:prstGeom prst="roundRect">
            <a:avLst>
              <a:gd name="adj" fmla="val 3226"/>
            </a:avLst>
          </a:prstGeom>
          <a:solidFill>
            <a:srgbClr val="0C5230"/>
          </a:solidFill>
          <a:ln/>
        </p:spPr>
      </p:sp>
      <p:sp>
        <p:nvSpPr>
          <p:cNvPr id="10" name="Text 7"/>
          <p:cNvSpPr/>
          <p:nvPr/>
        </p:nvSpPr>
        <p:spPr>
          <a:xfrm>
            <a:off x="934517" y="1870862"/>
            <a:ext cx="4694987" cy="292608"/>
          </a:xfrm>
          <a:prstGeom prst="rect">
            <a:avLst/>
          </a:prstGeom>
          <a:noFill/>
          <a:ln/>
        </p:spPr>
        <p:txBody>
          <a:bodyPr wrap="square" lIns="0" tIns="0" rIns="0" bIns="0" rtlCol="0" anchor="ctr"/>
          <a:lstStyle/>
          <a:p>
            <a:pPr indent="0" marL="0">
              <a:buNone/>
            </a:pPr>
            <a:r>
              <a:rPr lang="en-US" sz="1300" b="1" dirty="0">
                <a:solidFill>
                  <a:srgbClr val="8CC5A5"/>
                </a:solidFill>
                <a:latin typeface="Yu Gothic" pitchFamily="34" charset="0"/>
                <a:ea typeface="Yu Gothic" pitchFamily="34" charset="-122"/>
                <a:cs typeface="Yu Gothic" pitchFamily="34" charset="-120"/>
              </a:rPr>
              <a:t>① 既存店併設 / 居抜き</a:t>
            </a:r>
            <a:endParaRPr lang="en-US" sz="1300" dirty="0"/>
          </a:p>
        </p:txBody>
      </p:sp>
      <p:sp>
        <p:nvSpPr>
          <p:cNvPr id="11" name="Text 8"/>
          <p:cNvSpPr/>
          <p:nvPr/>
        </p:nvSpPr>
        <p:spPr>
          <a:xfrm>
            <a:off x="934517" y="2200046"/>
            <a:ext cx="4694987" cy="18288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初期費用目安</a:t>
            </a:r>
            <a:endParaRPr lang="en-US" sz="900" dirty="0"/>
          </a:p>
        </p:txBody>
      </p:sp>
      <p:sp>
        <p:nvSpPr>
          <p:cNvPr id="12" name="Text 9"/>
          <p:cNvSpPr/>
          <p:nvPr/>
        </p:nvSpPr>
        <p:spPr>
          <a:xfrm>
            <a:off x="934517" y="2382926"/>
            <a:ext cx="4694987" cy="4572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650万円〜</a:t>
            </a:r>
            <a:endParaRPr lang="en-US" sz="3000" dirty="0"/>
          </a:p>
        </p:txBody>
      </p:sp>
      <p:sp>
        <p:nvSpPr>
          <p:cNvPr id="13" name="Text 10"/>
          <p:cNvSpPr/>
          <p:nvPr/>
        </p:nvSpPr>
        <p:spPr>
          <a:xfrm>
            <a:off x="934517"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AFC2B8"/>
                </a:solidFill>
                <a:latin typeface="Yu Gothic" pitchFamily="34" charset="0"/>
                <a:ea typeface="Yu Gothic" pitchFamily="34" charset="-122"/>
                <a:cs typeface="Yu Gothic" pitchFamily="34" charset="-120"/>
              </a:rPr>
              <a:t>内装が残る区画や自社店舗の一角を活用。工事範囲を最小化できます。</a:t>
            </a:r>
            <a:endParaRPr lang="en-US" sz="1000" dirty="0"/>
          </a:p>
        </p:txBody>
      </p:sp>
      <p:sp>
        <p:nvSpPr>
          <p:cNvPr id="14" name="Shape 11"/>
          <p:cNvSpPr/>
          <p:nvPr/>
        </p:nvSpPr>
        <p:spPr>
          <a:xfrm>
            <a:off x="6287872" y="1651406"/>
            <a:ext cx="5243627" cy="1700784"/>
          </a:xfrm>
          <a:prstGeom prst="roundRect">
            <a:avLst>
              <a:gd name="adj" fmla="val 3226"/>
            </a:avLst>
          </a:prstGeom>
          <a:solidFill>
            <a:srgbClr val="FFFFFF"/>
          </a:solidFill>
          <a:ln w="9525">
            <a:solidFill>
              <a:srgbClr val="EFEAE0"/>
            </a:solidFill>
            <a:prstDash val="solid"/>
          </a:ln>
        </p:spPr>
      </p:sp>
      <p:sp>
        <p:nvSpPr>
          <p:cNvPr id="15" name="Text 12"/>
          <p:cNvSpPr/>
          <p:nvPr/>
        </p:nvSpPr>
        <p:spPr>
          <a:xfrm>
            <a:off x="6562192" y="1870862"/>
            <a:ext cx="4694987" cy="292608"/>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② スケルトン工事</a:t>
            </a:r>
            <a:endParaRPr lang="en-US" sz="1300" dirty="0"/>
          </a:p>
        </p:txBody>
      </p:sp>
      <p:sp>
        <p:nvSpPr>
          <p:cNvPr id="16" name="Text 13"/>
          <p:cNvSpPr/>
          <p:nvPr/>
        </p:nvSpPr>
        <p:spPr>
          <a:xfrm>
            <a:off x="6562192" y="2200046"/>
            <a:ext cx="4694987" cy="18288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初期費用目安</a:t>
            </a:r>
            <a:endParaRPr lang="en-US" sz="900" dirty="0"/>
          </a:p>
        </p:txBody>
      </p:sp>
      <p:sp>
        <p:nvSpPr>
          <p:cNvPr id="17" name="Text 14"/>
          <p:cNvSpPr/>
          <p:nvPr/>
        </p:nvSpPr>
        <p:spPr>
          <a:xfrm>
            <a:off x="6562192" y="2382926"/>
            <a:ext cx="4694987" cy="457200"/>
          </a:xfrm>
          <a:prstGeom prst="rect">
            <a:avLst/>
          </a:prstGeom>
          <a:noFill/>
          <a:ln/>
        </p:spPr>
        <p:txBody>
          <a:bodyPr wrap="square" lIns="0" tIns="0" rIns="0" bIns="0" rtlCol="0" anchor="ctr"/>
          <a:lstStyle/>
          <a:p>
            <a:pPr indent="0" marL="0">
              <a:buNone/>
            </a:pPr>
            <a:r>
              <a:rPr lang="en-US" sz="3000" b="1" dirty="0">
                <a:solidFill>
                  <a:srgbClr val="0A3D23"/>
                </a:solidFill>
                <a:latin typeface="Arial" pitchFamily="34" charset="0"/>
                <a:ea typeface="Arial" pitchFamily="34" charset="-122"/>
                <a:cs typeface="Arial" pitchFamily="34" charset="-120"/>
              </a:rPr>
              <a:t>950万円〜</a:t>
            </a:r>
            <a:endParaRPr lang="en-US" sz="3000" dirty="0"/>
          </a:p>
        </p:txBody>
      </p:sp>
      <p:sp>
        <p:nvSpPr>
          <p:cNvPr id="18" name="Text 15"/>
          <p:cNvSpPr/>
          <p:nvPr/>
        </p:nvSpPr>
        <p:spPr>
          <a:xfrm>
            <a:off x="6562192"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内装のない状態からの造作。レイアウトを自由に設計できます。</a:t>
            </a:r>
            <a:endParaRPr lang="en-US" sz="1000" dirty="0"/>
          </a:p>
        </p:txBody>
      </p:sp>
      <p:sp>
        <p:nvSpPr>
          <p:cNvPr id="19" name="Shape 16"/>
          <p:cNvSpPr/>
          <p:nvPr/>
        </p:nvSpPr>
        <p:spPr>
          <a:xfrm>
            <a:off x="660197" y="3535070"/>
            <a:ext cx="10871302" cy="2468880"/>
          </a:xfrm>
          <a:prstGeom prst="roundRect">
            <a:avLst>
              <a:gd name="adj" fmla="val 2222"/>
            </a:avLst>
          </a:prstGeom>
          <a:solidFill>
            <a:srgbClr val="FFFFFF"/>
          </a:solidFill>
          <a:ln w="9525">
            <a:solidFill>
              <a:srgbClr val="EFEAE0"/>
            </a:solidFill>
            <a:prstDash val="solid"/>
          </a:ln>
        </p:spPr>
      </p:sp>
      <p:sp>
        <p:nvSpPr>
          <p:cNvPr id="20" name="Text 17"/>
          <p:cNvSpPr/>
          <p:nvPr/>
        </p:nvSpPr>
        <p:spPr>
          <a:xfrm>
            <a:off x="934517" y="3736238"/>
            <a:ext cx="6400800" cy="256032"/>
          </a:xfrm>
          <a:prstGeom prst="rect">
            <a:avLst/>
          </a:prstGeom>
          <a:noFill/>
          <a:ln/>
        </p:spPr>
        <p:txBody>
          <a:bodyPr wrap="square" lIns="0" tIns="0" rIns="0" bIns="0" rtlCol="0" anchor="ctr"/>
          <a:lstStyle/>
          <a:p>
            <a:pPr indent="0" marL="0">
              <a:buNone/>
            </a:pPr>
            <a:r>
              <a:rPr lang="en-US" sz="1150" b="1" dirty="0">
                <a:solidFill>
                  <a:srgbClr val="0A3D23"/>
                </a:solidFill>
                <a:latin typeface="Yu Gothic" pitchFamily="34" charset="0"/>
                <a:ea typeface="Yu Gothic" pitchFamily="34" charset="-122"/>
                <a:cs typeface="Yu Gothic" pitchFamily="34" charset="-120"/>
              </a:rPr>
              <a:t>パートナー制度 初期費用内訳（20坪想定・居抜きパターン）</a:t>
            </a:r>
            <a:endParaRPr lang="en-US" sz="1150" dirty="0"/>
          </a:p>
        </p:txBody>
      </p:sp>
      <p:sp>
        <p:nvSpPr>
          <p:cNvPr id="21" name="Text 18"/>
          <p:cNvSpPr/>
          <p:nvPr/>
        </p:nvSpPr>
        <p:spPr>
          <a:xfrm>
            <a:off x="9154058" y="3699662"/>
            <a:ext cx="2103120" cy="329184"/>
          </a:xfrm>
          <a:prstGeom prst="rect">
            <a:avLst/>
          </a:prstGeom>
          <a:noFill/>
          <a:ln/>
        </p:spPr>
        <p:txBody>
          <a:bodyPr wrap="square" lIns="0" tIns="0" rIns="0" bIns="0" rtlCol="0" anchor="ctr"/>
          <a:lstStyle/>
          <a:p>
            <a:pPr algn="r" indent="0" marL="0">
              <a:buNone/>
            </a:pPr>
            <a:r>
              <a:rPr lang="en-US" sz="1000" dirty="0">
                <a:solidFill>
                  <a:srgbClr val="7E8882"/>
                </a:solidFill>
                <a:latin typeface="Yu Gothic" pitchFamily="34" charset="0"/>
                <a:ea typeface="Yu Gothic" pitchFamily="34" charset="-122"/>
                <a:cs typeface="Yu Gothic" pitchFamily="34" charset="-120"/>
              </a:rPr>
              <a:t>合計 </a:t>
            </a:r>
            <a:pPr algn="r" indent="0" marL="0">
              <a:buNone/>
            </a:pPr>
            <a:r>
              <a:rPr lang="en-US" sz="1500" b="1" dirty="0">
                <a:solidFill>
                  <a:srgbClr val="106838"/>
                </a:solidFill>
                <a:latin typeface="Arial" pitchFamily="34" charset="0"/>
                <a:ea typeface="Arial" pitchFamily="34" charset="-122"/>
                <a:cs typeface="Arial" pitchFamily="34" charset="-120"/>
              </a:rPr>
              <a:t>650万円〜</a:t>
            </a:r>
            <a:endParaRPr lang="en-US" sz="1000" dirty="0"/>
          </a:p>
        </p:txBody>
      </p:sp>
      <p:sp>
        <p:nvSpPr>
          <p:cNvPr id="22" name="Shape 19"/>
          <p:cNvSpPr/>
          <p:nvPr/>
        </p:nvSpPr>
        <p:spPr>
          <a:xfrm>
            <a:off x="934517" y="4138574"/>
            <a:ext cx="2443505" cy="1664208"/>
          </a:xfrm>
          <a:prstGeom prst="roundRect">
            <a:avLst>
              <a:gd name="adj" fmla="val 3297"/>
            </a:avLst>
          </a:prstGeom>
          <a:solidFill>
            <a:srgbClr val="F1F8F3"/>
          </a:solidFill>
          <a:ln w="9525">
            <a:solidFill>
              <a:srgbClr val="D2E7DA"/>
            </a:solidFill>
            <a:prstDash val="solid"/>
          </a:ln>
        </p:spPr>
      </p:sp>
      <p:pic>
        <p:nvPicPr>
          <p:cNvPr id="23" name="Image 1" descr="/home/user/suzuki-ceo/selfcafe-partner-deck/assets/icons/LuHandCoins-green.png">    </p:cNvPr>
          <p:cNvPicPr>
            <a:picLocks noChangeAspect="1"/>
          </p:cNvPicPr>
          <p:nvPr/>
        </p:nvPicPr>
        <p:blipFill>
          <a:blip r:embed="rId2"/>
          <a:stretch>
            <a:fillRect/>
          </a:stretch>
        </p:blipFill>
        <p:spPr>
          <a:xfrm>
            <a:off x="1135685" y="4321454"/>
            <a:ext cx="292608" cy="292608"/>
          </a:xfrm>
          <a:prstGeom prst="rect">
            <a:avLst/>
          </a:prstGeom>
        </p:spPr>
      </p:pic>
      <p:sp>
        <p:nvSpPr>
          <p:cNvPr id="24" name="Text 20"/>
          <p:cNvSpPr/>
          <p:nvPr/>
        </p:nvSpPr>
        <p:spPr>
          <a:xfrm>
            <a:off x="1135685"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p>
        </p:txBody>
      </p:sp>
      <p:sp>
        <p:nvSpPr>
          <p:cNvPr id="25" name="Text 21"/>
          <p:cNvSpPr/>
          <p:nvPr/>
        </p:nvSpPr>
        <p:spPr>
          <a:xfrm>
            <a:off x="1135685"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26" name="Shape 22"/>
          <p:cNvSpPr/>
          <p:nvPr/>
        </p:nvSpPr>
        <p:spPr>
          <a:xfrm>
            <a:off x="3560902" y="4138574"/>
            <a:ext cx="2443505" cy="1664208"/>
          </a:xfrm>
          <a:prstGeom prst="roundRect">
            <a:avLst>
              <a:gd name="adj" fmla="val 3297"/>
            </a:avLst>
          </a:prstGeom>
          <a:solidFill>
            <a:srgbClr val="F1F8F3"/>
          </a:solidFill>
          <a:ln w="9525">
            <a:solidFill>
              <a:srgbClr val="D2E7DA"/>
            </a:solidFill>
            <a:prstDash val="solid"/>
          </a:ln>
        </p:spPr>
      </p:sp>
      <p:pic>
        <p:nvPicPr>
          <p:cNvPr id="27" name="Image 2" descr="/home/user/suzuki-ceo/selfcafe-partner-deck/assets/icons/LuHammer-green.png">    </p:cNvPr>
          <p:cNvPicPr>
            <a:picLocks noChangeAspect="1"/>
          </p:cNvPicPr>
          <p:nvPr/>
        </p:nvPicPr>
        <p:blipFill>
          <a:blip r:embed="rId3"/>
          <a:stretch>
            <a:fillRect/>
          </a:stretch>
        </p:blipFill>
        <p:spPr>
          <a:xfrm>
            <a:off x="3762070" y="4321454"/>
            <a:ext cx="292608" cy="292608"/>
          </a:xfrm>
          <a:prstGeom prst="rect">
            <a:avLst/>
          </a:prstGeom>
        </p:spPr>
      </p:pic>
      <p:sp>
        <p:nvSpPr>
          <p:cNvPr id="28" name="Text 23"/>
          <p:cNvSpPr/>
          <p:nvPr/>
        </p:nvSpPr>
        <p:spPr>
          <a:xfrm>
            <a:off x="3762070"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出店工事費用</a:t>
            </a:r>
            <a:endParaRPr lang="en-US" sz="1050" dirty="0"/>
          </a:p>
        </p:txBody>
      </p:sp>
      <p:sp>
        <p:nvSpPr>
          <p:cNvPr id="29" name="Text 24"/>
          <p:cNvSpPr/>
          <p:nvPr/>
        </p:nvSpPr>
        <p:spPr>
          <a:xfrm>
            <a:off x="3762070"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400万円〜</a:t>
            </a:r>
            <a:endParaRPr lang="en-US" sz="1700" dirty="0"/>
          </a:p>
        </p:txBody>
      </p:sp>
      <p:sp>
        <p:nvSpPr>
          <p:cNvPr id="30" name="Text 25"/>
          <p:cNvSpPr/>
          <p:nvPr/>
        </p:nvSpPr>
        <p:spPr>
          <a:xfrm>
            <a:off x="3762070"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設備・電気・大工・内装工事等</a:t>
            </a:r>
            <a:endParaRPr lang="en-US" sz="850" dirty="0"/>
          </a:p>
        </p:txBody>
      </p:sp>
      <p:sp>
        <p:nvSpPr>
          <p:cNvPr id="31" name="Shape 26"/>
          <p:cNvSpPr/>
          <p:nvPr/>
        </p:nvSpPr>
        <p:spPr>
          <a:xfrm>
            <a:off x="6187288" y="4138574"/>
            <a:ext cx="2443505" cy="1664208"/>
          </a:xfrm>
          <a:prstGeom prst="roundRect">
            <a:avLst>
              <a:gd name="adj" fmla="val 3297"/>
            </a:avLst>
          </a:prstGeom>
          <a:solidFill>
            <a:srgbClr val="F1F8F3"/>
          </a:solidFill>
          <a:ln w="9525">
            <a:solidFill>
              <a:srgbClr val="D2E7DA"/>
            </a:solidFill>
            <a:prstDash val="solid"/>
          </a:ln>
        </p:spPr>
      </p:sp>
      <p:pic>
        <p:nvPicPr>
          <p:cNvPr id="32" name="Image 3" descr="/home/user/suzuki-ceo/selfcafe-partner-deck/assets/icons/LuStore-green.png">    </p:cNvPr>
          <p:cNvPicPr>
            <a:picLocks noChangeAspect="1"/>
          </p:cNvPicPr>
          <p:nvPr/>
        </p:nvPicPr>
        <p:blipFill>
          <a:blip r:embed="rId4"/>
          <a:stretch>
            <a:fillRect/>
          </a:stretch>
        </p:blipFill>
        <p:spPr>
          <a:xfrm>
            <a:off x="6388456" y="4321454"/>
            <a:ext cx="292608" cy="292608"/>
          </a:xfrm>
          <a:prstGeom prst="rect">
            <a:avLst/>
          </a:prstGeom>
        </p:spPr>
      </p:pic>
      <p:sp>
        <p:nvSpPr>
          <p:cNvPr id="33" name="Text 27"/>
          <p:cNvSpPr/>
          <p:nvPr/>
        </p:nvSpPr>
        <p:spPr>
          <a:xfrm>
            <a:off x="6388456"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出店準備金</a:t>
            </a:r>
            <a:endParaRPr lang="en-US" sz="1050" dirty="0"/>
          </a:p>
        </p:txBody>
      </p:sp>
      <p:sp>
        <p:nvSpPr>
          <p:cNvPr id="34" name="Text 28"/>
          <p:cNvSpPr/>
          <p:nvPr/>
        </p:nvSpPr>
        <p:spPr>
          <a:xfrm>
            <a:off x="6388456"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35" name="Text 29"/>
          <p:cNvSpPr/>
          <p:nvPr/>
        </p:nvSpPr>
        <p:spPr>
          <a:xfrm>
            <a:off x="6388456"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カメラ・モニター・机・椅子等の備品類</a:t>
            </a:r>
            <a:endParaRPr lang="en-US" sz="850" dirty="0"/>
          </a:p>
        </p:txBody>
      </p:sp>
      <p:sp>
        <p:nvSpPr>
          <p:cNvPr id="36" name="Shape 30"/>
          <p:cNvSpPr/>
          <p:nvPr/>
        </p:nvSpPr>
        <p:spPr>
          <a:xfrm>
            <a:off x="8813673" y="4138574"/>
            <a:ext cx="2443505" cy="1664208"/>
          </a:xfrm>
          <a:prstGeom prst="roundRect">
            <a:avLst>
              <a:gd name="adj" fmla="val 3297"/>
            </a:avLst>
          </a:prstGeom>
          <a:solidFill>
            <a:srgbClr val="F1F8F3"/>
          </a:solidFill>
          <a:ln w="9525">
            <a:solidFill>
              <a:srgbClr val="D2E7DA"/>
            </a:solidFill>
            <a:prstDash val="solid"/>
          </a:ln>
        </p:spPr>
      </p:sp>
      <p:pic>
        <p:nvPicPr>
          <p:cNvPr id="37" name="Image 4" descr="/home/user/suzuki-ceo/selfcafe-partner-deck/assets/icons/LuReceipt-green.png">    </p:cNvPr>
          <p:cNvPicPr>
            <a:picLocks noChangeAspect="1"/>
          </p:cNvPicPr>
          <p:nvPr/>
        </p:nvPicPr>
        <p:blipFill>
          <a:blip r:embed="rId5"/>
          <a:stretch>
            <a:fillRect/>
          </a:stretch>
        </p:blipFill>
        <p:spPr>
          <a:xfrm>
            <a:off x="9014841" y="4321454"/>
            <a:ext cx="292608" cy="292608"/>
          </a:xfrm>
          <a:prstGeom prst="rect">
            <a:avLst/>
          </a:prstGeom>
        </p:spPr>
      </p:pic>
      <p:sp>
        <p:nvSpPr>
          <p:cNvPr id="38" name="Text 31"/>
          <p:cNvSpPr/>
          <p:nvPr/>
        </p:nvSpPr>
        <p:spPr>
          <a:xfrm>
            <a:off x="9014841"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別途保証金</a:t>
            </a:r>
            <a:endParaRPr lang="en-US" sz="1050" dirty="0"/>
          </a:p>
        </p:txBody>
      </p:sp>
      <p:sp>
        <p:nvSpPr>
          <p:cNvPr id="39" name="Text 32"/>
          <p:cNvSpPr/>
          <p:nvPr/>
        </p:nvSpPr>
        <p:spPr>
          <a:xfrm>
            <a:off x="9014841"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50万円〜</a:t>
            </a:r>
            <a:endParaRPr lang="en-US" sz="1700" dirty="0"/>
          </a:p>
        </p:txBody>
      </p:sp>
      <p:sp>
        <p:nvSpPr>
          <p:cNvPr id="40" name="Text 33"/>
          <p:cNvSpPr/>
          <p:nvPr/>
        </p:nvSpPr>
        <p:spPr>
          <a:xfrm>
            <a:off x="9014841"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預り金。原料やロイヤリティの支払い確認が取れない場合に差し引き</a:t>
            </a:r>
            <a:endParaRPr lang="en-US" sz="850" dirty="0"/>
          </a:p>
        </p:txBody>
      </p:sp>
      <p:sp>
        <p:nvSpPr>
          <p:cNvPr id="41" name="Text 34"/>
          <p:cNvSpPr/>
          <p:nvPr/>
        </p:nvSpPr>
        <p:spPr>
          <a:xfrm>
            <a:off x="660197" y="610819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金額は目安です。物件条件・工事範囲により変動します。</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pPr indent="0" marL="0">
              <a:buNone/>
            </a:pP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1杯400円 × 67杯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800,000円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-160,000円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仮定坪単価：10,000円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-30,000円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水道9,000円／光熱71,000円（24H営業想定）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ドリンクマシン×2台、決済端末×2台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154,000円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STANDARD</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154,000円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1,848,000円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売上は1杯400円で算出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pPr indent="0" marL="0">
              <a:buNone/>
            </a:pP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70坪（120席）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1杯400円 × 125杯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1,500,000円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-300,000円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仮定坪単価：8,000円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-560,000円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-40,000円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水道15,000円／光熱85,000円（24H営業想定）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-100,000円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ドリンクマシン38,000円×2台、決済端末5,000円×2台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319,000円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LARGE</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319,000円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3,828,000円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売上は1杯400円で算出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pPr indent="0" marL="0">
              <a:buNone/>
            </a:pP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80</a:t>
            </a:r>
            <a:pPr indent="0" marL="0">
              <a:buNone/>
            </a:pP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a:t>
            </a:r>
            <a:endParaRPr lang="en-US" sz="900" dirty="0"/>
          </a:p>
        </p:txBody>
      </p:sp>
      <p:sp>
        <p:nvSpPr>
          <p:cNvPr id="21" name="Shape 18"/>
          <p:cNvSpPr/>
          <p:nvPr/>
        </p:nvSpPr>
        <p:spPr>
          <a:xfrm>
            <a:off x="660197" y="2492654"/>
            <a:ext cx="6035040" cy="3566160"/>
          </a:xfrm>
          <a:prstGeom prst="roundRect">
            <a:avLst>
              <a:gd name="adj" fmla="val 1282"/>
            </a:avLst>
          </a:prstGeom>
          <a:solidFill>
            <a:srgbClr val="F4F2EE"/>
          </a:solidFill>
          <a:ln w="12700">
            <a:solidFill>
              <a:srgbClr val="DED8CC"/>
            </a:solidFill>
            <a:prstDash val="dash"/>
          </a:ln>
        </p:spPr>
      </p:sp>
      <p:pic>
        <p:nvPicPr>
          <p:cNvPr id="22" name="Image 1" descr="/home/user/suzuki-ceo/selfcafe-partner-deck/assets/icons/LuImage-muted.png">    </p:cNvPr>
          <p:cNvPicPr>
            <a:picLocks noChangeAspect="1"/>
          </p:cNvPicPr>
          <p:nvPr/>
        </p:nvPicPr>
        <p:blipFill>
          <a:blip r:embed="rId2"/>
          <a:stretch>
            <a:fillRect/>
          </a:stretch>
        </p:blipFill>
        <p:spPr>
          <a:xfrm>
            <a:off x="3439973" y="4001414"/>
            <a:ext cx="475488" cy="475488"/>
          </a:xfrm>
          <a:prstGeom prst="rect">
            <a:avLst/>
          </a:prstGeom>
        </p:spPr>
      </p:pic>
      <p:sp>
        <p:nvSpPr>
          <p:cNvPr id="23" name="Text 19"/>
          <p:cNvSpPr/>
          <p:nvPr/>
        </p:nvSpPr>
        <p:spPr>
          <a:xfrm>
            <a:off x="733349" y="4513478"/>
            <a:ext cx="5888736"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4" name="Text 20"/>
          <p:cNvSpPr/>
          <p:nvPr/>
        </p:nvSpPr>
        <p:spPr>
          <a:xfrm>
            <a:off x="733349" y="4705502"/>
            <a:ext cx="5888736" cy="384048"/>
          </a:xfrm>
          <a:prstGeom prst="rect">
            <a:avLst/>
          </a:prstGeom>
          <a:noFill/>
          <a:ln/>
        </p:spPr>
        <p:txBody>
          <a:bodyPr wrap="square" lIns="0" tIns="0" rIns="0" bIns="0" rtlCol="0" anchor="t"/>
          <a:lstStyle/>
          <a:p>
            <a:pPr algn="ctr" indent="0" marL="0">
              <a:lnSpc>
                <a:spcPct val="115000"/>
              </a:lnSpc>
              <a:buNone/>
            </a:pPr>
            <a:r>
              <a:rPr lang="en-US" sz="1050" b="1" dirty="0">
                <a:solidFill>
                  <a:srgbClr val="0A3D23"/>
                </a:solidFill>
                <a:latin typeface="Yu Gothic" pitchFamily="34" charset="0"/>
                <a:ea typeface="Yu Gothic" pitchFamily="34" charset="-122"/>
                <a:cs typeface="Yu Gothic" pitchFamily="34" charset="-120"/>
              </a:rPr>
              <a:t>盛岡駅前店の外観／店内の様子</a:t>
            </a:r>
            <a:endParaRPr lang="en-US" sz="1050" dirty="0"/>
          </a:p>
        </p:txBody>
      </p:sp>
      <p:sp>
        <p:nvSpPr>
          <p:cNvPr id="25" name="Shape 21"/>
          <p:cNvSpPr/>
          <p:nvPr/>
        </p:nvSpPr>
        <p:spPr>
          <a:xfrm>
            <a:off x="7079285" y="2492654"/>
            <a:ext cx="4452214" cy="3566160"/>
          </a:xfrm>
          <a:prstGeom prst="roundRect">
            <a:avLst>
              <a:gd name="adj" fmla="val 1538"/>
            </a:avLst>
          </a:prstGeom>
          <a:solidFill>
            <a:srgbClr val="FFFFFF"/>
          </a:solidFill>
          <a:ln w="9525">
            <a:solidFill>
              <a:srgbClr val="EFEAE0"/>
            </a:solidFill>
            <a:prstDash val="solid"/>
          </a:ln>
        </p:spPr>
      </p:sp>
      <p:sp>
        <p:nvSpPr>
          <p:cNvPr id="26" name="Text 22"/>
          <p:cNvSpPr/>
          <p:nvPr/>
        </p:nvSpPr>
        <p:spPr>
          <a:xfrm>
            <a:off x="7353605" y="2748686"/>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27" name="Text 23"/>
          <p:cNvSpPr/>
          <p:nvPr/>
        </p:nvSpPr>
        <p:spPr>
          <a:xfrm>
            <a:off x="7353605" y="3004718"/>
            <a:ext cx="3903574" cy="384048"/>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1日80杯ペースでの稼働</a:t>
            </a:r>
            <a:endParaRPr lang="en-US" sz="1800" dirty="0"/>
          </a:p>
        </p:txBody>
      </p:sp>
      <p:sp>
        <p:nvSpPr>
          <p:cNvPr id="28" name="Text 24"/>
          <p:cNvSpPr/>
          <p:nvPr/>
        </p:nvSpPr>
        <p:spPr>
          <a:xfrm>
            <a:off x="7353605" y="3461918"/>
            <a:ext cx="3903574" cy="822960"/>
          </a:xfrm>
          <a:prstGeom prst="rect">
            <a:avLst/>
          </a:prstGeom>
          <a:noFill/>
          <a:ln/>
        </p:spPr>
        <p:txBody>
          <a:bodyPr wrap="square" lIns="0" tIns="0" rIns="0" bIns="0" rtlCol="0" anchor="t"/>
          <a:lstStyle/>
          <a:p>
            <a:pPr indent="0" marL="0">
              <a:lnSpc>
                <a:spcPct val="145000"/>
              </a:lnSpc>
              <a:buNone/>
            </a:pPr>
            <a:r>
              <a:rPr lang="en-US" sz="1100" dirty="0">
                <a:solidFill>
                  <a:srgbClr val="4B5550"/>
                </a:solidFill>
                <a:latin typeface="Yu Gothic" pitchFamily="34" charset="0"/>
                <a:ea typeface="Yu Gothic" pitchFamily="34" charset="-122"/>
                <a:cs typeface="Yu Gothic" pitchFamily="34" charset="-120"/>
              </a:rPr>
              <a:t>1回の利用で2〜3時間、2杯程度購入する傾向があります。地方都市の駅前立地で、学生からビジネスマンまで幅広い層を獲得しています。</a:t>
            </a:r>
            <a:endParaRPr lang="en-US" sz="1100" dirty="0"/>
          </a:p>
        </p:txBody>
      </p:sp>
      <p:sp>
        <p:nvSpPr>
          <p:cNvPr id="29" name="Shape 25"/>
          <p:cNvSpPr/>
          <p:nvPr/>
        </p:nvSpPr>
        <p:spPr>
          <a:xfrm>
            <a:off x="7353605" y="4358030"/>
            <a:ext cx="3903574" cy="10058"/>
          </a:xfrm>
          <a:prstGeom prst="rect">
            <a:avLst/>
          </a:prstGeom>
          <a:solidFill>
            <a:srgbClr val="EFEAE0"/>
          </a:solidFill>
          <a:ln/>
        </p:spPr>
      </p:sp>
      <p:sp>
        <p:nvSpPr>
          <p:cNvPr id="30" name="Text 26"/>
          <p:cNvSpPr/>
          <p:nvPr/>
        </p:nvSpPr>
        <p:spPr>
          <a:xfrm>
            <a:off x="7353605" y="450433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開業</a:t>
            </a:r>
            <a:endParaRPr lang="en-US" sz="950" dirty="0"/>
          </a:p>
        </p:txBody>
      </p:sp>
      <p:sp>
        <p:nvSpPr>
          <p:cNvPr id="31" name="Text 27"/>
          <p:cNvSpPr/>
          <p:nvPr/>
        </p:nvSpPr>
        <p:spPr>
          <a:xfrm>
            <a:off x="8816645" y="450433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2025年4月</a:t>
            </a:r>
            <a:endParaRPr lang="en-US" sz="1100" dirty="0"/>
          </a:p>
        </p:txBody>
      </p:sp>
      <p:sp>
        <p:nvSpPr>
          <p:cNvPr id="32" name="Text 28"/>
          <p:cNvSpPr/>
          <p:nvPr/>
        </p:nvSpPr>
        <p:spPr>
          <a:xfrm>
            <a:off x="7353605" y="487009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面積・席数</a:t>
            </a:r>
            <a:endParaRPr lang="en-US" sz="950" dirty="0"/>
          </a:p>
        </p:txBody>
      </p:sp>
      <p:sp>
        <p:nvSpPr>
          <p:cNvPr id="33" name="Text 29"/>
          <p:cNvSpPr/>
          <p:nvPr/>
        </p:nvSpPr>
        <p:spPr>
          <a:xfrm>
            <a:off x="8816645" y="487009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20坪／40席</a:t>
            </a:r>
            <a:endParaRPr lang="en-US" sz="1100" dirty="0"/>
          </a:p>
        </p:txBody>
      </p:sp>
      <p:sp>
        <p:nvSpPr>
          <p:cNvPr id="34" name="Text 30"/>
          <p:cNvSpPr/>
          <p:nvPr/>
        </p:nvSpPr>
        <p:spPr>
          <a:xfrm>
            <a:off x="7353605" y="523585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立地</a:t>
            </a:r>
            <a:endParaRPr lang="en-US" sz="950" dirty="0"/>
          </a:p>
        </p:txBody>
      </p:sp>
      <p:sp>
        <p:nvSpPr>
          <p:cNvPr id="35" name="Text 31"/>
          <p:cNvSpPr/>
          <p:nvPr/>
        </p:nvSpPr>
        <p:spPr>
          <a:xfrm>
            <a:off x="8816645" y="523585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岩手県盛岡市・駅前</a:t>
            </a:r>
            <a:endParaRPr lang="en-US" sz="1100" dirty="0"/>
          </a:p>
        </p:txBody>
      </p:sp>
      <p:sp>
        <p:nvSpPr>
          <p:cNvPr id="36" name="Text 32"/>
          <p:cNvSpPr/>
          <p:nvPr/>
        </p:nvSpPr>
        <p:spPr>
          <a:xfrm>
            <a:off x="7353605" y="560161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営業時間</a:t>
            </a:r>
            <a:endParaRPr lang="en-US" sz="950" dirty="0"/>
          </a:p>
        </p:txBody>
      </p:sp>
      <p:sp>
        <p:nvSpPr>
          <p:cNvPr id="37" name="Text 33"/>
          <p:cNvSpPr/>
          <p:nvPr/>
        </p:nvSpPr>
        <p:spPr>
          <a:xfrm>
            <a:off x="8816645" y="560161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24時間</a:t>
            </a:r>
            <a:endParaRPr lang="en-US" sz="1100" dirty="0"/>
          </a:p>
        </p:txBody>
      </p:sp>
      <p:sp>
        <p:nvSpPr>
          <p:cNvPr id="38" name="Text 34"/>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実績値であり、他店舗での同等の売上・利益を保証するものではありません。</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pPr indent="0" marL="0">
              <a:buNone/>
            </a:pP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必要に応じて追加できるオプションです（金額は税抜き）。SEO・MEO対策は費用なしで標準提供します。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365760">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初期費用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月額費用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内容・備考</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53035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SEO対策</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標準提供（費用なし）</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HP作成／定期更新、プレスリリース 等</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3035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MEO対策</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標準提供（費用なし）</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Google MAP設置、定期投稿／更新 等</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3268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公式LINE作成</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40080">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顧客用コピー機</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20,000円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4980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営業サポートプラン</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（フルサポート）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現地対応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エリア限定</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48640">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営業サポートプラン</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（ミニマムサポート）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PayPayポイント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標準提供（費用なし）</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PayPayポイントの付与に対応します。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pPr indent="0" marL="0">
              <a:buNone/>
            </a:pP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125"/>
            </a:avLst>
          </a:prstGeom>
          <a:solidFill>
            <a:srgbClr val="F4F2EE"/>
          </a:solidFill>
          <a:ln w="12700">
            <a:solidFill>
              <a:srgbClr val="DED8CC"/>
            </a:solidFill>
            <a:prstDash val="dash"/>
          </a:ln>
        </p:spPr>
      </p:sp>
      <p:pic>
        <p:nvPicPr>
          <p:cNvPr id="23" name="Image 2" descr="/home/user/suzuki-ceo/selfcafe-partner-deck/assets/icons/LuImage-muted.png">    </p:cNvPr>
          <p:cNvPicPr>
            <a:picLocks noChangeAspect="1"/>
          </p:cNvPicPr>
          <p:nvPr/>
        </p:nvPicPr>
        <p:blipFill>
          <a:blip r:embed="rId3"/>
          <a:stretch>
            <a:fillRect/>
          </a:stretch>
        </p:blipFill>
        <p:spPr>
          <a:xfrm>
            <a:off x="2602382" y="4723790"/>
            <a:ext cx="321869" cy="321869"/>
          </a:xfrm>
          <a:prstGeom prst="rect">
            <a:avLst/>
          </a:prstGeom>
        </p:spPr>
      </p:pic>
      <p:sp>
        <p:nvSpPr>
          <p:cNvPr id="24" name="Text 19"/>
          <p:cNvSpPr/>
          <p:nvPr/>
        </p:nvSpPr>
        <p:spPr>
          <a:xfrm>
            <a:off x="1007669" y="5082235"/>
            <a:ext cx="3511296"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5" name="Text 20"/>
          <p:cNvSpPr/>
          <p:nvPr/>
        </p:nvSpPr>
        <p:spPr>
          <a:xfrm>
            <a:off x="1007669" y="5274259"/>
            <a:ext cx="3511296" cy="384048"/>
          </a:xfrm>
          <a:prstGeom prst="rect">
            <a:avLst/>
          </a:prstGeom>
          <a:noFill/>
          <a:ln/>
        </p:spPr>
        <p:txBody>
          <a:bodyPr wrap="square" lIns="0" tIns="0" rIns="0" bIns="0" rtlCol="0" anchor="t"/>
          <a:lstStyle/>
          <a:p>
            <a:pPr algn="ctr" indent="0" marL="0">
              <a:lnSpc>
                <a:spcPct val="115000"/>
              </a:lnSpc>
              <a:buNone/>
            </a:pPr>
            <a:r>
              <a:rPr lang="en-US" sz="950" b="1" dirty="0">
                <a:solidFill>
                  <a:srgbClr val="0A3D23"/>
                </a:solidFill>
                <a:latin typeface="Yu Gothic" pitchFamily="34" charset="0"/>
                <a:ea typeface="Yu Gothic" pitchFamily="34" charset="-122"/>
                <a:cs typeface="Yu Gothic" pitchFamily="34" charset="-120"/>
              </a:rPr>
              <a:t>ドリンクマシン本体（100RS）</a:t>
            </a:r>
            <a:endParaRPr lang="en-US" sz="950" dirty="0"/>
          </a:p>
        </p:txBody>
      </p:sp>
      <p:sp>
        <p:nvSpPr>
          <p:cNvPr id="26" name="Text 21"/>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sp>
        <p:nvSpPr>
          <p:cNvPr id="27" name="Shape 22"/>
          <p:cNvSpPr/>
          <p:nvPr/>
        </p:nvSpPr>
        <p:spPr>
          <a:xfrm>
            <a:off x="5250485" y="2017166"/>
            <a:ext cx="6281014" cy="3346704"/>
          </a:xfrm>
          <a:prstGeom prst="roundRect">
            <a:avLst>
              <a:gd name="adj" fmla="val 1366"/>
            </a:avLst>
          </a:prstGeom>
          <a:solidFill>
            <a:srgbClr val="F4F2EE"/>
          </a:solidFill>
          <a:ln w="12700">
            <a:solidFill>
              <a:srgbClr val="DED8CC"/>
            </a:solidFill>
            <a:prstDash val="dash"/>
          </a:ln>
        </p:spPr>
      </p:sp>
      <p:pic>
        <p:nvPicPr>
          <p:cNvPr id="28" name="Image 3" descr="/home/user/suzuki-ceo/selfcafe-partner-deck/assets/icons/LuImage-muted.png">    </p:cNvPr>
          <p:cNvPicPr>
            <a:picLocks noChangeAspect="1"/>
          </p:cNvPicPr>
          <p:nvPr/>
        </p:nvPicPr>
        <p:blipFill>
          <a:blip r:embed="rId4"/>
          <a:stretch>
            <a:fillRect/>
          </a:stretch>
        </p:blipFill>
        <p:spPr>
          <a:xfrm>
            <a:off x="8153248" y="3416198"/>
            <a:ext cx="475488" cy="475488"/>
          </a:xfrm>
          <a:prstGeom prst="rect">
            <a:avLst/>
          </a:prstGeom>
        </p:spPr>
      </p:pic>
      <p:sp>
        <p:nvSpPr>
          <p:cNvPr id="29" name="Text 23"/>
          <p:cNvSpPr/>
          <p:nvPr/>
        </p:nvSpPr>
        <p:spPr>
          <a:xfrm>
            <a:off x="5323637" y="3928262"/>
            <a:ext cx="6134710"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30" name="Text 24"/>
          <p:cNvSpPr/>
          <p:nvPr/>
        </p:nvSpPr>
        <p:spPr>
          <a:xfrm>
            <a:off x="5323637" y="4120286"/>
            <a:ext cx="6134710" cy="384048"/>
          </a:xfrm>
          <a:prstGeom prst="rect">
            <a:avLst/>
          </a:prstGeom>
          <a:noFill/>
          <a:ln/>
        </p:spPr>
        <p:txBody>
          <a:bodyPr wrap="square" lIns="0" tIns="0" rIns="0" bIns="0" rtlCol="0" anchor="t"/>
          <a:lstStyle/>
          <a:p>
            <a:pPr algn="ctr" indent="0" marL="0">
              <a:lnSpc>
                <a:spcPct val="115000"/>
              </a:lnSpc>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1" name="Shape 25"/>
          <p:cNvSpPr/>
          <p:nvPr/>
        </p:nvSpPr>
        <p:spPr>
          <a:xfrm>
            <a:off x="5250485" y="5491886"/>
            <a:ext cx="6281014" cy="475488"/>
          </a:xfrm>
          <a:prstGeom prst="roundRect">
            <a:avLst>
              <a:gd name="adj" fmla="val 9615"/>
            </a:avLst>
          </a:prstGeom>
          <a:solidFill>
            <a:srgbClr val="F1F8F3"/>
          </a:solidFill>
          <a:ln/>
        </p:spPr>
      </p:sp>
      <p:sp>
        <p:nvSpPr>
          <p:cNvPr id="32" name="Text 26"/>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既存スペースの一角に、2台並べての設置も可能です。</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pPr indent="0" marL="0">
              <a:buNone/>
            </a:pP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5243627" cy="2103120"/>
          </a:xfrm>
          <a:prstGeom prst="roundRect">
            <a:avLst>
              <a:gd name="adj" fmla="val 2609"/>
            </a:avLst>
          </a:prstGeom>
          <a:solidFill>
            <a:srgbClr val="FFFFFF"/>
          </a:solidFill>
          <a:ln w="9525">
            <a:solidFill>
              <a:srgbClr val="EFEAE0"/>
            </a:solidFill>
            <a:prstDash val="solid"/>
          </a:ln>
        </p:spPr>
      </p:sp>
      <p:sp>
        <p:nvSpPr>
          <p:cNvPr id="10" name="Text 7"/>
          <p:cNvSpPr/>
          <p:nvPr/>
        </p:nvSpPr>
        <p:spPr>
          <a:xfrm>
            <a:off x="934517" y="1870862"/>
            <a:ext cx="365760" cy="274320"/>
          </a:xfrm>
          <a:prstGeom prst="rect">
            <a:avLst/>
          </a:prstGeom>
          <a:noFill/>
          <a:ln/>
        </p:spPr>
        <p:txBody>
          <a:bodyPr wrap="square" lIns="0" tIns="0" rIns="0" bIns="0" rtlCol="0" anchor="ctr"/>
          <a:lstStyle/>
          <a:p>
            <a:pPr indent="0" marL="0">
              <a:buNone/>
            </a:pPr>
            <a:r>
              <a:rPr lang="en-US" sz="1400" b="1" dirty="0">
                <a:solidFill>
                  <a:srgbClr val="A8761F"/>
                </a:solidFill>
                <a:latin typeface="Arial" pitchFamily="34" charset="0"/>
                <a:ea typeface="Arial" pitchFamily="34" charset="-122"/>
                <a:cs typeface="Arial" pitchFamily="34" charset="-120"/>
              </a:rPr>
              <a:t>Q.</a:t>
            </a:r>
            <a:endParaRPr lang="en-US" sz="1400" dirty="0"/>
          </a:p>
        </p:txBody>
      </p:sp>
      <p:sp>
        <p:nvSpPr>
          <p:cNvPr id="11" name="Text 8"/>
          <p:cNvSpPr/>
          <p:nvPr/>
        </p:nvSpPr>
        <p:spPr>
          <a:xfrm>
            <a:off x="1336853" y="1852574"/>
            <a:ext cx="4292651" cy="310896"/>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準備は難しいですか？</a:t>
            </a:r>
            <a:endParaRPr lang="en-US" sz="1500" dirty="0"/>
          </a:p>
        </p:txBody>
      </p:sp>
      <p:sp>
        <p:nvSpPr>
          <p:cNvPr id="12" name="Shape 9"/>
          <p:cNvSpPr/>
          <p:nvPr/>
        </p:nvSpPr>
        <p:spPr>
          <a:xfrm>
            <a:off x="934517" y="2254910"/>
            <a:ext cx="4694987" cy="10058"/>
          </a:xfrm>
          <a:prstGeom prst="rect">
            <a:avLst/>
          </a:prstGeom>
          <a:solidFill>
            <a:srgbClr val="EFEAE0"/>
          </a:solidFill>
          <a:ln/>
        </p:spPr>
      </p:sp>
      <p:sp>
        <p:nvSpPr>
          <p:cNvPr id="13" name="Text 10"/>
          <p:cNvSpPr/>
          <p:nvPr/>
        </p:nvSpPr>
        <p:spPr>
          <a:xfrm>
            <a:off x="934517" y="2382926"/>
            <a:ext cx="365760" cy="256032"/>
          </a:xfrm>
          <a:prstGeom prst="rect">
            <a:avLst/>
          </a:prstGeom>
          <a:noFill/>
          <a:ln/>
        </p:spPr>
        <p:txBody>
          <a:bodyPr wrap="square" lIns="0" tIns="0" rIns="0" bIns="0" rtlCol="0" anchor="ctr"/>
          <a:lstStyle/>
          <a:p>
            <a:pPr indent="0" marL="0">
              <a:buNone/>
            </a:pPr>
            <a:r>
              <a:rPr lang="en-US" sz="1200" b="1" dirty="0">
                <a:solidFill>
                  <a:srgbClr val="106838"/>
                </a:solidFill>
                <a:latin typeface="Arial" pitchFamily="34" charset="0"/>
                <a:ea typeface="Arial" pitchFamily="34" charset="-122"/>
                <a:cs typeface="Arial" pitchFamily="34" charset="-120"/>
              </a:rPr>
              <a:t>A.</a:t>
            </a:r>
            <a:endParaRPr lang="en-US" sz="1200" dirty="0"/>
          </a:p>
        </p:txBody>
      </p:sp>
      <p:sp>
        <p:nvSpPr>
          <p:cNvPr id="14" name="Text 11"/>
          <p:cNvSpPr/>
          <p:nvPr/>
        </p:nvSpPr>
        <p:spPr>
          <a:xfrm>
            <a:off x="1336853" y="2364638"/>
            <a:ext cx="4292651" cy="859536"/>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1050" dirty="0"/>
          </a:p>
        </p:txBody>
      </p:sp>
      <p:sp>
        <p:nvSpPr>
          <p:cNvPr id="15" name="Shape 12"/>
          <p:cNvSpPr/>
          <p:nvPr/>
        </p:nvSpPr>
        <p:spPr>
          <a:xfrm>
            <a:off x="1336853" y="3297326"/>
            <a:ext cx="475488" cy="256032"/>
          </a:xfrm>
          <a:prstGeom prst="roundRect">
            <a:avLst>
              <a:gd name="adj" fmla="val 50000"/>
            </a:avLst>
          </a:prstGeom>
          <a:solidFill>
            <a:srgbClr val="F1F8F3"/>
          </a:solidFill>
          <a:ln w="9525">
            <a:solidFill>
              <a:srgbClr val="D2E7DA"/>
            </a:solidFill>
            <a:prstDash val="solid"/>
          </a:ln>
        </p:spPr>
      </p:sp>
      <p:sp>
        <p:nvSpPr>
          <p:cNvPr id="16" name="Text 13"/>
          <p:cNvSpPr/>
          <p:nvPr/>
        </p:nvSpPr>
        <p:spPr>
          <a:xfrm>
            <a:off x="1336853" y="3297326"/>
            <a:ext cx="475488"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内装</a:t>
            </a:r>
            <a:endParaRPr lang="en-US" sz="850" dirty="0"/>
          </a:p>
        </p:txBody>
      </p:sp>
      <p:sp>
        <p:nvSpPr>
          <p:cNvPr id="17" name="Shape 14"/>
          <p:cNvSpPr/>
          <p:nvPr/>
        </p:nvSpPr>
        <p:spPr>
          <a:xfrm>
            <a:off x="1922069" y="3297326"/>
            <a:ext cx="950976" cy="256032"/>
          </a:xfrm>
          <a:prstGeom prst="roundRect">
            <a:avLst>
              <a:gd name="adj" fmla="val 50000"/>
            </a:avLst>
          </a:prstGeom>
          <a:solidFill>
            <a:srgbClr val="F1F8F3"/>
          </a:solidFill>
          <a:ln w="9525">
            <a:solidFill>
              <a:srgbClr val="D2E7DA"/>
            </a:solidFill>
            <a:prstDash val="solid"/>
          </a:ln>
        </p:spPr>
      </p:sp>
      <p:sp>
        <p:nvSpPr>
          <p:cNvPr id="18" name="Text 15"/>
          <p:cNvSpPr/>
          <p:nvPr/>
        </p:nvSpPr>
        <p:spPr>
          <a:xfrm>
            <a:off x="1922069" y="3297326"/>
            <a:ext cx="950976"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システム導入</a:t>
            </a:r>
            <a:endParaRPr lang="en-US" sz="850" dirty="0"/>
          </a:p>
        </p:txBody>
      </p:sp>
      <p:sp>
        <p:nvSpPr>
          <p:cNvPr id="19" name="Shape 16"/>
          <p:cNvSpPr/>
          <p:nvPr/>
        </p:nvSpPr>
        <p:spPr>
          <a:xfrm>
            <a:off x="2982773" y="3297326"/>
            <a:ext cx="713232" cy="256032"/>
          </a:xfrm>
          <a:prstGeom prst="roundRect">
            <a:avLst>
              <a:gd name="adj" fmla="val 50000"/>
            </a:avLst>
          </a:prstGeom>
          <a:solidFill>
            <a:srgbClr val="F1F8F3"/>
          </a:solidFill>
          <a:ln w="9525">
            <a:solidFill>
              <a:srgbClr val="D2E7DA"/>
            </a:solidFill>
            <a:prstDash val="solid"/>
          </a:ln>
        </p:spPr>
      </p:sp>
      <p:sp>
        <p:nvSpPr>
          <p:cNvPr id="20" name="Text 17"/>
          <p:cNvSpPr/>
          <p:nvPr/>
        </p:nvSpPr>
        <p:spPr>
          <a:xfrm>
            <a:off x="2982773" y="3297326"/>
            <a:ext cx="713232"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運営研修</a:t>
            </a:r>
            <a:endParaRPr lang="en-US" sz="850" dirty="0"/>
          </a:p>
        </p:txBody>
      </p:sp>
      <p:sp>
        <p:nvSpPr>
          <p:cNvPr id="21" name="Shape 18"/>
          <p:cNvSpPr/>
          <p:nvPr/>
        </p:nvSpPr>
        <p:spPr>
          <a:xfrm>
            <a:off x="6287872" y="1651406"/>
            <a:ext cx="5243627" cy="2103120"/>
          </a:xfrm>
          <a:prstGeom prst="roundRect">
            <a:avLst>
              <a:gd name="adj" fmla="val 2609"/>
            </a:avLst>
          </a:prstGeom>
          <a:solidFill>
            <a:srgbClr val="FFFFFF"/>
          </a:solidFill>
          <a:ln w="9525">
            <a:solidFill>
              <a:srgbClr val="EFEAE0"/>
            </a:solidFill>
            <a:prstDash val="solid"/>
          </a:ln>
        </p:spPr>
      </p:sp>
      <p:sp>
        <p:nvSpPr>
          <p:cNvPr id="22" name="Text 19"/>
          <p:cNvSpPr/>
          <p:nvPr/>
        </p:nvSpPr>
        <p:spPr>
          <a:xfrm>
            <a:off x="6562192" y="1870862"/>
            <a:ext cx="365760" cy="274320"/>
          </a:xfrm>
          <a:prstGeom prst="rect">
            <a:avLst/>
          </a:prstGeom>
          <a:noFill/>
          <a:ln/>
        </p:spPr>
        <p:txBody>
          <a:bodyPr wrap="square" lIns="0" tIns="0" rIns="0" bIns="0" rtlCol="0" anchor="ctr"/>
          <a:lstStyle/>
          <a:p>
            <a:pPr indent="0" marL="0">
              <a:buNone/>
            </a:pPr>
            <a:r>
              <a:rPr lang="en-US" sz="1400" b="1" dirty="0">
                <a:solidFill>
                  <a:srgbClr val="A8761F"/>
                </a:solidFill>
                <a:latin typeface="Arial" pitchFamily="34" charset="0"/>
                <a:ea typeface="Arial" pitchFamily="34" charset="-122"/>
                <a:cs typeface="Arial" pitchFamily="34" charset="-120"/>
              </a:rPr>
              <a:t>Q.</a:t>
            </a:r>
            <a:endParaRPr lang="en-US" sz="1400" dirty="0"/>
          </a:p>
        </p:txBody>
      </p:sp>
      <p:sp>
        <p:nvSpPr>
          <p:cNvPr id="23" name="Text 20"/>
          <p:cNvSpPr/>
          <p:nvPr/>
        </p:nvSpPr>
        <p:spPr>
          <a:xfrm>
            <a:off x="6964528" y="1852574"/>
            <a:ext cx="4292651" cy="310896"/>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トラブル時の対応は？</a:t>
            </a:r>
            <a:endParaRPr lang="en-US" sz="1500" dirty="0"/>
          </a:p>
        </p:txBody>
      </p:sp>
      <p:sp>
        <p:nvSpPr>
          <p:cNvPr id="24" name="Shape 21"/>
          <p:cNvSpPr/>
          <p:nvPr/>
        </p:nvSpPr>
        <p:spPr>
          <a:xfrm>
            <a:off x="6562192" y="2254910"/>
            <a:ext cx="4694987" cy="10058"/>
          </a:xfrm>
          <a:prstGeom prst="rect">
            <a:avLst/>
          </a:prstGeom>
          <a:solidFill>
            <a:srgbClr val="EFEAE0"/>
          </a:solidFill>
          <a:ln/>
        </p:spPr>
      </p:sp>
      <p:sp>
        <p:nvSpPr>
          <p:cNvPr id="25" name="Text 22"/>
          <p:cNvSpPr/>
          <p:nvPr/>
        </p:nvSpPr>
        <p:spPr>
          <a:xfrm>
            <a:off x="6562192" y="2382926"/>
            <a:ext cx="365760" cy="256032"/>
          </a:xfrm>
          <a:prstGeom prst="rect">
            <a:avLst/>
          </a:prstGeom>
          <a:noFill/>
          <a:ln/>
        </p:spPr>
        <p:txBody>
          <a:bodyPr wrap="square" lIns="0" tIns="0" rIns="0" bIns="0" rtlCol="0" anchor="ctr"/>
          <a:lstStyle/>
          <a:p>
            <a:pPr indent="0" marL="0">
              <a:buNone/>
            </a:pPr>
            <a:r>
              <a:rPr lang="en-US" sz="1200" b="1" dirty="0">
                <a:solidFill>
                  <a:srgbClr val="106838"/>
                </a:solidFill>
                <a:latin typeface="Arial" pitchFamily="34" charset="0"/>
                <a:ea typeface="Arial" pitchFamily="34" charset="-122"/>
                <a:cs typeface="Arial" pitchFamily="34" charset="-120"/>
              </a:rPr>
              <a:t>A.</a:t>
            </a:r>
            <a:endParaRPr lang="en-US" sz="1200" dirty="0"/>
          </a:p>
        </p:txBody>
      </p:sp>
      <p:sp>
        <p:nvSpPr>
          <p:cNvPr id="26" name="Text 23"/>
          <p:cNvSpPr/>
          <p:nvPr/>
        </p:nvSpPr>
        <p:spPr>
          <a:xfrm>
            <a:off x="6964528" y="2364638"/>
            <a:ext cx="4292651" cy="859536"/>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1050" dirty="0"/>
          </a:p>
        </p:txBody>
      </p:sp>
      <p:sp>
        <p:nvSpPr>
          <p:cNvPr id="27" name="Shape 24"/>
          <p:cNvSpPr/>
          <p:nvPr/>
        </p:nvSpPr>
        <p:spPr>
          <a:xfrm>
            <a:off x="6964528" y="3297326"/>
            <a:ext cx="950976" cy="256032"/>
          </a:xfrm>
          <a:prstGeom prst="roundRect">
            <a:avLst>
              <a:gd name="adj" fmla="val 50000"/>
            </a:avLst>
          </a:prstGeom>
          <a:solidFill>
            <a:srgbClr val="F1F8F3"/>
          </a:solidFill>
          <a:ln w="9525">
            <a:solidFill>
              <a:srgbClr val="D2E7DA"/>
            </a:solidFill>
            <a:prstDash val="solid"/>
          </a:ln>
        </p:spPr>
      </p:sp>
      <p:sp>
        <p:nvSpPr>
          <p:cNvPr id="28" name="Text 25"/>
          <p:cNvSpPr/>
          <p:nvPr/>
        </p:nvSpPr>
        <p:spPr>
          <a:xfrm>
            <a:off x="6964528" y="3297326"/>
            <a:ext cx="950976"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24時間警備</a:t>
            </a:r>
            <a:endParaRPr lang="en-US" sz="850" dirty="0"/>
          </a:p>
        </p:txBody>
      </p:sp>
      <p:sp>
        <p:nvSpPr>
          <p:cNvPr id="29" name="Shape 26"/>
          <p:cNvSpPr/>
          <p:nvPr/>
        </p:nvSpPr>
        <p:spPr>
          <a:xfrm>
            <a:off x="8025232" y="3297326"/>
            <a:ext cx="713232" cy="256032"/>
          </a:xfrm>
          <a:prstGeom prst="roundRect">
            <a:avLst>
              <a:gd name="adj" fmla="val 50000"/>
            </a:avLst>
          </a:prstGeom>
          <a:solidFill>
            <a:srgbClr val="F1F8F3"/>
          </a:solidFill>
          <a:ln w="9525">
            <a:solidFill>
              <a:srgbClr val="D2E7DA"/>
            </a:solidFill>
            <a:prstDash val="solid"/>
          </a:ln>
        </p:spPr>
      </p:sp>
      <p:sp>
        <p:nvSpPr>
          <p:cNvPr id="30" name="Text 27"/>
          <p:cNvSpPr/>
          <p:nvPr/>
        </p:nvSpPr>
        <p:spPr>
          <a:xfrm>
            <a:off x="8025232" y="3297326"/>
            <a:ext cx="713232"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遠隔監視</a:t>
            </a:r>
            <a:endParaRPr lang="en-US" sz="850" dirty="0"/>
          </a:p>
        </p:txBody>
      </p:sp>
      <p:sp>
        <p:nvSpPr>
          <p:cNvPr id="31" name="Shape 28"/>
          <p:cNvSpPr/>
          <p:nvPr/>
        </p:nvSpPr>
        <p:spPr>
          <a:xfrm>
            <a:off x="8848192" y="3297326"/>
            <a:ext cx="1188720" cy="256032"/>
          </a:xfrm>
          <a:prstGeom prst="roundRect">
            <a:avLst>
              <a:gd name="adj" fmla="val 50000"/>
            </a:avLst>
          </a:prstGeom>
          <a:solidFill>
            <a:srgbClr val="F1F8F3"/>
          </a:solidFill>
          <a:ln w="9525">
            <a:solidFill>
              <a:srgbClr val="D2E7DA"/>
            </a:solidFill>
            <a:prstDash val="solid"/>
          </a:ln>
        </p:spPr>
      </p:sp>
      <p:sp>
        <p:nvSpPr>
          <p:cNvPr id="32" name="Text 29"/>
          <p:cNvSpPr/>
          <p:nvPr/>
        </p:nvSpPr>
        <p:spPr>
          <a:xfrm>
            <a:off x="8848192" y="3297326"/>
            <a:ext cx="118872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LINEチャット</a:t>
            </a:r>
            <a:endParaRPr lang="en-US" sz="850" dirty="0"/>
          </a:p>
        </p:txBody>
      </p:sp>
      <p:sp>
        <p:nvSpPr>
          <p:cNvPr id="33" name="Shape 30"/>
          <p:cNvSpPr/>
          <p:nvPr/>
        </p:nvSpPr>
        <p:spPr>
          <a:xfrm>
            <a:off x="660197" y="3992270"/>
            <a:ext cx="5243627" cy="2103120"/>
          </a:xfrm>
          <a:prstGeom prst="roundRect">
            <a:avLst>
              <a:gd name="adj" fmla="val 2609"/>
            </a:avLst>
          </a:prstGeom>
          <a:solidFill>
            <a:srgbClr val="FFFFFF"/>
          </a:solidFill>
          <a:ln w="9525">
            <a:solidFill>
              <a:srgbClr val="EFEAE0"/>
            </a:solidFill>
            <a:prstDash val="solid"/>
          </a:ln>
        </p:spPr>
      </p:sp>
      <p:sp>
        <p:nvSpPr>
          <p:cNvPr id="34" name="Text 31"/>
          <p:cNvSpPr/>
          <p:nvPr/>
        </p:nvSpPr>
        <p:spPr>
          <a:xfrm>
            <a:off x="934517" y="4211726"/>
            <a:ext cx="365760" cy="274320"/>
          </a:xfrm>
          <a:prstGeom prst="rect">
            <a:avLst/>
          </a:prstGeom>
          <a:noFill/>
          <a:ln/>
        </p:spPr>
        <p:txBody>
          <a:bodyPr wrap="square" lIns="0" tIns="0" rIns="0" bIns="0" rtlCol="0" anchor="ctr"/>
          <a:lstStyle/>
          <a:p>
            <a:pPr indent="0" marL="0">
              <a:buNone/>
            </a:pPr>
            <a:r>
              <a:rPr lang="en-US" sz="1400" b="1" dirty="0">
                <a:solidFill>
                  <a:srgbClr val="A8761F"/>
                </a:solidFill>
                <a:latin typeface="Arial" pitchFamily="34" charset="0"/>
                <a:ea typeface="Arial" pitchFamily="34" charset="-122"/>
                <a:cs typeface="Arial" pitchFamily="34" charset="-120"/>
              </a:rPr>
              <a:t>Q.</a:t>
            </a:r>
            <a:endParaRPr lang="en-US" sz="1400" dirty="0"/>
          </a:p>
        </p:txBody>
      </p:sp>
      <p:sp>
        <p:nvSpPr>
          <p:cNvPr id="35" name="Text 32"/>
          <p:cNvSpPr/>
          <p:nvPr/>
        </p:nvSpPr>
        <p:spPr>
          <a:xfrm>
            <a:off x="1336853" y="4193438"/>
            <a:ext cx="4292651" cy="310896"/>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人材採用については？</a:t>
            </a:r>
            <a:endParaRPr lang="en-US" sz="1500" dirty="0"/>
          </a:p>
        </p:txBody>
      </p:sp>
      <p:sp>
        <p:nvSpPr>
          <p:cNvPr id="36" name="Shape 33"/>
          <p:cNvSpPr/>
          <p:nvPr/>
        </p:nvSpPr>
        <p:spPr>
          <a:xfrm>
            <a:off x="934517" y="4595774"/>
            <a:ext cx="4694987" cy="10058"/>
          </a:xfrm>
          <a:prstGeom prst="rect">
            <a:avLst/>
          </a:prstGeom>
          <a:solidFill>
            <a:srgbClr val="EFEAE0"/>
          </a:solidFill>
          <a:ln/>
        </p:spPr>
      </p:sp>
      <p:sp>
        <p:nvSpPr>
          <p:cNvPr id="37" name="Text 34"/>
          <p:cNvSpPr/>
          <p:nvPr/>
        </p:nvSpPr>
        <p:spPr>
          <a:xfrm>
            <a:off x="934517" y="4723790"/>
            <a:ext cx="365760" cy="256032"/>
          </a:xfrm>
          <a:prstGeom prst="rect">
            <a:avLst/>
          </a:prstGeom>
          <a:noFill/>
          <a:ln/>
        </p:spPr>
        <p:txBody>
          <a:bodyPr wrap="square" lIns="0" tIns="0" rIns="0" bIns="0" rtlCol="0" anchor="ctr"/>
          <a:lstStyle/>
          <a:p>
            <a:pPr indent="0" marL="0">
              <a:buNone/>
            </a:pPr>
            <a:r>
              <a:rPr lang="en-US" sz="1200" b="1" dirty="0">
                <a:solidFill>
                  <a:srgbClr val="106838"/>
                </a:solidFill>
                <a:latin typeface="Arial" pitchFamily="34" charset="0"/>
                <a:ea typeface="Arial" pitchFamily="34" charset="-122"/>
                <a:cs typeface="Arial" pitchFamily="34" charset="-120"/>
              </a:rPr>
              <a:t>A.</a:t>
            </a:r>
            <a:endParaRPr lang="en-US" sz="1200" dirty="0"/>
          </a:p>
        </p:txBody>
      </p:sp>
      <p:sp>
        <p:nvSpPr>
          <p:cNvPr id="38" name="Text 35"/>
          <p:cNvSpPr/>
          <p:nvPr/>
        </p:nvSpPr>
        <p:spPr>
          <a:xfrm>
            <a:off x="1336853" y="4705502"/>
            <a:ext cx="4292651" cy="859536"/>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1050" dirty="0"/>
          </a:p>
        </p:txBody>
      </p:sp>
      <p:sp>
        <p:nvSpPr>
          <p:cNvPr id="39" name="Shape 36"/>
          <p:cNvSpPr/>
          <p:nvPr/>
        </p:nvSpPr>
        <p:spPr>
          <a:xfrm>
            <a:off x="1336853" y="5638190"/>
            <a:ext cx="713232" cy="256032"/>
          </a:xfrm>
          <a:prstGeom prst="roundRect">
            <a:avLst>
              <a:gd name="adj" fmla="val 50000"/>
            </a:avLst>
          </a:prstGeom>
          <a:solidFill>
            <a:srgbClr val="F1F8F3"/>
          </a:solidFill>
          <a:ln w="9525">
            <a:solidFill>
              <a:srgbClr val="D2E7DA"/>
            </a:solidFill>
            <a:prstDash val="solid"/>
          </a:ln>
        </p:spPr>
      </p:sp>
      <p:sp>
        <p:nvSpPr>
          <p:cNvPr id="40" name="Text 37"/>
          <p:cNvSpPr/>
          <p:nvPr/>
        </p:nvSpPr>
        <p:spPr>
          <a:xfrm>
            <a:off x="1336853" y="5638190"/>
            <a:ext cx="713232"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採用不要</a:t>
            </a:r>
            <a:endParaRPr lang="en-US" sz="850" dirty="0"/>
          </a:p>
        </p:txBody>
      </p:sp>
      <p:sp>
        <p:nvSpPr>
          <p:cNvPr id="41" name="Shape 38"/>
          <p:cNvSpPr/>
          <p:nvPr/>
        </p:nvSpPr>
        <p:spPr>
          <a:xfrm>
            <a:off x="2159813" y="5638190"/>
            <a:ext cx="832104" cy="256032"/>
          </a:xfrm>
          <a:prstGeom prst="roundRect">
            <a:avLst>
              <a:gd name="adj" fmla="val 50000"/>
            </a:avLst>
          </a:prstGeom>
          <a:solidFill>
            <a:srgbClr val="F1F8F3"/>
          </a:solidFill>
          <a:ln w="9525">
            <a:solidFill>
              <a:srgbClr val="D2E7DA"/>
            </a:solidFill>
            <a:prstDash val="solid"/>
          </a:ln>
        </p:spPr>
      </p:sp>
      <p:sp>
        <p:nvSpPr>
          <p:cNvPr id="42" name="Text 39"/>
          <p:cNvSpPr/>
          <p:nvPr/>
        </p:nvSpPr>
        <p:spPr>
          <a:xfrm>
            <a:off x="2159813" y="5638190"/>
            <a:ext cx="832104"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委託も可能</a:t>
            </a:r>
            <a:endParaRPr lang="en-US" sz="850" dirty="0"/>
          </a:p>
        </p:txBody>
      </p:sp>
      <p:sp>
        <p:nvSpPr>
          <p:cNvPr id="43" name="Shape 40"/>
          <p:cNvSpPr/>
          <p:nvPr/>
        </p:nvSpPr>
        <p:spPr>
          <a:xfrm>
            <a:off x="6287872" y="3992270"/>
            <a:ext cx="5243627" cy="2103120"/>
          </a:xfrm>
          <a:prstGeom prst="roundRect">
            <a:avLst>
              <a:gd name="adj" fmla="val 2609"/>
            </a:avLst>
          </a:prstGeom>
          <a:solidFill>
            <a:srgbClr val="FFFFFF"/>
          </a:solidFill>
          <a:ln w="9525">
            <a:solidFill>
              <a:srgbClr val="EFEAE0"/>
            </a:solidFill>
            <a:prstDash val="solid"/>
          </a:ln>
        </p:spPr>
      </p:sp>
      <p:sp>
        <p:nvSpPr>
          <p:cNvPr id="44" name="Text 41"/>
          <p:cNvSpPr/>
          <p:nvPr/>
        </p:nvSpPr>
        <p:spPr>
          <a:xfrm>
            <a:off x="6562192" y="4211726"/>
            <a:ext cx="365760" cy="274320"/>
          </a:xfrm>
          <a:prstGeom prst="rect">
            <a:avLst/>
          </a:prstGeom>
          <a:noFill/>
          <a:ln/>
        </p:spPr>
        <p:txBody>
          <a:bodyPr wrap="square" lIns="0" tIns="0" rIns="0" bIns="0" rtlCol="0" anchor="ctr"/>
          <a:lstStyle/>
          <a:p>
            <a:pPr indent="0" marL="0">
              <a:buNone/>
            </a:pPr>
            <a:r>
              <a:rPr lang="en-US" sz="1400" b="1" dirty="0">
                <a:solidFill>
                  <a:srgbClr val="A8761F"/>
                </a:solidFill>
                <a:latin typeface="Arial" pitchFamily="34" charset="0"/>
                <a:ea typeface="Arial" pitchFamily="34" charset="-122"/>
                <a:cs typeface="Arial" pitchFamily="34" charset="-120"/>
              </a:rPr>
              <a:t>Q.</a:t>
            </a:r>
            <a:endParaRPr lang="en-US" sz="1400" dirty="0"/>
          </a:p>
        </p:txBody>
      </p:sp>
      <p:sp>
        <p:nvSpPr>
          <p:cNvPr id="45" name="Text 42"/>
          <p:cNvSpPr/>
          <p:nvPr/>
        </p:nvSpPr>
        <p:spPr>
          <a:xfrm>
            <a:off x="6964528" y="4193438"/>
            <a:ext cx="4292651" cy="310896"/>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集客はどうすれば？</a:t>
            </a:r>
            <a:endParaRPr lang="en-US" sz="1500" dirty="0"/>
          </a:p>
        </p:txBody>
      </p:sp>
      <p:sp>
        <p:nvSpPr>
          <p:cNvPr id="46" name="Shape 43"/>
          <p:cNvSpPr/>
          <p:nvPr/>
        </p:nvSpPr>
        <p:spPr>
          <a:xfrm>
            <a:off x="6562192" y="4595774"/>
            <a:ext cx="4694987" cy="10058"/>
          </a:xfrm>
          <a:prstGeom prst="rect">
            <a:avLst/>
          </a:prstGeom>
          <a:solidFill>
            <a:srgbClr val="EFEAE0"/>
          </a:solidFill>
          <a:ln/>
        </p:spPr>
      </p:sp>
      <p:sp>
        <p:nvSpPr>
          <p:cNvPr id="47" name="Text 44"/>
          <p:cNvSpPr/>
          <p:nvPr/>
        </p:nvSpPr>
        <p:spPr>
          <a:xfrm>
            <a:off x="6562192" y="4723790"/>
            <a:ext cx="365760" cy="256032"/>
          </a:xfrm>
          <a:prstGeom prst="rect">
            <a:avLst/>
          </a:prstGeom>
          <a:noFill/>
          <a:ln/>
        </p:spPr>
        <p:txBody>
          <a:bodyPr wrap="square" lIns="0" tIns="0" rIns="0" bIns="0" rtlCol="0" anchor="ctr"/>
          <a:lstStyle/>
          <a:p>
            <a:pPr indent="0" marL="0">
              <a:buNone/>
            </a:pPr>
            <a:r>
              <a:rPr lang="en-US" sz="1200" b="1" dirty="0">
                <a:solidFill>
                  <a:srgbClr val="106838"/>
                </a:solidFill>
                <a:latin typeface="Arial" pitchFamily="34" charset="0"/>
                <a:ea typeface="Arial" pitchFamily="34" charset="-122"/>
                <a:cs typeface="Arial" pitchFamily="34" charset="-120"/>
              </a:rPr>
              <a:t>A.</a:t>
            </a:r>
            <a:endParaRPr lang="en-US" sz="1200" dirty="0"/>
          </a:p>
        </p:txBody>
      </p:sp>
      <p:sp>
        <p:nvSpPr>
          <p:cNvPr id="48" name="Text 45"/>
          <p:cNvSpPr/>
          <p:nvPr/>
        </p:nvSpPr>
        <p:spPr>
          <a:xfrm>
            <a:off x="6964528" y="4705502"/>
            <a:ext cx="4292651" cy="859536"/>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数々のメディア取材や、本部によるSEO/MEO対策をはじめとしたWebマーケティングによって集客を支援します。</a:t>
            </a:r>
            <a:endParaRPr lang="en-US" sz="1050" dirty="0"/>
          </a:p>
        </p:txBody>
      </p:sp>
      <p:sp>
        <p:nvSpPr>
          <p:cNvPr id="49" name="Shape 46"/>
          <p:cNvSpPr/>
          <p:nvPr/>
        </p:nvSpPr>
        <p:spPr>
          <a:xfrm>
            <a:off x="6964528" y="5638190"/>
            <a:ext cx="832104" cy="256032"/>
          </a:xfrm>
          <a:prstGeom prst="roundRect">
            <a:avLst>
              <a:gd name="adj" fmla="val 50000"/>
            </a:avLst>
          </a:prstGeom>
          <a:solidFill>
            <a:srgbClr val="F1F8F3"/>
          </a:solidFill>
          <a:ln w="9525">
            <a:solidFill>
              <a:srgbClr val="D2E7DA"/>
            </a:solidFill>
            <a:prstDash val="solid"/>
          </a:ln>
        </p:spPr>
      </p:sp>
      <p:sp>
        <p:nvSpPr>
          <p:cNvPr id="50" name="Text 47"/>
          <p:cNvSpPr/>
          <p:nvPr/>
        </p:nvSpPr>
        <p:spPr>
          <a:xfrm>
            <a:off x="6964528" y="5638190"/>
            <a:ext cx="832104"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SEO対策</a:t>
            </a:r>
            <a:endParaRPr lang="en-US" sz="850" dirty="0"/>
          </a:p>
        </p:txBody>
      </p:sp>
      <p:sp>
        <p:nvSpPr>
          <p:cNvPr id="51" name="Shape 48"/>
          <p:cNvSpPr/>
          <p:nvPr/>
        </p:nvSpPr>
        <p:spPr>
          <a:xfrm>
            <a:off x="7906360" y="5638190"/>
            <a:ext cx="832104" cy="256032"/>
          </a:xfrm>
          <a:prstGeom prst="roundRect">
            <a:avLst>
              <a:gd name="adj" fmla="val 50000"/>
            </a:avLst>
          </a:prstGeom>
          <a:solidFill>
            <a:srgbClr val="F1F8F3"/>
          </a:solidFill>
          <a:ln w="9525">
            <a:solidFill>
              <a:srgbClr val="D2E7DA"/>
            </a:solidFill>
            <a:prstDash val="solid"/>
          </a:ln>
        </p:spPr>
      </p:sp>
      <p:sp>
        <p:nvSpPr>
          <p:cNvPr id="52" name="Text 49"/>
          <p:cNvSpPr/>
          <p:nvPr/>
        </p:nvSpPr>
        <p:spPr>
          <a:xfrm>
            <a:off x="7906360" y="5638190"/>
            <a:ext cx="832104"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MEO対策</a:t>
            </a:r>
            <a:endParaRPr lang="en-US" sz="850" dirty="0"/>
          </a:p>
        </p:txBody>
      </p:sp>
      <p:sp>
        <p:nvSpPr>
          <p:cNvPr id="53" name="Shape 50"/>
          <p:cNvSpPr/>
          <p:nvPr/>
        </p:nvSpPr>
        <p:spPr>
          <a:xfrm>
            <a:off x="8848192" y="5638190"/>
            <a:ext cx="950976" cy="256032"/>
          </a:xfrm>
          <a:prstGeom prst="roundRect">
            <a:avLst>
              <a:gd name="adj" fmla="val 50000"/>
            </a:avLst>
          </a:prstGeom>
          <a:solidFill>
            <a:srgbClr val="F1F8F3"/>
          </a:solidFill>
          <a:ln w="9525">
            <a:solidFill>
              <a:srgbClr val="D2E7DA"/>
            </a:solidFill>
            <a:prstDash val="solid"/>
          </a:ln>
        </p:spPr>
      </p:sp>
      <p:sp>
        <p:nvSpPr>
          <p:cNvPr id="54" name="Text 51"/>
          <p:cNvSpPr/>
          <p:nvPr/>
        </p:nvSpPr>
        <p:spPr>
          <a:xfrm>
            <a:off x="8848192" y="5638190"/>
            <a:ext cx="950976"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メディア取材</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pPr indent="0" marL="0">
              <a:buNone/>
            </a:pP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 / MEO対策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pPr indent="0" marL="0">
              <a:buNone/>
            </a:pP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加盟申込み</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契約締結。契約期間は最低3年〜。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27</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スペースの写真や図面をお持ちいただけると、初回面談で収益試算までご案内できます。</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XXX-XXXX-XXXX</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担当：XXX</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aaaaa@aaaa.aaa</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12902" y="6217920"/>
            <a:ext cx="4572000" cy="237744"/>
          </a:xfrm>
          <a:prstGeom prst="rect">
            <a:avLst/>
          </a:prstGeom>
          <a:noFill/>
          <a:ln/>
        </p:spPr>
        <p:txBody>
          <a:bodyPr wrap="square" lIns="0" tIns="0" rIns="0" bIns="0" rtlCol="0" anchor="ctr"/>
          <a:lstStyle/>
          <a:p>
            <a:pPr indent="0" marL="0">
              <a:buNone/>
            </a:pPr>
            <a:r>
              <a:rPr lang="en-US" sz="1100" dirty="0">
                <a:solidFill>
                  <a:srgbClr val="8FA398"/>
                </a:solidFill>
                <a:latin typeface="Yu Gothic" pitchFamily="34" charset="0"/>
                <a:ea typeface="Yu Gothic" pitchFamily="34" charset="-122"/>
                <a:cs typeface="Yu Gothic" pitchFamily="34" charset="-120"/>
              </a:rPr>
              <a:t>お気軽にご連絡ください</a:t>
            </a:r>
            <a:endParaRPr lang="en-US" sz="1100" dirty="0"/>
          </a:p>
        </p:txBody>
      </p:sp>
      <p:sp>
        <p:nvSpPr>
          <p:cNvPr id="22" name="Text 15"/>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2026-08-22T08:22:27Z</dcterms:created>
  <dcterms:modified xsi:type="dcterms:W3CDTF">2026-08-22T08:22:27Z</dcterms:modified>
</cp:coreProperties>
</file>