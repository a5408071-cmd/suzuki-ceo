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3.png"/><Relationship Id="rId5" Type="http://schemas.openxmlformats.org/officeDocument/2006/relationships/image" Target="../media/image-30-3.png"/><Relationship Id="rId6" Type="http://schemas.openxmlformats.org/officeDocument/2006/relationships/image" Target="../media/image-30-3.png"/><Relationship Id="rId7" Type="http://schemas.openxmlformats.org/officeDocument/2006/relationships/image" Target="../media/image-30-3.png"/><Relationship Id="rId8" Type="http://schemas.openxmlformats.org/officeDocument/2006/relationships/image" Target="../media/image-30-8.png"/><Relationship Id="rId9" Type="http://schemas.openxmlformats.org/officeDocument/2006/relationships/image" Target="../media/image-30-3.png"/><Relationship Id="rId10" Type="http://schemas.openxmlformats.org/officeDocument/2006/relationships/image" Target="../media/image-30-3.png"/><Relationship Id="rId11" Type="http://schemas.openxmlformats.org/officeDocument/2006/relationships/image" Target="../media/image-30-3.png"/><Relationship Id="rId12" Type="http://schemas.openxmlformats.org/officeDocument/2006/relationships/image" Target="../media/image-30-3.png"/><Relationship Id="rId13" Type="http://schemas.openxmlformats.org/officeDocument/2006/relationships/image" Target="../media/image-30-3.png"/><Relationship Id="rId14" Type="http://schemas.openxmlformats.org/officeDocument/2006/relationships/image" Target="../media/image-30-14.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Yu Gothic" pitchFamily="34" charset="0"/>
                <a:ea typeface="Yu Gothic" pitchFamily="34" charset="-122"/>
                <a:cs typeface="Yu Gothic"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開業費650万円〜・標準予算800万円程度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2218334"/>
            <a:ext cx="1096023" cy="859536"/>
          </a:xfrm>
          <a:prstGeom prst="rect">
            <a:avLst/>
          </a:prstGeom>
          <a:solidFill>
            <a:srgbClr val="0C5230"/>
          </a:solidFill>
          <a:ln w="12700">
            <a:solidFill>
              <a:srgbClr val="FFFFFF"/>
            </a:solidFill>
            <a:prstDash val="solid"/>
          </a:ln>
        </p:spPr>
      </p:sp>
      <p:sp>
        <p:nvSpPr>
          <p:cNvPr id="10" name="Text 7"/>
          <p:cNvSpPr/>
          <p:nvPr/>
        </p:nvSpPr>
        <p:spPr>
          <a:xfrm>
            <a:off x="660197"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756219" y="2218334"/>
            <a:ext cx="4384091" cy="859536"/>
          </a:xfrm>
          <a:prstGeom prst="rect">
            <a:avLst/>
          </a:prstGeom>
          <a:solidFill>
            <a:srgbClr val="1B7A47"/>
          </a:solidFill>
          <a:ln w="12700">
            <a:solidFill>
              <a:srgbClr val="FFFFFF"/>
            </a:solidFill>
            <a:prstDash val="solid"/>
          </a:ln>
        </p:spPr>
      </p:sp>
      <p:sp>
        <p:nvSpPr>
          <p:cNvPr id="13" name="Text 10"/>
          <p:cNvSpPr/>
          <p:nvPr/>
        </p:nvSpPr>
        <p:spPr>
          <a:xfrm>
            <a:off x="1756219" y="2218334"/>
            <a:ext cx="4384091"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481899" y="3169310"/>
            <a:ext cx="493273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6140310" y="2218334"/>
            <a:ext cx="1096023" cy="859536"/>
          </a:xfrm>
          <a:prstGeom prst="rect">
            <a:avLst/>
          </a:prstGeom>
          <a:solidFill>
            <a:srgbClr val="5FA57C"/>
          </a:solidFill>
          <a:ln w="12700">
            <a:solidFill>
              <a:srgbClr val="FFFFFF"/>
            </a:solidFill>
            <a:prstDash val="solid"/>
          </a:ln>
        </p:spPr>
      </p:sp>
      <p:sp>
        <p:nvSpPr>
          <p:cNvPr id="16" name="Text 13"/>
          <p:cNvSpPr/>
          <p:nvPr/>
        </p:nvSpPr>
        <p:spPr>
          <a:xfrm>
            <a:off x="6140310"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7" name="Text 14"/>
          <p:cNvSpPr/>
          <p:nvPr/>
        </p:nvSpPr>
        <p:spPr>
          <a:xfrm>
            <a:off x="5865990"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出店準備金</a:t>
            </a:r>
            <a:endParaRPr lang="en-US" sz="950" dirty="0"/>
          </a:p>
        </p:txBody>
      </p:sp>
      <p:sp>
        <p:nvSpPr>
          <p:cNvPr id="18" name="Shape 15"/>
          <p:cNvSpPr/>
          <p:nvPr/>
        </p:nvSpPr>
        <p:spPr>
          <a:xfrm>
            <a:off x="7236333" y="2218334"/>
            <a:ext cx="548011" cy="859536"/>
          </a:xfrm>
          <a:prstGeom prst="rect">
            <a:avLst/>
          </a:prstGeom>
          <a:solidFill>
            <a:srgbClr val="9CC3AA"/>
          </a:solidFill>
          <a:ln w="12700">
            <a:solidFill>
              <a:srgbClr val="FFFFFF"/>
            </a:solidFill>
            <a:prstDash val="solid"/>
          </a:ln>
        </p:spPr>
      </p:sp>
      <p:sp>
        <p:nvSpPr>
          <p:cNvPr id="19" name="Text 16"/>
          <p:cNvSpPr/>
          <p:nvPr/>
        </p:nvSpPr>
        <p:spPr>
          <a:xfrm>
            <a:off x="7236333" y="2218334"/>
            <a:ext cx="54801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6962013" y="3169310"/>
            <a:ext cx="109665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784344" y="2218334"/>
            <a:ext cx="1644034" cy="859536"/>
          </a:xfrm>
          <a:prstGeom prst="rect">
            <a:avLst/>
          </a:prstGeom>
          <a:solidFill>
            <a:srgbClr val="A8761F"/>
          </a:solidFill>
          <a:ln w="12700">
            <a:solidFill>
              <a:srgbClr val="FFFFFF"/>
            </a:solidFill>
            <a:prstDash val="solid"/>
          </a:ln>
        </p:spPr>
      </p:sp>
      <p:sp>
        <p:nvSpPr>
          <p:cNvPr id="22" name="Text 19"/>
          <p:cNvSpPr/>
          <p:nvPr/>
        </p:nvSpPr>
        <p:spPr>
          <a:xfrm>
            <a:off x="7784344" y="2218334"/>
            <a:ext cx="164403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510024" y="1907438"/>
            <a:ext cx="219267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800万円程度</a:t>
            </a:r>
            <a:endParaRPr lang="en-US" sz="1050" dirty="0"/>
          </a:p>
        </p:txBody>
      </p:sp>
      <p:sp>
        <p:nvSpPr>
          <p:cNvPr id="26" name="Text 23"/>
          <p:cNvSpPr/>
          <p:nvPr/>
        </p:nvSpPr>
        <p:spPr>
          <a:xfrm>
            <a:off x="660197" y="3736238"/>
            <a:ext cx="10871302"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出店準備金の内訳：設計費・デザイン費・開業サポート費</a:t>
            </a:r>
            <a:endParaRPr lang="en-US" sz="1000" dirty="0"/>
          </a:p>
        </p:txBody>
      </p:sp>
      <p:sp>
        <p:nvSpPr>
          <p:cNvPr id="27" name="Text 24"/>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Yu Gothic" pitchFamily="34" charset="0"/>
                <a:ea typeface="Yu Gothic" pitchFamily="34" charset="-122"/>
                <a:cs typeface="Yu Gothic"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8" name="Shape 25"/>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pic>
        <p:nvPicPr>
          <p:cNvPr id="29" name="Image 1" descr="/home/user/suzuki-ceo/selfcafe-partner-deck/assets/icons/LuJapaneseYen-green.png">    </p:cNvPr>
          <p:cNvPicPr>
            <a:picLocks noChangeAspect="1"/>
          </p:cNvPicPr>
          <p:nvPr/>
        </p:nvPicPr>
        <p:blipFill>
          <a:blip r:embed="rId2"/>
          <a:stretch>
            <a:fillRect/>
          </a:stretch>
        </p:blipFill>
        <p:spPr>
          <a:xfrm>
            <a:off x="916229" y="4595774"/>
            <a:ext cx="310896" cy="310896"/>
          </a:xfrm>
          <a:prstGeom prst="rect">
            <a:avLst/>
          </a:prstGeom>
        </p:spPr>
      </p:pic>
      <p:sp>
        <p:nvSpPr>
          <p:cNvPr id="30" name="Text 26"/>
          <p:cNvSpPr/>
          <p:nvPr/>
        </p:nvSpPr>
        <p:spPr>
          <a:xfrm>
            <a:off x="1336853"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出店準備金 100万円</a:t>
            </a:r>
            <a:endParaRPr lang="en-US" sz="1150" dirty="0"/>
          </a:p>
        </p:txBody>
      </p:sp>
      <p:sp>
        <p:nvSpPr>
          <p:cNvPr id="31" name="Text 27"/>
          <p:cNvSpPr/>
          <p:nvPr/>
        </p:nvSpPr>
        <p:spPr>
          <a:xfrm>
            <a:off x="1336853"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設計費・デザイン費・開業サポート費（見積書の項目と対応）</a:t>
            </a:r>
            <a:endParaRPr lang="en-US" sz="1000" dirty="0"/>
          </a:p>
        </p:txBody>
      </p:sp>
      <p:sp>
        <p:nvSpPr>
          <p:cNvPr id="32" name="Shape 28"/>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pic>
        <p:nvPicPr>
          <p:cNvPr id="33" name="Image 2" descr="/home/user/suzuki-ceo/selfcafe-partner-deck/assets/icons/LuReceiptJapaneseYen-green.png">    </p:cNvPr>
          <p:cNvPicPr>
            <a:picLocks noChangeAspect="1"/>
          </p:cNvPicPr>
          <p:nvPr/>
        </p:nvPicPr>
        <p:blipFill>
          <a:blip r:embed="rId3"/>
          <a:stretch>
            <a:fillRect/>
          </a:stretch>
        </p:blipFill>
        <p:spPr>
          <a:xfrm>
            <a:off x="6543904" y="4595774"/>
            <a:ext cx="310896" cy="310896"/>
          </a:xfrm>
          <a:prstGeom prst="rect">
            <a:avLst/>
          </a:prstGeom>
        </p:spPr>
      </p:pic>
      <p:sp>
        <p:nvSpPr>
          <p:cNvPr id="34" name="Text 29"/>
          <p:cNvSpPr/>
          <p:nvPr/>
        </p:nvSpPr>
        <p:spPr>
          <a:xfrm>
            <a:off x="6964528"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5" name="Text 30"/>
          <p:cNvSpPr/>
          <p:nvPr/>
        </p:nvSpPr>
        <p:spPr>
          <a:xfrm>
            <a:off x="6964528"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00" dirty="0"/>
          </a:p>
        </p:txBody>
      </p:sp>
      <p:sp>
        <p:nvSpPr>
          <p:cNvPr id="36" name="Shape 31"/>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pic>
        <p:nvPicPr>
          <p:cNvPr id="37" name="Image 3" descr="/home/user/suzuki-ceo/selfcafe-partner-deck/assets/icons/LuHandCoins-green.png">    </p:cNvPr>
          <p:cNvPicPr>
            <a:picLocks noChangeAspect="1"/>
          </p:cNvPicPr>
          <p:nvPr/>
        </p:nvPicPr>
        <p:blipFill>
          <a:blip r:embed="rId4"/>
          <a:stretch>
            <a:fillRect/>
          </a:stretch>
        </p:blipFill>
        <p:spPr>
          <a:xfrm>
            <a:off x="916229" y="5601614"/>
            <a:ext cx="310896" cy="310896"/>
          </a:xfrm>
          <a:prstGeom prst="rect">
            <a:avLst/>
          </a:prstGeom>
        </p:spPr>
      </p:pic>
      <p:sp>
        <p:nvSpPr>
          <p:cNvPr id="38" name="Text 32"/>
          <p:cNvSpPr/>
          <p:nvPr/>
        </p:nvSpPr>
        <p:spPr>
          <a:xfrm>
            <a:off x="1336853"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ロイヤリティ／研修費</a:t>
            </a:r>
            <a:endParaRPr lang="en-US" sz="1150" dirty="0"/>
          </a:p>
        </p:txBody>
      </p:sp>
      <p:sp>
        <p:nvSpPr>
          <p:cNvPr id="39" name="Text 33"/>
          <p:cNvSpPr/>
          <p:nvPr/>
        </p:nvSpPr>
        <p:spPr>
          <a:xfrm>
            <a:off x="1336853"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ロイヤリティは月5万円 一律（売上連動なし）。研修費はなし</a:t>
            </a:r>
            <a:endParaRPr lang="en-US" sz="1000" dirty="0"/>
          </a:p>
        </p:txBody>
      </p:sp>
      <p:sp>
        <p:nvSpPr>
          <p:cNvPr id="40" name="Shape 34"/>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pic>
        <p:nvPicPr>
          <p:cNvPr id="41" name="Image 4" descr="/home/user/suzuki-ceo/selfcafe-partner-deck/assets/icons/LuHammer-green.png">    </p:cNvPr>
          <p:cNvPicPr>
            <a:picLocks noChangeAspect="1"/>
          </p:cNvPicPr>
          <p:nvPr/>
        </p:nvPicPr>
        <p:blipFill>
          <a:blip r:embed="rId5"/>
          <a:stretch>
            <a:fillRect/>
          </a:stretch>
        </p:blipFill>
        <p:spPr>
          <a:xfrm>
            <a:off x="6543904" y="5601614"/>
            <a:ext cx="310896" cy="310896"/>
          </a:xfrm>
          <a:prstGeom prst="rect">
            <a:avLst/>
          </a:prstGeom>
        </p:spPr>
      </p:pic>
      <p:sp>
        <p:nvSpPr>
          <p:cNvPr id="42" name="Text 35"/>
          <p:cNvSpPr/>
          <p:nvPr/>
        </p:nvSpPr>
        <p:spPr>
          <a:xfrm>
            <a:off x="6964528"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43" name="Text 36"/>
          <p:cNvSpPr/>
          <p:nvPr/>
        </p:nvSpPr>
        <p:spPr>
          <a:xfrm>
            <a:off x="6964528"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工事費が増え950万円〜（標準総投資予算1,200万円程度）</a:t>
            </a:r>
            <a:endParaRPr lang="en-US" sz="1000" dirty="0"/>
          </a:p>
        </p:txBody>
      </p:sp>
      <p:sp>
        <p:nvSpPr>
          <p:cNvPr id="44" name="Text 37"/>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損益分岐点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自社物件なら、1日29杯で黒字。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40席のお店で「1席あたり1杯以下」。この杯数を超えた分が、そのまま利益になります。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10871302" cy="1737360"/>
          </a:xfrm>
          <a:prstGeom prst="roundRect">
            <a:avLst>
              <a:gd name="adj" fmla="val 3158"/>
            </a:avLst>
          </a:prstGeom>
          <a:solidFill>
            <a:srgbClr val="0C5230"/>
          </a:solidFill>
          <a:ln/>
        </p:spPr>
      </p:sp>
      <p:sp>
        <p:nvSpPr>
          <p:cNvPr id="10" name="Text 7"/>
          <p:cNvSpPr/>
          <p:nvPr/>
        </p:nvSpPr>
        <p:spPr>
          <a:xfrm>
            <a:off x="971093" y="1815998"/>
            <a:ext cx="310896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1" name="Shape 8"/>
          <p:cNvSpPr/>
          <p:nvPr/>
        </p:nvSpPr>
        <p:spPr>
          <a:xfrm>
            <a:off x="971093" y="2163470"/>
            <a:ext cx="274320" cy="274320"/>
          </a:xfrm>
          <a:prstGeom prst="roundRect">
            <a:avLst>
              <a:gd name="adj" fmla="val 20000"/>
            </a:avLst>
          </a:prstGeom>
          <a:solidFill>
            <a:srgbClr val="F0C05A"/>
          </a:solidFill>
          <a:ln w="9525">
            <a:solidFill>
              <a:srgbClr val="F0C05A"/>
            </a:solidFill>
            <a:prstDash val="solid"/>
          </a:ln>
        </p:spPr>
      </p:sp>
      <p:sp>
        <p:nvSpPr>
          <p:cNvPr id="12" name="Shape 9"/>
          <p:cNvSpPr/>
          <p:nvPr/>
        </p:nvSpPr>
        <p:spPr>
          <a:xfrm>
            <a:off x="1313993" y="2163470"/>
            <a:ext cx="274320" cy="274320"/>
          </a:xfrm>
          <a:prstGeom prst="roundRect">
            <a:avLst>
              <a:gd name="adj" fmla="val 20000"/>
            </a:avLst>
          </a:prstGeom>
          <a:solidFill>
            <a:srgbClr val="F0C05A"/>
          </a:solidFill>
          <a:ln w="9525">
            <a:solidFill>
              <a:srgbClr val="F0C05A"/>
            </a:solidFill>
            <a:prstDash val="solid"/>
          </a:ln>
        </p:spPr>
      </p:sp>
      <p:sp>
        <p:nvSpPr>
          <p:cNvPr id="13" name="Shape 10"/>
          <p:cNvSpPr/>
          <p:nvPr/>
        </p:nvSpPr>
        <p:spPr>
          <a:xfrm>
            <a:off x="1656893" y="2163470"/>
            <a:ext cx="274320" cy="274320"/>
          </a:xfrm>
          <a:prstGeom prst="roundRect">
            <a:avLst>
              <a:gd name="adj" fmla="val 20000"/>
            </a:avLst>
          </a:prstGeom>
          <a:solidFill>
            <a:srgbClr val="F0C05A"/>
          </a:solidFill>
          <a:ln w="9525">
            <a:solidFill>
              <a:srgbClr val="F0C05A"/>
            </a:solidFill>
            <a:prstDash val="solid"/>
          </a:ln>
        </p:spPr>
      </p:sp>
      <p:sp>
        <p:nvSpPr>
          <p:cNvPr id="14" name="Shape 11"/>
          <p:cNvSpPr/>
          <p:nvPr/>
        </p:nvSpPr>
        <p:spPr>
          <a:xfrm>
            <a:off x="1999793" y="2163470"/>
            <a:ext cx="274320" cy="274320"/>
          </a:xfrm>
          <a:prstGeom prst="roundRect">
            <a:avLst>
              <a:gd name="adj" fmla="val 20000"/>
            </a:avLst>
          </a:prstGeom>
          <a:solidFill>
            <a:srgbClr val="F0C05A"/>
          </a:solidFill>
          <a:ln w="9525">
            <a:solidFill>
              <a:srgbClr val="F0C05A"/>
            </a:solidFill>
            <a:prstDash val="solid"/>
          </a:ln>
        </p:spPr>
      </p:sp>
      <p:sp>
        <p:nvSpPr>
          <p:cNvPr id="15" name="Shape 12"/>
          <p:cNvSpPr/>
          <p:nvPr/>
        </p:nvSpPr>
        <p:spPr>
          <a:xfrm>
            <a:off x="2342693" y="2163470"/>
            <a:ext cx="274320" cy="274320"/>
          </a:xfrm>
          <a:prstGeom prst="roundRect">
            <a:avLst>
              <a:gd name="adj" fmla="val 20000"/>
            </a:avLst>
          </a:prstGeom>
          <a:solidFill>
            <a:srgbClr val="F0C05A"/>
          </a:solidFill>
          <a:ln w="9525">
            <a:solidFill>
              <a:srgbClr val="F0C05A"/>
            </a:solidFill>
            <a:prstDash val="solid"/>
          </a:ln>
        </p:spPr>
      </p:sp>
      <p:sp>
        <p:nvSpPr>
          <p:cNvPr id="16" name="Shape 13"/>
          <p:cNvSpPr/>
          <p:nvPr/>
        </p:nvSpPr>
        <p:spPr>
          <a:xfrm>
            <a:off x="2685593" y="2163470"/>
            <a:ext cx="274320" cy="274320"/>
          </a:xfrm>
          <a:prstGeom prst="roundRect">
            <a:avLst>
              <a:gd name="adj" fmla="val 20000"/>
            </a:avLst>
          </a:prstGeom>
          <a:solidFill>
            <a:srgbClr val="F0C05A"/>
          </a:solidFill>
          <a:ln w="9525">
            <a:solidFill>
              <a:srgbClr val="F0C05A"/>
            </a:solidFill>
            <a:prstDash val="solid"/>
          </a:ln>
        </p:spPr>
      </p:sp>
      <p:sp>
        <p:nvSpPr>
          <p:cNvPr id="17" name="Shape 14"/>
          <p:cNvSpPr/>
          <p:nvPr/>
        </p:nvSpPr>
        <p:spPr>
          <a:xfrm>
            <a:off x="3028493" y="2163470"/>
            <a:ext cx="274320" cy="274320"/>
          </a:xfrm>
          <a:prstGeom prst="roundRect">
            <a:avLst>
              <a:gd name="adj" fmla="val 20000"/>
            </a:avLst>
          </a:prstGeom>
          <a:solidFill>
            <a:srgbClr val="F0C05A"/>
          </a:solidFill>
          <a:ln w="9525">
            <a:solidFill>
              <a:srgbClr val="F0C05A"/>
            </a:solidFill>
            <a:prstDash val="solid"/>
          </a:ln>
        </p:spPr>
      </p:sp>
      <p:sp>
        <p:nvSpPr>
          <p:cNvPr id="18" name="Shape 15"/>
          <p:cNvSpPr/>
          <p:nvPr/>
        </p:nvSpPr>
        <p:spPr>
          <a:xfrm>
            <a:off x="3371393" y="2163470"/>
            <a:ext cx="274320" cy="274320"/>
          </a:xfrm>
          <a:prstGeom prst="roundRect">
            <a:avLst>
              <a:gd name="adj" fmla="val 20000"/>
            </a:avLst>
          </a:prstGeom>
          <a:solidFill>
            <a:srgbClr val="F0C05A"/>
          </a:solidFill>
          <a:ln w="9525">
            <a:solidFill>
              <a:srgbClr val="F0C05A"/>
            </a:solidFill>
            <a:prstDash val="solid"/>
          </a:ln>
        </p:spPr>
      </p:sp>
      <p:sp>
        <p:nvSpPr>
          <p:cNvPr id="19" name="Shape 16"/>
          <p:cNvSpPr/>
          <p:nvPr/>
        </p:nvSpPr>
        <p:spPr>
          <a:xfrm>
            <a:off x="3714293" y="2163470"/>
            <a:ext cx="274320" cy="274320"/>
          </a:xfrm>
          <a:prstGeom prst="roundRect">
            <a:avLst>
              <a:gd name="adj" fmla="val 20000"/>
            </a:avLst>
          </a:prstGeom>
          <a:solidFill>
            <a:srgbClr val="F0C05A"/>
          </a:solidFill>
          <a:ln w="9525">
            <a:solidFill>
              <a:srgbClr val="F0C05A"/>
            </a:solidFill>
            <a:prstDash val="solid"/>
          </a:ln>
        </p:spPr>
      </p:sp>
      <p:sp>
        <p:nvSpPr>
          <p:cNvPr id="20" name="Shape 17"/>
          <p:cNvSpPr/>
          <p:nvPr/>
        </p:nvSpPr>
        <p:spPr>
          <a:xfrm>
            <a:off x="4057193" y="2163470"/>
            <a:ext cx="274320" cy="274320"/>
          </a:xfrm>
          <a:prstGeom prst="roundRect">
            <a:avLst>
              <a:gd name="adj" fmla="val 20000"/>
            </a:avLst>
          </a:prstGeom>
          <a:solidFill>
            <a:srgbClr val="F0C05A"/>
          </a:solidFill>
          <a:ln w="9525">
            <a:solidFill>
              <a:srgbClr val="F0C05A"/>
            </a:solidFill>
            <a:prstDash val="solid"/>
          </a:ln>
        </p:spPr>
      </p:sp>
      <p:sp>
        <p:nvSpPr>
          <p:cNvPr id="21" name="Shape 18"/>
          <p:cNvSpPr/>
          <p:nvPr/>
        </p:nvSpPr>
        <p:spPr>
          <a:xfrm>
            <a:off x="4400093" y="2163470"/>
            <a:ext cx="274320" cy="274320"/>
          </a:xfrm>
          <a:prstGeom prst="roundRect">
            <a:avLst>
              <a:gd name="adj" fmla="val 20000"/>
            </a:avLst>
          </a:prstGeom>
          <a:solidFill>
            <a:srgbClr val="F0C05A"/>
          </a:solidFill>
          <a:ln w="9525">
            <a:solidFill>
              <a:srgbClr val="F0C05A"/>
            </a:solidFill>
            <a:prstDash val="solid"/>
          </a:ln>
        </p:spPr>
      </p:sp>
      <p:sp>
        <p:nvSpPr>
          <p:cNvPr id="22" name="Shape 19"/>
          <p:cNvSpPr/>
          <p:nvPr/>
        </p:nvSpPr>
        <p:spPr>
          <a:xfrm>
            <a:off x="4742993" y="2163470"/>
            <a:ext cx="274320" cy="274320"/>
          </a:xfrm>
          <a:prstGeom prst="roundRect">
            <a:avLst>
              <a:gd name="adj" fmla="val 20000"/>
            </a:avLst>
          </a:prstGeom>
          <a:solidFill>
            <a:srgbClr val="F0C05A"/>
          </a:solidFill>
          <a:ln w="9525">
            <a:solidFill>
              <a:srgbClr val="F0C05A"/>
            </a:solidFill>
            <a:prstDash val="solid"/>
          </a:ln>
        </p:spPr>
      </p:sp>
      <p:sp>
        <p:nvSpPr>
          <p:cNvPr id="23" name="Shape 20"/>
          <p:cNvSpPr/>
          <p:nvPr/>
        </p:nvSpPr>
        <p:spPr>
          <a:xfrm>
            <a:off x="5085893" y="2163470"/>
            <a:ext cx="274320" cy="274320"/>
          </a:xfrm>
          <a:prstGeom prst="roundRect">
            <a:avLst>
              <a:gd name="adj" fmla="val 20000"/>
            </a:avLst>
          </a:prstGeom>
          <a:solidFill>
            <a:srgbClr val="F0C05A"/>
          </a:solidFill>
          <a:ln w="9525">
            <a:solidFill>
              <a:srgbClr val="F0C05A"/>
            </a:solidFill>
            <a:prstDash val="solid"/>
          </a:ln>
        </p:spPr>
      </p:sp>
      <p:sp>
        <p:nvSpPr>
          <p:cNvPr id="24" name="Shape 21"/>
          <p:cNvSpPr/>
          <p:nvPr/>
        </p:nvSpPr>
        <p:spPr>
          <a:xfrm>
            <a:off x="5428793" y="2163470"/>
            <a:ext cx="274320" cy="274320"/>
          </a:xfrm>
          <a:prstGeom prst="roundRect">
            <a:avLst>
              <a:gd name="adj" fmla="val 20000"/>
            </a:avLst>
          </a:prstGeom>
          <a:solidFill>
            <a:srgbClr val="F0C05A"/>
          </a:solidFill>
          <a:ln w="9525">
            <a:solidFill>
              <a:srgbClr val="F0C05A"/>
            </a:solidFill>
            <a:prstDash val="solid"/>
          </a:ln>
        </p:spPr>
      </p:sp>
      <p:sp>
        <p:nvSpPr>
          <p:cNvPr id="25" name="Shape 22"/>
          <p:cNvSpPr/>
          <p:nvPr/>
        </p:nvSpPr>
        <p:spPr>
          <a:xfrm>
            <a:off x="5771693" y="2163470"/>
            <a:ext cx="274320" cy="274320"/>
          </a:xfrm>
          <a:prstGeom prst="roundRect">
            <a:avLst>
              <a:gd name="adj" fmla="val 20000"/>
            </a:avLst>
          </a:prstGeom>
          <a:solidFill>
            <a:srgbClr val="F0C05A"/>
          </a:solidFill>
          <a:ln w="9525">
            <a:solidFill>
              <a:srgbClr val="F0C05A"/>
            </a:solidFill>
            <a:prstDash val="solid"/>
          </a:ln>
        </p:spPr>
      </p:sp>
      <p:sp>
        <p:nvSpPr>
          <p:cNvPr id="26" name="Shape 23"/>
          <p:cNvSpPr/>
          <p:nvPr/>
        </p:nvSpPr>
        <p:spPr>
          <a:xfrm>
            <a:off x="6114593" y="2163470"/>
            <a:ext cx="274320" cy="274320"/>
          </a:xfrm>
          <a:prstGeom prst="roundRect">
            <a:avLst>
              <a:gd name="adj" fmla="val 20000"/>
            </a:avLst>
          </a:prstGeom>
          <a:solidFill>
            <a:srgbClr val="F0C05A"/>
          </a:solidFill>
          <a:ln w="9525">
            <a:solidFill>
              <a:srgbClr val="F0C05A"/>
            </a:solidFill>
            <a:prstDash val="solid"/>
          </a:ln>
        </p:spPr>
      </p:sp>
      <p:sp>
        <p:nvSpPr>
          <p:cNvPr id="27" name="Shape 24"/>
          <p:cNvSpPr/>
          <p:nvPr/>
        </p:nvSpPr>
        <p:spPr>
          <a:xfrm>
            <a:off x="6457493" y="2163470"/>
            <a:ext cx="274320" cy="274320"/>
          </a:xfrm>
          <a:prstGeom prst="roundRect">
            <a:avLst>
              <a:gd name="adj" fmla="val 20000"/>
            </a:avLst>
          </a:prstGeom>
          <a:solidFill>
            <a:srgbClr val="F0C05A"/>
          </a:solidFill>
          <a:ln w="9525">
            <a:solidFill>
              <a:srgbClr val="F0C05A"/>
            </a:solidFill>
            <a:prstDash val="solid"/>
          </a:ln>
        </p:spPr>
      </p:sp>
      <p:sp>
        <p:nvSpPr>
          <p:cNvPr id="28" name="Shape 25"/>
          <p:cNvSpPr/>
          <p:nvPr/>
        </p:nvSpPr>
        <p:spPr>
          <a:xfrm>
            <a:off x="6800393" y="2163470"/>
            <a:ext cx="274320" cy="274320"/>
          </a:xfrm>
          <a:prstGeom prst="roundRect">
            <a:avLst>
              <a:gd name="adj" fmla="val 20000"/>
            </a:avLst>
          </a:prstGeom>
          <a:solidFill>
            <a:srgbClr val="F0C05A"/>
          </a:solidFill>
          <a:ln w="9525">
            <a:solidFill>
              <a:srgbClr val="F0C05A"/>
            </a:solidFill>
            <a:prstDash val="solid"/>
          </a:ln>
        </p:spPr>
      </p:sp>
      <p:sp>
        <p:nvSpPr>
          <p:cNvPr id="29" name="Shape 26"/>
          <p:cNvSpPr/>
          <p:nvPr/>
        </p:nvSpPr>
        <p:spPr>
          <a:xfrm>
            <a:off x="7143293" y="2163470"/>
            <a:ext cx="274320" cy="274320"/>
          </a:xfrm>
          <a:prstGeom prst="roundRect">
            <a:avLst>
              <a:gd name="adj" fmla="val 20000"/>
            </a:avLst>
          </a:prstGeom>
          <a:solidFill>
            <a:srgbClr val="F0C05A"/>
          </a:solidFill>
          <a:ln w="9525">
            <a:solidFill>
              <a:srgbClr val="F0C05A"/>
            </a:solidFill>
            <a:prstDash val="solid"/>
          </a:ln>
        </p:spPr>
      </p:sp>
      <p:sp>
        <p:nvSpPr>
          <p:cNvPr id="30" name="Shape 27"/>
          <p:cNvSpPr/>
          <p:nvPr/>
        </p:nvSpPr>
        <p:spPr>
          <a:xfrm>
            <a:off x="7486193" y="2163470"/>
            <a:ext cx="274320" cy="274320"/>
          </a:xfrm>
          <a:prstGeom prst="roundRect">
            <a:avLst>
              <a:gd name="adj" fmla="val 20000"/>
            </a:avLst>
          </a:prstGeom>
          <a:solidFill>
            <a:srgbClr val="F0C05A"/>
          </a:solidFill>
          <a:ln w="9525">
            <a:solidFill>
              <a:srgbClr val="F0C05A"/>
            </a:solidFill>
            <a:prstDash val="solid"/>
          </a:ln>
        </p:spPr>
      </p:sp>
      <p:sp>
        <p:nvSpPr>
          <p:cNvPr id="31" name="Shape 28"/>
          <p:cNvSpPr/>
          <p:nvPr/>
        </p:nvSpPr>
        <p:spPr>
          <a:xfrm>
            <a:off x="971093" y="2506370"/>
            <a:ext cx="274320" cy="274320"/>
          </a:xfrm>
          <a:prstGeom prst="roundRect">
            <a:avLst>
              <a:gd name="adj" fmla="val 20000"/>
            </a:avLst>
          </a:prstGeom>
          <a:solidFill>
            <a:srgbClr val="F0C05A"/>
          </a:solidFill>
          <a:ln w="9525">
            <a:solidFill>
              <a:srgbClr val="F0C05A"/>
            </a:solidFill>
            <a:prstDash val="solid"/>
          </a:ln>
        </p:spPr>
      </p:sp>
      <p:sp>
        <p:nvSpPr>
          <p:cNvPr id="32" name="Shape 29"/>
          <p:cNvSpPr/>
          <p:nvPr/>
        </p:nvSpPr>
        <p:spPr>
          <a:xfrm>
            <a:off x="1313993" y="2506370"/>
            <a:ext cx="274320" cy="274320"/>
          </a:xfrm>
          <a:prstGeom prst="roundRect">
            <a:avLst>
              <a:gd name="adj" fmla="val 20000"/>
            </a:avLst>
          </a:prstGeom>
          <a:solidFill>
            <a:srgbClr val="F0C05A"/>
          </a:solidFill>
          <a:ln w="9525">
            <a:solidFill>
              <a:srgbClr val="F0C05A"/>
            </a:solidFill>
            <a:prstDash val="solid"/>
          </a:ln>
        </p:spPr>
      </p:sp>
      <p:sp>
        <p:nvSpPr>
          <p:cNvPr id="33" name="Shape 30"/>
          <p:cNvSpPr/>
          <p:nvPr/>
        </p:nvSpPr>
        <p:spPr>
          <a:xfrm>
            <a:off x="1656893" y="2506370"/>
            <a:ext cx="274320" cy="274320"/>
          </a:xfrm>
          <a:prstGeom prst="roundRect">
            <a:avLst>
              <a:gd name="adj" fmla="val 20000"/>
            </a:avLst>
          </a:prstGeom>
          <a:solidFill>
            <a:srgbClr val="F0C05A"/>
          </a:solidFill>
          <a:ln w="9525">
            <a:solidFill>
              <a:srgbClr val="F0C05A"/>
            </a:solidFill>
            <a:prstDash val="solid"/>
          </a:ln>
        </p:spPr>
      </p:sp>
      <p:sp>
        <p:nvSpPr>
          <p:cNvPr id="34" name="Shape 31"/>
          <p:cNvSpPr/>
          <p:nvPr/>
        </p:nvSpPr>
        <p:spPr>
          <a:xfrm>
            <a:off x="1999793" y="2506370"/>
            <a:ext cx="274320" cy="274320"/>
          </a:xfrm>
          <a:prstGeom prst="roundRect">
            <a:avLst>
              <a:gd name="adj" fmla="val 20000"/>
            </a:avLst>
          </a:prstGeom>
          <a:solidFill>
            <a:srgbClr val="F0C05A"/>
          </a:solidFill>
          <a:ln w="9525">
            <a:solidFill>
              <a:srgbClr val="F0C05A"/>
            </a:solidFill>
            <a:prstDash val="solid"/>
          </a:ln>
        </p:spPr>
      </p:sp>
      <p:sp>
        <p:nvSpPr>
          <p:cNvPr id="35" name="Shape 32"/>
          <p:cNvSpPr/>
          <p:nvPr/>
        </p:nvSpPr>
        <p:spPr>
          <a:xfrm>
            <a:off x="2342693" y="2506370"/>
            <a:ext cx="274320" cy="274320"/>
          </a:xfrm>
          <a:prstGeom prst="roundRect">
            <a:avLst>
              <a:gd name="adj" fmla="val 20000"/>
            </a:avLst>
          </a:prstGeom>
          <a:solidFill>
            <a:srgbClr val="F0C05A"/>
          </a:solidFill>
          <a:ln w="9525">
            <a:solidFill>
              <a:srgbClr val="F0C05A"/>
            </a:solidFill>
            <a:prstDash val="solid"/>
          </a:ln>
        </p:spPr>
      </p:sp>
      <p:sp>
        <p:nvSpPr>
          <p:cNvPr id="36" name="Shape 33"/>
          <p:cNvSpPr/>
          <p:nvPr/>
        </p:nvSpPr>
        <p:spPr>
          <a:xfrm>
            <a:off x="2685593" y="2506370"/>
            <a:ext cx="274320" cy="274320"/>
          </a:xfrm>
          <a:prstGeom prst="roundRect">
            <a:avLst>
              <a:gd name="adj" fmla="val 20000"/>
            </a:avLst>
          </a:prstGeom>
          <a:solidFill>
            <a:srgbClr val="F0C05A"/>
          </a:solidFill>
          <a:ln w="9525">
            <a:solidFill>
              <a:srgbClr val="F0C05A"/>
            </a:solidFill>
            <a:prstDash val="solid"/>
          </a:ln>
        </p:spPr>
      </p:sp>
      <p:sp>
        <p:nvSpPr>
          <p:cNvPr id="37" name="Shape 34"/>
          <p:cNvSpPr/>
          <p:nvPr/>
        </p:nvSpPr>
        <p:spPr>
          <a:xfrm>
            <a:off x="3028493" y="2506370"/>
            <a:ext cx="274320" cy="274320"/>
          </a:xfrm>
          <a:prstGeom prst="roundRect">
            <a:avLst>
              <a:gd name="adj" fmla="val 20000"/>
            </a:avLst>
          </a:prstGeom>
          <a:solidFill>
            <a:srgbClr val="F0C05A"/>
          </a:solidFill>
          <a:ln w="9525">
            <a:solidFill>
              <a:srgbClr val="F0C05A"/>
            </a:solidFill>
            <a:prstDash val="solid"/>
          </a:ln>
        </p:spPr>
      </p:sp>
      <p:sp>
        <p:nvSpPr>
          <p:cNvPr id="38" name="Shape 35"/>
          <p:cNvSpPr/>
          <p:nvPr/>
        </p:nvSpPr>
        <p:spPr>
          <a:xfrm>
            <a:off x="3371393" y="2506370"/>
            <a:ext cx="274320" cy="274320"/>
          </a:xfrm>
          <a:prstGeom prst="roundRect">
            <a:avLst>
              <a:gd name="adj" fmla="val 20000"/>
            </a:avLst>
          </a:prstGeom>
          <a:solidFill>
            <a:srgbClr val="F0C05A"/>
          </a:solidFill>
          <a:ln w="9525">
            <a:solidFill>
              <a:srgbClr val="F0C05A"/>
            </a:solidFill>
            <a:prstDash val="solid"/>
          </a:ln>
        </p:spPr>
      </p:sp>
      <p:sp>
        <p:nvSpPr>
          <p:cNvPr id="39" name="Shape 36"/>
          <p:cNvSpPr/>
          <p:nvPr/>
        </p:nvSpPr>
        <p:spPr>
          <a:xfrm>
            <a:off x="3714293" y="2506370"/>
            <a:ext cx="274320" cy="274320"/>
          </a:xfrm>
          <a:prstGeom prst="roundRect">
            <a:avLst>
              <a:gd name="adj" fmla="val 20000"/>
            </a:avLst>
          </a:prstGeom>
          <a:solidFill>
            <a:srgbClr val="F0C05A"/>
          </a:solidFill>
          <a:ln w="9525">
            <a:solidFill>
              <a:srgbClr val="F0C05A"/>
            </a:solidFill>
            <a:prstDash val="solid"/>
          </a:ln>
        </p:spPr>
      </p:sp>
      <p:sp>
        <p:nvSpPr>
          <p:cNvPr id="40" name="Shape 37"/>
          <p:cNvSpPr/>
          <p:nvPr/>
        </p:nvSpPr>
        <p:spPr>
          <a:xfrm>
            <a:off x="4057193" y="2506370"/>
            <a:ext cx="274320" cy="274320"/>
          </a:xfrm>
          <a:prstGeom prst="roundRect">
            <a:avLst>
              <a:gd name="adj" fmla="val 20000"/>
            </a:avLst>
          </a:prstGeom>
          <a:solidFill>
            <a:srgbClr val="1E5C3C"/>
          </a:solidFill>
          <a:ln w="9525">
            <a:solidFill>
              <a:srgbClr val="2A7A4E"/>
            </a:solidFill>
            <a:prstDash val="solid"/>
          </a:ln>
        </p:spPr>
      </p:sp>
      <p:sp>
        <p:nvSpPr>
          <p:cNvPr id="41" name="Shape 38"/>
          <p:cNvSpPr/>
          <p:nvPr/>
        </p:nvSpPr>
        <p:spPr>
          <a:xfrm>
            <a:off x="4400093" y="2506370"/>
            <a:ext cx="274320" cy="274320"/>
          </a:xfrm>
          <a:prstGeom prst="roundRect">
            <a:avLst>
              <a:gd name="adj" fmla="val 20000"/>
            </a:avLst>
          </a:prstGeom>
          <a:solidFill>
            <a:srgbClr val="1E5C3C"/>
          </a:solidFill>
          <a:ln w="9525">
            <a:solidFill>
              <a:srgbClr val="2A7A4E"/>
            </a:solidFill>
            <a:prstDash val="solid"/>
          </a:ln>
        </p:spPr>
      </p:sp>
      <p:sp>
        <p:nvSpPr>
          <p:cNvPr id="42" name="Shape 39"/>
          <p:cNvSpPr/>
          <p:nvPr/>
        </p:nvSpPr>
        <p:spPr>
          <a:xfrm>
            <a:off x="4742993" y="2506370"/>
            <a:ext cx="274320" cy="274320"/>
          </a:xfrm>
          <a:prstGeom prst="roundRect">
            <a:avLst>
              <a:gd name="adj" fmla="val 20000"/>
            </a:avLst>
          </a:prstGeom>
          <a:solidFill>
            <a:srgbClr val="1E5C3C"/>
          </a:solidFill>
          <a:ln w="9525">
            <a:solidFill>
              <a:srgbClr val="2A7A4E"/>
            </a:solidFill>
            <a:prstDash val="solid"/>
          </a:ln>
        </p:spPr>
      </p:sp>
      <p:sp>
        <p:nvSpPr>
          <p:cNvPr id="43" name="Shape 40"/>
          <p:cNvSpPr/>
          <p:nvPr/>
        </p:nvSpPr>
        <p:spPr>
          <a:xfrm>
            <a:off x="5085893" y="2506370"/>
            <a:ext cx="274320" cy="274320"/>
          </a:xfrm>
          <a:prstGeom prst="roundRect">
            <a:avLst>
              <a:gd name="adj" fmla="val 20000"/>
            </a:avLst>
          </a:prstGeom>
          <a:solidFill>
            <a:srgbClr val="1E5C3C"/>
          </a:solidFill>
          <a:ln w="9525">
            <a:solidFill>
              <a:srgbClr val="2A7A4E"/>
            </a:solidFill>
            <a:prstDash val="solid"/>
          </a:ln>
        </p:spPr>
      </p:sp>
      <p:sp>
        <p:nvSpPr>
          <p:cNvPr id="44" name="Shape 41"/>
          <p:cNvSpPr/>
          <p:nvPr/>
        </p:nvSpPr>
        <p:spPr>
          <a:xfrm>
            <a:off x="5428793" y="2506370"/>
            <a:ext cx="274320" cy="274320"/>
          </a:xfrm>
          <a:prstGeom prst="roundRect">
            <a:avLst>
              <a:gd name="adj" fmla="val 20000"/>
            </a:avLst>
          </a:prstGeom>
          <a:solidFill>
            <a:srgbClr val="1E5C3C"/>
          </a:solidFill>
          <a:ln w="9525">
            <a:solidFill>
              <a:srgbClr val="2A7A4E"/>
            </a:solidFill>
            <a:prstDash val="solid"/>
          </a:ln>
        </p:spPr>
      </p:sp>
      <p:sp>
        <p:nvSpPr>
          <p:cNvPr id="45" name="Shape 42"/>
          <p:cNvSpPr/>
          <p:nvPr/>
        </p:nvSpPr>
        <p:spPr>
          <a:xfrm>
            <a:off x="5771693" y="2506370"/>
            <a:ext cx="274320" cy="274320"/>
          </a:xfrm>
          <a:prstGeom prst="roundRect">
            <a:avLst>
              <a:gd name="adj" fmla="val 20000"/>
            </a:avLst>
          </a:prstGeom>
          <a:solidFill>
            <a:srgbClr val="1E5C3C"/>
          </a:solidFill>
          <a:ln w="9525">
            <a:solidFill>
              <a:srgbClr val="2A7A4E"/>
            </a:solidFill>
            <a:prstDash val="solid"/>
          </a:ln>
        </p:spPr>
      </p:sp>
      <p:sp>
        <p:nvSpPr>
          <p:cNvPr id="46" name="Shape 43"/>
          <p:cNvSpPr/>
          <p:nvPr/>
        </p:nvSpPr>
        <p:spPr>
          <a:xfrm>
            <a:off x="6114593" y="2506370"/>
            <a:ext cx="274320" cy="274320"/>
          </a:xfrm>
          <a:prstGeom prst="roundRect">
            <a:avLst>
              <a:gd name="adj" fmla="val 20000"/>
            </a:avLst>
          </a:prstGeom>
          <a:solidFill>
            <a:srgbClr val="1E5C3C"/>
          </a:solidFill>
          <a:ln w="9525">
            <a:solidFill>
              <a:srgbClr val="2A7A4E"/>
            </a:solidFill>
            <a:prstDash val="solid"/>
          </a:ln>
        </p:spPr>
      </p:sp>
      <p:sp>
        <p:nvSpPr>
          <p:cNvPr id="47" name="Shape 44"/>
          <p:cNvSpPr/>
          <p:nvPr/>
        </p:nvSpPr>
        <p:spPr>
          <a:xfrm>
            <a:off x="6457493" y="2506370"/>
            <a:ext cx="274320" cy="274320"/>
          </a:xfrm>
          <a:prstGeom prst="roundRect">
            <a:avLst>
              <a:gd name="adj" fmla="val 20000"/>
            </a:avLst>
          </a:prstGeom>
          <a:solidFill>
            <a:srgbClr val="1E5C3C"/>
          </a:solidFill>
          <a:ln w="9525">
            <a:solidFill>
              <a:srgbClr val="2A7A4E"/>
            </a:solidFill>
            <a:prstDash val="solid"/>
          </a:ln>
        </p:spPr>
      </p:sp>
      <p:sp>
        <p:nvSpPr>
          <p:cNvPr id="48" name="Shape 45"/>
          <p:cNvSpPr/>
          <p:nvPr/>
        </p:nvSpPr>
        <p:spPr>
          <a:xfrm>
            <a:off x="6800393" y="2506370"/>
            <a:ext cx="274320" cy="274320"/>
          </a:xfrm>
          <a:prstGeom prst="roundRect">
            <a:avLst>
              <a:gd name="adj" fmla="val 20000"/>
            </a:avLst>
          </a:prstGeom>
          <a:solidFill>
            <a:srgbClr val="1E5C3C"/>
          </a:solidFill>
          <a:ln w="9525">
            <a:solidFill>
              <a:srgbClr val="2A7A4E"/>
            </a:solidFill>
            <a:prstDash val="solid"/>
          </a:ln>
        </p:spPr>
      </p:sp>
      <p:sp>
        <p:nvSpPr>
          <p:cNvPr id="49" name="Shape 46"/>
          <p:cNvSpPr/>
          <p:nvPr/>
        </p:nvSpPr>
        <p:spPr>
          <a:xfrm>
            <a:off x="7143293" y="2506370"/>
            <a:ext cx="274320" cy="274320"/>
          </a:xfrm>
          <a:prstGeom prst="roundRect">
            <a:avLst>
              <a:gd name="adj" fmla="val 20000"/>
            </a:avLst>
          </a:prstGeom>
          <a:solidFill>
            <a:srgbClr val="1E5C3C"/>
          </a:solidFill>
          <a:ln w="9525">
            <a:solidFill>
              <a:srgbClr val="2A7A4E"/>
            </a:solidFill>
            <a:prstDash val="solid"/>
          </a:ln>
        </p:spPr>
      </p:sp>
      <p:sp>
        <p:nvSpPr>
          <p:cNvPr id="50" name="Shape 47"/>
          <p:cNvSpPr/>
          <p:nvPr/>
        </p:nvSpPr>
        <p:spPr>
          <a:xfrm>
            <a:off x="7486193" y="2506370"/>
            <a:ext cx="274320" cy="274320"/>
          </a:xfrm>
          <a:prstGeom prst="roundRect">
            <a:avLst>
              <a:gd name="adj" fmla="val 20000"/>
            </a:avLst>
          </a:prstGeom>
          <a:solidFill>
            <a:srgbClr val="1E5C3C"/>
          </a:solidFill>
          <a:ln w="9525">
            <a:solidFill>
              <a:srgbClr val="2A7A4E"/>
            </a:solidFill>
            <a:prstDash val="solid"/>
          </a:ln>
        </p:spPr>
      </p:sp>
      <p:sp>
        <p:nvSpPr>
          <p:cNvPr id="51" name="Text 48"/>
          <p:cNvSpPr/>
          <p:nvPr/>
        </p:nvSpPr>
        <p:spPr>
          <a:xfrm>
            <a:off x="971093" y="2858414"/>
            <a:ext cx="6789420" cy="219456"/>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 40席（1席1杯とした場合の目安）</a:t>
            </a:r>
            <a:endParaRPr lang="en-US" sz="850" dirty="0"/>
          </a:p>
        </p:txBody>
      </p:sp>
      <p:sp>
        <p:nvSpPr>
          <p:cNvPr id="52" name="Text 49"/>
          <p:cNvSpPr/>
          <p:nvPr/>
        </p:nvSpPr>
        <p:spPr>
          <a:xfrm>
            <a:off x="8144561" y="2035454"/>
            <a:ext cx="3112618" cy="658368"/>
          </a:xfrm>
          <a:prstGeom prst="rect">
            <a:avLst/>
          </a:prstGeom>
          <a:noFill/>
          <a:ln/>
        </p:spPr>
        <p:txBody>
          <a:bodyPr wrap="square" lIns="0" tIns="0" rIns="0" bIns="0" rtlCol="0" anchor="ctr"/>
          <a:lstStyle/>
          <a:p>
            <a:pPr indent="0" marL="0">
              <a:buNone/>
            </a:pPr>
            <a:r>
              <a:rPr lang="en-US" sz="1200" dirty="0">
                <a:solidFill>
                  <a:srgbClr val="AFC2B8"/>
                </a:solidFill>
                <a:latin typeface="Yu Gothic" pitchFamily="34" charset="0"/>
                <a:ea typeface="Yu Gothic" pitchFamily="34" charset="-122"/>
                <a:cs typeface="Yu Gothic" pitchFamily="34" charset="-120"/>
              </a:rPr>
              <a:t>1日 </a:t>
            </a:r>
            <a:r>
              <a:rPr lang="en-US" sz="4000" b="1" dirty="0">
                <a:solidFill>
                  <a:srgbClr val="F0C05A"/>
                </a:solidFill>
                <a:latin typeface="Arial" pitchFamily="34" charset="0"/>
                <a:ea typeface="Arial" pitchFamily="34" charset="-122"/>
                <a:cs typeface="Arial" pitchFamily="34" charset="-120"/>
              </a:rPr>
              <a:t>29</a:t>
            </a:r>
            <a:r>
              <a:rPr lang="en-US" sz="1500" b="1" dirty="0">
                <a:solidFill>
                  <a:srgbClr val="F0C05A"/>
                </a:solidFill>
                <a:latin typeface="Yu Gothic" pitchFamily="34" charset="0"/>
                <a:ea typeface="Yu Gothic" pitchFamily="34" charset="-122"/>
                <a:cs typeface="Yu Gothic" pitchFamily="34" charset="-120"/>
              </a:rPr>
              <a:t> 杯</a:t>
            </a:r>
            <a:r>
              <a:rPr lang="en-US" sz="1250" b="1" dirty="0">
                <a:solidFill>
                  <a:srgbClr val="FFFFFF"/>
                </a:solidFill>
                <a:latin typeface="Yu Gothic" pitchFamily="34" charset="0"/>
                <a:ea typeface="Yu Gothic" pitchFamily="34" charset="-122"/>
                <a:cs typeface="Yu Gothic" pitchFamily="34" charset="-120"/>
              </a:rPr>
              <a:t> で黒字</a:t>
            </a:r>
            <a:endParaRPr lang="en-US" sz="1200" dirty="0"/>
          </a:p>
        </p:txBody>
      </p:sp>
      <p:sp>
        <p:nvSpPr>
          <p:cNvPr id="53" name="Text 50"/>
          <p:cNvSpPr/>
          <p:nvPr/>
        </p:nvSpPr>
        <p:spPr>
          <a:xfrm>
            <a:off x="8144561" y="2712110"/>
            <a:ext cx="3112618" cy="256032"/>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固定費28.6万円 ÷ 1杯の利益336円 ≒ 月851杯</a:t>
            </a:r>
            <a:endParaRPr lang="en-US" sz="900" dirty="0"/>
          </a:p>
        </p:txBody>
      </p:sp>
      <p:sp>
        <p:nvSpPr>
          <p:cNvPr id="54" name="Shape 51"/>
          <p:cNvSpPr/>
          <p:nvPr/>
        </p:nvSpPr>
        <p:spPr>
          <a:xfrm>
            <a:off x="660197" y="3535070"/>
            <a:ext cx="10871302" cy="1737360"/>
          </a:xfrm>
          <a:prstGeom prst="roundRect">
            <a:avLst>
              <a:gd name="adj" fmla="val 3158"/>
            </a:avLst>
          </a:prstGeom>
          <a:solidFill>
            <a:srgbClr val="FFFFFF"/>
          </a:solidFill>
          <a:ln w="9525">
            <a:solidFill>
              <a:srgbClr val="EFEAE0"/>
            </a:solidFill>
            <a:prstDash val="solid"/>
          </a:ln>
        </p:spPr>
      </p:sp>
      <p:sp>
        <p:nvSpPr>
          <p:cNvPr id="55" name="Text 52"/>
          <p:cNvSpPr/>
          <p:nvPr/>
        </p:nvSpPr>
        <p:spPr>
          <a:xfrm>
            <a:off x="971093" y="3699662"/>
            <a:ext cx="310896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賃貸物件（家賃20万円）</a:t>
            </a:r>
            <a:endParaRPr lang="en-US" sz="1150" dirty="0"/>
          </a:p>
        </p:txBody>
      </p:sp>
      <p:sp>
        <p:nvSpPr>
          <p:cNvPr id="56" name="Shape 53"/>
          <p:cNvSpPr/>
          <p:nvPr/>
        </p:nvSpPr>
        <p:spPr>
          <a:xfrm>
            <a:off x="971093" y="4047134"/>
            <a:ext cx="274320" cy="274320"/>
          </a:xfrm>
          <a:prstGeom prst="roundRect">
            <a:avLst>
              <a:gd name="adj" fmla="val 20000"/>
            </a:avLst>
          </a:prstGeom>
          <a:solidFill>
            <a:srgbClr val="106838"/>
          </a:solidFill>
          <a:ln w="9525">
            <a:solidFill>
              <a:srgbClr val="106838"/>
            </a:solidFill>
            <a:prstDash val="solid"/>
          </a:ln>
        </p:spPr>
      </p:sp>
      <p:sp>
        <p:nvSpPr>
          <p:cNvPr id="57" name="Shape 54"/>
          <p:cNvSpPr/>
          <p:nvPr/>
        </p:nvSpPr>
        <p:spPr>
          <a:xfrm>
            <a:off x="1313993" y="4047134"/>
            <a:ext cx="274320" cy="274320"/>
          </a:xfrm>
          <a:prstGeom prst="roundRect">
            <a:avLst>
              <a:gd name="adj" fmla="val 20000"/>
            </a:avLst>
          </a:prstGeom>
          <a:solidFill>
            <a:srgbClr val="106838"/>
          </a:solidFill>
          <a:ln w="9525">
            <a:solidFill>
              <a:srgbClr val="106838"/>
            </a:solidFill>
            <a:prstDash val="solid"/>
          </a:ln>
        </p:spPr>
      </p:sp>
      <p:sp>
        <p:nvSpPr>
          <p:cNvPr id="58" name="Shape 55"/>
          <p:cNvSpPr/>
          <p:nvPr/>
        </p:nvSpPr>
        <p:spPr>
          <a:xfrm>
            <a:off x="1656893" y="4047134"/>
            <a:ext cx="274320" cy="274320"/>
          </a:xfrm>
          <a:prstGeom prst="roundRect">
            <a:avLst>
              <a:gd name="adj" fmla="val 20000"/>
            </a:avLst>
          </a:prstGeom>
          <a:solidFill>
            <a:srgbClr val="106838"/>
          </a:solidFill>
          <a:ln w="9525">
            <a:solidFill>
              <a:srgbClr val="106838"/>
            </a:solidFill>
            <a:prstDash val="solid"/>
          </a:ln>
        </p:spPr>
      </p:sp>
      <p:sp>
        <p:nvSpPr>
          <p:cNvPr id="59" name="Shape 56"/>
          <p:cNvSpPr/>
          <p:nvPr/>
        </p:nvSpPr>
        <p:spPr>
          <a:xfrm>
            <a:off x="1999793" y="4047134"/>
            <a:ext cx="274320" cy="274320"/>
          </a:xfrm>
          <a:prstGeom prst="roundRect">
            <a:avLst>
              <a:gd name="adj" fmla="val 20000"/>
            </a:avLst>
          </a:prstGeom>
          <a:solidFill>
            <a:srgbClr val="106838"/>
          </a:solidFill>
          <a:ln w="9525">
            <a:solidFill>
              <a:srgbClr val="106838"/>
            </a:solidFill>
            <a:prstDash val="solid"/>
          </a:ln>
        </p:spPr>
      </p:sp>
      <p:sp>
        <p:nvSpPr>
          <p:cNvPr id="60" name="Shape 57"/>
          <p:cNvSpPr/>
          <p:nvPr/>
        </p:nvSpPr>
        <p:spPr>
          <a:xfrm>
            <a:off x="2342693" y="4047134"/>
            <a:ext cx="274320" cy="274320"/>
          </a:xfrm>
          <a:prstGeom prst="roundRect">
            <a:avLst>
              <a:gd name="adj" fmla="val 20000"/>
            </a:avLst>
          </a:prstGeom>
          <a:solidFill>
            <a:srgbClr val="106838"/>
          </a:solidFill>
          <a:ln w="9525">
            <a:solidFill>
              <a:srgbClr val="106838"/>
            </a:solidFill>
            <a:prstDash val="solid"/>
          </a:ln>
        </p:spPr>
      </p:sp>
      <p:sp>
        <p:nvSpPr>
          <p:cNvPr id="61" name="Shape 58"/>
          <p:cNvSpPr/>
          <p:nvPr/>
        </p:nvSpPr>
        <p:spPr>
          <a:xfrm>
            <a:off x="2685593" y="4047134"/>
            <a:ext cx="274320" cy="274320"/>
          </a:xfrm>
          <a:prstGeom prst="roundRect">
            <a:avLst>
              <a:gd name="adj" fmla="val 20000"/>
            </a:avLst>
          </a:prstGeom>
          <a:solidFill>
            <a:srgbClr val="106838"/>
          </a:solidFill>
          <a:ln w="9525">
            <a:solidFill>
              <a:srgbClr val="106838"/>
            </a:solidFill>
            <a:prstDash val="solid"/>
          </a:ln>
        </p:spPr>
      </p:sp>
      <p:sp>
        <p:nvSpPr>
          <p:cNvPr id="62" name="Shape 59"/>
          <p:cNvSpPr/>
          <p:nvPr/>
        </p:nvSpPr>
        <p:spPr>
          <a:xfrm>
            <a:off x="3028493" y="4047134"/>
            <a:ext cx="274320" cy="274320"/>
          </a:xfrm>
          <a:prstGeom prst="roundRect">
            <a:avLst>
              <a:gd name="adj" fmla="val 20000"/>
            </a:avLst>
          </a:prstGeom>
          <a:solidFill>
            <a:srgbClr val="106838"/>
          </a:solidFill>
          <a:ln w="9525">
            <a:solidFill>
              <a:srgbClr val="106838"/>
            </a:solidFill>
            <a:prstDash val="solid"/>
          </a:ln>
        </p:spPr>
      </p:sp>
      <p:sp>
        <p:nvSpPr>
          <p:cNvPr id="63" name="Shape 60"/>
          <p:cNvSpPr/>
          <p:nvPr/>
        </p:nvSpPr>
        <p:spPr>
          <a:xfrm>
            <a:off x="3371393" y="4047134"/>
            <a:ext cx="274320" cy="274320"/>
          </a:xfrm>
          <a:prstGeom prst="roundRect">
            <a:avLst>
              <a:gd name="adj" fmla="val 20000"/>
            </a:avLst>
          </a:prstGeom>
          <a:solidFill>
            <a:srgbClr val="106838"/>
          </a:solidFill>
          <a:ln w="9525">
            <a:solidFill>
              <a:srgbClr val="106838"/>
            </a:solidFill>
            <a:prstDash val="solid"/>
          </a:ln>
        </p:spPr>
      </p:sp>
      <p:sp>
        <p:nvSpPr>
          <p:cNvPr id="64" name="Shape 61"/>
          <p:cNvSpPr/>
          <p:nvPr/>
        </p:nvSpPr>
        <p:spPr>
          <a:xfrm>
            <a:off x="3714293" y="4047134"/>
            <a:ext cx="274320" cy="274320"/>
          </a:xfrm>
          <a:prstGeom prst="roundRect">
            <a:avLst>
              <a:gd name="adj" fmla="val 20000"/>
            </a:avLst>
          </a:prstGeom>
          <a:solidFill>
            <a:srgbClr val="106838"/>
          </a:solidFill>
          <a:ln w="9525">
            <a:solidFill>
              <a:srgbClr val="106838"/>
            </a:solidFill>
            <a:prstDash val="solid"/>
          </a:ln>
        </p:spPr>
      </p:sp>
      <p:sp>
        <p:nvSpPr>
          <p:cNvPr id="65" name="Shape 62"/>
          <p:cNvSpPr/>
          <p:nvPr/>
        </p:nvSpPr>
        <p:spPr>
          <a:xfrm>
            <a:off x="4057193" y="4047134"/>
            <a:ext cx="274320" cy="274320"/>
          </a:xfrm>
          <a:prstGeom prst="roundRect">
            <a:avLst>
              <a:gd name="adj" fmla="val 20000"/>
            </a:avLst>
          </a:prstGeom>
          <a:solidFill>
            <a:srgbClr val="106838"/>
          </a:solidFill>
          <a:ln w="9525">
            <a:solidFill>
              <a:srgbClr val="106838"/>
            </a:solidFill>
            <a:prstDash val="solid"/>
          </a:ln>
        </p:spPr>
      </p:sp>
      <p:sp>
        <p:nvSpPr>
          <p:cNvPr id="66" name="Shape 63"/>
          <p:cNvSpPr/>
          <p:nvPr/>
        </p:nvSpPr>
        <p:spPr>
          <a:xfrm>
            <a:off x="4400093" y="4047134"/>
            <a:ext cx="274320" cy="274320"/>
          </a:xfrm>
          <a:prstGeom prst="roundRect">
            <a:avLst>
              <a:gd name="adj" fmla="val 20000"/>
            </a:avLst>
          </a:prstGeom>
          <a:solidFill>
            <a:srgbClr val="106838"/>
          </a:solidFill>
          <a:ln w="9525">
            <a:solidFill>
              <a:srgbClr val="106838"/>
            </a:solidFill>
            <a:prstDash val="solid"/>
          </a:ln>
        </p:spPr>
      </p:sp>
      <p:sp>
        <p:nvSpPr>
          <p:cNvPr id="67" name="Shape 64"/>
          <p:cNvSpPr/>
          <p:nvPr/>
        </p:nvSpPr>
        <p:spPr>
          <a:xfrm>
            <a:off x="4742993" y="4047134"/>
            <a:ext cx="274320" cy="274320"/>
          </a:xfrm>
          <a:prstGeom prst="roundRect">
            <a:avLst>
              <a:gd name="adj" fmla="val 20000"/>
            </a:avLst>
          </a:prstGeom>
          <a:solidFill>
            <a:srgbClr val="106838"/>
          </a:solidFill>
          <a:ln w="9525">
            <a:solidFill>
              <a:srgbClr val="106838"/>
            </a:solidFill>
            <a:prstDash val="solid"/>
          </a:ln>
        </p:spPr>
      </p:sp>
      <p:sp>
        <p:nvSpPr>
          <p:cNvPr id="68" name="Shape 65"/>
          <p:cNvSpPr/>
          <p:nvPr/>
        </p:nvSpPr>
        <p:spPr>
          <a:xfrm>
            <a:off x="5085893" y="4047134"/>
            <a:ext cx="274320" cy="274320"/>
          </a:xfrm>
          <a:prstGeom prst="roundRect">
            <a:avLst>
              <a:gd name="adj" fmla="val 20000"/>
            </a:avLst>
          </a:prstGeom>
          <a:solidFill>
            <a:srgbClr val="106838"/>
          </a:solidFill>
          <a:ln w="9525">
            <a:solidFill>
              <a:srgbClr val="106838"/>
            </a:solidFill>
            <a:prstDash val="solid"/>
          </a:ln>
        </p:spPr>
      </p:sp>
      <p:sp>
        <p:nvSpPr>
          <p:cNvPr id="69" name="Shape 66"/>
          <p:cNvSpPr/>
          <p:nvPr/>
        </p:nvSpPr>
        <p:spPr>
          <a:xfrm>
            <a:off x="5428793" y="4047134"/>
            <a:ext cx="274320" cy="274320"/>
          </a:xfrm>
          <a:prstGeom prst="roundRect">
            <a:avLst>
              <a:gd name="adj" fmla="val 20000"/>
            </a:avLst>
          </a:prstGeom>
          <a:solidFill>
            <a:srgbClr val="106838"/>
          </a:solidFill>
          <a:ln w="9525">
            <a:solidFill>
              <a:srgbClr val="106838"/>
            </a:solidFill>
            <a:prstDash val="solid"/>
          </a:ln>
        </p:spPr>
      </p:sp>
      <p:sp>
        <p:nvSpPr>
          <p:cNvPr id="70" name="Shape 67"/>
          <p:cNvSpPr/>
          <p:nvPr/>
        </p:nvSpPr>
        <p:spPr>
          <a:xfrm>
            <a:off x="5771693" y="4047134"/>
            <a:ext cx="274320" cy="274320"/>
          </a:xfrm>
          <a:prstGeom prst="roundRect">
            <a:avLst>
              <a:gd name="adj" fmla="val 20000"/>
            </a:avLst>
          </a:prstGeom>
          <a:solidFill>
            <a:srgbClr val="106838"/>
          </a:solidFill>
          <a:ln w="9525">
            <a:solidFill>
              <a:srgbClr val="106838"/>
            </a:solidFill>
            <a:prstDash val="solid"/>
          </a:ln>
        </p:spPr>
      </p:sp>
      <p:sp>
        <p:nvSpPr>
          <p:cNvPr id="71" name="Shape 68"/>
          <p:cNvSpPr/>
          <p:nvPr/>
        </p:nvSpPr>
        <p:spPr>
          <a:xfrm>
            <a:off x="6114593" y="4047134"/>
            <a:ext cx="274320" cy="274320"/>
          </a:xfrm>
          <a:prstGeom prst="roundRect">
            <a:avLst>
              <a:gd name="adj" fmla="val 20000"/>
            </a:avLst>
          </a:prstGeom>
          <a:solidFill>
            <a:srgbClr val="106838"/>
          </a:solidFill>
          <a:ln w="9525">
            <a:solidFill>
              <a:srgbClr val="106838"/>
            </a:solidFill>
            <a:prstDash val="solid"/>
          </a:ln>
        </p:spPr>
      </p:sp>
      <p:sp>
        <p:nvSpPr>
          <p:cNvPr id="72" name="Shape 69"/>
          <p:cNvSpPr/>
          <p:nvPr/>
        </p:nvSpPr>
        <p:spPr>
          <a:xfrm>
            <a:off x="6457493" y="4047134"/>
            <a:ext cx="274320" cy="274320"/>
          </a:xfrm>
          <a:prstGeom prst="roundRect">
            <a:avLst>
              <a:gd name="adj" fmla="val 20000"/>
            </a:avLst>
          </a:prstGeom>
          <a:solidFill>
            <a:srgbClr val="106838"/>
          </a:solidFill>
          <a:ln w="9525">
            <a:solidFill>
              <a:srgbClr val="106838"/>
            </a:solidFill>
            <a:prstDash val="solid"/>
          </a:ln>
        </p:spPr>
      </p:sp>
      <p:sp>
        <p:nvSpPr>
          <p:cNvPr id="73" name="Shape 70"/>
          <p:cNvSpPr/>
          <p:nvPr/>
        </p:nvSpPr>
        <p:spPr>
          <a:xfrm>
            <a:off x="6800393" y="4047134"/>
            <a:ext cx="274320" cy="274320"/>
          </a:xfrm>
          <a:prstGeom prst="roundRect">
            <a:avLst>
              <a:gd name="adj" fmla="val 20000"/>
            </a:avLst>
          </a:prstGeom>
          <a:solidFill>
            <a:srgbClr val="106838"/>
          </a:solidFill>
          <a:ln w="9525">
            <a:solidFill>
              <a:srgbClr val="106838"/>
            </a:solidFill>
            <a:prstDash val="solid"/>
          </a:ln>
        </p:spPr>
      </p:sp>
      <p:sp>
        <p:nvSpPr>
          <p:cNvPr id="74" name="Shape 71"/>
          <p:cNvSpPr/>
          <p:nvPr/>
        </p:nvSpPr>
        <p:spPr>
          <a:xfrm>
            <a:off x="7143293" y="4047134"/>
            <a:ext cx="274320" cy="274320"/>
          </a:xfrm>
          <a:prstGeom prst="roundRect">
            <a:avLst>
              <a:gd name="adj" fmla="val 20000"/>
            </a:avLst>
          </a:prstGeom>
          <a:solidFill>
            <a:srgbClr val="106838"/>
          </a:solidFill>
          <a:ln w="9525">
            <a:solidFill>
              <a:srgbClr val="106838"/>
            </a:solidFill>
            <a:prstDash val="solid"/>
          </a:ln>
        </p:spPr>
      </p:sp>
      <p:sp>
        <p:nvSpPr>
          <p:cNvPr id="75" name="Shape 72"/>
          <p:cNvSpPr/>
          <p:nvPr/>
        </p:nvSpPr>
        <p:spPr>
          <a:xfrm>
            <a:off x="7486193" y="4047134"/>
            <a:ext cx="274320" cy="274320"/>
          </a:xfrm>
          <a:prstGeom prst="roundRect">
            <a:avLst>
              <a:gd name="adj" fmla="val 20000"/>
            </a:avLst>
          </a:prstGeom>
          <a:solidFill>
            <a:srgbClr val="106838"/>
          </a:solidFill>
          <a:ln w="9525">
            <a:solidFill>
              <a:srgbClr val="106838"/>
            </a:solidFill>
            <a:prstDash val="solid"/>
          </a:ln>
        </p:spPr>
      </p:sp>
      <p:sp>
        <p:nvSpPr>
          <p:cNvPr id="76" name="Shape 73"/>
          <p:cNvSpPr/>
          <p:nvPr/>
        </p:nvSpPr>
        <p:spPr>
          <a:xfrm>
            <a:off x="971093" y="4390034"/>
            <a:ext cx="274320" cy="274320"/>
          </a:xfrm>
          <a:prstGeom prst="roundRect">
            <a:avLst>
              <a:gd name="adj" fmla="val 20000"/>
            </a:avLst>
          </a:prstGeom>
          <a:solidFill>
            <a:srgbClr val="106838"/>
          </a:solidFill>
          <a:ln w="9525">
            <a:solidFill>
              <a:srgbClr val="106838"/>
            </a:solidFill>
            <a:prstDash val="solid"/>
          </a:ln>
        </p:spPr>
      </p:sp>
      <p:sp>
        <p:nvSpPr>
          <p:cNvPr id="77" name="Shape 74"/>
          <p:cNvSpPr/>
          <p:nvPr/>
        </p:nvSpPr>
        <p:spPr>
          <a:xfrm>
            <a:off x="1313993" y="4390034"/>
            <a:ext cx="274320" cy="274320"/>
          </a:xfrm>
          <a:prstGeom prst="roundRect">
            <a:avLst>
              <a:gd name="adj" fmla="val 20000"/>
            </a:avLst>
          </a:prstGeom>
          <a:solidFill>
            <a:srgbClr val="106838"/>
          </a:solidFill>
          <a:ln w="9525">
            <a:solidFill>
              <a:srgbClr val="106838"/>
            </a:solidFill>
            <a:prstDash val="solid"/>
          </a:ln>
        </p:spPr>
      </p:sp>
      <p:sp>
        <p:nvSpPr>
          <p:cNvPr id="78" name="Shape 75"/>
          <p:cNvSpPr/>
          <p:nvPr/>
        </p:nvSpPr>
        <p:spPr>
          <a:xfrm>
            <a:off x="1656893" y="4390034"/>
            <a:ext cx="274320" cy="274320"/>
          </a:xfrm>
          <a:prstGeom prst="roundRect">
            <a:avLst>
              <a:gd name="adj" fmla="val 20000"/>
            </a:avLst>
          </a:prstGeom>
          <a:solidFill>
            <a:srgbClr val="106838"/>
          </a:solidFill>
          <a:ln w="9525">
            <a:solidFill>
              <a:srgbClr val="106838"/>
            </a:solidFill>
            <a:prstDash val="solid"/>
          </a:ln>
        </p:spPr>
      </p:sp>
      <p:sp>
        <p:nvSpPr>
          <p:cNvPr id="79" name="Shape 76"/>
          <p:cNvSpPr/>
          <p:nvPr/>
        </p:nvSpPr>
        <p:spPr>
          <a:xfrm>
            <a:off x="1999793" y="4390034"/>
            <a:ext cx="274320" cy="274320"/>
          </a:xfrm>
          <a:prstGeom prst="roundRect">
            <a:avLst>
              <a:gd name="adj" fmla="val 20000"/>
            </a:avLst>
          </a:prstGeom>
          <a:solidFill>
            <a:srgbClr val="106838"/>
          </a:solidFill>
          <a:ln w="9525">
            <a:solidFill>
              <a:srgbClr val="106838"/>
            </a:solidFill>
            <a:prstDash val="solid"/>
          </a:ln>
        </p:spPr>
      </p:sp>
      <p:sp>
        <p:nvSpPr>
          <p:cNvPr id="80" name="Shape 77"/>
          <p:cNvSpPr/>
          <p:nvPr/>
        </p:nvSpPr>
        <p:spPr>
          <a:xfrm>
            <a:off x="2342693" y="4390034"/>
            <a:ext cx="274320" cy="274320"/>
          </a:xfrm>
          <a:prstGeom prst="roundRect">
            <a:avLst>
              <a:gd name="adj" fmla="val 20000"/>
            </a:avLst>
          </a:prstGeom>
          <a:solidFill>
            <a:srgbClr val="106838"/>
          </a:solidFill>
          <a:ln w="9525">
            <a:solidFill>
              <a:srgbClr val="106838"/>
            </a:solidFill>
            <a:prstDash val="solid"/>
          </a:ln>
        </p:spPr>
      </p:sp>
      <p:sp>
        <p:nvSpPr>
          <p:cNvPr id="81" name="Shape 78"/>
          <p:cNvSpPr/>
          <p:nvPr/>
        </p:nvSpPr>
        <p:spPr>
          <a:xfrm>
            <a:off x="2685593" y="4390034"/>
            <a:ext cx="274320" cy="274320"/>
          </a:xfrm>
          <a:prstGeom prst="roundRect">
            <a:avLst>
              <a:gd name="adj" fmla="val 20000"/>
            </a:avLst>
          </a:prstGeom>
          <a:solidFill>
            <a:srgbClr val="106838"/>
          </a:solidFill>
          <a:ln w="9525">
            <a:solidFill>
              <a:srgbClr val="106838"/>
            </a:solidFill>
            <a:prstDash val="solid"/>
          </a:ln>
        </p:spPr>
      </p:sp>
      <p:sp>
        <p:nvSpPr>
          <p:cNvPr id="82" name="Shape 79"/>
          <p:cNvSpPr/>
          <p:nvPr/>
        </p:nvSpPr>
        <p:spPr>
          <a:xfrm>
            <a:off x="3028493" y="4390034"/>
            <a:ext cx="274320" cy="274320"/>
          </a:xfrm>
          <a:prstGeom prst="roundRect">
            <a:avLst>
              <a:gd name="adj" fmla="val 20000"/>
            </a:avLst>
          </a:prstGeom>
          <a:solidFill>
            <a:srgbClr val="106838"/>
          </a:solidFill>
          <a:ln w="9525">
            <a:solidFill>
              <a:srgbClr val="106838"/>
            </a:solidFill>
            <a:prstDash val="solid"/>
          </a:ln>
        </p:spPr>
      </p:sp>
      <p:sp>
        <p:nvSpPr>
          <p:cNvPr id="83" name="Shape 80"/>
          <p:cNvSpPr/>
          <p:nvPr/>
        </p:nvSpPr>
        <p:spPr>
          <a:xfrm>
            <a:off x="3371393" y="4390034"/>
            <a:ext cx="274320" cy="274320"/>
          </a:xfrm>
          <a:prstGeom prst="roundRect">
            <a:avLst>
              <a:gd name="adj" fmla="val 20000"/>
            </a:avLst>
          </a:prstGeom>
          <a:solidFill>
            <a:srgbClr val="106838"/>
          </a:solidFill>
          <a:ln w="9525">
            <a:solidFill>
              <a:srgbClr val="106838"/>
            </a:solidFill>
            <a:prstDash val="solid"/>
          </a:ln>
        </p:spPr>
      </p:sp>
      <p:sp>
        <p:nvSpPr>
          <p:cNvPr id="84" name="Shape 81"/>
          <p:cNvSpPr/>
          <p:nvPr/>
        </p:nvSpPr>
        <p:spPr>
          <a:xfrm>
            <a:off x="3714293" y="4390034"/>
            <a:ext cx="274320" cy="274320"/>
          </a:xfrm>
          <a:prstGeom prst="roundRect">
            <a:avLst>
              <a:gd name="adj" fmla="val 20000"/>
            </a:avLst>
          </a:prstGeom>
          <a:solidFill>
            <a:srgbClr val="106838"/>
          </a:solidFill>
          <a:ln w="9525">
            <a:solidFill>
              <a:srgbClr val="106838"/>
            </a:solidFill>
            <a:prstDash val="solid"/>
          </a:ln>
        </p:spPr>
      </p:sp>
      <p:sp>
        <p:nvSpPr>
          <p:cNvPr id="85" name="Shape 82"/>
          <p:cNvSpPr/>
          <p:nvPr/>
        </p:nvSpPr>
        <p:spPr>
          <a:xfrm>
            <a:off x="4057193" y="4390034"/>
            <a:ext cx="274320" cy="274320"/>
          </a:xfrm>
          <a:prstGeom prst="roundRect">
            <a:avLst>
              <a:gd name="adj" fmla="val 20000"/>
            </a:avLst>
          </a:prstGeom>
          <a:solidFill>
            <a:srgbClr val="106838"/>
          </a:solidFill>
          <a:ln w="9525">
            <a:solidFill>
              <a:srgbClr val="106838"/>
            </a:solidFill>
            <a:prstDash val="solid"/>
          </a:ln>
        </p:spPr>
      </p:sp>
      <p:sp>
        <p:nvSpPr>
          <p:cNvPr id="86" name="Shape 83"/>
          <p:cNvSpPr/>
          <p:nvPr/>
        </p:nvSpPr>
        <p:spPr>
          <a:xfrm>
            <a:off x="4400093" y="4390034"/>
            <a:ext cx="274320" cy="274320"/>
          </a:xfrm>
          <a:prstGeom prst="roundRect">
            <a:avLst>
              <a:gd name="adj" fmla="val 20000"/>
            </a:avLst>
          </a:prstGeom>
          <a:solidFill>
            <a:srgbClr val="106838"/>
          </a:solidFill>
          <a:ln w="9525">
            <a:solidFill>
              <a:srgbClr val="106838"/>
            </a:solidFill>
            <a:prstDash val="solid"/>
          </a:ln>
        </p:spPr>
      </p:sp>
      <p:sp>
        <p:nvSpPr>
          <p:cNvPr id="87" name="Shape 84"/>
          <p:cNvSpPr/>
          <p:nvPr/>
        </p:nvSpPr>
        <p:spPr>
          <a:xfrm>
            <a:off x="4742993" y="4390034"/>
            <a:ext cx="274320" cy="274320"/>
          </a:xfrm>
          <a:prstGeom prst="roundRect">
            <a:avLst>
              <a:gd name="adj" fmla="val 20000"/>
            </a:avLst>
          </a:prstGeom>
          <a:solidFill>
            <a:srgbClr val="106838"/>
          </a:solidFill>
          <a:ln w="9525">
            <a:solidFill>
              <a:srgbClr val="106838"/>
            </a:solidFill>
            <a:prstDash val="solid"/>
          </a:ln>
        </p:spPr>
      </p:sp>
      <p:sp>
        <p:nvSpPr>
          <p:cNvPr id="88" name="Shape 85"/>
          <p:cNvSpPr/>
          <p:nvPr/>
        </p:nvSpPr>
        <p:spPr>
          <a:xfrm>
            <a:off x="5085893" y="4390034"/>
            <a:ext cx="274320" cy="274320"/>
          </a:xfrm>
          <a:prstGeom prst="roundRect">
            <a:avLst>
              <a:gd name="adj" fmla="val 20000"/>
            </a:avLst>
          </a:prstGeom>
          <a:solidFill>
            <a:srgbClr val="106838"/>
          </a:solidFill>
          <a:ln w="9525">
            <a:solidFill>
              <a:srgbClr val="106838"/>
            </a:solidFill>
            <a:prstDash val="solid"/>
          </a:ln>
        </p:spPr>
      </p:sp>
      <p:sp>
        <p:nvSpPr>
          <p:cNvPr id="89" name="Shape 86"/>
          <p:cNvSpPr/>
          <p:nvPr/>
        </p:nvSpPr>
        <p:spPr>
          <a:xfrm>
            <a:off x="5428793" y="4390034"/>
            <a:ext cx="274320" cy="274320"/>
          </a:xfrm>
          <a:prstGeom prst="roundRect">
            <a:avLst>
              <a:gd name="adj" fmla="val 20000"/>
            </a:avLst>
          </a:prstGeom>
          <a:solidFill>
            <a:srgbClr val="106838"/>
          </a:solidFill>
          <a:ln w="9525">
            <a:solidFill>
              <a:srgbClr val="106838"/>
            </a:solidFill>
            <a:prstDash val="solid"/>
          </a:ln>
        </p:spPr>
      </p:sp>
      <p:sp>
        <p:nvSpPr>
          <p:cNvPr id="90" name="Shape 87"/>
          <p:cNvSpPr/>
          <p:nvPr/>
        </p:nvSpPr>
        <p:spPr>
          <a:xfrm>
            <a:off x="5771693" y="4390034"/>
            <a:ext cx="274320" cy="274320"/>
          </a:xfrm>
          <a:prstGeom prst="roundRect">
            <a:avLst>
              <a:gd name="adj" fmla="val 20000"/>
            </a:avLst>
          </a:prstGeom>
          <a:solidFill>
            <a:srgbClr val="106838"/>
          </a:solidFill>
          <a:ln w="9525">
            <a:solidFill>
              <a:srgbClr val="106838"/>
            </a:solidFill>
            <a:prstDash val="solid"/>
          </a:ln>
        </p:spPr>
      </p:sp>
      <p:sp>
        <p:nvSpPr>
          <p:cNvPr id="91" name="Shape 88"/>
          <p:cNvSpPr/>
          <p:nvPr/>
        </p:nvSpPr>
        <p:spPr>
          <a:xfrm>
            <a:off x="6114593" y="4390034"/>
            <a:ext cx="274320" cy="274320"/>
          </a:xfrm>
          <a:prstGeom prst="roundRect">
            <a:avLst>
              <a:gd name="adj" fmla="val 20000"/>
            </a:avLst>
          </a:prstGeom>
          <a:solidFill>
            <a:srgbClr val="106838"/>
          </a:solidFill>
          <a:ln w="9525">
            <a:solidFill>
              <a:srgbClr val="106838"/>
            </a:solidFill>
            <a:prstDash val="solid"/>
          </a:ln>
        </p:spPr>
      </p:sp>
      <p:sp>
        <p:nvSpPr>
          <p:cNvPr id="92" name="Shape 89"/>
          <p:cNvSpPr/>
          <p:nvPr/>
        </p:nvSpPr>
        <p:spPr>
          <a:xfrm>
            <a:off x="6457493" y="4390034"/>
            <a:ext cx="274320" cy="274320"/>
          </a:xfrm>
          <a:prstGeom prst="roundRect">
            <a:avLst>
              <a:gd name="adj" fmla="val 20000"/>
            </a:avLst>
          </a:prstGeom>
          <a:solidFill>
            <a:srgbClr val="106838"/>
          </a:solidFill>
          <a:ln w="9525">
            <a:solidFill>
              <a:srgbClr val="106838"/>
            </a:solidFill>
            <a:prstDash val="solid"/>
          </a:ln>
        </p:spPr>
      </p:sp>
      <p:sp>
        <p:nvSpPr>
          <p:cNvPr id="93" name="Shape 90"/>
          <p:cNvSpPr/>
          <p:nvPr/>
        </p:nvSpPr>
        <p:spPr>
          <a:xfrm>
            <a:off x="6800393" y="4390034"/>
            <a:ext cx="274320" cy="274320"/>
          </a:xfrm>
          <a:prstGeom prst="roundRect">
            <a:avLst>
              <a:gd name="adj" fmla="val 20000"/>
            </a:avLst>
          </a:prstGeom>
          <a:solidFill>
            <a:srgbClr val="106838"/>
          </a:solidFill>
          <a:ln w="9525">
            <a:solidFill>
              <a:srgbClr val="106838"/>
            </a:solidFill>
            <a:prstDash val="solid"/>
          </a:ln>
        </p:spPr>
      </p:sp>
      <p:sp>
        <p:nvSpPr>
          <p:cNvPr id="94" name="Shape 91"/>
          <p:cNvSpPr/>
          <p:nvPr/>
        </p:nvSpPr>
        <p:spPr>
          <a:xfrm>
            <a:off x="7143293" y="4390034"/>
            <a:ext cx="274320" cy="274320"/>
          </a:xfrm>
          <a:prstGeom prst="roundRect">
            <a:avLst>
              <a:gd name="adj" fmla="val 20000"/>
            </a:avLst>
          </a:prstGeom>
          <a:solidFill>
            <a:srgbClr val="106838"/>
          </a:solidFill>
          <a:ln w="9525">
            <a:solidFill>
              <a:srgbClr val="106838"/>
            </a:solidFill>
            <a:prstDash val="solid"/>
          </a:ln>
        </p:spPr>
      </p:sp>
      <p:sp>
        <p:nvSpPr>
          <p:cNvPr id="95" name="Shape 92"/>
          <p:cNvSpPr/>
          <p:nvPr/>
        </p:nvSpPr>
        <p:spPr>
          <a:xfrm>
            <a:off x="7486193" y="4390034"/>
            <a:ext cx="274320" cy="274320"/>
          </a:xfrm>
          <a:prstGeom prst="roundRect">
            <a:avLst>
              <a:gd name="adj" fmla="val 20000"/>
            </a:avLst>
          </a:prstGeom>
          <a:solidFill>
            <a:srgbClr val="106838"/>
          </a:solidFill>
          <a:ln w="9525">
            <a:solidFill>
              <a:srgbClr val="106838"/>
            </a:solidFill>
            <a:prstDash val="solid"/>
          </a:ln>
        </p:spPr>
      </p:sp>
      <p:sp>
        <p:nvSpPr>
          <p:cNvPr id="96" name="Text 93"/>
          <p:cNvSpPr/>
          <p:nvPr/>
        </p:nvSpPr>
        <p:spPr>
          <a:xfrm>
            <a:off x="971093" y="4742078"/>
            <a:ext cx="6789420" cy="219456"/>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 40席（1席1杯とした場合の目安）</a:t>
            </a:r>
            <a:endParaRPr lang="en-US" sz="850" dirty="0"/>
          </a:p>
        </p:txBody>
      </p:sp>
      <p:sp>
        <p:nvSpPr>
          <p:cNvPr id="97" name="Text 94"/>
          <p:cNvSpPr/>
          <p:nvPr/>
        </p:nvSpPr>
        <p:spPr>
          <a:xfrm>
            <a:off x="8144561" y="3919118"/>
            <a:ext cx="3112618" cy="658368"/>
          </a:xfrm>
          <a:prstGeom prst="rect">
            <a:avLst/>
          </a:prstGeom>
          <a:noFill/>
          <a:ln/>
        </p:spPr>
        <p:txBody>
          <a:bodyPr wrap="square" lIns="0" tIns="0" rIns="0" bIns="0" rtlCol="0" anchor="ctr"/>
          <a:lstStyle/>
          <a:p>
            <a:pPr indent="0" marL="0">
              <a:buNone/>
            </a:pPr>
            <a:r>
              <a:rPr lang="en-US" sz="1200" dirty="0">
                <a:solidFill>
                  <a:srgbClr val="7E8882"/>
                </a:solidFill>
                <a:latin typeface="Yu Gothic" pitchFamily="34" charset="0"/>
                <a:ea typeface="Yu Gothic" pitchFamily="34" charset="-122"/>
                <a:cs typeface="Yu Gothic" pitchFamily="34" charset="-120"/>
              </a:rPr>
              <a:t>1日 </a:t>
            </a:r>
            <a:r>
              <a:rPr lang="en-US" sz="4000" b="1" dirty="0">
                <a:solidFill>
                  <a:srgbClr val="106838"/>
                </a:solidFill>
                <a:latin typeface="Arial" pitchFamily="34" charset="0"/>
                <a:ea typeface="Arial" pitchFamily="34" charset="-122"/>
                <a:cs typeface="Arial" pitchFamily="34" charset="-120"/>
              </a:rPr>
              <a:t>49</a:t>
            </a:r>
            <a:r>
              <a:rPr lang="en-US" sz="1500" b="1" dirty="0">
                <a:solidFill>
                  <a:srgbClr val="106838"/>
                </a:solidFill>
                <a:latin typeface="Yu Gothic" pitchFamily="34" charset="0"/>
                <a:ea typeface="Yu Gothic" pitchFamily="34" charset="-122"/>
                <a:cs typeface="Yu Gothic" pitchFamily="34" charset="-120"/>
              </a:rPr>
              <a:t> 杯</a:t>
            </a:r>
            <a:r>
              <a:rPr lang="en-US" sz="1250" b="1" dirty="0">
                <a:solidFill>
                  <a:srgbClr val="0A3D23"/>
                </a:solidFill>
                <a:latin typeface="Yu Gothic" pitchFamily="34" charset="0"/>
                <a:ea typeface="Yu Gothic" pitchFamily="34" charset="-122"/>
                <a:cs typeface="Yu Gothic" pitchFamily="34" charset="-120"/>
              </a:rPr>
              <a:t> で黒字</a:t>
            </a:r>
            <a:endParaRPr lang="en-US" sz="1200" dirty="0"/>
          </a:p>
        </p:txBody>
      </p:sp>
      <p:sp>
        <p:nvSpPr>
          <p:cNvPr id="98" name="Text 95"/>
          <p:cNvSpPr/>
          <p:nvPr/>
        </p:nvSpPr>
        <p:spPr>
          <a:xfrm>
            <a:off x="8144561" y="4595774"/>
            <a:ext cx="3112618" cy="25603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固定費48.6万円 ÷ 1杯の利益336円 ≒ 月1,447杯</a:t>
            </a:r>
            <a:endParaRPr lang="en-US" sz="900" dirty="0"/>
          </a:p>
        </p:txBody>
      </p:sp>
      <p:sp>
        <p:nvSpPr>
          <p:cNvPr id="99" name="Shape 96"/>
          <p:cNvSpPr/>
          <p:nvPr/>
        </p:nvSpPr>
        <p:spPr>
          <a:xfrm>
            <a:off x="660197" y="5491886"/>
            <a:ext cx="10871302" cy="822960"/>
          </a:xfrm>
          <a:prstGeom prst="roundRect">
            <a:avLst>
              <a:gd name="adj" fmla="val 6667"/>
            </a:avLst>
          </a:prstGeom>
          <a:solidFill>
            <a:srgbClr val="F1F8F3"/>
          </a:solidFill>
          <a:ln w="9525">
            <a:solidFill>
              <a:srgbClr val="D2E7DA"/>
            </a:solidFill>
            <a:prstDash val="solid"/>
          </a:ln>
        </p:spPr>
      </p:sp>
      <p:pic>
        <p:nvPicPr>
          <p:cNvPr id="100" name="Image 1" descr="/home/user/suzuki-ceo/selfcafe-partner-deck/assets/icons/LuTrendingUp-green.png">    </p:cNvPr>
          <p:cNvPicPr>
            <a:picLocks noChangeAspect="1"/>
          </p:cNvPicPr>
          <p:nvPr/>
        </p:nvPicPr>
        <p:blipFill>
          <a:blip r:embed="rId2"/>
          <a:stretch>
            <a:fillRect/>
          </a:stretch>
        </p:blipFill>
        <p:spPr>
          <a:xfrm>
            <a:off x="952805" y="5720486"/>
            <a:ext cx="365760" cy="365760"/>
          </a:xfrm>
          <a:prstGeom prst="rect">
            <a:avLst/>
          </a:prstGeom>
        </p:spPr>
      </p:pic>
      <p:sp>
        <p:nvSpPr>
          <p:cNvPr id="101" name="Text 97"/>
          <p:cNvSpPr/>
          <p:nvPr/>
        </p:nvSpPr>
        <p:spPr>
          <a:xfrm>
            <a:off x="1501445" y="5491886"/>
            <a:ext cx="9737446" cy="822960"/>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実績：既存店（開業6ヶ月以上）の中央値は </a:t>
            </a:r>
            <a:r>
              <a:rPr lang="en-US" sz="1500" b="1" dirty="0">
                <a:solidFill>
                  <a:srgbClr val="106838"/>
                </a:solidFill>
                <a:latin typeface="Yu Gothic" pitchFamily="34" charset="0"/>
                <a:ea typeface="Yu Gothic" pitchFamily="34" charset="-122"/>
                <a:cs typeface="Yu Gothic" pitchFamily="34" charset="-120"/>
              </a:rPr>
              <a:t>1日 約53杯</a:t>
            </a:r>
            <a:r>
              <a:rPr lang="en-US" sz="1200" dirty="0">
                <a:solidFill>
                  <a:srgbClr val="0A3D23"/>
                </a:solidFill>
                <a:latin typeface="Yu Gothic" pitchFamily="34" charset="0"/>
                <a:ea typeface="Yu Gothic" pitchFamily="34" charset="-122"/>
                <a:cs typeface="Yu Gothic" pitchFamily="34" charset="-120"/>
              </a:rPr>
              <a:t>。分岐点を上回って稼働しています。</a:t>
            </a:r>
            <a:endParaRPr lang="en-US" sz="1200" dirty="0"/>
          </a:p>
        </p:txBody>
      </p:sp>
      <p:sp>
        <p:nvSpPr>
          <p:cNvPr id="102" name="Text 98"/>
          <p:cNvSpPr/>
          <p:nvPr/>
        </p:nvSpPr>
        <p:spPr>
          <a:xfrm>
            <a:off x="660197" y="640628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20坪モデルの前提（1杯420円・原価20%・固定費28.6万円／月＋家賃）による試算。1席1杯は目安で、実際は同じ席が1日に何度も回転します。</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5243627" cy="3931920"/>
          </a:xfrm>
          <a:prstGeom prst="roundRect">
            <a:avLst>
              <a:gd name="adj" fmla="val 1395"/>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14" name="Text 11"/>
          <p:cNvSpPr/>
          <p:nvPr/>
        </p:nvSpPr>
        <p:spPr>
          <a:xfrm>
            <a:off x="2580437"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開業費650万円（加盟金100＋工事400＋準備金100＋保証金50）＋諸経費・予備費150万円</a:t>
            </a:r>
            <a:endParaRPr lang="en-US" sz="750" dirty="0"/>
          </a:p>
        </p:txBody>
      </p:sp>
      <p:sp>
        <p:nvSpPr>
          <p:cNvPr id="15" name="Text 12"/>
          <p:cNvSpPr/>
          <p:nvPr/>
        </p:nvSpPr>
        <p:spPr>
          <a:xfrm>
            <a:off x="4166464"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800万円</a:t>
            </a:r>
            <a:endParaRPr lang="en-US" sz="1200" dirty="0"/>
          </a:p>
        </p:txBody>
      </p:sp>
      <p:sp>
        <p:nvSpPr>
          <p:cNvPr id="16" name="Shape 13"/>
          <p:cNvSpPr/>
          <p:nvPr/>
        </p:nvSpPr>
        <p:spPr>
          <a:xfrm>
            <a:off x="934517" y="2730398"/>
            <a:ext cx="4694987" cy="10058"/>
          </a:xfrm>
          <a:prstGeom prst="rect">
            <a:avLst/>
          </a:prstGeom>
          <a:solidFill>
            <a:srgbClr val="EFEAE0"/>
          </a:solidFill>
          <a:ln/>
        </p:spPr>
      </p:sp>
      <p:sp>
        <p:nvSpPr>
          <p:cNvPr id="17" name="Text 14"/>
          <p:cNvSpPr/>
          <p:nvPr/>
        </p:nvSpPr>
        <p:spPr>
          <a:xfrm>
            <a:off x="934517"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8" name="Text 15"/>
          <p:cNvSpPr/>
          <p:nvPr/>
        </p:nvSpPr>
        <p:spPr>
          <a:xfrm>
            <a:off x="2580437"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9" name="Text 16"/>
          <p:cNvSpPr/>
          <p:nvPr/>
        </p:nvSpPr>
        <p:spPr>
          <a:xfrm>
            <a:off x="4166464"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945,000円</a:t>
            </a:r>
            <a:endParaRPr lang="en-US" sz="1200" dirty="0"/>
          </a:p>
        </p:txBody>
      </p:sp>
      <p:sp>
        <p:nvSpPr>
          <p:cNvPr id="20" name="Shape 17"/>
          <p:cNvSpPr/>
          <p:nvPr/>
        </p:nvSpPr>
        <p:spPr>
          <a:xfrm>
            <a:off x="934517" y="3059582"/>
            <a:ext cx="4694987" cy="10058"/>
          </a:xfrm>
          <a:prstGeom prst="rect">
            <a:avLst/>
          </a:prstGeom>
          <a:solidFill>
            <a:srgbClr val="EFEAE0"/>
          </a:solidFill>
          <a:ln/>
        </p:spPr>
      </p:sp>
      <p:sp>
        <p:nvSpPr>
          <p:cNvPr id="21" name="Text 18"/>
          <p:cNvSpPr/>
          <p:nvPr/>
        </p:nvSpPr>
        <p:spPr>
          <a:xfrm>
            <a:off x="934517"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22" name="Text 19"/>
          <p:cNvSpPr/>
          <p:nvPr/>
        </p:nvSpPr>
        <p:spPr>
          <a:xfrm>
            <a:off x="2580437"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23" name="Text 20"/>
          <p:cNvSpPr/>
          <p:nvPr/>
        </p:nvSpPr>
        <p:spPr>
          <a:xfrm>
            <a:off x="4166464"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-475,000円</a:t>
            </a:r>
            <a:endParaRPr lang="en-US" sz="1200" dirty="0"/>
          </a:p>
        </p:txBody>
      </p:sp>
      <p:sp>
        <p:nvSpPr>
          <p:cNvPr id="24" name="Shape 21"/>
          <p:cNvSpPr/>
          <p:nvPr/>
        </p:nvSpPr>
        <p:spPr>
          <a:xfrm>
            <a:off x="934517" y="3388766"/>
            <a:ext cx="4694987" cy="10058"/>
          </a:xfrm>
          <a:prstGeom prst="rect">
            <a:avLst/>
          </a:prstGeom>
          <a:solidFill>
            <a:srgbClr val="EFEAE0"/>
          </a:solidFill>
          <a:ln/>
        </p:spPr>
      </p:sp>
      <p:sp>
        <p:nvSpPr>
          <p:cNvPr id="25" name="Text 22"/>
          <p:cNvSpPr/>
          <p:nvPr/>
        </p:nvSpPr>
        <p:spPr>
          <a:xfrm>
            <a:off x="934517"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6" name="Text 23"/>
          <p:cNvSpPr/>
          <p:nvPr/>
        </p:nvSpPr>
        <p:spPr>
          <a:xfrm>
            <a:off x="2580437"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7" name="Text 24"/>
          <p:cNvSpPr/>
          <p:nvPr/>
        </p:nvSpPr>
        <p:spPr>
          <a:xfrm>
            <a:off x="4166464"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-200,000円</a:t>
            </a:r>
            <a:endParaRPr lang="en-US" sz="1200" dirty="0"/>
          </a:p>
        </p:txBody>
      </p:sp>
      <p:sp>
        <p:nvSpPr>
          <p:cNvPr id="28" name="Shape 25"/>
          <p:cNvSpPr/>
          <p:nvPr/>
        </p:nvSpPr>
        <p:spPr>
          <a:xfrm>
            <a:off x="934517" y="3717950"/>
            <a:ext cx="4694987" cy="10058"/>
          </a:xfrm>
          <a:prstGeom prst="rect">
            <a:avLst/>
          </a:prstGeom>
          <a:solidFill>
            <a:srgbClr val="EFEAE0"/>
          </a:solidFill>
          <a:ln/>
        </p:spPr>
      </p:sp>
      <p:sp>
        <p:nvSpPr>
          <p:cNvPr id="29" name="Shape 26"/>
          <p:cNvSpPr/>
          <p:nvPr/>
        </p:nvSpPr>
        <p:spPr>
          <a:xfrm>
            <a:off x="934517" y="3937406"/>
            <a:ext cx="2256053" cy="1426464"/>
          </a:xfrm>
          <a:prstGeom prst="roundRect">
            <a:avLst>
              <a:gd name="adj" fmla="val 3846"/>
            </a:avLst>
          </a:prstGeom>
          <a:solidFill>
            <a:srgbClr val="F1F8F3"/>
          </a:solidFill>
          <a:ln w="9525">
            <a:solidFill>
              <a:srgbClr val="D2E7DA"/>
            </a:solidFill>
            <a:prstDash val="solid"/>
          </a:ln>
        </p:spPr>
      </p:sp>
      <p:sp>
        <p:nvSpPr>
          <p:cNvPr id="30" name="Text 27"/>
          <p:cNvSpPr/>
          <p:nvPr/>
        </p:nvSpPr>
        <p:spPr>
          <a:xfrm>
            <a:off x="1117397"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31" name="Text 28"/>
          <p:cNvSpPr/>
          <p:nvPr/>
        </p:nvSpPr>
        <p:spPr>
          <a:xfrm>
            <a:off x="1117397"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32" name="Text 29"/>
          <p:cNvSpPr/>
          <p:nvPr/>
        </p:nvSpPr>
        <p:spPr>
          <a:xfrm>
            <a:off x="1117397"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33" name="Text 30"/>
          <p:cNvSpPr/>
          <p:nvPr/>
        </p:nvSpPr>
        <p:spPr>
          <a:xfrm>
            <a:off x="1062533"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4" name="Shape 31"/>
          <p:cNvSpPr/>
          <p:nvPr/>
        </p:nvSpPr>
        <p:spPr>
          <a:xfrm>
            <a:off x="3373450" y="3937406"/>
            <a:ext cx="2256053" cy="1426464"/>
          </a:xfrm>
          <a:prstGeom prst="roundRect">
            <a:avLst>
              <a:gd name="adj" fmla="val 3846"/>
            </a:avLst>
          </a:prstGeom>
          <a:solidFill>
            <a:srgbClr val="0C5230"/>
          </a:solidFill>
          <a:ln/>
        </p:spPr>
      </p:sp>
      <p:sp>
        <p:nvSpPr>
          <p:cNvPr id="35" name="Text 32"/>
          <p:cNvSpPr/>
          <p:nvPr/>
        </p:nvSpPr>
        <p:spPr>
          <a:xfrm>
            <a:off x="3556330"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6" name="Text 33"/>
          <p:cNvSpPr/>
          <p:nvPr/>
        </p:nvSpPr>
        <p:spPr>
          <a:xfrm>
            <a:off x="3556330"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7" name="Text 34"/>
          <p:cNvSpPr/>
          <p:nvPr/>
        </p:nvSpPr>
        <p:spPr>
          <a:xfrm>
            <a:off x="3556330"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8" name="Text 35"/>
          <p:cNvSpPr/>
          <p:nvPr/>
        </p:nvSpPr>
        <p:spPr>
          <a:xfrm>
            <a:off x="3501466"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9" name="Shape 36"/>
          <p:cNvSpPr/>
          <p:nvPr/>
        </p:nvSpPr>
        <p:spPr>
          <a:xfrm>
            <a:off x="6287872" y="1651406"/>
            <a:ext cx="5243627" cy="3931920"/>
          </a:xfrm>
          <a:prstGeom prst="roundRect">
            <a:avLst>
              <a:gd name="adj" fmla="val 1395"/>
            </a:avLst>
          </a:prstGeom>
          <a:solidFill>
            <a:srgbClr val="FFFFFF"/>
          </a:solidFill>
          <a:ln w="9525">
            <a:solidFill>
              <a:srgbClr val="EFEAE0"/>
            </a:solidFill>
            <a:prstDash val="solid"/>
          </a:ln>
        </p:spPr>
      </p:sp>
      <p:sp>
        <p:nvSpPr>
          <p:cNvPr id="40" name="Text 37"/>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41" name="Text 38"/>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42" name="Text 39"/>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43" name="Text 40"/>
          <p:cNvSpPr/>
          <p:nvPr/>
        </p:nvSpPr>
        <p:spPr>
          <a:xfrm>
            <a:off x="6562192"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44" name="Text 41"/>
          <p:cNvSpPr/>
          <p:nvPr/>
        </p:nvSpPr>
        <p:spPr>
          <a:xfrm>
            <a:off x="8208112"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スケルトン工事の開業費950万円＋諸経費・予備費250万円</a:t>
            </a:r>
            <a:endParaRPr lang="en-US" sz="750" dirty="0"/>
          </a:p>
        </p:txBody>
      </p:sp>
      <p:sp>
        <p:nvSpPr>
          <p:cNvPr id="45" name="Text 42"/>
          <p:cNvSpPr/>
          <p:nvPr/>
        </p:nvSpPr>
        <p:spPr>
          <a:xfrm>
            <a:off x="9794138"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1,200万円</a:t>
            </a:r>
            <a:endParaRPr lang="en-US" sz="1200" dirty="0"/>
          </a:p>
        </p:txBody>
      </p:sp>
      <p:sp>
        <p:nvSpPr>
          <p:cNvPr id="46" name="Shape 43"/>
          <p:cNvSpPr/>
          <p:nvPr/>
        </p:nvSpPr>
        <p:spPr>
          <a:xfrm>
            <a:off x="6562192" y="2730398"/>
            <a:ext cx="4694987" cy="10058"/>
          </a:xfrm>
          <a:prstGeom prst="rect">
            <a:avLst/>
          </a:prstGeom>
          <a:solidFill>
            <a:srgbClr val="EFEAE0"/>
          </a:solidFill>
          <a:ln/>
        </p:spPr>
      </p:sp>
      <p:sp>
        <p:nvSpPr>
          <p:cNvPr id="47" name="Text 44"/>
          <p:cNvSpPr/>
          <p:nvPr/>
        </p:nvSpPr>
        <p:spPr>
          <a:xfrm>
            <a:off x="6562192"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8" name="Text 45"/>
          <p:cNvSpPr/>
          <p:nvPr/>
        </p:nvSpPr>
        <p:spPr>
          <a:xfrm>
            <a:off x="8208112"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9" name="Text 46"/>
          <p:cNvSpPr/>
          <p:nvPr/>
        </p:nvSpPr>
        <p:spPr>
          <a:xfrm>
            <a:off x="9794138"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1,260,000円</a:t>
            </a:r>
            <a:endParaRPr lang="en-US" sz="1200" dirty="0"/>
          </a:p>
        </p:txBody>
      </p:sp>
      <p:sp>
        <p:nvSpPr>
          <p:cNvPr id="50" name="Shape 47"/>
          <p:cNvSpPr/>
          <p:nvPr/>
        </p:nvSpPr>
        <p:spPr>
          <a:xfrm>
            <a:off x="6562192" y="3059582"/>
            <a:ext cx="4694987" cy="10058"/>
          </a:xfrm>
          <a:prstGeom prst="rect">
            <a:avLst/>
          </a:prstGeom>
          <a:solidFill>
            <a:srgbClr val="EFEAE0"/>
          </a:solidFill>
          <a:ln/>
        </p:spPr>
      </p:sp>
      <p:sp>
        <p:nvSpPr>
          <p:cNvPr id="51" name="Text 48"/>
          <p:cNvSpPr/>
          <p:nvPr/>
        </p:nvSpPr>
        <p:spPr>
          <a:xfrm>
            <a:off x="6562192"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52" name="Text 49"/>
          <p:cNvSpPr/>
          <p:nvPr/>
        </p:nvSpPr>
        <p:spPr>
          <a:xfrm>
            <a:off x="8208112"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53" name="Text 50"/>
          <p:cNvSpPr/>
          <p:nvPr/>
        </p:nvSpPr>
        <p:spPr>
          <a:xfrm>
            <a:off x="9794138"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-553,000円</a:t>
            </a:r>
            <a:endParaRPr lang="en-US" sz="1200" dirty="0"/>
          </a:p>
        </p:txBody>
      </p:sp>
      <p:sp>
        <p:nvSpPr>
          <p:cNvPr id="54" name="Shape 51"/>
          <p:cNvSpPr/>
          <p:nvPr/>
        </p:nvSpPr>
        <p:spPr>
          <a:xfrm>
            <a:off x="6562192" y="3388766"/>
            <a:ext cx="4694987" cy="10058"/>
          </a:xfrm>
          <a:prstGeom prst="rect">
            <a:avLst/>
          </a:prstGeom>
          <a:solidFill>
            <a:srgbClr val="EFEAE0"/>
          </a:solidFill>
          <a:ln/>
        </p:spPr>
      </p:sp>
      <p:sp>
        <p:nvSpPr>
          <p:cNvPr id="55" name="Text 52"/>
          <p:cNvSpPr/>
          <p:nvPr/>
        </p:nvSpPr>
        <p:spPr>
          <a:xfrm>
            <a:off x="6562192"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56" name="Text 53"/>
          <p:cNvSpPr/>
          <p:nvPr/>
        </p:nvSpPr>
        <p:spPr>
          <a:xfrm>
            <a:off x="8208112"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57" name="Text 54"/>
          <p:cNvSpPr/>
          <p:nvPr/>
        </p:nvSpPr>
        <p:spPr>
          <a:xfrm>
            <a:off x="9794138"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-320,000円</a:t>
            </a:r>
            <a:endParaRPr lang="en-US" sz="1200" dirty="0"/>
          </a:p>
        </p:txBody>
      </p:sp>
      <p:sp>
        <p:nvSpPr>
          <p:cNvPr id="58" name="Shape 55"/>
          <p:cNvSpPr/>
          <p:nvPr/>
        </p:nvSpPr>
        <p:spPr>
          <a:xfrm>
            <a:off x="6562192" y="3717950"/>
            <a:ext cx="4694987" cy="10058"/>
          </a:xfrm>
          <a:prstGeom prst="rect">
            <a:avLst/>
          </a:prstGeom>
          <a:solidFill>
            <a:srgbClr val="EFEAE0"/>
          </a:solidFill>
          <a:ln/>
        </p:spPr>
      </p:sp>
      <p:sp>
        <p:nvSpPr>
          <p:cNvPr id="59" name="Shape 56"/>
          <p:cNvSpPr/>
          <p:nvPr/>
        </p:nvSpPr>
        <p:spPr>
          <a:xfrm>
            <a:off x="6562192" y="3937406"/>
            <a:ext cx="2256053" cy="1426464"/>
          </a:xfrm>
          <a:prstGeom prst="roundRect">
            <a:avLst>
              <a:gd name="adj" fmla="val 3846"/>
            </a:avLst>
          </a:prstGeom>
          <a:solidFill>
            <a:srgbClr val="F1F8F3"/>
          </a:solidFill>
          <a:ln w="9525">
            <a:solidFill>
              <a:srgbClr val="D2E7DA"/>
            </a:solidFill>
            <a:prstDash val="solid"/>
          </a:ln>
        </p:spPr>
      </p:sp>
      <p:sp>
        <p:nvSpPr>
          <p:cNvPr id="60" name="Text 57"/>
          <p:cNvSpPr/>
          <p:nvPr/>
        </p:nvSpPr>
        <p:spPr>
          <a:xfrm>
            <a:off x="6745072"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61" name="Text 58"/>
          <p:cNvSpPr/>
          <p:nvPr/>
        </p:nvSpPr>
        <p:spPr>
          <a:xfrm>
            <a:off x="6745072"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62" name="Text 59"/>
          <p:cNvSpPr/>
          <p:nvPr/>
        </p:nvSpPr>
        <p:spPr>
          <a:xfrm>
            <a:off x="6745072"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63" name="Text 60"/>
          <p:cNvSpPr/>
          <p:nvPr/>
        </p:nvSpPr>
        <p:spPr>
          <a:xfrm>
            <a:off x="6690208"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64" name="Shape 61"/>
          <p:cNvSpPr/>
          <p:nvPr/>
        </p:nvSpPr>
        <p:spPr>
          <a:xfrm>
            <a:off x="9001125" y="3937406"/>
            <a:ext cx="2256053" cy="1426464"/>
          </a:xfrm>
          <a:prstGeom prst="roundRect">
            <a:avLst>
              <a:gd name="adj" fmla="val 3846"/>
            </a:avLst>
          </a:prstGeom>
          <a:solidFill>
            <a:srgbClr val="0C5230"/>
          </a:solidFill>
          <a:ln/>
        </p:spPr>
      </p:sp>
      <p:sp>
        <p:nvSpPr>
          <p:cNvPr id="65" name="Text 62"/>
          <p:cNvSpPr/>
          <p:nvPr/>
        </p:nvSpPr>
        <p:spPr>
          <a:xfrm>
            <a:off x="9184005"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66" name="Text 63"/>
          <p:cNvSpPr/>
          <p:nvPr/>
        </p:nvSpPr>
        <p:spPr>
          <a:xfrm>
            <a:off x="9184005"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67" name="Text 64"/>
          <p:cNvSpPr/>
          <p:nvPr/>
        </p:nvSpPr>
        <p:spPr>
          <a:xfrm>
            <a:off x="9184005"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8" name="Text 65"/>
          <p:cNvSpPr/>
          <p:nvPr/>
        </p:nvSpPr>
        <p:spPr>
          <a:xfrm>
            <a:off x="9129141"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9" name="Shape 66"/>
          <p:cNvSpPr/>
          <p:nvPr/>
        </p:nvSpPr>
        <p:spPr>
          <a:xfrm>
            <a:off x="660197" y="5711342"/>
            <a:ext cx="10871302" cy="457200"/>
          </a:xfrm>
          <a:prstGeom prst="roundRect">
            <a:avLst>
              <a:gd name="adj" fmla="val 12000"/>
            </a:avLst>
          </a:prstGeom>
          <a:solidFill>
            <a:srgbClr val="F1F8F3"/>
          </a:solidFill>
          <a:ln w="9525">
            <a:solidFill>
              <a:srgbClr val="D2E7DA"/>
            </a:solidFill>
            <a:prstDash val="solid"/>
          </a:ln>
        </p:spPr>
      </p:sp>
      <p:sp>
        <p:nvSpPr>
          <p:cNvPr id="70" name="Text 67"/>
          <p:cNvSpPr/>
          <p:nvPr/>
        </p:nvSpPr>
        <p:spPr>
          <a:xfrm>
            <a:off x="897941" y="5711342"/>
            <a:ext cx="10395814" cy="457200"/>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前提：初期費用は標準総投資予算（居抜き800万円／スケルトン1,200万円程度）／1杯420円・販売数は収益シミュレーションと同一／減価償却費・税を除く</a:t>
            </a:r>
            <a:endParaRPr lang="en-US" sz="950" dirty="0"/>
          </a:p>
        </p:txBody>
      </p:sp>
      <p:sp>
        <p:nvSpPr>
          <p:cNvPr id="71" name="Text 68"/>
          <p:cNvSpPr/>
          <p:nvPr/>
        </p:nvSpPr>
        <p:spPr>
          <a:xfrm>
            <a:off x="660197" y="629655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開業費は「初期投資の詳細」ページ、売上・経費は「収益シミュレーション」ページと同一の前提です。回収期間・利益を保証するものではありません。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Yu Gothic" pitchFamily="34" charset="0"/>
                <a:ea typeface="Yu Gothic" pitchFamily="34" charset="-122"/>
                <a:cs typeface="Yu Gothic"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02-storefront-1189x287.jpg">    </p:cNvPr>
          <p:cNvPicPr>
            <a:picLocks noChangeAspect="1"/>
          </p:cNvPicPr>
          <p:nvPr/>
        </p:nvPicPr>
        <p:blipFill>
          <a:blip r:embed="rId2"/>
          <a:stretch>
            <a:fillRect/>
          </a:stretch>
        </p:blipFill>
        <p:spPr>
          <a:xfrm>
            <a:off x="660197" y="2492654"/>
            <a:ext cx="10871302" cy="2624328"/>
          </a:xfrm>
          <a:prstGeom prst="rect">
            <a:avLst/>
          </a:prstGeom>
        </p:spPr>
      </p:pic>
      <p:sp>
        <p:nvSpPr>
          <p:cNvPr id="22" name="Shape 18"/>
          <p:cNvSpPr/>
          <p:nvPr/>
        </p:nvSpPr>
        <p:spPr>
          <a:xfrm>
            <a:off x="660197" y="2492654"/>
            <a:ext cx="10871302" cy="2624328"/>
          </a:xfrm>
          <a:prstGeom prst="rect">
            <a:avLst/>
          </a:prstGeom>
          <a:ln w="12700">
            <a:solidFill>
              <a:srgbClr val="D8D2C6"/>
            </a:solidFill>
            <a:prstDash val="solid"/>
          </a:ln>
        </p:spPr>
      </p:sp>
      <p:sp>
        <p:nvSpPr>
          <p:cNvPr id="23" name="Shape 19"/>
          <p:cNvSpPr/>
          <p:nvPr/>
        </p:nvSpPr>
        <p:spPr>
          <a:xfrm>
            <a:off x="788213" y="4659782"/>
            <a:ext cx="1442720" cy="329184"/>
          </a:xfrm>
          <a:prstGeom prst="roundRect">
            <a:avLst>
              <a:gd name="adj" fmla="val 13889"/>
            </a:avLst>
          </a:prstGeom>
          <a:solidFill>
            <a:srgbClr val="FFFFFF">
              <a:alpha val="90000"/>
            </a:srgbClr>
          </a:solidFill>
          <a:ln/>
        </p:spPr>
      </p:sp>
      <p:sp>
        <p:nvSpPr>
          <p:cNvPr id="24" name="Text 20"/>
          <p:cNvSpPr/>
          <p:nvPr/>
        </p:nvSpPr>
        <p:spPr>
          <a:xfrm>
            <a:off x="952805" y="4659782"/>
            <a:ext cx="116840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盛岡駅前店の外観</a:t>
            </a:r>
            <a:endParaRPr lang="en-US" sz="1000" dirty="0"/>
          </a:p>
        </p:txBody>
      </p:sp>
      <p:sp>
        <p:nvSpPr>
          <p:cNvPr id="25" name="Shape 21"/>
          <p:cNvSpPr/>
          <p:nvPr/>
        </p:nvSpPr>
        <p:spPr>
          <a:xfrm>
            <a:off x="660197" y="5263286"/>
            <a:ext cx="10871302" cy="969264"/>
          </a:xfrm>
          <a:prstGeom prst="roundRect">
            <a:avLst>
              <a:gd name="adj" fmla="val 5660"/>
            </a:avLst>
          </a:prstGeom>
          <a:solidFill>
            <a:srgbClr val="FFFFFF"/>
          </a:solidFill>
          <a:ln w="9525">
            <a:solidFill>
              <a:srgbClr val="EFEAE0"/>
            </a:solidFill>
            <a:prstDash val="solid"/>
          </a:ln>
        </p:spPr>
      </p:sp>
      <p:sp>
        <p:nvSpPr>
          <p:cNvPr id="26" name="Text 22"/>
          <p:cNvSpPr/>
          <p:nvPr/>
        </p:nvSpPr>
        <p:spPr>
          <a:xfrm>
            <a:off x="934517" y="5409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934517" y="5592470"/>
            <a:ext cx="3291840"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1日約80杯ペースでの稼働</a:t>
            </a:r>
            <a:endParaRPr lang="en-US" sz="1450" dirty="0"/>
          </a:p>
        </p:txBody>
      </p:sp>
      <p:sp>
        <p:nvSpPr>
          <p:cNvPr id="28" name="Text 24"/>
          <p:cNvSpPr/>
          <p:nvPr/>
        </p:nvSpPr>
        <p:spPr>
          <a:xfrm>
            <a:off x="934517" y="5921654"/>
            <a:ext cx="4023360"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1回の利用で2〜3時間、2杯程度購入。学生からビジネスマンまで幅広い層を獲得。</a:t>
            </a:r>
            <a:endParaRPr lang="en-US" sz="850" dirty="0"/>
          </a:p>
        </p:txBody>
      </p:sp>
      <p:sp>
        <p:nvSpPr>
          <p:cNvPr id="29" name="Shape 25"/>
          <p:cNvSpPr/>
          <p:nvPr/>
        </p:nvSpPr>
        <p:spPr>
          <a:xfrm>
            <a:off x="5140757" y="5427878"/>
            <a:ext cx="10058" cy="640080"/>
          </a:xfrm>
          <a:prstGeom prst="rect">
            <a:avLst/>
          </a:prstGeom>
          <a:solidFill>
            <a:srgbClr val="EFEAE0"/>
          </a:solidFill>
          <a:ln/>
        </p:spPr>
      </p:sp>
      <p:sp>
        <p:nvSpPr>
          <p:cNvPr id="30" name="Text 26"/>
          <p:cNvSpPr/>
          <p:nvPr/>
        </p:nvSpPr>
        <p:spPr>
          <a:xfrm>
            <a:off x="5415077" y="5446166"/>
            <a:ext cx="141480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開業</a:t>
            </a:r>
            <a:endParaRPr lang="en-US" sz="900" dirty="0"/>
          </a:p>
        </p:txBody>
      </p:sp>
      <p:sp>
        <p:nvSpPr>
          <p:cNvPr id="31" name="Text 27"/>
          <p:cNvSpPr/>
          <p:nvPr/>
        </p:nvSpPr>
        <p:spPr>
          <a:xfrm>
            <a:off x="5415077" y="5702198"/>
            <a:ext cx="1414805" cy="329184"/>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2025年4月</a:t>
            </a:r>
            <a:endParaRPr lang="en-US" sz="1200" dirty="0"/>
          </a:p>
        </p:txBody>
      </p:sp>
      <p:sp>
        <p:nvSpPr>
          <p:cNvPr id="32" name="Text 28"/>
          <p:cNvSpPr/>
          <p:nvPr/>
        </p:nvSpPr>
        <p:spPr>
          <a:xfrm>
            <a:off x="6921322" y="5446166"/>
            <a:ext cx="141480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面積・席数</a:t>
            </a:r>
            <a:endParaRPr lang="en-US" sz="900" dirty="0"/>
          </a:p>
        </p:txBody>
      </p:sp>
      <p:sp>
        <p:nvSpPr>
          <p:cNvPr id="33" name="Text 29"/>
          <p:cNvSpPr/>
          <p:nvPr/>
        </p:nvSpPr>
        <p:spPr>
          <a:xfrm>
            <a:off x="6921322" y="5702198"/>
            <a:ext cx="1414805" cy="329184"/>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20坪／40席</a:t>
            </a:r>
            <a:endParaRPr lang="en-US" sz="1200" dirty="0"/>
          </a:p>
        </p:txBody>
      </p:sp>
      <p:sp>
        <p:nvSpPr>
          <p:cNvPr id="34" name="Text 30"/>
          <p:cNvSpPr/>
          <p:nvPr/>
        </p:nvSpPr>
        <p:spPr>
          <a:xfrm>
            <a:off x="8427568" y="5446166"/>
            <a:ext cx="141480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立地</a:t>
            </a:r>
            <a:endParaRPr lang="en-US" sz="900" dirty="0"/>
          </a:p>
        </p:txBody>
      </p:sp>
      <p:sp>
        <p:nvSpPr>
          <p:cNvPr id="35" name="Text 31"/>
          <p:cNvSpPr/>
          <p:nvPr/>
        </p:nvSpPr>
        <p:spPr>
          <a:xfrm>
            <a:off x="8427568" y="5702198"/>
            <a:ext cx="1414805" cy="329184"/>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岩手県盛岡市・駅前</a:t>
            </a:r>
            <a:endParaRPr lang="en-US" sz="1200" dirty="0"/>
          </a:p>
        </p:txBody>
      </p:sp>
      <p:sp>
        <p:nvSpPr>
          <p:cNvPr id="36" name="Text 32"/>
          <p:cNvSpPr/>
          <p:nvPr/>
        </p:nvSpPr>
        <p:spPr>
          <a:xfrm>
            <a:off x="9933813" y="5446166"/>
            <a:ext cx="1414805" cy="21945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a:t>
            </a:r>
            <a:endParaRPr lang="en-US" sz="900" dirty="0"/>
          </a:p>
        </p:txBody>
      </p:sp>
      <p:sp>
        <p:nvSpPr>
          <p:cNvPr id="37" name="Text 33"/>
          <p:cNvSpPr/>
          <p:nvPr/>
        </p:nvSpPr>
        <p:spPr>
          <a:xfrm>
            <a:off x="9933813" y="5702198"/>
            <a:ext cx="1414805" cy="329184"/>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24時間</a:t>
            </a:r>
            <a:endParaRPr lang="en-US" sz="1200" dirty="0"/>
          </a:p>
        </p:txBody>
      </p:sp>
      <p:sp>
        <p:nvSpPr>
          <p:cNvPr id="38" name="Text 34"/>
          <p:cNvSpPr/>
          <p:nvPr/>
        </p:nvSpPr>
        <p:spPr>
          <a:xfrm>
            <a:off x="660197" y="636056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30</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31</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32</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 本社</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2026-08-26T06:28:51Z</dcterms:created>
  <dcterms:modified xsi:type="dcterms:W3CDTF">2026-08-26T06:28:51Z</dcterms:modified>
</cp:coreProperties>
</file>