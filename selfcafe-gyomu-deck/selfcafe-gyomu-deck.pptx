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5.png"/><Relationship Id="rId6" Type="http://schemas.openxmlformats.org/officeDocument/2006/relationships/image" Target="../media/image-5-3.png"/><Relationship Id="rId7" Type="http://schemas.openxmlformats.org/officeDocument/2006/relationships/image" Target="../media/image-5-3.png"/><Relationship Id="rId8" Type="http://schemas.openxmlformats.org/officeDocument/2006/relationships/image" Target="../media/image-5-8.png"/><Relationship Id="rId9" Type="http://schemas.openxmlformats.org/officeDocument/2006/relationships/image" Target="../media/image-5-3.png"/><Relationship Id="rId10" Type="http://schemas.openxmlformats.org/officeDocument/2006/relationships/image" Target="../media/image-5-3.png"/><Relationship Id="rId11" Type="http://schemas.openxmlformats.org/officeDocument/2006/relationships/image" Target="../media/image-5-11.png"/><Relationship Id="rId12" Type="http://schemas.openxmlformats.org/officeDocument/2006/relationships/image" Target="../media/image-5-3.png"/><Relationship Id="rId13" Type="http://schemas.openxmlformats.org/officeDocument/2006/relationships/image" Target="../media/image-5-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4.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2-1.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jp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5.png"/><Relationship Id="rId6" Type="http://schemas.openxmlformats.org/officeDocument/2006/relationships/image" Target="../media/image-20-5.png"/><Relationship Id="rId7" Type="http://schemas.openxmlformats.org/officeDocument/2006/relationships/image" Target="../media/image-20-5.png"/><Relationship Id="rId8" Type="http://schemas.openxmlformats.org/officeDocument/2006/relationships/image" Target="../media/image-20-5.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3.png"/><Relationship Id="rId5" Type="http://schemas.openxmlformats.org/officeDocument/2006/relationships/image" Target="../media/image-24-3.png"/><Relationship Id="rId6" Type="http://schemas.openxmlformats.org/officeDocument/2006/relationships/image" Target="../media/image-24-3.png"/><Relationship Id="rId7" Type="http://schemas.openxmlformats.org/officeDocument/2006/relationships/image" Target="../media/image-24-3.png"/><Relationship Id="rId8" Type="http://schemas.openxmlformats.org/officeDocument/2006/relationships/image" Target="../media/image-24-8.png"/><Relationship Id="rId9" Type="http://schemas.openxmlformats.org/officeDocument/2006/relationships/image" Target="../media/image-24-3.png"/><Relationship Id="rId10" Type="http://schemas.openxmlformats.org/officeDocument/2006/relationships/image" Target="../media/image-24-3.png"/><Relationship Id="rId11" Type="http://schemas.openxmlformats.org/officeDocument/2006/relationships/image" Target="../media/image-24-3.png"/><Relationship Id="rId12" Type="http://schemas.openxmlformats.org/officeDocument/2006/relationships/image" Target="../media/image-24-3.png"/><Relationship Id="rId13" Type="http://schemas.openxmlformats.org/officeDocument/2006/relationships/image" Target="../media/image-24-3.png"/><Relationship Id="rId14" Type="http://schemas.openxmlformats.org/officeDocument/2006/relationships/image" Target="../media/image-24-14.png"/><Relationship Id="rId15" Type="http://schemas.openxmlformats.org/officeDocument/2006/relationships/slideLayout" Target="../slideLayouts/slideLayout1.xml"/><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場所をご提供いただくだけ。運営は本部が担う。</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業務委託型制度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加盟金なし・運営は本部主導。貴社の遊休スペースを、</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売上の25％が毎月入る収益資産に変えるパートナー制度です。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0</a:t>
            </a:r>
            <a:r>
              <a:rPr lang="en-US" sz="1200" b="1" dirty="0">
                <a:solidFill>
                  <a:srgbClr val="FFFFFF"/>
                </a:solidFill>
                <a:latin typeface="Yu Gothic" pitchFamily="34" charset="0"/>
                <a:ea typeface="Yu Gothic" pitchFamily="34" charset="-122"/>
                <a:cs typeface="Yu Gothic" pitchFamily="34" charset="-120"/>
              </a:rPr>
              <a:t> 円</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加盟金</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30〜50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初期費用（機器設置費のみ）</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gyomu-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Text 7"/>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2" name="Text 8"/>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3" name="Shape 9"/>
          <p:cNvSpPr/>
          <p:nvPr/>
        </p:nvSpPr>
        <p:spPr>
          <a:xfrm>
            <a:off x="660197" y="4961534"/>
            <a:ext cx="3318967" cy="10058"/>
          </a:xfrm>
          <a:prstGeom prst="rect">
            <a:avLst/>
          </a:prstGeom>
          <a:solidFill>
            <a:srgbClr val="EFEAE0"/>
          </a:solidFill>
          <a:ln/>
        </p:spPr>
      </p:sp>
      <p:sp>
        <p:nvSpPr>
          <p:cNvPr id="14" name="Text 10"/>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5" name="Text 11"/>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6" name="Shape 12"/>
          <p:cNvSpPr/>
          <p:nvPr/>
        </p:nvSpPr>
        <p:spPr>
          <a:xfrm>
            <a:off x="4436364" y="4961534"/>
            <a:ext cx="3318967" cy="10058"/>
          </a:xfrm>
          <a:prstGeom prst="rect">
            <a:avLst/>
          </a:prstGeom>
          <a:solidFill>
            <a:srgbClr val="EFEAE0"/>
          </a:solidFill>
          <a:ln/>
        </p:spPr>
      </p:sp>
      <p:sp>
        <p:nvSpPr>
          <p:cNvPr id="17" name="Text 13"/>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19" name="Shape 15"/>
          <p:cNvSpPr/>
          <p:nvPr/>
        </p:nvSpPr>
        <p:spPr>
          <a:xfrm>
            <a:off x="8212531" y="4961534"/>
            <a:ext cx="3318967" cy="10058"/>
          </a:xfrm>
          <a:prstGeom prst="rect">
            <a:avLst/>
          </a:prstGeom>
          <a:solidFill>
            <a:srgbClr val="EFEAE0"/>
          </a:solidFill>
          <a:ln/>
        </p:spPr>
      </p:sp>
      <p:sp>
        <p:nvSpPr>
          <p:cNvPr id="20" name="Text 16"/>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1" name="Text 17"/>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2" name="Shape 18"/>
          <p:cNvSpPr/>
          <p:nvPr/>
        </p:nvSpPr>
        <p:spPr>
          <a:xfrm>
            <a:off x="660197" y="5711342"/>
            <a:ext cx="3318967" cy="10058"/>
          </a:xfrm>
          <a:prstGeom prst="rect">
            <a:avLst/>
          </a:prstGeom>
          <a:solidFill>
            <a:srgbClr val="EFEAE0"/>
          </a:solidFill>
          <a:ln/>
        </p:spPr>
      </p:sp>
      <p:sp>
        <p:nvSpPr>
          <p:cNvPr id="23" name="Text 19"/>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4" name="Text 20"/>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5" name="Shape 21"/>
          <p:cNvSpPr/>
          <p:nvPr/>
        </p:nvSpPr>
        <p:spPr>
          <a:xfrm>
            <a:off x="4436364" y="5711342"/>
            <a:ext cx="3318967" cy="10058"/>
          </a:xfrm>
          <a:prstGeom prst="rect">
            <a:avLst/>
          </a:prstGeom>
          <a:solidFill>
            <a:srgbClr val="EFEAE0"/>
          </a:solidFill>
          <a:ln/>
        </p:spPr>
      </p:sp>
      <p:sp>
        <p:nvSpPr>
          <p:cNvPr id="26" name="Text 22"/>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7" name="Text 23"/>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28" name="Shape 24"/>
          <p:cNvSpPr/>
          <p:nvPr/>
        </p:nvSpPr>
        <p:spPr>
          <a:xfrm>
            <a:off x="8212531" y="5711342"/>
            <a:ext cx="3318967" cy="10058"/>
          </a:xfrm>
          <a:prstGeom prst="rect">
            <a:avLst/>
          </a:prstGeom>
          <a:solidFill>
            <a:srgbClr val="EFEAE0"/>
          </a:solidFill>
          <a:ln/>
        </p:spPr>
      </p:sp>
      <p:sp>
        <p:nvSpPr>
          <p:cNvPr id="29" name="Shape 25"/>
          <p:cNvSpPr/>
          <p:nvPr/>
        </p:nvSpPr>
        <p:spPr>
          <a:xfrm>
            <a:off x="660197" y="6022238"/>
            <a:ext cx="10871302" cy="457200"/>
          </a:xfrm>
          <a:prstGeom prst="roundRect">
            <a:avLst>
              <a:gd name="adj" fmla="val 10000"/>
            </a:avLst>
          </a:prstGeom>
          <a:solidFill>
            <a:srgbClr val="F1F8F3"/>
          </a:solidFill>
          <a:ln/>
        </p:spPr>
      </p:sp>
      <p:sp>
        <p:nvSpPr>
          <p:cNvPr id="30" name="Text 26"/>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gyomu-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gyomu-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gyomu-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gyomu-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営業時間も任意設定可能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3600" b="1" dirty="0">
                <a:solidFill>
                  <a:srgbClr val="106838"/>
                </a:solidFill>
                <a:latin typeface="Arial" pitchFamily="34" charset="0"/>
                <a:ea typeface="Arial" pitchFamily="34" charset="-122"/>
                <a:cs typeface="Arial" pitchFamily="34" charset="-120"/>
              </a:rPr>
              <a:t>71</a:t>
            </a:r>
            <a:r>
              <a:rPr lang="en-US" sz="1300" b="1" dirty="0">
                <a:solidFill>
                  <a:srgbClr val="106838"/>
                </a:solidFill>
                <a:latin typeface="Yu Gothic" pitchFamily="34" charset="0"/>
                <a:ea typeface="Yu Gothic" pitchFamily="34" charset="-122"/>
                <a:cs typeface="Yu Gothic" pitchFamily="34" charset="-120"/>
              </a:rPr>
              <a:t> 店舗</a:t>
            </a:r>
            <a:r>
              <a:rPr lang="en-US" sz="1400" b="1" dirty="0">
                <a:solidFill>
                  <a:srgbClr val="A8761F"/>
                </a:solidFill>
                <a:latin typeface="Arial" pitchFamily="34" charset="0"/>
                <a:ea typeface="Arial" pitchFamily="34" charset="-122"/>
                <a:cs typeface="Arial" pitchFamily="34" charset="-120"/>
              </a:rPr>
              <a:t>  ×  </a:t>
            </a:r>
            <a:r>
              <a:rPr lang="en-US" sz="3600" b="1" dirty="0">
                <a:solidFill>
                  <a:srgbClr val="106838"/>
                </a:solidFill>
                <a:latin typeface="Arial" pitchFamily="34" charset="0"/>
                <a:ea typeface="Arial" pitchFamily="34" charset="-122"/>
                <a:cs typeface="Arial" pitchFamily="34" charset="-120"/>
              </a:rPr>
              <a:t>11</a:t>
            </a:r>
            <a:r>
              <a:rPr lang="en-US" sz="1300" b="1" dirty="0">
                <a:solidFill>
                  <a:srgbClr val="106838"/>
                </a:solidFill>
                <a:latin typeface="Yu Gothic" pitchFamily="34" charset="0"/>
                <a:ea typeface="Yu Gothic" pitchFamily="34" charset="-122"/>
                <a:cs typeface="Yu Gothic" pitchFamily="34" charset="-120"/>
              </a:rPr>
              <a:t> 都府県</a:t>
            </a:r>
            <a:endParaRPr lang="en-US" sz="36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2026年7月時点／東北から中国地方まで展開中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スキーム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場所をご提供いただくだけ。運営主体は本部です。</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通常のFC加盟とは異なり、貴社は独立オーナーとして運営する必要がありません。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95237" y="1724558"/>
            <a:ext cx="4836262" cy="274320"/>
          </a:xfrm>
          <a:prstGeom prst="roundRect">
            <a:avLst>
              <a:gd name="adj" fmla="val 16667"/>
            </a:avLst>
          </a:prstGeom>
          <a:solidFill>
            <a:srgbClr val="A8761F"/>
          </a:solidFill>
          <a:ln/>
        </p:spPr>
      </p:sp>
      <p:sp>
        <p:nvSpPr>
          <p:cNvPr id="10" name="Text 7"/>
          <p:cNvSpPr/>
          <p:nvPr/>
        </p:nvSpPr>
        <p:spPr>
          <a:xfrm>
            <a:off x="6695237" y="1724558"/>
            <a:ext cx="4836262"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貴社にご提案するのはこちら</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0197" y="2108606"/>
          <a:ext cx="10871302" cy="914400"/>
        </p:xfrm>
        <a:graphic>
          <a:graphicData uri="http://schemas.openxmlformats.org/drawingml/2006/table">
            <a:tbl>
              <a:tblPr/>
              <a:tblGrid>
                <a:gridCol w="1920240"/>
                <a:gridCol w="4114800"/>
                <a:gridCol w="483626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通常のFC加盟</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業務委託型</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運営主体</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加盟者様が独立オーナーとして運営</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本部が運営を主導。貴社は場所のご提供のみ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初期費用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加盟金100万円＋工事費用等</a:t>
                      </a:r>
                      <a:endParaRPr lang="en-US" sz="1050" dirty="0">
                        <a:latin typeface="Yu Gothic" charset="0"/>
                        <a:ea typeface="Yu Gothic" charset="0"/>
                        <a:cs typeface="Yu Gothic" charset="0"/>
                      </a:endParaRPr>
                    </a:p>
                    <a:p>
                      <a:pPr indent="0" marL="0">
                        <a:buNone/>
                      </a:pPr>
                      <a:r>
                        <a:rPr lang="en-US" sz="1050" dirty="0">
                          <a:solidFill>
                            <a:srgbClr val="6E6A61"/>
                          </a:solidFill>
                          <a:latin typeface="Yu Gothic" pitchFamily="34" charset="0"/>
                          <a:ea typeface="Yu Gothic" pitchFamily="34" charset="-122"/>
                          <a:cs typeface="Yu Gothic" pitchFamily="34" charset="-120"/>
                        </a:rPr>
                        <a:t>（開業資金の目安：居抜き750万円〜／スケルトン1,050万円〜）</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30万〜50万円程度（機器設置費のみ）</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4572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出店スペース</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独立した店舗区画（20坪〜）が必要</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既存スペースの一角に間借り設置が可能</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日常業務</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加盟者様が運営全般を担当</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清掃・補充のみ、1日15分程度（既存スタッフで対応可）</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売上金の流れ</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本部が売上金を管理し、ロイヤリティ等を控除した残額を加盟者様へ振込</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本部が売上金を管理し、売上の25％を業務委託料として貴社へお支払い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契約・撤退</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050" dirty="0">
                          <a:solidFill>
                            <a:srgbClr val="6E6A61"/>
                          </a:solidFill>
                          <a:latin typeface="Yu Gothic" pitchFamily="34" charset="0"/>
                          <a:ea typeface="Yu Gothic" pitchFamily="34" charset="-122"/>
                          <a:cs typeface="Yu Gothic" pitchFamily="34" charset="-120"/>
                        </a:rPr>
                        <a:t>独立出店が前提の長期契約</a:t>
                      </a:r>
                      <a:endParaRPr lang="en-US" sz="105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100" b="1" dirty="0">
                          <a:solidFill>
                            <a:srgbClr val="0A3D23"/>
                          </a:solidFill>
                          <a:latin typeface="Yu Gothic" pitchFamily="34" charset="0"/>
                          <a:ea typeface="Yu Gothic" pitchFamily="34" charset="-122"/>
                          <a:cs typeface="Yu Gothic" pitchFamily="34" charset="-120"/>
                        </a:rPr>
                        <a:t>契約期間の縛りあり（最低3年〜）／本部審査あり。原状回復の負担も小さい</a:t>
                      </a:r>
                      <a:endParaRPr lang="en-US" sz="11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bl>
          </a:graphicData>
        </a:graphic>
      </p:graphicFrame>
      <p:sp>
        <p:nvSpPr>
          <p:cNvPr id="12" name="Text 8"/>
          <p:cNvSpPr/>
          <p:nvPr/>
        </p:nvSpPr>
        <p:spPr>
          <a:xfrm>
            <a:off x="660197" y="607710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金額はすべて税抜・目安です。物件条件により変動します。</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メリット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既存事業の一角を、負担をかけずに収益資産へ。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加盟金なし・運営は本部主導。貴社の負担を最小にしたまま、もう一つの収益源をつくれます。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5243627" cy="2121408"/>
          </a:xfrm>
          <a:prstGeom prst="roundRect">
            <a:avLst>
              <a:gd name="adj" fmla="val 2586"/>
            </a:avLst>
          </a:prstGeom>
          <a:solidFill>
            <a:srgbClr val="FFFFFF"/>
          </a:solidFill>
          <a:ln w="9525">
            <a:solidFill>
              <a:srgbClr val="EFEAE0"/>
            </a:solidFill>
            <a:prstDash val="solid"/>
          </a:ln>
        </p:spPr>
      </p:sp>
      <p:sp>
        <p:nvSpPr>
          <p:cNvPr id="10" name="Text 7"/>
          <p:cNvSpPr/>
          <p:nvPr/>
        </p:nvSpPr>
        <p:spPr>
          <a:xfrm>
            <a:off x="934517"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01　収益</a:t>
            </a:r>
            <a:endParaRPr lang="en-US" sz="900" dirty="0"/>
          </a:p>
        </p:txBody>
      </p:sp>
      <p:pic>
        <p:nvPicPr>
          <p:cNvPr id="11" name="Image 1" descr="/home/user/suzuki-ceo/selfcafe-gyomu-deck/assets/icons/LuBadgeJapaneseYen-green.png">    </p:cNvPr>
          <p:cNvPicPr>
            <a:picLocks noChangeAspect="1"/>
          </p:cNvPicPr>
          <p:nvPr/>
        </p:nvPicPr>
        <p:blipFill>
          <a:blip r:embed="rId2"/>
          <a:stretch>
            <a:fillRect/>
          </a:stretch>
        </p:blipFill>
        <p:spPr>
          <a:xfrm>
            <a:off x="5135728" y="1870862"/>
            <a:ext cx="384048" cy="384048"/>
          </a:xfrm>
          <a:prstGeom prst="rect">
            <a:avLst/>
          </a:prstGeom>
        </p:spPr>
      </p:pic>
      <p:sp>
        <p:nvSpPr>
          <p:cNvPr id="12" name="Text 8"/>
          <p:cNvSpPr/>
          <p:nvPr/>
        </p:nvSpPr>
        <p:spPr>
          <a:xfrm>
            <a:off x="934517"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遊休スペースが収益化</a:t>
            </a:r>
            <a:endParaRPr lang="en-US" sz="1600" dirty="0"/>
          </a:p>
        </p:txBody>
      </p:sp>
      <p:sp>
        <p:nvSpPr>
          <p:cNvPr id="13" name="Text 9"/>
          <p:cNvSpPr/>
          <p:nvPr/>
        </p:nvSpPr>
        <p:spPr>
          <a:xfrm>
            <a:off x="934517"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レジ横・待合スペースなどのデッドスペースが、毎月の収益源になります。</a:t>
            </a:r>
            <a:endParaRPr lang="en-US" sz="1050" dirty="0"/>
          </a:p>
        </p:txBody>
      </p:sp>
      <p:sp>
        <p:nvSpPr>
          <p:cNvPr id="14" name="Shape 10"/>
          <p:cNvSpPr/>
          <p:nvPr/>
        </p:nvSpPr>
        <p:spPr>
          <a:xfrm>
            <a:off x="934517" y="2931566"/>
            <a:ext cx="4694987"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114446"/>
            <a:ext cx="182880" cy="182880"/>
          </a:xfrm>
          <a:prstGeom prst="rect">
            <a:avLst/>
          </a:prstGeom>
        </p:spPr>
      </p:pic>
      <p:sp>
        <p:nvSpPr>
          <p:cNvPr id="16" name="Text 11"/>
          <p:cNvSpPr/>
          <p:nvPr/>
        </p:nvSpPr>
        <p:spPr>
          <a:xfrm>
            <a:off x="1227125"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加盟金なし。機器設置費（30万〜50万円程度）のみで開始</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443630"/>
            <a:ext cx="182880" cy="182880"/>
          </a:xfrm>
          <a:prstGeom prst="rect">
            <a:avLst/>
          </a:prstGeom>
        </p:spPr>
      </p:pic>
      <p:sp>
        <p:nvSpPr>
          <p:cNvPr id="18" name="Text 12"/>
          <p:cNvSpPr/>
          <p:nvPr/>
        </p:nvSpPr>
        <p:spPr>
          <a:xfrm>
            <a:off x="1227125"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売上の25％を業務委託料として毎月お支払い</a:t>
            </a:r>
            <a:endParaRPr lang="en-US" sz="1000" dirty="0"/>
          </a:p>
        </p:txBody>
      </p:sp>
      <p:sp>
        <p:nvSpPr>
          <p:cNvPr id="19" name="Shape 13"/>
          <p:cNvSpPr/>
          <p:nvPr/>
        </p:nvSpPr>
        <p:spPr>
          <a:xfrm>
            <a:off x="6287872" y="1651406"/>
            <a:ext cx="5243627" cy="2121408"/>
          </a:xfrm>
          <a:prstGeom prst="roundRect">
            <a:avLst>
              <a:gd name="adj" fmla="val 2586"/>
            </a:avLst>
          </a:prstGeom>
          <a:solidFill>
            <a:srgbClr val="FFFFFF"/>
          </a:solidFill>
          <a:ln w="9525">
            <a:solidFill>
              <a:srgbClr val="EFEAE0"/>
            </a:solidFill>
            <a:prstDash val="solid"/>
          </a:ln>
        </p:spPr>
      </p:sp>
      <p:sp>
        <p:nvSpPr>
          <p:cNvPr id="20" name="Text 14"/>
          <p:cNvSpPr/>
          <p:nvPr/>
        </p:nvSpPr>
        <p:spPr>
          <a:xfrm>
            <a:off x="6562192" y="188915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02　運営</a:t>
            </a:r>
            <a:endParaRPr lang="en-US" sz="900" dirty="0"/>
          </a:p>
        </p:txBody>
      </p:sp>
      <p:pic>
        <p:nvPicPr>
          <p:cNvPr id="21" name="Image 4" descr="/home/user/suzuki-ceo/selfcafe-gyomu-deck/assets/icons/LuTimer-green.png">    </p:cNvPr>
          <p:cNvPicPr>
            <a:picLocks noChangeAspect="1"/>
          </p:cNvPicPr>
          <p:nvPr/>
        </p:nvPicPr>
        <p:blipFill>
          <a:blip r:embed="rId5"/>
          <a:stretch>
            <a:fillRect/>
          </a:stretch>
        </p:blipFill>
        <p:spPr>
          <a:xfrm>
            <a:off x="10763402" y="1870862"/>
            <a:ext cx="384048" cy="384048"/>
          </a:xfrm>
          <a:prstGeom prst="rect">
            <a:avLst/>
          </a:prstGeom>
        </p:spPr>
      </p:pic>
      <p:sp>
        <p:nvSpPr>
          <p:cNvPr id="22" name="Text 15"/>
          <p:cNvSpPr/>
          <p:nvPr/>
        </p:nvSpPr>
        <p:spPr>
          <a:xfrm>
            <a:off x="6562192" y="212689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運営負担はほぼゼロ</a:t>
            </a:r>
            <a:endParaRPr lang="en-US" sz="1600" dirty="0"/>
          </a:p>
        </p:txBody>
      </p:sp>
      <p:sp>
        <p:nvSpPr>
          <p:cNvPr id="23" name="Text 16"/>
          <p:cNvSpPr/>
          <p:nvPr/>
        </p:nvSpPr>
        <p:spPr>
          <a:xfrm>
            <a:off x="6562192" y="256580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日常業務は清掃・補充のみ、1日15分程度で完結します。</a:t>
            </a:r>
            <a:endParaRPr lang="en-US" sz="1050" dirty="0"/>
          </a:p>
        </p:txBody>
      </p:sp>
      <p:sp>
        <p:nvSpPr>
          <p:cNvPr id="24" name="Shape 17"/>
          <p:cNvSpPr/>
          <p:nvPr/>
        </p:nvSpPr>
        <p:spPr>
          <a:xfrm>
            <a:off x="6562192" y="2931566"/>
            <a:ext cx="4694987"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6580480" y="3114446"/>
            <a:ext cx="182880" cy="182880"/>
          </a:xfrm>
          <a:prstGeom prst="rect">
            <a:avLst/>
          </a:prstGeom>
        </p:spPr>
      </p:pic>
      <p:sp>
        <p:nvSpPr>
          <p:cNvPr id="26" name="Text 18"/>
          <p:cNvSpPr/>
          <p:nvPr/>
        </p:nvSpPr>
        <p:spPr>
          <a:xfrm>
            <a:off x="6854800" y="305958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既存スタッフの稼働内で対応可能、新規採用は不要</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6580480" y="3443630"/>
            <a:ext cx="182880" cy="182880"/>
          </a:xfrm>
          <a:prstGeom prst="rect">
            <a:avLst/>
          </a:prstGeom>
        </p:spPr>
      </p:pic>
      <p:sp>
        <p:nvSpPr>
          <p:cNvPr id="28" name="Text 19"/>
          <p:cNvSpPr/>
          <p:nvPr/>
        </p:nvSpPr>
        <p:spPr>
          <a:xfrm>
            <a:off x="6854800" y="338876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トラブル対応も警備会社・遠隔監視で完結</a:t>
            </a:r>
            <a:endParaRPr lang="en-US" sz="1000" dirty="0"/>
          </a:p>
        </p:txBody>
      </p:sp>
      <p:sp>
        <p:nvSpPr>
          <p:cNvPr id="29" name="Shape 20"/>
          <p:cNvSpPr/>
          <p:nvPr/>
        </p:nvSpPr>
        <p:spPr>
          <a:xfrm>
            <a:off x="660197" y="4028846"/>
            <a:ext cx="5243627" cy="2121408"/>
          </a:xfrm>
          <a:prstGeom prst="roundRect">
            <a:avLst>
              <a:gd name="adj" fmla="val 2586"/>
            </a:avLst>
          </a:prstGeom>
          <a:solidFill>
            <a:srgbClr val="FFFFFF"/>
          </a:solidFill>
          <a:ln w="9525">
            <a:solidFill>
              <a:srgbClr val="EFEAE0"/>
            </a:solidFill>
            <a:prstDash val="solid"/>
          </a:ln>
        </p:spPr>
      </p:sp>
      <p:sp>
        <p:nvSpPr>
          <p:cNvPr id="30" name="Text 21"/>
          <p:cNvSpPr/>
          <p:nvPr/>
        </p:nvSpPr>
        <p:spPr>
          <a:xfrm>
            <a:off x="934517"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03　集客</a:t>
            </a:r>
            <a:endParaRPr lang="en-US" sz="900" dirty="0"/>
          </a:p>
        </p:txBody>
      </p:sp>
      <p:pic>
        <p:nvPicPr>
          <p:cNvPr id="31" name="Image 7" descr="/home/user/suzuki-ceo/selfcafe-gyomu-deck/assets/icons/LuUsers-green.png">    </p:cNvPr>
          <p:cNvPicPr>
            <a:picLocks noChangeAspect="1"/>
          </p:cNvPicPr>
          <p:nvPr/>
        </p:nvPicPr>
        <p:blipFill>
          <a:blip r:embed="rId8"/>
          <a:stretch>
            <a:fillRect/>
          </a:stretch>
        </p:blipFill>
        <p:spPr>
          <a:xfrm>
            <a:off x="5135728" y="4248302"/>
            <a:ext cx="384048" cy="384048"/>
          </a:xfrm>
          <a:prstGeom prst="rect">
            <a:avLst/>
          </a:prstGeom>
        </p:spPr>
      </p:pic>
      <p:sp>
        <p:nvSpPr>
          <p:cNvPr id="32" name="Text 22"/>
          <p:cNvSpPr/>
          <p:nvPr/>
        </p:nvSpPr>
        <p:spPr>
          <a:xfrm>
            <a:off x="934517"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新しい来店動機に</a:t>
            </a:r>
            <a:endParaRPr lang="en-US" sz="1600" dirty="0"/>
          </a:p>
        </p:txBody>
      </p:sp>
      <p:sp>
        <p:nvSpPr>
          <p:cNvPr id="33" name="Text 23"/>
          <p:cNvSpPr/>
          <p:nvPr/>
        </p:nvSpPr>
        <p:spPr>
          <a:xfrm>
            <a:off x="934517"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Wi-Fi・電源完備のカフェが、既存事業への新しい接点になります。</a:t>
            </a:r>
            <a:endParaRPr lang="en-US" sz="1050" dirty="0"/>
          </a:p>
        </p:txBody>
      </p:sp>
      <p:sp>
        <p:nvSpPr>
          <p:cNvPr id="34" name="Shape 24"/>
          <p:cNvSpPr/>
          <p:nvPr/>
        </p:nvSpPr>
        <p:spPr>
          <a:xfrm>
            <a:off x="934517" y="5309006"/>
            <a:ext cx="4694987"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952805" y="5491886"/>
            <a:ext cx="182880" cy="182880"/>
          </a:xfrm>
          <a:prstGeom prst="rect">
            <a:avLst/>
          </a:prstGeom>
        </p:spPr>
      </p:pic>
      <p:sp>
        <p:nvSpPr>
          <p:cNvPr id="36" name="Text 25"/>
          <p:cNvSpPr/>
          <p:nvPr/>
        </p:nvSpPr>
        <p:spPr>
          <a:xfrm>
            <a:off x="1227125"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Googleマップやカフェ検索で「近くのカフェ」を探す人と出会える</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952805" y="5821070"/>
            <a:ext cx="182880" cy="182880"/>
          </a:xfrm>
          <a:prstGeom prst="rect">
            <a:avLst/>
          </a:prstGeom>
        </p:spPr>
      </p:pic>
      <p:sp>
        <p:nvSpPr>
          <p:cNvPr id="38" name="Text 26"/>
          <p:cNvSpPr/>
          <p:nvPr/>
        </p:nvSpPr>
        <p:spPr>
          <a:xfrm>
            <a:off x="1227125"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書店・美容室・整体院・病院の待合と特に好相性</a:t>
            </a:r>
            <a:endParaRPr lang="en-US" sz="1000" dirty="0"/>
          </a:p>
        </p:txBody>
      </p:sp>
      <p:sp>
        <p:nvSpPr>
          <p:cNvPr id="39" name="Shape 27"/>
          <p:cNvSpPr/>
          <p:nvPr/>
        </p:nvSpPr>
        <p:spPr>
          <a:xfrm>
            <a:off x="6287872" y="4028846"/>
            <a:ext cx="5243627" cy="2121408"/>
          </a:xfrm>
          <a:prstGeom prst="roundRect">
            <a:avLst>
              <a:gd name="adj" fmla="val 2586"/>
            </a:avLst>
          </a:prstGeom>
          <a:solidFill>
            <a:srgbClr val="FFFFFF"/>
          </a:solidFill>
          <a:ln w="9525">
            <a:solidFill>
              <a:srgbClr val="EFEAE0"/>
            </a:solidFill>
            <a:prstDash val="solid"/>
          </a:ln>
        </p:spPr>
      </p:sp>
      <p:sp>
        <p:nvSpPr>
          <p:cNvPr id="40" name="Text 28"/>
          <p:cNvSpPr/>
          <p:nvPr/>
        </p:nvSpPr>
        <p:spPr>
          <a:xfrm>
            <a:off x="6562192" y="426659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04　リスク</a:t>
            </a:r>
            <a:endParaRPr lang="en-US" sz="900" dirty="0"/>
          </a:p>
        </p:txBody>
      </p:sp>
      <p:pic>
        <p:nvPicPr>
          <p:cNvPr id="41" name="Image 10" descr="/home/user/suzuki-ceo/selfcafe-gyomu-deck/assets/icons/LuShieldCheck-green.png">    </p:cNvPr>
          <p:cNvPicPr>
            <a:picLocks noChangeAspect="1"/>
          </p:cNvPicPr>
          <p:nvPr/>
        </p:nvPicPr>
        <p:blipFill>
          <a:blip r:embed="rId11"/>
          <a:stretch>
            <a:fillRect/>
          </a:stretch>
        </p:blipFill>
        <p:spPr>
          <a:xfrm>
            <a:off x="10763402" y="4248302"/>
            <a:ext cx="384048" cy="384048"/>
          </a:xfrm>
          <a:prstGeom prst="rect">
            <a:avLst/>
          </a:prstGeom>
        </p:spPr>
      </p:pic>
      <p:sp>
        <p:nvSpPr>
          <p:cNvPr id="42" name="Text 29"/>
          <p:cNvSpPr/>
          <p:nvPr/>
        </p:nvSpPr>
        <p:spPr>
          <a:xfrm>
            <a:off x="6562192" y="4504334"/>
            <a:ext cx="4329227"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低リスクで導入できる</a:t>
            </a:r>
            <a:endParaRPr lang="en-US" sz="1600" dirty="0"/>
          </a:p>
        </p:txBody>
      </p:sp>
      <p:sp>
        <p:nvSpPr>
          <p:cNvPr id="43" name="Text 30"/>
          <p:cNvSpPr/>
          <p:nvPr/>
        </p:nvSpPr>
        <p:spPr>
          <a:xfrm>
            <a:off x="6562192" y="4943246"/>
            <a:ext cx="4694987"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通常のFC加盟（750万円〜）と比べ、意思決定のハードルが大きく下がります。</a:t>
            </a:r>
            <a:endParaRPr lang="en-US" sz="1050" dirty="0"/>
          </a:p>
        </p:txBody>
      </p:sp>
      <p:sp>
        <p:nvSpPr>
          <p:cNvPr id="44" name="Shape 31"/>
          <p:cNvSpPr/>
          <p:nvPr/>
        </p:nvSpPr>
        <p:spPr>
          <a:xfrm>
            <a:off x="6562192" y="5309006"/>
            <a:ext cx="4694987" cy="10058"/>
          </a:xfrm>
          <a:prstGeom prst="rect">
            <a:avLst/>
          </a:prstGeom>
          <a:solidFill>
            <a:srgbClr val="EFEAE0"/>
          </a:solidFill>
          <a:ln/>
        </p:spPr>
      </p:sp>
      <p:pic>
        <p:nvPicPr>
          <p:cNvPr id="45" name="Image 11" descr="/home/user/suzuki-ceo/selfcafe-gyomu-deck/assets/icons/LuCheck-green.png">    </p:cNvPr>
          <p:cNvPicPr>
            <a:picLocks noChangeAspect="1"/>
          </p:cNvPicPr>
          <p:nvPr/>
        </p:nvPicPr>
        <p:blipFill>
          <a:blip r:embed="rId12"/>
          <a:stretch>
            <a:fillRect/>
          </a:stretch>
        </p:blipFill>
        <p:spPr>
          <a:xfrm>
            <a:off x="6580480" y="5491886"/>
            <a:ext cx="182880" cy="182880"/>
          </a:xfrm>
          <a:prstGeom prst="rect">
            <a:avLst/>
          </a:prstGeom>
        </p:spPr>
      </p:pic>
      <p:sp>
        <p:nvSpPr>
          <p:cNvPr id="46" name="Text 32"/>
          <p:cNvSpPr/>
          <p:nvPr/>
        </p:nvSpPr>
        <p:spPr>
          <a:xfrm>
            <a:off x="6854800" y="5437022"/>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独立出店ではないため原状回復の負担も小さい</a:t>
            </a:r>
            <a:endParaRPr lang="en-US" sz="1000" dirty="0"/>
          </a:p>
        </p:txBody>
      </p:sp>
      <p:pic>
        <p:nvPicPr>
          <p:cNvPr id="47" name="Image 12" descr="/home/user/suzuki-ceo/selfcafe-gyomu-deck/assets/icons/LuCheck-green.png">    </p:cNvPr>
          <p:cNvPicPr>
            <a:picLocks noChangeAspect="1"/>
          </p:cNvPicPr>
          <p:nvPr/>
        </p:nvPicPr>
        <p:blipFill>
          <a:blip r:embed="rId13"/>
          <a:stretch>
            <a:fillRect/>
          </a:stretch>
        </p:blipFill>
        <p:spPr>
          <a:xfrm>
            <a:off x="6580480" y="5821070"/>
            <a:ext cx="182880" cy="182880"/>
          </a:xfrm>
          <a:prstGeom prst="rect">
            <a:avLst/>
          </a:prstGeom>
        </p:spPr>
      </p:pic>
      <p:sp>
        <p:nvSpPr>
          <p:cNvPr id="48" name="Text 33"/>
          <p:cNvSpPr/>
          <p:nvPr/>
        </p:nvSpPr>
        <p:spPr>
          <a:xfrm>
            <a:off x="6854800" y="5766206"/>
            <a:ext cx="4402379"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内装・システム導入まで本部がフルサポート</a:t>
            </a:r>
            <a:endParaRPr lang="en-US" sz="1000" dirty="0"/>
          </a:p>
        </p:txBody>
      </p:sp>
      <p:sp>
        <p:nvSpPr>
          <p:cNvPr id="49"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収益イメージは「収益シミュレーション」のページをご参照ください。</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シナジー</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既存事業とのシナジー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「待ち時間」の解消や新規集客のフックとして、カフェは最適の組み合わせです。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5243627" cy="1975104"/>
          </a:xfrm>
          <a:prstGeom prst="roundRect">
            <a:avLst>
              <a:gd name="adj" fmla="val 2778"/>
            </a:avLst>
          </a:prstGeom>
          <a:solidFill>
            <a:srgbClr val="FFFFFF"/>
          </a:solidFill>
          <a:ln w="9525">
            <a:solidFill>
              <a:srgbClr val="EFEAE0"/>
            </a:solidFill>
            <a:prstDash val="solid"/>
          </a:ln>
        </p:spPr>
      </p:sp>
      <p:pic>
        <p:nvPicPr>
          <p:cNvPr id="10" name="Image 1" descr="/home/user/suzuki-ceo/selfcafe-gyomu-deck/assets/icons/LuHourglass-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1501445"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待ち時間の解消</a:t>
            </a:r>
            <a:endParaRPr lang="en-US" sz="1100" dirty="0"/>
          </a:p>
        </p:txBody>
      </p:sp>
      <p:sp>
        <p:nvSpPr>
          <p:cNvPr id="12" name="Text 8"/>
          <p:cNvSpPr/>
          <p:nvPr/>
        </p:nvSpPr>
        <p:spPr>
          <a:xfrm>
            <a:off x="1501445"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「待つ時間」を「くつろぐ時間」へ</a:t>
            </a:r>
            <a:endParaRPr lang="en-US" sz="1500" dirty="0"/>
          </a:p>
        </p:txBody>
      </p:sp>
      <p:sp>
        <p:nvSpPr>
          <p:cNvPr id="13" name="Text 9"/>
          <p:cNvSpPr/>
          <p:nvPr/>
        </p:nvSpPr>
        <p:spPr>
          <a:xfrm>
            <a:off x="934517"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書店・美容室・整体院・病院の待合・コインランドリーなど、待ち時間が生まれる場所にカフェがあるだけで顧客満足度が上がります。</a:t>
            </a:r>
            <a:endParaRPr lang="en-US" sz="1050" dirty="0"/>
          </a:p>
        </p:txBody>
      </p:sp>
      <p:sp>
        <p:nvSpPr>
          <p:cNvPr id="14" name="Shape 10"/>
          <p:cNvSpPr/>
          <p:nvPr/>
        </p:nvSpPr>
        <p:spPr>
          <a:xfrm>
            <a:off x="6287872" y="1651406"/>
            <a:ext cx="5243627" cy="1975104"/>
          </a:xfrm>
          <a:prstGeom prst="roundRect">
            <a:avLst>
              <a:gd name="adj" fmla="val 2778"/>
            </a:avLst>
          </a:prstGeom>
          <a:solidFill>
            <a:srgbClr val="FFFFFF"/>
          </a:solidFill>
          <a:ln w="9525">
            <a:solidFill>
              <a:srgbClr val="EFEAE0"/>
            </a:solidFill>
            <a:prstDash val="solid"/>
          </a:ln>
        </p:spPr>
      </p:sp>
      <p:pic>
        <p:nvPicPr>
          <p:cNvPr id="15" name="Image 2" descr="/home/user/suzuki-ceo/selfcafe-gyomu-deck/assets/icons/LuSearch-green.png">    </p:cNvPr>
          <p:cNvPicPr>
            <a:picLocks noChangeAspect="1"/>
          </p:cNvPicPr>
          <p:nvPr/>
        </p:nvPicPr>
        <p:blipFill>
          <a:blip r:embed="rId3"/>
          <a:stretch>
            <a:fillRect/>
          </a:stretch>
        </p:blipFill>
        <p:spPr>
          <a:xfrm>
            <a:off x="6562192" y="1925726"/>
            <a:ext cx="402336" cy="402336"/>
          </a:xfrm>
          <a:prstGeom prst="rect">
            <a:avLst/>
          </a:prstGeom>
        </p:spPr>
      </p:pic>
      <p:sp>
        <p:nvSpPr>
          <p:cNvPr id="16" name="Text 11"/>
          <p:cNvSpPr/>
          <p:nvPr/>
        </p:nvSpPr>
        <p:spPr>
          <a:xfrm>
            <a:off x="7129120" y="1889150"/>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新規集客の新しい入り口</a:t>
            </a:r>
            <a:endParaRPr lang="en-US" sz="1100" dirty="0"/>
          </a:p>
        </p:txBody>
      </p:sp>
      <p:sp>
        <p:nvSpPr>
          <p:cNvPr id="17" name="Text 12"/>
          <p:cNvSpPr/>
          <p:nvPr/>
        </p:nvSpPr>
        <p:spPr>
          <a:xfrm>
            <a:off x="7129120" y="2163470"/>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「カフェ」で検索されて見つかる</a:t>
            </a:r>
            <a:endParaRPr lang="en-US" sz="1500" dirty="0"/>
          </a:p>
        </p:txBody>
      </p:sp>
      <p:sp>
        <p:nvSpPr>
          <p:cNvPr id="18" name="Text 13"/>
          <p:cNvSpPr/>
          <p:nvPr/>
        </p:nvSpPr>
        <p:spPr>
          <a:xfrm>
            <a:off x="6562192" y="2620670"/>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Googleマップやカフェ検索アプリ・SNSで「近くのカフェ」を探す人にも見つけてもらえます。カフェ目的で立ち寄った人が、既存事業を知る新しいお客様になります。</a:t>
            </a:r>
            <a:endParaRPr lang="en-US" sz="1050" dirty="0"/>
          </a:p>
        </p:txBody>
      </p:sp>
      <p:sp>
        <p:nvSpPr>
          <p:cNvPr id="19" name="Shape 14"/>
          <p:cNvSpPr/>
          <p:nvPr/>
        </p:nvSpPr>
        <p:spPr>
          <a:xfrm>
            <a:off x="660197" y="3900830"/>
            <a:ext cx="5243627" cy="1975104"/>
          </a:xfrm>
          <a:prstGeom prst="roundRect">
            <a:avLst>
              <a:gd name="adj" fmla="val 2778"/>
            </a:avLst>
          </a:prstGeom>
          <a:solidFill>
            <a:srgbClr val="FFFFFF"/>
          </a:solidFill>
          <a:ln w="9525">
            <a:solidFill>
              <a:srgbClr val="EFEAE0"/>
            </a:solidFill>
            <a:prstDash val="solid"/>
          </a:ln>
        </p:spPr>
      </p:sp>
      <p:pic>
        <p:nvPicPr>
          <p:cNvPr id="20" name="Image 3" descr="/home/user/suzuki-ceo/selfcafe-gyomu-deck/assets/icons/LuShoppingBag-green.png">    </p:cNvPr>
          <p:cNvPicPr>
            <a:picLocks noChangeAspect="1"/>
          </p:cNvPicPr>
          <p:nvPr/>
        </p:nvPicPr>
        <p:blipFill>
          <a:blip r:embed="rId4"/>
          <a:stretch>
            <a:fillRect/>
          </a:stretch>
        </p:blipFill>
        <p:spPr>
          <a:xfrm>
            <a:off x="934517" y="4175150"/>
            <a:ext cx="402336" cy="402336"/>
          </a:xfrm>
          <a:prstGeom prst="rect">
            <a:avLst/>
          </a:prstGeom>
        </p:spPr>
      </p:pic>
      <p:sp>
        <p:nvSpPr>
          <p:cNvPr id="21" name="Text 15"/>
          <p:cNvSpPr/>
          <p:nvPr/>
        </p:nvSpPr>
        <p:spPr>
          <a:xfrm>
            <a:off x="1501445"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滞在時間・回遊率アップ</a:t>
            </a:r>
            <a:endParaRPr lang="en-US" sz="1100" dirty="0"/>
          </a:p>
        </p:txBody>
      </p:sp>
      <p:sp>
        <p:nvSpPr>
          <p:cNvPr id="22" name="Text 16"/>
          <p:cNvSpPr/>
          <p:nvPr/>
        </p:nvSpPr>
        <p:spPr>
          <a:xfrm>
            <a:off x="1501445"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「ついで買い」のきっかけに</a:t>
            </a:r>
            <a:endParaRPr lang="en-US" sz="1500" dirty="0"/>
          </a:p>
        </p:txBody>
      </p:sp>
      <p:sp>
        <p:nvSpPr>
          <p:cNvPr id="23" name="Text 17"/>
          <p:cNvSpPr/>
          <p:nvPr/>
        </p:nvSpPr>
        <p:spPr>
          <a:xfrm>
            <a:off x="934517"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コーヒー片手に店内をゆっくり見て回れるようになり、滞在時間が伸びて追加購入・再来店のきっかけが増えます。</a:t>
            </a:r>
            <a:endParaRPr lang="en-US" sz="1050" dirty="0"/>
          </a:p>
        </p:txBody>
      </p:sp>
      <p:sp>
        <p:nvSpPr>
          <p:cNvPr id="24" name="Shape 18"/>
          <p:cNvSpPr/>
          <p:nvPr/>
        </p:nvSpPr>
        <p:spPr>
          <a:xfrm>
            <a:off x="6287872" y="3900830"/>
            <a:ext cx="5243627" cy="1975104"/>
          </a:xfrm>
          <a:prstGeom prst="roundRect">
            <a:avLst>
              <a:gd name="adj" fmla="val 2778"/>
            </a:avLst>
          </a:prstGeom>
          <a:solidFill>
            <a:srgbClr val="FFFFFF"/>
          </a:solidFill>
          <a:ln w="9525">
            <a:solidFill>
              <a:srgbClr val="EFEAE0"/>
            </a:solidFill>
            <a:prstDash val="solid"/>
          </a:ln>
        </p:spPr>
      </p:sp>
      <p:pic>
        <p:nvPicPr>
          <p:cNvPr id="25" name="Image 4" descr="/home/user/suzuki-ceo/selfcafe-gyomu-deck/assets/icons/LuRuler-green.png">    </p:cNvPr>
          <p:cNvPicPr>
            <a:picLocks noChangeAspect="1"/>
          </p:cNvPicPr>
          <p:nvPr/>
        </p:nvPicPr>
        <p:blipFill>
          <a:blip r:embed="rId5"/>
          <a:stretch>
            <a:fillRect/>
          </a:stretch>
        </p:blipFill>
        <p:spPr>
          <a:xfrm>
            <a:off x="6562192" y="4175150"/>
            <a:ext cx="402336" cy="402336"/>
          </a:xfrm>
          <a:prstGeom prst="rect">
            <a:avLst/>
          </a:prstGeom>
        </p:spPr>
      </p:pic>
      <p:sp>
        <p:nvSpPr>
          <p:cNvPr id="26" name="Text 19"/>
          <p:cNvSpPr/>
          <p:nvPr/>
        </p:nvSpPr>
        <p:spPr>
          <a:xfrm>
            <a:off x="7129120" y="4138574"/>
            <a:ext cx="4128059" cy="256032"/>
          </a:xfrm>
          <a:prstGeom prst="rect">
            <a:avLst/>
          </a:prstGeom>
          <a:noFill/>
          <a:ln/>
        </p:spPr>
        <p:txBody>
          <a:bodyPr wrap="square" lIns="0" tIns="0" rIns="0" bIns="0" rtlCol="0" anchor="ctr"/>
          <a:lstStyle/>
          <a:p>
            <a:pPr indent="0" marL="0">
              <a:buNone/>
            </a:pPr>
            <a:r>
              <a:rPr lang="en-US" sz="1100" b="1" dirty="0">
                <a:solidFill>
                  <a:srgbClr val="7E8882"/>
                </a:solidFill>
                <a:latin typeface="Yu Gothic" pitchFamily="34" charset="0"/>
                <a:ea typeface="Yu Gothic" pitchFamily="34" charset="-122"/>
                <a:cs typeface="Yu Gothic" pitchFamily="34" charset="-120"/>
              </a:rPr>
              <a:t>省スペース・低コスト</a:t>
            </a:r>
            <a:endParaRPr lang="en-US" sz="1100" dirty="0"/>
          </a:p>
        </p:txBody>
      </p:sp>
      <p:sp>
        <p:nvSpPr>
          <p:cNvPr id="27" name="Text 20"/>
          <p:cNvSpPr/>
          <p:nvPr/>
        </p:nvSpPr>
        <p:spPr>
          <a:xfrm>
            <a:off x="7129120" y="4412894"/>
            <a:ext cx="4128059" cy="347472"/>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セルフ型だから始めやすい</a:t>
            </a:r>
            <a:endParaRPr lang="en-US" sz="1500" dirty="0"/>
          </a:p>
        </p:txBody>
      </p:sp>
      <p:sp>
        <p:nvSpPr>
          <p:cNvPr id="28" name="Text 21"/>
          <p:cNvSpPr/>
          <p:nvPr/>
        </p:nvSpPr>
        <p:spPr>
          <a:xfrm>
            <a:off x="6562192" y="4870094"/>
            <a:ext cx="4694987" cy="859536"/>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専任スタッフ不要。レジ横や待合の小さなスペースに設置でき、大掛かりな工事や人員追加なしで導入できます。</a:t>
            </a:r>
            <a:endParaRPr lang="en-US" sz="1050" dirty="0"/>
          </a:p>
        </p:txBody>
      </p:sp>
      <p:sp>
        <p:nvSpPr>
          <p:cNvPr id="29" name="Text 22"/>
          <p:cNvSpPr/>
          <p:nvPr/>
        </p:nvSpPr>
        <p:spPr>
          <a:xfrm>
            <a:off x="660197" y="594908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待合スペース・レジ横カウンターなど、限られたスペースでも設置可能です。</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gyomu-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gyomu-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gyomu-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gyomu-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gyomu-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gyomu-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gyomu-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gyomu-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gyomu-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gyomu-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Yu Gothic" pitchFamily="34" charset="0"/>
                <a:ea typeface="Yu Gothic" pitchFamily="34" charset="-122"/>
                <a:cs typeface="Yu Gothic"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Yu Gothic" pitchFamily="34" charset="0"/>
                <a:ea typeface="Yu Gothic" pitchFamily="34" charset="-122"/>
                <a:cs typeface="Yu Gothic"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2756459"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8775040" y="1651406"/>
            <a:ext cx="2756459"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8976208" y="1925726"/>
            <a:ext cx="2354123"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3" name="Text 20"/>
          <p:cNvSpPr/>
          <p:nvPr/>
        </p:nvSpPr>
        <p:spPr>
          <a:xfrm>
            <a:off x="8976208" y="2437790"/>
            <a:ext cx="2354123"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4" name="Shape 21"/>
          <p:cNvSpPr/>
          <p:nvPr/>
        </p:nvSpPr>
        <p:spPr>
          <a:xfrm>
            <a:off x="5799125" y="3205886"/>
            <a:ext cx="5732374" cy="2212848"/>
          </a:xfrm>
          <a:prstGeom prst="roundRect">
            <a:avLst>
              <a:gd name="adj" fmla="val 2479"/>
            </a:avLst>
          </a:prstGeom>
          <a:solidFill>
            <a:srgbClr val="FFFFFF"/>
          </a:solidFill>
          <a:ln w="9525">
            <a:solidFill>
              <a:srgbClr val="EFEAE0"/>
            </a:solidFill>
            <a:prstDash val="solid"/>
          </a:ln>
        </p:spPr>
      </p:sp>
      <p:sp>
        <p:nvSpPr>
          <p:cNvPr id="25" name="Text 22"/>
          <p:cNvSpPr/>
          <p:nvPr/>
        </p:nvSpPr>
        <p:spPr>
          <a:xfrm>
            <a:off x="6073445" y="337047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6" name="Text 23"/>
          <p:cNvSpPr/>
          <p:nvPr/>
        </p:nvSpPr>
        <p:spPr>
          <a:xfrm>
            <a:off x="6073445" y="3608222"/>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母集団</a:t>
            </a:r>
            <a:endParaRPr lang="en-US" sz="1000" dirty="0"/>
          </a:p>
        </p:txBody>
      </p:sp>
      <p:sp>
        <p:nvSpPr>
          <p:cNvPr id="27" name="Text 24"/>
          <p:cNvSpPr/>
          <p:nvPr/>
        </p:nvSpPr>
        <p:spPr>
          <a:xfrm>
            <a:off x="7353605" y="3608222"/>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950" dirty="0"/>
          </a:p>
        </p:txBody>
      </p:sp>
      <p:sp>
        <p:nvSpPr>
          <p:cNvPr id="28" name="Shape 25"/>
          <p:cNvSpPr/>
          <p:nvPr/>
        </p:nvSpPr>
        <p:spPr>
          <a:xfrm>
            <a:off x="6073445" y="3955694"/>
            <a:ext cx="5183734" cy="10058"/>
          </a:xfrm>
          <a:prstGeom prst="rect">
            <a:avLst/>
          </a:prstGeom>
          <a:solidFill>
            <a:srgbClr val="EFEAE0"/>
          </a:solidFill>
          <a:ln/>
        </p:spPr>
      </p:sp>
      <p:sp>
        <p:nvSpPr>
          <p:cNvPr id="29" name="Text 26"/>
          <p:cNvSpPr/>
          <p:nvPr/>
        </p:nvSpPr>
        <p:spPr>
          <a:xfrm>
            <a:off x="6073445" y="4010558"/>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判定</a:t>
            </a:r>
            <a:endParaRPr lang="en-US" sz="1000" dirty="0"/>
          </a:p>
        </p:txBody>
      </p:sp>
      <p:sp>
        <p:nvSpPr>
          <p:cNvPr id="30" name="Text 27"/>
          <p:cNvSpPr/>
          <p:nvPr/>
        </p:nvSpPr>
        <p:spPr>
          <a:xfrm>
            <a:off x="7353605" y="4010558"/>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2026年7月単月の償却前営業利益 ＞ 0円</a:t>
            </a:r>
            <a:endParaRPr lang="en-US" sz="950" dirty="0"/>
          </a:p>
        </p:txBody>
      </p:sp>
      <p:sp>
        <p:nvSpPr>
          <p:cNvPr id="31" name="Shape 28"/>
          <p:cNvSpPr/>
          <p:nvPr/>
        </p:nvSpPr>
        <p:spPr>
          <a:xfrm>
            <a:off x="6073445" y="4358030"/>
            <a:ext cx="5183734" cy="10058"/>
          </a:xfrm>
          <a:prstGeom prst="rect">
            <a:avLst/>
          </a:prstGeom>
          <a:solidFill>
            <a:srgbClr val="EFEAE0"/>
          </a:solidFill>
          <a:ln/>
        </p:spPr>
      </p:sp>
      <p:sp>
        <p:nvSpPr>
          <p:cNvPr id="32" name="Text 29"/>
          <p:cNvSpPr/>
          <p:nvPr/>
        </p:nvSpPr>
        <p:spPr>
          <a:xfrm>
            <a:off x="6073445" y="4412894"/>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利益の定義</a:t>
            </a:r>
            <a:endParaRPr lang="en-US" sz="1000" dirty="0"/>
          </a:p>
        </p:txBody>
      </p:sp>
      <p:sp>
        <p:nvSpPr>
          <p:cNvPr id="33" name="Text 30"/>
          <p:cNvSpPr/>
          <p:nvPr/>
        </p:nvSpPr>
        <p:spPr>
          <a:xfrm>
            <a:off x="7353605" y="4412894"/>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950" dirty="0"/>
          </a:p>
        </p:txBody>
      </p:sp>
      <p:sp>
        <p:nvSpPr>
          <p:cNvPr id="34" name="Shape 31"/>
          <p:cNvSpPr/>
          <p:nvPr/>
        </p:nvSpPr>
        <p:spPr>
          <a:xfrm>
            <a:off x="6073445" y="4760366"/>
            <a:ext cx="5183734" cy="10058"/>
          </a:xfrm>
          <a:prstGeom prst="rect">
            <a:avLst/>
          </a:prstGeom>
          <a:solidFill>
            <a:srgbClr val="EFEAE0"/>
          </a:solidFill>
          <a:ln/>
        </p:spPr>
      </p:sp>
      <p:sp>
        <p:nvSpPr>
          <p:cNvPr id="35" name="Text 32"/>
          <p:cNvSpPr/>
          <p:nvPr/>
        </p:nvSpPr>
        <p:spPr>
          <a:xfrm>
            <a:off x="6073445" y="4815230"/>
            <a:ext cx="1280160" cy="365760"/>
          </a:xfrm>
          <a:prstGeom prst="rect">
            <a:avLst/>
          </a:prstGeom>
          <a:noFill/>
          <a:ln/>
        </p:spPr>
        <p:txBody>
          <a:bodyPr wrap="square" lIns="0" tIns="0" rIns="0" bIns="0" rtlCol="0" anchor="t"/>
          <a:lstStyle/>
          <a:p>
            <a:pPr indent="0" marL="0">
              <a:buNone/>
            </a:pPr>
            <a:r>
              <a:rPr lang="en-US" sz="1000" b="1" dirty="0">
                <a:solidFill>
                  <a:srgbClr val="106838"/>
                </a:solidFill>
                <a:latin typeface="Yu Gothic" pitchFamily="34" charset="0"/>
                <a:ea typeface="Yu Gothic" pitchFamily="34" charset="-122"/>
                <a:cs typeface="Yu Gothic" pitchFamily="34" charset="-120"/>
              </a:rPr>
              <a:t>人件費</a:t>
            </a:r>
            <a:endParaRPr lang="en-US" sz="1000" dirty="0"/>
          </a:p>
        </p:txBody>
      </p:sp>
      <p:sp>
        <p:nvSpPr>
          <p:cNvPr id="36" name="Text 33"/>
          <p:cNvSpPr/>
          <p:nvPr/>
        </p:nvSpPr>
        <p:spPr>
          <a:xfrm>
            <a:off x="7353605" y="4815230"/>
            <a:ext cx="3903574" cy="384048"/>
          </a:xfrm>
          <a:prstGeom prst="rect">
            <a:avLst/>
          </a:prstGeom>
          <a:noFill/>
          <a:ln/>
        </p:spPr>
        <p:txBody>
          <a:bodyPr wrap="square" lIns="0" tIns="0" rIns="0" bIns="0" rtlCol="0" anchor="t"/>
          <a:lstStyle/>
          <a:p>
            <a:pPr indent="0" marL="0">
              <a:lnSpc>
                <a:spcPct val="120000"/>
              </a:lnSpc>
              <a:buNone/>
            </a:pPr>
            <a:r>
              <a:rPr lang="en-US" sz="950" dirty="0">
                <a:solidFill>
                  <a:srgbClr val="4B5550"/>
                </a:solidFill>
                <a:latin typeface="Yu Gothic" pitchFamily="34" charset="0"/>
                <a:ea typeface="Yu Gothic" pitchFamily="34" charset="-122"/>
                <a:cs typeface="Yu Gothic" pitchFamily="34" charset="-120"/>
              </a:rPr>
              <a:t>無人運営のため0円（未計上）。この黒字率の高さの主因です</a:t>
            </a:r>
            <a:endParaRPr lang="en-US" sz="950" dirty="0"/>
          </a:p>
        </p:txBody>
      </p:sp>
      <p:sp>
        <p:nvSpPr>
          <p:cNvPr id="37" name="Text 34"/>
          <p:cNvSpPr/>
          <p:nvPr/>
        </p:nvSpPr>
        <p:spPr>
          <a:xfrm>
            <a:off x="660197" y="558332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gyomu-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gyomu-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gyomu-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gyomu-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54910"/>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gyomu-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gyomu-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gyomu-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gyomu-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gyomu-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gyomu-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pic>
        <p:nvPicPr>
          <p:cNvPr id="9" name="Image 1" descr="/home/user/suzuki-ceo/selfcafe-gyomu-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gyomu-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gyomu-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gyomu-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gyomu-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gyomu-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gyomu-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gyomu-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gyomu-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gyomu-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gyomu-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gyomu-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gyomu-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gyomu-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gyomu-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gyomu-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gyomu-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gyomu-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gyomu-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gyomu-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gyomu-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gyomu-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gyomu-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gyomu-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貴社の業務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やることは清掃と補充だけ。1日約15分。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運営主体は本部です。貴社の業務は既存スタッフの稼働内で完結し、それすら委託できます。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Text 6"/>
          <p:cNvSpPr/>
          <p:nvPr/>
        </p:nvSpPr>
        <p:spPr>
          <a:xfrm>
            <a:off x="660197" y="1651406"/>
            <a:ext cx="6309360" cy="658368"/>
          </a:xfrm>
          <a:prstGeom prst="rect">
            <a:avLst/>
          </a:prstGeom>
          <a:noFill/>
          <a:ln/>
        </p:spPr>
        <p:txBody>
          <a:bodyPr wrap="square" lIns="0" tIns="0" rIns="0" bIns="0" rtlCol="0" anchor="ctr"/>
          <a:lstStyle/>
          <a:p>
            <a:pPr indent="0" marL="0">
              <a:buNone/>
            </a:pPr>
            <a:r>
              <a:rPr lang="en-US" sz="4000" b="1" dirty="0">
                <a:solidFill>
                  <a:srgbClr val="106838"/>
                </a:solidFill>
                <a:latin typeface="Yu Gothic" pitchFamily="34" charset="0"/>
                <a:ea typeface="Yu Gothic" pitchFamily="34" charset="-122"/>
                <a:cs typeface="Yu Gothic" pitchFamily="34" charset="-120"/>
              </a:rPr>
              <a:t>約15分</a:t>
            </a:r>
            <a:r>
              <a:rPr lang="en-US" sz="1800" b="1" dirty="0">
                <a:solidFill>
                  <a:srgbClr val="106838"/>
                </a:solidFill>
                <a:latin typeface="Yu Gothic" pitchFamily="34" charset="0"/>
                <a:ea typeface="Yu Gothic" pitchFamily="34" charset="-122"/>
                <a:cs typeface="Yu Gothic" pitchFamily="34" charset="-120"/>
              </a:rPr>
              <a:t> ／日</a:t>
            </a:r>
            <a:endParaRPr lang="en-US" sz="4000" dirty="0"/>
          </a:p>
        </p:txBody>
      </p:sp>
      <p:sp>
        <p:nvSpPr>
          <p:cNvPr id="10" name="Shape 7"/>
          <p:cNvSpPr/>
          <p:nvPr/>
        </p:nvSpPr>
        <p:spPr>
          <a:xfrm>
            <a:off x="660197" y="2474366"/>
            <a:ext cx="6309360" cy="786384"/>
          </a:xfrm>
          <a:prstGeom prst="roundRect">
            <a:avLst>
              <a:gd name="adj" fmla="val 6977"/>
            </a:avLst>
          </a:prstGeom>
          <a:solidFill>
            <a:srgbClr val="F1F8F3"/>
          </a:solidFill>
          <a:ln w="9525">
            <a:solidFill>
              <a:srgbClr val="D2E7DA"/>
            </a:solidFill>
            <a:prstDash val="solid"/>
          </a:ln>
        </p:spPr>
      </p:sp>
      <p:sp>
        <p:nvSpPr>
          <p:cNvPr id="11" name="Text 8"/>
          <p:cNvSpPr/>
          <p:nvPr/>
        </p:nvSpPr>
        <p:spPr>
          <a:xfrm>
            <a:off x="934517" y="2584094"/>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① 店内清掃</a:t>
            </a:r>
            <a:endParaRPr lang="en-US" sz="1250" dirty="0"/>
          </a:p>
        </p:txBody>
      </p:sp>
      <p:sp>
        <p:nvSpPr>
          <p:cNvPr id="12" name="Text 9"/>
          <p:cNvSpPr/>
          <p:nvPr/>
        </p:nvSpPr>
        <p:spPr>
          <a:xfrm>
            <a:off x="934517" y="2876702"/>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テーブル・床・トイレの清掃、ゴミ回収。営業前後の都合の良い時間でOK。</a:t>
            </a:r>
            <a:endParaRPr lang="en-US" sz="1050" dirty="0"/>
          </a:p>
        </p:txBody>
      </p:sp>
      <p:sp>
        <p:nvSpPr>
          <p:cNvPr id="13" name="Shape 10"/>
          <p:cNvSpPr/>
          <p:nvPr/>
        </p:nvSpPr>
        <p:spPr>
          <a:xfrm>
            <a:off x="660197" y="3370478"/>
            <a:ext cx="6309360" cy="786384"/>
          </a:xfrm>
          <a:prstGeom prst="roundRect">
            <a:avLst>
              <a:gd name="adj" fmla="val 6977"/>
            </a:avLst>
          </a:prstGeom>
          <a:solidFill>
            <a:srgbClr val="F1F8F3"/>
          </a:solidFill>
          <a:ln w="9525">
            <a:solidFill>
              <a:srgbClr val="D2E7DA"/>
            </a:solidFill>
            <a:prstDash val="solid"/>
          </a:ln>
        </p:spPr>
      </p:sp>
      <p:sp>
        <p:nvSpPr>
          <p:cNvPr id="14" name="Text 11"/>
          <p:cNvSpPr/>
          <p:nvPr/>
        </p:nvSpPr>
        <p:spPr>
          <a:xfrm>
            <a:off x="934517" y="3480206"/>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② 原料・備品の補充</a:t>
            </a:r>
            <a:endParaRPr lang="en-US" sz="1250" dirty="0"/>
          </a:p>
        </p:txBody>
      </p:sp>
      <p:sp>
        <p:nvSpPr>
          <p:cNvPr id="15" name="Text 12"/>
          <p:cNvSpPr/>
          <p:nvPr/>
        </p:nvSpPr>
        <p:spPr>
          <a:xfrm>
            <a:off x="934517" y="3772814"/>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コーヒー豆・カップ等の補充。在庫は本部から定期配送。</a:t>
            </a:r>
            <a:endParaRPr lang="en-US" sz="1050" dirty="0"/>
          </a:p>
        </p:txBody>
      </p:sp>
      <p:sp>
        <p:nvSpPr>
          <p:cNvPr id="16" name="Shape 13"/>
          <p:cNvSpPr/>
          <p:nvPr/>
        </p:nvSpPr>
        <p:spPr>
          <a:xfrm>
            <a:off x="660197" y="4266590"/>
            <a:ext cx="6309360" cy="786384"/>
          </a:xfrm>
          <a:prstGeom prst="roundRect">
            <a:avLst>
              <a:gd name="adj" fmla="val 6977"/>
            </a:avLst>
          </a:prstGeom>
          <a:solidFill>
            <a:srgbClr val="F1F8F3"/>
          </a:solidFill>
          <a:ln w="9525">
            <a:solidFill>
              <a:srgbClr val="D2E7DA"/>
            </a:solidFill>
            <a:prstDash val="solid"/>
          </a:ln>
        </p:spPr>
      </p:sp>
      <p:sp>
        <p:nvSpPr>
          <p:cNvPr id="17" name="Text 14"/>
          <p:cNvSpPr/>
          <p:nvPr/>
        </p:nvSpPr>
        <p:spPr>
          <a:xfrm>
            <a:off x="934517" y="4376318"/>
            <a:ext cx="5760720" cy="274320"/>
          </a:xfrm>
          <a:prstGeom prst="rect">
            <a:avLst/>
          </a:prstGeom>
          <a:noFill/>
          <a:ln/>
        </p:spPr>
        <p:txBody>
          <a:bodyPr wrap="square" lIns="0" tIns="0" rIns="0" bIns="0" rtlCol="0" anchor="ctr"/>
          <a:lstStyle/>
          <a:p>
            <a:pPr indent="0" marL="0">
              <a:buNone/>
            </a:pPr>
            <a:r>
              <a:rPr lang="en-US" sz="1250" b="1" dirty="0">
                <a:solidFill>
                  <a:srgbClr val="106838"/>
                </a:solidFill>
                <a:latin typeface="Yu Gothic" pitchFamily="34" charset="0"/>
                <a:ea typeface="Yu Gothic" pitchFamily="34" charset="-122"/>
                <a:cs typeface="Yu Gothic" pitchFamily="34" charset="-120"/>
              </a:rPr>
              <a:t>③ 発注・棚卸（月1〜2回程度）</a:t>
            </a:r>
            <a:endParaRPr lang="en-US" sz="1250" dirty="0"/>
          </a:p>
        </p:txBody>
      </p:sp>
      <p:sp>
        <p:nvSpPr>
          <p:cNvPr id="18" name="Text 15"/>
          <p:cNvSpPr/>
          <p:nvPr/>
        </p:nvSpPr>
        <p:spPr>
          <a:xfrm>
            <a:off x="934517" y="4668926"/>
            <a:ext cx="5760720" cy="292608"/>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定期配送に合わせた発注と在庫の棚卸のみ。</a:t>
            </a:r>
            <a:endParaRPr lang="en-US" sz="1050" dirty="0"/>
          </a:p>
        </p:txBody>
      </p:sp>
      <p:sp>
        <p:nvSpPr>
          <p:cNvPr id="19" name="Shape 16"/>
          <p:cNvSpPr/>
          <p:nvPr/>
        </p:nvSpPr>
        <p:spPr>
          <a:xfrm>
            <a:off x="660197" y="5217566"/>
            <a:ext cx="6309360" cy="859536"/>
          </a:xfrm>
          <a:prstGeom prst="roundRect">
            <a:avLst>
              <a:gd name="adj" fmla="val 6383"/>
            </a:avLst>
          </a:prstGeom>
          <a:solidFill>
            <a:srgbClr val="0C5230"/>
          </a:solidFill>
          <a:ln/>
        </p:spPr>
      </p:sp>
      <p:pic>
        <p:nvPicPr>
          <p:cNvPr id="20" name="Image 1" descr="/home/user/suzuki-ceo/selfcafe-gyomu-deck/assets/icons/LuLifeBuoy-pale.png">    </p:cNvPr>
          <p:cNvPicPr>
            <a:picLocks noChangeAspect="1"/>
          </p:cNvPicPr>
          <p:nvPr/>
        </p:nvPicPr>
        <p:blipFill>
          <a:blip r:embed="rId2"/>
          <a:stretch>
            <a:fillRect/>
          </a:stretch>
        </p:blipFill>
        <p:spPr>
          <a:xfrm>
            <a:off x="934517" y="5491886"/>
            <a:ext cx="329184" cy="329184"/>
          </a:xfrm>
          <a:prstGeom prst="rect">
            <a:avLst/>
          </a:prstGeom>
        </p:spPr>
      </p:pic>
      <p:sp>
        <p:nvSpPr>
          <p:cNvPr id="21" name="Text 17"/>
          <p:cNvSpPr/>
          <p:nvPr/>
        </p:nvSpPr>
        <p:spPr>
          <a:xfrm>
            <a:off x="1428293" y="5345582"/>
            <a:ext cx="5266944" cy="658368"/>
          </a:xfrm>
          <a:prstGeom prst="rect">
            <a:avLst/>
          </a:prstGeom>
          <a:noFill/>
          <a:ln/>
        </p:spPr>
        <p:txBody>
          <a:bodyPr wrap="square" lIns="0" tIns="0" rIns="0" bIns="0" rtlCol="0" anchor="ctr"/>
          <a:lstStyle/>
          <a:p>
            <a:pPr indent="0" marL="0">
              <a:lnSpc>
                <a:spcPct val="135000"/>
              </a:lnSpc>
              <a:buNone/>
            </a:pPr>
            <a:r>
              <a:rPr lang="en-US" sz="1050" b="1" dirty="0">
                <a:solidFill>
                  <a:srgbClr val="FFFFFF"/>
                </a:solidFill>
                <a:latin typeface="Yu Gothic" pitchFamily="34" charset="0"/>
                <a:ea typeface="Yu Gothic" pitchFamily="34" charset="-122"/>
                <a:cs typeface="Yu Gothic" pitchFamily="34" charset="-120"/>
              </a:rPr>
              <a:t>自分でやらない選択肢も。清掃パートナーへの委託 月3万円程度（収支モデルに計上済み）。営業サポートプランを選べば、お客様からの問い合わせもすべて本部が対応します。</a:t>
            </a:r>
            <a:endParaRPr lang="en-US" sz="1050" dirty="0"/>
          </a:p>
        </p:txBody>
      </p:sp>
      <p:pic>
        <p:nvPicPr>
          <p:cNvPr id="22" name="Image 2" descr="/home/user/suzuki-ceo/selfcafe-gyomu-deck/assets/photos/.crops/p05-woman-457x184.jpg">    </p:cNvPr>
          <p:cNvPicPr>
            <a:picLocks noChangeAspect="1"/>
          </p:cNvPicPr>
          <p:nvPr/>
        </p:nvPicPr>
        <p:blipFill>
          <a:blip r:embed="rId3"/>
          <a:stretch>
            <a:fillRect/>
          </a:stretch>
        </p:blipFill>
        <p:spPr>
          <a:xfrm>
            <a:off x="7353605" y="1651406"/>
            <a:ext cx="4177894" cy="1682496"/>
          </a:xfrm>
          <a:prstGeom prst="rect">
            <a:avLst/>
          </a:prstGeom>
        </p:spPr>
      </p:pic>
      <p:sp>
        <p:nvSpPr>
          <p:cNvPr id="23" name="Shape 18"/>
          <p:cNvSpPr/>
          <p:nvPr/>
        </p:nvSpPr>
        <p:spPr>
          <a:xfrm>
            <a:off x="7353605" y="1651406"/>
            <a:ext cx="4177894" cy="1682496"/>
          </a:xfrm>
          <a:prstGeom prst="rect">
            <a:avLst/>
          </a:prstGeom>
          <a:ln w="12700">
            <a:solidFill>
              <a:srgbClr val="D8D2C6"/>
            </a:solidFill>
            <a:prstDash val="solid"/>
          </a:ln>
        </p:spPr>
      </p:sp>
      <p:sp>
        <p:nvSpPr>
          <p:cNvPr id="24" name="Shape 19"/>
          <p:cNvSpPr/>
          <p:nvPr/>
        </p:nvSpPr>
        <p:spPr>
          <a:xfrm>
            <a:off x="7353605" y="3516782"/>
            <a:ext cx="4177894" cy="2560320"/>
          </a:xfrm>
          <a:prstGeom prst="roundRect">
            <a:avLst>
              <a:gd name="adj" fmla="val 2143"/>
            </a:avLst>
          </a:prstGeom>
          <a:solidFill>
            <a:srgbClr val="FFFFFF"/>
          </a:solidFill>
          <a:ln w="9525">
            <a:solidFill>
              <a:srgbClr val="EFEAE0"/>
            </a:solidFill>
            <a:prstDash val="solid"/>
          </a:ln>
        </p:spPr>
      </p:sp>
      <p:sp>
        <p:nvSpPr>
          <p:cNvPr id="25" name="Text 20"/>
          <p:cNvSpPr/>
          <p:nvPr/>
        </p:nvSpPr>
        <p:spPr>
          <a:xfrm>
            <a:off x="7627925" y="3754526"/>
            <a:ext cx="237744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GOOD TO KNOW</a:t>
            </a:r>
            <a:endParaRPr lang="en-US" sz="900" dirty="0"/>
          </a:p>
        </p:txBody>
      </p:sp>
      <p:pic>
        <p:nvPicPr>
          <p:cNvPr id="26" name="Image 3" descr="/home/user/suzuki-ceo/selfcafe-gyomu-deck/assets/icons/LuFileCheck-green.png">    </p:cNvPr>
          <p:cNvPicPr>
            <a:picLocks noChangeAspect="1"/>
          </p:cNvPicPr>
          <p:nvPr/>
        </p:nvPicPr>
        <p:blipFill>
          <a:blip r:embed="rId4"/>
          <a:stretch>
            <a:fillRect/>
          </a:stretch>
        </p:blipFill>
        <p:spPr>
          <a:xfrm>
            <a:off x="7627925" y="4074566"/>
            <a:ext cx="274320" cy="274320"/>
          </a:xfrm>
          <a:prstGeom prst="rect">
            <a:avLst/>
          </a:prstGeom>
        </p:spPr>
      </p:pic>
      <p:sp>
        <p:nvSpPr>
          <p:cNvPr id="27" name="Text 21"/>
          <p:cNvSpPr/>
          <p:nvPr/>
        </p:nvSpPr>
        <p:spPr>
          <a:xfrm>
            <a:off x="8030261" y="4047134"/>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営業届の申請は本部が実施</a:t>
            </a:r>
            <a:endParaRPr lang="en-US" sz="1050" dirty="0"/>
          </a:p>
        </p:txBody>
      </p:sp>
      <p:pic>
        <p:nvPicPr>
          <p:cNvPr id="28" name="Image 4" descr="/home/user/suzuki-ceo/selfcafe-gyomu-deck/assets/icons/LuGraduationCap-green.png">    </p:cNvPr>
          <p:cNvPicPr>
            <a:picLocks noChangeAspect="1"/>
          </p:cNvPicPr>
          <p:nvPr/>
        </p:nvPicPr>
        <p:blipFill>
          <a:blip r:embed="rId5"/>
          <a:stretch>
            <a:fillRect/>
          </a:stretch>
        </p:blipFill>
        <p:spPr>
          <a:xfrm>
            <a:off x="7627925" y="4696358"/>
            <a:ext cx="274320" cy="274320"/>
          </a:xfrm>
          <a:prstGeom prst="rect">
            <a:avLst/>
          </a:prstGeom>
        </p:spPr>
      </p:pic>
      <p:sp>
        <p:nvSpPr>
          <p:cNvPr id="29" name="Text 22"/>
          <p:cNvSpPr/>
          <p:nvPr/>
        </p:nvSpPr>
        <p:spPr>
          <a:xfrm>
            <a:off x="8030261" y="4668926"/>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食品衛生責任者は本部にて設置</a:t>
            </a:r>
            <a:endParaRPr lang="en-US" sz="1050" dirty="0"/>
          </a:p>
        </p:txBody>
      </p:sp>
      <p:pic>
        <p:nvPicPr>
          <p:cNvPr id="30" name="Image 5" descr="/home/user/suzuki-ceo/selfcafe-gyomu-deck/assets/icons/LuTimer-green.png">    </p:cNvPr>
          <p:cNvPicPr>
            <a:picLocks noChangeAspect="1"/>
          </p:cNvPicPr>
          <p:nvPr/>
        </p:nvPicPr>
        <p:blipFill>
          <a:blip r:embed="rId6"/>
          <a:stretch>
            <a:fillRect/>
          </a:stretch>
        </p:blipFill>
        <p:spPr>
          <a:xfrm>
            <a:off x="7627925" y="5318150"/>
            <a:ext cx="274320" cy="274320"/>
          </a:xfrm>
          <a:prstGeom prst="rect">
            <a:avLst/>
          </a:prstGeom>
        </p:spPr>
      </p:pic>
      <p:sp>
        <p:nvSpPr>
          <p:cNvPr id="31" name="Text 23"/>
          <p:cNvSpPr/>
          <p:nvPr/>
        </p:nvSpPr>
        <p:spPr>
          <a:xfrm>
            <a:off x="8030261" y="5290718"/>
            <a:ext cx="3263494" cy="512064"/>
          </a:xfrm>
          <a:prstGeom prst="rect">
            <a:avLst/>
          </a:prstGeom>
          <a:noFill/>
          <a:ln/>
        </p:spPr>
        <p:txBody>
          <a:bodyPr wrap="square" lIns="0" tIns="0" rIns="0" bIns="0" rtlCol="0" anchor="t"/>
          <a:lstStyle/>
          <a:p>
            <a:pPr indent="0" marL="0">
              <a:lnSpc>
                <a:spcPct val="125000"/>
              </a:lnSpc>
              <a:buNone/>
            </a:pPr>
            <a:r>
              <a:rPr lang="en-US" sz="1050" b="1" dirty="0">
                <a:solidFill>
                  <a:srgbClr val="0A3D23"/>
                </a:solidFill>
                <a:latin typeface="Yu Gothic" pitchFamily="34" charset="0"/>
                <a:ea typeface="Yu Gothic" pitchFamily="34" charset="-122"/>
                <a:cs typeface="Yu Gothic" pitchFamily="34" charset="-120"/>
              </a:rPr>
              <a:t>所要時間は店舗規模・営業時間で変動</a:t>
            </a:r>
            <a:endParaRPr lang="en-US" sz="1050" dirty="0"/>
          </a:p>
        </p:txBody>
      </p:sp>
      <p:sp>
        <p:nvSpPr>
          <p:cNvPr id="32" name="Text 24"/>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委託費用・サポートプランの料金は有料オプション一覧のページをご参照ください。</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業務委託型制度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業務委託型制度の3つの特徴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低コスト・遊休スペース活用・省人力運営の3点が、導入判断のハードルを下げます。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gyomu-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30〜50 万円</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加盟金はありません。必要なのは機器設置費のみで、通常のFC加盟（750万円〜）の1/15以下で始められます。</a:t>
            </a:r>
            <a:endParaRPr lang="en-US" sz="1100" dirty="0"/>
          </a:p>
        </p:txBody>
      </p:sp>
      <p:sp>
        <p:nvSpPr>
          <p:cNvPr id="16" name="Shape 12"/>
          <p:cNvSpPr/>
          <p:nvPr/>
        </p:nvSpPr>
        <p:spPr>
          <a:xfrm>
            <a:off x="934517" y="4961534"/>
            <a:ext cx="1014984"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0円</a:t>
            </a:r>
            <a:endParaRPr lang="en-US" sz="900" dirty="0"/>
          </a:p>
        </p:txBody>
      </p:sp>
      <p:sp>
        <p:nvSpPr>
          <p:cNvPr id="18" name="Shape 14"/>
          <p:cNvSpPr/>
          <p:nvPr/>
        </p:nvSpPr>
        <p:spPr>
          <a:xfrm>
            <a:off x="2077517" y="4961534"/>
            <a:ext cx="1138428"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077517" y="4961534"/>
            <a:ext cx="113842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機器設置費のみ</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gyomu-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売上の 25%</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既存店の空室やデッドスペースが収益資産に。売上の25％が業務委託料として毎月入ります。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gyomu-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Yu Gothic" pitchFamily="34" charset="0"/>
                <a:ea typeface="Yu Gothic" pitchFamily="34" charset="-122"/>
                <a:cs typeface="Yu Gothic"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清掃・補充のみ。運営主体は本部のため、貴社に運営ノウハウは不要です。既存スタッフの稼働内で対応できます。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gyomu-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gyomu-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gyomu-deck/assets/icons/LuBadgeJapaneseYen-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加盟金なしで開始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貴社の受取イメージ：月26万〜43万円</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売上の25％が業務委託料として毎月入ります。1杯420円の前提で25坪・70坪を試算しました。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7406640" cy="914400"/>
        </p:xfrm>
        <a:graphic>
          <a:graphicData uri="http://schemas.openxmlformats.org/drawingml/2006/table">
            <a:tbl>
              <a:tblPr/>
              <a:tblGrid>
                <a:gridCol w="3749040"/>
                <a:gridCol w="1828800"/>
                <a:gridCol w="1828800"/>
              </a:tblGrid>
              <a:tr h="402336">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項目（月次・円／税抜）</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25坪パターン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70坪パターン</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1日あたりの販売杯数</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81杯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138杯</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150" b="1" dirty="0">
                          <a:solidFill>
                            <a:srgbClr val="0A3D23"/>
                          </a:solidFill>
                          <a:latin typeface="Yu Gothic" pitchFamily="34" charset="0"/>
                          <a:ea typeface="Yu Gothic" pitchFamily="34" charset="-122"/>
                          <a:cs typeface="Yu Gothic" pitchFamily="34" charset="-120"/>
                        </a:rPr>
                        <a:t>売上高（1杯420円 × 30日）</a:t>
                      </a:r>
                      <a:endParaRPr lang="en-US" sz="11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1,020,600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1,738,800</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r>
              <a:tr h="658368">
                <a:tc>
                  <a:txBody>
                    <a:bodyPr/>
                    <a:lstStyle/>
                    <a:p>
                      <a:pPr indent="0" marL="0">
                        <a:buNone/>
                      </a:pPr>
                      <a:r>
                        <a:rPr lang="en-US" sz="1200" b="1" dirty="0">
                          <a:solidFill>
                            <a:srgbClr val="A8761F"/>
                          </a:solidFill>
                          <a:latin typeface="Yu Gothic" pitchFamily="34" charset="0"/>
                          <a:ea typeface="Yu Gothic" pitchFamily="34" charset="-122"/>
                          <a:cs typeface="Yu Gothic" pitchFamily="34" charset="-120"/>
                        </a:rPr>
                        <a:t>業務委託料（売上の25％）</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255,150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c>
                  <a:txBody>
                    <a:bodyPr/>
                    <a:lstStyle/>
                    <a:p>
                      <a:pPr algn="r" indent="0" marL="0">
                        <a:buNone/>
                      </a:pPr>
                      <a:r>
                        <a:rPr lang="en-US" sz="1600" b="1" dirty="0">
                          <a:solidFill>
                            <a:srgbClr val="A8761F"/>
                          </a:solidFill>
                          <a:latin typeface="Arial" pitchFamily="34" charset="0"/>
                          <a:ea typeface="Arial" pitchFamily="34" charset="-122"/>
                          <a:cs typeface="Arial" pitchFamily="34" charset="-120"/>
                        </a:rPr>
                        <a:t>434,700</a:t>
                      </a:r>
                      <a:endParaRPr lang="en-US" sz="16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BF4E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年間換算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3,061,800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4B5550"/>
                          </a:solidFill>
                          <a:latin typeface="Arial" pitchFamily="34" charset="0"/>
                          <a:ea typeface="Arial" pitchFamily="34" charset="-122"/>
                          <a:cs typeface="Arial" pitchFamily="34" charset="-120"/>
                        </a:rPr>
                        <a:t>5,216,400</a:t>
                      </a:r>
                      <a:endParaRPr lang="en-US" sz="11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Shape 6"/>
          <p:cNvSpPr/>
          <p:nvPr/>
        </p:nvSpPr>
        <p:spPr>
          <a:xfrm>
            <a:off x="660197" y="4796942"/>
            <a:ext cx="7406640" cy="1371600"/>
          </a:xfrm>
          <a:prstGeom prst="roundRect">
            <a:avLst>
              <a:gd name="adj" fmla="val 4000"/>
            </a:avLst>
          </a:prstGeom>
          <a:solidFill>
            <a:srgbClr val="FFFFFF"/>
          </a:solidFill>
          <a:ln w="9525">
            <a:solidFill>
              <a:srgbClr val="EFEAE0"/>
            </a:solidFill>
            <a:prstDash val="solid"/>
          </a:ln>
        </p:spPr>
      </p:sp>
      <p:sp>
        <p:nvSpPr>
          <p:cNvPr id="11" name="Text 7"/>
          <p:cNvSpPr/>
          <p:nvPr/>
        </p:nvSpPr>
        <p:spPr>
          <a:xfrm>
            <a:off x="934517" y="4906670"/>
            <a:ext cx="6858000" cy="237744"/>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計算の前提</a:t>
            </a:r>
            <a:endParaRPr lang="en-US" sz="1150" dirty="0"/>
          </a:p>
        </p:txBody>
      </p:sp>
      <p:pic>
        <p:nvPicPr>
          <p:cNvPr id="12" name="Image 1" descr="/home/user/suzuki-ceo/selfcafe-gyomu-deck/assets/icons/LuCheck-green.png">    </p:cNvPr>
          <p:cNvPicPr>
            <a:picLocks noChangeAspect="1"/>
          </p:cNvPicPr>
          <p:nvPr/>
        </p:nvPicPr>
        <p:blipFill>
          <a:blip r:embed="rId2"/>
          <a:stretch>
            <a:fillRect/>
          </a:stretch>
        </p:blipFill>
        <p:spPr>
          <a:xfrm>
            <a:off x="952805" y="5226710"/>
            <a:ext cx="182880" cy="182880"/>
          </a:xfrm>
          <a:prstGeom prst="rect">
            <a:avLst/>
          </a:prstGeom>
        </p:spPr>
      </p:pic>
      <p:sp>
        <p:nvSpPr>
          <p:cNvPr id="13" name="Text 8"/>
          <p:cNvSpPr/>
          <p:nvPr/>
        </p:nvSpPr>
        <p:spPr>
          <a:xfrm>
            <a:off x="1245413" y="5180990"/>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1杯420円（FC資料の収益シミュレーションと同一の単価）</a:t>
            </a:r>
            <a:endParaRPr lang="en-US" sz="1050" dirty="0"/>
          </a:p>
        </p:txBody>
      </p:sp>
      <p:pic>
        <p:nvPicPr>
          <p:cNvPr id="14" name="Image 2" descr="/home/user/suzuki-ceo/selfcafe-gyomu-deck/assets/icons/LuCheck-green.png">    </p:cNvPr>
          <p:cNvPicPr>
            <a:picLocks noChangeAspect="1"/>
          </p:cNvPicPr>
          <p:nvPr/>
        </p:nvPicPr>
        <p:blipFill>
          <a:blip r:embed="rId3"/>
          <a:stretch>
            <a:fillRect/>
          </a:stretch>
        </p:blipFill>
        <p:spPr>
          <a:xfrm>
            <a:off x="952805" y="5555894"/>
            <a:ext cx="182880" cy="182880"/>
          </a:xfrm>
          <a:prstGeom prst="rect">
            <a:avLst/>
          </a:prstGeom>
        </p:spPr>
      </p:pic>
      <p:sp>
        <p:nvSpPr>
          <p:cNvPr id="15" name="Text 9"/>
          <p:cNvSpPr/>
          <p:nvPr/>
        </p:nvSpPr>
        <p:spPr>
          <a:xfrm>
            <a:off x="1245413" y="5510174"/>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販売杯数は坪数から算出（20坪=75杯・40坪=100杯の関係で換算）</a:t>
            </a:r>
            <a:endParaRPr lang="en-US" sz="10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5885078"/>
            <a:ext cx="182880" cy="182880"/>
          </a:xfrm>
          <a:prstGeom prst="rect">
            <a:avLst/>
          </a:prstGeom>
        </p:spPr>
      </p:pic>
      <p:sp>
        <p:nvSpPr>
          <p:cNvPr id="17" name="Text 10"/>
          <p:cNvSpPr/>
          <p:nvPr/>
        </p:nvSpPr>
        <p:spPr>
          <a:xfrm>
            <a:off x="1245413" y="5839358"/>
            <a:ext cx="6547104" cy="292608"/>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売上の25％を業務委託料としてお支払い。売上金の管理は本部が実施</a:t>
            </a:r>
            <a:endParaRPr lang="en-US" sz="1050" dirty="0"/>
          </a:p>
        </p:txBody>
      </p:sp>
      <p:sp>
        <p:nvSpPr>
          <p:cNvPr id="18" name="Shape 11"/>
          <p:cNvSpPr/>
          <p:nvPr/>
        </p:nvSpPr>
        <p:spPr>
          <a:xfrm>
            <a:off x="8450885" y="1651406"/>
            <a:ext cx="3080614" cy="2103120"/>
          </a:xfrm>
          <a:prstGeom prst="roundRect">
            <a:avLst>
              <a:gd name="adj" fmla="val 2609"/>
            </a:avLst>
          </a:prstGeom>
          <a:solidFill>
            <a:srgbClr val="0C5230"/>
          </a:solidFill>
          <a:ln/>
        </p:spPr>
      </p:sp>
      <p:sp>
        <p:nvSpPr>
          <p:cNvPr id="19" name="Text 12"/>
          <p:cNvSpPr/>
          <p:nvPr/>
        </p:nvSpPr>
        <p:spPr>
          <a:xfrm>
            <a:off x="8706917" y="1870862"/>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YOUR REVENUE</a:t>
            </a:r>
            <a:endParaRPr lang="en-US" sz="900" dirty="0"/>
          </a:p>
        </p:txBody>
      </p:sp>
      <p:sp>
        <p:nvSpPr>
          <p:cNvPr id="20" name="Text 13"/>
          <p:cNvSpPr/>
          <p:nvPr/>
        </p:nvSpPr>
        <p:spPr>
          <a:xfrm>
            <a:off x="8706917" y="2108606"/>
            <a:ext cx="2568550" cy="256032"/>
          </a:xfrm>
          <a:prstGeom prst="rect">
            <a:avLst/>
          </a:prstGeom>
          <a:noFill/>
          <a:ln/>
        </p:spPr>
        <p:txBody>
          <a:bodyPr wrap="square" lIns="0" tIns="0" rIns="0" bIns="0" rtlCol="0" anchor="ctr"/>
          <a:lstStyle/>
          <a:p>
            <a:pPr indent="0" marL="0">
              <a:buNone/>
            </a:pPr>
            <a:r>
              <a:rPr lang="en-US" sz="1100" dirty="0">
                <a:solidFill>
                  <a:srgbClr val="AFC2B8"/>
                </a:solidFill>
                <a:latin typeface="Yu Gothic" pitchFamily="34" charset="0"/>
                <a:ea typeface="Yu Gothic" pitchFamily="34" charset="-122"/>
                <a:cs typeface="Yu Gothic" pitchFamily="34" charset="-120"/>
              </a:rPr>
              <a:t>貴社の受取イメージ</a:t>
            </a:r>
            <a:endParaRPr lang="en-US" sz="1100" dirty="0"/>
          </a:p>
        </p:txBody>
      </p:sp>
      <p:sp>
        <p:nvSpPr>
          <p:cNvPr id="21" name="Text 14"/>
          <p:cNvSpPr/>
          <p:nvPr/>
        </p:nvSpPr>
        <p:spPr>
          <a:xfrm>
            <a:off x="8706917" y="2419502"/>
            <a:ext cx="2568550" cy="640080"/>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月 </a:t>
            </a:r>
            <a:r>
              <a:rPr lang="en-US" sz="3200" b="1" dirty="0">
                <a:solidFill>
                  <a:srgbClr val="F0C05A"/>
                </a:solidFill>
                <a:latin typeface="Arial" pitchFamily="34" charset="0"/>
                <a:ea typeface="Arial" pitchFamily="34" charset="-122"/>
                <a:cs typeface="Arial" pitchFamily="34" charset="-120"/>
              </a:rPr>
              <a:t>26〜43</a:t>
            </a:r>
            <a:r>
              <a:rPr lang="en-US" sz="1400" b="1" dirty="0">
                <a:solidFill>
                  <a:srgbClr val="F0C05A"/>
                </a:solidFill>
                <a:latin typeface="Yu Gothic" pitchFamily="34" charset="0"/>
                <a:ea typeface="Yu Gothic" pitchFamily="34" charset="-122"/>
                <a:cs typeface="Yu Gothic" pitchFamily="34" charset="-120"/>
              </a:rPr>
              <a:t> 万円</a:t>
            </a:r>
            <a:endParaRPr lang="en-US" sz="1300" dirty="0"/>
          </a:p>
        </p:txBody>
      </p:sp>
      <p:sp>
        <p:nvSpPr>
          <p:cNvPr id="22" name="Shape 15"/>
          <p:cNvSpPr/>
          <p:nvPr/>
        </p:nvSpPr>
        <p:spPr>
          <a:xfrm>
            <a:off x="8706917" y="3132734"/>
            <a:ext cx="2568550" cy="10058"/>
          </a:xfrm>
          <a:prstGeom prst="rect">
            <a:avLst/>
          </a:prstGeom>
          <a:solidFill>
            <a:srgbClr val="2A7A4E"/>
          </a:solidFill>
          <a:ln/>
        </p:spPr>
      </p:sp>
      <p:sp>
        <p:nvSpPr>
          <p:cNvPr id="23" name="Text 16"/>
          <p:cNvSpPr/>
          <p:nvPr/>
        </p:nvSpPr>
        <p:spPr>
          <a:xfrm>
            <a:off x="8706917" y="3242462"/>
            <a:ext cx="2568550" cy="36576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年 306万〜521万円</a:t>
            </a:r>
            <a:endParaRPr lang="en-US" sz="1400" dirty="0"/>
          </a:p>
        </p:txBody>
      </p:sp>
      <p:sp>
        <p:nvSpPr>
          <p:cNvPr id="24" name="Shape 17"/>
          <p:cNvSpPr/>
          <p:nvPr/>
        </p:nvSpPr>
        <p:spPr>
          <a:xfrm>
            <a:off x="8450885" y="3937406"/>
            <a:ext cx="3080614" cy="2029968"/>
          </a:xfrm>
          <a:prstGeom prst="roundRect">
            <a:avLst>
              <a:gd name="adj" fmla="val 2703"/>
            </a:avLst>
          </a:prstGeom>
          <a:solidFill>
            <a:srgbClr val="F1F8F3"/>
          </a:solidFill>
          <a:ln w="9525">
            <a:solidFill>
              <a:srgbClr val="D2E7DA"/>
            </a:solidFill>
            <a:prstDash val="solid"/>
          </a:ln>
        </p:spPr>
      </p:sp>
      <p:sp>
        <p:nvSpPr>
          <p:cNvPr id="25" name="Text 18"/>
          <p:cNvSpPr/>
          <p:nvPr/>
        </p:nvSpPr>
        <p:spPr>
          <a:xfrm>
            <a:off x="8706917" y="4120286"/>
            <a:ext cx="2568550" cy="256032"/>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貴社にご負担いただく経費</a:t>
            </a:r>
            <a:endParaRPr lang="en-US" sz="1100" dirty="0"/>
          </a:p>
        </p:txBody>
      </p:sp>
      <p:pic>
        <p:nvPicPr>
          <p:cNvPr id="26" name="Image 4" descr="/home/user/suzuki-ceo/selfcafe-gyomu-deck/assets/icons/LuMinus-green.png">    </p:cNvPr>
          <p:cNvPicPr>
            <a:picLocks noChangeAspect="1"/>
          </p:cNvPicPr>
          <p:nvPr/>
        </p:nvPicPr>
        <p:blipFill>
          <a:blip r:embed="rId5"/>
          <a:stretch>
            <a:fillRect/>
          </a:stretch>
        </p:blipFill>
        <p:spPr>
          <a:xfrm>
            <a:off x="8725205" y="4486046"/>
            <a:ext cx="164592" cy="164592"/>
          </a:xfrm>
          <a:prstGeom prst="rect">
            <a:avLst/>
          </a:prstGeom>
        </p:spPr>
      </p:pic>
      <p:sp>
        <p:nvSpPr>
          <p:cNvPr id="27" name="Text 19"/>
          <p:cNvSpPr/>
          <p:nvPr/>
        </p:nvSpPr>
        <p:spPr>
          <a:xfrm>
            <a:off x="8999525" y="4431182"/>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水道光熱費</a:t>
            </a:r>
            <a:endParaRPr lang="en-US" sz="1000" dirty="0"/>
          </a:p>
        </p:txBody>
      </p:sp>
      <p:pic>
        <p:nvPicPr>
          <p:cNvPr id="28" name="Image 5" descr="/home/user/suzuki-ceo/selfcafe-gyomu-deck/assets/icons/LuMinus-green.png">    </p:cNvPr>
          <p:cNvPicPr>
            <a:picLocks noChangeAspect="1"/>
          </p:cNvPicPr>
          <p:nvPr/>
        </p:nvPicPr>
        <p:blipFill>
          <a:blip r:embed="rId6"/>
          <a:stretch>
            <a:fillRect/>
          </a:stretch>
        </p:blipFill>
        <p:spPr>
          <a:xfrm>
            <a:off x="8725205" y="4815230"/>
            <a:ext cx="164592" cy="164592"/>
          </a:xfrm>
          <a:prstGeom prst="rect">
            <a:avLst/>
          </a:prstGeom>
        </p:spPr>
      </p:pic>
      <p:sp>
        <p:nvSpPr>
          <p:cNvPr id="29" name="Text 20"/>
          <p:cNvSpPr/>
          <p:nvPr/>
        </p:nvSpPr>
        <p:spPr>
          <a:xfrm>
            <a:off x="8999525" y="4760366"/>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通信費</a:t>
            </a:r>
            <a:endParaRPr lang="en-US" sz="1000" dirty="0"/>
          </a:p>
        </p:txBody>
      </p:sp>
      <p:pic>
        <p:nvPicPr>
          <p:cNvPr id="30" name="Image 6" descr="/home/user/suzuki-ceo/selfcafe-gyomu-deck/assets/icons/LuMinus-green.png">    </p:cNvPr>
          <p:cNvPicPr>
            <a:picLocks noChangeAspect="1"/>
          </p:cNvPicPr>
          <p:nvPr/>
        </p:nvPicPr>
        <p:blipFill>
          <a:blip r:embed="rId7"/>
          <a:stretch>
            <a:fillRect/>
          </a:stretch>
        </p:blipFill>
        <p:spPr>
          <a:xfrm>
            <a:off x="8725205" y="5144414"/>
            <a:ext cx="164592" cy="164592"/>
          </a:xfrm>
          <a:prstGeom prst="rect">
            <a:avLst/>
          </a:prstGeom>
        </p:spPr>
      </p:pic>
      <p:sp>
        <p:nvSpPr>
          <p:cNvPr id="31" name="Text 21"/>
          <p:cNvSpPr/>
          <p:nvPr/>
        </p:nvSpPr>
        <p:spPr>
          <a:xfrm>
            <a:off x="8999525" y="5089550"/>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人件費（清掃・補充ぶん）</a:t>
            </a:r>
            <a:endParaRPr lang="en-US" sz="1000" dirty="0"/>
          </a:p>
        </p:txBody>
      </p:sp>
      <p:pic>
        <p:nvPicPr>
          <p:cNvPr id="32" name="Image 7" descr="/home/user/suzuki-ceo/selfcafe-gyomu-deck/assets/icons/LuMinus-green.png">    </p:cNvPr>
          <p:cNvPicPr>
            <a:picLocks noChangeAspect="1"/>
          </p:cNvPicPr>
          <p:nvPr/>
        </p:nvPicPr>
        <p:blipFill>
          <a:blip r:embed="rId8"/>
          <a:stretch>
            <a:fillRect/>
          </a:stretch>
        </p:blipFill>
        <p:spPr>
          <a:xfrm>
            <a:off x="8725205" y="5473598"/>
            <a:ext cx="164592" cy="164592"/>
          </a:xfrm>
          <a:prstGeom prst="rect">
            <a:avLst/>
          </a:prstGeom>
        </p:spPr>
      </p:pic>
      <p:sp>
        <p:nvSpPr>
          <p:cNvPr id="33" name="Text 22"/>
          <p:cNvSpPr/>
          <p:nvPr/>
        </p:nvSpPr>
        <p:spPr>
          <a:xfrm>
            <a:off x="8999525" y="5418734"/>
            <a:ext cx="2257654" cy="274320"/>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その他雑費</a:t>
            </a:r>
            <a:endParaRPr lang="en-US" sz="1000" dirty="0"/>
          </a:p>
        </p:txBody>
      </p:sp>
      <p:sp>
        <p:nvSpPr>
          <p:cNvPr id="34" name="Text 23"/>
          <p:cNvSpPr/>
          <p:nvPr/>
        </p:nvSpPr>
        <p:spPr>
          <a:xfrm>
            <a:off x="8706917" y="5766206"/>
            <a:ext cx="2568550" cy="219456"/>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いずれも実費精算。金額は店舗の稼働状況により変動します。</a:t>
            </a:r>
            <a:endParaRPr lang="en-US" sz="850" dirty="0"/>
          </a:p>
        </p:txBody>
      </p:sp>
      <p:sp>
        <p:nvSpPr>
          <p:cNvPr id="35" name="Text 24"/>
          <p:cNvSpPr/>
          <p:nvPr/>
        </p:nvSpPr>
        <p:spPr>
          <a:xfrm>
            <a:off x="660197" y="619963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目安の試算であり、売上・利益を保証するものではありません。金額はすべて税抜。杯数・単価は店舗条件により変動します。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貴社専用の公式LINEを新規作成できます。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デメリット：セルフカフェ公式LINEから切り離されるため問い合わせが直に届き、本部情報の発信も都度貴社側で行う必要があります。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gyomu-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gyomu-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gyomu-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gyomu-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gyomu-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内装・システム導入まで本部が実施します。運営主体も本部のため、初めての方でも安心です。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24時間体制の警備会社と遠隔監視システムにより、貴社が現場に駆けつける必要はほぼありません。顧客からの問い合わせも本部のLINEチャットで対応します。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新しく人材を採用する必要はありません。清掃・原料補充は既存スタッフで対応でき、外部委託も可能です。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営業届の提出と食品衛生責任者の設置が必要ですが、運営主体は本部のため、いずれも本部にて対応します。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gyomu-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新たに人を採用・配置する必要はありません。開業前から開業後まで本部が運営を担います。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gyomu-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gyomu-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gyomu-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gyomu-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gyomu-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gyomu-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gyomu-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gyomu-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gyomu-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gyomu-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gyomu-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gyomu-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gyomu-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gyomu-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業務委託型制度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gyomu-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gyomu-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gyomu-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gyomu-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審査通過後に業務委託契約を締結。契約期間は最低3年〜。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gyomu-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gyomu-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suzuki-ceo/selfcafe-gyomu-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gyomu-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26</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Shape 3"/>
          <p:cNvSpPr/>
          <p:nvPr/>
        </p:nvSpPr>
        <p:spPr>
          <a:xfrm>
            <a:off x="812902" y="3931920"/>
            <a:ext cx="457200" cy="457200"/>
          </a:xfrm>
          <a:prstGeom prst="ellipse">
            <a:avLst/>
          </a:prstGeom>
          <a:solidFill>
            <a:srgbClr val="17553A"/>
          </a:solidFill>
          <a:ln/>
        </p:spPr>
      </p:sp>
      <p:pic>
        <p:nvPicPr>
          <p:cNvPr id="8" name="Image 2" descr="/home/user/suzuki-ceo/selfcafe-gyomu-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9" name="Text 4"/>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0" name="Text 5"/>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052-879-3557</a:t>
            </a:r>
            <a:endParaRPr lang="en-US" sz="1700" dirty="0"/>
          </a:p>
        </p:txBody>
      </p:sp>
      <p:sp>
        <p:nvSpPr>
          <p:cNvPr id="11" name="Shape 6"/>
          <p:cNvSpPr/>
          <p:nvPr/>
        </p:nvSpPr>
        <p:spPr>
          <a:xfrm>
            <a:off x="812902" y="4645152"/>
            <a:ext cx="457200" cy="457200"/>
          </a:xfrm>
          <a:prstGeom prst="ellipse">
            <a:avLst/>
          </a:prstGeom>
          <a:solidFill>
            <a:srgbClr val="17553A"/>
          </a:solidFill>
          <a:ln/>
        </p:spPr>
      </p:sp>
      <p:pic>
        <p:nvPicPr>
          <p:cNvPr id="12" name="Image 3" descr="/home/user/suzuki-ceo/selfcafe-gyomu-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3" name="Text 7"/>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4" name="Text 8"/>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info@selfcafe.jp</a:t>
            </a:r>
            <a:endParaRPr lang="en-US" sz="1700" dirty="0"/>
          </a:p>
        </p:txBody>
      </p:sp>
      <p:sp>
        <p:nvSpPr>
          <p:cNvPr id="15" name="Shape 9"/>
          <p:cNvSpPr/>
          <p:nvPr/>
        </p:nvSpPr>
        <p:spPr>
          <a:xfrm>
            <a:off x="812902" y="5358384"/>
            <a:ext cx="457200" cy="457200"/>
          </a:xfrm>
          <a:prstGeom prst="ellipse">
            <a:avLst/>
          </a:prstGeom>
          <a:solidFill>
            <a:srgbClr val="17553A"/>
          </a:solidFill>
          <a:ln/>
        </p:spPr>
      </p:sp>
      <p:pic>
        <p:nvPicPr>
          <p:cNvPr id="16" name="Image 4" descr="/home/user/suzuki-ceo/selfcafe-gyomu-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7" name="Text 10"/>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18" name="Text 11"/>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19" name="Text 12"/>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業務委託型制度</dc:title>
  <dc:subject>PptxGenJS Presentation</dc:subject>
  <dc:creator>セルフカフェ株式会社</dc:creator>
  <cp:lastModifiedBy>セルフカフェ株式会社</cp:lastModifiedBy>
  <cp:revision>1</cp:revision>
  <dcterms:created xsi:type="dcterms:W3CDTF">2026-09-01T04:21:05Z</dcterms:created>
  <dcterms:modified xsi:type="dcterms:W3CDTF">2026-09-01T04:21:05Z</dcterms:modified>
</cp:coreProperties>
</file>