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grouping val="standard"/>
        <c:varyColors val="0"/>
        <c:ser>
          <c:idx val="0"/>
          <c:order val="0"/>
          <c:tx>
            <c:strRef>
              <c:f>Sheet1!$B$1</c:f>
              <c:strCache>
                <c:ptCount val="1"/>
                <c:pt idx="0">
                  <c:v>自社物件（月47万円）</c:v>
                </c:pt>
              </c:strCache>
            </c:strRef>
          </c:tx>
          <c:spPr>
            <a:solidFill>
              <a:srgbClr val="106838"/>
            </a:solidFill>
            <a:ln w="34925" cap="flat">
              <a:solidFill>
                <a:srgbClr val="106838"/>
              </a:solidFill>
              <a:prstDash val="solid"/>
              <a:round/>
            </a:ln>
            <a:effectLst/>
          </c:spPr>
          <c:marker>
            <c:symbol val="circle"/>
            <c:size val="6"/>
            <c:spPr>
              <a:solidFill>
                <a:srgbClr val="106838"/>
              </a:solidFill>
              <a:ln w="9525" cap="flat">
                <a:solidFill>
                  <a:srgbClr val="106838"/>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Sheet1!$B$2:$B$14</c:f>
              <c:numCache>
                <c:formatCode>General</c:formatCode>
                <c:ptCount val="13"/>
                <c:pt idx="0">
                  <c:v>-800</c:v>
                </c:pt>
                <c:pt idx="1">
                  <c:v>-659</c:v>
                </c:pt>
                <c:pt idx="2">
                  <c:v>-518</c:v>
                </c:pt>
                <c:pt idx="3">
                  <c:v>-377</c:v>
                </c:pt>
                <c:pt idx="4">
                  <c:v>-236</c:v>
                </c:pt>
                <c:pt idx="5">
                  <c:v>-95</c:v>
                </c:pt>
                <c:pt idx="6">
                  <c:v>46</c:v>
                </c:pt>
                <c:pt idx="7">
                  <c:v>187</c:v>
                </c:pt>
                <c:pt idx="8">
                  <c:v>328</c:v>
                </c:pt>
                <c:pt idx="9">
                  <c:v>469</c:v>
                </c:pt>
                <c:pt idx="10">
                  <c:v>610</c:v>
                </c:pt>
                <c:pt idx="11">
                  <c:v>751</c:v>
                </c:pt>
                <c:pt idx="12">
                  <c:v>892</c:v>
                </c:pt>
              </c:numCache>
            </c:numRef>
          </c:val>
          <c:smooth val="0"/>
        </c:ser>
        <c:ser>
          <c:idx val="1"/>
          <c:order val="1"/>
          <c:tx>
            <c:strRef>
              <c:f>Sheet1!$C$1</c:f>
              <c:strCache>
                <c:ptCount val="1"/>
                <c:pt idx="0">
                  <c:v>賃貸（月27万円）</c:v>
                </c:pt>
              </c:strCache>
            </c:strRef>
          </c:tx>
          <c:spPr>
            <a:solidFill>
              <a:srgbClr val="A8761F"/>
            </a:solidFill>
            <a:ln w="34925" cap="flat">
              <a:solidFill>
                <a:srgbClr val="A8761F"/>
              </a:solidFill>
              <a:prstDash val="solid"/>
              <a:round/>
            </a:ln>
            <a:effectLst/>
          </c:spPr>
          <c:marker>
            <c:symbol val="circle"/>
            <c:size val="6"/>
            <c:spPr>
              <a:solidFill>
                <a:srgbClr val="A8761F"/>
              </a:solidFill>
              <a:ln w="9525" cap="flat">
                <a:solidFill>
                  <a:srgbClr val="A8761F"/>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Sheet1!$C$2:$C$14</c:f>
              <c:numCache>
                <c:formatCode>General</c:formatCode>
                <c:ptCount val="13"/>
                <c:pt idx="0">
                  <c:v>-800</c:v>
                </c:pt>
                <c:pt idx="1">
                  <c:v>-719</c:v>
                </c:pt>
                <c:pt idx="2">
                  <c:v>-638</c:v>
                </c:pt>
                <c:pt idx="3">
                  <c:v>-557</c:v>
                </c:pt>
                <c:pt idx="4">
                  <c:v>-476</c:v>
                </c:pt>
                <c:pt idx="5">
                  <c:v>-395</c:v>
                </c:pt>
                <c:pt idx="6">
                  <c:v>-314</c:v>
                </c:pt>
                <c:pt idx="7">
                  <c:v>-233</c:v>
                </c:pt>
                <c:pt idx="8">
                  <c:v>-152</c:v>
                </c:pt>
                <c:pt idx="9">
                  <c:v>-71</c:v>
                </c:pt>
                <c:pt idx="10">
                  <c:v>10</c:v>
                </c:pt>
                <c:pt idx="11">
                  <c:v>91</c:v>
                </c:pt>
                <c:pt idx="12">
                  <c:v>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000"/>
          <c:min val="-100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E8882"/>
                </a:solidFill>
                <a:latin typeface="Arial"/>
              </a:defRPr>
            </a:pPr>
            <a:endParaRPr lang="en-US"/>
          </a:p>
        </c:txPr>
        <c:crossAx val="2094734554"/>
        <c:crosses val="autoZero"/>
        <c:crossBetween val="between"/>
        <c:majorUnit val="200"/>
      </c:valAx>
      <c:spPr>
        <a:noFill/>
        <a:ln>
          <a:noFill/>
        </a:ln>
        <a:effectLst/>
      </c:spPr>
    </c:plotArea>
    <c:legend>
      <c:legendPos val="b"/>
      <c:overlay val="0"/>
      <c:txPr>
        <a:bodyPr/>
        <a:lstStyle/>
        <a:p>
          <a:pPr>
            <a:defRPr sz="100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3.png"/><Relationship Id="rId5" Type="http://schemas.openxmlformats.org/officeDocument/2006/relationships/image" Target="../media/image-29-3.png"/><Relationship Id="rId6" Type="http://schemas.openxmlformats.org/officeDocument/2006/relationships/image" Target="../media/image-29-3.png"/><Relationship Id="rId7" Type="http://schemas.openxmlformats.org/officeDocument/2006/relationships/image" Target="../media/image-29-3.png"/><Relationship Id="rId8" Type="http://schemas.openxmlformats.org/officeDocument/2006/relationships/image" Target="../media/image-29-8.png"/><Relationship Id="rId9" Type="http://schemas.openxmlformats.org/officeDocument/2006/relationships/image" Target="../media/image-29-3.png"/><Relationship Id="rId10" Type="http://schemas.openxmlformats.org/officeDocument/2006/relationships/image" Target="../media/image-29-3.png"/><Relationship Id="rId11" Type="http://schemas.openxmlformats.org/officeDocument/2006/relationships/image" Target="../media/image-29-3.png"/><Relationship Id="rId12" Type="http://schemas.openxmlformats.org/officeDocument/2006/relationships/image" Target="../media/image-29-3.png"/><Relationship Id="rId13" Type="http://schemas.openxmlformats.org/officeDocument/2006/relationships/image" Target="../media/image-29-3.png"/><Relationship Id="rId14" Type="http://schemas.openxmlformats.org/officeDocument/2006/relationships/image" Target="../media/image-29-14.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営業時間も任意設定可能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セルフカフェFCとは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貸すのではなく、自分で持つ「省人型テナント」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セルフカフェは、ドリンク1杯で時間制限なく使える無人のカフェ型ワークスペースです。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Text 6"/>
          <p:cNvSpPr/>
          <p:nvPr/>
        </p:nvSpPr>
        <p:spPr>
          <a:xfrm>
            <a:off x="660197" y="1687982"/>
            <a:ext cx="6309360" cy="658368"/>
          </a:xfrm>
          <a:prstGeom prst="rect">
            <a:avLst/>
          </a:prstGeom>
          <a:noFill/>
          <a:ln/>
        </p:spPr>
        <p:txBody>
          <a:bodyPr wrap="square" lIns="0" tIns="0" rIns="0" bIns="0" rtlCol="0" anchor="t"/>
          <a:lstStyle/>
          <a:p>
            <a:pPr indent="0" marL="0">
              <a:lnSpc>
                <a:spcPct val="150000"/>
              </a:lnSpc>
              <a:buNone/>
            </a:pPr>
            <a:r>
              <a:rPr lang="en-US" sz="1200" dirty="0">
                <a:solidFill>
                  <a:srgbClr val="0A3D23"/>
                </a:solidFill>
                <a:latin typeface="Yu Gothic" pitchFamily="34" charset="0"/>
                <a:ea typeface="Yu Gothic" pitchFamily="34" charset="-122"/>
                <a:cs typeface="Yu Gothic" pitchFamily="34" charset="-120"/>
              </a:rPr>
              <a:t>空きテナントに入居者を探すのではなく、オーナー自身が低投資で運営する「収益事業」として、遊休スペースを稼働資産に変えます。</a:t>
            </a:r>
            <a:endParaRPr lang="en-US" sz="1200" dirty="0"/>
          </a:p>
        </p:txBody>
      </p:sp>
      <p:sp>
        <p:nvSpPr>
          <p:cNvPr id="10" name="Text 7"/>
          <p:cNvSpPr/>
          <p:nvPr/>
        </p:nvSpPr>
        <p:spPr>
          <a:xfrm>
            <a:off x="660197" y="2437790"/>
            <a:ext cx="6309360" cy="27432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労働力不足 ／ 手頃な作業場所の不足 ／ 遊休不動産の増加 —— 3つの社会課題が需要をつくっています。</a:t>
            </a:r>
            <a:endParaRPr lang="en-US" sz="1000" dirty="0"/>
          </a:p>
        </p:txBody>
      </p:sp>
      <p:sp>
        <p:nvSpPr>
          <p:cNvPr id="11" name="Shape 8"/>
          <p:cNvSpPr/>
          <p:nvPr/>
        </p:nvSpPr>
        <p:spPr>
          <a:xfrm>
            <a:off x="660197" y="2876702"/>
            <a:ext cx="3017520" cy="1481328"/>
          </a:xfrm>
          <a:prstGeom prst="roundRect">
            <a:avLst>
              <a:gd name="adj" fmla="val 3704"/>
            </a:avLst>
          </a:prstGeom>
          <a:solidFill>
            <a:srgbClr val="FFFFFF"/>
          </a:solidFill>
          <a:ln w="9525">
            <a:solidFill>
              <a:srgbClr val="EFEAE0"/>
            </a:solidFill>
            <a:prstDash val="solid"/>
          </a:ln>
        </p:spPr>
      </p:sp>
      <p:sp>
        <p:nvSpPr>
          <p:cNvPr id="12" name="Text 9"/>
          <p:cNvSpPr/>
          <p:nvPr/>
        </p:nvSpPr>
        <p:spPr>
          <a:xfrm>
            <a:off x="91622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必要面積</a:t>
            </a:r>
            <a:endParaRPr lang="en-US" sz="1050" dirty="0"/>
          </a:p>
        </p:txBody>
      </p:sp>
      <p:sp>
        <p:nvSpPr>
          <p:cNvPr id="13" name="Text 10"/>
          <p:cNvSpPr/>
          <p:nvPr/>
        </p:nvSpPr>
        <p:spPr>
          <a:xfrm>
            <a:off x="91622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20</a:t>
            </a:r>
            <a:r>
              <a:rPr lang="en-US" sz="1500" b="1" dirty="0">
                <a:solidFill>
                  <a:srgbClr val="106838"/>
                </a:solidFill>
                <a:latin typeface="Yu Gothic" pitchFamily="34" charset="0"/>
                <a:ea typeface="Yu Gothic" pitchFamily="34" charset="-122"/>
                <a:cs typeface="Yu Gothic" pitchFamily="34" charset="-120"/>
              </a:rPr>
              <a:t> 坪〜</a:t>
            </a:r>
            <a:endParaRPr lang="en-US" sz="3200" dirty="0"/>
          </a:p>
        </p:txBody>
      </p:sp>
      <p:sp>
        <p:nvSpPr>
          <p:cNvPr id="14" name="Text 11"/>
          <p:cNvSpPr/>
          <p:nvPr/>
        </p:nvSpPr>
        <p:spPr>
          <a:xfrm>
            <a:off x="91622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既存施設の一角でも可</a:t>
            </a:r>
            <a:endParaRPr lang="en-US" sz="950" dirty="0"/>
          </a:p>
        </p:txBody>
      </p:sp>
      <p:sp>
        <p:nvSpPr>
          <p:cNvPr id="15" name="Shape 12"/>
          <p:cNvSpPr/>
          <p:nvPr/>
        </p:nvSpPr>
        <p:spPr>
          <a:xfrm>
            <a:off x="3952037" y="2876702"/>
            <a:ext cx="3017520" cy="1481328"/>
          </a:xfrm>
          <a:prstGeom prst="roundRect">
            <a:avLst>
              <a:gd name="adj" fmla="val 3704"/>
            </a:avLst>
          </a:prstGeom>
          <a:solidFill>
            <a:srgbClr val="FFFFFF"/>
          </a:solidFill>
          <a:ln w="9525">
            <a:solidFill>
              <a:srgbClr val="EFEAE0"/>
            </a:solidFill>
            <a:prstDash val="solid"/>
          </a:ln>
        </p:spPr>
      </p:sp>
      <p:sp>
        <p:nvSpPr>
          <p:cNvPr id="16" name="Text 13"/>
          <p:cNvSpPr/>
          <p:nvPr/>
        </p:nvSpPr>
        <p:spPr>
          <a:xfrm>
            <a:off x="420806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利用料</a:t>
            </a:r>
            <a:endParaRPr lang="en-US" sz="1050" dirty="0"/>
          </a:p>
        </p:txBody>
      </p:sp>
      <p:sp>
        <p:nvSpPr>
          <p:cNvPr id="17" name="Text 14"/>
          <p:cNvSpPr/>
          <p:nvPr/>
        </p:nvSpPr>
        <p:spPr>
          <a:xfrm>
            <a:off x="420806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420</a:t>
            </a:r>
            <a:r>
              <a:rPr lang="en-US" sz="1500" b="1" dirty="0">
                <a:solidFill>
                  <a:srgbClr val="106838"/>
                </a:solidFill>
                <a:latin typeface="Yu Gothic" pitchFamily="34" charset="0"/>
                <a:ea typeface="Yu Gothic" pitchFamily="34" charset="-122"/>
                <a:cs typeface="Yu Gothic" pitchFamily="34" charset="-120"/>
              </a:rPr>
              <a:t> 円〜</a:t>
            </a:r>
            <a:endParaRPr lang="en-US" sz="3200" dirty="0"/>
          </a:p>
        </p:txBody>
      </p:sp>
      <p:sp>
        <p:nvSpPr>
          <p:cNvPr id="18" name="Text 15"/>
          <p:cNvSpPr/>
          <p:nvPr/>
        </p:nvSpPr>
        <p:spPr>
          <a:xfrm>
            <a:off x="420806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1杯で滞在無制限・登録不要</a:t>
            </a:r>
            <a:endParaRPr lang="en-US" sz="950" dirty="0"/>
          </a:p>
        </p:txBody>
      </p:sp>
      <p:sp>
        <p:nvSpPr>
          <p:cNvPr id="19" name="Shape 16"/>
          <p:cNvSpPr/>
          <p:nvPr/>
        </p:nvSpPr>
        <p:spPr>
          <a:xfrm>
            <a:off x="660197" y="4577486"/>
            <a:ext cx="3017520" cy="1481328"/>
          </a:xfrm>
          <a:prstGeom prst="roundRect">
            <a:avLst>
              <a:gd name="adj" fmla="val 3704"/>
            </a:avLst>
          </a:prstGeom>
          <a:solidFill>
            <a:srgbClr val="FFFFFF"/>
          </a:solidFill>
          <a:ln w="9525">
            <a:solidFill>
              <a:srgbClr val="EFEAE0"/>
            </a:solidFill>
            <a:prstDash val="solid"/>
          </a:ln>
        </p:spPr>
      </p:sp>
      <p:sp>
        <p:nvSpPr>
          <p:cNvPr id="20" name="Text 17"/>
          <p:cNvSpPr/>
          <p:nvPr/>
        </p:nvSpPr>
        <p:spPr>
          <a:xfrm>
            <a:off x="91622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営業時間</a:t>
            </a:r>
            <a:endParaRPr lang="en-US" sz="1050" dirty="0"/>
          </a:p>
        </p:txBody>
      </p:sp>
      <p:sp>
        <p:nvSpPr>
          <p:cNvPr id="21" name="Text 18"/>
          <p:cNvSpPr/>
          <p:nvPr/>
        </p:nvSpPr>
        <p:spPr>
          <a:xfrm>
            <a:off x="91622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24</a:t>
            </a:r>
            <a:r>
              <a:rPr lang="en-US" sz="1500" b="1" dirty="0">
                <a:solidFill>
                  <a:srgbClr val="106838"/>
                </a:solidFill>
                <a:latin typeface="Yu Gothic" pitchFamily="34" charset="0"/>
                <a:ea typeface="Yu Gothic" pitchFamily="34" charset="-122"/>
                <a:cs typeface="Yu Gothic" pitchFamily="34" charset="-120"/>
              </a:rPr>
              <a:t> 時間可</a:t>
            </a:r>
            <a:endParaRPr lang="en-US" sz="3200" dirty="0"/>
          </a:p>
        </p:txBody>
      </p:sp>
      <p:sp>
        <p:nvSpPr>
          <p:cNvPr id="22" name="Text 19"/>
          <p:cNvSpPr/>
          <p:nvPr/>
        </p:nvSpPr>
        <p:spPr>
          <a:xfrm>
            <a:off x="91622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無人・年中無休も設定可能</a:t>
            </a:r>
            <a:endParaRPr lang="en-US" sz="950" dirty="0"/>
          </a:p>
        </p:txBody>
      </p:sp>
      <p:sp>
        <p:nvSpPr>
          <p:cNvPr id="23" name="Shape 20"/>
          <p:cNvSpPr/>
          <p:nvPr/>
        </p:nvSpPr>
        <p:spPr>
          <a:xfrm>
            <a:off x="3952037" y="4577486"/>
            <a:ext cx="3017520" cy="1481328"/>
          </a:xfrm>
          <a:prstGeom prst="roundRect">
            <a:avLst>
              <a:gd name="adj" fmla="val 3704"/>
            </a:avLst>
          </a:prstGeom>
          <a:solidFill>
            <a:srgbClr val="FFFFFF"/>
          </a:solidFill>
          <a:ln w="9525">
            <a:solidFill>
              <a:srgbClr val="EFEAE0"/>
            </a:solidFill>
            <a:prstDash val="solid"/>
          </a:ln>
        </p:spPr>
      </p:sp>
      <p:sp>
        <p:nvSpPr>
          <p:cNvPr id="24" name="Text 21"/>
          <p:cNvSpPr/>
          <p:nvPr/>
        </p:nvSpPr>
        <p:spPr>
          <a:xfrm>
            <a:off x="420806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新規採用</a:t>
            </a:r>
            <a:endParaRPr lang="en-US" sz="1050" dirty="0"/>
          </a:p>
        </p:txBody>
      </p:sp>
      <p:sp>
        <p:nvSpPr>
          <p:cNvPr id="25" name="Text 22"/>
          <p:cNvSpPr/>
          <p:nvPr/>
        </p:nvSpPr>
        <p:spPr>
          <a:xfrm>
            <a:off x="420806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0</a:t>
            </a:r>
            <a:r>
              <a:rPr lang="en-US" sz="1500" b="1" dirty="0">
                <a:solidFill>
                  <a:srgbClr val="106838"/>
                </a:solidFill>
                <a:latin typeface="Yu Gothic" pitchFamily="34" charset="0"/>
                <a:ea typeface="Yu Gothic" pitchFamily="34" charset="-122"/>
                <a:cs typeface="Yu Gothic" pitchFamily="34" charset="-120"/>
              </a:rPr>
              <a:t> 人</a:t>
            </a:r>
            <a:endParaRPr lang="en-US" sz="3200" dirty="0"/>
          </a:p>
        </p:txBody>
      </p:sp>
      <p:sp>
        <p:nvSpPr>
          <p:cNvPr id="26" name="Text 23"/>
          <p:cNvSpPr/>
          <p:nvPr/>
        </p:nvSpPr>
        <p:spPr>
          <a:xfrm>
            <a:off x="420806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既存スタッフの稼働内で運営</a:t>
            </a:r>
            <a:endParaRPr lang="en-US" sz="950" dirty="0"/>
          </a:p>
        </p:txBody>
      </p:sp>
      <p:pic>
        <p:nvPicPr>
          <p:cNvPr id="27" name="Image 1" descr="/home/user/suzuki-ceo/selfcafe-partner-deck/assets/photos/.crops/p16-support-457x450.jpg">    </p:cNvPr>
          <p:cNvPicPr>
            <a:picLocks noChangeAspect="1"/>
          </p:cNvPicPr>
          <p:nvPr/>
        </p:nvPicPr>
        <p:blipFill>
          <a:blip r:embed="rId2"/>
          <a:stretch>
            <a:fillRect/>
          </a:stretch>
        </p:blipFill>
        <p:spPr>
          <a:xfrm>
            <a:off x="7353605" y="1651406"/>
            <a:ext cx="4177894" cy="4114800"/>
          </a:xfrm>
          <a:prstGeom prst="rect">
            <a:avLst/>
          </a:prstGeom>
        </p:spPr>
      </p:pic>
      <p:sp>
        <p:nvSpPr>
          <p:cNvPr id="28" name="Shape 24"/>
          <p:cNvSpPr/>
          <p:nvPr/>
        </p:nvSpPr>
        <p:spPr>
          <a:xfrm>
            <a:off x="7353605" y="1651406"/>
            <a:ext cx="4177894" cy="4114800"/>
          </a:xfrm>
          <a:prstGeom prst="rect">
            <a:avLst/>
          </a:prstGeom>
          <a:ln w="12700">
            <a:solidFill>
              <a:srgbClr val="D8D2C6"/>
            </a:solidFill>
            <a:prstDash val="solid"/>
          </a:ln>
        </p:spPr>
      </p:sp>
      <p:sp>
        <p:nvSpPr>
          <p:cNvPr id="29" name="Text 25"/>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予約不要・会員登録不要。二次利用（貸しスペース・物販等）の可否は立地・契約条件により異なります。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自社物件の優位性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空いている20坪を、人を増やさず収益資産へ。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最大の固定費「家賃」がゼロ。利益は1.7倍、回収期間は約半分になります。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必要面積（既存事業の一角でも可）</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人</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新規採用（既存人員のまま）</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a:t>
            </a:r>
            <a:endParaRPr lang="en-US" sz="900" dirty="0"/>
          </a:p>
        </p:txBody>
      </p:sp>
      <p:sp>
        <p:nvSpPr>
          <p:cNvPr id="18" name="Shape 15"/>
          <p:cNvSpPr/>
          <p:nvPr/>
        </p:nvSpPr>
        <p:spPr>
          <a:xfrm>
            <a:off x="8928202" y="1651406"/>
            <a:ext cx="2603297" cy="609905"/>
          </a:xfrm>
          <a:prstGeom prst="roundRect">
            <a:avLst>
              <a:gd name="adj" fmla="val 7496"/>
            </a:avLst>
          </a:prstGeom>
          <a:solidFill>
            <a:srgbClr val="FBF4E4"/>
          </a:solidFill>
          <a:ln w="9525">
            <a:solidFill>
              <a:srgbClr val="E7D3A8"/>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A8761F"/>
                </a:solidFill>
                <a:latin typeface="Arial" pitchFamily="34" charset="0"/>
                <a:ea typeface="Arial" pitchFamily="34" charset="-122"/>
                <a:cs typeface="Arial" pitchFamily="34" charset="-120"/>
              </a:rPr>
              <a:t>0</a:t>
            </a:r>
            <a:r>
              <a:rPr lang="en-US" sz="1100" b="1" dirty="0">
                <a:solidFill>
                  <a:srgbClr val="A8761F"/>
                </a:solidFill>
                <a:latin typeface="Yu Gothic" pitchFamily="34" charset="0"/>
                <a:ea typeface="Yu Gothic" pitchFamily="34" charset="-122"/>
                <a:cs typeface="Yu Gothic" pitchFamily="34" charset="-120"/>
              </a:rPr>
              <a:t> 円</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空室のままの機会収益</a:t>
            </a:r>
            <a:endParaRPr lang="en-US" sz="900" dirty="0"/>
          </a:p>
        </p:txBody>
      </p:sp>
      <p:sp>
        <p:nvSpPr>
          <p:cNvPr id="21" name="Shape 18"/>
          <p:cNvSpPr/>
          <p:nvPr/>
        </p:nvSpPr>
        <p:spPr>
          <a:xfrm>
            <a:off x="660197" y="2492654"/>
            <a:ext cx="3145536" cy="3017520"/>
          </a:xfrm>
          <a:prstGeom prst="roundRect">
            <a:avLst>
              <a:gd name="adj" fmla="val 1818"/>
            </a:avLst>
          </a:prstGeom>
          <a:solidFill>
            <a:srgbClr val="F1F8F3"/>
          </a:solidFill>
          <a:ln w="9525">
            <a:solidFill>
              <a:srgbClr val="D2E7DA"/>
            </a:solidFill>
            <a:prstDash val="solid"/>
          </a:ln>
        </p:spPr>
      </p:sp>
      <p:sp>
        <p:nvSpPr>
          <p:cNvPr id="22" name="Text 19"/>
          <p:cNvSpPr/>
          <p:nvPr/>
        </p:nvSpPr>
        <p:spPr>
          <a:xfrm>
            <a:off x="934517" y="2730398"/>
            <a:ext cx="2596896" cy="274320"/>
          </a:xfrm>
          <a:prstGeom prst="rect">
            <a:avLst/>
          </a:prstGeom>
          <a:noFill/>
          <a:ln/>
        </p:spPr>
        <p:txBody>
          <a:bodyPr wrap="square" lIns="0" tIns="0" rIns="0" bIns="0" rtlCol="0" anchor="ctr"/>
          <a:lstStyle/>
          <a:p>
            <a:pPr indent="0" marL="0">
              <a:buNone/>
            </a:pPr>
            <a:r>
              <a:rPr lang="en-US" sz="1200" b="1" dirty="0">
                <a:solidFill>
                  <a:srgbClr val="7E8882"/>
                </a:solidFill>
                <a:latin typeface="Yu Gothic" pitchFamily="34" charset="0"/>
                <a:ea typeface="Yu Gothic" pitchFamily="34" charset="-122"/>
                <a:cs typeface="Yu Gothic" pitchFamily="34" charset="-120"/>
              </a:rPr>
              <a:t>賃貸物件で開業</a:t>
            </a:r>
            <a:endParaRPr lang="en-US" sz="1200" dirty="0"/>
          </a:p>
        </p:txBody>
      </p:sp>
      <p:sp>
        <p:nvSpPr>
          <p:cNvPr id="23" name="Text 20"/>
          <p:cNvSpPr/>
          <p:nvPr/>
        </p:nvSpPr>
        <p:spPr>
          <a:xfrm>
            <a:off x="934517" y="3059582"/>
            <a:ext cx="2596896" cy="676656"/>
          </a:xfrm>
          <a:prstGeom prst="rect">
            <a:avLst/>
          </a:prstGeom>
          <a:noFill/>
          <a:ln/>
        </p:spPr>
        <p:txBody>
          <a:bodyPr wrap="square" lIns="0" tIns="0" rIns="0" bIns="0" rtlCol="0" anchor="ctr"/>
          <a:lstStyle/>
          <a:p>
            <a:pPr indent="0" marL="0">
              <a:buNone/>
            </a:pPr>
            <a:r>
              <a:rPr lang="en-US" sz="3800" b="1" dirty="0">
                <a:solidFill>
                  <a:srgbClr val="106838"/>
                </a:solidFill>
                <a:latin typeface="Arial" pitchFamily="34" charset="0"/>
                <a:ea typeface="Arial" pitchFamily="34" charset="-122"/>
                <a:cs typeface="Arial" pitchFamily="34" charset="-120"/>
              </a:rPr>
              <a:t>27</a:t>
            </a:r>
            <a:r>
              <a:rPr lang="en-US" sz="1500" b="1" dirty="0">
                <a:solidFill>
                  <a:srgbClr val="106838"/>
                </a:solidFill>
                <a:latin typeface="Yu Gothic" pitchFamily="34" charset="0"/>
                <a:ea typeface="Yu Gothic" pitchFamily="34" charset="-122"/>
                <a:cs typeface="Yu Gothic" pitchFamily="34" charset="-120"/>
              </a:rPr>
              <a:t> 万円</a:t>
            </a:r>
            <a:endParaRPr lang="en-US" sz="3800" dirty="0"/>
          </a:p>
        </p:txBody>
      </p:sp>
      <p:sp>
        <p:nvSpPr>
          <p:cNvPr id="24" name="Text 21"/>
          <p:cNvSpPr/>
          <p:nvPr/>
        </p:nvSpPr>
        <p:spPr>
          <a:xfrm>
            <a:off x="934517" y="3772814"/>
            <a:ext cx="2596896" cy="237744"/>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月間利益（75杯／日・償却前）</a:t>
            </a:r>
            <a:endParaRPr lang="en-US" sz="950" dirty="0"/>
          </a:p>
        </p:txBody>
      </p:sp>
      <p:sp>
        <p:nvSpPr>
          <p:cNvPr id="25" name="Shape 22"/>
          <p:cNvSpPr/>
          <p:nvPr/>
        </p:nvSpPr>
        <p:spPr>
          <a:xfrm>
            <a:off x="934517" y="4175150"/>
            <a:ext cx="2596896" cy="10058"/>
          </a:xfrm>
          <a:prstGeom prst="rect">
            <a:avLst/>
          </a:prstGeom>
          <a:solidFill>
            <a:srgbClr val="D2E7DA"/>
          </a:solidFill>
          <a:ln/>
        </p:spPr>
      </p:sp>
      <p:sp>
        <p:nvSpPr>
          <p:cNvPr id="26" name="Text 23"/>
          <p:cNvSpPr/>
          <p:nvPr/>
        </p:nvSpPr>
        <p:spPr>
          <a:xfrm>
            <a:off x="934517" y="4321454"/>
            <a:ext cx="2596896" cy="347472"/>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回収期間 約30ヶ月</a:t>
            </a:r>
            <a:endParaRPr lang="en-US" sz="1350" dirty="0"/>
          </a:p>
        </p:txBody>
      </p:sp>
      <p:sp>
        <p:nvSpPr>
          <p:cNvPr id="27" name="Shape 24"/>
          <p:cNvSpPr/>
          <p:nvPr/>
        </p:nvSpPr>
        <p:spPr>
          <a:xfrm>
            <a:off x="4080053" y="2492654"/>
            <a:ext cx="3145536" cy="3017520"/>
          </a:xfrm>
          <a:prstGeom prst="roundRect">
            <a:avLst>
              <a:gd name="adj" fmla="val 1818"/>
            </a:avLst>
          </a:prstGeom>
          <a:solidFill>
            <a:srgbClr val="0C5230"/>
          </a:solidFill>
          <a:ln/>
        </p:spPr>
      </p:sp>
      <p:sp>
        <p:nvSpPr>
          <p:cNvPr id="28" name="Text 25"/>
          <p:cNvSpPr/>
          <p:nvPr/>
        </p:nvSpPr>
        <p:spPr>
          <a:xfrm>
            <a:off x="4354373" y="2730398"/>
            <a:ext cx="2596896"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自社物件で開業</a:t>
            </a:r>
            <a:endParaRPr lang="en-US" sz="1200" dirty="0"/>
          </a:p>
        </p:txBody>
      </p:sp>
      <p:sp>
        <p:nvSpPr>
          <p:cNvPr id="29" name="Text 26"/>
          <p:cNvSpPr/>
          <p:nvPr/>
        </p:nvSpPr>
        <p:spPr>
          <a:xfrm>
            <a:off x="4354373" y="3059582"/>
            <a:ext cx="2596896" cy="676656"/>
          </a:xfrm>
          <a:prstGeom prst="rect">
            <a:avLst/>
          </a:prstGeom>
          <a:noFill/>
          <a:ln/>
        </p:spPr>
        <p:txBody>
          <a:bodyPr wrap="square" lIns="0" tIns="0" rIns="0" bIns="0" rtlCol="0" anchor="ctr"/>
          <a:lstStyle/>
          <a:p>
            <a:pPr indent="0" marL="0">
              <a:buNone/>
            </a:pPr>
            <a:r>
              <a:rPr lang="en-US" sz="3800" b="1" dirty="0">
                <a:solidFill>
                  <a:srgbClr val="F0C05A"/>
                </a:solidFill>
                <a:latin typeface="Arial" pitchFamily="34" charset="0"/>
                <a:ea typeface="Arial" pitchFamily="34" charset="-122"/>
                <a:cs typeface="Arial" pitchFamily="34" charset="-120"/>
              </a:rPr>
              <a:t>47</a:t>
            </a:r>
            <a:r>
              <a:rPr lang="en-US" sz="1500" b="1" dirty="0">
                <a:solidFill>
                  <a:srgbClr val="F0C05A"/>
                </a:solidFill>
                <a:latin typeface="Yu Gothic" pitchFamily="34" charset="0"/>
                <a:ea typeface="Yu Gothic" pitchFamily="34" charset="-122"/>
                <a:cs typeface="Yu Gothic" pitchFamily="34" charset="-120"/>
              </a:rPr>
              <a:t> 万円</a:t>
            </a:r>
            <a:endParaRPr lang="en-US" sz="3800" dirty="0"/>
          </a:p>
        </p:txBody>
      </p:sp>
      <p:sp>
        <p:nvSpPr>
          <p:cNvPr id="30" name="Text 27"/>
          <p:cNvSpPr/>
          <p:nvPr/>
        </p:nvSpPr>
        <p:spPr>
          <a:xfrm>
            <a:off x="4354373" y="3772814"/>
            <a:ext cx="2596896" cy="237744"/>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月間利益（75杯／日・償却前）</a:t>
            </a:r>
            <a:endParaRPr lang="en-US" sz="950" dirty="0"/>
          </a:p>
        </p:txBody>
      </p:sp>
      <p:sp>
        <p:nvSpPr>
          <p:cNvPr id="31" name="Shape 28"/>
          <p:cNvSpPr/>
          <p:nvPr/>
        </p:nvSpPr>
        <p:spPr>
          <a:xfrm>
            <a:off x="4354373" y="4175150"/>
            <a:ext cx="2596896" cy="10058"/>
          </a:xfrm>
          <a:prstGeom prst="rect">
            <a:avLst/>
          </a:prstGeom>
          <a:solidFill>
            <a:srgbClr val="2A7A4E"/>
          </a:solidFill>
          <a:ln/>
        </p:spPr>
      </p:sp>
      <p:sp>
        <p:nvSpPr>
          <p:cNvPr id="32" name="Text 29"/>
          <p:cNvSpPr/>
          <p:nvPr/>
        </p:nvSpPr>
        <p:spPr>
          <a:xfrm>
            <a:off x="4354373" y="4321454"/>
            <a:ext cx="2596896" cy="347472"/>
          </a:xfrm>
          <a:prstGeom prst="rect">
            <a:avLst/>
          </a:prstGeom>
          <a:noFill/>
          <a:ln/>
        </p:spPr>
        <p:txBody>
          <a:bodyPr wrap="square" lIns="0" tIns="0" rIns="0" bIns="0" rtlCol="0" anchor="ctr"/>
          <a:lstStyle/>
          <a:p>
            <a:pPr indent="0" marL="0">
              <a:buNone/>
            </a:pPr>
            <a:r>
              <a:rPr lang="en-US" sz="1350" b="1" dirty="0">
                <a:solidFill>
                  <a:srgbClr val="FFFFFF"/>
                </a:solidFill>
                <a:latin typeface="Yu Gothic" pitchFamily="34" charset="0"/>
                <a:ea typeface="Yu Gothic" pitchFamily="34" charset="-122"/>
                <a:cs typeface="Yu Gothic" pitchFamily="34" charset="-120"/>
              </a:rPr>
              <a:t>回収期間 約17ヶ月</a:t>
            </a:r>
            <a:endParaRPr lang="en-US" sz="1350" dirty="0"/>
          </a:p>
        </p:txBody>
      </p:sp>
      <p:sp>
        <p:nvSpPr>
          <p:cNvPr id="33" name="Text 30"/>
          <p:cNvSpPr/>
          <p:nvPr/>
        </p:nvSpPr>
        <p:spPr>
          <a:xfrm>
            <a:off x="660197" y="5619902"/>
            <a:ext cx="6565392" cy="329184"/>
          </a:xfrm>
          <a:prstGeom prst="rect">
            <a:avLst/>
          </a:prstGeom>
          <a:noFill/>
          <a:ln/>
        </p:spPr>
        <p:txBody>
          <a:bodyPr wrap="square" lIns="0" tIns="0" rIns="0" bIns="0" rtlCol="0" anchor="ctr"/>
          <a:lstStyle/>
          <a:p>
            <a:pPr algn="ctr" indent="0" marL="0">
              <a:buNone/>
            </a:pPr>
            <a:r>
              <a:rPr lang="en-US" sz="1500" b="1" dirty="0">
                <a:solidFill>
                  <a:srgbClr val="106838"/>
                </a:solidFill>
                <a:latin typeface="Yu Gothic" pitchFamily="34" charset="0"/>
                <a:ea typeface="Yu Gothic" pitchFamily="34" charset="-122"/>
                <a:cs typeface="Yu Gothic" pitchFamily="34" charset="-120"/>
              </a:rPr>
              <a:t>＋20万円／月</a:t>
            </a:r>
            <a:r>
              <a:rPr lang="en-US" sz="1150" b="1" dirty="0">
                <a:solidFill>
                  <a:srgbClr val="106838"/>
                </a:solidFill>
                <a:latin typeface="Yu Gothic" pitchFamily="34" charset="0"/>
                <a:ea typeface="Yu Gothic" pitchFamily="34" charset="-122"/>
                <a:cs typeface="Yu Gothic" pitchFamily="34" charset="-120"/>
              </a:rPr>
              <a:t>（+74%）</a:t>
            </a:r>
            <a:endParaRPr lang="en-US" sz="1500" dirty="0"/>
          </a:p>
        </p:txBody>
      </p:sp>
      <p:sp>
        <p:nvSpPr>
          <p:cNvPr id="34" name="Shape 31"/>
          <p:cNvSpPr/>
          <p:nvPr/>
        </p:nvSpPr>
        <p:spPr>
          <a:xfrm>
            <a:off x="7609637" y="2510942"/>
            <a:ext cx="292608" cy="292608"/>
          </a:xfrm>
          <a:prstGeom prst="ellipse">
            <a:avLst/>
          </a:prstGeom>
          <a:solidFill>
            <a:srgbClr val="0C5230"/>
          </a:solidFill>
          <a:ln/>
        </p:spPr>
      </p:sp>
      <p:sp>
        <p:nvSpPr>
          <p:cNvPr id="35" name="Text 32"/>
          <p:cNvSpPr/>
          <p:nvPr/>
        </p:nvSpPr>
        <p:spPr>
          <a:xfrm>
            <a:off x="7609637" y="25109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36" name="Text 33"/>
          <p:cNvSpPr/>
          <p:nvPr/>
        </p:nvSpPr>
        <p:spPr>
          <a:xfrm>
            <a:off x="8030261" y="24926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家賃という最大の固定費が不要</a:t>
            </a:r>
            <a:endParaRPr lang="en-US" sz="1250" dirty="0"/>
          </a:p>
        </p:txBody>
      </p:sp>
      <p:sp>
        <p:nvSpPr>
          <p:cNvPr id="37" name="Text 34"/>
          <p:cNvSpPr/>
          <p:nvPr/>
        </p:nvSpPr>
        <p:spPr>
          <a:xfrm>
            <a:off x="8030261" y="28218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売上がそのまま利益層に乗る構造。</a:t>
            </a:r>
            <a:endParaRPr lang="en-US" sz="950" dirty="0"/>
          </a:p>
        </p:txBody>
      </p:sp>
      <p:sp>
        <p:nvSpPr>
          <p:cNvPr id="38" name="Shape 35"/>
          <p:cNvSpPr/>
          <p:nvPr/>
        </p:nvSpPr>
        <p:spPr>
          <a:xfrm>
            <a:off x="7609637" y="3425342"/>
            <a:ext cx="292608" cy="292608"/>
          </a:xfrm>
          <a:prstGeom prst="ellipse">
            <a:avLst/>
          </a:prstGeom>
          <a:solidFill>
            <a:srgbClr val="0C5230"/>
          </a:solidFill>
          <a:ln/>
        </p:spPr>
      </p:sp>
      <p:sp>
        <p:nvSpPr>
          <p:cNvPr id="39" name="Text 36"/>
          <p:cNvSpPr/>
          <p:nvPr/>
        </p:nvSpPr>
        <p:spPr>
          <a:xfrm>
            <a:off x="7609637" y="34253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40" name="Text 37"/>
          <p:cNvSpPr/>
          <p:nvPr/>
        </p:nvSpPr>
        <p:spPr>
          <a:xfrm>
            <a:off x="8030261" y="34070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空室の機会損失を収益に転換</a:t>
            </a:r>
            <a:endParaRPr lang="en-US" sz="1250" dirty="0"/>
          </a:p>
        </p:txBody>
      </p:sp>
      <p:sp>
        <p:nvSpPr>
          <p:cNvPr id="41" name="Text 38"/>
          <p:cNvSpPr/>
          <p:nvPr/>
        </p:nvSpPr>
        <p:spPr>
          <a:xfrm>
            <a:off x="8030261" y="37362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テナント誘致を待たず、自社で稼働させる。</a:t>
            </a:r>
            <a:endParaRPr lang="en-US" sz="950" dirty="0"/>
          </a:p>
        </p:txBody>
      </p:sp>
      <p:sp>
        <p:nvSpPr>
          <p:cNvPr id="42" name="Shape 39"/>
          <p:cNvSpPr/>
          <p:nvPr/>
        </p:nvSpPr>
        <p:spPr>
          <a:xfrm>
            <a:off x="7609637" y="4339742"/>
            <a:ext cx="292608" cy="292608"/>
          </a:xfrm>
          <a:prstGeom prst="ellipse">
            <a:avLst/>
          </a:prstGeom>
          <a:solidFill>
            <a:srgbClr val="0C5230"/>
          </a:solidFill>
          <a:ln/>
        </p:spPr>
      </p:sp>
      <p:sp>
        <p:nvSpPr>
          <p:cNvPr id="43" name="Text 40"/>
          <p:cNvSpPr/>
          <p:nvPr/>
        </p:nvSpPr>
        <p:spPr>
          <a:xfrm>
            <a:off x="7609637" y="43397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44" name="Text 41"/>
          <p:cNvSpPr/>
          <p:nvPr/>
        </p:nvSpPr>
        <p:spPr>
          <a:xfrm>
            <a:off x="8030261" y="43214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人件費の追加もゼロ</a:t>
            </a:r>
            <a:endParaRPr lang="en-US" sz="1250" dirty="0"/>
          </a:p>
        </p:txBody>
      </p:sp>
      <p:sp>
        <p:nvSpPr>
          <p:cNvPr id="45" name="Text 42"/>
          <p:cNvSpPr/>
          <p:nvPr/>
        </p:nvSpPr>
        <p:spPr>
          <a:xfrm>
            <a:off x="8030261" y="46506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既存スタッフの稼働内で運営。新規採用不要。</a:t>
            </a:r>
            <a:endParaRPr lang="en-US" sz="950" dirty="0"/>
          </a:p>
        </p:txBody>
      </p:sp>
      <p:sp>
        <p:nvSpPr>
          <p:cNvPr id="46" name="Shape 43"/>
          <p:cNvSpPr/>
          <p:nvPr/>
        </p:nvSpPr>
        <p:spPr>
          <a:xfrm>
            <a:off x="7609637" y="5254142"/>
            <a:ext cx="292608" cy="292608"/>
          </a:xfrm>
          <a:prstGeom prst="ellipse">
            <a:avLst/>
          </a:prstGeom>
          <a:solidFill>
            <a:srgbClr val="0C5230"/>
          </a:solidFill>
          <a:ln/>
        </p:spPr>
      </p:sp>
      <p:sp>
        <p:nvSpPr>
          <p:cNvPr id="47" name="Text 44"/>
          <p:cNvSpPr/>
          <p:nvPr/>
        </p:nvSpPr>
        <p:spPr>
          <a:xfrm>
            <a:off x="7609637" y="52541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48" name="Text 45"/>
          <p:cNvSpPr/>
          <p:nvPr/>
        </p:nvSpPr>
        <p:spPr>
          <a:xfrm>
            <a:off x="8030261" y="52358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実績（参考値）</a:t>
            </a:r>
            <a:endParaRPr lang="en-US" sz="1250" dirty="0"/>
          </a:p>
        </p:txBody>
      </p:sp>
      <p:sp>
        <p:nvSpPr>
          <p:cNvPr id="49" name="Text 46"/>
          <p:cNvSpPr/>
          <p:nvPr/>
        </p:nvSpPr>
        <p:spPr>
          <a:xfrm>
            <a:off x="8030261" y="55650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既存店から家賃を除くと48店すべてが営業黒字・平均45.5万円。</a:t>
            </a:r>
            <a:endParaRPr lang="en-US" sz="950" dirty="0"/>
          </a:p>
        </p:txBody>
      </p:sp>
      <p:sp>
        <p:nvSpPr>
          <p:cNvPr id="50" name="Text 47"/>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利益・回収は1杯420円・20坪モデル（総投資800万円）の試算。実績参考値は2026年7月速報の家賃控除前営業利益（開業6ヶ月以上・48店）。収益を保証するものではありません。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Yu Gothic" pitchFamily="34" charset="0"/>
                <a:ea typeface="Yu Gothic" pitchFamily="34" charset="-122"/>
                <a:cs typeface="Yu Gothic"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395728"/>
          </a:xfrm>
          <a:prstGeom prst="roundRect">
            <a:avLst>
              <a:gd name="adj" fmla="val 2290"/>
            </a:avLst>
          </a:prstGeom>
          <a:solidFill>
            <a:srgbClr val="FFFFFF"/>
          </a:solidFill>
          <a:ln w="9525">
            <a:solidFill>
              <a:srgbClr val="EFEAE0"/>
            </a:solidFill>
            <a:prstDash val="solid"/>
          </a:ln>
        </p:spPr>
      </p:sp>
      <p:sp>
        <p:nvSpPr>
          <p:cNvPr id="25" name="Text 22"/>
          <p:cNvSpPr/>
          <p:nvPr/>
        </p:nvSpPr>
        <p:spPr>
          <a:xfrm>
            <a:off x="6073445" y="344363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996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母集団</a:t>
            </a:r>
            <a:endParaRPr lang="en-US" sz="1050" dirty="0"/>
          </a:p>
        </p:txBody>
      </p:sp>
      <p:sp>
        <p:nvSpPr>
          <p:cNvPr id="27" name="Text 24"/>
          <p:cNvSpPr/>
          <p:nvPr/>
        </p:nvSpPr>
        <p:spPr>
          <a:xfrm>
            <a:off x="7445045" y="36996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1000" dirty="0"/>
          </a:p>
        </p:txBody>
      </p:sp>
      <p:sp>
        <p:nvSpPr>
          <p:cNvPr id="28" name="Shape 25"/>
          <p:cNvSpPr/>
          <p:nvPr/>
        </p:nvSpPr>
        <p:spPr>
          <a:xfrm>
            <a:off x="6073445" y="4083710"/>
            <a:ext cx="5183734" cy="10058"/>
          </a:xfrm>
          <a:prstGeom prst="rect">
            <a:avLst/>
          </a:prstGeom>
          <a:solidFill>
            <a:srgbClr val="EFEAE0"/>
          </a:solidFill>
          <a:ln/>
        </p:spPr>
      </p:sp>
      <p:sp>
        <p:nvSpPr>
          <p:cNvPr id="29" name="Text 26"/>
          <p:cNvSpPr/>
          <p:nvPr/>
        </p:nvSpPr>
        <p:spPr>
          <a:xfrm>
            <a:off x="6073445" y="41568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判定</a:t>
            </a:r>
            <a:endParaRPr lang="en-US" sz="1050" dirty="0"/>
          </a:p>
        </p:txBody>
      </p:sp>
      <p:sp>
        <p:nvSpPr>
          <p:cNvPr id="30" name="Text 27"/>
          <p:cNvSpPr/>
          <p:nvPr/>
        </p:nvSpPr>
        <p:spPr>
          <a:xfrm>
            <a:off x="7445045" y="41568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2026年7月単月の償却前営業利益 ＞ 0円</a:t>
            </a:r>
            <a:endParaRPr lang="en-US" sz="1000" dirty="0"/>
          </a:p>
        </p:txBody>
      </p:sp>
      <p:sp>
        <p:nvSpPr>
          <p:cNvPr id="31" name="Shape 28"/>
          <p:cNvSpPr/>
          <p:nvPr/>
        </p:nvSpPr>
        <p:spPr>
          <a:xfrm>
            <a:off x="6073445" y="4540910"/>
            <a:ext cx="5183734" cy="10058"/>
          </a:xfrm>
          <a:prstGeom prst="rect">
            <a:avLst/>
          </a:prstGeom>
          <a:solidFill>
            <a:srgbClr val="EFEAE0"/>
          </a:solidFill>
          <a:ln/>
        </p:spPr>
      </p:sp>
      <p:sp>
        <p:nvSpPr>
          <p:cNvPr id="32" name="Text 29"/>
          <p:cNvSpPr/>
          <p:nvPr/>
        </p:nvSpPr>
        <p:spPr>
          <a:xfrm>
            <a:off x="6073445" y="46140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利益の定義</a:t>
            </a:r>
            <a:endParaRPr lang="en-US" sz="1050" dirty="0"/>
          </a:p>
        </p:txBody>
      </p:sp>
      <p:sp>
        <p:nvSpPr>
          <p:cNvPr id="33" name="Text 30"/>
          <p:cNvSpPr/>
          <p:nvPr/>
        </p:nvSpPr>
        <p:spPr>
          <a:xfrm>
            <a:off x="7445045" y="46140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1000" dirty="0"/>
          </a:p>
        </p:txBody>
      </p:sp>
      <p:sp>
        <p:nvSpPr>
          <p:cNvPr id="34" name="Shape 31"/>
          <p:cNvSpPr/>
          <p:nvPr/>
        </p:nvSpPr>
        <p:spPr>
          <a:xfrm>
            <a:off x="6073445" y="4998110"/>
            <a:ext cx="5183734" cy="10058"/>
          </a:xfrm>
          <a:prstGeom prst="rect">
            <a:avLst/>
          </a:prstGeom>
          <a:solidFill>
            <a:srgbClr val="EFEAE0"/>
          </a:solidFill>
          <a:ln/>
        </p:spPr>
      </p:sp>
      <p:sp>
        <p:nvSpPr>
          <p:cNvPr id="35" name="Text 32"/>
          <p:cNvSpPr/>
          <p:nvPr/>
        </p:nvSpPr>
        <p:spPr>
          <a:xfrm>
            <a:off x="6073445" y="50712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人件費</a:t>
            </a:r>
            <a:endParaRPr lang="en-US" sz="1050" dirty="0"/>
          </a:p>
        </p:txBody>
      </p:sp>
      <p:sp>
        <p:nvSpPr>
          <p:cNvPr id="36" name="Text 33"/>
          <p:cNvSpPr/>
          <p:nvPr/>
        </p:nvSpPr>
        <p:spPr>
          <a:xfrm>
            <a:off x="7445045" y="50712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1000" dirty="0"/>
          </a:p>
        </p:txBody>
      </p:sp>
      <p:sp>
        <p:nvSpPr>
          <p:cNvPr id="37" name="Text 34"/>
          <p:cNvSpPr/>
          <p:nvPr/>
        </p:nvSpPr>
        <p:spPr>
          <a:xfrm>
            <a:off x="660197" y="545531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誰でも利用可 手間無し</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オーナー様の業務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既存スタッフの稼働内で完結し、それすら委託することもできます。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partner-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partner-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partner-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営業届の申請は本部が代行</a:t>
            </a:r>
            <a:endParaRPr lang="en-US" sz="1050" dirty="0"/>
          </a:p>
        </p:txBody>
      </p:sp>
      <p:pic>
        <p:nvPicPr>
          <p:cNvPr id="28" name="Image 4" descr="/home/user/suzuki-ceo/selfcafe-partner-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食品衛生責任者は貴社にて取得</a:t>
            </a:r>
            <a:endParaRPr lang="en-US" sz="1050" dirty="0"/>
          </a:p>
        </p:txBody>
      </p:sp>
      <p:pic>
        <p:nvPicPr>
          <p:cNvPr id="30" name="Image 5" descr="/home/user/suzuki-ceo/selfcafe-partner-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BadgeJapaneseYen-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出店準備金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750万円〜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1/4 〜 1/12</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出店準備金はカメラ・モニター・机・椅子等の備品類。他社の「—」は公表資料に区分の記載がない項目です。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開業費750万円〜・標準予算900万円程度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内訳を1本のバーで示しています。居抜き・既存店併設なら工事範囲を最小化できます。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2218334"/>
            <a:ext cx="974242" cy="859536"/>
          </a:xfrm>
          <a:prstGeom prst="rect">
            <a:avLst/>
          </a:prstGeom>
          <a:solidFill>
            <a:srgbClr val="0C5230"/>
          </a:solidFill>
          <a:ln w="12700">
            <a:solidFill>
              <a:srgbClr val="FFFFFF"/>
            </a:solidFill>
            <a:prstDash val="solid"/>
          </a:ln>
        </p:spPr>
      </p:sp>
      <p:sp>
        <p:nvSpPr>
          <p:cNvPr id="10" name="Text 7"/>
          <p:cNvSpPr/>
          <p:nvPr/>
        </p:nvSpPr>
        <p:spPr>
          <a:xfrm>
            <a:off x="660197" y="2218334"/>
            <a:ext cx="974242"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1" name="Text 8"/>
          <p:cNvSpPr/>
          <p:nvPr/>
        </p:nvSpPr>
        <p:spPr>
          <a:xfrm>
            <a:off x="385877" y="1907438"/>
            <a:ext cx="1522882"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加盟金</a:t>
            </a:r>
            <a:endParaRPr lang="en-US" sz="950" dirty="0"/>
          </a:p>
        </p:txBody>
      </p:sp>
      <p:sp>
        <p:nvSpPr>
          <p:cNvPr id="12" name="Shape 9"/>
          <p:cNvSpPr/>
          <p:nvPr/>
        </p:nvSpPr>
        <p:spPr>
          <a:xfrm>
            <a:off x="1634439" y="2218334"/>
            <a:ext cx="3896970" cy="859536"/>
          </a:xfrm>
          <a:prstGeom prst="rect">
            <a:avLst/>
          </a:prstGeom>
          <a:solidFill>
            <a:srgbClr val="1B7A47"/>
          </a:solidFill>
          <a:ln w="12700">
            <a:solidFill>
              <a:srgbClr val="FFFFFF"/>
            </a:solidFill>
            <a:prstDash val="solid"/>
          </a:ln>
        </p:spPr>
      </p:sp>
      <p:sp>
        <p:nvSpPr>
          <p:cNvPr id="13" name="Text 10"/>
          <p:cNvSpPr/>
          <p:nvPr/>
        </p:nvSpPr>
        <p:spPr>
          <a:xfrm>
            <a:off x="1634439" y="2218334"/>
            <a:ext cx="3896970"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400万</a:t>
            </a:r>
            <a:endParaRPr lang="en-US" sz="1400" dirty="0"/>
          </a:p>
        </p:txBody>
      </p:sp>
      <p:sp>
        <p:nvSpPr>
          <p:cNvPr id="14" name="Text 11"/>
          <p:cNvSpPr/>
          <p:nvPr/>
        </p:nvSpPr>
        <p:spPr>
          <a:xfrm>
            <a:off x="1360119" y="3169310"/>
            <a:ext cx="4445610"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出店工事費用</a:t>
            </a:r>
            <a:endParaRPr lang="en-US" sz="950" dirty="0"/>
          </a:p>
        </p:txBody>
      </p:sp>
      <p:sp>
        <p:nvSpPr>
          <p:cNvPr id="15" name="Shape 12"/>
          <p:cNvSpPr/>
          <p:nvPr/>
        </p:nvSpPr>
        <p:spPr>
          <a:xfrm>
            <a:off x="5531409" y="2218334"/>
            <a:ext cx="1948485" cy="859536"/>
          </a:xfrm>
          <a:prstGeom prst="rect">
            <a:avLst/>
          </a:prstGeom>
          <a:solidFill>
            <a:srgbClr val="5FA57C"/>
          </a:solidFill>
          <a:ln w="12700">
            <a:solidFill>
              <a:srgbClr val="FFFFFF"/>
            </a:solidFill>
            <a:prstDash val="solid"/>
          </a:ln>
        </p:spPr>
      </p:sp>
      <p:sp>
        <p:nvSpPr>
          <p:cNvPr id="16" name="Text 13"/>
          <p:cNvSpPr/>
          <p:nvPr/>
        </p:nvSpPr>
        <p:spPr>
          <a:xfrm>
            <a:off x="5531409" y="2218334"/>
            <a:ext cx="1948485"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200万</a:t>
            </a:r>
            <a:endParaRPr lang="en-US" sz="1400" dirty="0"/>
          </a:p>
        </p:txBody>
      </p:sp>
      <p:sp>
        <p:nvSpPr>
          <p:cNvPr id="17" name="Text 14"/>
          <p:cNvSpPr/>
          <p:nvPr/>
        </p:nvSpPr>
        <p:spPr>
          <a:xfrm>
            <a:off x="5257089" y="1907438"/>
            <a:ext cx="2497125"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開業準備金</a:t>
            </a:r>
            <a:endParaRPr lang="en-US" sz="950" dirty="0"/>
          </a:p>
          <a:p>
            <a:pPr algn="ctr" indent="0" marL="0">
              <a:buNone/>
            </a:pPr>
            <a:r>
              <a:rPr lang="en-US" sz="950" dirty="0">
                <a:solidFill>
                  <a:srgbClr val="7E8882"/>
                </a:solidFill>
                <a:latin typeface="Yu Gothic" pitchFamily="34" charset="0"/>
                <a:ea typeface="Yu Gothic" pitchFamily="34" charset="-122"/>
                <a:cs typeface="Yu Gothic" pitchFamily="34" charset="-120"/>
              </a:rPr>
              <a:t>出店準備金</a:t>
            </a:r>
            <a:endParaRPr lang="en-US" sz="950" dirty="0"/>
          </a:p>
        </p:txBody>
      </p:sp>
      <p:sp>
        <p:nvSpPr>
          <p:cNvPr id="18" name="Shape 15"/>
          <p:cNvSpPr/>
          <p:nvPr/>
        </p:nvSpPr>
        <p:spPr>
          <a:xfrm>
            <a:off x="7479894" y="2218334"/>
            <a:ext cx="487121" cy="859536"/>
          </a:xfrm>
          <a:prstGeom prst="rect">
            <a:avLst/>
          </a:prstGeom>
          <a:solidFill>
            <a:srgbClr val="9CC3AA"/>
          </a:solidFill>
          <a:ln w="12700">
            <a:solidFill>
              <a:srgbClr val="FFFFFF"/>
            </a:solidFill>
            <a:prstDash val="solid"/>
          </a:ln>
        </p:spPr>
      </p:sp>
      <p:sp>
        <p:nvSpPr>
          <p:cNvPr id="19" name="Text 16"/>
          <p:cNvSpPr/>
          <p:nvPr/>
        </p:nvSpPr>
        <p:spPr>
          <a:xfrm>
            <a:off x="7479894" y="2218334"/>
            <a:ext cx="487121" cy="85953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50万</a:t>
            </a:r>
            <a:endParaRPr lang="en-US" sz="1050" dirty="0"/>
          </a:p>
        </p:txBody>
      </p:sp>
      <p:sp>
        <p:nvSpPr>
          <p:cNvPr id="20" name="Text 17"/>
          <p:cNvSpPr/>
          <p:nvPr/>
        </p:nvSpPr>
        <p:spPr>
          <a:xfrm>
            <a:off x="7205574" y="3169310"/>
            <a:ext cx="103576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保証金（預り金）</a:t>
            </a:r>
            <a:endParaRPr lang="en-US" sz="950" dirty="0"/>
          </a:p>
        </p:txBody>
      </p:sp>
      <p:sp>
        <p:nvSpPr>
          <p:cNvPr id="21" name="Shape 18"/>
          <p:cNvSpPr/>
          <p:nvPr/>
        </p:nvSpPr>
        <p:spPr>
          <a:xfrm>
            <a:off x="7967015" y="2218334"/>
            <a:ext cx="1461364" cy="859536"/>
          </a:xfrm>
          <a:prstGeom prst="rect">
            <a:avLst/>
          </a:prstGeom>
          <a:solidFill>
            <a:srgbClr val="A8761F"/>
          </a:solidFill>
          <a:ln w="12700">
            <a:solidFill>
              <a:srgbClr val="FFFFFF"/>
            </a:solidFill>
            <a:prstDash val="solid"/>
          </a:ln>
        </p:spPr>
      </p:sp>
      <p:sp>
        <p:nvSpPr>
          <p:cNvPr id="22" name="Text 19"/>
          <p:cNvSpPr/>
          <p:nvPr/>
        </p:nvSpPr>
        <p:spPr>
          <a:xfrm>
            <a:off x="7967015" y="2218334"/>
            <a:ext cx="1461364"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150万</a:t>
            </a:r>
            <a:endParaRPr lang="en-US" sz="1400" dirty="0"/>
          </a:p>
        </p:txBody>
      </p:sp>
      <p:sp>
        <p:nvSpPr>
          <p:cNvPr id="23" name="Text 20"/>
          <p:cNvSpPr/>
          <p:nvPr/>
        </p:nvSpPr>
        <p:spPr>
          <a:xfrm>
            <a:off x="7692695" y="1907438"/>
            <a:ext cx="2010004"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諸経費・予備費</a:t>
            </a:r>
            <a:endParaRPr lang="en-US" sz="950" dirty="0"/>
          </a:p>
        </p:txBody>
      </p:sp>
      <p:sp>
        <p:nvSpPr>
          <p:cNvPr id="24" name="Shape 21"/>
          <p:cNvSpPr/>
          <p:nvPr/>
        </p:nvSpPr>
        <p:spPr>
          <a:xfrm>
            <a:off x="9556394" y="2218334"/>
            <a:ext cx="12802" cy="859536"/>
          </a:xfrm>
          <a:prstGeom prst="rect">
            <a:avLst/>
          </a:prstGeom>
          <a:solidFill>
            <a:srgbClr val="0A3D23"/>
          </a:solidFill>
          <a:ln/>
        </p:spPr>
      </p:sp>
      <p:sp>
        <p:nvSpPr>
          <p:cNvPr id="25" name="Text 22"/>
          <p:cNvSpPr/>
          <p:nvPr/>
        </p:nvSpPr>
        <p:spPr>
          <a:xfrm>
            <a:off x="9666122" y="2163470"/>
            <a:ext cx="1828800" cy="969264"/>
          </a:xfrm>
          <a:prstGeom prst="rect">
            <a:avLst/>
          </a:prstGeom>
          <a:noFill/>
          <a:ln/>
        </p:spPr>
        <p:txBody>
          <a:bodyPr wrap="square" lIns="0" tIns="0" rIns="0" bIns="0" rtlCol="0" anchor="ctr"/>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標準総投資予算
</a:t>
            </a:r>
            <a:r>
              <a:rPr lang="en-US" sz="1500" b="1" dirty="0">
                <a:solidFill>
                  <a:srgbClr val="106838"/>
                </a:solidFill>
                <a:latin typeface="Yu Gothic" pitchFamily="34" charset="0"/>
                <a:ea typeface="Yu Gothic" pitchFamily="34" charset="-122"/>
                <a:cs typeface="Yu Gothic" pitchFamily="34" charset="-120"/>
              </a:rPr>
              <a:t>900万円程度</a:t>
            </a:r>
            <a:endParaRPr lang="en-US" sz="1050" dirty="0"/>
          </a:p>
        </p:txBody>
      </p:sp>
      <p:sp>
        <p:nvSpPr>
          <p:cNvPr id="26" name="Text 23"/>
          <p:cNvSpPr/>
          <p:nvPr/>
        </p:nvSpPr>
        <p:spPr>
          <a:xfrm>
            <a:off x="660197" y="3736238"/>
            <a:ext cx="10871302"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開業準備金の内訳：設計費・デザイン費・開業サポート費</a:t>
            </a:r>
            <a:endParaRPr lang="en-US" sz="1000" dirty="0"/>
          </a:p>
        </p:txBody>
      </p:sp>
      <p:sp>
        <p:nvSpPr>
          <p:cNvPr id="27" name="Text 24"/>
          <p:cNvSpPr/>
          <p:nvPr/>
        </p:nvSpPr>
        <p:spPr>
          <a:xfrm>
            <a:off x="660197" y="3461918"/>
            <a:ext cx="10871302"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最低開業費 </a:t>
            </a:r>
            <a:r>
              <a:rPr lang="en-US" sz="1500" b="1" dirty="0">
                <a:solidFill>
                  <a:srgbClr val="106838"/>
                </a:solidFill>
                <a:latin typeface="Yu Gothic" pitchFamily="34" charset="0"/>
                <a:ea typeface="Yu Gothic" pitchFamily="34" charset="-122"/>
                <a:cs typeface="Yu Gothic" pitchFamily="34" charset="-120"/>
              </a:rPr>
              <a:t>650万円〜</a:t>
            </a:r>
            <a:r>
              <a:rPr lang="en-US" sz="1050" dirty="0">
                <a:solidFill>
                  <a:srgbClr val="7E8882"/>
                </a:solidFill>
                <a:latin typeface="Yu Gothic" pitchFamily="34" charset="0"/>
                <a:ea typeface="Yu Gothic" pitchFamily="34" charset="-122"/>
                <a:cs typeface="Yu Gothic" pitchFamily="34" charset="-120"/>
              </a:rPr>
              <a:t>（居抜き・20坪／諸経費・予備費を除く）</a:t>
            </a:r>
            <a:endParaRPr lang="en-US" sz="1250" dirty="0"/>
          </a:p>
        </p:txBody>
      </p:sp>
      <p:sp>
        <p:nvSpPr>
          <p:cNvPr id="28" name="Shape 25"/>
          <p:cNvSpPr/>
          <p:nvPr/>
        </p:nvSpPr>
        <p:spPr>
          <a:xfrm>
            <a:off x="660197" y="4339742"/>
            <a:ext cx="5243627" cy="822960"/>
          </a:xfrm>
          <a:prstGeom prst="roundRect">
            <a:avLst>
              <a:gd name="adj" fmla="val 6667"/>
            </a:avLst>
          </a:prstGeom>
          <a:solidFill>
            <a:srgbClr val="FFFFFF"/>
          </a:solidFill>
          <a:ln w="9525">
            <a:solidFill>
              <a:srgbClr val="EFEAE0"/>
            </a:solidFill>
            <a:prstDash val="solid"/>
          </a:ln>
        </p:spPr>
      </p:sp>
      <p:pic>
        <p:nvPicPr>
          <p:cNvPr id="29" name="Image 1" descr="/home/user/suzuki-ceo/selfcafe-partner-deck/assets/icons/LuJapaneseYen-green.png">    </p:cNvPr>
          <p:cNvPicPr>
            <a:picLocks noChangeAspect="1"/>
          </p:cNvPicPr>
          <p:nvPr/>
        </p:nvPicPr>
        <p:blipFill>
          <a:blip r:embed="rId2"/>
          <a:stretch>
            <a:fillRect/>
          </a:stretch>
        </p:blipFill>
        <p:spPr>
          <a:xfrm>
            <a:off x="916229" y="4595774"/>
            <a:ext cx="310896" cy="310896"/>
          </a:xfrm>
          <a:prstGeom prst="rect">
            <a:avLst/>
          </a:prstGeom>
        </p:spPr>
      </p:pic>
      <p:sp>
        <p:nvSpPr>
          <p:cNvPr id="30" name="Text 26"/>
          <p:cNvSpPr/>
          <p:nvPr/>
        </p:nvSpPr>
        <p:spPr>
          <a:xfrm>
            <a:off x="1336853"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準備金 200万円</a:t>
            </a:r>
            <a:endParaRPr lang="en-US" sz="1150" dirty="0"/>
          </a:p>
        </p:txBody>
      </p:sp>
      <p:sp>
        <p:nvSpPr>
          <p:cNvPr id="31" name="Text 27"/>
          <p:cNvSpPr/>
          <p:nvPr/>
        </p:nvSpPr>
        <p:spPr>
          <a:xfrm>
            <a:off x="1336853"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出店準備金：カメラ・机・椅子・モニターなど店内で使用する備品類</a:t>
            </a:r>
            <a:endParaRPr lang="en-US" sz="1000" dirty="0"/>
          </a:p>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開業準備金：設計費・デザイン費・開業サポート費</a:t>
            </a:r>
            <a:endParaRPr lang="en-US" sz="1000" dirty="0"/>
          </a:p>
        </p:txBody>
      </p:sp>
      <p:sp>
        <p:nvSpPr>
          <p:cNvPr id="32" name="Shape 28"/>
          <p:cNvSpPr/>
          <p:nvPr/>
        </p:nvSpPr>
        <p:spPr>
          <a:xfrm>
            <a:off x="6287872" y="4339742"/>
            <a:ext cx="5243627" cy="822960"/>
          </a:xfrm>
          <a:prstGeom prst="roundRect">
            <a:avLst>
              <a:gd name="adj" fmla="val 6667"/>
            </a:avLst>
          </a:prstGeom>
          <a:solidFill>
            <a:srgbClr val="FFFFFF"/>
          </a:solidFill>
          <a:ln w="9525">
            <a:solidFill>
              <a:srgbClr val="EFEAE0"/>
            </a:solidFill>
            <a:prstDash val="solid"/>
          </a:ln>
        </p:spPr>
      </p:sp>
      <p:pic>
        <p:nvPicPr>
          <p:cNvPr id="33" name="Image 2" descr="/home/user/suzuki-ceo/selfcafe-partner-deck/assets/icons/LuReceiptJapaneseYen-green.png">    </p:cNvPr>
          <p:cNvPicPr>
            <a:picLocks noChangeAspect="1"/>
          </p:cNvPicPr>
          <p:nvPr/>
        </p:nvPicPr>
        <p:blipFill>
          <a:blip r:embed="rId3"/>
          <a:stretch>
            <a:fillRect/>
          </a:stretch>
        </p:blipFill>
        <p:spPr>
          <a:xfrm>
            <a:off x="6543904" y="4595774"/>
            <a:ext cx="310896" cy="310896"/>
          </a:xfrm>
          <a:prstGeom prst="rect">
            <a:avLst/>
          </a:prstGeom>
        </p:spPr>
      </p:pic>
      <p:sp>
        <p:nvSpPr>
          <p:cNvPr id="34" name="Text 29"/>
          <p:cNvSpPr/>
          <p:nvPr/>
        </p:nvSpPr>
        <p:spPr>
          <a:xfrm>
            <a:off x="6964528"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保証金 50万円</a:t>
            </a:r>
            <a:endParaRPr lang="en-US" sz="1150" dirty="0"/>
          </a:p>
        </p:txBody>
      </p:sp>
      <p:sp>
        <p:nvSpPr>
          <p:cNvPr id="35" name="Text 30"/>
          <p:cNvSpPr/>
          <p:nvPr/>
        </p:nvSpPr>
        <p:spPr>
          <a:xfrm>
            <a:off x="6964528"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預り金。原料・ロイヤリティの支払確認後、契約条件に基づき精算</a:t>
            </a:r>
            <a:endParaRPr lang="en-US" sz="1000" dirty="0"/>
          </a:p>
        </p:txBody>
      </p:sp>
      <p:sp>
        <p:nvSpPr>
          <p:cNvPr id="36" name="Shape 31"/>
          <p:cNvSpPr/>
          <p:nvPr/>
        </p:nvSpPr>
        <p:spPr>
          <a:xfrm>
            <a:off x="660197" y="5345582"/>
            <a:ext cx="5243627" cy="822960"/>
          </a:xfrm>
          <a:prstGeom prst="roundRect">
            <a:avLst>
              <a:gd name="adj" fmla="val 6667"/>
            </a:avLst>
          </a:prstGeom>
          <a:solidFill>
            <a:srgbClr val="FFFFFF"/>
          </a:solidFill>
          <a:ln w="9525">
            <a:solidFill>
              <a:srgbClr val="EFEAE0"/>
            </a:solidFill>
            <a:prstDash val="solid"/>
          </a:ln>
        </p:spPr>
      </p:sp>
      <p:pic>
        <p:nvPicPr>
          <p:cNvPr id="37" name="Image 3" descr="/home/user/suzuki-ceo/selfcafe-partner-deck/assets/icons/LuHandCoins-green.png">    </p:cNvPr>
          <p:cNvPicPr>
            <a:picLocks noChangeAspect="1"/>
          </p:cNvPicPr>
          <p:nvPr/>
        </p:nvPicPr>
        <p:blipFill>
          <a:blip r:embed="rId4"/>
          <a:stretch>
            <a:fillRect/>
          </a:stretch>
        </p:blipFill>
        <p:spPr>
          <a:xfrm>
            <a:off x="916229" y="5601614"/>
            <a:ext cx="310896" cy="310896"/>
          </a:xfrm>
          <a:prstGeom prst="rect">
            <a:avLst/>
          </a:prstGeom>
        </p:spPr>
      </p:pic>
      <p:sp>
        <p:nvSpPr>
          <p:cNvPr id="38" name="Text 32"/>
          <p:cNvSpPr/>
          <p:nvPr/>
        </p:nvSpPr>
        <p:spPr>
          <a:xfrm>
            <a:off x="1336853"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ロイヤリティ／研修費</a:t>
            </a:r>
            <a:endParaRPr lang="en-US" sz="1150" dirty="0"/>
          </a:p>
        </p:txBody>
      </p:sp>
      <p:sp>
        <p:nvSpPr>
          <p:cNvPr id="39" name="Text 33"/>
          <p:cNvSpPr/>
          <p:nvPr/>
        </p:nvSpPr>
        <p:spPr>
          <a:xfrm>
            <a:off x="1336853"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ロイヤリティは月5万円 一律（売上連動なし）。研修費はなし</a:t>
            </a:r>
            <a:endParaRPr lang="en-US" sz="1000" dirty="0"/>
          </a:p>
        </p:txBody>
      </p:sp>
      <p:sp>
        <p:nvSpPr>
          <p:cNvPr id="40" name="Shape 34"/>
          <p:cNvSpPr/>
          <p:nvPr/>
        </p:nvSpPr>
        <p:spPr>
          <a:xfrm>
            <a:off x="6287872" y="5345582"/>
            <a:ext cx="5243627" cy="822960"/>
          </a:xfrm>
          <a:prstGeom prst="roundRect">
            <a:avLst>
              <a:gd name="adj" fmla="val 6667"/>
            </a:avLst>
          </a:prstGeom>
          <a:solidFill>
            <a:srgbClr val="FFFFFF"/>
          </a:solidFill>
          <a:ln w="9525">
            <a:solidFill>
              <a:srgbClr val="EFEAE0"/>
            </a:solidFill>
            <a:prstDash val="solid"/>
          </a:ln>
        </p:spPr>
      </p:sp>
      <p:pic>
        <p:nvPicPr>
          <p:cNvPr id="41" name="Image 4" descr="/home/user/suzuki-ceo/selfcafe-partner-deck/assets/icons/LuHammer-green.png">    </p:cNvPr>
          <p:cNvPicPr>
            <a:picLocks noChangeAspect="1"/>
          </p:cNvPicPr>
          <p:nvPr/>
        </p:nvPicPr>
        <p:blipFill>
          <a:blip r:embed="rId5"/>
          <a:stretch>
            <a:fillRect/>
          </a:stretch>
        </p:blipFill>
        <p:spPr>
          <a:xfrm>
            <a:off x="6543904" y="5601614"/>
            <a:ext cx="310896" cy="310896"/>
          </a:xfrm>
          <a:prstGeom prst="rect">
            <a:avLst/>
          </a:prstGeom>
        </p:spPr>
      </p:pic>
      <p:sp>
        <p:nvSpPr>
          <p:cNvPr id="42" name="Text 35"/>
          <p:cNvSpPr/>
          <p:nvPr/>
        </p:nvSpPr>
        <p:spPr>
          <a:xfrm>
            <a:off x="6964528"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スケルトン物件の場合</a:t>
            </a:r>
            <a:endParaRPr lang="en-US" sz="1150" dirty="0"/>
          </a:p>
        </p:txBody>
      </p:sp>
      <p:sp>
        <p:nvSpPr>
          <p:cNvPr id="43" name="Text 36"/>
          <p:cNvSpPr/>
          <p:nvPr/>
        </p:nvSpPr>
        <p:spPr>
          <a:xfrm>
            <a:off x="6964528"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工事費が増え1050万円〜（標準総投資予算1,300万円程度）</a:t>
            </a:r>
            <a:endParaRPr lang="en-US" sz="1000" dirty="0"/>
          </a:p>
        </p:txBody>
      </p:sp>
      <p:sp>
        <p:nvSpPr>
          <p:cNvPr id="44" name="Text 37"/>
          <p:cNvSpPr/>
          <p:nvPr/>
        </p:nvSpPr>
        <p:spPr>
          <a:xfrm>
            <a:off x="660197" y="63514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金額はすべて税抜・目安。物件条件・工事範囲により変動します。他社カフェ業態（開業資金3,000万〜8,400万円）の1/4〜1/12の水準です。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75杯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家賃（坪1万円）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月27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324万円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月47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564万円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100杯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家賃（坪8千円）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387,000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707,000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月38.7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464.4万円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月70.7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848.4万円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20坪（初期費用900万円）と40坪（同1,300万円）について、家賃あり／家賃なし（自社物件）の回収期間を試算しました。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5243627" cy="3931920"/>
          </a:xfrm>
          <a:prstGeom prst="roundRect">
            <a:avLst>
              <a:gd name="adj" fmla="val 1395"/>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900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14" name="Text 11"/>
          <p:cNvSpPr/>
          <p:nvPr/>
        </p:nvSpPr>
        <p:spPr>
          <a:xfrm>
            <a:off x="2580437"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開業費750万円（加盟金100＋工事400＋準備金200＋保証金50）＋諸経費・予備費150万円</a:t>
            </a:r>
            <a:endParaRPr lang="en-US" sz="750" dirty="0"/>
          </a:p>
        </p:txBody>
      </p:sp>
      <p:sp>
        <p:nvSpPr>
          <p:cNvPr id="15" name="Text 12"/>
          <p:cNvSpPr/>
          <p:nvPr/>
        </p:nvSpPr>
        <p:spPr>
          <a:xfrm>
            <a:off x="4166464"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900万円</a:t>
            </a:r>
            <a:endParaRPr lang="en-US" sz="1200" dirty="0"/>
          </a:p>
        </p:txBody>
      </p:sp>
      <p:sp>
        <p:nvSpPr>
          <p:cNvPr id="16" name="Shape 13"/>
          <p:cNvSpPr/>
          <p:nvPr/>
        </p:nvSpPr>
        <p:spPr>
          <a:xfrm>
            <a:off x="934517" y="2730398"/>
            <a:ext cx="4694987" cy="10058"/>
          </a:xfrm>
          <a:prstGeom prst="rect">
            <a:avLst/>
          </a:prstGeom>
          <a:solidFill>
            <a:srgbClr val="EFEAE0"/>
          </a:solidFill>
          <a:ln/>
        </p:spPr>
      </p:sp>
      <p:sp>
        <p:nvSpPr>
          <p:cNvPr id="17" name="Text 14"/>
          <p:cNvSpPr/>
          <p:nvPr/>
        </p:nvSpPr>
        <p:spPr>
          <a:xfrm>
            <a:off x="934517"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8" name="Text 15"/>
          <p:cNvSpPr/>
          <p:nvPr/>
        </p:nvSpPr>
        <p:spPr>
          <a:xfrm>
            <a:off x="2580437"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9" name="Text 16"/>
          <p:cNvSpPr/>
          <p:nvPr/>
        </p:nvSpPr>
        <p:spPr>
          <a:xfrm>
            <a:off x="4166464"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945,000円</a:t>
            </a:r>
            <a:endParaRPr lang="en-US" sz="1200" dirty="0"/>
          </a:p>
        </p:txBody>
      </p:sp>
      <p:sp>
        <p:nvSpPr>
          <p:cNvPr id="20" name="Shape 17"/>
          <p:cNvSpPr/>
          <p:nvPr/>
        </p:nvSpPr>
        <p:spPr>
          <a:xfrm>
            <a:off x="934517" y="3059582"/>
            <a:ext cx="4694987" cy="10058"/>
          </a:xfrm>
          <a:prstGeom prst="rect">
            <a:avLst/>
          </a:prstGeom>
          <a:solidFill>
            <a:srgbClr val="EFEAE0"/>
          </a:solidFill>
          <a:ln/>
        </p:spPr>
      </p:sp>
      <p:sp>
        <p:nvSpPr>
          <p:cNvPr id="21" name="Text 18"/>
          <p:cNvSpPr/>
          <p:nvPr/>
        </p:nvSpPr>
        <p:spPr>
          <a:xfrm>
            <a:off x="934517"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22" name="Text 19"/>
          <p:cNvSpPr/>
          <p:nvPr/>
        </p:nvSpPr>
        <p:spPr>
          <a:xfrm>
            <a:off x="2580437"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23" name="Text 20"/>
          <p:cNvSpPr/>
          <p:nvPr/>
        </p:nvSpPr>
        <p:spPr>
          <a:xfrm>
            <a:off x="4166464"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-475,000円</a:t>
            </a:r>
            <a:endParaRPr lang="en-US" sz="1200" dirty="0"/>
          </a:p>
        </p:txBody>
      </p:sp>
      <p:sp>
        <p:nvSpPr>
          <p:cNvPr id="24" name="Shape 21"/>
          <p:cNvSpPr/>
          <p:nvPr/>
        </p:nvSpPr>
        <p:spPr>
          <a:xfrm>
            <a:off x="934517" y="3388766"/>
            <a:ext cx="4694987" cy="10058"/>
          </a:xfrm>
          <a:prstGeom prst="rect">
            <a:avLst/>
          </a:prstGeom>
          <a:solidFill>
            <a:srgbClr val="EFEAE0"/>
          </a:solidFill>
          <a:ln/>
        </p:spPr>
      </p:sp>
      <p:sp>
        <p:nvSpPr>
          <p:cNvPr id="25" name="Text 22"/>
          <p:cNvSpPr/>
          <p:nvPr/>
        </p:nvSpPr>
        <p:spPr>
          <a:xfrm>
            <a:off x="934517"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6" name="Text 23"/>
          <p:cNvSpPr/>
          <p:nvPr/>
        </p:nvSpPr>
        <p:spPr>
          <a:xfrm>
            <a:off x="2580437"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7" name="Text 24"/>
          <p:cNvSpPr/>
          <p:nvPr/>
        </p:nvSpPr>
        <p:spPr>
          <a:xfrm>
            <a:off x="4166464"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-200,000円</a:t>
            </a:r>
            <a:endParaRPr lang="en-US" sz="1200" dirty="0"/>
          </a:p>
        </p:txBody>
      </p:sp>
      <p:sp>
        <p:nvSpPr>
          <p:cNvPr id="28" name="Shape 25"/>
          <p:cNvSpPr/>
          <p:nvPr/>
        </p:nvSpPr>
        <p:spPr>
          <a:xfrm>
            <a:off x="934517" y="3717950"/>
            <a:ext cx="4694987" cy="10058"/>
          </a:xfrm>
          <a:prstGeom prst="rect">
            <a:avLst/>
          </a:prstGeom>
          <a:solidFill>
            <a:srgbClr val="EFEAE0"/>
          </a:solidFill>
          <a:ln/>
        </p:spPr>
      </p:sp>
      <p:sp>
        <p:nvSpPr>
          <p:cNvPr id="29" name="Shape 26"/>
          <p:cNvSpPr/>
          <p:nvPr/>
        </p:nvSpPr>
        <p:spPr>
          <a:xfrm>
            <a:off x="934517" y="3937406"/>
            <a:ext cx="2256053" cy="1426464"/>
          </a:xfrm>
          <a:prstGeom prst="roundRect">
            <a:avLst>
              <a:gd name="adj" fmla="val 3846"/>
            </a:avLst>
          </a:prstGeom>
          <a:solidFill>
            <a:srgbClr val="F1F8F3"/>
          </a:solidFill>
          <a:ln w="9525">
            <a:solidFill>
              <a:srgbClr val="D2E7DA"/>
            </a:solidFill>
            <a:prstDash val="solid"/>
          </a:ln>
        </p:spPr>
      </p:sp>
      <p:sp>
        <p:nvSpPr>
          <p:cNvPr id="30" name="Text 27"/>
          <p:cNvSpPr/>
          <p:nvPr/>
        </p:nvSpPr>
        <p:spPr>
          <a:xfrm>
            <a:off x="1117397"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31" name="Text 28"/>
          <p:cNvSpPr/>
          <p:nvPr/>
        </p:nvSpPr>
        <p:spPr>
          <a:xfrm>
            <a:off x="1117397"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32" name="Text 29"/>
          <p:cNvSpPr/>
          <p:nvPr/>
        </p:nvSpPr>
        <p:spPr>
          <a:xfrm>
            <a:off x="1117397"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33" name="Text 30"/>
          <p:cNvSpPr/>
          <p:nvPr/>
        </p:nvSpPr>
        <p:spPr>
          <a:xfrm>
            <a:off x="1062533"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約2年9ヶ月</a:t>
            </a:r>
            <a:r>
              <a:rPr lang="en-US" sz="850" dirty="0">
                <a:solidFill>
                  <a:srgbClr val="7E8882"/>
                </a:solidFill>
                <a:latin typeface="Arial" pitchFamily="34" charset="0"/>
                <a:ea typeface="Arial" pitchFamily="34" charset="-122"/>
                <a:cs typeface="Arial" pitchFamily="34" charset="-120"/>
              </a:rPr>
              <a:t>（33ヶ月）</a:t>
            </a:r>
            <a:endParaRPr lang="en-US" sz="1450" dirty="0"/>
          </a:p>
        </p:txBody>
      </p:sp>
      <p:sp>
        <p:nvSpPr>
          <p:cNvPr id="34" name="Shape 31"/>
          <p:cNvSpPr/>
          <p:nvPr/>
        </p:nvSpPr>
        <p:spPr>
          <a:xfrm>
            <a:off x="3373450" y="3937406"/>
            <a:ext cx="2256053" cy="1426464"/>
          </a:xfrm>
          <a:prstGeom prst="roundRect">
            <a:avLst>
              <a:gd name="adj" fmla="val 3846"/>
            </a:avLst>
          </a:prstGeom>
          <a:solidFill>
            <a:srgbClr val="0C5230"/>
          </a:solidFill>
          <a:ln/>
        </p:spPr>
      </p:sp>
      <p:sp>
        <p:nvSpPr>
          <p:cNvPr id="35" name="Text 32"/>
          <p:cNvSpPr/>
          <p:nvPr/>
        </p:nvSpPr>
        <p:spPr>
          <a:xfrm>
            <a:off x="3556330"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6" name="Text 33"/>
          <p:cNvSpPr/>
          <p:nvPr/>
        </p:nvSpPr>
        <p:spPr>
          <a:xfrm>
            <a:off x="3556330"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7" name="Text 34"/>
          <p:cNvSpPr/>
          <p:nvPr/>
        </p:nvSpPr>
        <p:spPr>
          <a:xfrm>
            <a:off x="3556330"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8" name="Text 35"/>
          <p:cNvSpPr/>
          <p:nvPr/>
        </p:nvSpPr>
        <p:spPr>
          <a:xfrm>
            <a:off x="3501466"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約1年7ヶ月</a:t>
            </a:r>
            <a:r>
              <a:rPr lang="en-US" sz="850" dirty="0">
                <a:solidFill>
                  <a:srgbClr val="AFC2B8"/>
                </a:solidFill>
                <a:latin typeface="Arial" pitchFamily="34" charset="0"/>
                <a:ea typeface="Arial" pitchFamily="34" charset="-122"/>
                <a:cs typeface="Arial" pitchFamily="34" charset="-120"/>
              </a:rPr>
              <a:t>（19ヶ月）</a:t>
            </a:r>
            <a:endParaRPr lang="en-US" sz="1450" dirty="0"/>
          </a:p>
        </p:txBody>
      </p:sp>
      <p:sp>
        <p:nvSpPr>
          <p:cNvPr id="39" name="Shape 36"/>
          <p:cNvSpPr/>
          <p:nvPr/>
        </p:nvSpPr>
        <p:spPr>
          <a:xfrm>
            <a:off x="6287872" y="1651406"/>
            <a:ext cx="5243627" cy="3931920"/>
          </a:xfrm>
          <a:prstGeom prst="roundRect">
            <a:avLst>
              <a:gd name="adj" fmla="val 1395"/>
            </a:avLst>
          </a:prstGeom>
          <a:solidFill>
            <a:srgbClr val="FFFFFF"/>
          </a:solidFill>
          <a:ln w="9525">
            <a:solidFill>
              <a:srgbClr val="EFEAE0"/>
            </a:solidFill>
            <a:prstDash val="solid"/>
          </a:ln>
        </p:spPr>
      </p:sp>
      <p:sp>
        <p:nvSpPr>
          <p:cNvPr id="40" name="Text 37"/>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41" name="Text 38"/>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42" name="Text 39"/>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1,300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43" name="Text 40"/>
          <p:cNvSpPr/>
          <p:nvPr/>
        </p:nvSpPr>
        <p:spPr>
          <a:xfrm>
            <a:off x="6562192"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44" name="Text 41"/>
          <p:cNvSpPr/>
          <p:nvPr/>
        </p:nvSpPr>
        <p:spPr>
          <a:xfrm>
            <a:off x="8208112"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スケルトン工事の開業費1050万円＋諸経費・予備費250万円</a:t>
            </a:r>
            <a:endParaRPr lang="en-US" sz="750" dirty="0"/>
          </a:p>
        </p:txBody>
      </p:sp>
      <p:sp>
        <p:nvSpPr>
          <p:cNvPr id="45" name="Text 42"/>
          <p:cNvSpPr/>
          <p:nvPr/>
        </p:nvSpPr>
        <p:spPr>
          <a:xfrm>
            <a:off x="9794138"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1,300万円</a:t>
            </a:r>
            <a:endParaRPr lang="en-US" sz="1200" dirty="0"/>
          </a:p>
        </p:txBody>
      </p:sp>
      <p:sp>
        <p:nvSpPr>
          <p:cNvPr id="46" name="Shape 43"/>
          <p:cNvSpPr/>
          <p:nvPr/>
        </p:nvSpPr>
        <p:spPr>
          <a:xfrm>
            <a:off x="6562192" y="2730398"/>
            <a:ext cx="4694987" cy="10058"/>
          </a:xfrm>
          <a:prstGeom prst="rect">
            <a:avLst/>
          </a:prstGeom>
          <a:solidFill>
            <a:srgbClr val="EFEAE0"/>
          </a:solidFill>
          <a:ln/>
        </p:spPr>
      </p:sp>
      <p:sp>
        <p:nvSpPr>
          <p:cNvPr id="47" name="Text 44"/>
          <p:cNvSpPr/>
          <p:nvPr/>
        </p:nvSpPr>
        <p:spPr>
          <a:xfrm>
            <a:off x="6562192"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8" name="Text 45"/>
          <p:cNvSpPr/>
          <p:nvPr/>
        </p:nvSpPr>
        <p:spPr>
          <a:xfrm>
            <a:off x="8208112"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9" name="Text 46"/>
          <p:cNvSpPr/>
          <p:nvPr/>
        </p:nvSpPr>
        <p:spPr>
          <a:xfrm>
            <a:off x="9794138"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1,260,000円</a:t>
            </a:r>
            <a:endParaRPr lang="en-US" sz="1200" dirty="0"/>
          </a:p>
        </p:txBody>
      </p:sp>
      <p:sp>
        <p:nvSpPr>
          <p:cNvPr id="50" name="Shape 47"/>
          <p:cNvSpPr/>
          <p:nvPr/>
        </p:nvSpPr>
        <p:spPr>
          <a:xfrm>
            <a:off x="6562192" y="3059582"/>
            <a:ext cx="4694987" cy="10058"/>
          </a:xfrm>
          <a:prstGeom prst="rect">
            <a:avLst/>
          </a:prstGeom>
          <a:solidFill>
            <a:srgbClr val="EFEAE0"/>
          </a:solidFill>
          <a:ln/>
        </p:spPr>
      </p:sp>
      <p:sp>
        <p:nvSpPr>
          <p:cNvPr id="51" name="Text 48"/>
          <p:cNvSpPr/>
          <p:nvPr/>
        </p:nvSpPr>
        <p:spPr>
          <a:xfrm>
            <a:off x="6562192"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52" name="Text 49"/>
          <p:cNvSpPr/>
          <p:nvPr/>
        </p:nvSpPr>
        <p:spPr>
          <a:xfrm>
            <a:off x="8208112"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53" name="Text 50"/>
          <p:cNvSpPr/>
          <p:nvPr/>
        </p:nvSpPr>
        <p:spPr>
          <a:xfrm>
            <a:off x="9794138"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-553,000円</a:t>
            </a:r>
            <a:endParaRPr lang="en-US" sz="1200" dirty="0"/>
          </a:p>
        </p:txBody>
      </p:sp>
      <p:sp>
        <p:nvSpPr>
          <p:cNvPr id="54" name="Shape 51"/>
          <p:cNvSpPr/>
          <p:nvPr/>
        </p:nvSpPr>
        <p:spPr>
          <a:xfrm>
            <a:off x="6562192" y="3388766"/>
            <a:ext cx="4694987" cy="10058"/>
          </a:xfrm>
          <a:prstGeom prst="rect">
            <a:avLst/>
          </a:prstGeom>
          <a:solidFill>
            <a:srgbClr val="EFEAE0"/>
          </a:solidFill>
          <a:ln/>
        </p:spPr>
      </p:sp>
      <p:sp>
        <p:nvSpPr>
          <p:cNvPr id="55" name="Text 52"/>
          <p:cNvSpPr/>
          <p:nvPr/>
        </p:nvSpPr>
        <p:spPr>
          <a:xfrm>
            <a:off x="6562192"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56" name="Text 53"/>
          <p:cNvSpPr/>
          <p:nvPr/>
        </p:nvSpPr>
        <p:spPr>
          <a:xfrm>
            <a:off x="8208112"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57" name="Text 54"/>
          <p:cNvSpPr/>
          <p:nvPr/>
        </p:nvSpPr>
        <p:spPr>
          <a:xfrm>
            <a:off x="9794138"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-320,000円</a:t>
            </a:r>
            <a:endParaRPr lang="en-US" sz="1200" dirty="0"/>
          </a:p>
        </p:txBody>
      </p:sp>
      <p:sp>
        <p:nvSpPr>
          <p:cNvPr id="58" name="Shape 55"/>
          <p:cNvSpPr/>
          <p:nvPr/>
        </p:nvSpPr>
        <p:spPr>
          <a:xfrm>
            <a:off x="6562192" y="3717950"/>
            <a:ext cx="4694987" cy="10058"/>
          </a:xfrm>
          <a:prstGeom prst="rect">
            <a:avLst/>
          </a:prstGeom>
          <a:solidFill>
            <a:srgbClr val="EFEAE0"/>
          </a:solidFill>
          <a:ln/>
        </p:spPr>
      </p:sp>
      <p:sp>
        <p:nvSpPr>
          <p:cNvPr id="59" name="Shape 56"/>
          <p:cNvSpPr/>
          <p:nvPr/>
        </p:nvSpPr>
        <p:spPr>
          <a:xfrm>
            <a:off x="6562192" y="3937406"/>
            <a:ext cx="2256053" cy="1426464"/>
          </a:xfrm>
          <a:prstGeom prst="roundRect">
            <a:avLst>
              <a:gd name="adj" fmla="val 3846"/>
            </a:avLst>
          </a:prstGeom>
          <a:solidFill>
            <a:srgbClr val="F1F8F3"/>
          </a:solidFill>
          <a:ln w="9525">
            <a:solidFill>
              <a:srgbClr val="D2E7DA"/>
            </a:solidFill>
            <a:prstDash val="solid"/>
          </a:ln>
        </p:spPr>
      </p:sp>
      <p:sp>
        <p:nvSpPr>
          <p:cNvPr id="60" name="Text 57"/>
          <p:cNvSpPr/>
          <p:nvPr/>
        </p:nvSpPr>
        <p:spPr>
          <a:xfrm>
            <a:off x="6745072"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61" name="Text 58"/>
          <p:cNvSpPr/>
          <p:nvPr/>
        </p:nvSpPr>
        <p:spPr>
          <a:xfrm>
            <a:off x="6745072"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62" name="Text 59"/>
          <p:cNvSpPr/>
          <p:nvPr/>
        </p:nvSpPr>
        <p:spPr>
          <a:xfrm>
            <a:off x="6745072"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63" name="Text 60"/>
          <p:cNvSpPr/>
          <p:nvPr/>
        </p:nvSpPr>
        <p:spPr>
          <a:xfrm>
            <a:off x="6690208"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約2年10ヶ月</a:t>
            </a:r>
            <a:r>
              <a:rPr lang="en-US" sz="850" dirty="0">
                <a:solidFill>
                  <a:srgbClr val="7E8882"/>
                </a:solidFill>
                <a:latin typeface="Arial" pitchFamily="34" charset="0"/>
                <a:ea typeface="Arial" pitchFamily="34" charset="-122"/>
                <a:cs typeface="Arial" pitchFamily="34" charset="-120"/>
              </a:rPr>
              <a:t>（34ヶ月）</a:t>
            </a:r>
            <a:endParaRPr lang="en-US" sz="1450" dirty="0"/>
          </a:p>
        </p:txBody>
      </p:sp>
      <p:sp>
        <p:nvSpPr>
          <p:cNvPr id="64" name="Shape 61"/>
          <p:cNvSpPr/>
          <p:nvPr/>
        </p:nvSpPr>
        <p:spPr>
          <a:xfrm>
            <a:off x="9001125" y="3937406"/>
            <a:ext cx="2256053" cy="1426464"/>
          </a:xfrm>
          <a:prstGeom prst="roundRect">
            <a:avLst>
              <a:gd name="adj" fmla="val 3846"/>
            </a:avLst>
          </a:prstGeom>
          <a:solidFill>
            <a:srgbClr val="0C5230"/>
          </a:solidFill>
          <a:ln/>
        </p:spPr>
      </p:sp>
      <p:sp>
        <p:nvSpPr>
          <p:cNvPr id="65" name="Text 62"/>
          <p:cNvSpPr/>
          <p:nvPr/>
        </p:nvSpPr>
        <p:spPr>
          <a:xfrm>
            <a:off x="9184005"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66" name="Text 63"/>
          <p:cNvSpPr/>
          <p:nvPr/>
        </p:nvSpPr>
        <p:spPr>
          <a:xfrm>
            <a:off x="9184005"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67" name="Text 64"/>
          <p:cNvSpPr/>
          <p:nvPr/>
        </p:nvSpPr>
        <p:spPr>
          <a:xfrm>
            <a:off x="9184005"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8" name="Text 65"/>
          <p:cNvSpPr/>
          <p:nvPr/>
        </p:nvSpPr>
        <p:spPr>
          <a:xfrm>
            <a:off x="9129141"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約1年6ヶ月</a:t>
            </a:r>
            <a:r>
              <a:rPr lang="en-US" sz="850" dirty="0">
                <a:solidFill>
                  <a:srgbClr val="AFC2B8"/>
                </a:solidFill>
                <a:latin typeface="Arial" pitchFamily="34" charset="0"/>
                <a:ea typeface="Arial" pitchFamily="34" charset="-122"/>
                <a:cs typeface="Arial" pitchFamily="34" charset="-120"/>
              </a:rPr>
              <a:t>（18ヶ月）</a:t>
            </a:r>
            <a:endParaRPr lang="en-US" sz="1450" dirty="0"/>
          </a:p>
        </p:txBody>
      </p:sp>
      <p:sp>
        <p:nvSpPr>
          <p:cNvPr id="69" name="Shape 66"/>
          <p:cNvSpPr/>
          <p:nvPr/>
        </p:nvSpPr>
        <p:spPr>
          <a:xfrm>
            <a:off x="660197" y="5711342"/>
            <a:ext cx="10871302" cy="457200"/>
          </a:xfrm>
          <a:prstGeom prst="roundRect">
            <a:avLst>
              <a:gd name="adj" fmla="val 12000"/>
            </a:avLst>
          </a:prstGeom>
          <a:solidFill>
            <a:srgbClr val="F1F8F3"/>
          </a:solidFill>
          <a:ln w="9525">
            <a:solidFill>
              <a:srgbClr val="D2E7DA"/>
            </a:solidFill>
            <a:prstDash val="solid"/>
          </a:ln>
        </p:spPr>
      </p:sp>
      <p:sp>
        <p:nvSpPr>
          <p:cNvPr id="70" name="Text 67"/>
          <p:cNvSpPr/>
          <p:nvPr/>
        </p:nvSpPr>
        <p:spPr>
          <a:xfrm>
            <a:off x="897941" y="5711342"/>
            <a:ext cx="10395814" cy="457200"/>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前提：初期費用は標準総投資予算（居抜き900万円／スケルトン1,300万円程度）／1杯420円・販売数は収益シミュレーションと同一／減価償却費・税を除く</a:t>
            </a:r>
            <a:endParaRPr lang="en-US" sz="950" dirty="0"/>
          </a:p>
        </p:txBody>
      </p:sp>
      <p:sp>
        <p:nvSpPr>
          <p:cNvPr id="71" name="Text 68"/>
          <p:cNvSpPr/>
          <p:nvPr/>
        </p:nvSpPr>
        <p:spPr>
          <a:xfrm>
            <a:off x="660197" y="629655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開業費は「初期投資の詳細」ページ、売上・経費は「収益シミュレーション」ページと同一の前提です。回収期間・利益を保証するものではありません。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投資回収シミュレーション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自社物件・標準杯数で回収約17ヶ月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標準予算800万円・20坪モデルの累計損益の推移。線が0円を超えた時点が回収完了です。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7406640" cy="4041648"/>
          </a:xfrm>
          <a:prstGeom prst="roundRect">
            <a:avLst>
              <a:gd name="adj" fmla="val 1357"/>
            </a:avLst>
          </a:prstGeom>
          <a:solidFill>
            <a:srgbClr val="FFFFFF"/>
          </a:solidFill>
          <a:ln w="9525">
            <a:solidFill>
              <a:srgbClr val="EFEAE0"/>
            </a:solidFill>
            <a:prstDash val="solid"/>
          </a:ln>
        </p:spPr>
      </p:sp>
      <p:sp>
        <p:nvSpPr>
          <p:cNvPr id="10" name="Text 7"/>
          <p:cNvSpPr/>
          <p:nvPr/>
        </p:nvSpPr>
        <p:spPr>
          <a:xfrm>
            <a:off x="934517" y="1815998"/>
            <a:ext cx="6858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累計損益の推移（万円）／総投資800万円スタート</a:t>
            </a:r>
            <a:endParaRPr lang="en-US" sz="1100" dirty="0"/>
          </a:p>
        </p:txBody>
      </p:sp>
      <p:graphicFrame>
        <p:nvGraphicFramePr>
          <p:cNvPr id="11" name="Chart 0" descr=""/>
          <p:cNvGraphicFramePr/>
          <p:nvPr/>
        </p:nvGraphicFramePr>
        <p:xfrm>
          <a:off x="843077" y="2108606"/>
          <a:ext cx="7040880" cy="3401568"/>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450885" y="1651406"/>
            <a:ext cx="3080614" cy="1280160"/>
          </a:xfrm>
          <a:prstGeom prst="roundRect">
            <a:avLst>
              <a:gd name="adj" fmla="val 4286"/>
            </a:avLst>
          </a:prstGeom>
          <a:solidFill>
            <a:srgbClr val="0C5230"/>
          </a:solidFill>
          <a:ln/>
        </p:spPr>
      </p:sp>
      <p:sp>
        <p:nvSpPr>
          <p:cNvPr id="13" name="Text 9"/>
          <p:cNvSpPr/>
          <p:nvPr/>
        </p:nvSpPr>
        <p:spPr>
          <a:xfrm>
            <a:off x="8688629" y="1797710"/>
            <a:ext cx="2605126" cy="219456"/>
          </a:xfrm>
          <a:prstGeom prst="rect">
            <a:avLst/>
          </a:prstGeom>
          <a:noFill/>
          <a:ln/>
        </p:spPr>
        <p:txBody>
          <a:bodyPr wrap="square" lIns="0" tIns="0" rIns="0" bIns="0" rtlCol="0" anchor="ctr"/>
          <a:lstStyle/>
          <a:p>
            <a:pPr indent="0" marL="0">
              <a:buNone/>
            </a:pPr>
            <a:r>
              <a:rPr lang="en-US" sz="1050" b="1" dirty="0">
                <a:solidFill>
                  <a:srgbClr val="8CC5A5"/>
                </a:solidFill>
                <a:latin typeface="Yu Gothic" pitchFamily="34" charset="0"/>
                <a:ea typeface="Yu Gothic" pitchFamily="34" charset="-122"/>
                <a:cs typeface="Yu Gothic" pitchFamily="34" charset="-120"/>
              </a:rPr>
              <a:t>自社物件</a:t>
            </a:r>
            <a:endParaRPr lang="en-US" sz="1050" dirty="0"/>
          </a:p>
        </p:txBody>
      </p:sp>
      <p:sp>
        <p:nvSpPr>
          <p:cNvPr id="14" name="Text 10"/>
          <p:cNvSpPr/>
          <p:nvPr/>
        </p:nvSpPr>
        <p:spPr>
          <a:xfrm>
            <a:off x="8688629" y="2035454"/>
            <a:ext cx="2605126"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約17</a:t>
            </a:r>
            <a:r>
              <a:rPr lang="en-US" sz="1250" b="1" dirty="0">
                <a:solidFill>
                  <a:srgbClr val="FFFFFF"/>
                </a:solidFill>
                <a:latin typeface="Yu Gothic" pitchFamily="34" charset="0"/>
                <a:ea typeface="Yu Gothic" pitchFamily="34" charset="-122"/>
                <a:cs typeface="Yu Gothic" pitchFamily="34" charset="-120"/>
              </a:rPr>
              <a:t> ヶ月</a:t>
            </a:r>
            <a:endParaRPr lang="en-US" sz="2400" dirty="0"/>
          </a:p>
        </p:txBody>
      </p:sp>
      <p:sp>
        <p:nvSpPr>
          <p:cNvPr id="15" name="Text 11"/>
          <p:cNvSpPr/>
          <p:nvPr/>
        </p:nvSpPr>
        <p:spPr>
          <a:xfrm>
            <a:off x="8688629" y="2547518"/>
            <a:ext cx="2605126" cy="27432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75杯／日・月間利益47万円</a:t>
            </a:r>
            <a:endParaRPr lang="en-US" sz="900" dirty="0"/>
          </a:p>
        </p:txBody>
      </p:sp>
      <p:sp>
        <p:nvSpPr>
          <p:cNvPr id="16" name="Shape 12"/>
          <p:cNvSpPr/>
          <p:nvPr/>
        </p:nvSpPr>
        <p:spPr>
          <a:xfrm>
            <a:off x="8450885" y="3077870"/>
            <a:ext cx="3080614" cy="1280160"/>
          </a:xfrm>
          <a:prstGeom prst="roundRect">
            <a:avLst>
              <a:gd name="adj" fmla="val 4286"/>
            </a:avLst>
          </a:prstGeom>
          <a:solidFill>
            <a:srgbClr val="FFFFFF"/>
          </a:solidFill>
          <a:ln w="9525">
            <a:solidFill>
              <a:srgbClr val="EFEAE0"/>
            </a:solidFill>
            <a:prstDash val="solid"/>
          </a:ln>
        </p:spPr>
      </p:sp>
      <p:sp>
        <p:nvSpPr>
          <p:cNvPr id="17" name="Text 13"/>
          <p:cNvSpPr/>
          <p:nvPr/>
        </p:nvSpPr>
        <p:spPr>
          <a:xfrm>
            <a:off x="8688629" y="3224174"/>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賃貸物件</a:t>
            </a:r>
            <a:endParaRPr lang="en-US" sz="1050" dirty="0"/>
          </a:p>
        </p:txBody>
      </p:sp>
      <p:sp>
        <p:nvSpPr>
          <p:cNvPr id="18" name="Text 14"/>
          <p:cNvSpPr/>
          <p:nvPr/>
        </p:nvSpPr>
        <p:spPr>
          <a:xfrm>
            <a:off x="8688629" y="3461918"/>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約30</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19" name="Text 15"/>
          <p:cNvSpPr/>
          <p:nvPr/>
        </p:nvSpPr>
        <p:spPr>
          <a:xfrm>
            <a:off x="8688629" y="3973982"/>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75杯／日・月間利益27万円</a:t>
            </a:r>
            <a:endParaRPr lang="en-US" sz="900" dirty="0"/>
          </a:p>
        </p:txBody>
      </p:sp>
      <p:sp>
        <p:nvSpPr>
          <p:cNvPr id="20" name="Shape 16"/>
          <p:cNvSpPr/>
          <p:nvPr/>
        </p:nvSpPr>
        <p:spPr>
          <a:xfrm>
            <a:off x="8450885" y="4504334"/>
            <a:ext cx="3080614" cy="1280160"/>
          </a:xfrm>
          <a:prstGeom prst="roundRect">
            <a:avLst>
              <a:gd name="adj" fmla="val 4286"/>
            </a:avLst>
          </a:prstGeom>
          <a:solidFill>
            <a:srgbClr val="FFFFFF"/>
          </a:solidFill>
          <a:ln w="9525">
            <a:solidFill>
              <a:srgbClr val="EFEAE0"/>
            </a:solidFill>
            <a:prstDash val="solid"/>
          </a:ln>
        </p:spPr>
      </p:sp>
      <p:sp>
        <p:nvSpPr>
          <p:cNvPr id="21" name="Text 17"/>
          <p:cNvSpPr/>
          <p:nvPr/>
        </p:nvSpPr>
        <p:spPr>
          <a:xfrm>
            <a:off x="8688629" y="4650638"/>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100杯／日なら</a:t>
            </a:r>
            <a:endParaRPr lang="en-US" sz="1050" dirty="0"/>
          </a:p>
        </p:txBody>
      </p:sp>
      <p:sp>
        <p:nvSpPr>
          <p:cNvPr id="22" name="Text 18"/>
          <p:cNvSpPr/>
          <p:nvPr/>
        </p:nvSpPr>
        <p:spPr>
          <a:xfrm>
            <a:off x="8688629" y="4888382"/>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約12</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23" name="Text 19"/>
          <p:cNvSpPr/>
          <p:nvPr/>
        </p:nvSpPr>
        <p:spPr>
          <a:xfrm>
            <a:off x="8688629" y="5400446"/>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自社物件・月間利益72.2万円</a:t>
            </a:r>
            <a:endParaRPr lang="en-US" sz="900" dirty="0"/>
          </a:p>
        </p:txBody>
      </p:sp>
      <p:sp>
        <p:nvSpPr>
          <p:cNvPr id="24" name="Text 20"/>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総投資800万円（開業費650万円＋諸経費・予備費150万円）。償却前営業利益ベース・税引前。回収期間・利益を保証するものではありません。</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地方都市の駅前立地。1日約80杯ペースで稼働し、家賃を吸収して利益を確保しています。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Yu Gothic" pitchFamily="34" charset="0"/>
                <a:ea typeface="Yu Gothic" pitchFamily="34" charset="-122"/>
                <a:cs typeface="Yu Gothic" pitchFamily="34" charset="-120"/>
              </a:rPr>
              <a:t>約80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1日あたりの販売杯数（概数）</a:t>
            </a:r>
            <a:endParaRPr lang="en-US" sz="900" dirty="0"/>
          </a:p>
        </p:txBody>
      </p:sp>
      <p:pic>
        <p:nvPicPr>
          <p:cNvPr id="21" name="Image 1" descr="/home/user/suzuki-ceo/selfcafe-partner-deck/assets/photos/.crops/p02-storefront-573x138.jpg">    </p:cNvPr>
          <p:cNvPicPr>
            <a:picLocks noChangeAspect="1"/>
          </p:cNvPicPr>
          <p:nvPr/>
        </p:nvPicPr>
        <p:blipFill>
          <a:blip r:embed="rId2"/>
          <a:stretch>
            <a:fillRect/>
          </a:stretch>
        </p:blipFill>
        <p:spPr>
          <a:xfrm>
            <a:off x="660197" y="2492654"/>
            <a:ext cx="5243627" cy="1262004"/>
          </a:xfrm>
          <a:prstGeom prst="rect">
            <a:avLst/>
          </a:prstGeom>
        </p:spPr>
      </p:pic>
      <p:sp>
        <p:nvSpPr>
          <p:cNvPr id="22" name="Shape 18"/>
          <p:cNvSpPr/>
          <p:nvPr/>
        </p:nvSpPr>
        <p:spPr>
          <a:xfrm>
            <a:off x="660197" y="2492654"/>
            <a:ext cx="5243627" cy="1262004"/>
          </a:xfrm>
          <a:prstGeom prst="rect">
            <a:avLst/>
          </a:prstGeom>
          <a:ln w="12700">
            <a:solidFill>
              <a:srgbClr val="D8D2C6"/>
            </a:solidFill>
            <a:prstDash val="solid"/>
          </a:ln>
        </p:spPr>
      </p:sp>
      <p:sp>
        <p:nvSpPr>
          <p:cNvPr id="23" name="Shape 19"/>
          <p:cNvSpPr/>
          <p:nvPr/>
        </p:nvSpPr>
        <p:spPr>
          <a:xfrm>
            <a:off x="788213" y="3297458"/>
            <a:ext cx="1442720" cy="329184"/>
          </a:xfrm>
          <a:prstGeom prst="roundRect">
            <a:avLst>
              <a:gd name="adj" fmla="val 13889"/>
            </a:avLst>
          </a:prstGeom>
          <a:solidFill>
            <a:srgbClr val="FFFFFF">
              <a:alpha val="90000"/>
            </a:srgbClr>
          </a:solidFill>
          <a:ln/>
        </p:spPr>
      </p:sp>
      <p:sp>
        <p:nvSpPr>
          <p:cNvPr id="24" name="Text 20"/>
          <p:cNvSpPr/>
          <p:nvPr/>
        </p:nvSpPr>
        <p:spPr>
          <a:xfrm>
            <a:off x="952805" y="3297458"/>
            <a:ext cx="116840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盛岡駅前店の外観</a:t>
            </a:r>
            <a:endParaRPr lang="en-US" sz="1000" dirty="0"/>
          </a:p>
        </p:txBody>
      </p:sp>
      <p:sp>
        <p:nvSpPr>
          <p:cNvPr id="25" name="Shape 21"/>
          <p:cNvSpPr/>
          <p:nvPr/>
        </p:nvSpPr>
        <p:spPr>
          <a:xfrm>
            <a:off x="660197" y="3955826"/>
            <a:ext cx="5243627" cy="2102988"/>
          </a:xfrm>
          <a:prstGeom prst="roundRect">
            <a:avLst>
              <a:gd name="adj" fmla="val 2609"/>
            </a:avLst>
          </a:prstGeom>
          <a:solidFill>
            <a:srgbClr val="0C5230"/>
          </a:solidFill>
          <a:ln/>
        </p:spPr>
      </p:sp>
      <p:sp>
        <p:nvSpPr>
          <p:cNvPr id="26" name="Text 22"/>
          <p:cNvSpPr/>
          <p:nvPr/>
        </p:nvSpPr>
        <p:spPr>
          <a:xfrm>
            <a:off x="971093" y="4230146"/>
            <a:ext cx="237744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PERFORMANCE</a:t>
            </a:r>
            <a:endParaRPr lang="en-US" sz="900" dirty="0"/>
          </a:p>
        </p:txBody>
      </p:sp>
      <p:sp>
        <p:nvSpPr>
          <p:cNvPr id="27" name="Text 23"/>
          <p:cNvSpPr/>
          <p:nvPr/>
        </p:nvSpPr>
        <p:spPr>
          <a:xfrm>
            <a:off x="971093" y="4522754"/>
            <a:ext cx="4621835" cy="658368"/>
          </a:xfrm>
          <a:prstGeom prst="rect">
            <a:avLst/>
          </a:prstGeom>
          <a:noFill/>
          <a:ln/>
        </p:spPr>
        <p:txBody>
          <a:bodyPr wrap="square" lIns="0" tIns="0" rIns="0" bIns="0" rtlCol="0" anchor="ctr"/>
          <a:lstStyle/>
          <a:p>
            <a:pPr indent="0" marL="0">
              <a:buNone/>
            </a:pPr>
            <a:r>
              <a:rPr lang="en-US" sz="3400" b="1" dirty="0">
                <a:solidFill>
                  <a:srgbClr val="F0C05A"/>
                </a:solidFill>
                <a:latin typeface="Arial" pitchFamily="34" charset="0"/>
                <a:ea typeface="Arial" pitchFamily="34" charset="-122"/>
                <a:cs typeface="Arial" pitchFamily="34" charset="-120"/>
              </a:rPr>
              <a:t>232,000</a:t>
            </a:r>
            <a:r>
              <a:rPr lang="en-US" sz="1400" b="1" dirty="0">
                <a:solidFill>
                  <a:srgbClr val="F0C05A"/>
                </a:solidFill>
                <a:latin typeface="Yu Gothic" pitchFamily="34" charset="0"/>
                <a:ea typeface="Yu Gothic" pitchFamily="34" charset="-122"/>
                <a:cs typeface="Yu Gothic" pitchFamily="34" charset="-120"/>
              </a:rPr>
              <a:t> 円／月</a:t>
            </a:r>
            <a:endParaRPr lang="en-US" sz="3400" dirty="0"/>
          </a:p>
        </p:txBody>
      </p:sp>
      <p:sp>
        <p:nvSpPr>
          <p:cNvPr id="28" name="Text 24"/>
          <p:cNvSpPr/>
          <p:nvPr/>
        </p:nvSpPr>
        <p:spPr>
          <a:xfrm>
            <a:off x="971093" y="5181122"/>
            <a:ext cx="4621835" cy="25603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償却前営業利益</a:t>
            </a:r>
            <a:endParaRPr lang="en-US" sz="1200" dirty="0"/>
          </a:p>
        </p:txBody>
      </p:sp>
      <p:sp>
        <p:nvSpPr>
          <p:cNvPr id="29" name="Text 25"/>
          <p:cNvSpPr/>
          <p:nvPr/>
        </p:nvSpPr>
        <p:spPr>
          <a:xfrm>
            <a:off x="971093" y="5510306"/>
            <a:ext cx="4621835" cy="731520"/>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月の家賃280,000円を支払った上で確保しています。地方都市の駅前立地で、学生からビジネスマンまで幅広い層を獲得。</a:t>
            </a:r>
            <a:endParaRPr lang="en-US" sz="1050" dirty="0"/>
          </a:p>
        </p:txBody>
      </p:sp>
      <p:sp>
        <p:nvSpPr>
          <p:cNvPr id="30" name="Shape 26"/>
          <p:cNvSpPr/>
          <p:nvPr/>
        </p:nvSpPr>
        <p:spPr>
          <a:xfrm>
            <a:off x="6287872" y="2492654"/>
            <a:ext cx="5243627" cy="3566160"/>
          </a:xfrm>
          <a:prstGeom prst="roundRect">
            <a:avLst>
              <a:gd name="adj" fmla="val 1538"/>
            </a:avLst>
          </a:prstGeom>
          <a:solidFill>
            <a:srgbClr val="FFFFFF"/>
          </a:solidFill>
          <a:ln w="9525">
            <a:solidFill>
              <a:srgbClr val="EFEAE0"/>
            </a:solidFill>
            <a:prstDash val="solid"/>
          </a:ln>
        </p:spPr>
      </p:sp>
      <p:sp>
        <p:nvSpPr>
          <p:cNvPr id="31" name="Text 27"/>
          <p:cNvSpPr/>
          <p:nvPr/>
        </p:nvSpPr>
        <p:spPr>
          <a:xfrm>
            <a:off x="6562192"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32" name="Text 28"/>
          <p:cNvSpPr/>
          <p:nvPr/>
        </p:nvSpPr>
        <p:spPr>
          <a:xfrm>
            <a:off x="6562192" y="2986430"/>
            <a:ext cx="4694987"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1日約80杯ペースでの稼働</a:t>
            </a:r>
            <a:endParaRPr lang="en-US" sz="1800" dirty="0"/>
          </a:p>
        </p:txBody>
      </p:sp>
      <p:sp>
        <p:nvSpPr>
          <p:cNvPr id="33" name="Text 29"/>
          <p:cNvSpPr/>
          <p:nvPr/>
        </p:nvSpPr>
        <p:spPr>
          <a:xfrm>
            <a:off x="6562192" y="3425342"/>
            <a:ext cx="4694987" cy="274320"/>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1回の利用で2〜3時間、2杯程度購入する傾向があります。</a:t>
            </a:r>
            <a:endParaRPr lang="en-US" sz="1050" dirty="0"/>
          </a:p>
        </p:txBody>
      </p:sp>
      <p:sp>
        <p:nvSpPr>
          <p:cNvPr id="34" name="Shape 30"/>
          <p:cNvSpPr/>
          <p:nvPr/>
        </p:nvSpPr>
        <p:spPr>
          <a:xfrm>
            <a:off x="6562192" y="3809390"/>
            <a:ext cx="4694987" cy="10058"/>
          </a:xfrm>
          <a:prstGeom prst="rect">
            <a:avLst/>
          </a:prstGeom>
          <a:solidFill>
            <a:srgbClr val="EFEAE0"/>
          </a:solidFill>
          <a:ln/>
        </p:spPr>
      </p:sp>
      <p:sp>
        <p:nvSpPr>
          <p:cNvPr id="35" name="Text 31"/>
          <p:cNvSpPr/>
          <p:nvPr/>
        </p:nvSpPr>
        <p:spPr>
          <a:xfrm>
            <a:off x="6562192" y="3973982"/>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a:t>
            </a:r>
            <a:endParaRPr lang="en-US" sz="1000" dirty="0"/>
          </a:p>
        </p:txBody>
      </p:sp>
      <p:sp>
        <p:nvSpPr>
          <p:cNvPr id="36" name="Text 32"/>
          <p:cNvSpPr/>
          <p:nvPr/>
        </p:nvSpPr>
        <p:spPr>
          <a:xfrm>
            <a:off x="8299552" y="3973982"/>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2025年4月</a:t>
            </a:r>
            <a:endParaRPr lang="en-US" sz="1250" dirty="0"/>
          </a:p>
        </p:txBody>
      </p:sp>
      <p:sp>
        <p:nvSpPr>
          <p:cNvPr id="37" name="Shape 33"/>
          <p:cNvSpPr/>
          <p:nvPr/>
        </p:nvSpPr>
        <p:spPr>
          <a:xfrm>
            <a:off x="6562192" y="4321454"/>
            <a:ext cx="4694987" cy="10058"/>
          </a:xfrm>
          <a:prstGeom prst="rect">
            <a:avLst/>
          </a:prstGeom>
          <a:solidFill>
            <a:srgbClr val="EFEAE0"/>
          </a:solidFill>
          <a:ln/>
        </p:spPr>
      </p:sp>
      <p:sp>
        <p:nvSpPr>
          <p:cNvPr id="38" name="Text 34"/>
          <p:cNvSpPr/>
          <p:nvPr/>
        </p:nvSpPr>
        <p:spPr>
          <a:xfrm>
            <a:off x="6562192" y="4376318"/>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面積・席数</a:t>
            </a:r>
            <a:endParaRPr lang="en-US" sz="1000" dirty="0"/>
          </a:p>
        </p:txBody>
      </p:sp>
      <p:sp>
        <p:nvSpPr>
          <p:cNvPr id="39" name="Text 35"/>
          <p:cNvSpPr/>
          <p:nvPr/>
        </p:nvSpPr>
        <p:spPr>
          <a:xfrm>
            <a:off x="8299552" y="4376318"/>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20坪／40席</a:t>
            </a:r>
            <a:endParaRPr lang="en-US" sz="1250" dirty="0"/>
          </a:p>
        </p:txBody>
      </p:sp>
      <p:sp>
        <p:nvSpPr>
          <p:cNvPr id="40" name="Shape 36"/>
          <p:cNvSpPr/>
          <p:nvPr/>
        </p:nvSpPr>
        <p:spPr>
          <a:xfrm>
            <a:off x="6562192" y="4723790"/>
            <a:ext cx="4694987" cy="10058"/>
          </a:xfrm>
          <a:prstGeom prst="rect">
            <a:avLst/>
          </a:prstGeom>
          <a:solidFill>
            <a:srgbClr val="EFEAE0"/>
          </a:solidFill>
          <a:ln/>
        </p:spPr>
      </p:sp>
      <p:sp>
        <p:nvSpPr>
          <p:cNvPr id="41" name="Text 37"/>
          <p:cNvSpPr/>
          <p:nvPr/>
        </p:nvSpPr>
        <p:spPr>
          <a:xfrm>
            <a:off x="6562192" y="4778654"/>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立地</a:t>
            </a:r>
            <a:endParaRPr lang="en-US" sz="1000" dirty="0"/>
          </a:p>
        </p:txBody>
      </p:sp>
      <p:sp>
        <p:nvSpPr>
          <p:cNvPr id="42" name="Text 38"/>
          <p:cNvSpPr/>
          <p:nvPr/>
        </p:nvSpPr>
        <p:spPr>
          <a:xfrm>
            <a:off x="8299552" y="4778654"/>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岩手県盛岡市・駅前</a:t>
            </a:r>
            <a:endParaRPr lang="en-US" sz="1250" dirty="0"/>
          </a:p>
        </p:txBody>
      </p:sp>
      <p:sp>
        <p:nvSpPr>
          <p:cNvPr id="43" name="Shape 39"/>
          <p:cNvSpPr/>
          <p:nvPr/>
        </p:nvSpPr>
        <p:spPr>
          <a:xfrm>
            <a:off x="6562192" y="5126126"/>
            <a:ext cx="4694987" cy="10058"/>
          </a:xfrm>
          <a:prstGeom prst="rect">
            <a:avLst/>
          </a:prstGeom>
          <a:solidFill>
            <a:srgbClr val="EFEAE0"/>
          </a:solidFill>
          <a:ln/>
        </p:spPr>
      </p:sp>
      <p:sp>
        <p:nvSpPr>
          <p:cNvPr id="44" name="Text 40"/>
          <p:cNvSpPr/>
          <p:nvPr/>
        </p:nvSpPr>
        <p:spPr>
          <a:xfrm>
            <a:off x="6562192" y="5180990"/>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営業時間</a:t>
            </a:r>
            <a:endParaRPr lang="en-US" sz="1000" dirty="0"/>
          </a:p>
        </p:txBody>
      </p:sp>
      <p:sp>
        <p:nvSpPr>
          <p:cNvPr id="45" name="Text 41"/>
          <p:cNvSpPr/>
          <p:nvPr/>
        </p:nvSpPr>
        <p:spPr>
          <a:xfrm>
            <a:off x="8299552" y="5180990"/>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24時間</a:t>
            </a:r>
            <a:endParaRPr lang="en-US" sz="1250" dirty="0"/>
          </a:p>
        </p:txBody>
      </p:sp>
      <p:sp>
        <p:nvSpPr>
          <p:cNvPr id="46" name="Shape 42"/>
          <p:cNvSpPr/>
          <p:nvPr/>
        </p:nvSpPr>
        <p:spPr>
          <a:xfrm>
            <a:off x="6562192" y="5528462"/>
            <a:ext cx="4694987" cy="10058"/>
          </a:xfrm>
          <a:prstGeom prst="rect">
            <a:avLst/>
          </a:prstGeom>
          <a:solidFill>
            <a:srgbClr val="EFEAE0"/>
          </a:solidFill>
          <a:ln/>
        </p:spPr>
      </p:sp>
      <p:sp>
        <p:nvSpPr>
          <p:cNvPr id="47" name="Text 43"/>
          <p:cNvSpPr/>
          <p:nvPr/>
        </p:nvSpPr>
        <p:spPr>
          <a:xfrm>
            <a:off x="6562192" y="5583326"/>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月間売上高</a:t>
            </a:r>
            <a:endParaRPr lang="en-US" sz="1000" dirty="0"/>
          </a:p>
        </p:txBody>
      </p:sp>
      <p:sp>
        <p:nvSpPr>
          <p:cNvPr id="48" name="Text 44"/>
          <p:cNvSpPr/>
          <p:nvPr/>
        </p:nvSpPr>
        <p:spPr>
          <a:xfrm>
            <a:off x="8299552" y="5583326"/>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960,000円</a:t>
            </a:r>
            <a:endParaRPr lang="en-US" sz="1250" dirty="0"/>
          </a:p>
        </p:txBody>
      </p:sp>
      <p:sp>
        <p:nvSpPr>
          <p:cNvPr id="49" name="Text 45"/>
          <p:cNvSpPr/>
          <p:nvPr/>
        </p:nvSpPr>
        <p:spPr>
          <a:xfrm>
            <a:off x="660197" y="618683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実績値。杯数は単価ミックスを含む概数です。他店舗での同等の売上・利益を保証するものではありません。</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28</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29</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29</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30</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31</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052-879-3557</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 本社</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info@selfcafe.jp</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2026-09-01T03:59:09Z</dcterms:created>
  <dcterms:modified xsi:type="dcterms:W3CDTF">2026-09-01T03:59:09Z</dcterms:modified>
</cp:coreProperties>
</file>